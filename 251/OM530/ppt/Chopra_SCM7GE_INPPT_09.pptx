
<file path=[Content_Types].xml><?xml version="1.0" encoding="utf-8"?>
<Types xmlns="http://schemas.openxmlformats.org/package/2006/content-types">
  <Default Extension="png" ContentType="image/png"/>
  <Default Extension="emf" ContentType="image/x-emf"/>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 id="2147483660" r:id="rId2"/>
  </p:sldMasterIdLst>
  <p:notesMasterIdLst>
    <p:notesMasterId r:id="rId29"/>
  </p:notesMasterIdLst>
  <p:handoutMasterIdLst>
    <p:handoutMasterId r:id="rId30"/>
  </p:handoutMasterIdLst>
  <p:sldIdLst>
    <p:sldId id="301" r:id="rId3"/>
    <p:sldId id="307" r:id="rId4"/>
    <p:sldId id="308" r:id="rId5"/>
    <p:sldId id="309" r:id="rId6"/>
    <p:sldId id="310" r:id="rId7"/>
    <p:sldId id="311" r:id="rId8"/>
    <p:sldId id="312" r:id="rId9"/>
    <p:sldId id="313" r:id="rId10"/>
    <p:sldId id="314" r:id="rId11"/>
    <p:sldId id="315" r:id="rId12"/>
    <p:sldId id="316" r:id="rId13"/>
    <p:sldId id="317" r:id="rId14"/>
    <p:sldId id="318" r:id="rId15"/>
    <p:sldId id="319" r:id="rId16"/>
    <p:sldId id="320" r:id="rId17"/>
    <p:sldId id="321" r:id="rId18"/>
    <p:sldId id="322" r:id="rId19"/>
    <p:sldId id="323" r:id="rId20"/>
    <p:sldId id="324" r:id="rId21"/>
    <p:sldId id="325" r:id="rId22"/>
    <p:sldId id="326" r:id="rId23"/>
    <p:sldId id="327" r:id="rId24"/>
    <p:sldId id="328" r:id="rId25"/>
    <p:sldId id="329" r:id="rId26"/>
    <p:sldId id="330" r:id="rId27"/>
    <p:sldId id="331" r:id="rId28"/>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Jeffrey Holcomb" initials="" lastIdx="3" clrIdx="0"/>
  <p:cmAuthor id="1" name="Ruchi Sachdev" initials="" lastIdx="8" clrIdx="1"/>
  <p:cmAuthor id="2" name="Sarah Reusché" initials="" lastIdx="13" clrIdx="2"/>
  <p:cmAuthor id="3" name="Nitin Shankar" initials="" lastIdx="6" clrIdx="3"/>
  <p:cmAuthor id="4" name="Kristen Flathman" initials="" lastIdx="1" clrIdx="4"/>
  <p:cmAuthor id="5" name="Ben Schroeter" initials="" lastIdx="0" clrIdx="5"/>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0F9630F-82C1-40B7-BC3A-925EFCFF5E92}">
  <a:tblStyle styleId="{40F9630F-82C1-40B7-BC3A-925EFCFF5E92}" styleName="Table_0">
    <a:wholeTbl>
      <a:tcTxStyle b="off" i="off">
        <a:font>
          <a:latin typeface="Arial"/>
          <a:ea typeface="Arial"/>
          <a:cs typeface="Arial"/>
        </a:font>
        <a:schemeClr val="dk1"/>
      </a:tcTxStyle>
      <a:tcStyle>
        <a:tcBdr>
          <a:left>
            <a:ln w="9525" cap="flat" cmpd="sng">
              <a:solidFill>
                <a:srgbClr val="000000">
                  <a:alpha val="0"/>
                </a:srgbClr>
              </a:solidFill>
              <a:prstDash val="solid"/>
              <a:round/>
              <a:headEnd type="none" w="med" len="med"/>
              <a:tailEnd type="none" w="med" len="med"/>
            </a:ln>
          </a:left>
          <a:right>
            <a:ln w="9525" cap="flat" cmpd="sng">
              <a:solidFill>
                <a:srgbClr val="000000">
                  <a:alpha val="0"/>
                </a:srgbClr>
              </a:solidFill>
              <a:prstDash val="solid"/>
              <a:round/>
              <a:headEnd type="none" w="med" len="med"/>
              <a:tailEnd type="none" w="med" len="med"/>
            </a:ln>
          </a:right>
          <a:top>
            <a:ln w="12700" cap="flat" cmpd="sng">
              <a:solidFill>
                <a:schemeClr val="accent1"/>
              </a:solidFill>
              <a:prstDash val="solid"/>
              <a:round/>
              <a:headEnd type="none" w="med" len="med"/>
              <a:tailEnd type="none" w="med" len="med"/>
            </a:ln>
          </a:top>
          <a:bottom>
            <a:ln w="12700" cap="flat" cmpd="sng">
              <a:solidFill>
                <a:schemeClr val="accent1"/>
              </a:solidFill>
              <a:prstDash val="solid"/>
              <a:round/>
              <a:headEnd type="none" w="med" len="med"/>
              <a:tailEnd type="none" w="med" len="med"/>
            </a:ln>
          </a:bottom>
          <a:insideH>
            <a:ln w="9525" cap="flat" cmpd="sng">
              <a:solidFill>
                <a:srgbClr val="000000">
                  <a:alpha val="0"/>
                </a:srgbClr>
              </a:solidFill>
              <a:prstDash val="solid"/>
              <a:round/>
              <a:headEnd type="none" w="med" len="med"/>
              <a:tailEnd type="none" w="med" len="med"/>
            </a:ln>
          </a:insideH>
          <a:insideV>
            <a:ln w="9525" cap="flat" cmpd="sng">
              <a:solidFill>
                <a:srgbClr val="000000">
                  <a:alpha val="0"/>
                </a:srgbClr>
              </a:solidFill>
              <a:prstDash val="solid"/>
              <a:round/>
              <a:headEnd type="none" w="med" len="med"/>
              <a:tailEnd type="none" w="med" len="med"/>
            </a:ln>
          </a:insideV>
        </a:tcBdr>
        <a:fill>
          <a:solidFill>
            <a:srgbClr val="FFFFFF">
              <a:alpha val="0"/>
            </a:srgbClr>
          </a:solid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i="off"/>
      <a:tcStyle>
        <a:tcBdr/>
      </a:tcStyle>
    </a:lastCol>
    <a:firstCol>
      <a:tcTxStyle b="on" i="off"/>
      <a:tcStyle>
        <a:tcBdr/>
      </a:tcStyle>
    </a:firstCol>
    <a:lastRow>
      <a:tcTxStyle b="on" i="off"/>
      <a:tcStyle>
        <a:tcBdr>
          <a:top>
            <a:ln w="12700" cap="flat" cmpd="sng">
              <a:solidFill>
                <a:schemeClr val="accent1"/>
              </a:solidFill>
              <a:prstDash val="solid"/>
              <a:round/>
              <a:headEnd type="none" w="med" len="med"/>
              <a:tailEnd type="none" w="med" len="med"/>
            </a:ln>
          </a:top>
        </a:tcBdr>
        <a:fill>
          <a:solidFill>
            <a:srgbClr val="FFFFFF">
              <a:alpha val="0"/>
            </a:srgbClr>
          </a:solidFill>
        </a:fill>
      </a:tcStyle>
    </a:lastRow>
    <a:firstRow>
      <a:tcTxStyle b="on" i="off"/>
      <a:tcStyle>
        <a:tcBdr>
          <a:bottom>
            <a:ln w="12700" cap="flat" cmpd="sng">
              <a:solidFill>
                <a:schemeClr val="accent1"/>
              </a:solidFill>
              <a:prstDash val="solid"/>
              <a:round/>
              <a:headEnd type="none" w="med" len="med"/>
              <a:tailEnd type="none" w="med" len="med"/>
            </a:ln>
          </a:bottom>
        </a:tcBdr>
        <a:fill>
          <a:solidFill>
            <a:srgbClr val="FFFFFF">
              <a:alpha val="0"/>
            </a:srgb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6083" autoAdjust="0"/>
    <p:restoredTop sz="78804" autoAdjust="0"/>
  </p:normalViewPr>
  <p:slideViewPr>
    <p:cSldViewPr snapToGrid="0" snapToObjects="1">
      <p:cViewPr varScale="1">
        <p:scale>
          <a:sx n="48" d="100"/>
          <a:sy n="48" d="100"/>
        </p:scale>
        <p:origin x="66" y="27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commentAuthors" Target="commentAuthor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handoutMaster" Target="handoutMasters/handoutMaster1.xml"/><Relationship Id="rId35"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885CB01-6679-D646-ACB3-8B04B786C15F}" type="datetimeFigureOut">
              <a:rPr lang="en-US" smtClean="0"/>
              <a:t>10/17/2018</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82AC0F4D-8A6F-1C4A-B6BF-1558431E4F79}" type="slidenum">
              <a:rPr lang="en-US" smtClean="0"/>
              <a:t>‹#›</a:t>
            </a:fld>
            <a:endParaRPr lang="en-US" dirty="0"/>
          </a:p>
        </p:txBody>
      </p:sp>
    </p:spTree>
    <p:extLst>
      <p:ext uri="{BB962C8B-B14F-4D97-AF65-F5344CB8AC3E}">
        <p14:creationId xmlns:p14="http://schemas.microsoft.com/office/powerpoint/2010/main" val="35540630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Shape 3"/>
          <p:cNvSpPr txBox="1">
            <a:spLocks noGrp="1"/>
          </p:cNvSpPr>
          <p:nvPr>
            <p:ph type="hdr" idx="2"/>
          </p:nvPr>
        </p:nvSpPr>
        <p:spPr>
          <a:xfrm>
            <a:off x="0" y="0"/>
            <a:ext cx="2971799" cy="4572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4" name="Shape 4"/>
          <p:cNvSpPr txBox="1">
            <a:spLocks noGrp="1"/>
          </p:cNvSpPr>
          <p:nvPr>
            <p:ph type="dt" idx="10"/>
          </p:nvPr>
        </p:nvSpPr>
        <p:spPr>
          <a:xfrm>
            <a:off x="3884612" y="0"/>
            <a:ext cx="2971799" cy="457200"/>
          </a:xfrm>
          <a:prstGeom prst="rect">
            <a:avLst/>
          </a:prstGeom>
          <a:noFill/>
          <a:ln>
            <a:noFill/>
          </a:ln>
        </p:spPr>
        <p:txBody>
          <a:bodyPr lIns="91425" tIns="91425" rIns="91425" bIns="91425" anchor="t" anchorCtr="0"/>
          <a:lstStyle>
            <a:lvl1pPr marL="0" marR="0" lvl="0" indent="0" algn="r"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5" name="Shape 5"/>
          <p:cNvSpPr>
            <a:spLocks noGrp="1" noRot="1" noChangeAspect="1"/>
          </p:cNvSpPr>
          <p:nvPr>
            <p:ph type="sldImg" idx="3"/>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6" name="Shape 6"/>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200" b="0" i="0" u="none" strike="noStrike" cap="none">
                <a:solidFill>
                  <a:schemeClr val="dk1"/>
                </a:solidFill>
                <a:latin typeface="Arial"/>
                <a:ea typeface="Arial"/>
                <a:cs typeface="Arial"/>
                <a:sym typeface="Arial"/>
              </a:defRPr>
            </a:lvl2pPr>
            <a:lvl3pPr marL="914400" marR="0" lvl="2" indent="0" algn="l" rtl="0">
              <a:spcBef>
                <a:spcPts val="0"/>
              </a:spcBef>
              <a:buNone/>
              <a:defRPr sz="1200" b="0" i="0" u="none" strike="noStrike" cap="none">
                <a:solidFill>
                  <a:schemeClr val="dk1"/>
                </a:solidFill>
                <a:latin typeface="Arial"/>
                <a:ea typeface="Arial"/>
                <a:cs typeface="Arial"/>
                <a:sym typeface="Arial"/>
              </a:defRPr>
            </a:lvl3pPr>
            <a:lvl4pPr marL="1371600" marR="0" lvl="3" indent="0" algn="l" rtl="0">
              <a:spcBef>
                <a:spcPts val="0"/>
              </a:spcBef>
              <a:buNone/>
              <a:defRPr sz="1200" b="0" i="0" u="none" strike="noStrike" cap="none">
                <a:solidFill>
                  <a:schemeClr val="dk1"/>
                </a:solidFill>
                <a:latin typeface="Arial"/>
                <a:ea typeface="Arial"/>
                <a:cs typeface="Arial"/>
                <a:sym typeface="Arial"/>
              </a:defRPr>
            </a:lvl4pPr>
            <a:lvl5pPr marL="1828800" marR="0" lvl="4" indent="0" algn="l" rtl="0">
              <a:spcBef>
                <a:spcPts val="0"/>
              </a:spcBef>
              <a:buNone/>
              <a:defRPr sz="1200" b="0" i="0" u="none" strike="noStrike" cap="none">
                <a:solidFill>
                  <a:schemeClr val="dk1"/>
                </a:solidFill>
                <a:latin typeface="Arial"/>
                <a:ea typeface="Arial"/>
                <a:cs typeface="Arial"/>
                <a:sym typeface="Arial"/>
              </a:defRPr>
            </a:lvl5pPr>
            <a:lvl6pPr marL="2286000" marR="0" lvl="5" indent="0" algn="l" rtl="0">
              <a:spcBef>
                <a:spcPts val="0"/>
              </a:spcBef>
              <a:buNone/>
              <a:defRPr sz="1200" b="0" i="0" u="none" strike="noStrike" cap="none">
                <a:solidFill>
                  <a:schemeClr val="dk1"/>
                </a:solidFill>
                <a:latin typeface="Arial"/>
                <a:ea typeface="Arial"/>
                <a:cs typeface="Arial"/>
                <a:sym typeface="Arial"/>
              </a:defRPr>
            </a:lvl6pPr>
            <a:lvl7pPr marL="2743200" marR="0" lvl="6" indent="0" algn="l" rtl="0">
              <a:spcBef>
                <a:spcPts val="0"/>
              </a:spcBef>
              <a:buNone/>
              <a:defRPr sz="1200" b="0" i="0" u="none" strike="noStrike" cap="none">
                <a:solidFill>
                  <a:schemeClr val="dk1"/>
                </a:solidFill>
                <a:latin typeface="Arial"/>
                <a:ea typeface="Arial"/>
                <a:cs typeface="Arial"/>
                <a:sym typeface="Arial"/>
              </a:defRPr>
            </a:lvl7pPr>
            <a:lvl8pPr marL="3200400" marR="0" lvl="7" indent="0" algn="l" rtl="0">
              <a:spcBef>
                <a:spcPts val="0"/>
              </a:spcBef>
              <a:buNone/>
              <a:defRPr sz="1200" b="0" i="0" u="none" strike="noStrike" cap="none">
                <a:solidFill>
                  <a:schemeClr val="dk1"/>
                </a:solidFill>
                <a:latin typeface="Arial"/>
                <a:ea typeface="Arial"/>
                <a:cs typeface="Arial"/>
                <a:sym typeface="Arial"/>
              </a:defRPr>
            </a:lvl8pPr>
            <a:lvl9pPr marL="3657600" marR="0" lvl="8" indent="0" algn="l" rtl="0">
              <a:spcBef>
                <a:spcPts val="0"/>
              </a:spcBef>
              <a:buNone/>
              <a:defRPr sz="1200" b="0" i="0" u="none" strike="noStrike" cap="none">
                <a:solidFill>
                  <a:schemeClr val="dk1"/>
                </a:solidFill>
                <a:latin typeface="Arial"/>
                <a:ea typeface="Arial"/>
                <a:cs typeface="Arial"/>
                <a:sym typeface="Arial"/>
              </a:defRPr>
            </a:lvl9pPr>
          </a:lstStyle>
          <a:p>
            <a:endParaRPr/>
          </a:p>
        </p:txBody>
      </p:sp>
      <p:sp>
        <p:nvSpPr>
          <p:cNvPr id="7" name="Shape 7"/>
          <p:cNvSpPr txBox="1">
            <a:spLocks noGrp="1"/>
          </p:cNvSpPr>
          <p:nvPr>
            <p:ph type="ftr" idx="11"/>
          </p:nvPr>
        </p:nvSpPr>
        <p:spPr>
          <a:xfrm>
            <a:off x="0" y="8685213"/>
            <a:ext cx="2971799" cy="457200"/>
          </a:xfrm>
          <a:prstGeom prst="rect">
            <a:avLst/>
          </a:prstGeom>
          <a:noFill/>
          <a:ln>
            <a:noFill/>
          </a:ln>
        </p:spPr>
        <p:txBody>
          <a:bodyPr lIns="91425" tIns="91425" rIns="91425" bIns="91425" anchor="b"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8" name="Shape 8"/>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457102709"/>
      </p:ext>
    </p:extLst>
  </p:cSld>
  <p:clrMap bg1="lt1" tx1="dk1" bg2="dk2" tx2="lt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cap="none" dirty="0" smtClean="0">
                <a:solidFill>
                  <a:schemeClr val="dk1"/>
                </a:solidFill>
                <a:latin typeface="Arial"/>
                <a:ea typeface="Arial"/>
                <a:cs typeface="Arial"/>
                <a:sym typeface="Arial"/>
              </a:rPr>
              <a:t>If this PowerPoint presentation contains mathematical equations, you may need to check that your computer has the following installed:</a:t>
            </a:r>
          </a:p>
          <a:p>
            <a:r>
              <a:rPr lang="en-US" sz="1200" b="0" i="0" u="none" strike="noStrike" kern="1200" cap="none" dirty="0" smtClean="0">
                <a:solidFill>
                  <a:schemeClr val="dk1"/>
                </a:solidFill>
                <a:latin typeface="Arial"/>
                <a:ea typeface="Arial"/>
                <a:cs typeface="Arial"/>
                <a:sym typeface="Arial"/>
              </a:rPr>
              <a:t>1) MathType Plugin</a:t>
            </a:r>
          </a:p>
          <a:p>
            <a:r>
              <a:rPr lang="en-US" sz="1200" b="0" i="0" u="none" strike="noStrike" kern="1200" cap="none" dirty="0" smtClean="0">
                <a:solidFill>
                  <a:schemeClr val="dk1"/>
                </a:solidFill>
                <a:latin typeface="Arial"/>
                <a:ea typeface="Arial"/>
                <a:cs typeface="Arial"/>
                <a:sym typeface="Arial"/>
              </a:rPr>
              <a:t>2) Math Player (free versions available)</a:t>
            </a:r>
          </a:p>
          <a:p>
            <a:r>
              <a:rPr lang="en-US" sz="1200" b="0" i="0" u="none" strike="noStrike" kern="1200" cap="none" dirty="0" smtClean="0">
                <a:solidFill>
                  <a:schemeClr val="dk1"/>
                </a:solidFill>
                <a:latin typeface="Arial"/>
                <a:ea typeface="Arial"/>
                <a:cs typeface="Arial"/>
                <a:sym typeface="Arial"/>
              </a:rPr>
              <a:t>3) NVDA Reader (free versions available)</a:t>
            </a:r>
            <a:endParaRPr lang="en-US" dirty="0" smtClean="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3099114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0"/>
          </p:nvPr>
        </p:nvSpPr>
        <p:spPr/>
        <p:txBody>
          <a:bodyPr/>
          <a:lstStyle/>
          <a:p>
            <a:pPr lvl="0" defTabSz="457200"/>
            <a:r>
              <a:rPr lang="en-US" sz="1200" kern="1200" dirty="0">
                <a:solidFill>
                  <a:prstClr val="black"/>
                </a:solidFill>
                <a:latin typeface="Times New Roman" charset="0"/>
                <a:ea typeface="+mn-ea"/>
                <a:cs typeface="+mn-cs"/>
              </a:rPr>
              <a:t>Notes:</a:t>
            </a:r>
          </a:p>
        </p:txBody>
      </p:sp>
    </p:spTree>
    <p:extLst>
      <p:ext uri="{BB962C8B-B14F-4D97-AF65-F5344CB8AC3E}">
        <p14:creationId xmlns:p14="http://schemas.microsoft.com/office/powerpoint/2010/main" val="26199829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Shape 17"/>
        <p:cNvGrpSpPr/>
        <p:nvPr/>
      </p:nvGrpSpPr>
      <p:grpSpPr>
        <a:xfrm>
          <a:off x="0" y="0"/>
          <a:ext cx="0" cy="0"/>
          <a:chOff x="0" y="0"/>
          <a:chExt cx="0" cy="0"/>
        </a:xfrm>
      </p:grpSpPr>
      <p:sp>
        <p:nvSpPr>
          <p:cNvPr id="18" name="Shape 18"/>
          <p:cNvSpPr/>
          <p:nvPr/>
        </p:nvSpPr>
        <p:spPr>
          <a:xfrm>
            <a:off x="0" y="0"/>
            <a:ext cx="9144000" cy="3886200"/>
          </a:xfrm>
          <a:prstGeom prst="rect">
            <a:avLst/>
          </a:prstGeom>
          <a:solidFill>
            <a:srgbClr val="007FA3"/>
          </a:solidFill>
          <a:ln w="25400" cap="flat" cmpd="sng">
            <a:solidFill>
              <a:srgbClr val="007FA3"/>
            </a:solidFill>
            <a:prstDash val="solid"/>
            <a:round/>
            <a:headEnd type="none" w="med" len="med"/>
            <a:tailEnd type="none" w="med" len="med"/>
          </a:ln>
        </p:spPr>
        <p:txBody>
          <a:bodyPr lIns="91425" tIns="45700" rIns="91425" bIns="45700" anchor="ctr" anchorCtr="0">
            <a:noAutofit/>
          </a:bodyPr>
          <a:lstStyle/>
          <a:p>
            <a:pPr marL="0" marR="0" lvl="0" indent="0" algn="ctr" rtl="0">
              <a:spcBef>
                <a:spcPts val="0"/>
              </a:spcBef>
              <a:buNone/>
            </a:pPr>
            <a:endParaRPr sz="1800" b="0" i="0" u="none" strike="noStrike" cap="none" dirty="0">
              <a:solidFill>
                <a:schemeClr val="lt1"/>
              </a:solidFill>
              <a:latin typeface="Arial"/>
              <a:ea typeface="Arial"/>
              <a:cs typeface="Arial"/>
              <a:sym typeface="Arial"/>
            </a:endParaRPr>
          </a:p>
        </p:txBody>
      </p:sp>
      <p:sp>
        <p:nvSpPr>
          <p:cNvPr id="19" name="Shape 19"/>
          <p:cNvSpPr txBox="1">
            <a:spLocks noGrp="1"/>
          </p:cNvSpPr>
          <p:nvPr>
            <p:ph type="ctrTitle"/>
          </p:nvPr>
        </p:nvSpPr>
        <p:spPr>
          <a:xfrm>
            <a:off x="685800" y="762000"/>
            <a:ext cx="7772400" cy="2838451"/>
          </a:xfrm>
          <a:prstGeom prst="rect">
            <a:avLst/>
          </a:prstGeom>
          <a:noFill/>
          <a:ln>
            <a:noFill/>
          </a:ln>
        </p:spPr>
        <p:txBody>
          <a:bodyPr lIns="91425" tIns="91425" rIns="91425" bIns="91425" anchor="b" anchorCtr="0"/>
          <a:lstStyle>
            <a:lvl1pPr marL="0" marR="0" lvl="0" indent="0" algn="l" rtl="0">
              <a:lnSpc>
                <a:spcPct val="100000"/>
              </a:lnSpc>
              <a:spcBef>
                <a:spcPts val="0"/>
              </a:spcBef>
              <a:buClr>
                <a:schemeClr val="lt1"/>
              </a:buClr>
              <a:buFont typeface="Times New Roman"/>
              <a:buNone/>
              <a:defRPr sz="3600" b="1" i="0" u="none" strike="noStrike" cap="none">
                <a:solidFill>
                  <a:schemeClr val="lt1"/>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20" name="Shape 20"/>
          <p:cNvSpPr txBox="1">
            <a:spLocks noGrp="1"/>
          </p:cNvSpPr>
          <p:nvPr>
            <p:ph type="subTitle" idx="1"/>
          </p:nvPr>
        </p:nvSpPr>
        <p:spPr>
          <a:xfrm>
            <a:off x="674687" y="3962400"/>
            <a:ext cx="7794625"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800" b="0" i="0" u="none" strike="noStrike" cap="none">
                <a:solidFill>
                  <a:schemeClr val="dk1"/>
                </a:solidFill>
                <a:latin typeface="Arial"/>
                <a:ea typeface="Arial"/>
                <a:cs typeface="Arial"/>
                <a:sym typeface="Arial"/>
              </a:defRPr>
            </a:lvl1pPr>
            <a:lvl2pPr marL="457200" marR="0" lvl="1"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2pPr>
            <a:lvl3pPr marL="914400" marR="0" lvl="2" indent="0" algn="ctr"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4pPr>
            <a:lvl5pPr marL="1828800" marR="0" lvl="4"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5pPr>
            <a:lvl6pPr marL="2286000" marR="0" lvl="5"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6pPr>
            <a:lvl7pPr marL="2743200" marR="0" lvl="6"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7pPr>
            <a:lvl8pPr marL="3200400" marR="0" lvl="7"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8pPr>
            <a:lvl9pPr marL="3657600" marR="0" lvl="8"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9pPr>
          </a:lstStyle>
          <a:p>
            <a:endParaRPr dirty="0"/>
          </a:p>
        </p:txBody>
      </p:sp>
      <p:sp>
        <p:nvSpPr>
          <p:cNvPr id="21" name="Shape 21"/>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22" name="Shape 2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23" name="Shape 2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32457349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Figure + Caption">
    <p:spTree>
      <p:nvGrpSpPr>
        <p:cNvPr id="1" name="Shape 53"/>
        <p:cNvGrpSpPr/>
        <p:nvPr/>
      </p:nvGrpSpPr>
      <p:grpSpPr>
        <a:xfrm>
          <a:off x="0" y="0"/>
          <a:ext cx="0" cy="0"/>
          <a:chOff x="0" y="0"/>
          <a:chExt cx="0" cy="0"/>
        </a:xfrm>
      </p:grpSpPr>
      <p:sp>
        <p:nvSpPr>
          <p:cNvPr id="54" name="Shape 54"/>
          <p:cNvSpPr txBox="1">
            <a:spLocks noGrp="1"/>
          </p:cNvSpPr>
          <p:nvPr>
            <p:ph type="title"/>
          </p:nvPr>
        </p:nvSpPr>
        <p:spPr>
          <a:xfrm>
            <a:off x="457200" y="228600"/>
            <a:ext cx="8229600" cy="1066799"/>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55" name="Shape 55"/>
          <p:cNvSpPr txBox="1">
            <a:spLocks noGrp="1"/>
          </p:cNvSpPr>
          <p:nvPr>
            <p:ph type="body" idx="1"/>
          </p:nvPr>
        </p:nvSpPr>
        <p:spPr>
          <a:xfrm>
            <a:off x="457200" y="5368160"/>
            <a:ext cx="8229600" cy="916856"/>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8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endParaRPr/>
          </a:p>
        </p:txBody>
      </p:sp>
      <p:sp>
        <p:nvSpPr>
          <p:cNvPr id="56" name="Shape 56"/>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57" name="Shape 57"/>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58" name="Shape 58"/>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dk1"/>
                </a:solidFill>
                <a:latin typeface="Arial"/>
                <a:ea typeface="Arial"/>
                <a:cs typeface="Arial"/>
                <a:sym typeface="Arial"/>
              </a:rPr>
              <a:t>‹#›</a:t>
            </a:fld>
            <a:endParaRPr lang="en-US" sz="9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8263026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Content">
    <p:spTree>
      <p:nvGrpSpPr>
        <p:cNvPr id="1" name="Shape 24"/>
        <p:cNvGrpSpPr/>
        <p:nvPr/>
      </p:nvGrpSpPr>
      <p:grpSpPr>
        <a:xfrm>
          <a:off x="0" y="0"/>
          <a:ext cx="0" cy="0"/>
          <a:chOff x="0" y="0"/>
          <a:chExt cx="0" cy="0"/>
        </a:xfrm>
      </p:grpSpPr>
      <p:sp>
        <p:nvSpPr>
          <p:cNvPr id="25" name="Title 1"/>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6" name="Content Placeholder"/>
          <p:cNvSpPr txBox="1">
            <a:spLocks noGrp="1"/>
          </p:cNvSpPr>
          <p:nvPr>
            <p:ph type="body" idx="1"/>
          </p:nvPr>
        </p:nvSpPr>
        <p:spPr>
          <a:xfrm>
            <a:off x="457200" y="1600200"/>
            <a:ext cx="8229600" cy="4525963"/>
          </a:xfrm>
          <a:prstGeom prst="rect">
            <a:avLst/>
          </a:prstGeom>
          <a:noFill/>
          <a:ln>
            <a:noFill/>
          </a:ln>
        </p:spPr>
        <p:txBody>
          <a:bodyPr lIns="91425" tIns="91425" rIns="91425" bIns="91425" anchor="t" anchorCtr="0"/>
          <a:lstStyle>
            <a:lvl1pPr marL="255600" marR="0" lvl="0" indent="-255600" algn="l" rtl="0">
              <a:spcBef>
                <a:spcPts val="1500"/>
              </a:spcBef>
              <a:buClr>
                <a:srgbClr val="007FA3"/>
              </a:buClr>
              <a:buSzPct val="100000"/>
              <a:buFont typeface="Arial" panose="020B0604020202020204" pitchFamily="34" charset="0"/>
              <a:buChar char="•"/>
              <a:tabLst>
                <a:tab pos="176213" algn="l"/>
              </a:tabLst>
              <a:defRPr sz="1600" b="0" i="0" u="none" strike="noStrike" cap="none">
                <a:solidFill>
                  <a:schemeClr val="dk1"/>
                </a:solidFill>
                <a:latin typeface="Arial"/>
                <a:ea typeface="Arial"/>
                <a:cs typeface="Arial"/>
                <a:sym typeface="Arial"/>
              </a:defRPr>
            </a:lvl1pPr>
            <a:lvl2pPr marL="742950" marR="0" lvl="1" indent="-283464"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2286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lang="en-IN" dirty="0" smtClean="0"/>
          </a:p>
          <a:p>
            <a:pPr lvl="1"/>
            <a:endParaRPr lang="en-IN" dirty="0" smtClean="0"/>
          </a:p>
          <a:p>
            <a:pPr lvl="2"/>
            <a:endParaRPr lang="en-IN" dirty="0" smtClean="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le and 5 Content">
    <p:spTree>
      <p:nvGrpSpPr>
        <p:cNvPr id="1" name="Shape 24"/>
        <p:cNvGrpSpPr/>
        <p:nvPr/>
      </p:nvGrpSpPr>
      <p:grpSpPr>
        <a:xfrm>
          <a:off x="0" y="0"/>
          <a:ext cx="0" cy="0"/>
          <a:chOff x="0" y="0"/>
          <a:chExt cx="0" cy="0"/>
        </a:xfrm>
      </p:grpSpPr>
      <p:sp>
        <p:nvSpPr>
          <p:cNvPr id="25" name="Title 1"/>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6" name="Content Placeholder 1"/>
          <p:cNvSpPr txBox="1">
            <a:spLocks noGrp="1"/>
          </p:cNvSpPr>
          <p:nvPr>
            <p:ph type="body" idx="1"/>
          </p:nvPr>
        </p:nvSpPr>
        <p:spPr>
          <a:xfrm>
            <a:off x="457200" y="1600201"/>
            <a:ext cx="8229600" cy="533400"/>
          </a:xfrm>
          <a:prstGeom prst="rect">
            <a:avLst/>
          </a:prstGeom>
          <a:noFill/>
          <a:ln>
            <a:noFill/>
          </a:ln>
        </p:spPr>
        <p:txBody>
          <a:bodyPr lIns="91425" tIns="91425" rIns="91425" bIns="91425" anchor="t" anchorCtr="0"/>
          <a:lstStyle>
            <a:lvl1pPr marL="255600" marR="0" lvl="0" indent="-255600" algn="l" rtl="0">
              <a:spcBef>
                <a:spcPts val="1500"/>
              </a:spcBef>
              <a:buClr>
                <a:srgbClr val="007FA3"/>
              </a:buClr>
              <a:buSzPct val="100000"/>
              <a:buFont typeface="Arial" panose="020B0604020202020204" pitchFamily="34" charset="0"/>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lang="en-IN" dirty="0" smtClean="0"/>
          </a:p>
        </p:txBody>
      </p:sp>
      <p:sp>
        <p:nvSpPr>
          <p:cNvPr id="3" name="Content Placeholder 2"/>
          <p:cNvSpPr>
            <a:spLocks noGrp="1"/>
          </p:cNvSpPr>
          <p:nvPr>
            <p:ph sz="quarter" idx="13"/>
          </p:nvPr>
        </p:nvSpPr>
        <p:spPr>
          <a:xfrm>
            <a:off x="457200" y="2278063"/>
            <a:ext cx="8229600" cy="558800"/>
          </a:xfrm>
        </p:spPr>
        <p:txBody>
          <a:bodyPr/>
          <a:lstStyle>
            <a:lvl1pPr indent="-255600">
              <a:defRPr/>
            </a:lvl1pPr>
            <a:lvl2pPr indent="-283464">
              <a:defRPr/>
            </a:lvl2p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IN" dirty="0"/>
          </a:p>
        </p:txBody>
      </p:sp>
      <p:sp>
        <p:nvSpPr>
          <p:cNvPr id="5" name="Content Placeholder 4"/>
          <p:cNvSpPr>
            <a:spLocks noGrp="1"/>
          </p:cNvSpPr>
          <p:nvPr>
            <p:ph sz="quarter" idx="14"/>
          </p:nvPr>
        </p:nvSpPr>
        <p:spPr>
          <a:xfrm>
            <a:off x="457200" y="2954338"/>
            <a:ext cx="8232775" cy="609600"/>
          </a:xfrm>
        </p:spPr>
        <p:txBody>
          <a:bodyPr/>
          <a:lstStyle>
            <a:lvl1pPr indent="-255600">
              <a:defRPr/>
            </a:lvl1pPr>
            <a:lvl2pPr indent="-283464">
              <a:defRPr/>
            </a:lvl2p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IN" dirty="0"/>
          </a:p>
        </p:txBody>
      </p:sp>
      <p:sp>
        <p:nvSpPr>
          <p:cNvPr id="7" name="Content Placeholder 6"/>
          <p:cNvSpPr>
            <a:spLocks noGrp="1"/>
          </p:cNvSpPr>
          <p:nvPr>
            <p:ph sz="quarter" idx="15"/>
          </p:nvPr>
        </p:nvSpPr>
        <p:spPr>
          <a:xfrm>
            <a:off x="457200" y="3733800"/>
            <a:ext cx="8229600" cy="550863"/>
          </a:xfrm>
        </p:spPr>
        <p:txBody>
          <a:bodyPr/>
          <a:lstStyle>
            <a:lvl1pPr marL="255588" indent="-255588">
              <a:defRPr/>
            </a:lvl1pPr>
            <a:lvl2pPr indent="-283464">
              <a:defRPr/>
            </a:lvl2p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IN" dirty="0"/>
          </a:p>
        </p:txBody>
      </p:sp>
      <p:sp>
        <p:nvSpPr>
          <p:cNvPr id="9" name="Content Placeholder 8"/>
          <p:cNvSpPr>
            <a:spLocks noGrp="1"/>
          </p:cNvSpPr>
          <p:nvPr>
            <p:ph sz="quarter" idx="16"/>
          </p:nvPr>
        </p:nvSpPr>
        <p:spPr>
          <a:xfrm>
            <a:off x="457200" y="4427538"/>
            <a:ext cx="8229600" cy="652462"/>
          </a:xfrm>
        </p:spPr>
        <p:txBody>
          <a:bodyPr/>
          <a:lstStyle>
            <a:lvl1pPr marL="255588" indent="-255588">
              <a:defRPr/>
            </a:lvl1pPr>
            <a:lvl2pPr indent="-283464">
              <a:defRPr/>
            </a:lvl2p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IN" dirty="0"/>
          </a:p>
        </p:txBody>
      </p:sp>
      <p:sp>
        <p:nvSpPr>
          <p:cNvPr id="11" name="Content Placeholder 10"/>
          <p:cNvSpPr>
            <a:spLocks noGrp="1"/>
          </p:cNvSpPr>
          <p:nvPr>
            <p:ph sz="quarter" idx="17"/>
          </p:nvPr>
        </p:nvSpPr>
        <p:spPr>
          <a:xfrm>
            <a:off x="457200" y="5181600"/>
            <a:ext cx="8229600" cy="500063"/>
          </a:xfrm>
        </p:spPr>
        <p:txBody>
          <a:bodyPr/>
          <a:lstStyle>
            <a:lvl1pPr marL="255588" indent="-255588">
              <a:defRPr/>
            </a:lvl1pPr>
            <a:lvl2pPr indent="-283464">
              <a:defRPr/>
            </a:lvl2p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IN" dirty="0"/>
          </a:p>
        </p:txBody>
      </p:sp>
    </p:spTree>
    <p:extLst>
      <p:ext uri="{BB962C8B-B14F-4D97-AF65-F5344CB8AC3E}">
        <p14:creationId xmlns:p14="http://schemas.microsoft.com/office/powerpoint/2010/main" val="34289802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Title and 5 Content">
    <p:spTree>
      <p:nvGrpSpPr>
        <p:cNvPr id="1" name="Shape 24"/>
        <p:cNvGrpSpPr/>
        <p:nvPr/>
      </p:nvGrpSpPr>
      <p:grpSpPr>
        <a:xfrm>
          <a:off x="0" y="0"/>
          <a:ext cx="0" cy="0"/>
          <a:chOff x="0" y="0"/>
          <a:chExt cx="0" cy="0"/>
        </a:xfrm>
      </p:grpSpPr>
      <p:sp>
        <p:nvSpPr>
          <p:cNvPr id="25" name="Title 1"/>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6" name="Content Placeholder 1"/>
          <p:cNvSpPr txBox="1">
            <a:spLocks noGrp="1"/>
          </p:cNvSpPr>
          <p:nvPr>
            <p:ph type="body" idx="1"/>
          </p:nvPr>
        </p:nvSpPr>
        <p:spPr>
          <a:xfrm>
            <a:off x="457200" y="1600201"/>
            <a:ext cx="8229600" cy="533400"/>
          </a:xfrm>
          <a:prstGeom prst="rect">
            <a:avLst/>
          </a:prstGeom>
          <a:noFill/>
          <a:ln>
            <a:noFill/>
          </a:ln>
        </p:spPr>
        <p:txBody>
          <a:bodyPr lIns="91425" tIns="91425" rIns="91425" bIns="91425" anchor="t" anchorCtr="0"/>
          <a:lstStyle>
            <a:lvl1pPr marL="255600" marR="0" lvl="0" indent="-255600" algn="l" rtl="0">
              <a:spcBef>
                <a:spcPts val="1500"/>
              </a:spcBef>
              <a:buClr>
                <a:srgbClr val="007FA3"/>
              </a:buClr>
              <a:buSzPct val="100000"/>
              <a:buFont typeface="Arial" panose="020B0604020202020204" pitchFamily="34" charset="0"/>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lang="en-IN" dirty="0" smtClean="0"/>
          </a:p>
        </p:txBody>
      </p:sp>
      <p:sp>
        <p:nvSpPr>
          <p:cNvPr id="3" name="Content Placeholder 2"/>
          <p:cNvSpPr>
            <a:spLocks noGrp="1"/>
          </p:cNvSpPr>
          <p:nvPr>
            <p:ph sz="quarter" idx="13"/>
          </p:nvPr>
        </p:nvSpPr>
        <p:spPr>
          <a:xfrm>
            <a:off x="457200" y="2278063"/>
            <a:ext cx="8229600" cy="558800"/>
          </a:xfrm>
        </p:spPr>
        <p:txBody>
          <a:bodyPr/>
          <a:lstStyle>
            <a:lvl1pPr indent="-255600">
              <a:defRPr/>
            </a:lvl1pPr>
            <a:lvl2pPr indent="-283464">
              <a:defRPr/>
            </a:lvl2p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IN" dirty="0"/>
          </a:p>
        </p:txBody>
      </p:sp>
      <p:sp>
        <p:nvSpPr>
          <p:cNvPr id="5" name="Content Placeholder 4"/>
          <p:cNvSpPr>
            <a:spLocks noGrp="1"/>
          </p:cNvSpPr>
          <p:nvPr>
            <p:ph sz="quarter" idx="14"/>
          </p:nvPr>
        </p:nvSpPr>
        <p:spPr>
          <a:xfrm>
            <a:off x="457200" y="2954338"/>
            <a:ext cx="8232775" cy="609600"/>
          </a:xfrm>
        </p:spPr>
        <p:txBody>
          <a:bodyPr/>
          <a:lstStyle>
            <a:lvl1pPr indent="-255600">
              <a:defRPr/>
            </a:lvl1pPr>
            <a:lvl2pPr indent="-283464">
              <a:defRPr/>
            </a:lvl2p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IN" dirty="0"/>
          </a:p>
        </p:txBody>
      </p:sp>
      <p:sp>
        <p:nvSpPr>
          <p:cNvPr id="7" name="Content Placeholder 6"/>
          <p:cNvSpPr>
            <a:spLocks noGrp="1"/>
          </p:cNvSpPr>
          <p:nvPr>
            <p:ph sz="quarter" idx="15"/>
          </p:nvPr>
        </p:nvSpPr>
        <p:spPr>
          <a:xfrm>
            <a:off x="457200" y="3733800"/>
            <a:ext cx="8229600" cy="550863"/>
          </a:xfrm>
        </p:spPr>
        <p:txBody>
          <a:bodyPr/>
          <a:lstStyle>
            <a:lvl1pPr marL="255588" indent="-255588">
              <a:defRPr/>
            </a:lvl1pPr>
            <a:lvl2pPr indent="-283464">
              <a:defRPr/>
            </a:lvl2p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IN" dirty="0"/>
          </a:p>
        </p:txBody>
      </p:sp>
      <p:sp>
        <p:nvSpPr>
          <p:cNvPr id="9" name="Content Placeholder 8"/>
          <p:cNvSpPr>
            <a:spLocks noGrp="1"/>
          </p:cNvSpPr>
          <p:nvPr>
            <p:ph sz="quarter" idx="16"/>
          </p:nvPr>
        </p:nvSpPr>
        <p:spPr>
          <a:xfrm>
            <a:off x="457200" y="4427538"/>
            <a:ext cx="8229600" cy="652462"/>
          </a:xfrm>
        </p:spPr>
        <p:txBody>
          <a:bodyPr/>
          <a:lstStyle>
            <a:lvl1pPr marL="255588" indent="-255588">
              <a:defRPr/>
            </a:lvl1pPr>
            <a:lvl2pPr indent="-283464">
              <a:defRPr/>
            </a:lvl2p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IN" dirty="0"/>
          </a:p>
        </p:txBody>
      </p:sp>
      <p:sp>
        <p:nvSpPr>
          <p:cNvPr id="11" name="Content Placeholder 10"/>
          <p:cNvSpPr>
            <a:spLocks noGrp="1"/>
          </p:cNvSpPr>
          <p:nvPr>
            <p:ph sz="quarter" idx="17"/>
          </p:nvPr>
        </p:nvSpPr>
        <p:spPr>
          <a:xfrm>
            <a:off x="457200" y="5181600"/>
            <a:ext cx="8229600" cy="500063"/>
          </a:xfrm>
        </p:spPr>
        <p:txBody>
          <a:bodyPr/>
          <a:lstStyle>
            <a:lvl1pPr marL="255588" indent="-255588">
              <a:defRPr/>
            </a:lvl1pPr>
            <a:lvl2pPr indent="-283464">
              <a:defRPr/>
            </a:lvl2p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IN" dirty="0"/>
          </a:p>
        </p:txBody>
      </p:sp>
      <p:sp>
        <p:nvSpPr>
          <p:cNvPr id="4" name="Content Placeholder 3"/>
          <p:cNvSpPr>
            <a:spLocks noGrp="1"/>
          </p:cNvSpPr>
          <p:nvPr>
            <p:ph sz="quarter" idx="18"/>
          </p:nvPr>
        </p:nvSpPr>
        <p:spPr>
          <a:xfrm>
            <a:off x="457200" y="5811838"/>
            <a:ext cx="8229600" cy="457200"/>
          </a:xfrm>
        </p:spPr>
        <p:txBody>
          <a:bodyPr/>
          <a:lstStyle>
            <a:lvl2pPr indent="-283464">
              <a:defRPr/>
            </a:lvl2p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8" name="Content Placeholder 7"/>
          <p:cNvSpPr>
            <a:spLocks noGrp="1"/>
          </p:cNvSpPr>
          <p:nvPr>
            <p:ph sz="quarter" idx="19"/>
          </p:nvPr>
        </p:nvSpPr>
        <p:spPr>
          <a:xfrm>
            <a:off x="3657601" y="6418263"/>
            <a:ext cx="479834" cy="29845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2" name="Content Placeholder 11"/>
          <p:cNvSpPr>
            <a:spLocks noGrp="1"/>
          </p:cNvSpPr>
          <p:nvPr>
            <p:ph sz="quarter" idx="20"/>
          </p:nvPr>
        </p:nvSpPr>
        <p:spPr>
          <a:xfrm>
            <a:off x="5503863" y="6418263"/>
            <a:ext cx="453317" cy="298450"/>
          </a:xfrm>
        </p:spPr>
        <p:txBody>
          <a:body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4" name="Content Placeholder 13"/>
          <p:cNvSpPr>
            <a:spLocks noGrp="1"/>
          </p:cNvSpPr>
          <p:nvPr>
            <p:ph sz="quarter" idx="21"/>
          </p:nvPr>
        </p:nvSpPr>
        <p:spPr>
          <a:xfrm>
            <a:off x="7200900" y="6418263"/>
            <a:ext cx="576027" cy="298450"/>
          </a:xfrm>
        </p:spPr>
        <p:txBody>
          <a:body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6" name="Content Placeholder 5"/>
          <p:cNvSpPr>
            <a:spLocks noGrp="1"/>
          </p:cNvSpPr>
          <p:nvPr>
            <p:ph sz="quarter" idx="22"/>
          </p:nvPr>
        </p:nvSpPr>
        <p:spPr>
          <a:xfrm flipH="1">
            <a:off x="7976101" y="6418263"/>
            <a:ext cx="778599" cy="298450"/>
          </a:xfrm>
        </p:spPr>
        <p:txBody>
          <a:body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4044794982"/>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cSld name="Chapter Opener">
    <p:spTree>
      <p:nvGrpSpPr>
        <p:cNvPr id="1" name="Shape 37"/>
        <p:cNvGrpSpPr/>
        <p:nvPr/>
      </p:nvGrpSpPr>
      <p:grpSpPr>
        <a:xfrm>
          <a:off x="0" y="0"/>
          <a:ext cx="0" cy="0"/>
          <a:chOff x="0" y="0"/>
          <a:chExt cx="0" cy="0"/>
        </a:xfrm>
      </p:grpSpPr>
      <p:sp>
        <p:nvSpPr>
          <p:cNvPr id="38" name="Shape 38"/>
          <p:cNvSpPr txBox="1">
            <a:spLocks noGrp="1"/>
          </p:cNvSpPr>
          <p:nvPr>
            <p:ph type="title"/>
          </p:nvPr>
        </p:nvSpPr>
        <p:spPr>
          <a:xfrm>
            <a:off x="457200" y="215371"/>
            <a:ext cx="8229600" cy="622828"/>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39" name="Shape 39"/>
          <p:cNvSpPr txBox="1">
            <a:spLocks noGrp="1"/>
          </p:cNvSpPr>
          <p:nvPr>
            <p:ph type="body" idx="1"/>
          </p:nvPr>
        </p:nvSpPr>
        <p:spPr>
          <a:xfrm>
            <a:off x="457200" y="816429"/>
            <a:ext cx="8229600" cy="47897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a:p>
        </p:txBody>
      </p:sp>
      <p:sp>
        <p:nvSpPr>
          <p:cNvPr id="40" name="Shape 40"/>
          <p:cNvSpPr txBox="1">
            <a:spLocks noGrp="1"/>
          </p:cNvSpPr>
          <p:nvPr>
            <p:ph type="body" idx="2"/>
          </p:nvPr>
        </p:nvSpPr>
        <p:spPr>
          <a:xfrm>
            <a:off x="5029200" y="1600200"/>
            <a:ext cx="3657600" cy="1600198"/>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30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44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9pPr>
          </a:lstStyle>
          <a:p>
            <a:endParaRPr/>
          </a:p>
        </p:txBody>
      </p:sp>
      <p:sp>
        <p:nvSpPr>
          <p:cNvPr id="41" name="Shape 41"/>
          <p:cNvSpPr txBox="1">
            <a:spLocks noGrp="1"/>
          </p:cNvSpPr>
          <p:nvPr>
            <p:ph type="body" idx="3"/>
          </p:nvPr>
        </p:nvSpPr>
        <p:spPr>
          <a:xfrm>
            <a:off x="5029200" y="3200400"/>
            <a:ext cx="3657600" cy="2925763"/>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endParaRPr/>
          </a:p>
        </p:txBody>
      </p:sp>
      <p:sp>
        <p:nvSpPr>
          <p:cNvPr id="42" name="Shape 42"/>
          <p:cNvSpPr txBox="1">
            <a:spLocks noGrp="1"/>
          </p:cNvSpPr>
          <p:nvPr>
            <p:ph type="ftr" idx="11"/>
          </p:nvPr>
        </p:nvSpPr>
        <p:spPr>
          <a:xfrm>
            <a:off x="93969" y="6165337"/>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43" name="Shape 4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44" name="Shape 4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cSld name="Title + Learning Objectives and Content">
    <p:spTree>
      <p:nvGrpSpPr>
        <p:cNvPr id="1" name="Shape 61"/>
        <p:cNvGrpSpPr/>
        <p:nvPr/>
      </p:nvGrpSpPr>
      <p:grpSpPr>
        <a:xfrm>
          <a:off x="0" y="0"/>
          <a:ext cx="0" cy="0"/>
          <a:chOff x="0" y="0"/>
          <a:chExt cx="0" cy="0"/>
        </a:xfrm>
      </p:grpSpPr>
      <p:sp>
        <p:nvSpPr>
          <p:cNvPr id="62" name="Shape 62"/>
          <p:cNvSpPr txBox="1">
            <a:spLocks noGrp="1"/>
          </p:cNvSpPr>
          <p:nvPr>
            <p:ph type="title"/>
          </p:nvPr>
        </p:nvSpPr>
        <p:spPr>
          <a:xfrm>
            <a:off x="457200" y="215371"/>
            <a:ext cx="8229600" cy="622828"/>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63" name="Shape 63"/>
          <p:cNvSpPr txBox="1">
            <a:spLocks noGrp="1"/>
          </p:cNvSpPr>
          <p:nvPr>
            <p:ph type="body" idx="1"/>
          </p:nvPr>
        </p:nvSpPr>
        <p:spPr>
          <a:xfrm>
            <a:off x="457200" y="816429"/>
            <a:ext cx="8229600" cy="402769"/>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a:p>
        </p:txBody>
      </p:sp>
      <p:sp>
        <p:nvSpPr>
          <p:cNvPr id="64" name="Shape 64"/>
          <p:cNvSpPr txBox="1">
            <a:spLocks noGrp="1"/>
          </p:cNvSpPr>
          <p:nvPr>
            <p:ph type="body" idx="2"/>
          </p:nvPr>
        </p:nvSpPr>
        <p:spPr>
          <a:xfrm>
            <a:off x="457200" y="1600200"/>
            <a:ext cx="8229600" cy="4525963"/>
          </a:xfrm>
          <a:prstGeom prst="rect">
            <a:avLst/>
          </a:prstGeom>
          <a:noFill/>
          <a:ln>
            <a:noFill/>
          </a:ln>
        </p:spPr>
        <p:txBody>
          <a:bodyPr lIns="91425" tIns="91425" rIns="91425" bIns="91425" anchor="t" anchorCtr="0"/>
          <a:lstStyle>
            <a:lvl1pPr marL="256032" marR="0" lvl="0" indent="-2560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65" name="Shape 65"/>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66" name="Shape 66"/>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67" name="Shape 67"/>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Shape 68"/>
        <p:cNvGrpSpPr/>
        <p:nvPr/>
      </p:nvGrpSpPr>
      <p:grpSpPr>
        <a:xfrm>
          <a:off x="0" y="0"/>
          <a:ext cx="0" cy="0"/>
          <a:chOff x="0" y="0"/>
          <a:chExt cx="0" cy="0"/>
        </a:xfrm>
      </p:grpSpPr>
      <p:sp>
        <p:nvSpPr>
          <p:cNvPr id="69" name="Shape 69"/>
          <p:cNvSpPr txBox="1">
            <a:spLocks noGrp="1"/>
          </p:cNvSpPr>
          <p:nvPr>
            <p:ph type="title"/>
          </p:nvPr>
        </p:nvSpPr>
        <p:spPr>
          <a:xfrm>
            <a:off x="685800" y="1447800"/>
            <a:ext cx="7772400" cy="2152651"/>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70" name="Shape 70"/>
          <p:cNvSpPr txBox="1">
            <a:spLocks noGrp="1"/>
          </p:cNvSpPr>
          <p:nvPr>
            <p:ph type="body" idx="1"/>
          </p:nvPr>
        </p:nvSpPr>
        <p:spPr>
          <a:xfrm>
            <a:off x="674687" y="3962400"/>
            <a:ext cx="7794626"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457200" marR="0" lvl="1" indent="0" algn="l" rtl="0">
              <a:spcBef>
                <a:spcPts val="600"/>
              </a:spcBef>
              <a:buClr>
                <a:srgbClr val="007FA3"/>
              </a:buClr>
              <a:buFont typeface="Arial"/>
              <a:buNone/>
              <a:defRPr sz="1800" b="0" i="0" u="none" strike="noStrike" cap="none">
                <a:solidFill>
                  <a:srgbClr val="888888"/>
                </a:solidFill>
                <a:latin typeface="Arial"/>
                <a:ea typeface="Arial"/>
                <a:cs typeface="Arial"/>
                <a:sym typeface="Arial"/>
              </a:defRPr>
            </a:lvl2pPr>
            <a:lvl3pPr marL="914400" marR="0" lvl="2" indent="0" algn="l"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4pPr>
            <a:lvl5pPr marL="1828800" marR="0" lvl="4"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5pPr>
            <a:lvl6pPr marL="2286000" marR="0" lvl="5"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6pPr>
            <a:lvl7pPr marL="2743200" marR="0" lvl="6"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7pPr>
            <a:lvl8pPr marL="3200400" marR="0" lvl="7"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8pPr>
            <a:lvl9pPr marL="3657600" marR="0" lvl="8"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9pPr>
          </a:lstStyle>
          <a:p>
            <a:endParaRPr/>
          </a:p>
        </p:txBody>
      </p:sp>
      <p:sp>
        <p:nvSpPr>
          <p:cNvPr id="71" name="Shape 71"/>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72" name="Shape 7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73" name="Shape 7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cSld name="Title Only">
    <p:spTree>
      <p:nvGrpSpPr>
        <p:cNvPr id="1" name="Shape 74"/>
        <p:cNvGrpSpPr/>
        <p:nvPr/>
      </p:nvGrpSpPr>
      <p:grpSpPr>
        <a:xfrm>
          <a:off x="0" y="0"/>
          <a:ext cx="0" cy="0"/>
          <a:chOff x="0" y="0"/>
          <a:chExt cx="0" cy="0"/>
        </a:xfrm>
      </p:grpSpPr>
      <p:sp>
        <p:nvSpPr>
          <p:cNvPr id="75" name="Shape 75"/>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76" name="Shape 76"/>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77" name="Shape 77"/>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78" name="Shape 78"/>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Two Content">
    <p:spTree>
      <p:nvGrpSpPr>
        <p:cNvPr id="1" name="Shape 30"/>
        <p:cNvGrpSpPr/>
        <p:nvPr/>
      </p:nvGrpSpPr>
      <p:grpSpPr>
        <a:xfrm>
          <a:off x="0" y="0"/>
          <a:ext cx="0" cy="0"/>
          <a:chOff x="0" y="0"/>
          <a:chExt cx="0" cy="0"/>
        </a:xfrm>
      </p:grpSpPr>
      <p:sp>
        <p:nvSpPr>
          <p:cNvPr id="31" name="Shape 31"/>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32" name="Shape 32"/>
          <p:cNvSpPr txBox="1">
            <a:spLocks noGrp="1"/>
          </p:cNvSpPr>
          <p:nvPr>
            <p:ph type="body" idx="1"/>
          </p:nvPr>
        </p:nvSpPr>
        <p:spPr>
          <a:xfrm>
            <a:off x="457200" y="1600200"/>
            <a:ext cx="8229600" cy="2163763"/>
          </a:xfrm>
          <a:prstGeom prst="rect">
            <a:avLst/>
          </a:prstGeom>
          <a:noFill/>
          <a:ln>
            <a:noFill/>
          </a:ln>
        </p:spPr>
        <p:txBody>
          <a:bodyPr lIns="91425" tIns="91425" rIns="91425" bIns="91425" anchor="t" anchorCtr="0"/>
          <a:lstStyle>
            <a:lvl1pPr marL="256032" marR="0" lvl="0" indent="-2560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283464"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2286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6pPr>
            <a:lvl7pPr marL="2971800" marR="0" lvl="6"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7pPr>
            <a:lvl8pPr marL="3429000" marR="0" lvl="7"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8pPr>
            <a:lvl9pPr marL="3886200" marR="0" lvl="8"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9pPr>
          </a:lstStyle>
          <a:p>
            <a:endParaRPr lang="en-US" dirty="0" smtClean="0"/>
          </a:p>
          <a:p>
            <a:pPr lvl="1"/>
            <a:endParaRPr lang="en-US" dirty="0" smtClean="0"/>
          </a:p>
          <a:p>
            <a:pPr lvl="2"/>
            <a:endParaRPr dirty="0"/>
          </a:p>
        </p:txBody>
      </p:sp>
      <p:sp>
        <p:nvSpPr>
          <p:cNvPr id="33" name="Shape 33"/>
          <p:cNvSpPr txBox="1">
            <a:spLocks noGrp="1"/>
          </p:cNvSpPr>
          <p:nvPr>
            <p:ph type="body" idx="2"/>
          </p:nvPr>
        </p:nvSpPr>
        <p:spPr>
          <a:xfrm>
            <a:off x="457200" y="3962400"/>
            <a:ext cx="8229600" cy="2163763"/>
          </a:xfrm>
          <a:prstGeom prst="rect">
            <a:avLst/>
          </a:prstGeom>
          <a:noFill/>
          <a:ln>
            <a:noFill/>
          </a:ln>
        </p:spPr>
        <p:txBody>
          <a:bodyPr lIns="91425" tIns="91425" rIns="91425" bIns="91425" anchor="t" anchorCtr="0"/>
          <a:lstStyle>
            <a:lvl1pPr marL="256032" marR="0" lvl="0" indent="-2560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283464"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2286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6pPr>
            <a:lvl7pPr marL="2971800" marR="0" lvl="6"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7pPr>
            <a:lvl8pPr marL="3429000" marR="0" lvl="7"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8pPr>
            <a:lvl9pPr marL="3886200" marR="0" lvl="8"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9pPr>
          </a:lstStyle>
          <a:p>
            <a:endParaRPr lang="en-US" dirty="0" smtClean="0"/>
          </a:p>
          <a:p>
            <a:pPr lvl="1"/>
            <a:endParaRPr lang="en-US" dirty="0" smtClean="0"/>
          </a:p>
          <a:p>
            <a:pPr lvl="2"/>
            <a:endParaRPr dirty="0"/>
          </a:p>
        </p:txBody>
      </p:sp>
      <p:sp>
        <p:nvSpPr>
          <p:cNvPr id="34" name="Shape 34"/>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146176256"/>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cSld name="Blank">
    <p:spTree>
      <p:nvGrpSpPr>
        <p:cNvPr id="1" name="Shape 79"/>
        <p:cNvGrpSpPr/>
        <p:nvPr/>
      </p:nvGrpSpPr>
      <p:grpSpPr>
        <a:xfrm>
          <a:off x="0" y="0"/>
          <a:ext cx="0" cy="0"/>
          <a:chOff x="0" y="0"/>
          <a:chExt cx="0" cy="0"/>
        </a:xfrm>
      </p:grpSpPr>
      <p:sp>
        <p:nvSpPr>
          <p:cNvPr id="80" name="Shape 80"/>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81" name="Shape 81"/>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82" name="Shape 82"/>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dk1"/>
                </a:solidFill>
                <a:latin typeface="Arial"/>
                <a:ea typeface="Arial"/>
                <a:cs typeface="Arial"/>
                <a:sym typeface="Arial"/>
              </a:rPr>
              <a:t>‹#›</a:t>
            </a:fld>
            <a:endParaRPr lang="en-US" sz="900" b="0" i="0" u="none" strike="noStrike" cap="none" dirty="0">
              <a:solidFill>
                <a:schemeClr val="dk1"/>
              </a:solidFill>
              <a:latin typeface="Arial"/>
              <a:ea typeface="Arial"/>
              <a:cs typeface="Arial"/>
              <a:sym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Learning Objectives">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lvl1pPr>
              <a:defRPr>
                <a:solidFill>
                  <a:srgbClr val="3399B5"/>
                </a:solidFill>
              </a:defRPr>
            </a:lvl1p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marL="118872" indent="-118872">
              <a:buClr>
                <a:srgbClr val="007FA3"/>
              </a:buClr>
              <a:buSzPct val="25000"/>
              <a:defRPr sz="1600"/>
            </a:lvl1pPr>
            <a:lvl2pPr marL="569913" indent="-285750">
              <a:buClr>
                <a:srgbClr val="007FA3"/>
              </a:buClr>
              <a:defRPr sz="1600"/>
            </a:lvl2pPr>
            <a:lvl3pPr>
              <a:buClr>
                <a:srgbClr val="007FA3"/>
              </a:buClr>
              <a:defRPr sz="1600"/>
            </a:lvl3pPr>
            <a:lvl4pPr>
              <a:buClr>
                <a:srgbClr val="007FA3"/>
              </a:buClr>
              <a:defRPr sz="1600"/>
            </a:lvl4pPr>
            <a:lvl5pPr>
              <a:buClr>
                <a:srgbClr val="007FA3"/>
              </a:buClr>
              <a:defRPr sz="1600"/>
            </a:lvl5pPr>
            <a:lvl6pPr>
              <a:buClr>
                <a:srgbClr val="007FA3"/>
              </a:buClr>
              <a:defRPr sz="1600"/>
            </a:lvl6pPr>
            <a:lvl7pPr>
              <a:buClr>
                <a:srgbClr val="007FA3"/>
              </a:buClr>
              <a:defRPr sz="1600"/>
            </a:lvl7pPr>
            <a:lvl8pPr>
              <a:buClr>
                <a:srgbClr val="007FA3"/>
              </a:buClr>
              <a:defRPr sz="1600"/>
            </a:lvl8pPr>
            <a:lvl9pPr>
              <a:buClr>
                <a:srgbClr val="007FA3"/>
              </a:buCl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0"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10/17/2018</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376915067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3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a:xfrm>
            <a:off x="457200" y="1600200"/>
            <a:ext cx="8229600" cy="919336"/>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10/17/2018</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
        <p:nvSpPr>
          <p:cNvPr id="13" name="Content Placeholder 2"/>
          <p:cNvSpPr>
            <a:spLocks noGrp="1"/>
          </p:cNvSpPr>
          <p:nvPr>
            <p:ph idx="13"/>
          </p:nvPr>
        </p:nvSpPr>
        <p:spPr>
          <a:xfrm>
            <a:off x="473720" y="2807084"/>
            <a:ext cx="8229600" cy="919336"/>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9" name="Content Placeholder 2"/>
          <p:cNvSpPr>
            <a:spLocks noGrp="1"/>
          </p:cNvSpPr>
          <p:nvPr>
            <p:ph idx="14"/>
          </p:nvPr>
        </p:nvSpPr>
        <p:spPr>
          <a:xfrm>
            <a:off x="473720" y="4013968"/>
            <a:ext cx="8229600" cy="919336"/>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7138363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hapter Opener">
    <p:spTree>
      <p:nvGrpSpPr>
        <p:cNvPr id="1" name="Shape 37"/>
        <p:cNvGrpSpPr/>
        <p:nvPr/>
      </p:nvGrpSpPr>
      <p:grpSpPr>
        <a:xfrm>
          <a:off x="0" y="0"/>
          <a:ext cx="0" cy="0"/>
          <a:chOff x="0" y="0"/>
          <a:chExt cx="0" cy="0"/>
        </a:xfrm>
      </p:grpSpPr>
      <p:sp>
        <p:nvSpPr>
          <p:cNvPr id="38" name="Shape 38"/>
          <p:cNvSpPr txBox="1">
            <a:spLocks noGrp="1"/>
          </p:cNvSpPr>
          <p:nvPr>
            <p:ph type="title"/>
          </p:nvPr>
        </p:nvSpPr>
        <p:spPr>
          <a:xfrm>
            <a:off x="457200" y="215371"/>
            <a:ext cx="8229600" cy="622828"/>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39" name="Shape 39"/>
          <p:cNvSpPr txBox="1">
            <a:spLocks noGrp="1"/>
          </p:cNvSpPr>
          <p:nvPr>
            <p:ph type="body" idx="1"/>
          </p:nvPr>
        </p:nvSpPr>
        <p:spPr>
          <a:xfrm>
            <a:off x="457200" y="816429"/>
            <a:ext cx="8229600" cy="47897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a:p>
        </p:txBody>
      </p:sp>
      <p:sp>
        <p:nvSpPr>
          <p:cNvPr id="40" name="Shape 40"/>
          <p:cNvSpPr txBox="1">
            <a:spLocks noGrp="1"/>
          </p:cNvSpPr>
          <p:nvPr>
            <p:ph type="body" idx="2"/>
          </p:nvPr>
        </p:nvSpPr>
        <p:spPr>
          <a:xfrm>
            <a:off x="5029200" y="1600200"/>
            <a:ext cx="3657600" cy="1600198"/>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30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44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9pPr>
          </a:lstStyle>
          <a:p>
            <a:endParaRPr/>
          </a:p>
        </p:txBody>
      </p:sp>
      <p:sp>
        <p:nvSpPr>
          <p:cNvPr id="41" name="Shape 41"/>
          <p:cNvSpPr txBox="1">
            <a:spLocks noGrp="1"/>
          </p:cNvSpPr>
          <p:nvPr>
            <p:ph type="body" idx="3"/>
          </p:nvPr>
        </p:nvSpPr>
        <p:spPr>
          <a:xfrm>
            <a:off x="5029200" y="3200400"/>
            <a:ext cx="3657600" cy="2925763"/>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endParaRPr/>
          </a:p>
        </p:txBody>
      </p:sp>
      <p:sp>
        <p:nvSpPr>
          <p:cNvPr id="42" name="Shape 42"/>
          <p:cNvSpPr txBox="1">
            <a:spLocks noGrp="1"/>
          </p:cNvSpPr>
          <p:nvPr>
            <p:ph type="ftr" idx="11"/>
          </p:nvPr>
        </p:nvSpPr>
        <p:spPr>
          <a:xfrm>
            <a:off x="93969" y="6165337"/>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43" name="Shape 4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44" name="Shape 4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9" name="Shape 39"/>
          <p:cNvSpPr txBox="1">
            <a:spLocks noGrp="1"/>
          </p:cNvSpPr>
          <p:nvPr>
            <p:ph type="body" idx="13"/>
          </p:nvPr>
        </p:nvSpPr>
        <p:spPr>
          <a:xfrm>
            <a:off x="474779" y="1500547"/>
            <a:ext cx="8229600" cy="205153"/>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a:p>
        </p:txBody>
      </p:sp>
    </p:spTree>
    <p:extLst>
      <p:ext uri="{BB962C8B-B14F-4D97-AF65-F5344CB8AC3E}">
        <p14:creationId xmlns:p14="http://schemas.microsoft.com/office/powerpoint/2010/main" val="306885795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1"/>
          <p:cNvSpPr>
            <a:spLocks noGrp="1"/>
          </p:cNvSpPr>
          <p:nvPr>
            <p:ph type="ftr" idx="10"/>
          </p:nvPr>
        </p:nvSpPr>
        <p:spPr/>
        <p:txBody>
          <a:bodyPr/>
          <a:lstStyle/>
          <a:p>
            <a:endParaRPr lang="en-US" dirty="0"/>
          </a:p>
        </p:txBody>
      </p:sp>
      <p:sp>
        <p:nvSpPr>
          <p:cNvPr id="3" name="Date Placeholder 2"/>
          <p:cNvSpPr>
            <a:spLocks noGrp="1"/>
          </p:cNvSpPr>
          <p:nvPr>
            <p:ph type="dt" idx="1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11030429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15.xml"/><Relationship Id="rId1" Type="http://schemas.openxmlformats.org/officeDocument/2006/relationships/slideLayout" Target="../slideLayouts/slideLayout14.xml"/><Relationship Id="rId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11" name="Shape 11"/>
          <p:cNvSpPr txBox="1">
            <a:spLocks noGrp="1"/>
          </p:cNvSpPr>
          <p:nvPr>
            <p:ph type="body" idx="1"/>
          </p:nvPr>
        </p:nvSpPr>
        <p:spPr>
          <a:xfrm>
            <a:off x="457200" y="1600200"/>
            <a:ext cx="8229600" cy="4525963"/>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2" name="Shape 12"/>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pic>
        <p:nvPicPr>
          <p:cNvPr id="15" name="Shape 15" descr="Pearson Logo"/>
          <p:cNvPicPr preferRelativeResize="0"/>
          <p:nvPr/>
        </p:nvPicPr>
        <p:blipFill rotWithShape="1">
          <a:blip r:embed="rId15">
            <a:alphaModFix/>
          </a:blip>
          <a:srcRect/>
          <a:stretch/>
        </p:blipFill>
        <p:spPr>
          <a:xfrm>
            <a:off x="443972" y="6429709"/>
            <a:ext cx="917999" cy="279914"/>
          </a:xfrm>
          <a:prstGeom prst="rect">
            <a:avLst/>
          </a:prstGeom>
          <a:noFill/>
          <a:ln>
            <a:noFill/>
          </a:ln>
        </p:spPr>
      </p:pic>
      <p:sp>
        <p:nvSpPr>
          <p:cNvPr id="16" name="Text Placeholder 5"/>
          <p:cNvSpPr txBox="1">
            <a:spLocks/>
          </p:cNvSpPr>
          <p:nvPr userDrawn="1"/>
        </p:nvSpPr>
        <p:spPr>
          <a:xfrm>
            <a:off x="2743200" y="6474315"/>
            <a:ext cx="6077663" cy="229382"/>
          </a:xfrm>
          <a:prstGeom prst="rect">
            <a:avLst/>
          </a:prstGeom>
        </p:spPr>
        <p:txBody>
          <a:bodyPr anchor="ctr"/>
          <a:lstStyle>
            <a:defPPr marR="0" lvl="0" algn="l" rtl="0">
              <a:lnSpc>
                <a:spcPct val="100000"/>
              </a:lnSpc>
              <a:spcBef>
                <a:spcPts val="0"/>
              </a:spcBef>
              <a:spcAft>
                <a:spcPts val="0"/>
              </a:spcAft>
            </a:defPPr>
            <a:lvl1pPr marL="255588" marR="0" lvl="0" indent="-25558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a:lstStyle>
          <a:p>
            <a:pPr algn="r"/>
            <a:r>
              <a:rPr lang="en-US" altLang="en-US" sz="1200" dirty="0" smtClean="0">
                <a:solidFill>
                  <a:schemeClr val="tx1"/>
                </a:solidFill>
                <a:latin typeface="Verdana"/>
                <a:ea typeface="Verdana" panose="020B0604030504040204" pitchFamily="34" charset="0"/>
                <a:cs typeface="Verdana" panose="020B0604030504040204" pitchFamily="34" charset="0"/>
              </a:rPr>
              <a:t>Copyright © 2019 Pearson Education, Ltd.</a:t>
            </a:r>
            <a:endParaRPr lang="en-US" altLang="en-US" sz="1200" dirty="0">
              <a:solidFill>
                <a:schemeClr val="tx1"/>
              </a:solidFill>
              <a:latin typeface="Verdana"/>
              <a:ea typeface="Verdana" panose="020B0604030504040204" pitchFamily="34" charset="0"/>
              <a:cs typeface="Verdana" panose="020B0604030504040204" pitchFamily="34" charset="0"/>
            </a:endParaRPr>
          </a:p>
        </p:txBody>
      </p:sp>
    </p:spTree>
  </p:cSld>
  <p:clrMap bg1="lt1" tx1="dk1" bg2="dk2" tx2="lt2" accent1="accent1" accent2="accent2" accent3="accent3" accent4="accent4" accent5="accent5" accent6="accent6" hlink="hlink" folHlink="folHlink"/>
  <p:sldLayoutIdLst>
    <p:sldLayoutId id="2147483665" r:id="rId1"/>
    <p:sldLayoutId id="2147483666" r:id="rId2"/>
    <p:sldLayoutId id="2147483649" r:id="rId3"/>
    <p:sldLayoutId id="2147483668" r:id="rId4"/>
    <p:sldLayoutId id="2147483669" r:id="rId5"/>
    <p:sldLayoutId id="2147483651" r:id="rId6"/>
    <p:sldLayoutId id="2147483654" r:id="rId7"/>
    <p:sldLayoutId id="2147483655" r:id="rId8"/>
    <p:sldLayoutId id="2147483656" r:id="rId9"/>
    <p:sldLayoutId id="2147483667" r:id="rId10"/>
    <p:sldLayoutId id="2147483657" r:id="rId11"/>
    <p:sldLayoutId id="2147483673" r:id="rId12"/>
    <p:sldLayoutId id="2147483678"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p:titleStyle>
    <p:bodyStyle>
      <a:defPPr marR="0" lvl="0" algn="l" rtl="0">
        <a:lnSpc>
          <a:spcPct val="100000"/>
        </a:lnSpc>
        <a:spcBef>
          <a:spcPts val="0"/>
        </a:spcBef>
        <a:spcAft>
          <a:spcPts val="0"/>
        </a:spcAft>
      </a:defPPr>
      <a:lvl1pPr marL="255588" marR="0" lvl="0" indent="-25558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11" name="Shape 11"/>
          <p:cNvSpPr txBox="1">
            <a:spLocks noGrp="1"/>
          </p:cNvSpPr>
          <p:nvPr>
            <p:ph type="body" idx="1"/>
          </p:nvPr>
        </p:nvSpPr>
        <p:spPr>
          <a:xfrm>
            <a:off x="457200" y="1600200"/>
            <a:ext cx="8229600" cy="4525963"/>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2" name="Shape 12"/>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pic>
        <p:nvPicPr>
          <p:cNvPr id="15" name="Shape 15" descr="Pearson Logo"/>
          <p:cNvPicPr preferRelativeResize="0"/>
          <p:nvPr/>
        </p:nvPicPr>
        <p:blipFill rotWithShape="1">
          <a:blip r:embed="rId4">
            <a:alphaModFix/>
          </a:blip>
          <a:srcRect/>
          <a:stretch/>
        </p:blipFill>
        <p:spPr>
          <a:xfrm>
            <a:off x="443972" y="6429709"/>
            <a:ext cx="917999" cy="279914"/>
          </a:xfrm>
          <a:prstGeom prst="rect">
            <a:avLst/>
          </a:prstGeom>
          <a:noFill/>
          <a:ln>
            <a:noFill/>
          </a:ln>
        </p:spPr>
      </p:pic>
    </p:spTree>
    <p:extLst>
      <p:ext uri="{BB962C8B-B14F-4D97-AF65-F5344CB8AC3E}">
        <p14:creationId xmlns:p14="http://schemas.microsoft.com/office/powerpoint/2010/main" val="200283969"/>
      </p:ext>
    </p:extLst>
  </p:cSld>
  <p:clrMap bg1="lt1" tx1="dk1" bg2="dk2" tx2="lt2" accent1="accent1" accent2="accent2" accent3="accent3" accent4="accent4" accent5="accent5" accent6="accent6" hlink="hlink" folHlink="folHlink"/>
  <p:sldLayoutIdLst>
    <p:sldLayoutId id="2147483664" r:id="rId1"/>
    <p:sldLayoutId id="2147483693"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p:titleStyle>
    <p:bodyStyle>
      <a:defPPr marR="0" lvl="0" algn="l" rtl="0">
        <a:lnSpc>
          <a:spcPct val="100000"/>
        </a:lnSpc>
        <a:spcBef>
          <a:spcPts val="0"/>
        </a:spcBef>
        <a:spcAft>
          <a:spcPts val="0"/>
        </a:spcAft>
      </a:defPPr>
      <a:lvl1pPr marL="255588" marR="0" lvl="0" indent="-25603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199" y="215371"/>
            <a:ext cx="8363663" cy="961482"/>
          </a:xfrm>
        </p:spPr>
        <p:txBody>
          <a:bodyPr anchor="ctr"/>
          <a:lstStyle/>
          <a:p>
            <a:r>
              <a:rPr lang="en-US" dirty="0"/>
              <a:t>Supply Chain Management: Strategy, Planning, and Operation</a:t>
            </a:r>
            <a:endParaRPr lang="en-US" dirty="0">
              <a:solidFill>
                <a:schemeClr val="tx2"/>
              </a:solidFill>
            </a:endParaRPr>
          </a:p>
        </p:txBody>
      </p:sp>
      <p:sp>
        <p:nvSpPr>
          <p:cNvPr id="3" name="Text Placeholder 2"/>
          <p:cNvSpPr>
            <a:spLocks noGrp="1"/>
          </p:cNvSpPr>
          <p:nvPr>
            <p:ph type="body" idx="1"/>
          </p:nvPr>
        </p:nvSpPr>
        <p:spPr>
          <a:xfrm>
            <a:off x="457199" y="1266231"/>
            <a:ext cx="8229600" cy="389592"/>
          </a:xfrm>
        </p:spPr>
        <p:txBody>
          <a:bodyPr/>
          <a:lstStyle/>
          <a:p>
            <a:r>
              <a:rPr lang="en-US" dirty="0"/>
              <a:t>Seventh Edition, Global Edition</a:t>
            </a:r>
          </a:p>
        </p:txBody>
      </p:sp>
      <p:sp>
        <p:nvSpPr>
          <p:cNvPr id="4" name="Text Placeholder 3"/>
          <p:cNvSpPr>
            <a:spLocks noGrp="1"/>
          </p:cNvSpPr>
          <p:nvPr>
            <p:ph type="body" idx="2"/>
          </p:nvPr>
        </p:nvSpPr>
        <p:spPr>
          <a:xfrm>
            <a:off x="5029200" y="1930400"/>
            <a:ext cx="3657600" cy="1094683"/>
          </a:xfrm>
        </p:spPr>
        <p:txBody>
          <a:bodyPr/>
          <a:lstStyle/>
          <a:p>
            <a:pPr lvl="0" algn="ctr"/>
            <a:r>
              <a:rPr lang="en-US" b="1" dirty="0">
                <a:latin typeface="+mn-lt"/>
              </a:rPr>
              <a:t>Chapter </a:t>
            </a:r>
            <a:r>
              <a:rPr lang="en-US" b="1" dirty="0" smtClean="0">
                <a:latin typeface="+mn-lt"/>
              </a:rPr>
              <a:t>9</a:t>
            </a:r>
            <a:endParaRPr lang="en-US" b="1" dirty="0">
              <a:latin typeface="+mn-lt"/>
            </a:endParaRPr>
          </a:p>
        </p:txBody>
      </p:sp>
      <p:sp>
        <p:nvSpPr>
          <p:cNvPr id="5" name="Text Placeholder 4"/>
          <p:cNvSpPr>
            <a:spLocks noGrp="1"/>
          </p:cNvSpPr>
          <p:nvPr>
            <p:ph type="body" idx="3"/>
          </p:nvPr>
        </p:nvSpPr>
        <p:spPr>
          <a:xfrm>
            <a:off x="5029200" y="3114461"/>
            <a:ext cx="3657600" cy="968808"/>
          </a:xfrm>
        </p:spPr>
        <p:txBody>
          <a:bodyPr/>
          <a:lstStyle/>
          <a:p>
            <a:pPr algn="ctr"/>
            <a:r>
              <a:rPr lang="en-US" dirty="0">
                <a:latin typeface="+mn-lt"/>
              </a:rPr>
              <a:t>Sales and Operations Planning in a Supply Chain</a:t>
            </a:r>
            <a:endParaRPr lang="en-US" sz="2400" dirty="0">
              <a:latin typeface="+mn-lt"/>
            </a:endParaRPr>
          </a:p>
        </p:txBody>
      </p:sp>
      <p:sp>
        <p:nvSpPr>
          <p:cNvPr id="6" name="Text Placeholder 5"/>
          <p:cNvSpPr>
            <a:spLocks noGrp="1"/>
          </p:cNvSpPr>
          <p:nvPr>
            <p:ph type="body" idx="13"/>
          </p:nvPr>
        </p:nvSpPr>
        <p:spPr>
          <a:xfrm>
            <a:off x="2743200" y="6474315"/>
            <a:ext cx="6077663" cy="229382"/>
          </a:xfrm>
        </p:spPr>
        <p:txBody>
          <a:bodyPr anchor="ctr"/>
          <a:lstStyle/>
          <a:p>
            <a:pPr algn="r"/>
            <a:r>
              <a:rPr lang="en-US" altLang="en-US" sz="1200" dirty="0">
                <a:solidFill>
                  <a:schemeClr val="tx1"/>
                </a:solidFill>
                <a:latin typeface="Verdana"/>
                <a:ea typeface="Verdana" panose="020B0604030504040204" pitchFamily="34" charset="0"/>
                <a:cs typeface="Verdana" panose="020B0604030504040204" pitchFamily="34" charset="0"/>
              </a:rPr>
              <a:t>Copyright © 2019 Pearson Education, Ltd.</a:t>
            </a:r>
            <a:endParaRPr lang="en-US" altLang="en-US" sz="1200" dirty="0">
              <a:solidFill>
                <a:schemeClr val="tx1"/>
              </a:solidFill>
              <a:latin typeface="Verdana"/>
              <a:ea typeface="Verdana" panose="020B0604030504040204" pitchFamily="34" charset="0"/>
              <a:cs typeface="Verdana" panose="020B0604030504040204" pitchFamily="34" charset="0"/>
            </a:endParaRPr>
          </a:p>
        </p:txBody>
      </p:sp>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8726" y="1752820"/>
            <a:ext cx="3486848" cy="4390364"/>
          </a:xfrm>
          <a:prstGeom prst="rect">
            <a:avLst/>
          </a:prstGeom>
          <a:ln w="6350" cmpd="sng">
            <a:solidFill>
              <a:schemeClr val="tx1"/>
            </a:solidFill>
          </a:ln>
        </p:spPr>
      </p:pic>
    </p:spTree>
    <p:extLst>
      <p:ext uri="{BB962C8B-B14F-4D97-AF65-F5344CB8AC3E}">
        <p14:creationId xmlns:p14="http://schemas.microsoft.com/office/powerpoint/2010/main" val="414041591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4794"/>
            <a:ext cx="8229600" cy="707856"/>
          </a:xfrm>
        </p:spPr>
        <p:txBody>
          <a:bodyPr tIns="91425">
            <a:spAutoFit/>
          </a:bodyPr>
          <a:lstStyle/>
          <a:p>
            <a:pPr lvl="0" defTabSz="457200">
              <a:spcBef>
                <a:spcPct val="0"/>
              </a:spcBef>
              <a:buClrTx/>
            </a:pPr>
            <a:r>
              <a:rPr lang="en-US" kern="1200" dirty="0" smtClean="0">
                <a:solidFill>
                  <a:srgbClr val="007FA3"/>
                </a:solidFill>
                <a:latin typeface="Times New Roman" panose="02020603050405020304" pitchFamily="18" charset="0"/>
                <a:ea typeface="+mj-ea"/>
                <a:cs typeface="+mj-cs"/>
              </a:rPr>
              <a:t>Learning Objectives</a:t>
            </a:r>
            <a:endParaRPr lang="en-US" kern="1200" dirty="0">
              <a:solidFill>
                <a:srgbClr val="007FA3"/>
              </a:solidFill>
              <a:latin typeface="Times New Roman" panose="02020603050405020304" pitchFamily="18" charset="0"/>
              <a:ea typeface="+mj-ea"/>
              <a:cs typeface="+mj-cs"/>
            </a:endParaRPr>
          </a:p>
        </p:txBody>
      </p:sp>
      <p:sp>
        <p:nvSpPr>
          <p:cNvPr id="3" name="Content Placeholder 2"/>
          <p:cNvSpPr>
            <a:spLocks noGrp="1"/>
          </p:cNvSpPr>
          <p:nvPr>
            <p:ph idx="1"/>
          </p:nvPr>
        </p:nvSpPr>
        <p:spPr>
          <a:xfrm>
            <a:off x="457200" y="1600200"/>
            <a:ext cx="8229600" cy="2223655"/>
          </a:xfrm>
        </p:spPr>
        <p:txBody>
          <a:bodyPr wrap="square" lIns="91425" tIns="91425" rIns="91425" bIns="91425">
            <a:spAutoFit/>
          </a:bodyPr>
          <a:lstStyle/>
          <a:p>
            <a:pPr marL="0" lvl="0" indent="0" defTabSz="457200">
              <a:spcAft>
                <a:spcPct val="0"/>
              </a:spcAft>
              <a:buSzPct val="100000"/>
              <a:buNone/>
            </a:pPr>
            <a:r>
              <a:rPr lang="en-US" sz="2400" b="1" kern="1200" dirty="0" smtClean="0">
                <a:solidFill>
                  <a:schemeClr val="tx2"/>
                </a:solidFill>
                <a:latin typeface="Arial (Body)"/>
                <a:ea typeface="+mn-ea"/>
                <a:cs typeface="+mn-cs"/>
              </a:rPr>
              <a:t>9.1</a:t>
            </a:r>
            <a:r>
              <a:rPr lang="en-US" sz="2400" kern="1200" dirty="0">
                <a:solidFill>
                  <a:srgbClr val="000000"/>
                </a:solidFill>
                <a:latin typeface="Arial (Body)"/>
                <a:ea typeface="+mn-ea"/>
                <a:cs typeface="+mn-cs"/>
              </a:rPr>
              <a:t>	Manage supply and demand to improve synchronization in a supply chain in the face of predictable variability.</a:t>
            </a:r>
          </a:p>
          <a:p>
            <a:pPr marL="0" lvl="0" indent="0" defTabSz="457200">
              <a:spcAft>
                <a:spcPct val="0"/>
              </a:spcAft>
              <a:buSzPct val="100000"/>
              <a:buNone/>
            </a:pPr>
            <a:r>
              <a:rPr lang="en-US" sz="2400" b="1" kern="1200" dirty="0">
                <a:solidFill>
                  <a:schemeClr val="tx2"/>
                </a:solidFill>
                <a:latin typeface="Arial (Body)"/>
                <a:ea typeface="+mn-ea"/>
                <a:cs typeface="+mn-cs"/>
              </a:rPr>
              <a:t>9.2</a:t>
            </a:r>
            <a:r>
              <a:rPr lang="en-US" sz="2400" kern="1200" dirty="0">
                <a:solidFill>
                  <a:srgbClr val="000000"/>
                </a:solidFill>
                <a:latin typeface="Arial (Body)"/>
                <a:ea typeface="+mn-ea"/>
                <a:cs typeface="+mn-cs"/>
              </a:rPr>
              <a:t>	Use sales and operations planning to maximize profitability when faced with predictable variability in a supply chain.</a:t>
            </a:r>
          </a:p>
        </p:txBody>
      </p:sp>
    </p:spTree>
    <p:extLst>
      <p:ext uri="{BB962C8B-B14F-4D97-AF65-F5344CB8AC3E}">
        <p14:creationId xmlns:p14="http://schemas.microsoft.com/office/powerpoint/2010/main" val="92009840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81574"/>
            <a:ext cx="8229600" cy="1231076"/>
          </a:xfrm>
        </p:spPr>
        <p:txBody>
          <a:bodyPr tIns="91425">
            <a:spAutoFit/>
          </a:bodyPr>
          <a:lstStyle/>
          <a:p>
            <a:pPr lvl="0" defTabSz="457200">
              <a:spcBef>
                <a:spcPct val="0"/>
              </a:spcBef>
              <a:buClrTx/>
            </a:pPr>
            <a:r>
              <a:rPr lang="en-US" kern="1200" dirty="0" smtClean="0">
                <a:latin typeface="Times New Roman" panose="02020603050405020304" pitchFamily="18" charset="0"/>
                <a:ea typeface="+mj-ea"/>
                <a:cs typeface="+mj-cs"/>
              </a:rPr>
              <a:t>Responding to Predictable Variability in a Supply Chain</a:t>
            </a:r>
            <a:endParaRPr lang="en-US" kern="1200" dirty="0">
              <a:latin typeface="Times New Roman" panose="02020603050405020304" pitchFamily="18" charset="0"/>
              <a:ea typeface="+mj-ea"/>
              <a:cs typeface="+mj-cs"/>
            </a:endParaRPr>
          </a:p>
        </p:txBody>
      </p:sp>
      <p:sp>
        <p:nvSpPr>
          <p:cNvPr id="3" name="Text Placeholder 2"/>
          <p:cNvSpPr>
            <a:spLocks noGrp="1"/>
          </p:cNvSpPr>
          <p:nvPr>
            <p:ph type="body" idx="1"/>
          </p:nvPr>
        </p:nvSpPr>
        <p:spPr>
          <a:xfrm>
            <a:off x="457200" y="1600200"/>
            <a:ext cx="8229600" cy="2416016"/>
          </a:xfrm>
        </p:spPr>
        <p:txBody>
          <a:bodyPr wrap="square" lIns="91425" tIns="91425" rIns="91425" bIns="91425">
            <a:spAutoFit/>
          </a:bodyPr>
          <a:lstStyle/>
          <a:p>
            <a:pPr marL="255651" lvl="0" indent="-255651" defTabSz="457200">
              <a:spcAft>
                <a:spcPct val="0"/>
              </a:spcAft>
              <a:buFont typeface="Arial" panose="020B0604020202020204" pitchFamily="34" charset="0"/>
              <a:buChar char="•"/>
              <a:tabLst/>
            </a:pPr>
            <a:r>
              <a:rPr lang="en-US" sz="2400" b="1" kern="1200" dirty="0">
                <a:solidFill>
                  <a:srgbClr val="000000"/>
                </a:solidFill>
                <a:latin typeface="Arial (Body)"/>
                <a:ea typeface="+mn-ea"/>
                <a:cs typeface="+mn-cs"/>
              </a:rPr>
              <a:t>Predictable variability </a:t>
            </a:r>
            <a:r>
              <a:rPr lang="en-US" sz="2400" kern="1200" dirty="0">
                <a:solidFill>
                  <a:srgbClr val="000000"/>
                </a:solidFill>
                <a:latin typeface="Arial (Body)"/>
                <a:ea typeface="+mn-ea"/>
                <a:cs typeface="+mn-cs"/>
              </a:rPr>
              <a:t>is change in demand that can be forecasted</a:t>
            </a:r>
          </a:p>
          <a:p>
            <a:pPr marL="255651" lvl="0" indent="-255651" defTabSz="457200">
              <a:spcAft>
                <a:spcPct val="0"/>
              </a:spcAft>
              <a:buFont typeface="Arial" panose="020B0604020202020204" pitchFamily="34" charset="0"/>
              <a:buChar char="•"/>
              <a:tabLst/>
            </a:pPr>
            <a:r>
              <a:rPr lang="en-US" sz="2400" kern="1200" dirty="0">
                <a:solidFill>
                  <a:srgbClr val="000000"/>
                </a:solidFill>
                <a:latin typeface="Arial (Body)"/>
                <a:ea typeface="+mn-ea"/>
                <a:cs typeface="+mn-cs"/>
              </a:rPr>
              <a:t>Can cause increased costs and </a:t>
            </a:r>
            <a:r>
              <a:rPr lang="en-US" sz="2400" kern="1200" dirty="0" smtClean="0">
                <a:solidFill>
                  <a:srgbClr val="000000"/>
                </a:solidFill>
                <a:latin typeface="Arial (Body)"/>
                <a:ea typeface="+mn-ea"/>
                <a:cs typeface="+mn-cs"/>
              </a:rPr>
              <a:t>decreased responsiveness </a:t>
            </a:r>
            <a:r>
              <a:rPr lang="en-US" sz="2400" kern="1200" dirty="0">
                <a:solidFill>
                  <a:srgbClr val="000000"/>
                </a:solidFill>
                <a:latin typeface="Arial (Body)"/>
                <a:ea typeface="+mn-ea"/>
                <a:cs typeface="+mn-cs"/>
              </a:rPr>
              <a:t>in the supply chain</a:t>
            </a:r>
          </a:p>
          <a:p>
            <a:pPr marL="255651" lvl="0" indent="-255651" defTabSz="457200">
              <a:spcAft>
                <a:spcPct val="0"/>
              </a:spcAft>
              <a:buFont typeface="Arial" panose="020B0604020202020204" pitchFamily="34" charset="0"/>
              <a:buChar char="•"/>
              <a:tabLst/>
            </a:pPr>
            <a:r>
              <a:rPr lang="en-US" sz="2400" kern="1200" dirty="0">
                <a:solidFill>
                  <a:srgbClr val="000000"/>
                </a:solidFill>
                <a:latin typeface="Arial (Body)"/>
                <a:ea typeface="+mn-ea"/>
                <a:cs typeface="+mn-cs"/>
              </a:rPr>
              <a:t>Two broad </a:t>
            </a:r>
            <a:r>
              <a:rPr lang="en-US" sz="2400" kern="1200" dirty="0" smtClean="0">
                <a:solidFill>
                  <a:srgbClr val="000000"/>
                </a:solidFill>
                <a:latin typeface="Arial (Body)"/>
                <a:ea typeface="+mn-ea"/>
                <a:cs typeface="+mn-cs"/>
              </a:rPr>
              <a:t>options</a:t>
            </a:r>
          </a:p>
        </p:txBody>
      </p:sp>
      <p:sp>
        <p:nvSpPr>
          <p:cNvPr id="4" name="Text Placeholder 3"/>
          <p:cNvSpPr>
            <a:spLocks noGrp="1"/>
          </p:cNvSpPr>
          <p:nvPr>
            <p:ph type="body" idx="2"/>
          </p:nvPr>
        </p:nvSpPr>
        <p:spPr>
          <a:xfrm>
            <a:off x="457200" y="4086523"/>
            <a:ext cx="8229600" cy="1665890"/>
          </a:xfrm>
        </p:spPr>
        <p:txBody>
          <a:bodyPr/>
          <a:lstStyle/>
          <a:p>
            <a:pPr marL="741553" lvl="1" indent="-428371" defTabSz="457200">
              <a:spcAft>
                <a:spcPct val="0"/>
              </a:spcAft>
              <a:buSzPts val="2400"/>
              <a:buFont typeface="+mj-lt"/>
              <a:buAutoNum type="arabicPeriod"/>
            </a:pPr>
            <a:r>
              <a:rPr lang="en-US" sz="2400" kern="1200" dirty="0">
                <a:solidFill>
                  <a:srgbClr val="000000"/>
                </a:solidFill>
                <a:latin typeface="Arial (Body)"/>
              </a:rPr>
              <a:t>Manage supply using capacity, inventory, subcontracting, and backlogs</a:t>
            </a:r>
          </a:p>
          <a:p>
            <a:pPr marL="741553" lvl="1" indent="-428371" defTabSz="457200">
              <a:spcAft>
                <a:spcPct val="0"/>
              </a:spcAft>
              <a:buSzPts val="2400"/>
              <a:buFont typeface="+mj-lt"/>
              <a:buAutoNum type="arabicPeriod"/>
            </a:pPr>
            <a:r>
              <a:rPr lang="en-US" sz="2400" kern="1200" dirty="0">
                <a:solidFill>
                  <a:srgbClr val="000000"/>
                </a:solidFill>
                <a:latin typeface="Arial (Body)"/>
              </a:rPr>
              <a:t>Manage demand using short-term price discounts and </a:t>
            </a:r>
            <a:r>
              <a:rPr lang="en-US" sz="2400" kern="1200" dirty="0" smtClean="0">
                <a:solidFill>
                  <a:srgbClr val="000000"/>
                </a:solidFill>
                <a:latin typeface="Arial (Body)"/>
              </a:rPr>
              <a:t>promotions</a:t>
            </a:r>
            <a:endParaRPr lang="en-US" sz="2400" kern="1200" dirty="0">
              <a:solidFill>
                <a:srgbClr val="000000"/>
              </a:solidFill>
              <a:latin typeface="Arial (Body)"/>
            </a:endParaRPr>
          </a:p>
        </p:txBody>
      </p:sp>
    </p:spTree>
    <p:extLst>
      <p:ext uri="{BB962C8B-B14F-4D97-AF65-F5344CB8AC3E}">
        <p14:creationId xmlns:p14="http://schemas.microsoft.com/office/powerpoint/2010/main" val="406600982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4794"/>
            <a:ext cx="8229600" cy="707856"/>
          </a:xfrm>
        </p:spPr>
        <p:txBody>
          <a:bodyPr tIns="91425">
            <a:spAutoFit/>
          </a:bodyPr>
          <a:lstStyle/>
          <a:p>
            <a:pPr lvl="0" defTabSz="457200">
              <a:spcBef>
                <a:spcPct val="0"/>
              </a:spcBef>
              <a:buClrTx/>
            </a:pPr>
            <a:r>
              <a:rPr lang="en-US" kern="1200" dirty="0" smtClean="0">
                <a:latin typeface="Times New Roman" panose="02020603050405020304" pitchFamily="18" charset="0"/>
                <a:ea typeface="+mj-ea"/>
                <a:cs typeface="+mj-cs"/>
              </a:rPr>
              <a:t>Managing Supply </a:t>
            </a:r>
            <a:r>
              <a:rPr lang="en-US" sz="2000" b="0" kern="1200" dirty="0" smtClean="0">
                <a:latin typeface="Times New Roman" panose="02020603050405020304" pitchFamily="18" charset="0"/>
                <a:ea typeface="+mj-ea"/>
                <a:cs typeface="+mj-cs"/>
              </a:rPr>
              <a:t>(1 of 2)</a:t>
            </a:r>
            <a:endParaRPr lang="en-US" sz="2000" b="0" kern="1200" dirty="0">
              <a:latin typeface="Times New Roman" panose="02020603050405020304" pitchFamily="18" charset="0"/>
              <a:ea typeface="+mj-ea"/>
              <a:cs typeface="+mj-cs"/>
            </a:endParaRPr>
          </a:p>
        </p:txBody>
      </p:sp>
      <p:sp>
        <p:nvSpPr>
          <p:cNvPr id="3" name="Text Placeholder 2"/>
          <p:cNvSpPr>
            <a:spLocks noGrp="1"/>
          </p:cNvSpPr>
          <p:nvPr>
            <p:ph type="body" idx="1"/>
          </p:nvPr>
        </p:nvSpPr>
        <p:spPr>
          <a:xfrm>
            <a:off x="457200" y="1600200"/>
            <a:ext cx="8229600" cy="2785348"/>
          </a:xfrm>
        </p:spPr>
        <p:txBody>
          <a:bodyPr wrap="square" lIns="91425" tIns="91425" rIns="91425" bIns="91425">
            <a:spAutoFit/>
          </a:bodyPr>
          <a:lstStyle/>
          <a:p>
            <a:pPr marL="255651" lvl="0" indent="-255651" defTabSz="457200">
              <a:spcAft>
                <a:spcPct val="0"/>
              </a:spcAft>
              <a:buFont typeface="Arial" panose="020B0604020202020204" pitchFamily="34" charset="0"/>
              <a:buChar char="•"/>
              <a:tabLst/>
            </a:pPr>
            <a:r>
              <a:rPr lang="en-US" sz="2400" kern="1200" dirty="0">
                <a:solidFill>
                  <a:srgbClr val="000000"/>
                </a:solidFill>
                <a:latin typeface="Arial (Body)"/>
                <a:ea typeface="+mn-ea"/>
                <a:cs typeface="+mn-cs"/>
              </a:rPr>
              <a:t>Managing capacity</a:t>
            </a:r>
          </a:p>
          <a:p>
            <a:pPr marL="741553" lvl="1" indent="-284353" defTabSz="457200">
              <a:spcAft>
                <a:spcPct val="0"/>
              </a:spcAft>
              <a:buFont typeface="Arial" panose="020B0604020202020204" pitchFamily="34" charset="0"/>
            </a:pPr>
            <a:r>
              <a:rPr lang="en-US" sz="2400" kern="1200" dirty="0">
                <a:solidFill>
                  <a:srgbClr val="000000"/>
                </a:solidFill>
                <a:latin typeface="Arial (Body)"/>
                <a:ea typeface="+mn-ea"/>
                <a:cs typeface="+mn-cs"/>
              </a:rPr>
              <a:t>Time flexibility from workforce</a:t>
            </a:r>
          </a:p>
          <a:p>
            <a:pPr marL="741553" lvl="1" indent="-284353" defTabSz="457200">
              <a:spcAft>
                <a:spcPct val="0"/>
              </a:spcAft>
              <a:buFont typeface="Arial" panose="020B0604020202020204" pitchFamily="34" charset="0"/>
            </a:pPr>
            <a:r>
              <a:rPr lang="en-US" sz="2400" kern="1200" dirty="0">
                <a:solidFill>
                  <a:srgbClr val="000000"/>
                </a:solidFill>
                <a:latin typeface="Arial (Body)"/>
                <a:ea typeface="+mn-ea"/>
                <a:cs typeface="+mn-cs"/>
              </a:rPr>
              <a:t>Use of seasonal workforce</a:t>
            </a:r>
          </a:p>
          <a:p>
            <a:pPr marL="741553" lvl="1" indent="-284353" defTabSz="457200">
              <a:spcAft>
                <a:spcPct val="0"/>
              </a:spcAft>
              <a:buFont typeface="Arial" panose="020B0604020202020204" pitchFamily="34" charset="0"/>
            </a:pPr>
            <a:r>
              <a:rPr lang="en-US" sz="2400" kern="1200" dirty="0">
                <a:solidFill>
                  <a:srgbClr val="000000"/>
                </a:solidFill>
                <a:latin typeface="Arial (Body)"/>
                <a:ea typeface="+mn-ea"/>
                <a:cs typeface="+mn-cs"/>
              </a:rPr>
              <a:t>Use of dual facilities – specialized and flexible</a:t>
            </a:r>
          </a:p>
          <a:p>
            <a:pPr marL="741553" lvl="1" indent="-284353" defTabSz="457200">
              <a:spcAft>
                <a:spcPct val="0"/>
              </a:spcAft>
              <a:buFont typeface="Arial" panose="020B0604020202020204" pitchFamily="34" charset="0"/>
            </a:pPr>
            <a:r>
              <a:rPr lang="en-US" sz="2400" kern="1200" dirty="0">
                <a:solidFill>
                  <a:srgbClr val="000000"/>
                </a:solidFill>
                <a:latin typeface="Arial (Body)"/>
                <a:ea typeface="+mn-ea"/>
                <a:cs typeface="+mn-cs"/>
              </a:rPr>
              <a:t>Use of subcontracting</a:t>
            </a:r>
          </a:p>
          <a:p>
            <a:pPr marL="741553" lvl="1" indent="-284353" defTabSz="457200">
              <a:spcAft>
                <a:spcPct val="0"/>
              </a:spcAft>
              <a:buFont typeface="Arial" panose="020B0604020202020204" pitchFamily="34" charset="0"/>
            </a:pPr>
            <a:r>
              <a:rPr lang="en-US" sz="2400" kern="1200" dirty="0">
                <a:solidFill>
                  <a:srgbClr val="000000"/>
                </a:solidFill>
                <a:latin typeface="Arial (Body)"/>
                <a:ea typeface="+mn-ea"/>
                <a:cs typeface="+mn-cs"/>
              </a:rPr>
              <a:t>Designing product flexibility into production </a:t>
            </a:r>
            <a:r>
              <a:rPr lang="en-US" sz="2400" kern="1200" dirty="0" smtClean="0">
                <a:solidFill>
                  <a:srgbClr val="000000"/>
                </a:solidFill>
                <a:latin typeface="Arial (Body)"/>
                <a:ea typeface="+mn-ea"/>
                <a:cs typeface="+mn-cs"/>
              </a:rPr>
              <a:t>processes</a:t>
            </a:r>
          </a:p>
        </p:txBody>
      </p:sp>
    </p:spTree>
    <p:extLst>
      <p:ext uri="{BB962C8B-B14F-4D97-AF65-F5344CB8AC3E}">
        <p14:creationId xmlns:p14="http://schemas.microsoft.com/office/powerpoint/2010/main" val="373784565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4794"/>
            <a:ext cx="8229600" cy="707856"/>
          </a:xfrm>
        </p:spPr>
        <p:txBody>
          <a:bodyPr tIns="91425">
            <a:spAutoFit/>
          </a:bodyPr>
          <a:lstStyle/>
          <a:p>
            <a:pPr lvl="0" defTabSz="457200">
              <a:spcBef>
                <a:spcPct val="0"/>
              </a:spcBef>
              <a:buClrTx/>
            </a:pPr>
            <a:r>
              <a:rPr lang="en-US" kern="1200" dirty="0" smtClean="0">
                <a:latin typeface="Times New Roman" panose="02020603050405020304" pitchFamily="18" charset="0"/>
                <a:ea typeface="+mj-ea"/>
                <a:cs typeface="+mj-cs"/>
              </a:rPr>
              <a:t>Managing Supply </a:t>
            </a:r>
            <a:r>
              <a:rPr lang="en-US" sz="2000" b="0" kern="1200" dirty="0" smtClean="0">
                <a:latin typeface="Times New Roman" panose="02020603050405020304" pitchFamily="18" charset="0"/>
                <a:ea typeface="+mj-ea"/>
                <a:cs typeface="+mj-cs"/>
              </a:rPr>
              <a:t>(2 of 2)</a:t>
            </a:r>
            <a:endParaRPr lang="en-US" sz="2000" b="0" kern="1200" dirty="0">
              <a:latin typeface="Times New Roman" panose="02020603050405020304" pitchFamily="18" charset="0"/>
              <a:ea typeface="+mj-ea"/>
              <a:cs typeface="+mj-cs"/>
            </a:endParaRPr>
          </a:p>
        </p:txBody>
      </p:sp>
      <p:sp>
        <p:nvSpPr>
          <p:cNvPr id="3" name="Text Placeholder 2"/>
          <p:cNvSpPr>
            <a:spLocks noGrp="1"/>
          </p:cNvSpPr>
          <p:nvPr>
            <p:ph type="body" idx="1"/>
          </p:nvPr>
        </p:nvSpPr>
        <p:spPr>
          <a:xfrm>
            <a:off x="457200" y="1600200"/>
            <a:ext cx="8229600" cy="1815851"/>
          </a:xfrm>
        </p:spPr>
        <p:txBody>
          <a:bodyPr wrap="square" lIns="91425" tIns="91425" rIns="91425" bIns="91425">
            <a:spAutoFit/>
          </a:bodyPr>
          <a:lstStyle/>
          <a:p>
            <a:pPr marL="255651" lvl="0" indent="-255651" defTabSz="457200">
              <a:spcAft>
                <a:spcPct val="0"/>
              </a:spcAft>
              <a:buFont typeface="Arial" panose="020B0604020202020204" pitchFamily="34" charset="0"/>
              <a:buChar char="•"/>
              <a:tabLst/>
            </a:pPr>
            <a:r>
              <a:rPr lang="en-US" sz="2400" kern="1200" dirty="0">
                <a:solidFill>
                  <a:srgbClr val="000000"/>
                </a:solidFill>
                <a:latin typeface="Arial (Body)"/>
                <a:ea typeface="+mn-ea"/>
                <a:cs typeface="+mn-cs"/>
              </a:rPr>
              <a:t>Managing inventory</a:t>
            </a:r>
          </a:p>
          <a:p>
            <a:pPr marL="741553" lvl="1" indent="-284353" defTabSz="457200">
              <a:spcAft>
                <a:spcPct val="0"/>
              </a:spcAft>
              <a:buFont typeface="Arial" panose="020B0604020202020204" pitchFamily="34" charset="0"/>
            </a:pPr>
            <a:r>
              <a:rPr lang="en-US" sz="2400" kern="1200" dirty="0">
                <a:solidFill>
                  <a:srgbClr val="000000"/>
                </a:solidFill>
                <a:latin typeface="Arial (Body)"/>
                <a:ea typeface="+mn-ea"/>
                <a:cs typeface="+mn-cs"/>
              </a:rPr>
              <a:t>Using common components across multiple products</a:t>
            </a:r>
          </a:p>
          <a:p>
            <a:pPr marL="741553" lvl="1" indent="-284353" defTabSz="457200">
              <a:spcAft>
                <a:spcPct val="0"/>
              </a:spcAft>
              <a:buFont typeface="Arial" panose="020B0604020202020204" pitchFamily="34" charset="0"/>
            </a:pPr>
            <a:r>
              <a:rPr lang="en-US" sz="2400" kern="1200" dirty="0">
                <a:solidFill>
                  <a:srgbClr val="000000"/>
                </a:solidFill>
                <a:latin typeface="Arial (Body)"/>
                <a:ea typeface="+mn-ea"/>
                <a:cs typeface="+mn-cs"/>
              </a:rPr>
              <a:t>Build inventory of high-demand or predictable-demand </a:t>
            </a:r>
            <a:r>
              <a:rPr lang="en-US" sz="2400" kern="1200" dirty="0" smtClean="0">
                <a:solidFill>
                  <a:srgbClr val="000000"/>
                </a:solidFill>
                <a:latin typeface="Arial (Body)"/>
                <a:ea typeface="+mn-ea"/>
                <a:cs typeface="+mn-cs"/>
              </a:rPr>
              <a:t>products</a:t>
            </a:r>
          </a:p>
        </p:txBody>
      </p:sp>
    </p:spTree>
    <p:extLst>
      <p:ext uri="{BB962C8B-B14F-4D97-AF65-F5344CB8AC3E}">
        <p14:creationId xmlns:p14="http://schemas.microsoft.com/office/powerpoint/2010/main" val="131976139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4794"/>
            <a:ext cx="8229600" cy="707856"/>
          </a:xfrm>
        </p:spPr>
        <p:txBody>
          <a:bodyPr tIns="91425">
            <a:spAutoFit/>
          </a:bodyPr>
          <a:lstStyle/>
          <a:p>
            <a:pPr lvl="0" defTabSz="457200">
              <a:spcBef>
                <a:spcPct val="0"/>
              </a:spcBef>
              <a:buClrTx/>
            </a:pPr>
            <a:r>
              <a:rPr lang="en-US" kern="1200" dirty="0" smtClean="0">
                <a:latin typeface="Times New Roman" panose="02020603050405020304" pitchFamily="18" charset="0"/>
                <a:ea typeface="+mj-ea"/>
                <a:cs typeface="+mj-cs"/>
              </a:rPr>
              <a:t>Inventory/Capacity Trade-Off</a:t>
            </a:r>
            <a:endParaRPr lang="en-US" kern="1200" dirty="0">
              <a:latin typeface="Times New Roman" panose="02020603050405020304" pitchFamily="18" charset="0"/>
              <a:ea typeface="+mj-ea"/>
              <a:cs typeface="+mj-cs"/>
            </a:endParaRPr>
          </a:p>
        </p:txBody>
      </p:sp>
      <p:sp>
        <p:nvSpPr>
          <p:cNvPr id="3" name="Text Placeholder 2"/>
          <p:cNvSpPr>
            <a:spLocks noGrp="1"/>
          </p:cNvSpPr>
          <p:nvPr>
            <p:ph type="body" idx="1"/>
          </p:nvPr>
        </p:nvSpPr>
        <p:spPr>
          <a:xfrm>
            <a:off x="457200" y="1600200"/>
            <a:ext cx="8229600" cy="2223655"/>
          </a:xfrm>
        </p:spPr>
        <p:txBody>
          <a:bodyPr wrap="square" lIns="91425" tIns="91425" rIns="91425" bIns="91425">
            <a:spAutoFit/>
          </a:bodyPr>
          <a:lstStyle/>
          <a:p>
            <a:pPr marL="255651" lvl="0" indent="-255651" defTabSz="457200">
              <a:spcAft>
                <a:spcPct val="0"/>
              </a:spcAft>
              <a:buFont typeface="Arial" panose="020B0604020202020204" pitchFamily="34" charset="0"/>
              <a:buChar char="•"/>
              <a:tabLst/>
            </a:pPr>
            <a:r>
              <a:rPr lang="en-US" sz="2400" kern="1200" dirty="0">
                <a:solidFill>
                  <a:srgbClr val="000000"/>
                </a:solidFill>
                <a:latin typeface="Arial (Body)"/>
                <a:ea typeface="+mn-ea"/>
                <a:cs typeface="+mn-cs"/>
              </a:rPr>
              <a:t>Leveling capacity forces inventory to build up in anticipation of seasonal variation in demand</a:t>
            </a:r>
          </a:p>
          <a:p>
            <a:pPr marL="255651" lvl="0" indent="-255651" defTabSz="457200">
              <a:spcAft>
                <a:spcPct val="0"/>
              </a:spcAft>
              <a:buFont typeface="Arial" panose="020B0604020202020204" pitchFamily="34" charset="0"/>
              <a:buChar char="•"/>
              <a:tabLst/>
            </a:pPr>
            <a:r>
              <a:rPr lang="en-US" sz="2400" kern="1200" dirty="0">
                <a:solidFill>
                  <a:srgbClr val="000000"/>
                </a:solidFill>
                <a:latin typeface="Arial (Body)"/>
                <a:ea typeface="+mn-ea"/>
                <a:cs typeface="+mn-cs"/>
              </a:rPr>
              <a:t>Carrying low levels of inventory requires capacity to vary with seasonal variation in demand or enough capacity to cover peak demand during </a:t>
            </a:r>
            <a:r>
              <a:rPr lang="en-US" sz="2400" kern="1200" dirty="0" smtClean="0">
                <a:solidFill>
                  <a:srgbClr val="000000"/>
                </a:solidFill>
                <a:latin typeface="Arial (Body)"/>
                <a:ea typeface="+mn-ea"/>
                <a:cs typeface="+mn-cs"/>
              </a:rPr>
              <a:t>season</a:t>
            </a:r>
          </a:p>
        </p:txBody>
      </p:sp>
    </p:spTree>
    <p:extLst>
      <p:ext uri="{BB962C8B-B14F-4D97-AF65-F5344CB8AC3E}">
        <p14:creationId xmlns:p14="http://schemas.microsoft.com/office/powerpoint/2010/main" val="108590552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4794"/>
            <a:ext cx="8229600" cy="707856"/>
          </a:xfrm>
        </p:spPr>
        <p:txBody>
          <a:bodyPr tIns="91425">
            <a:spAutoFit/>
          </a:bodyPr>
          <a:lstStyle/>
          <a:p>
            <a:pPr lvl="0" defTabSz="457200">
              <a:spcBef>
                <a:spcPct val="0"/>
              </a:spcBef>
              <a:buClrTx/>
            </a:pPr>
            <a:r>
              <a:rPr lang="en-US" kern="1200" dirty="0" smtClean="0">
                <a:latin typeface="Times New Roman" panose="02020603050405020304" pitchFamily="18" charset="0"/>
                <a:ea typeface="+mj-ea"/>
                <a:cs typeface="+mj-cs"/>
              </a:rPr>
              <a:t>Managing Demand </a:t>
            </a:r>
            <a:r>
              <a:rPr lang="en-US" sz="2000" b="0" kern="1200" dirty="0" smtClean="0">
                <a:latin typeface="Times New Roman" panose="02020603050405020304" pitchFamily="18" charset="0"/>
                <a:ea typeface="+mj-ea"/>
                <a:cs typeface="+mj-cs"/>
              </a:rPr>
              <a:t>(1 of 4)</a:t>
            </a:r>
            <a:endParaRPr lang="en-US" sz="2000" b="0" kern="1200" dirty="0">
              <a:latin typeface="Times New Roman" panose="02020603050405020304" pitchFamily="18" charset="0"/>
              <a:ea typeface="+mj-ea"/>
              <a:cs typeface="+mj-cs"/>
            </a:endParaRPr>
          </a:p>
        </p:txBody>
      </p:sp>
      <p:sp>
        <p:nvSpPr>
          <p:cNvPr id="3" name="Text Placeholder 2"/>
          <p:cNvSpPr>
            <a:spLocks noGrp="1"/>
          </p:cNvSpPr>
          <p:nvPr>
            <p:ph idx="1"/>
          </p:nvPr>
        </p:nvSpPr>
        <p:spPr>
          <a:xfrm>
            <a:off x="457200" y="1600200"/>
            <a:ext cx="8229600" cy="553968"/>
          </a:xfrm>
        </p:spPr>
        <p:txBody>
          <a:bodyPr wrap="square" lIns="91425" tIns="91425" rIns="91425" bIns="91425">
            <a:spAutoFit/>
          </a:bodyPr>
          <a:lstStyle/>
          <a:p>
            <a:pPr marL="255651" lvl="0" indent="-255651" defTabSz="457200">
              <a:spcAft>
                <a:spcPct val="0"/>
              </a:spcAft>
              <a:buFont typeface="Arial" panose="020B0604020202020204" pitchFamily="34" charset="0"/>
              <a:buChar char="•"/>
              <a:tabLst/>
            </a:pPr>
            <a:r>
              <a:rPr lang="en-US" sz="2400" kern="1200" dirty="0">
                <a:solidFill>
                  <a:srgbClr val="000000"/>
                </a:solidFill>
                <a:latin typeface="Arial (Body)"/>
                <a:ea typeface="+mn-ea"/>
                <a:cs typeface="+mn-cs"/>
              </a:rPr>
              <a:t>With promotion, three factors lead to increased </a:t>
            </a:r>
            <a:r>
              <a:rPr lang="en-US" sz="2400" kern="1200" dirty="0" smtClean="0">
                <a:solidFill>
                  <a:srgbClr val="000000"/>
                </a:solidFill>
                <a:latin typeface="Arial (Body)"/>
                <a:ea typeface="+mn-ea"/>
                <a:cs typeface="+mn-cs"/>
              </a:rPr>
              <a:t>demand</a:t>
            </a:r>
            <a:endParaRPr lang="en-US" sz="2400" kern="1200" dirty="0">
              <a:solidFill>
                <a:srgbClr val="000000"/>
              </a:solidFill>
              <a:latin typeface="Arial (Body)"/>
              <a:ea typeface="+mn-ea"/>
              <a:cs typeface="+mn-cs"/>
            </a:endParaRPr>
          </a:p>
        </p:txBody>
      </p:sp>
      <p:sp>
        <p:nvSpPr>
          <p:cNvPr id="4" name="Content Placeholder 3"/>
          <p:cNvSpPr>
            <a:spLocks noGrp="1"/>
          </p:cNvSpPr>
          <p:nvPr>
            <p:ph idx="13"/>
          </p:nvPr>
        </p:nvSpPr>
        <p:spPr>
          <a:xfrm>
            <a:off x="473720" y="2197486"/>
            <a:ext cx="8229600" cy="1431087"/>
          </a:xfrm>
        </p:spPr>
        <p:txBody>
          <a:bodyPr/>
          <a:lstStyle/>
          <a:p>
            <a:pPr marL="741600" lvl="1" indent="-428400" defTabSz="457200">
              <a:spcAft>
                <a:spcPct val="0"/>
              </a:spcAft>
              <a:buSzPts val="2400"/>
              <a:buFont typeface="+mj-lt"/>
              <a:buAutoNum type="arabicPeriod"/>
            </a:pPr>
            <a:r>
              <a:rPr lang="en-US" sz="2400" kern="1200" dirty="0" smtClean="0">
                <a:solidFill>
                  <a:srgbClr val="000000"/>
                </a:solidFill>
                <a:latin typeface="Arial (Body)"/>
              </a:rPr>
              <a:t>Market </a:t>
            </a:r>
            <a:r>
              <a:rPr lang="en-US" sz="2400" kern="1200" dirty="0">
                <a:solidFill>
                  <a:srgbClr val="000000"/>
                </a:solidFill>
                <a:latin typeface="Arial (Body)"/>
              </a:rPr>
              <a:t>growth</a:t>
            </a:r>
          </a:p>
          <a:p>
            <a:pPr marL="741600" lvl="1" indent="-428400" defTabSz="457200">
              <a:spcAft>
                <a:spcPct val="0"/>
              </a:spcAft>
              <a:buSzPts val="2400"/>
              <a:buFont typeface="+mj-lt"/>
              <a:buAutoNum type="arabicPeriod"/>
            </a:pPr>
            <a:r>
              <a:rPr lang="en-US" sz="2400" kern="1200" dirty="0" smtClean="0">
                <a:solidFill>
                  <a:srgbClr val="000000"/>
                </a:solidFill>
                <a:latin typeface="Arial (Body)"/>
              </a:rPr>
              <a:t>Stealing </a:t>
            </a:r>
            <a:r>
              <a:rPr lang="en-US" sz="2400" kern="1200" dirty="0">
                <a:solidFill>
                  <a:srgbClr val="000000"/>
                </a:solidFill>
                <a:latin typeface="Arial (Body)"/>
              </a:rPr>
              <a:t>share</a:t>
            </a:r>
          </a:p>
          <a:p>
            <a:pPr marL="741600" lvl="1" indent="-428400" defTabSz="457200">
              <a:spcAft>
                <a:spcPct val="0"/>
              </a:spcAft>
              <a:buSzPts val="2400"/>
              <a:buFont typeface="+mj-lt"/>
              <a:buAutoNum type="arabicPeriod"/>
            </a:pPr>
            <a:r>
              <a:rPr lang="en-US" sz="2400" kern="1200" dirty="0" smtClean="0">
                <a:solidFill>
                  <a:srgbClr val="000000"/>
                </a:solidFill>
                <a:latin typeface="Arial (Body)"/>
              </a:rPr>
              <a:t>Forward buying</a:t>
            </a:r>
            <a:endParaRPr lang="en-US" sz="2400" kern="1200" dirty="0">
              <a:solidFill>
                <a:srgbClr val="000000"/>
              </a:solidFill>
              <a:latin typeface="Arial (Body)"/>
            </a:endParaRPr>
          </a:p>
        </p:txBody>
      </p:sp>
      <p:sp>
        <p:nvSpPr>
          <p:cNvPr id="5" name="Content Placeholder 4"/>
          <p:cNvSpPr>
            <a:spLocks noGrp="1"/>
          </p:cNvSpPr>
          <p:nvPr>
            <p:ph idx="14"/>
          </p:nvPr>
        </p:nvSpPr>
        <p:spPr>
          <a:xfrm>
            <a:off x="473720" y="3665627"/>
            <a:ext cx="8229600" cy="2299746"/>
          </a:xfrm>
        </p:spPr>
        <p:txBody>
          <a:bodyPr/>
          <a:lstStyle/>
          <a:p>
            <a:pPr marL="255600" indent="-255600" defTabSz="457200">
              <a:spcAft>
                <a:spcPct val="0"/>
              </a:spcAft>
            </a:pPr>
            <a:r>
              <a:rPr lang="en-US" sz="2400" kern="1200" dirty="0" smtClean="0">
                <a:solidFill>
                  <a:srgbClr val="000000"/>
                </a:solidFill>
                <a:latin typeface="Arial (Body)"/>
              </a:rPr>
              <a:t>Factors </a:t>
            </a:r>
            <a:r>
              <a:rPr lang="en-US" sz="2400" kern="1200" dirty="0">
                <a:solidFill>
                  <a:srgbClr val="000000"/>
                </a:solidFill>
                <a:latin typeface="Arial (Body)"/>
              </a:rPr>
              <a:t>influencing timing of a promotion</a:t>
            </a:r>
          </a:p>
          <a:p>
            <a:pPr marL="741553" lvl="1" indent="-284353" defTabSz="457200">
              <a:spcAft>
                <a:spcPct val="0"/>
              </a:spcAft>
              <a:buFont typeface="Arial" panose="020B0604020202020204" pitchFamily="34" charset="0"/>
            </a:pPr>
            <a:r>
              <a:rPr lang="en-US" sz="2400" kern="1200" dirty="0">
                <a:solidFill>
                  <a:srgbClr val="000000"/>
                </a:solidFill>
                <a:latin typeface="Arial (Body)"/>
              </a:rPr>
              <a:t>Impact of promotion on demand</a:t>
            </a:r>
          </a:p>
          <a:p>
            <a:pPr marL="741553" lvl="1" indent="-284353" defTabSz="457200">
              <a:spcAft>
                <a:spcPct val="0"/>
              </a:spcAft>
              <a:buFont typeface="Arial" panose="020B0604020202020204" pitchFamily="34" charset="0"/>
            </a:pPr>
            <a:r>
              <a:rPr lang="en-US" sz="2400" kern="1200" dirty="0">
                <a:solidFill>
                  <a:srgbClr val="000000"/>
                </a:solidFill>
                <a:latin typeface="Arial (Body)"/>
              </a:rPr>
              <a:t>Cost of holding inventory</a:t>
            </a:r>
          </a:p>
          <a:p>
            <a:pPr marL="741553" lvl="1" indent="-284353" defTabSz="457200">
              <a:spcAft>
                <a:spcPct val="0"/>
              </a:spcAft>
              <a:buFont typeface="Arial" panose="020B0604020202020204" pitchFamily="34" charset="0"/>
            </a:pPr>
            <a:r>
              <a:rPr lang="en-US" sz="2400" kern="1200" dirty="0">
                <a:solidFill>
                  <a:srgbClr val="000000"/>
                </a:solidFill>
                <a:latin typeface="Arial (Body)"/>
              </a:rPr>
              <a:t>Cost of changing the level of capacity</a:t>
            </a:r>
          </a:p>
          <a:p>
            <a:pPr marL="741553" lvl="1" indent="-284353" defTabSz="457200">
              <a:spcAft>
                <a:spcPct val="0"/>
              </a:spcAft>
              <a:buFont typeface="Arial" panose="020B0604020202020204" pitchFamily="34" charset="0"/>
            </a:pPr>
            <a:r>
              <a:rPr lang="en-US" sz="2400" kern="1200" dirty="0">
                <a:solidFill>
                  <a:srgbClr val="000000"/>
                </a:solidFill>
                <a:latin typeface="Arial (Body)"/>
              </a:rPr>
              <a:t>Product margins</a:t>
            </a:r>
          </a:p>
        </p:txBody>
      </p:sp>
    </p:spTree>
    <p:extLst>
      <p:ext uri="{BB962C8B-B14F-4D97-AF65-F5344CB8AC3E}">
        <p14:creationId xmlns:p14="http://schemas.microsoft.com/office/powerpoint/2010/main" val="309103337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4794"/>
            <a:ext cx="8229600" cy="707856"/>
          </a:xfrm>
        </p:spPr>
        <p:txBody>
          <a:bodyPr tIns="91425">
            <a:spAutoFit/>
          </a:bodyPr>
          <a:lstStyle/>
          <a:p>
            <a:pPr lvl="0" defTabSz="457200">
              <a:spcBef>
                <a:spcPct val="0"/>
              </a:spcBef>
              <a:buClrTx/>
            </a:pPr>
            <a:r>
              <a:rPr lang="en-US" kern="1200" dirty="0" smtClean="0">
                <a:latin typeface="Times New Roman" panose="02020603050405020304" pitchFamily="18" charset="0"/>
                <a:ea typeface="+mj-ea"/>
                <a:cs typeface="+mj-cs"/>
              </a:rPr>
              <a:t>Managing Demand </a:t>
            </a:r>
            <a:r>
              <a:rPr lang="en-US" sz="2000" b="0" kern="1200" dirty="0" smtClean="0">
                <a:latin typeface="Times New Roman" panose="02020603050405020304" pitchFamily="18" charset="0"/>
                <a:ea typeface="+mj-ea"/>
                <a:cs typeface="+mj-cs"/>
              </a:rPr>
              <a:t>(2 of 4)</a:t>
            </a:r>
            <a:endParaRPr lang="en-US" sz="2000" b="0" kern="1200" dirty="0">
              <a:latin typeface="Times New Roman" panose="02020603050405020304" pitchFamily="18" charset="0"/>
              <a:ea typeface="+mj-ea"/>
              <a:cs typeface="+mj-cs"/>
            </a:endParaRPr>
          </a:p>
        </p:txBody>
      </p:sp>
      <p:sp>
        <p:nvSpPr>
          <p:cNvPr id="3" name="Text Placeholder 2"/>
          <p:cNvSpPr>
            <a:spLocks noGrp="1"/>
          </p:cNvSpPr>
          <p:nvPr>
            <p:ph type="body" idx="1"/>
          </p:nvPr>
        </p:nvSpPr>
        <p:spPr>
          <a:xfrm>
            <a:off x="457200" y="1600200"/>
            <a:ext cx="8229600" cy="460829"/>
          </a:xfrm>
        </p:spPr>
        <p:txBody>
          <a:bodyPr/>
          <a:lstStyle/>
          <a:p>
            <a:pPr marL="0" indent="0">
              <a:buNone/>
            </a:pPr>
            <a:r>
              <a:rPr lang="en-US" sz="2000" b="1" kern="1200" dirty="0" smtClean="0">
                <a:solidFill>
                  <a:schemeClr val="tx1"/>
                </a:solidFill>
                <a:latin typeface="+mn-lt"/>
              </a:rPr>
              <a:t>Table 9-1 </a:t>
            </a:r>
            <a:r>
              <a:rPr lang="en-US" sz="2000" kern="1200" dirty="0" smtClean="0">
                <a:solidFill>
                  <a:schemeClr val="tx1"/>
                </a:solidFill>
                <a:latin typeface="+mn-lt"/>
              </a:rPr>
              <a:t>Summary </a:t>
            </a:r>
            <a:r>
              <a:rPr lang="en-US" sz="2000" kern="1200" dirty="0">
                <a:solidFill>
                  <a:schemeClr val="tx1"/>
                </a:solidFill>
                <a:latin typeface="+mn-lt"/>
              </a:rPr>
              <a:t>of Impact on Promotion Timing </a:t>
            </a:r>
          </a:p>
        </p:txBody>
      </p:sp>
      <p:graphicFrame>
        <p:nvGraphicFramePr>
          <p:cNvPr id="4" name="Table 3"/>
          <p:cNvGraphicFramePr>
            <a:graphicFrameLocks noGrp="1"/>
          </p:cNvGraphicFramePr>
          <p:nvPr>
            <p:extLst>
              <p:ext uri="{D42A27DB-BD31-4B8C-83A1-F6EECF244321}">
                <p14:modId xmlns:p14="http://schemas.microsoft.com/office/powerpoint/2010/main" val="3493555708"/>
              </p:ext>
            </p:extLst>
          </p:nvPr>
        </p:nvGraphicFramePr>
        <p:xfrm>
          <a:off x="457200" y="2205424"/>
          <a:ext cx="8229600" cy="4066912"/>
        </p:xfrm>
        <a:graphic>
          <a:graphicData uri="http://schemas.openxmlformats.org/drawingml/2006/table">
            <a:tbl>
              <a:tblPr firstRow="1" bandRow="1">
                <a:tableStyleId>{2D5ABB26-0587-4C30-8999-92F81FD0307C}</a:tableStyleId>
              </a:tblPr>
              <a:tblGrid>
                <a:gridCol w="3824514">
                  <a:extLst>
                    <a:ext uri="{9D8B030D-6E8A-4147-A177-3AD203B41FA5}">
                      <a16:colId xmlns:a16="http://schemas.microsoft.com/office/drawing/2014/main" xmlns="" val="20000"/>
                    </a:ext>
                  </a:extLst>
                </a:gridCol>
                <a:gridCol w="4405086">
                  <a:extLst>
                    <a:ext uri="{9D8B030D-6E8A-4147-A177-3AD203B41FA5}">
                      <a16:colId xmlns:a16="http://schemas.microsoft.com/office/drawing/2014/main" xmlns="" val="20001"/>
                    </a:ext>
                  </a:extLst>
                </a:gridCol>
              </a:tblGrid>
              <a:tr h="432164">
                <a:tc>
                  <a:txBody>
                    <a:bodyPr/>
                    <a:lstStyle/>
                    <a:p>
                      <a:pPr marL="266700" indent="0"/>
                      <a:r>
                        <a:rPr lang="en-US" sz="1400" b="1" kern="1200" dirty="0" smtClean="0">
                          <a:solidFill>
                            <a:schemeClr val="tx1"/>
                          </a:solidFill>
                          <a:latin typeface="+mn-lt"/>
                          <a:ea typeface="+mn-ea"/>
                          <a:cs typeface="+mn-cs"/>
                        </a:rPr>
                        <a:t>Factor</a:t>
                      </a:r>
                    </a:p>
                  </a:txBody>
                  <a:tcPr anchor="b">
                    <a:lnT w="19050" cap="flat" cmpd="sng" algn="ctr">
                      <a:solidFill>
                        <a:scrgbClr r="0" g="0" b="0"/>
                      </a:solidFill>
                      <a:prstDash val="solid"/>
                      <a:round/>
                      <a:headEnd type="none" w="med" len="med"/>
                      <a:tailEnd type="none" w="med" len="med"/>
                    </a:lnT>
                    <a:lnB w="19050" cap="flat" cmpd="sng" algn="ctr">
                      <a:solidFill>
                        <a:scrgbClr r="0" g="0" b="0"/>
                      </a:solidFill>
                      <a:prstDash val="solid"/>
                      <a:round/>
                      <a:headEnd type="none" w="med" len="med"/>
                      <a:tailEnd type="none" w="med" len="med"/>
                    </a:lnB>
                    <a:solidFill>
                      <a:srgbClr val="FFFFFF"/>
                    </a:solidFill>
                  </a:tcPr>
                </a:tc>
                <a:tc>
                  <a:txBody>
                    <a:bodyPr/>
                    <a:lstStyle/>
                    <a:p>
                      <a:r>
                        <a:rPr lang="en-US" sz="1400" b="1" kern="1200" dirty="0" smtClean="0">
                          <a:solidFill>
                            <a:schemeClr val="tx1"/>
                          </a:solidFill>
                          <a:latin typeface="+mn-lt"/>
                          <a:ea typeface="+mn-ea"/>
                          <a:cs typeface="+mn-cs"/>
                        </a:rPr>
                        <a:t>Impact on Timing of Promotion/</a:t>
                      </a:r>
                      <a:r>
                        <a:rPr lang="en-US" sz="1400" b="1" kern="1200" baseline="0" dirty="0" smtClean="0">
                          <a:solidFill>
                            <a:schemeClr val="tx1"/>
                          </a:solidFill>
                          <a:latin typeface="+mn-lt"/>
                          <a:ea typeface="+mn-ea"/>
                          <a:cs typeface="+mn-cs"/>
                        </a:rPr>
                        <a:t> </a:t>
                      </a:r>
                      <a:r>
                        <a:rPr lang="en-US" sz="1400" b="1" kern="1200" dirty="0" smtClean="0">
                          <a:solidFill>
                            <a:schemeClr val="tx1"/>
                          </a:solidFill>
                          <a:latin typeface="+mn-lt"/>
                          <a:ea typeface="+mn-ea"/>
                          <a:cs typeface="+mn-cs"/>
                        </a:rPr>
                        <a:t>Forward</a:t>
                      </a:r>
                      <a:r>
                        <a:rPr lang="en-US" sz="1400" b="1" kern="1200" baseline="0" dirty="0" smtClean="0">
                          <a:solidFill>
                            <a:schemeClr val="tx1"/>
                          </a:solidFill>
                          <a:latin typeface="+mn-lt"/>
                          <a:ea typeface="+mn-ea"/>
                          <a:cs typeface="+mn-cs"/>
                        </a:rPr>
                        <a:t> Buy</a:t>
                      </a:r>
                      <a:endParaRPr lang="en-US" sz="1400" b="1" kern="1200" dirty="0" smtClean="0">
                        <a:solidFill>
                          <a:schemeClr val="tx1"/>
                        </a:solidFill>
                        <a:latin typeface="+mn-lt"/>
                        <a:ea typeface="+mn-ea"/>
                        <a:cs typeface="+mn-cs"/>
                      </a:endParaRPr>
                    </a:p>
                  </a:txBody>
                  <a:tcPr anchor="b">
                    <a:lnT w="19050" cap="flat" cmpd="sng" algn="ctr">
                      <a:solidFill>
                        <a:scrgbClr r="0" g="0" b="0"/>
                      </a:solidFill>
                      <a:prstDash val="solid"/>
                      <a:round/>
                      <a:headEnd type="none" w="med" len="med"/>
                      <a:tailEnd type="none" w="med" len="med"/>
                    </a:lnT>
                    <a:lnB w="19050" cap="flat" cmpd="sng" algn="ctr">
                      <a:solidFill>
                        <a:scrgbClr r="0" g="0" b="0"/>
                      </a:solidFill>
                      <a:prstDash val="solid"/>
                      <a:round/>
                      <a:headEnd type="none" w="med" len="med"/>
                      <a:tailEnd type="none" w="med" len="med"/>
                    </a:lnB>
                    <a:solidFill>
                      <a:srgbClr val="FFFFFF"/>
                    </a:solidFill>
                  </a:tcPr>
                </a:tc>
                <a:extLst>
                  <a:ext uri="{0D108BD9-81ED-4DB2-BD59-A6C34878D82A}">
                    <a16:rowId xmlns:a16="http://schemas.microsoft.com/office/drawing/2014/main" xmlns="" val="10001"/>
                  </a:ext>
                </a:extLst>
              </a:tr>
              <a:tr h="432164">
                <a:tc>
                  <a:txBody>
                    <a:bodyPr/>
                    <a:lstStyle/>
                    <a:p>
                      <a:pPr marL="266700" marR="0" indent="0" algn="l" defTabSz="457200" rtl="0" eaLnBrk="1" fontAlgn="auto" latinLnBrk="0" hangingPunct="1">
                        <a:lnSpc>
                          <a:spcPct val="100000"/>
                        </a:lnSpc>
                        <a:spcBef>
                          <a:spcPts val="0"/>
                        </a:spcBef>
                        <a:spcAft>
                          <a:spcPts val="0"/>
                        </a:spcAft>
                        <a:buClrTx/>
                        <a:buSzTx/>
                        <a:buFontTx/>
                        <a:buNone/>
                        <a:tabLst/>
                        <a:defRPr/>
                      </a:pPr>
                      <a:r>
                        <a:rPr lang="en-US" sz="1400" dirty="0" smtClean="0"/>
                        <a:t>High forward buying</a:t>
                      </a:r>
                    </a:p>
                  </a:txBody>
                  <a:tcPr>
                    <a:lnT w="1905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tc>
                  <a:txBody>
                    <a:bodyPr/>
                    <a:lstStyle/>
                    <a:p>
                      <a:r>
                        <a:rPr lang="en-US" sz="1400" b="0" kern="1200" dirty="0" smtClean="0">
                          <a:solidFill>
                            <a:schemeClr val="tx1"/>
                          </a:solidFill>
                          <a:effectLst/>
                          <a:latin typeface="+mn-lt"/>
                          <a:ea typeface="+mn-ea"/>
                          <a:cs typeface="+mn-cs"/>
                        </a:rPr>
                        <a:t>Favors promotion during low-demand periods</a:t>
                      </a:r>
                      <a:endParaRPr lang="en-US" sz="1400" dirty="0" smtClean="0"/>
                    </a:p>
                  </a:txBody>
                  <a:tcPr>
                    <a:lnT w="1905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extLst>
                  <a:ext uri="{0D108BD9-81ED-4DB2-BD59-A6C34878D82A}">
                    <a16:rowId xmlns:a16="http://schemas.microsoft.com/office/drawing/2014/main" xmlns="" val="10002"/>
                  </a:ext>
                </a:extLst>
              </a:tr>
              <a:tr h="432164">
                <a:tc>
                  <a:txBody>
                    <a:bodyPr/>
                    <a:lstStyle/>
                    <a:p>
                      <a:pPr marL="266700" marR="0" indent="0" algn="l" defTabSz="457200" rtl="0" eaLnBrk="1" fontAlgn="auto" latinLnBrk="0" hangingPunct="1">
                        <a:lnSpc>
                          <a:spcPct val="100000"/>
                        </a:lnSpc>
                        <a:spcBef>
                          <a:spcPts val="0"/>
                        </a:spcBef>
                        <a:spcAft>
                          <a:spcPts val="0"/>
                        </a:spcAft>
                        <a:buClrTx/>
                        <a:buSzTx/>
                        <a:buFontTx/>
                        <a:buNone/>
                        <a:tabLst/>
                        <a:defRPr/>
                      </a:pPr>
                      <a:r>
                        <a:rPr lang="en-US" sz="1400" dirty="0" smtClean="0"/>
                        <a:t>High ability steal market share</a:t>
                      </a:r>
                    </a:p>
                  </a:txBody>
                  <a:tcP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tc>
                  <a:txBody>
                    <a:bodyPr/>
                    <a:lstStyle/>
                    <a:p>
                      <a:r>
                        <a:rPr lang="en-US" sz="1400" b="0" kern="1200" dirty="0" smtClean="0">
                          <a:solidFill>
                            <a:schemeClr val="tx1"/>
                          </a:solidFill>
                          <a:effectLst/>
                          <a:latin typeface="+mn-lt"/>
                          <a:ea typeface="+mn-ea"/>
                          <a:cs typeface="+mn-cs"/>
                        </a:rPr>
                        <a:t>Favors promotion during peak-demand periods</a:t>
                      </a:r>
                      <a:endParaRPr lang="en-US" sz="1400" dirty="0"/>
                    </a:p>
                  </a:txBody>
                  <a:tcP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extLst>
                  <a:ext uri="{0D108BD9-81ED-4DB2-BD59-A6C34878D82A}">
                    <a16:rowId xmlns:a16="http://schemas.microsoft.com/office/drawing/2014/main" xmlns="" val="10003"/>
                  </a:ext>
                </a:extLst>
              </a:tr>
              <a:tr h="432164">
                <a:tc>
                  <a:txBody>
                    <a:bodyPr/>
                    <a:lstStyle/>
                    <a:p>
                      <a:pPr marL="266700" indent="0"/>
                      <a:r>
                        <a:rPr lang="en-US" sz="1400" dirty="0" smtClean="0"/>
                        <a:t>High ability to increase overall market</a:t>
                      </a:r>
                      <a:endParaRPr lang="en-US" sz="1400" dirty="0"/>
                    </a:p>
                  </a:txBody>
                  <a:tcP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400" b="0" kern="1200" dirty="0" smtClean="0">
                          <a:solidFill>
                            <a:schemeClr val="tx1"/>
                          </a:solidFill>
                          <a:effectLst/>
                          <a:latin typeface="+mn-lt"/>
                          <a:ea typeface="+mn-ea"/>
                          <a:cs typeface="+mn-cs"/>
                        </a:rPr>
                        <a:t>Favors promotion during peak-demand periods</a:t>
                      </a:r>
                      <a:endParaRPr lang="en-US" sz="1400" dirty="0" smtClean="0"/>
                    </a:p>
                  </a:txBody>
                  <a:tcP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extLst>
                  <a:ext uri="{0D108BD9-81ED-4DB2-BD59-A6C34878D82A}">
                    <a16:rowId xmlns:a16="http://schemas.microsoft.com/office/drawing/2014/main" xmlns="" val="10004"/>
                  </a:ext>
                </a:extLst>
              </a:tr>
              <a:tr h="432164">
                <a:tc>
                  <a:txBody>
                    <a:bodyPr/>
                    <a:lstStyle/>
                    <a:p>
                      <a:pPr marL="266700" marR="0" indent="0" algn="l" defTabSz="457200" rtl="0" eaLnBrk="1" fontAlgn="auto" latinLnBrk="0" hangingPunct="1">
                        <a:lnSpc>
                          <a:spcPct val="100000"/>
                        </a:lnSpc>
                        <a:spcBef>
                          <a:spcPts val="0"/>
                        </a:spcBef>
                        <a:spcAft>
                          <a:spcPts val="0"/>
                        </a:spcAft>
                        <a:buClrTx/>
                        <a:buSzTx/>
                        <a:buFontTx/>
                        <a:buNone/>
                        <a:tabLst/>
                        <a:defRPr/>
                      </a:pPr>
                      <a:r>
                        <a:rPr lang="en-US" sz="1400" dirty="0" smtClean="0"/>
                        <a:t>High margin</a:t>
                      </a:r>
                    </a:p>
                  </a:txBody>
                  <a:tcP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400" b="0" kern="1200" dirty="0" smtClean="0">
                          <a:solidFill>
                            <a:schemeClr val="tx1"/>
                          </a:solidFill>
                          <a:effectLst/>
                          <a:latin typeface="+mn-lt"/>
                          <a:ea typeface="+mn-ea"/>
                          <a:cs typeface="+mn-cs"/>
                        </a:rPr>
                        <a:t>Favors promotion during peak-demand periods</a:t>
                      </a:r>
                      <a:endParaRPr lang="en-US" sz="1400" dirty="0"/>
                    </a:p>
                  </a:txBody>
                  <a:tcP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extLst>
                  <a:ext uri="{0D108BD9-81ED-4DB2-BD59-A6C34878D82A}">
                    <a16:rowId xmlns:a16="http://schemas.microsoft.com/office/drawing/2014/main" xmlns="" val="10005"/>
                  </a:ext>
                </a:extLst>
              </a:tr>
              <a:tr h="432164">
                <a:tc>
                  <a:txBody>
                    <a:bodyPr/>
                    <a:lstStyle/>
                    <a:p>
                      <a:pPr marL="266700" marR="0" indent="0" algn="l" defTabSz="457200" rtl="0" eaLnBrk="1" fontAlgn="auto" latinLnBrk="0" hangingPunct="1">
                        <a:lnSpc>
                          <a:spcPct val="100000"/>
                        </a:lnSpc>
                        <a:spcBef>
                          <a:spcPts val="0"/>
                        </a:spcBef>
                        <a:spcAft>
                          <a:spcPts val="0"/>
                        </a:spcAft>
                        <a:buClrTx/>
                        <a:buSzTx/>
                        <a:buFontTx/>
                        <a:buNone/>
                        <a:tabLst/>
                        <a:defRPr/>
                      </a:pPr>
                      <a:r>
                        <a:rPr lang="en-US" sz="1400" dirty="0" smtClean="0"/>
                        <a:t>Low margin</a:t>
                      </a:r>
                    </a:p>
                  </a:txBody>
                  <a:tcP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tc>
                  <a:txBody>
                    <a:bodyPr/>
                    <a:lstStyle/>
                    <a:p>
                      <a:r>
                        <a:rPr lang="en-US" sz="1400" b="0" kern="1200" dirty="0" smtClean="0">
                          <a:solidFill>
                            <a:schemeClr val="tx1"/>
                          </a:solidFill>
                          <a:effectLst/>
                          <a:latin typeface="+mn-lt"/>
                          <a:ea typeface="+mn-ea"/>
                          <a:cs typeface="+mn-cs"/>
                        </a:rPr>
                        <a:t>Favors promotion during low-demand periods</a:t>
                      </a:r>
                      <a:endParaRPr lang="en-US" sz="1400" dirty="0"/>
                    </a:p>
                  </a:txBody>
                  <a:tcP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extLst>
                  <a:ext uri="{0D108BD9-81ED-4DB2-BD59-A6C34878D82A}">
                    <a16:rowId xmlns:a16="http://schemas.microsoft.com/office/drawing/2014/main" xmlns="" val="10006"/>
                  </a:ext>
                </a:extLst>
              </a:tr>
              <a:tr h="432164">
                <a:tc>
                  <a:txBody>
                    <a:bodyPr/>
                    <a:lstStyle/>
                    <a:p>
                      <a:pPr marL="266700" indent="0"/>
                      <a:r>
                        <a:rPr lang="en-US" sz="1400" dirty="0" smtClean="0"/>
                        <a:t>High manufacturer holding costs</a:t>
                      </a:r>
                      <a:endParaRPr lang="en-US" sz="1400" dirty="0"/>
                    </a:p>
                  </a:txBody>
                  <a:tcP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400" b="0" kern="1200" dirty="0" smtClean="0">
                          <a:solidFill>
                            <a:schemeClr val="tx1"/>
                          </a:solidFill>
                          <a:effectLst/>
                          <a:latin typeface="+mn-lt"/>
                          <a:ea typeface="+mn-ea"/>
                          <a:cs typeface="+mn-cs"/>
                        </a:rPr>
                        <a:t>Favors promotion during low-demand periods</a:t>
                      </a:r>
                      <a:endParaRPr lang="en-US" sz="1400" dirty="0" smtClean="0"/>
                    </a:p>
                  </a:txBody>
                  <a:tcP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extLst>
                  <a:ext uri="{0D108BD9-81ED-4DB2-BD59-A6C34878D82A}">
                    <a16:rowId xmlns:a16="http://schemas.microsoft.com/office/drawing/2014/main" xmlns="" val="10007"/>
                  </a:ext>
                </a:extLst>
              </a:tr>
              <a:tr h="432164">
                <a:tc>
                  <a:txBody>
                    <a:bodyPr/>
                    <a:lstStyle/>
                    <a:p>
                      <a:pPr marL="266700" indent="0"/>
                      <a:r>
                        <a:rPr lang="en-US" sz="1400" dirty="0" smtClean="0"/>
                        <a:t>High costs of changing capacity</a:t>
                      </a:r>
                      <a:endParaRPr lang="en-US" sz="1400" dirty="0"/>
                    </a:p>
                  </a:txBody>
                  <a:tcP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400" b="0" kern="1200" dirty="0" smtClean="0">
                          <a:solidFill>
                            <a:schemeClr val="tx1"/>
                          </a:solidFill>
                          <a:effectLst/>
                          <a:latin typeface="+mn-lt"/>
                          <a:ea typeface="+mn-ea"/>
                          <a:cs typeface="+mn-cs"/>
                        </a:rPr>
                        <a:t>Favors promotion during low-demand periods</a:t>
                      </a:r>
                      <a:endParaRPr lang="en-US" sz="1400" dirty="0"/>
                    </a:p>
                  </a:txBody>
                  <a:tcP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extLst>
                  <a:ext uri="{0D108BD9-81ED-4DB2-BD59-A6C34878D82A}">
                    <a16:rowId xmlns:a16="http://schemas.microsoft.com/office/drawing/2014/main" xmlns="" val="10008"/>
                  </a:ext>
                </a:extLst>
              </a:tr>
              <a:tr h="276736">
                <a:tc>
                  <a:txBody>
                    <a:bodyPr/>
                    <a:lstStyle/>
                    <a:p>
                      <a:pPr marL="266700" marR="0" indent="0" algn="l" defTabSz="457200" rtl="0" eaLnBrk="1" fontAlgn="auto" latinLnBrk="0" hangingPunct="1">
                        <a:lnSpc>
                          <a:spcPct val="100000"/>
                        </a:lnSpc>
                        <a:spcBef>
                          <a:spcPts val="0"/>
                        </a:spcBef>
                        <a:spcAft>
                          <a:spcPts val="0"/>
                        </a:spcAft>
                        <a:buClrTx/>
                        <a:buSzTx/>
                        <a:buFontTx/>
                        <a:buNone/>
                        <a:tabLst/>
                        <a:defRPr/>
                      </a:pPr>
                      <a:r>
                        <a:rPr lang="en-US" sz="1400" dirty="0" smtClean="0"/>
                        <a:t>High retailer holding costs</a:t>
                      </a:r>
                    </a:p>
                  </a:txBody>
                  <a:tcP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tc>
                  <a:txBody>
                    <a:bodyPr/>
                    <a:lstStyle/>
                    <a:p>
                      <a:r>
                        <a:rPr lang="en-US" sz="1400" b="0" kern="1200" dirty="0" smtClean="0">
                          <a:solidFill>
                            <a:schemeClr val="tx1"/>
                          </a:solidFill>
                          <a:effectLst/>
                          <a:latin typeface="+mn-lt"/>
                          <a:ea typeface="+mn-ea"/>
                          <a:cs typeface="+mn-cs"/>
                        </a:rPr>
                        <a:t>Decreases forward buying by retailer</a:t>
                      </a:r>
                      <a:endParaRPr lang="en-US" sz="1400" dirty="0"/>
                    </a:p>
                  </a:txBody>
                  <a:tcP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extLst>
                  <a:ext uri="{0D108BD9-81ED-4DB2-BD59-A6C34878D82A}">
                    <a16:rowId xmlns:a16="http://schemas.microsoft.com/office/drawing/2014/main" xmlns="" val="10009"/>
                  </a:ext>
                </a:extLst>
              </a:tr>
              <a:tr h="276736">
                <a:tc>
                  <a:txBody>
                    <a:bodyPr/>
                    <a:lstStyle/>
                    <a:p>
                      <a:pPr marL="266700" indent="0"/>
                      <a:r>
                        <a:rPr lang="en-US" sz="1400" dirty="0" smtClean="0"/>
                        <a:t>High promotion elasticity of consumer</a:t>
                      </a:r>
                      <a:endParaRPr lang="en-US" sz="1400" dirty="0"/>
                    </a:p>
                  </a:txBody>
                  <a:tcPr>
                    <a:lnT w="12700" cap="flat" cmpd="sng" algn="ctr">
                      <a:solidFill>
                        <a:scrgbClr r="0" g="0" b="0"/>
                      </a:solidFill>
                      <a:prstDash val="solid"/>
                      <a:round/>
                      <a:headEnd type="none" w="med" len="med"/>
                      <a:tailEnd type="none" w="med" len="med"/>
                    </a:lnT>
                    <a:lnB w="28575" cap="flat" cmpd="sng" algn="ctr">
                      <a:solidFill>
                        <a:scrgbClr r="0" g="0" b="0"/>
                      </a:solidFill>
                      <a:prstDash val="solid"/>
                      <a:round/>
                      <a:headEnd type="none" w="med" len="med"/>
                      <a:tailEnd type="none" w="med" len="med"/>
                    </a:lnB>
                    <a:solidFill>
                      <a:srgbClr val="FFFFFF"/>
                    </a:solidFill>
                  </a:tcPr>
                </a:tc>
                <a:tc>
                  <a:txBody>
                    <a:bodyPr/>
                    <a:lstStyle/>
                    <a:p>
                      <a:r>
                        <a:rPr lang="en-US" sz="1400" b="0" kern="1200" dirty="0" smtClean="0">
                          <a:solidFill>
                            <a:schemeClr val="tx1"/>
                          </a:solidFill>
                          <a:effectLst/>
                          <a:latin typeface="+mn-lt"/>
                          <a:ea typeface="+mn-ea"/>
                          <a:cs typeface="+mn-cs"/>
                        </a:rPr>
                        <a:t>Decreases forward buying by retailer</a:t>
                      </a:r>
                      <a:endParaRPr lang="en-US" sz="1400" dirty="0"/>
                    </a:p>
                  </a:txBody>
                  <a:tcPr>
                    <a:lnT w="12700" cap="flat" cmpd="sng" algn="ctr">
                      <a:solidFill>
                        <a:scrgbClr r="0" g="0" b="0"/>
                      </a:solidFill>
                      <a:prstDash val="solid"/>
                      <a:round/>
                      <a:headEnd type="none" w="med" len="med"/>
                      <a:tailEnd type="none" w="med" len="med"/>
                    </a:lnT>
                    <a:lnB w="28575" cap="flat" cmpd="sng" algn="ctr">
                      <a:solidFill>
                        <a:scrgbClr r="0" g="0" b="0"/>
                      </a:solidFill>
                      <a:prstDash val="solid"/>
                      <a:round/>
                      <a:headEnd type="none" w="med" len="med"/>
                      <a:tailEnd type="none" w="med" len="med"/>
                    </a:lnB>
                    <a:solidFill>
                      <a:srgbClr val="FFFFFF"/>
                    </a:solidFill>
                  </a:tcPr>
                </a:tc>
                <a:extLst>
                  <a:ext uri="{0D108BD9-81ED-4DB2-BD59-A6C34878D82A}">
                    <a16:rowId xmlns:a16="http://schemas.microsoft.com/office/drawing/2014/main" xmlns="" val="10010"/>
                  </a:ext>
                </a:extLst>
              </a:tr>
            </a:tbl>
          </a:graphicData>
        </a:graphic>
      </p:graphicFrame>
    </p:spTree>
    <p:extLst>
      <p:ext uri="{BB962C8B-B14F-4D97-AF65-F5344CB8AC3E}">
        <p14:creationId xmlns:p14="http://schemas.microsoft.com/office/powerpoint/2010/main" val="292942983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4794"/>
            <a:ext cx="8229600" cy="707856"/>
          </a:xfrm>
        </p:spPr>
        <p:txBody>
          <a:bodyPr tIns="91425">
            <a:spAutoFit/>
          </a:bodyPr>
          <a:lstStyle/>
          <a:p>
            <a:pPr lvl="0" defTabSz="457200">
              <a:spcBef>
                <a:spcPct val="0"/>
              </a:spcBef>
              <a:buClrTx/>
            </a:pPr>
            <a:r>
              <a:rPr lang="en-US" kern="1200" dirty="0" smtClean="0">
                <a:solidFill>
                  <a:srgbClr val="007FA3"/>
                </a:solidFill>
                <a:latin typeface="Times New Roman" panose="02020603050405020304" pitchFamily="18" charset="0"/>
                <a:ea typeface="+mj-ea"/>
                <a:cs typeface="+mj-cs"/>
              </a:rPr>
              <a:t>Summary of Learning Objective 1</a:t>
            </a:r>
            <a:endParaRPr lang="en-US" sz="2000" b="0" kern="1200" dirty="0">
              <a:solidFill>
                <a:srgbClr val="007FA3"/>
              </a:solidFill>
              <a:latin typeface="Times New Roman" panose="02020603050405020304" pitchFamily="18" charset="0"/>
              <a:ea typeface="+mj-ea"/>
              <a:cs typeface="+mj-cs"/>
            </a:endParaRPr>
          </a:p>
        </p:txBody>
      </p:sp>
      <p:sp>
        <p:nvSpPr>
          <p:cNvPr id="3" name="Content Placeholder 2"/>
          <p:cNvSpPr>
            <a:spLocks noGrp="1"/>
          </p:cNvSpPr>
          <p:nvPr>
            <p:ph type="body" idx="1"/>
          </p:nvPr>
        </p:nvSpPr>
        <p:spPr/>
        <p:txBody>
          <a:bodyPr wrap="square" lIns="91425" tIns="91425" rIns="91425" bIns="91425">
            <a:spAutoFit/>
          </a:bodyPr>
          <a:lstStyle/>
          <a:p>
            <a:pPr marL="0" lvl="0" indent="0" defTabSz="457200">
              <a:spcAft>
                <a:spcPct val="0"/>
              </a:spcAft>
              <a:buSzPct val="100000"/>
              <a:buNone/>
            </a:pPr>
            <a:r>
              <a:rPr lang="en-US" sz="2200" kern="1200" dirty="0">
                <a:solidFill>
                  <a:srgbClr val="000000"/>
                </a:solidFill>
                <a:latin typeface="Arial (Body)"/>
                <a:ea typeface="+mn-ea"/>
                <a:cs typeface="+mn-cs"/>
              </a:rPr>
              <a:t>Companies can maximize profits by managing supply and demand to improve synchronization in a supply chain in the face of predictable variability. Supply can be managed using capacity or inventory. Companies can reduce the capacity required through the use of workforce flexibility, subcontracting, dual facilities, and product flexibility. Companies can reduce the inventory required by emphasizing common parts and building and holding products with predictable demand ahead of time. Demand can be managed using pricing and promotion decisions because the timing of promotions has a tremendous impact on demand. Therefore, using pricing to shape demand in concert with supply planning can help improve supply chain </a:t>
            </a:r>
            <a:r>
              <a:rPr lang="en-US" sz="2200" kern="1200" dirty="0" smtClean="0">
                <a:solidFill>
                  <a:srgbClr val="000000"/>
                </a:solidFill>
                <a:latin typeface="Arial (Body)"/>
                <a:ea typeface="+mn-ea"/>
                <a:cs typeface="+mn-cs"/>
              </a:rPr>
              <a:t>profits.</a:t>
            </a:r>
            <a:endParaRPr lang="en-US" sz="2200" kern="1200" dirty="0">
              <a:solidFill>
                <a:srgbClr val="000000"/>
              </a:solidFill>
              <a:latin typeface="Arial (Body)"/>
              <a:ea typeface="+mn-ea"/>
              <a:cs typeface="+mn-cs"/>
            </a:endParaRPr>
          </a:p>
        </p:txBody>
      </p:sp>
    </p:spTree>
    <p:extLst>
      <p:ext uri="{BB962C8B-B14F-4D97-AF65-F5344CB8AC3E}">
        <p14:creationId xmlns:p14="http://schemas.microsoft.com/office/powerpoint/2010/main" val="80643716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81574"/>
            <a:ext cx="8229600" cy="1231076"/>
          </a:xfrm>
        </p:spPr>
        <p:txBody>
          <a:bodyPr tIns="91425">
            <a:spAutoFit/>
          </a:bodyPr>
          <a:lstStyle/>
          <a:p>
            <a:pPr lvl="0" defTabSz="457200">
              <a:spcBef>
                <a:spcPct val="0"/>
              </a:spcBef>
              <a:buClrTx/>
            </a:pPr>
            <a:r>
              <a:rPr lang="en-US" kern="1200" dirty="0" smtClean="0">
                <a:latin typeface="Times New Roman" panose="02020603050405020304" pitchFamily="18" charset="0"/>
                <a:ea typeface="+mj-ea"/>
                <a:cs typeface="+mj-cs"/>
              </a:rPr>
              <a:t>Sales and Operations Planning at Red Tomato</a:t>
            </a:r>
            <a:endParaRPr lang="en-US" kern="1200" dirty="0">
              <a:latin typeface="Times New Roman" panose="02020603050405020304" pitchFamily="18" charset="0"/>
              <a:ea typeface="+mj-ea"/>
              <a:cs typeface="+mj-cs"/>
            </a:endParaRPr>
          </a:p>
        </p:txBody>
      </p:sp>
      <p:sp>
        <p:nvSpPr>
          <p:cNvPr id="3" name="Text Placeholder 2"/>
          <p:cNvSpPr>
            <a:spLocks noGrp="1"/>
          </p:cNvSpPr>
          <p:nvPr>
            <p:ph type="body" idx="1"/>
          </p:nvPr>
        </p:nvSpPr>
        <p:spPr>
          <a:xfrm>
            <a:off x="457200" y="1600200"/>
            <a:ext cx="8229600" cy="408709"/>
          </a:xfrm>
        </p:spPr>
        <p:txBody>
          <a:bodyPr/>
          <a:lstStyle/>
          <a:p>
            <a:pPr marL="0" indent="0">
              <a:buNone/>
            </a:pPr>
            <a:r>
              <a:rPr lang="en-US" sz="2000" b="1" kern="1200" dirty="0" smtClean="0">
                <a:solidFill>
                  <a:schemeClr val="tx1"/>
                </a:solidFill>
                <a:latin typeface="+mn-lt"/>
              </a:rPr>
              <a:t>Table 9-2 </a:t>
            </a:r>
            <a:r>
              <a:rPr lang="en-US" sz="2000" kern="1200" dirty="0" smtClean="0">
                <a:solidFill>
                  <a:schemeClr val="tx1"/>
                </a:solidFill>
                <a:latin typeface="+mn-lt"/>
              </a:rPr>
              <a:t>Costs </a:t>
            </a:r>
            <a:r>
              <a:rPr lang="en-US" sz="2000" kern="1200" dirty="0">
                <a:solidFill>
                  <a:schemeClr val="tx1"/>
                </a:solidFill>
                <a:latin typeface="+mn-lt"/>
              </a:rPr>
              <a:t>for Red Tomato and Green </a:t>
            </a:r>
            <a:r>
              <a:rPr lang="en-US" sz="2000" kern="1200" dirty="0" smtClean="0">
                <a:solidFill>
                  <a:schemeClr val="tx1"/>
                </a:solidFill>
                <a:latin typeface="+mn-lt"/>
              </a:rPr>
              <a:t>Thumb</a:t>
            </a:r>
            <a:endParaRPr lang="en-US" sz="2000" kern="1200" dirty="0">
              <a:solidFill>
                <a:schemeClr val="tx1"/>
              </a:solidFill>
              <a:latin typeface="+mn-lt"/>
            </a:endParaRPr>
          </a:p>
        </p:txBody>
      </p:sp>
      <p:graphicFrame>
        <p:nvGraphicFramePr>
          <p:cNvPr id="4" name="Table 3"/>
          <p:cNvGraphicFramePr>
            <a:graphicFrameLocks noGrp="1"/>
          </p:cNvGraphicFramePr>
          <p:nvPr>
            <p:extLst>
              <p:ext uri="{D42A27DB-BD31-4B8C-83A1-F6EECF244321}">
                <p14:modId xmlns:p14="http://schemas.microsoft.com/office/powerpoint/2010/main" val="1356682020"/>
              </p:ext>
            </p:extLst>
          </p:nvPr>
        </p:nvGraphicFramePr>
        <p:xfrm>
          <a:off x="1485483" y="2452852"/>
          <a:ext cx="6173034" cy="3708400"/>
        </p:xfrm>
        <a:graphic>
          <a:graphicData uri="http://schemas.openxmlformats.org/drawingml/2006/table">
            <a:tbl>
              <a:tblPr firstRow="1" bandRow="1">
                <a:tableStyleId>{2D5ABB26-0587-4C30-8999-92F81FD0307C}</a:tableStyleId>
              </a:tblPr>
              <a:tblGrid>
                <a:gridCol w="4229100">
                  <a:extLst>
                    <a:ext uri="{9D8B030D-6E8A-4147-A177-3AD203B41FA5}">
                      <a16:colId xmlns:a16="http://schemas.microsoft.com/office/drawing/2014/main" xmlns="" val="20000"/>
                    </a:ext>
                  </a:extLst>
                </a:gridCol>
                <a:gridCol w="1943934">
                  <a:extLst>
                    <a:ext uri="{9D8B030D-6E8A-4147-A177-3AD203B41FA5}">
                      <a16:colId xmlns:a16="http://schemas.microsoft.com/office/drawing/2014/main" xmlns="" val="20001"/>
                    </a:ext>
                  </a:extLst>
                </a:gridCol>
              </a:tblGrid>
              <a:tr h="370840">
                <a:tc>
                  <a:txBody>
                    <a:bodyPr/>
                    <a:lstStyle/>
                    <a:p>
                      <a:pPr marL="266700" indent="0"/>
                      <a:r>
                        <a:rPr lang="en-US" sz="1800" b="1" kern="1200" dirty="0" smtClean="0">
                          <a:solidFill>
                            <a:schemeClr val="tx1"/>
                          </a:solidFill>
                          <a:latin typeface="+mn-lt"/>
                          <a:ea typeface="+mn-ea"/>
                          <a:cs typeface="+mn-cs"/>
                        </a:rPr>
                        <a:t>Item</a:t>
                      </a:r>
                    </a:p>
                  </a:txBody>
                  <a:tcP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tc>
                  <a:txBody>
                    <a:bodyPr/>
                    <a:lstStyle/>
                    <a:p>
                      <a:r>
                        <a:rPr lang="en-US" sz="1800" b="1" kern="1200" dirty="0" smtClean="0">
                          <a:solidFill>
                            <a:schemeClr val="tx1"/>
                          </a:solidFill>
                          <a:latin typeface="+mn-lt"/>
                          <a:ea typeface="+mn-ea"/>
                          <a:cs typeface="+mn-cs"/>
                        </a:rPr>
                        <a:t>Cost</a:t>
                      </a:r>
                    </a:p>
                  </a:txBody>
                  <a:tcP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extLst>
                  <a:ext uri="{0D108BD9-81ED-4DB2-BD59-A6C34878D82A}">
                    <a16:rowId xmlns:a16="http://schemas.microsoft.com/office/drawing/2014/main" xmlns="" val="10001"/>
                  </a:ext>
                </a:extLst>
              </a:tr>
              <a:tr h="370840">
                <a:tc>
                  <a:txBody>
                    <a:bodyPr/>
                    <a:lstStyle/>
                    <a:p>
                      <a:pPr marL="266700" marR="0" indent="0" algn="l" defTabSz="457200" rtl="0" eaLnBrk="1" fontAlgn="auto" latinLnBrk="0" hangingPunct="1">
                        <a:lnSpc>
                          <a:spcPct val="100000"/>
                        </a:lnSpc>
                        <a:spcBef>
                          <a:spcPts val="0"/>
                        </a:spcBef>
                        <a:spcAft>
                          <a:spcPts val="0"/>
                        </a:spcAft>
                        <a:buClrTx/>
                        <a:buSzTx/>
                        <a:buFontTx/>
                        <a:buNone/>
                        <a:tabLst/>
                        <a:defRPr/>
                      </a:pPr>
                      <a:r>
                        <a:rPr lang="en-US" sz="1800" kern="1200" dirty="0" smtClean="0">
                          <a:solidFill>
                            <a:schemeClr val="tx1"/>
                          </a:solidFill>
                          <a:latin typeface="+mn-lt"/>
                          <a:ea typeface="+mn-ea"/>
                          <a:cs typeface="+mn-cs"/>
                        </a:rPr>
                        <a:t>Material cost</a:t>
                      </a:r>
                      <a:endParaRPr lang="en-US" dirty="0" smtClean="0"/>
                    </a:p>
                  </a:txBody>
                  <a:tcPr>
                    <a:lnT w="12700" cap="flat" cmpd="sng" algn="ctr">
                      <a:solidFill>
                        <a:scrgbClr r="0" g="0" b="0"/>
                      </a:solidFill>
                      <a:prstDash val="solid"/>
                      <a:round/>
                      <a:headEnd type="none" w="med" len="med"/>
                      <a:tailEnd type="none" w="med" len="med"/>
                    </a:lnT>
                    <a:solidFill>
                      <a:srgbClr val="FFFFFF"/>
                    </a:solidFill>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800" kern="1200" dirty="0" smtClean="0">
                          <a:solidFill>
                            <a:schemeClr val="tx1"/>
                          </a:solidFill>
                          <a:latin typeface="+mn-lt"/>
                          <a:ea typeface="+mn-ea"/>
                          <a:cs typeface="+mn-cs"/>
                        </a:rPr>
                        <a:t>$10/unit</a:t>
                      </a:r>
                      <a:endParaRPr lang="en-US" dirty="0" smtClean="0"/>
                    </a:p>
                  </a:txBody>
                  <a:tcPr>
                    <a:lnT w="12700" cap="flat" cmpd="sng" algn="ctr">
                      <a:solidFill>
                        <a:scrgbClr r="0" g="0" b="0"/>
                      </a:solidFill>
                      <a:prstDash val="solid"/>
                      <a:round/>
                      <a:headEnd type="none" w="med" len="med"/>
                      <a:tailEnd type="none" w="med" len="med"/>
                    </a:lnT>
                    <a:solidFill>
                      <a:srgbClr val="FFFFFF"/>
                    </a:solidFill>
                  </a:tcPr>
                </a:tc>
                <a:extLst>
                  <a:ext uri="{0D108BD9-81ED-4DB2-BD59-A6C34878D82A}">
                    <a16:rowId xmlns:a16="http://schemas.microsoft.com/office/drawing/2014/main" xmlns="" val="10002"/>
                  </a:ext>
                </a:extLst>
              </a:tr>
              <a:tr h="370840">
                <a:tc>
                  <a:txBody>
                    <a:bodyPr/>
                    <a:lstStyle/>
                    <a:p>
                      <a:pPr marL="266700" marR="0" indent="0" algn="l" defTabSz="457200" rtl="0" eaLnBrk="1" fontAlgn="auto" latinLnBrk="0" hangingPunct="1">
                        <a:lnSpc>
                          <a:spcPct val="100000"/>
                        </a:lnSpc>
                        <a:spcBef>
                          <a:spcPts val="0"/>
                        </a:spcBef>
                        <a:spcAft>
                          <a:spcPts val="0"/>
                        </a:spcAft>
                        <a:buClrTx/>
                        <a:buSzTx/>
                        <a:buFontTx/>
                        <a:buNone/>
                        <a:tabLst/>
                        <a:defRPr/>
                      </a:pPr>
                      <a:r>
                        <a:rPr lang="en-US" sz="1800" kern="1200" dirty="0" smtClean="0">
                          <a:solidFill>
                            <a:schemeClr val="tx1"/>
                          </a:solidFill>
                          <a:latin typeface="+mn-lt"/>
                          <a:ea typeface="+mn-ea"/>
                          <a:cs typeface="+mn-cs"/>
                        </a:rPr>
                        <a:t>Inventory holding cost</a:t>
                      </a:r>
                      <a:endParaRPr lang="en-US" dirty="0" smtClean="0"/>
                    </a:p>
                  </a:txBody>
                  <a:tcPr>
                    <a:solidFill>
                      <a:srgbClr val="FFFFFF"/>
                    </a:solidFill>
                  </a:tcPr>
                </a:tc>
                <a:tc>
                  <a:txBody>
                    <a:bodyPr/>
                    <a:lstStyle/>
                    <a:p>
                      <a:r>
                        <a:rPr lang="en-US" sz="1800" kern="1200" dirty="0" smtClean="0">
                          <a:solidFill>
                            <a:schemeClr val="tx1"/>
                          </a:solidFill>
                          <a:latin typeface="+mn-lt"/>
                          <a:ea typeface="+mn-ea"/>
                          <a:cs typeface="+mn-cs"/>
                        </a:rPr>
                        <a:t>$2/unit/month</a:t>
                      </a:r>
                      <a:endParaRPr lang="en-US" dirty="0"/>
                    </a:p>
                  </a:txBody>
                  <a:tcPr>
                    <a:solidFill>
                      <a:srgbClr val="FFFFFF"/>
                    </a:solidFill>
                  </a:tcPr>
                </a:tc>
                <a:extLst>
                  <a:ext uri="{0D108BD9-81ED-4DB2-BD59-A6C34878D82A}">
                    <a16:rowId xmlns:a16="http://schemas.microsoft.com/office/drawing/2014/main" xmlns="" val="10003"/>
                  </a:ext>
                </a:extLst>
              </a:tr>
              <a:tr h="370840">
                <a:tc>
                  <a:txBody>
                    <a:bodyPr/>
                    <a:lstStyle/>
                    <a:p>
                      <a:pPr marL="266700" indent="0"/>
                      <a:r>
                        <a:rPr lang="en-US" sz="1800" kern="1200" dirty="0" smtClean="0">
                          <a:solidFill>
                            <a:schemeClr val="tx1"/>
                          </a:solidFill>
                          <a:latin typeface="+mn-lt"/>
                          <a:ea typeface="+mn-ea"/>
                          <a:cs typeface="+mn-cs"/>
                        </a:rPr>
                        <a:t>Marginal cost of stockout/backlog</a:t>
                      </a:r>
                      <a:endParaRPr lang="en-US" dirty="0"/>
                    </a:p>
                  </a:txBody>
                  <a:tcPr>
                    <a:solidFill>
                      <a:srgbClr val="FFFFFF"/>
                    </a:solidFill>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800" kern="1200" dirty="0" smtClean="0">
                          <a:solidFill>
                            <a:schemeClr val="tx1"/>
                          </a:solidFill>
                          <a:latin typeface="+mn-lt"/>
                          <a:ea typeface="+mn-ea"/>
                          <a:cs typeface="+mn-cs"/>
                        </a:rPr>
                        <a:t>$5/unit/month</a:t>
                      </a:r>
                      <a:endParaRPr lang="en-US" dirty="0" smtClean="0"/>
                    </a:p>
                  </a:txBody>
                  <a:tcPr>
                    <a:solidFill>
                      <a:srgbClr val="FFFFFF"/>
                    </a:solidFill>
                  </a:tcPr>
                </a:tc>
                <a:extLst>
                  <a:ext uri="{0D108BD9-81ED-4DB2-BD59-A6C34878D82A}">
                    <a16:rowId xmlns:a16="http://schemas.microsoft.com/office/drawing/2014/main" xmlns="" val="10004"/>
                  </a:ext>
                </a:extLst>
              </a:tr>
              <a:tr h="370840">
                <a:tc>
                  <a:txBody>
                    <a:bodyPr/>
                    <a:lstStyle/>
                    <a:p>
                      <a:pPr marL="266700" marR="0" indent="0" algn="l" defTabSz="457200" rtl="0" eaLnBrk="1" fontAlgn="auto" latinLnBrk="0" hangingPunct="1">
                        <a:lnSpc>
                          <a:spcPct val="100000"/>
                        </a:lnSpc>
                        <a:spcBef>
                          <a:spcPts val="0"/>
                        </a:spcBef>
                        <a:spcAft>
                          <a:spcPts val="0"/>
                        </a:spcAft>
                        <a:buClrTx/>
                        <a:buSzTx/>
                        <a:buFontTx/>
                        <a:buNone/>
                        <a:tabLst/>
                        <a:defRPr/>
                      </a:pPr>
                      <a:r>
                        <a:rPr lang="en-US" sz="1800" kern="1200" dirty="0" smtClean="0">
                          <a:solidFill>
                            <a:schemeClr val="tx1"/>
                          </a:solidFill>
                          <a:latin typeface="+mn-lt"/>
                          <a:ea typeface="+mn-ea"/>
                          <a:cs typeface="+mn-cs"/>
                        </a:rPr>
                        <a:t>Hiring and training costs</a:t>
                      </a:r>
                      <a:endParaRPr lang="en-US" dirty="0" smtClean="0"/>
                    </a:p>
                  </a:txBody>
                  <a:tcPr>
                    <a:solidFill>
                      <a:srgbClr val="FFFFFF"/>
                    </a:solidFill>
                  </a:tcPr>
                </a:tc>
                <a:tc>
                  <a:txBody>
                    <a:bodyPr/>
                    <a:lstStyle/>
                    <a:p>
                      <a:r>
                        <a:rPr lang="en-US" sz="1800" kern="1200" dirty="0" smtClean="0">
                          <a:solidFill>
                            <a:schemeClr val="tx1"/>
                          </a:solidFill>
                          <a:latin typeface="+mn-lt"/>
                          <a:ea typeface="+mn-ea"/>
                          <a:cs typeface="+mn-cs"/>
                        </a:rPr>
                        <a:t>$300/worker</a:t>
                      </a:r>
                      <a:endParaRPr lang="en-US" dirty="0"/>
                    </a:p>
                  </a:txBody>
                  <a:tcPr>
                    <a:solidFill>
                      <a:srgbClr val="FFFFFF"/>
                    </a:solidFill>
                  </a:tcPr>
                </a:tc>
                <a:extLst>
                  <a:ext uri="{0D108BD9-81ED-4DB2-BD59-A6C34878D82A}">
                    <a16:rowId xmlns:a16="http://schemas.microsoft.com/office/drawing/2014/main" xmlns="" val="10005"/>
                  </a:ext>
                </a:extLst>
              </a:tr>
              <a:tr h="370840">
                <a:tc>
                  <a:txBody>
                    <a:bodyPr/>
                    <a:lstStyle/>
                    <a:p>
                      <a:pPr marL="266700" marR="0" indent="0" algn="l" defTabSz="457200" rtl="0" eaLnBrk="1" fontAlgn="auto" latinLnBrk="0" hangingPunct="1">
                        <a:lnSpc>
                          <a:spcPct val="100000"/>
                        </a:lnSpc>
                        <a:spcBef>
                          <a:spcPts val="0"/>
                        </a:spcBef>
                        <a:spcAft>
                          <a:spcPts val="0"/>
                        </a:spcAft>
                        <a:buClrTx/>
                        <a:buSzTx/>
                        <a:buFontTx/>
                        <a:buNone/>
                        <a:tabLst/>
                        <a:defRPr/>
                      </a:pPr>
                      <a:r>
                        <a:rPr lang="en-US" sz="1800" kern="1200" dirty="0" smtClean="0">
                          <a:solidFill>
                            <a:schemeClr val="tx1"/>
                          </a:solidFill>
                          <a:latin typeface="+mn-lt"/>
                          <a:ea typeface="+mn-ea"/>
                          <a:cs typeface="+mn-cs"/>
                        </a:rPr>
                        <a:t>Layoff cost</a:t>
                      </a:r>
                      <a:endParaRPr lang="en-US" dirty="0" smtClean="0"/>
                    </a:p>
                  </a:txBody>
                  <a:tcPr>
                    <a:solidFill>
                      <a:srgbClr val="FFFFFF"/>
                    </a:solidFill>
                  </a:tcPr>
                </a:tc>
                <a:tc>
                  <a:txBody>
                    <a:bodyPr/>
                    <a:lstStyle/>
                    <a:p>
                      <a:r>
                        <a:rPr lang="en-US" sz="1800" kern="1200" dirty="0" smtClean="0">
                          <a:solidFill>
                            <a:schemeClr val="tx1"/>
                          </a:solidFill>
                          <a:latin typeface="+mn-lt"/>
                          <a:ea typeface="+mn-ea"/>
                          <a:cs typeface="+mn-cs"/>
                        </a:rPr>
                        <a:t>$500/worker</a:t>
                      </a:r>
                      <a:endParaRPr lang="en-US" dirty="0"/>
                    </a:p>
                  </a:txBody>
                  <a:tcPr>
                    <a:solidFill>
                      <a:srgbClr val="FFFFFF"/>
                    </a:solidFill>
                  </a:tcPr>
                </a:tc>
                <a:extLst>
                  <a:ext uri="{0D108BD9-81ED-4DB2-BD59-A6C34878D82A}">
                    <a16:rowId xmlns:a16="http://schemas.microsoft.com/office/drawing/2014/main" xmlns="" val="10006"/>
                  </a:ext>
                </a:extLst>
              </a:tr>
              <a:tr h="370840">
                <a:tc>
                  <a:txBody>
                    <a:bodyPr/>
                    <a:lstStyle/>
                    <a:p>
                      <a:pPr marL="266700" indent="0"/>
                      <a:r>
                        <a:rPr lang="en-US" sz="1800" kern="1200" dirty="0" smtClean="0">
                          <a:solidFill>
                            <a:schemeClr val="tx1"/>
                          </a:solidFill>
                          <a:latin typeface="+mn-lt"/>
                          <a:ea typeface="+mn-ea"/>
                          <a:cs typeface="+mn-cs"/>
                        </a:rPr>
                        <a:t>Labor hours required</a:t>
                      </a:r>
                      <a:endParaRPr lang="en-US" dirty="0"/>
                    </a:p>
                  </a:txBody>
                  <a:tcPr>
                    <a:solidFill>
                      <a:srgbClr val="FFFFFF"/>
                    </a:solidFill>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800" kern="1200" dirty="0" smtClean="0">
                          <a:solidFill>
                            <a:schemeClr val="tx1"/>
                          </a:solidFill>
                          <a:latin typeface="+mn-lt"/>
                          <a:ea typeface="+mn-ea"/>
                          <a:cs typeface="+mn-cs"/>
                        </a:rPr>
                        <a:t>4/unit</a:t>
                      </a:r>
                      <a:endParaRPr lang="en-US" dirty="0" smtClean="0"/>
                    </a:p>
                  </a:txBody>
                  <a:tcPr>
                    <a:solidFill>
                      <a:srgbClr val="FFFFFF"/>
                    </a:solidFill>
                  </a:tcPr>
                </a:tc>
                <a:extLst>
                  <a:ext uri="{0D108BD9-81ED-4DB2-BD59-A6C34878D82A}">
                    <a16:rowId xmlns:a16="http://schemas.microsoft.com/office/drawing/2014/main" xmlns="" val="10007"/>
                  </a:ext>
                </a:extLst>
              </a:tr>
              <a:tr h="370840">
                <a:tc>
                  <a:txBody>
                    <a:bodyPr/>
                    <a:lstStyle/>
                    <a:p>
                      <a:pPr marL="266700" indent="0"/>
                      <a:r>
                        <a:rPr lang="en-US" sz="1800" kern="1200" dirty="0" smtClean="0">
                          <a:solidFill>
                            <a:schemeClr val="tx1"/>
                          </a:solidFill>
                          <a:latin typeface="+mn-lt"/>
                          <a:ea typeface="+mn-ea"/>
                          <a:cs typeface="+mn-cs"/>
                        </a:rPr>
                        <a:t>Regular time cost</a:t>
                      </a:r>
                      <a:endParaRPr lang="en-US" dirty="0"/>
                    </a:p>
                  </a:txBody>
                  <a:tcPr>
                    <a:solidFill>
                      <a:srgbClr val="FFFFFF"/>
                    </a:solidFill>
                  </a:tcPr>
                </a:tc>
                <a:tc>
                  <a:txBody>
                    <a:bodyPr/>
                    <a:lstStyle/>
                    <a:p>
                      <a:r>
                        <a:rPr lang="en-US" sz="1800" kern="1200" dirty="0" smtClean="0">
                          <a:solidFill>
                            <a:schemeClr val="tx1"/>
                          </a:solidFill>
                          <a:latin typeface="+mn-lt"/>
                          <a:ea typeface="+mn-ea"/>
                          <a:cs typeface="+mn-cs"/>
                        </a:rPr>
                        <a:t>$4/hour</a:t>
                      </a:r>
                      <a:endParaRPr lang="en-US" dirty="0"/>
                    </a:p>
                  </a:txBody>
                  <a:tcPr>
                    <a:solidFill>
                      <a:srgbClr val="FFFFFF"/>
                    </a:solidFill>
                  </a:tcPr>
                </a:tc>
                <a:extLst>
                  <a:ext uri="{0D108BD9-81ED-4DB2-BD59-A6C34878D82A}">
                    <a16:rowId xmlns:a16="http://schemas.microsoft.com/office/drawing/2014/main" xmlns="" val="10008"/>
                  </a:ext>
                </a:extLst>
              </a:tr>
              <a:tr h="370840">
                <a:tc>
                  <a:txBody>
                    <a:bodyPr/>
                    <a:lstStyle/>
                    <a:p>
                      <a:pPr marL="266700" marR="0" indent="0" algn="l" defTabSz="457200" rtl="0" eaLnBrk="1" fontAlgn="auto" latinLnBrk="0" hangingPunct="1">
                        <a:lnSpc>
                          <a:spcPct val="100000"/>
                        </a:lnSpc>
                        <a:spcBef>
                          <a:spcPts val="0"/>
                        </a:spcBef>
                        <a:spcAft>
                          <a:spcPts val="0"/>
                        </a:spcAft>
                        <a:buClrTx/>
                        <a:buSzTx/>
                        <a:buFontTx/>
                        <a:buNone/>
                        <a:tabLst/>
                        <a:defRPr/>
                      </a:pPr>
                      <a:r>
                        <a:rPr lang="en-US" sz="1800" kern="1200" dirty="0" smtClean="0">
                          <a:solidFill>
                            <a:schemeClr val="tx1"/>
                          </a:solidFill>
                          <a:latin typeface="+mn-lt"/>
                          <a:ea typeface="+mn-ea"/>
                          <a:cs typeface="+mn-cs"/>
                        </a:rPr>
                        <a:t>Overtime cost</a:t>
                      </a:r>
                      <a:endParaRPr lang="en-US" dirty="0" smtClean="0"/>
                    </a:p>
                  </a:txBody>
                  <a:tcPr>
                    <a:solidFill>
                      <a:srgbClr val="FFFFFF"/>
                    </a:solidFill>
                  </a:tcPr>
                </a:tc>
                <a:tc>
                  <a:txBody>
                    <a:bodyPr/>
                    <a:lstStyle/>
                    <a:p>
                      <a:r>
                        <a:rPr lang="en-US" sz="1800" kern="1200" dirty="0" smtClean="0">
                          <a:solidFill>
                            <a:schemeClr val="tx1"/>
                          </a:solidFill>
                          <a:latin typeface="+mn-lt"/>
                          <a:ea typeface="+mn-ea"/>
                          <a:cs typeface="+mn-cs"/>
                        </a:rPr>
                        <a:t>$6/hour</a:t>
                      </a:r>
                      <a:endParaRPr lang="en-US" dirty="0"/>
                    </a:p>
                  </a:txBody>
                  <a:tcPr>
                    <a:solidFill>
                      <a:srgbClr val="FFFFFF"/>
                    </a:solidFill>
                  </a:tcPr>
                </a:tc>
                <a:extLst>
                  <a:ext uri="{0D108BD9-81ED-4DB2-BD59-A6C34878D82A}">
                    <a16:rowId xmlns:a16="http://schemas.microsoft.com/office/drawing/2014/main" xmlns="" val="10009"/>
                  </a:ext>
                </a:extLst>
              </a:tr>
              <a:tr h="370840">
                <a:tc>
                  <a:txBody>
                    <a:bodyPr/>
                    <a:lstStyle/>
                    <a:p>
                      <a:pPr marL="266700" indent="0"/>
                      <a:r>
                        <a:rPr lang="en-US" sz="1800" kern="1200" dirty="0" smtClean="0">
                          <a:solidFill>
                            <a:schemeClr val="tx1"/>
                          </a:solidFill>
                          <a:latin typeface="+mn-lt"/>
                          <a:ea typeface="+mn-ea"/>
                          <a:cs typeface="+mn-cs"/>
                        </a:rPr>
                        <a:t>Cost of subcontracting</a:t>
                      </a:r>
                      <a:endParaRPr lang="en-US" dirty="0"/>
                    </a:p>
                  </a:txBody>
                  <a:tcPr>
                    <a:lnB w="28575" cap="flat" cmpd="sng" algn="ctr">
                      <a:solidFill>
                        <a:scrgbClr r="0" g="0" b="0"/>
                      </a:solidFill>
                      <a:prstDash val="solid"/>
                      <a:round/>
                      <a:headEnd type="none" w="med" len="med"/>
                      <a:tailEnd type="none" w="med" len="med"/>
                    </a:lnB>
                    <a:solidFill>
                      <a:srgbClr val="FFFFFF"/>
                    </a:solidFill>
                  </a:tcPr>
                </a:tc>
                <a:tc>
                  <a:txBody>
                    <a:bodyPr/>
                    <a:lstStyle/>
                    <a:p>
                      <a:r>
                        <a:rPr lang="en-US" sz="1800" kern="1200" dirty="0" smtClean="0">
                          <a:solidFill>
                            <a:schemeClr val="tx1"/>
                          </a:solidFill>
                          <a:latin typeface="+mn-lt"/>
                          <a:ea typeface="+mn-ea"/>
                          <a:cs typeface="+mn-cs"/>
                        </a:rPr>
                        <a:t>$30/unit</a:t>
                      </a:r>
                      <a:endParaRPr lang="en-US" dirty="0"/>
                    </a:p>
                  </a:txBody>
                  <a:tcPr>
                    <a:lnB w="28575" cap="flat" cmpd="sng" algn="ctr">
                      <a:solidFill>
                        <a:scrgbClr r="0" g="0" b="0"/>
                      </a:solidFill>
                      <a:prstDash val="solid"/>
                      <a:round/>
                      <a:headEnd type="none" w="med" len="med"/>
                      <a:tailEnd type="none" w="med" len="med"/>
                    </a:lnB>
                    <a:solidFill>
                      <a:srgbClr val="FFFFFF"/>
                    </a:solidFill>
                  </a:tcPr>
                </a:tc>
                <a:extLst>
                  <a:ext uri="{0D108BD9-81ED-4DB2-BD59-A6C34878D82A}">
                    <a16:rowId xmlns:a16="http://schemas.microsoft.com/office/drawing/2014/main" xmlns="" val="10010"/>
                  </a:ext>
                </a:extLst>
              </a:tr>
            </a:tbl>
          </a:graphicData>
        </a:graphic>
      </p:graphicFrame>
    </p:spTree>
    <p:extLst>
      <p:ext uri="{BB962C8B-B14F-4D97-AF65-F5344CB8AC3E}">
        <p14:creationId xmlns:p14="http://schemas.microsoft.com/office/powerpoint/2010/main" val="407594110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2057"/>
            <a:ext cx="8229600" cy="707856"/>
          </a:xfrm>
        </p:spPr>
        <p:txBody>
          <a:bodyPr tIns="91425" anchor="b">
            <a:spAutoFit/>
          </a:bodyPr>
          <a:lstStyle/>
          <a:p>
            <a:pPr lvl="0" defTabSz="457200">
              <a:spcBef>
                <a:spcPct val="0"/>
              </a:spcBef>
              <a:buClrTx/>
            </a:pPr>
            <a:r>
              <a:rPr lang="en-US" kern="1200" dirty="0" smtClean="0">
                <a:latin typeface="Times New Roman" panose="02020603050405020304" pitchFamily="18" charset="0"/>
                <a:ea typeface="+mj-ea"/>
                <a:cs typeface="+mj-cs"/>
              </a:rPr>
              <a:t>Managing Demand </a:t>
            </a:r>
            <a:r>
              <a:rPr lang="en-US" sz="2000" b="0" kern="1200" dirty="0" smtClean="0">
                <a:latin typeface="Times New Roman" panose="02020603050405020304" pitchFamily="18" charset="0"/>
                <a:ea typeface="+mj-ea"/>
                <a:cs typeface="+mj-cs"/>
              </a:rPr>
              <a:t>(3 of 4)</a:t>
            </a:r>
            <a:endParaRPr lang="en-US" sz="2000" b="0" kern="1200" dirty="0">
              <a:latin typeface="Times New Roman" panose="02020603050405020304" pitchFamily="18" charset="0"/>
              <a:ea typeface="+mj-ea"/>
              <a:cs typeface="+mj-cs"/>
            </a:endParaRPr>
          </a:p>
        </p:txBody>
      </p:sp>
      <p:pic>
        <p:nvPicPr>
          <p:cNvPr id="5" name="Picture 4" descr="A spread sheet for aggregate plan decision variables. Columns for the spread sheet are as follows. Period. H sub t, number hired. L sub t, number laid off. W sub t, number in the workforce. O sub t, overtime. I sub t, inventory. S sub t, stockout. C sub t, subcontract. P sub t, production. Demand. Price. Cells B 4 through I 4, period 0, are highlighted. Values for each column are as follows. Period. A 4, 0. A 5, 1, A 6, 2. A 7, 3. A 8, 4. A 9, 5. A 10, 6. Values for the number hired, cells B 4 through B 10, are all 0.   Values for the number laid off, cells C 4 and cells C 6 through C 10, are 0. Cell C 5 is 16.  Values for the workforce are as follows. D 4, 80. D 5 through D 10, 64 each.  Values for overtime cells E 4 through E 10 are all 0.  Values for Inventory, are as follows. F 4, 1000. F 5, 1960. F 6, 1520. F 7, 880. F 8, 0. F 9, 140. F 10, 500. Values for stockout are as follows. G 4, 0. G 5, 0. G 6, 0. G 7, 0. G 8, 220. G 9, 0. G 10, 0.  Values for subcontract are as follows. H 4, 0. H 5, 0. H 6, 0. H 7, 0. H 8, 140. H 9, 0. H 10, 0.  Values for production are as follows.  I 4, blank. I 5 through I 10, 2560 each.  Demand values are as follows. J 4, blank. J 5, 1600. J 6, 3000.  J 7, 3200.  J 8, 3800. J9, 2200. J 10, 2200.  Price values are as follows. K 4, blank. K 5 through K 10, 40 each. Total cost, cell C 22 is $422,660. Total revenue, cell C 24, is $640,000. Profit, cell C 25, is $217,34. Promote?,  cell E 24, is 0. Month, cell E 25, is 1. Base price, cell H 23, is $40. Consumption, cell H 24, is 0.10. Forward buy, cell H 25, is 0.20."/>
          <p:cNvPicPr>
            <a:picLocks noChangeAspect="1"/>
          </p:cNvPicPr>
          <p:nvPr/>
        </p:nvPicPr>
        <p:blipFill>
          <a:blip r:embed="rId2"/>
          <a:stretch>
            <a:fillRect/>
          </a:stretch>
        </p:blipFill>
        <p:spPr>
          <a:xfrm>
            <a:off x="652074" y="2074918"/>
            <a:ext cx="7742250" cy="2616200"/>
          </a:xfrm>
          <a:prstGeom prst="rect">
            <a:avLst/>
          </a:prstGeom>
        </p:spPr>
      </p:pic>
      <p:sp>
        <p:nvSpPr>
          <p:cNvPr id="3" name="Text Placeholder 2"/>
          <p:cNvSpPr>
            <a:spLocks noGrp="1"/>
          </p:cNvSpPr>
          <p:nvPr>
            <p:ph type="body" idx="1"/>
          </p:nvPr>
        </p:nvSpPr>
        <p:spPr/>
        <p:txBody>
          <a:bodyPr/>
          <a:lstStyle/>
          <a:p>
            <a:pPr marL="0" indent="0">
              <a:buNone/>
            </a:pPr>
            <a:r>
              <a:rPr lang="en-US" sz="2000" b="1" dirty="0">
                <a:latin typeface="+mn-lt"/>
              </a:rPr>
              <a:t>Figure 9-1 </a:t>
            </a:r>
            <a:r>
              <a:rPr lang="en-US" sz="2000" dirty="0">
                <a:latin typeface="+mn-lt"/>
              </a:rPr>
              <a:t>Base Case Aggregate Plan for Red Tomato and Green Thumb</a:t>
            </a:r>
          </a:p>
        </p:txBody>
      </p:sp>
    </p:spTree>
    <p:extLst>
      <p:ext uri="{BB962C8B-B14F-4D97-AF65-F5344CB8AC3E}">
        <p14:creationId xmlns:p14="http://schemas.microsoft.com/office/powerpoint/2010/main" val="380429434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4794"/>
            <a:ext cx="8229600" cy="707856"/>
          </a:xfrm>
        </p:spPr>
        <p:txBody>
          <a:bodyPr tIns="91425">
            <a:spAutoFit/>
          </a:bodyPr>
          <a:lstStyle/>
          <a:p>
            <a:pPr lvl="0" defTabSz="457200">
              <a:spcBef>
                <a:spcPct val="0"/>
              </a:spcBef>
              <a:buClrTx/>
            </a:pPr>
            <a:r>
              <a:rPr lang="en-US" kern="1200" dirty="0" smtClean="0">
                <a:latin typeface="Times New Roman" panose="02020603050405020304" pitchFamily="18" charset="0"/>
                <a:ea typeface="+mj-ea"/>
                <a:cs typeface="+mj-cs"/>
              </a:rPr>
              <a:t>Managing Demand </a:t>
            </a:r>
            <a:r>
              <a:rPr lang="en-US" sz="2000" b="0" kern="1200" dirty="0" smtClean="0">
                <a:latin typeface="Times New Roman" panose="02020603050405020304" pitchFamily="18" charset="0"/>
                <a:ea typeface="+mj-ea"/>
                <a:cs typeface="+mj-cs"/>
              </a:rPr>
              <a:t>(4 of 4)</a:t>
            </a:r>
            <a:endParaRPr lang="en-US" sz="2000" b="0" kern="1200" dirty="0">
              <a:latin typeface="Times New Roman" panose="02020603050405020304" pitchFamily="18" charset="0"/>
              <a:ea typeface="+mj-ea"/>
              <a:cs typeface="+mj-cs"/>
            </a:endParaRPr>
          </a:p>
        </p:txBody>
      </p:sp>
      <p:sp>
        <p:nvSpPr>
          <p:cNvPr id="3" name="Text Placeholder 2"/>
          <p:cNvSpPr>
            <a:spLocks noGrp="1"/>
          </p:cNvSpPr>
          <p:nvPr>
            <p:ph type="body" idx="1"/>
          </p:nvPr>
        </p:nvSpPr>
        <p:spPr>
          <a:xfrm>
            <a:off x="457200" y="1600200"/>
            <a:ext cx="8229600" cy="1677352"/>
          </a:xfrm>
        </p:spPr>
        <p:txBody>
          <a:bodyPr wrap="square" lIns="91425" tIns="91425" rIns="91425" bIns="91425">
            <a:spAutoFit/>
          </a:bodyPr>
          <a:lstStyle/>
          <a:p>
            <a:pPr marL="0" lvl="0" indent="0" defTabSz="457200">
              <a:spcAft>
                <a:spcPct val="0"/>
              </a:spcAft>
              <a:buNone/>
              <a:tabLst/>
            </a:pPr>
            <a:r>
              <a:rPr lang="en-US" sz="2400" kern="1200" dirty="0">
                <a:solidFill>
                  <a:srgbClr val="000000"/>
                </a:solidFill>
                <a:latin typeface="Arial (Body)"/>
                <a:ea typeface="+mn-ea"/>
                <a:cs typeface="+mn-cs"/>
              </a:rPr>
              <a:t>Total cost over </a:t>
            </a:r>
            <a:r>
              <a:rPr lang="en-US" sz="2400" kern="1200" dirty="0" smtClean="0">
                <a:solidFill>
                  <a:srgbClr val="000000"/>
                </a:solidFill>
                <a:latin typeface="Arial (Body)"/>
                <a:ea typeface="+mn-ea"/>
                <a:cs typeface="+mn-cs"/>
              </a:rPr>
              <a:t>planning </a:t>
            </a:r>
            <a:r>
              <a:rPr lang="en-US" sz="2400" kern="1200" dirty="0">
                <a:solidFill>
                  <a:srgbClr val="000000"/>
                </a:solidFill>
                <a:latin typeface="Arial (Body)"/>
                <a:ea typeface="+mn-ea"/>
                <a:cs typeface="+mn-cs"/>
              </a:rPr>
              <a:t>horizon = $422,660</a:t>
            </a:r>
          </a:p>
          <a:p>
            <a:pPr marL="0" lvl="0" indent="0" defTabSz="457200">
              <a:spcAft>
                <a:spcPct val="0"/>
              </a:spcAft>
              <a:buNone/>
              <a:tabLst>
                <a:tab pos="993775" algn="l"/>
              </a:tabLst>
            </a:pPr>
            <a:r>
              <a:rPr lang="en-US" sz="2400" kern="1200" dirty="0">
                <a:solidFill>
                  <a:srgbClr val="000000"/>
                </a:solidFill>
                <a:latin typeface="Arial (Body)"/>
                <a:ea typeface="+mn-ea"/>
                <a:cs typeface="+mn-cs"/>
              </a:rPr>
              <a:t>Revenue over planning horizon = $640,000</a:t>
            </a:r>
          </a:p>
          <a:p>
            <a:pPr marL="0" lvl="0" indent="0" defTabSz="457200">
              <a:spcAft>
                <a:spcPct val="0"/>
              </a:spcAft>
              <a:buNone/>
              <a:tabLst/>
            </a:pPr>
            <a:r>
              <a:rPr lang="en-US" sz="2400" kern="1200" dirty="0">
                <a:solidFill>
                  <a:srgbClr val="000000"/>
                </a:solidFill>
                <a:latin typeface="Arial (Body)"/>
                <a:ea typeface="+mn-ea"/>
                <a:cs typeface="+mn-cs"/>
              </a:rPr>
              <a:t>Profit over planning horizon = $217,340</a:t>
            </a:r>
          </a:p>
        </p:txBody>
      </p:sp>
    </p:spTree>
    <p:extLst>
      <p:ext uri="{BB962C8B-B14F-4D97-AF65-F5344CB8AC3E}">
        <p14:creationId xmlns:p14="http://schemas.microsoft.com/office/powerpoint/2010/main" val="66175148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4794"/>
            <a:ext cx="8229600" cy="707856"/>
          </a:xfrm>
        </p:spPr>
        <p:txBody>
          <a:bodyPr tIns="91425">
            <a:spAutoFit/>
          </a:bodyPr>
          <a:lstStyle/>
          <a:p>
            <a:pPr lvl="0" defTabSz="457200">
              <a:spcBef>
                <a:spcPct val="0"/>
              </a:spcBef>
              <a:buClrTx/>
            </a:pPr>
            <a:r>
              <a:rPr lang="en-US" kern="1200" dirty="0" smtClean="0">
                <a:latin typeface="Times New Roman" panose="02020603050405020304" pitchFamily="18" charset="0"/>
                <a:ea typeface="+mj-ea"/>
                <a:cs typeface="+mj-cs"/>
              </a:rPr>
              <a:t>When to Promote</a:t>
            </a:r>
            <a:endParaRPr lang="en-US" kern="1200" dirty="0">
              <a:latin typeface="Times New Roman" panose="02020603050405020304" pitchFamily="18" charset="0"/>
              <a:ea typeface="+mj-ea"/>
              <a:cs typeface="+mj-cs"/>
            </a:endParaRPr>
          </a:p>
        </p:txBody>
      </p:sp>
      <p:sp>
        <p:nvSpPr>
          <p:cNvPr id="3" name="Text Placeholder 2"/>
          <p:cNvSpPr>
            <a:spLocks noGrp="1"/>
          </p:cNvSpPr>
          <p:nvPr>
            <p:ph type="body" idx="1"/>
          </p:nvPr>
        </p:nvSpPr>
        <p:spPr>
          <a:xfrm>
            <a:off x="457200" y="1600200"/>
            <a:ext cx="8229600" cy="1854323"/>
          </a:xfrm>
        </p:spPr>
        <p:txBody>
          <a:bodyPr wrap="square" lIns="91425" tIns="91425" rIns="91425" bIns="91425">
            <a:spAutoFit/>
          </a:bodyPr>
          <a:lstStyle/>
          <a:p>
            <a:pPr marL="255651" lvl="0" indent="-255651" defTabSz="457200">
              <a:spcAft>
                <a:spcPct val="0"/>
              </a:spcAft>
              <a:buFont typeface="Arial" panose="020B0604020202020204" pitchFamily="34" charset="0"/>
              <a:buChar char="•"/>
              <a:tabLst/>
            </a:pPr>
            <a:r>
              <a:rPr lang="en-US" sz="2400" kern="1200" dirty="0">
                <a:solidFill>
                  <a:srgbClr val="000000"/>
                </a:solidFill>
                <a:latin typeface="Arial (Body)"/>
                <a:ea typeface="+mn-ea"/>
                <a:cs typeface="+mn-cs"/>
              </a:rPr>
              <a:t>Is it more effective to promote during the peak period of off-peak?</a:t>
            </a:r>
          </a:p>
          <a:p>
            <a:pPr marL="255651" lvl="0" indent="-255651" defTabSz="457200">
              <a:spcAft>
                <a:spcPct val="0"/>
              </a:spcAft>
              <a:buFont typeface="Arial" panose="020B0604020202020204" pitchFamily="34" charset="0"/>
              <a:buChar char="•"/>
              <a:tabLst/>
            </a:pPr>
            <a:r>
              <a:rPr lang="en-US" sz="2400" kern="1200" dirty="0">
                <a:solidFill>
                  <a:srgbClr val="000000"/>
                </a:solidFill>
                <a:latin typeface="Arial (Body)"/>
                <a:ea typeface="+mn-ea"/>
                <a:cs typeface="+mn-cs"/>
              </a:rPr>
              <a:t>Analyze the impact of a promotion on demand and the resulting optimal aggregate </a:t>
            </a:r>
            <a:r>
              <a:rPr lang="en-US" sz="2400" kern="1200" dirty="0" smtClean="0">
                <a:solidFill>
                  <a:srgbClr val="000000"/>
                </a:solidFill>
                <a:latin typeface="Arial (Body)"/>
                <a:ea typeface="+mn-ea"/>
                <a:cs typeface="+mn-cs"/>
              </a:rPr>
              <a:t>plan</a:t>
            </a:r>
          </a:p>
        </p:txBody>
      </p:sp>
    </p:spTree>
    <p:extLst>
      <p:ext uri="{BB962C8B-B14F-4D97-AF65-F5344CB8AC3E}">
        <p14:creationId xmlns:p14="http://schemas.microsoft.com/office/powerpoint/2010/main" val="387604986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2057"/>
            <a:ext cx="8229600" cy="707856"/>
          </a:xfrm>
        </p:spPr>
        <p:txBody>
          <a:bodyPr tIns="91425" anchor="b">
            <a:spAutoFit/>
          </a:bodyPr>
          <a:lstStyle/>
          <a:p>
            <a:pPr lvl="0" defTabSz="457200">
              <a:spcBef>
                <a:spcPct val="0"/>
              </a:spcBef>
              <a:buClrTx/>
            </a:pPr>
            <a:r>
              <a:rPr lang="en-US" kern="1200" dirty="0" smtClean="0">
                <a:latin typeface="Times New Roman" panose="02020603050405020304" pitchFamily="18" charset="0"/>
                <a:ea typeface="+mj-ea"/>
                <a:cs typeface="+mj-cs"/>
              </a:rPr>
              <a:t>Promotion in January </a:t>
            </a:r>
            <a:r>
              <a:rPr lang="en-US" sz="2000" b="0" kern="1200" dirty="0" smtClean="0">
                <a:latin typeface="Times New Roman" panose="02020603050405020304" pitchFamily="18" charset="0"/>
                <a:ea typeface="+mj-ea"/>
                <a:cs typeface="+mj-cs"/>
              </a:rPr>
              <a:t>(1 of 2)</a:t>
            </a:r>
            <a:endParaRPr lang="en-US" sz="2000" b="0" kern="1200" dirty="0">
              <a:latin typeface="Times New Roman" panose="02020603050405020304" pitchFamily="18" charset="0"/>
              <a:ea typeface="+mj-ea"/>
              <a:cs typeface="+mj-cs"/>
            </a:endParaRPr>
          </a:p>
        </p:txBody>
      </p:sp>
      <p:pic>
        <p:nvPicPr>
          <p:cNvPr id="5" name="Picture 4" descr="A spread sheet for optimal aggregate plan when discounting price in January to $39. Columns for the spread sheet are as follows. Period. H sub t, number hired. L sub t, number laid off. W sub t, number in the workforce. O sub t, overtime. I sub t, inventory. S sub t, stockout. C sub t, subcontract. P sub t, production. Demand. Price. Cells B 4 through I 4, period 0, are highlighted. Values for each column. Period. A 4, 0. A 5, 1, A 6, 2. A 7, 3. A 8, 4. A 9, 5. A 10, 6. Number hired, cells B 4 through B 10, are all 0.  Number laid off. Cells C 4 and cells C 6 through C 10, are 0. Cell C 5 is 15. Workforce are as follows. D 4, 80. D 5 through D 10, 65 each.  Values for overtime cells E 4 through E 10 are all 0. Values for Inventory, are as follows. F 4, 1000. F 5, 600. F 6, 800. F 7, 840. F 8, 0. F 9, 100. F 10, 500.  Values for stockout are as follows. G 4, 0. G 5, 0. G 6, 0. G 7, 0. G 8, 300. G 9, 0. G 10, 0.  Values for subcontract are as follows. H 4, 0. H 5, 0. H 6, 0. H 7, 0. H 8, 60. H 9, 0. H 10, 0.  Values for production are as follows.  I 4, blank. I 5 through I 10, 2600 each.  Demand values are as follows. J 4, blank. J 5, 3000. J 6, 2400.  J 7, 2560.  J 8, 3800. J9, 2200. J 10, 2200.  Price values are as follows. K 4, blank. K 5, 39. K 6 through K 10, 40 each.  Total cost, cell C 22 is $422,080.  Total revenue, cell C 24, is $634,400. Profit, cell C 25, is $221,320. Promote?,  cell E 24, is 1. Month, cell E 25, is 1. Base price, cell H 23, is $40. Consumption, cell H 24, is 0.10. Forward buy, cell H 25, is 0.20"/>
          <p:cNvPicPr>
            <a:picLocks noChangeAspect="1"/>
          </p:cNvPicPr>
          <p:nvPr/>
        </p:nvPicPr>
        <p:blipFill>
          <a:blip r:embed="rId2"/>
          <a:stretch>
            <a:fillRect/>
          </a:stretch>
        </p:blipFill>
        <p:spPr>
          <a:xfrm>
            <a:off x="457200" y="2206946"/>
            <a:ext cx="8033500" cy="2802897"/>
          </a:xfrm>
          <a:prstGeom prst="rect">
            <a:avLst/>
          </a:prstGeom>
        </p:spPr>
      </p:pic>
      <p:sp>
        <p:nvSpPr>
          <p:cNvPr id="3" name="Text Placeholder 2"/>
          <p:cNvSpPr>
            <a:spLocks noGrp="1"/>
          </p:cNvSpPr>
          <p:nvPr>
            <p:ph type="body" idx="1"/>
          </p:nvPr>
        </p:nvSpPr>
        <p:spPr/>
        <p:txBody>
          <a:bodyPr/>
          <a:lstStyle/>
          <a:p>
            <a:pPr marL="0" indent="0">
              <a:buNone/>
            </a:pPr>
            <a:r>
              <a:rPr lang="en-US" sz="2000" b="1" dirty="0">
                <a:latin typeface="+mn-lt"/>
              </a:rPr>
              <a:t>Figure 9-2 </a:t>
            </a:r>
            <a:r>
              <a:rPr lang="en-US" sz="2000" dirty="0">
                <a:latin typeface="+mn-lt"/>
              </a:rPr>
              <a:t>Optimal Aggregate Plan When Discounting Price in January to $39</a:t>
            </a:r>
          </a:p>
        </p:txBody>
      </p:sp>
    </p:spTree>
    <p:extLst>
      <p:ext uri="{BB962C8B-B14F-4D97-AF65-F5344CB8AC3E}">
        <p14:creationId xmlns:p14="http://schemas.microsoft.com/office/powerpoint/2010/main" val="119796322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4794"/>
            <a:ext cx="8229600" cy="707856"/>
          </a:xfrm>
        </p:spPr>
        <p:txBody>
          <a:bodyPr tIns="91425">
            <a:spAutoFit/>
          </a:bodyPr>
          <a:lstStyle/>
          <a:p>
            <a:pPr lvl="0" defTabSz="457200">
              <a:spcBef>
                <a:spcPct val="0"/>
              </a:spcBef>
              <a:buClrTx/>
            </a:pPr>
            <a:r>
              <a:rPr lang="en-US" kern="1200" dirty="0" smtClean="0">
                <a:latin typeface="Times New Roman" panose="02020603050405020304" pitchFamily="18" charset="0"/>
                <a:ea typeface="+mj-ea"/>
                <a:cs typeface="+mj-cs"/>
              </a:rPr>
              <a:t>Promotion in January </a:t>
            </a:r>
            <a:r>
              <a:rPr lang="en-US" sz="2000" b="0" kern="1200" dirty="0" smtClean="0">
                <a:latin typeface="Times New Roman" panose="02020603050405020304" pitchFamily="18" charset="0"/>
                <a:ea typeface="+mj-ea"/>
                <a:cs typeface="+mj-cs"/>
              </a:rPr>
              <a:t>(2 of 2)</a:t>
            </a:r>
            <a:endParaRPr lang="en-US" sz="2000" b="0" kern="1200" dirty="0">
              <a:latin typeface="Times New Roman" panose="02020603050405020304" pitchFamily="18" charset="0"/>
              <a:ea typeface="+mj-ea"/>
              <a:cs typeface="+mj-cs"/>
            </a:endParaRPr>
          </a:p>
        </p:txBody>
      </p:sp>
      <p:sp>
        <p:nvSpPr>
          <p:cNvPr id="3" name="Text Placeholder 2"/>
          <p:cNvSpPr>
            <a:spLocks noGrp="1"/>
          </p:cNvSpPr>
          <p:nvPr>
            <p:ph type="body" idx="1"/>
          </p:nvPr>
        </p:nvSpPr>
        <p:spPr>
          <a:xfrm>
            <a:off x="457200" y="1600200"/>
            <a:ext cx="8229600" cy="1677352"/>
          </a:xfrm>
        </p:spPr>
        <p:txBody>
          <a:bodyPr wrap="square" lIns="91425" tIns="91425" rIns="91425" bIns="91425">
            <a:spAutoFit/>
          </a:bodyPr>
          <a:lstStyle/>
          <a:p>
            <a:pPr marL="0" lvl="0" indent="0" defTabSz="457200">
              <a:spcAft>
                <a:spcPct val="0"/>
              </a:spcAft>
              <a:buNone/>
            </a:pPr>
            <a:r>
              <a:rPr lang="en-US" sz="2400" kern="1200" dirty="0">
                <a:solidFill>
                  <a:srgbClr val="000000"/>
                </a:solidFill>
                <a:latin typeface="Arial (Body)"/>
                <a:ea typeface="+mn-ea"/>
                <a:cs typeface="+mn-cs"/>
              </a:rPr>
              <a:t>Total cost over planning horizon = </a:t>
            </a:r>
            <a:r>
              <a:rPr lang="en-US" sz="2400" kern="1200" dirty="0" smtClean="0">
                <a:solidFill>
                  <a:srgbClr val="000000"/>
                </a:solidFill>
                <a:latin typeface="Arial (Body)"/>
                <a:ea typeface="+mn-ea"/>
                <a:cs typeface="+mn-cs"/>
              </a:rPr>
              <a:t>$422,080</a:t>
            </a:r>
            <a:endParaRPr lang="en-US" sz="2400" kern="1200" dirty="0">
              <a:solidFill>
                <a:srgbClr val="000000"/>
              </a:solidFill>
              <a:latin typeface="Arial (Body)"/>
              <a:ea typeface="+mn-ea"/>
              <a:cs typeface="+mn-cs"/>
            </a:endParaRPr>
          </a:p>
          <a:p>
            <a:pPr marL="174625" lvl="0" indent="-87313" defTabSz="457200">
              <a:spcAft>
                <a:spcPct val="0"/>
              </a:spcAft>
              <a:buNone/>
            </a:pPr>
            <a:r>
              <a:rPr lang="en-US" sz="2400" kern="1200" dirty="0">
                <a:solidFill>
                  <a:srgbClr val="000000"/>
                </a:solidFill>
                <a:latin typeface="Arial (Body)"/>
                <a:ea typeface="+mn-ea"/>
                <a:cs typeface="+mn-cs"/>
              </a:rPr>
              <a:t>Revenue over planning horizon = </a:t>
            </a:r>
            <a:r>
              <a:rPr lang="en-US" sz="2400" kern="1200" dirty="0" smtClean="0">
                <a:solidFill>
                  <a:srgbClr val="000000"/>
                </a:solidFill>
                <a:latin typeface="Arial (Body)"/>
                <a:ea typeface="+mn-ea"/>
                <a:cs typeface="+mn-cs"/>
              </a:rPr>
              <a:t>$643,400</a:t>
            </a:r>
            <a:endParaRPr lang="en-US" sz="2400" kern="1200" dirty="0">
              <a:solidFill>
                <a:srgbClr val="000000"/>
              </a:solidFill>
              <a:latin typeface="Arial (Body)"/>
              <a:ea typeface="+mn-ea"/>
              <a:cs typeface="+mn-cs"/>
            </a:endParaRPr>
          </a:p>
          <a:p>
            <a:pPr marL="623888" lvl="0" indent="0" defTabSz="457200">
              <a:spcAft>
                <a:spcPct val="0"/>
              </a:spcAft>
              <a:buNone/>
            </a:pPr>
            <a:r>
              <a:rPr lang="en-US" sz="2400" kern="1200" dirty="0">
                <a:solidFill>
                  <a:srgbClr val="000000"/>
                </a:solidFill>
                <a:latin typeface="Arial (Body)"/>
                <a:ea typeface="+mn-ea"/>
                <a:cs typeface="+mn-cs"/>
              </a:rPr>
              <a:t>Profit over planning horizon = $221,320</a:t>
            </a:r>
          </a:p>
        </p:txBody>
      </p:sp>
      <p:sp>
        <p:nvSpPr>
          <p:cNvPr id="4" name="Text Placeholder 3"/>
          <p:cNvSpPr>
            <a:spLocks noGrp="1"/>
          </p:cNvSpPr>
          <p:nvPr>
            <p:ph type="body" idx="2"/>
          </p:nvPr>
        </p:nvSpPr>
        <p:spPr>
          <a:xfrm>
            <a:off x="457200" y="3410858"/>
            <a:ext cx="8229600" cy="1677352"/>
          </a:xfrm>
        </p:spPr>
        <p:txBody>
          <a:bodyPr wrap="square" lIns="91425" tIns="91425" rIns="91425" bIns="91425">
            <a:spAutoFit/>
          </a:bodyPr>
          <a:lstStyle/>
          <a:p>
            <a:pPr marL="255651" lvl="0" indent="-255651" defTabSz="457200">
              <a:spcAft>
                <a:spcPct val="0"/>
              </a:spcAft>
              <a:buFont typeface="Arial" panose="020B0604020202020204" pitchFamily="34" charset="0"/>
            </a:pPr>
            <a:r>
              <a:rPr lang="en-US" sz="2400" kern="1200" dirty="0">
                <a:solidFill>
                  <a:srgbClr val="000000"/>
                </a:solidFill>
                <a:latin typeface="Arial (Body)"/>
                <a:ea typeface="+mn-ea"/>
                <a:cs typeface="+mn-cs"/>
              </a:rPr>
              <a:t>Lower seasonal inventory</a:t>
            </a:r>
          </a:p>
          <a:p>
            <a:pPr marL="255651" lvl="0" indent="-255651" defTabSz="457200">
              <a:spcAft>
                <a:spcPct val="0"/>
              </a:spcAft>
              <a:buFont typeface="Arial" panose="020B0604020202020204" pitchFamily="34" charset="0"/>
            </a:pPr>
            <a:r>
              <a:rPr lang="en-US" sz="2400" kern="1200" dirty="0">
                <a:solidFill>
                  <a:srgbClr val="000000"/>
                </a:solidFill>
                <a:latin typeface="Arial (Body)"/>
                <a:ea typeface="+mn-ea"/>
                <a:cs typeface="+mn-cs"/>
              </a:rPr>
              <a:t>A somewhat lower total cost</a:t>
            </a:r>
          </a:p>
          <a:p>
            <a:pPr marL="255651" lvl="0" indent="-255651" defTabSz="457200">
              <a:spcAft>
                <a:spcPct val="0"/>
              </a:spcAft>
              <a:buFont typeface="Arial" panose="020B0604020202020204" pitchFamily="34" charset="0"/>
            </a:pPr>
            <a:r>
              <a:rPr lang="en-US" sz="2400" kern="1200" dirty="0">
                <a:solidFill>
                  <a:srgbClr val="000000"/>
                </a:solidFill>
                <a:latin typeface="Arial (Body)"/>
                <a:ea typeface="+mn-ea"/>
                <a:cs typeface="+mn-cs"/>
              </a:rPr>
              <a:t>A higher total </a:t>
            </a:r>
            <a:r>
              <a:rPr lang="en-US" sz="2400" kern="1200" dirty="0" smtClean="0">
                <a:solidFill>
                  <a:srgbClr val="000000"/>
                </a:solidFill>
                <a:latin typeface="Arial (Body)"/>
                <a:ea typeface="+mn-ea"/>
                <a:cs typeface="+mn-cs"/>
              </a:rPr>
              <a:t>profit</a:t>
            </a:r>
          </a:p>
        </p:txBody>
      </p:sp>
    </p:spTree>
    <p:extLst>
      <p:ext uri="{BB962C8B-B14F-4D97-AF65-F5344CB8AC3E}">
        <p14:creationId xmlns:p14="http://schemas.microsoft.com/office/powerpoint/2010/main" val="209752656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2057"/>
            <a:ext cx="8229600" cy="707856"/>
          </a:xfrm>
        </p:spPr>
        <p:txBody>
          <a:bodyPr tIns="91425" anchor="b">
            <a:spAutoFit/>
          </a:bodyPr>
          <a:lstStyle/>
          <a:p>
            <a:pPr lvl="0" defTabSz="457200">
              <a:spcBef>
                <a:spcPct val="0"/>
              </a:spcBef>
              <a:buClrTx/>
            </a:pPr>
            <a:r>
              <a:rPr lang="en-US" kern="1200" dirty="0" smtClean="0">
                <a:latin typeface="Times New Roman" panose="02020603050405020304" pitchFamily="18" charset="0"/>
                <a:ea typeface="+mj-ea"/>
                <a:cs typeface="+mj-cs"/>
              </a:rPr>
              <a:t>Promotion in April </a:t>
            </a:r>
            <a:r>
              <a:rPr lang="en-US" sz="2000" b="0" kern="1200" dirty="0" smtClean="0">
                <a:latin typeface="Times New Roman" panose="02020603050405020304" pitchFamily="18" charset="0"/>
                <a:ea typeface="+mj-ea"/>
                <a:cs typeface="+mj-cs"/>
              </a:rPr>
              <a:t>(1 of 2)</a:t>
            </a:r>
            <a:endParaRPr lang="en-US" sz="2000" b="0" kern="1200" dirty="0">
              <a:latin typeface="Times New Roman" panose="02020603050405020304" pitchFamily="18" charset="0"/>
              <a:ea typeface="+mj-ea"/>
              <a:cs typeface="+mj-cs"/>
            </a:endParaRPr>
          </a:p>
        </p:txBody>
      </p:sp>
      <p:pic>
        <p:nvPicPr>
          <p:cNvPr id="5" name="Picture 4" descr="A spread sheet for aggregate plan when discounting the price in April to $39. Columns for the spread sheet are as follows. Period. H sub t, number hired. L sub t, number laid off. W sub t, number in the workforce. O sub t, overtime. I sub t, inventory. S sub t, stockout. C sub t, subcontract. P sub t, production. Demand. Price. Cells B 4 through I 4, period 0, are highlighted. Values for each column are as follows. Period. A 4, 0. A 5, 1, A 6, 2. A 7, 3. A 8, 4. A 9, 5. A 10, 6. Values for the number hired, cells B 4 through B 10, are all 0.   Values for the number laid off, cells C 4 and cells C 6 through C 10, are 0. Cell C 5 is 14.  Values for the workforce are as follows. D 4, 80. D 5 through D 10, 66 each.  Values for overtime cells E 4 through E 10 are all 0.  Values for Inventory, are as follows. F 4, 1000. F 5, 2040. F 6, 1680. F 7, 1120. F 8, 0. F 9, 0. F 10, 500. Values for stockout are as follows. G 4, 0. G 5, 0. G 6, 0. G 7, 1260. G 8, 380. G 9, 0. G 10, 0.  Values for subcontract are as follows. H 4, 0. H 5, 0. H 6, 0. H 7, 0. H 8, 40. H 9, 0. H 10, 0.  Values for production are as follows.  I 4, blank. I 5 through I 10, 2640 each.  Demand values are as follows. J 4, blank. J 5, 1600. J 6, 3000.  J 7, 3200.  J 8, 5060. J9, 1760. J 10, 1760.  Price values are as follows. K 4, blank. K 5 through K 7, 39. K 9 through K 10, 40 each. Total cost, cell C 22 is $438,920.  Total revenue, cell C 24, is $650,140.  Profit, cell C 25, is $211,220. Promote?,  cell E 24, is 1. Month, cell E 25, is 4. Base price, cell H 23, is $40. Consumption, cell H 24, is 0.10. Forward buy, cell H 25, is 0.20."/>
          <p:cNvPicPr>
            <a:picLocks noChangeAspect="1"/>
          </p:cNvPicPr>
          <p:nvPr/>
        </p:nvPicPr>
        <p:blipFill>
          <a:blip r:embed="rId2"/>
          <a:stretch>
            <a:fillRect/>
          </a:stretch>
        </p:blipFill>
        <p:spPr>
          <a:xfrm>
            <a:off x="520172" y="1970145"/>
            <a:ext cx="8166628" cy="2811462"/>
          </a:xfrm>
          <a:prstGeom prst="rect">
            <a:avLst/>
          </a:prstGeom>
        </p:spPr>
      </p:pic>
      <p:sp>
        <p:nvSpPr>
          <p:cNvPr id="3" name="Text Placeholder 2"/>
          <p:cNvSpPr>
            <a:spLocks noGrp="1"/>
          </p:cNvSpPr>
          <p:nvPr>
            <p:ph type="body" idx="1"/>
          </p:nvPr>
        </p:nvSpPr>
        <p:spPr/>
        <p:txBody>
          <a:bodyPr/>
          <a:lstStyle/>
          <a:p>
            <a:pPr marL="0" indent="0">
              <a:buNone/>
            </a:pPr>
            <a:r>
              <a:rPr lang="en-US" sz="2000" b="1" dirty="0">
                <a:latin typeface="+mn-lt"/>
              </a:rPr>
              <a:t>Figure 9-3 </a:t>
            </a:r>
            <a:r>
              <a:rPr lang="en-US" sz="2000" dirty="0">
                <a:latin typeface="+mn-lt"/>
              </a:rPr>
              <a:t>Optimal Aggregate Plan When Discounting Price in April to $39</a:t>
            </a:r>
          </a:p>
        </p:txBody>
      </p:sp>
    </p:spTree>
    <p:extLst>
      <p:ext uri="{BB962C8B-B14F-4D97-AF65-F5344CB8AC3E}">
        <p14:creationId xmlns:p14="http://schemas.microsoft.com/office/powerpoint/2010/main" val="171537485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4794"/>
            <a:ext cx="8229600" cy="707856"/>
          </a:xfrm>
        </p:spPr>
        <p:txBody>
          <a:bodyPr tIns="91425">
            <a:spAutoFit/>
          </a:bodyPr>
          <a:lstStyle/>
          <a:p>
            <a:pPr lvl="0" defTabSz="457200">
              <a:spcBef>
                <a:spcPct val="0"/>
              </a:spcBef>
              <a:buClrTx/>
            </a:pPr>
            <a:r>
              <a:rPr lang="en-US" kern="1200" dirty="0" smtClean="0">
                <a:latin typeface="Times New Roman" panose="02020603050405020304" pitchFamily="18" charset="0"/>
                <a:ea typeface="+mj-ea"/>
                <a:cs typeface="+mj-cs"/>
              </a:rPr>
              <a:t>Promotion in April </a:t>
            </a:r>
            <a:r>
              <a:rPr lang="en-US" sz="2000" b="0" kern="1200" dirty="0" smtClean="0">
                <a:latin typeface="Times New Roman" panose="02020603050405020304" pitchFamily="18" charset="0"/>
                <a:ea typeface="+mj-ea"/>
                <a:cs typeface="+mj-cs"/>
              </a:rPr>
              <a:t>(2 of 2)</a:t>
            </a:r>
            <a:endParaRPr lang="en-US" sz="2000" b="0" kern="1200" dirty="0">
              <a:latin typeface="Times New Roman" panose="02020603050405020304" pitchFamily="18" charset="0"/>
              <a:ea typeface="+mj-ea"/>
              <a:cs typeface="+mj-cs"/>
            </a:endParaRPr>
          </a:p>
        </p:txBody>
      </p:sp>
      <p:sp>
        <p:nvSpPr>
          <p:cNvPr id="4" name="Text Placeholder 3"/>
          <p:cNvSpPr>
            <a:spLocks noGrp="1"/>
          </p:cNvSpPr>
          <p:nvPr>
            <p:ph type="body" idx="1"/>
          </p:nvPr>
        </p:nvSpPr>
        <p:spPr>
          <a:xfrm>
            <a:off x="457200" y="1600200"/>
            <a:ext cx="8229600" cy="1677352"/>
          </a:xfrm>
        </p:spPr>
        <p:txBody>
          <a:bodyPr wrap="square" lIns="91425" tIns="91425" rIns="91425" bIns="91425">
            <a:spAutoFit/>
          </a:bodyPr>
          <a:lstStyle/>
          <a:p>
            <a:pPr marL="0" indent="0">
              <a:buNone/>
            </a:pPr>
            <a:r>
              <a:rPr lang="en-US" sz="2400" dirty="0"/>
              <a:t>Total cost over planning horizon = $438,920</a:t>
            </a:r>
          </a:p>
          <a:p>
            <a:pPr marL="87313" indent="0">
              <a:buNone/>
            </a:pPr>
            <a:r>
              <a:rPr lang="en-US" sz="2400" dirty="0"/>
              <a:t>Revenue over planning horizon = $650,140</a:t>
            </a:r>
          </a:p>
          <a:p>
            <a:pPr marL="623888" indent="0">
              <a:buNone/>
            </a:pPr>
            <a:r>
              <a:rPr lang="en-US" sz="2400" dirty="0"/>
              <a:t>Profit over planning horizon = $211,220</a:t>
            </a:r>
          </a:p>
        </p:txBody>
      </p:sp>
      <p:sp>
        <p:nvSpPr>
          <p:cNvPr id="3" name="Text Placeholder 2"/>
          <p:cNvSpPr>
            <a:spLocks noGrp="1"/>
          </p:cNvSpPr>
          <p:nvPr>
            <p:ph type="body" idx="2"/>
          </p:nvPr>
        </p:nvSpPr>
        <p:spPr>
          <a:xfrm>
            <a:off x="457200" y="3367318"/>
            <a:ext cx="8229600" cy="1669143"/>
          </a:xfrm>
        </p:spPr>
        <p:txBody>
          <a:bodyPr/>
          <a:lstStyle/>
          <a:p>
            <a:pPr marL="255651" lvl="0" indent="-255651" defTabSz="457200">
              <a:spcAft>
                <a:spcPct val="0"/>
              </a:spcAft>
              <a:buFont typeface="Arial" panose="020B0604020202020204" pitchFamily="34" charset="0"/>
            </a:pPr>
            <a:r>
              <a:rPr lang="en-US" sz="2400" kern="1200" dirty="0">
                <a:solidFill>
                  <a:srgbClr val="000000"/>
                </a:solidFill>
                <a:latin typeface="Arial (Body)"/>
              </a:rPr>
              <a:t>Higher seasonal inventory</a:t>
            </a:r>
          </a:p>
          <a:p>
            <a:pPr marL="255651" lvl="0" indent="-255651" defTabSz="457200">
              <a:spcAft>
                <a:spcPct val="0"/>
              </a:spcAft>
              <a:buFont typeface="Arial" panose="020B0604020202020204" pitchFamily="34" charset="0"/>
            </a:pPr>
            <a:r>
              <a:rPr lang="en-US" sz="2400" kern="1200" dirty="0">
                <a:solidFill>
                  <a:srgbClr val="000000"/>
                </a:solidFill>
                <a:latin typeface="Arial (Body)"/>
              </a:rPr>
              <a:t>A somewhat higher total cost</a:t>
            </a:r>
          </a:p>
          <a:p>
            <a:pPr marL="255651" lvl="0" indent="-255651" defTabSz="457200">
              <a:spcAft>
                <a:spcPct val="0"/>
              </a:spcAft>
              <a:buFont typeface="Arial" panose="020B0604020202020204" pitchFamily="34" charset="0"/>
            </a:pPr>
            <a:r>
              <a:rPr lang="en-US" sz="2400" kern="1200" dirty="0">
                <a:solidFill>
                  <a:srgbClr val="000000"/>
                </a:solidFill>
                <a:latin typeface="Arial (Body)"/>
              </a:rPr>
              <a:t>A slightly smaller total profit</a:t>
            </a:r>
          </a:p>
        </p:txBody>
      </p:sp>
    </p:spTree>
    <p:extLst>
      <p:ext uri="{BB962C8B-B14F-4D97-AF65-F5344CB8AC3E}">
        <p14:creationId xmlns:p14="http://schemas.microsoft.com/office/powerpoint/2010/main" val="353173326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81574"/>
            <a:ext cx="8229600" cy="1231076"/>
          </a:xfrm>
        </p:spPr>
        <p:txBody>
          <a:bodyPr tIns="91425">
            <a:spAutoFit/>
          </a:bodyPr>
          <a:lstStyle/>
          <a:p>
            <a:pPr lvl="0" defTabSz="457200">
              <a:spcBef>
                <a:spcPct val="0"/>
              </a:spcBef>
              <a:buClrTx/>
            </a:pPr>
            <a:r>
              <a:rPr lang="en-US" kern="1200" dirty="0" smtClean="0">
                <a:latin typeface="Times New Roman" panose="02020603050405020304" pitchFamily="18" charset="0"/>
                <a:ea typeface="+mj-ea"/>
                <a:cs typeface="+mj-cs"/>
              </a:rPr>
              <a:t>Discount Leads to Large Increase in Consumption </a:t>
            </a:r>
            <a:r>
              <a:rPr lang="en-US" sz="2000" b="0" kern="1200" dirty="0" smtClean="0">
                <a:latin typeface="Times New Roman" panose="02020603050405020304" pitchFamily="18" charset="0"/>
                <a:ea typeface="+mj-ea"/>
                <a:cs typeface="+mj-cs"/>
              </a:rPr>
              <a:t>(1 of 4)</a:t>
            </a:r>
            <a:endParaRPr lang="en-US" sz="2000" b="0" kern="1200" dirty="0">
              <a:latin typeface="Times New Roman" panose="02020603050405020304" pitchFamily="18" charset="0"/>
              <a:ea typeface="+mj-ea"/>
              <a:cs typeface="+mj-cs"/>
            </a:endParaRPr>
          </a:p>
        </p:txBody>
      </p:sp>
      <p:sp>
        <p:nvSpPr>
          <p:cNvPr id="3" name="Content Placeholder 2"/>
          <p:cNvSpPr>
            <a:spLocks noGrp="1"/>
          </p:cNvSpPr>
          <p:nvPr>
            <p:ph type="body" idx="1"/>
          </p:nvPr>
        </p:nvSpPr>
        <p:spPr>
          <a:xfrm>
            <a:off x="457200" y="1600200"/>
            <a:ext cx="8229600" cy="553968"/>
          </a:xfrm>
        </p:spPr>
        <p:txBody>
          <a:bodyPr wrap="square" lIns="91425" tIns="91425" rIns="91425" bIns="91425">
            <a:spAutoFit/>
          </a:bodyPr>
          <a:lstStyle/>
          <a:p>
            <a:pPr marL="255651" lvl="0" indent="-255651" defTabSz="457200">
              <a:spcAft>
                <a:spcPct val="0"/>
              </a:spcAft>
              <a:buFont typeface="Arial" panose="020B0604020202020204" pitchFamily="34" charset="0"/>
            </a:pPr>
            <a:r>
              <a:rPr lang="en-US" sz="2400" kern="1200" dirty="0">
                <a:solidFill>
                  <a:srgbClr val="000000"/>
                </a:solidFill>
                <a:latin typeface="Arial (Body)"/>
                <a:ea typeface="+mn-ea"/>
                <a:cs typeface="+mn-cs"/>
              </a:rPr>
              <a:t>Promotion in </a:t>
            </a:r>
            <a:r>
              <a:rPr lang="en-US" sz="2400" kern="1200" dirty="0" smtClean="0">
                <a:solidFill>
                  <a:srgbClr val="000000"/>
                </a:solidFill>
                <a:latin typeface="Arial (Body)"/>
                <a:ea typeface="+mn-ea"/>
                <a:cs typeface="+mn-cs"/>
              </a:rPr>
              <a:t>January</a:t>
            </a:r>
          </a:p>
        </p:txBody>
      </p:sp>
      <p:pic>
        <p:nvPicPr>
          <p:cNvPr id="6" name="Picture 5" descr="A spread sheet for optimal aggregate plan when discounting price in January to $39 with large increase in demand. Columns for the spread sheet are as follows. Period. H sub t, number hired. L sub t, number laid off. W sub t, number in the workforce. O sub t, overtime. I sub t, inventory. S sub t, stockout. C sub t, subcontract. P sub t, production. Demand. Price. Cells B 4 through I 4, period 0, are highlighted. Values for each column are as follows. Period. A 4, 0. A 5, 1, A 6, 2. A 7, 3. A 8, 4. A 9, 5. A 10, 6. Values for the number hired, cells B 4 through B 10, are all 0. Values for the number laid off, cells C 4 and C 5, and cells C 7 through C 10, are 0. Cell C 6 is 11.  Values for the workforce are as follows. D 4, 80. D 5, 80. D 6 through D 10, 69 each. Values for overtime cells E 4 through E 10 are all 0.b Values for Inventory, are as follows. F 4, 1000. F 5, 0. F 6, 220. F 7, 420. F 8, 0. F 9, 0. F 10, 500. b values for stockout are as follows. G 4, 0. G 5, 140. G 6, 0. G 7, 0. G 8, 620. G 9, 60. G 10, 0. Values for subcontract are as follows. H 4, 0. H 5, 100. H 6, 0. H 7, 0. H 8, 0. H 9, 0. H 10, 0. Values for production are as follows.  I 4, blank. I 5, 3200. I 6 through I 10, 2760 each. • Demand values are as follows. J 4, blank. J 5, 4440. J 6, 2400.  J 7, 2560.  J 8, 3800. J9, 2200. J 10, 2200.  Price values are as follows. K 4, blank. K 5, 39. K 6 through K 10, 40 each. Total cost, cell C 22 is $456,880. Total revenue, cell C 24, is $699,560,  Profit, cell C 25, is $242,680.  Promote?,  cell E 24, is 1. Month, cell E 25, is 1. Base price, cell H 23, is $40. Consumption, cell H 24, is 1.00. Forward buy, cell H 25, is 0.20"/>
          <p:cNvPicPr>
            <a:picLocks noChangeAspect="1"/>
          </p:cNvPicPr>
          <p:nvPr/>
        </p:nvPicPr>
        <p:blipFill>
          <a:blip r:embed="rId2"/>
          <a:stretch>
            <a:fillRect/>
          </a:stretch>
        </p:blipFill>
        <p:spPr>
          <a:xfrm>
            <a:off x="604400" y="2422185"/>
            <a:ext cx="7935200" cy="2768600"/>
          </a:xfrm>
          <a:prstGeom prst="rect">
            <a:avLst/>
          </a:prstGeom>
        </p:spPr>
      </p:pic>
      <p:sp>
        <p:nvSpPr>
          <p:cNvPr id="4" name="Text Placeholder 3"/>
          <p:cNvSpPr>
            <a:spLocks noGrp="1"/>
          </p:cNvSpPr>
          <p:nvPr>
            <p:ph type="body" idx="2"/>
          </p:nvPr>
        </p:nvSpPr>
        <p:spPr>
          <a:xfrm>
            <a:off x="457200" y="5476736"/>
            <a:ext cx="8229600" cy="764407"/>
          </a:xfrm>
        </p:spPr>
        <p:txBody>
          <a:bodyPr/>
          <a:lstStyle/>
          <a:p>
            <a:pPr marL="0" indent="0">
              <a:buNone/>
            </a:pPr>
            <a:r>
              <a:rPr lang="en-US" sz="2000" b="1" dirty="0">
                <a:latin typeface="+mn-lt"/>
              </a:rPr>
              <a:t>Figure 9-4 </a:t>
            </a:r>
            <a:r>
              <a:rPr lang="en-US" sz="2000" dirty="0">
                <a:latin typeface="+mn-lt"/>
              </a:rPr>
              <a:t>Optimal Aggregate Plan When Discounting Price in January to $39 with Large Increase in Demand</a:t>
            </a:r>
          </a:p>
        </p:txBody>
      </p:sp>
    </p:spTree>
    <p:extLst>
      <p:ext uri="{BB962C8B-B14F-4D97-AF65-F5344CB8AC3E}">
        <p14:creationId xmlns:p14="http://schemas.microsoft.com/office/powerpoint/2010/main" val="301084690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81574"/>
            <a:ext cx="8229600" cy="1231076"/>
          </a:xfrm>
        </p:spPr>
        <p:txBody>
          <a:bodyPr tIns="91425">
            <a:spAutoFit/>
          </a:bodyPr>
          <a:lstStyle/>
          <a:p>
            <a:pPr lvl="0" defTabSz="457200">
              <a:spcBef>
                <a:spcPct val="0"/>
              </a:spcBef>
              <a:buClrTx/>
            </a:pPr>
            <a:r>
              <a:rPr lang="en-US" kern="1200" dirty="0" smtClean="0">
                <a:latin typeface="Times New Roman" panose="02020603050405020304" pitchFamily="18" charset="0"/>
                <a:ea typeface="+mj-ea"/>
                <a:cs typeface="+mj-cs"/>
              </a:rPr>
              <a:t>Discount Leads to Large Increase in Consumption </a:t>
            </a:r>
            <a:r>
              <a:rPr lang="en-US" sz="2000" b="0" kern="1200" dirty="0" smtClean="0">
                <a:latin typeface="Times New Roman" panose="02020603050405020304" pitchFamily="18" charset="0"/>
                <a:ea typeface="+mj-ea"/>
                <a:cs typeface="+mj-cs"/>
              </a:rPr>
              <a:t>(2 of 4)</a:t>
            </a:r>
            <a:endParaRPr lang="en-US" sz="2000" b="0" kern="1200" dirty="0">
              <a:latin typeface="Times New Roman" panose="02020603050405020304" pitchFamily="18" charset="0"/>
              <a:ea typeface="+mj-ea"/>
              <a:cs typeface="+mj-cs"/>
            </a:endParaRPr>
          </a:p>
        </p:txBody>
      </p:sp>
      <p:sp>
        <p:nvSpPr>
          <p:cNvPr id="3" name="Text Placeholder 2"/>
          <p:cNvSpPr>
            <a:spLocks noGrp="1"/>
          </p:cNvSpPr>
          <p:nvPr>
            <p:ph type="body" idx="1"/>
          </p:nvPr>
        </p:nvSpPr>
        <p:spPr>
          <a:xfrm>
            <a:off x="457200" y="1600200"/>
            <a:ext cx="8229600" cy="1677352"/>
          </a:xfrm>
        </p:spPr>
        <p:txBody>
          <a:bodyPr wrap="square" lIns="91425" tIns="91425" rIns="91425" bIns="91425">
            <a:spAutoFit/>
          </a:bodyPr>
          <a:lstStyle/>
          <a:p>
            <a:pPr marL="0" lvl="0" indent="0" defTabSz="457200">
              <a:spcAft>
                <a:spcPct val="0"/>
              </a:spcAft>
              <a:buNone/>
            </a:pPr>
            <a:r>
              <a:rPr lang="en-US" sz="2400" kern="1200" dirty="0">
                <a:solidFill>
                  <a:srgbClr val="000000"/>
                </a:solidFill>
                <a:latin typeface="Arial (Body)"/>
                <a:ea typeface="+mn-ea"/>
                <a:cs typeface="+mn-cs"/>
              </a:rPr>
              <a:t>Total cost over planning horizon = $456,880</a:t>
            </a:r>
          </a:p>
          <a:p>
            <a:pPr marL="87313" lvl="0" indent="0" defTabSz="457200">
              <a:spcAft>
                <a:spcPct val="0"/>
              </a:spcAft>
              <a:buNone/>
            </a:pPr>
            <a:r>
              <a:rPr lang="en-US" sz="2400" kern="1200" dirty="0">
                <a:solidFill>
                  <a:srgbClr val="000000"/>
                </a:solidFill>
                <a:latin typeface="Arial (Body)"/>
                <a:ea typeface="+mn-ea"/>
                <a:cs typeface="+mn-cs"/>
              </a:rPr>
              <a:t>Revenue over planning horizon = $699,560</a:t>
            </a:r>
          </a:p>
          <a:p>
            <a:pPr marL="623888" lvl="0" indent="0" defTabSz="457200">
              <a:spcAft>
                <a:spcPct val="0"/>
              </a:spcAft>
              <a:buNone/>
            </a:pPr>
            <a:r>
              <a:rPr lang="en-US" sz="2400" kern="1200" dirty="0">
                <a:solidFill>
                  <a:srgbClr val="000000"/>
                </a:solidFill>
                <a:latin typeface="Arial (Body)"/>
                <a:ea typeface="+mn-ea"/>
                <a:cs typeface="+mn-cs"/>
              </a:rPr>
              <a:t>Profit over planning horizon = $242,680</a:t>
            </a:r>
          </a:p>
        </p:txBody>
      </p:sp>
      <p:sp>
        <p:nvSpPr>
          <p:cNvPr id="4" name="Text Placeholder 3"/>
          <p:cNvSpPr>
            <a:spLocks noGrp="1"/>
          </p:cNvSpPr>
          <p:nvPr>
            <p:ph type="body" idx="2"/>
          </p:nvPr>
        </p:nvSpPr>
        <p:spPr>
          <a:xfrm>
            <a:off x="457200" y="3367316"/>
            <a:ext cx="8229600" cy="553968"/>
          </a:xfrm>
        </p:spPr>
        <p:txBody>
          <a:bodyPr wrap="square" lIns="91425" tIns="91425" rIns="91425" bIns="91425">
            <a:spAutoFit/>
          </a:bodyPr>
          <a:lstStyle/>
          <a:p>
            <a:pPr marL="255651" lvl="0" indent="-255651" defTabSz="457200">
              <a:spcAft>
                <a:spcPct val="0"/>
              </a:spcAft>
              <a:buFont typeface="Arial" panose="020B0604020202020204" pitchFamily="34" charset="0"/>
            </a:pPr>
            <a:r>
              <a:rPr lang="en-US" sz="2400" kern="1200" dirty="0">
                <a:solidFill>
                  <a:srgbClr val="000000"/>
                </a:solidFill>
                <a:latin typeface="Arial (Body)"/>
              </a:rPr>
              <a:t>Higher total profit than base case</a:t>
            </a:r>
          </a:p>
        </p:txBody>
      </p:sp>
    </p:spTree>
    <p:extLst>
      <p:ext uri="{BB962C8B-B14F-4D97-AF65-F5344CB8AC3E}">
        <p14:creationId xmlns:p14="http://schemas.microsoft.com/office/powerpoint/2010/main" val="2392333630"/>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81574"/>
            <a:ext cx="8229600" cy="1231076"/>
          </a:xfrm>
        </p:spPr>
        <p:txBody>
          <a:bodyPr tIns="91425">
            <a:spAutoFit/>
          </a:bodyPr>
          <a:lstStyle/>
          <a:p>
            <a:pPr lvl="0" defTabSz="457200">
              <a:spcBef>
                <a:spcPct val="0"/>
              </a:spcBef>
              <a:buClrTx/>
            </a:pPr>
            <a:r>
              <a:rPr lang="en-US" kern="1200" dirty="0" smtClean="0">
                <a:latin typeface="Times New Roman" panose="02020603050405020304" pitchFamily="18" charset="0"/>
                <a:ea typeface="+mj-ea"/>
                <a:cs typeface="+mj-cs"/>
              </a:rPr>
              <a:t>Discount Leads to Large Increase in Consumption </a:t>
            </a:r>
            <a:r>
              <a:rPr lang="en-US" sz="2000" b="0" kern="1200" dirty="0" smtClean="0">
                <a:latin typeface="Times New Roman" panose="02020603050405020304" pitchFamily="18" charset="0"/>
                <a:ea typeface="+mj-ea"/>
                <a:cs typeface="+mj-cs"/>
              </a:rPr>
              <a:t>(3 of 4)</a:t>
            </a:r>
            <a:endParaRPr lang="en-US" sz="2000" b="0" kern="1200" dirty="0">
              <a:latin typeface="Times New Roman" panose="02020603050405020304" pitchFamily="18" charset="0"/>
              <a:ea typeface="+mj-ea"/>
              <a:cs typeface="+mj-cs"/>
            </a:endParaRPr>
          </a:p>
        </p:txBody>
      </p:sp>
      <p:sp>
        <p:nvSpPr>
          <p:cNvPr id="3" name="Content Placeholder 2"/>
          <p:cNvSpPr>
            <a:spLocks noGrp="1"/>
          </p:cNvSpPr>
          <p:nvPr>
            <p:ph type="body" idx="1"/>
          </p:nvPr>
        </p:nvSpPr>
        <p:spPr>
          <a:xfrm>
            <a:off x="457200" y="1600200"/>
            <a:ext cx="8229600" cy="553968"/>
          </a:xfrm>
        </p:spPr>
        <p:txBody>
          <a:bodyPr wrap="square" lIns="91425" tIns="91425" rIns="91425" bIns="91425">
            <a:spAutoFit/>
          </a:bodyPr>
          <a:lstStyle/>
          <a:p>
            <a:pPr marL="255651" lvl="0" indent="-255651" defTabSz="457200">
              <a:spcAft>
                <a:spcPct val="0"/>
              </a:spcAft>
              <a:buFont typeface="Arial" panose="020B0604020202020204" pitchFamily="34" charset="0"/>
            </a:pPr>
            <a:r>
              <a:rPr lang="en-US" sz="2400" kern="1200" dirty="0">
                <a:solidFill>
                  <a:srgbClr val="000000"/>
                </a:solidFill>
                <a:latin typeface="+mn-lt"/>
                <a:ea typeface="+mn-ea"/>
                <a:cs typeface="+mn-cs"/>
              </a:rPr>
              <a:t>Promotion in </a:t>
            </a:r>
            <a:r>
              <a:rPr lang="en-US" sz="2400" kern="1200" dirty="0" smtClean="0">
                <a:solidFill>
                  <a:srgbClr val="000000"/>
                </a:solidFill>
                <a:latin typeface="+mn-lt"/>
                <a:ea typeface="+mn-ea"/>
                <a:cs typeface="+mn-cs"/>
              </a:rPr>
              <a:t>April</a:t>
            </a:r>
          </a:p>
        </p:txBody>
      </p:sp>
      <p:pic>
        <p:nvPicPr>
          <p:cNvPr id="6" name="Picture 5" descr="Optimal aggregate plan when discounting price in April to $39 with large increase in demand. A spread sheet for optimal aggregate when discounting price in April to $39 with large increase in demand. Columns for the spread sheet are as follows. Period. H sub t, number hired. L sub t, number laid off. W sub t, number in the workforce. O sub t, overtime. I sub t, inventory. S sub t, stockout. C sub t, subcontract. P sub t, production. Demand. Price. Cells B 4 through I 4, period 0, are highlighted. Values for each column are as follows. Period. A 4, 0. A 5, 1, A 6, 2. A 7, 3. A 8, 4. A 9, 5. A 10, 6. Values for the number hired, cells B 4 through B 10, are all 0.   Values for the number laid off, cells C 4 through C 10, are 0.  Values for the workforce, D 4 through D 10, are 80 each.  Values for overtime cells E 4 through E 10 are all 0.  Values for Inventory, are as follows. F 4, 1000. F 5, 2600. F 6, 2800. F 7, 2800. F 8, 0. F 9, 0. F 10, 500.  Values for stockout are as follows. G 4, 0. G 5, 0. G 6, 0. G 7, 0. G 8, 2380. G 9, 940. G 10, 0.  Values for subcontract are as follows. H 4, 0. H 5, 0. H 6, 0. H 7, 0. H 8, 100. H 9, 0. H 10, 0. Values for production are as follows.  I 4, blank. I 5 through I 10, 3200 each.  Demand values are as follows. J 4, blank. J 5, 1600. J 6, 3000.  J 7, 3200.  J 8, 8480. J9, 1760. J 10, 1760. Price values are as follows. K 4, blank. K 5 through K 7, 40 each, K 8, 39, K 9 and K 10, 40.  Total cost, cell C 22 is $536,200. Total revenue, cell C 24, is $783,520. Profit, cell C 25, is $247,320. Promote?,  cell E 24, is 1. Month, cell E 25, is 4. Base price, cell H 23, is $40. Consumption, cell H 24, is 1.00. Forward buy, cell H 25, is 0.20."/>
          <p:cNvPicPr>
            <a:picLocks noChangeAspect="1"/>
          </p:cNvPicPr>
          <p:nvPr/>
        </p:nvPicPr>
        <p:blipFill>
          <a:blip r:embed="rId2"/>
          <a:stretch>
            <a:fillRect/>
          </a:stretch>
        </p:blipFill>
        <p:spPr>
          <a:xfrm>
            <a:off x="634402" y="2621371"/>
            <a:ext cx="7231237" cy="2535886"/>
          </a:xfrm>
          <a:prstGeom prst="rect">
            <a:avLst/>
          </a:prstGeom>
        </p:spPr>
      </p:pic>
      <p:sp>
        <p:nvSpPr>
          <p:cNvPr id="4" name="Text Placeholder 3"/>
          <p:cNvSpPr>
            <a:spLocks noGrp="1"/>
          </p:cNvSpPr>
          <p:nvPr>
            <p:ph type="body" idx="2"/>
          </p:nvPr>
        </p:nvSpPr>
        <p:spPr>
          <a:xfrm>
            <a:off x="457200" y="5470634"/>
            <a:ext cx="8229600" cy="788276"/>
          </a:xfrm>
        </p:spPr>
        <p:txBody>
          <a:bodyPr/>
          <a:lstStyle/>
          <a:p>
            <a:pPr marL="0" indent="0">
              <a:buNone/>
            </a:pPr>
            <a:r>
              <a:rPr lang="en-US" sz="2000" b="1" dirty="0">
                <a:latin typeface="+mn-lt"/>
              </a:rPr>
              <a:t>Figure 9-5 </a:t>
            </a:r>
            <a:r>
              <a:rPr lang="en-US" sz="2000" dirty="0">
                <a:latin typeface="+mn-lt"/>
              </a:rPr>
              <a:t>Optimal Aggregate Plan When Discounting Price in April to $39 with Large Increase in </a:t>
            </a:r>
            <a:r>
              <a:rPr lang="en-US" sz="2000" dirty="0" smtClean="0">
                <a:latin typeface="+mn-lt"/>
              </a:rPr>
              <a:t>Demand</a:t>
            </a:r>
            <a:endParaRPr lang="en-US" sz="2000" kern="1200" dirty="0">
              <a:solidFill>
                <a:srgbClr val="000000"/>
              </a:solidFill>
              <a:latin typeface="+mn-lt"/>
            </a:endParaRPr>
          </a:p>
        </p:txBody>
      </p:sp>
    </p:spTree>
    <p:extLst>
      <p:ext uri="{BB962C8B-B14F-4D97-AF65-F5344CB8AC3E}">
        <p14:creationId xmlns:p14="http://schemas.microsoft.com/office/powerpoint/2010/main" val="830279983"/>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81574"/>
            <a:ext cx="8229600" cy="1231076"/>
          </a:xfrm>
        </p:spPr>
        <p:txBody>
          <a:bodyPr tIns="91425">
            <a:spAutoFit/>
          </a:bodyPr>
          <a:lstStyle/>
          <a:p>
            <a:pPr lvl="0" defTabSz="457200">
              <a:spcBef>
                <a:spcPct val="0"/>
              </a:spcBef>
              <a:buClrTx/>
            </a:pPr>
            <a:r>
              <a:rPr lang="en-US" kern="1200" dirty="0" smtClean="0">
                <a:latin typeface="Times New Roman" panose="02020603050405020304" pitchFamily="18" charset="0"/>
                <a:ea typeface="+mj-ea"/>
                <a:cs typeface="+mj-cs"/>
              </a:rPr>
              <a:t>Discount Leads to Large Increase in Consumption </a:t>
            </a:r>
            <a:r>
              <a:rPr lang="en-US" sz="2000" b="0" kern="1200" dirty="0" smtClean="0">
                <a:latin typeface="Times New Roman" panose="02020603050405020304" pitchFamily="18" charset="0"/>
                <a:ea typeface="+mj-ea"/>
                <a:cs typeface="+mj-cs"/>
              </a:rPr>
              <a:t>(4 of 4)</a:t>
            </a:r>
            <a:endParaRPr lang="en-US" sz="2000" b="0" kern="1200" dirty="0">
              <a:latin typeface="Times New Roman" panose="02020603050405020304" pitchFamily="18" charset="0"/>
              <a:ea typeface="+mj-ea"/>
              <a:cs typeface="+mj-cs"/>
            </a:endParaRPr>
          </a:p>
        </p:txBody>
      </p:sp>
      <p:sp>
        <p:nvSpPr>
          <p:cNvPr id="3" name="Text Placeholder 2"/>
          <p:cNvSpPr>
            <a:spLocks noGrp="1"/>
          </p:cNvSpPr>
          <p:nvPr>
            <p:ph type="body" idx="1"/>
          </p:nvPr>
        </p:nvSpPr>
        <p:spPr>
          <a:xfrm>
            <a:off x="457200" y="1600200"/>
            <a:ext cx="8229600" cy="1677352"/>
          </a:xfrm>
        </p:spPr>
        <p:txBody>
          <a:bodyPr wrap="square" lIns="91425" tIns="91425" rIns="91425" bIns="91425">
            <a:spAutoFit/>
          </a:bodyPr>
          <a:lstStyle/>
          <a:p>
            <a:pPr marL="0" lvl="0" indent="0" defTabSz="457200">
              <a:spcAft>
                <a:spcPct val="0"/>
              </a:spcAft>
              <a:buNone/>
            </a:pPr>
            <a:r>
              <a:rPr lang="en-US" sz="2400" kern="1200" dirty="0">
                <a:solidFill>
                  <a:srgbClr val="000000"/>
                </a:solidFill>
                <a:latin typeface="Arial (Body)"/>
                <a:ea typeface="+mn-ea"/>
                <a:cs typeface="+mn-cs"/>
              </a:rPr>
              <a:t>Total cost over planning horizon = $536,200</a:t>
            </a:r>
          </a:p>
          <a:p>
            <a:pPr marL="87313" lvl="0" indent="0" defTabSz="457200">
              <a:spcAft>
                <a:spcPct val="0"/>
              </a:spcAft>
              <a:buNone/>
            </a:pPr>
            <a:r>
              <a:rPr lang="en-US" sz="2400" kern="1200" dirty="0">
                <a:solidFill>
                  <a:srgbClr val="000000"/>
                </a:solidFill>
                <a:latin typeface="Arial (Body)"/>
                <a:ea typeface="+mn-ea"/>
                <a:cs typeface="+mn-cs"/>
              </a:rPr>
              <a:t>Revenue over planning horizon = $783,520</a:t>
            </a:r>
          </a:p>
          <a:p>
            <a:pPr marL="623888" lvl="0" indent="0" defTabSz="457200">
              <a:spcAft>
                <a:spcPct val="0"/>
              </a:spcAft>
              <a:buNone/>
            </a:pPr>
            <a:r>
              <a:rPr lang="en-US" sz="2400" kern="1200" dirty="0">
                <a:solidFill>
                  <a:srgbClr val="000000"/>
                </a:solidFill>
                <a:latin typeface="Arial (Body)"/>
                <a:ea typeface="+mn-ea"/>
                <a:cs typeface="+mn-cs"/>
              </a:rPr>
              <a:t>Profit over planning horizon = $247,320</a:t>
            </a:r>
          </a:p>
        </p:txBody>
      </p:sp>
      <p:sp>
        <p:nvSpPr>
          <p:cNvPr id="4" name="Text Placeholder 3"/>
          <p:cNvSpPr>
            <a:spLocks noGrp="1"/>
          </p:cNvSpPr>
          <p:nvPr>
            <p:ph type="body" idx="2"/>
          </p:nvPr>
        </p:nvSpPr>
        <p:spPr>
          <a:xfrm>
            <a:off x="457200" y="3367316"/>
            <a:ext cx="8229600" cy="2163763"/>
          </a:xfrm>
        </p:spPr>
        <p:txBody>
          <a:bodyPr wrap="square" lIns="91425" tIns="91425" rIns="91425" bIns="91425">
            <a:spAutoFit/>
          </a:bodyPr>
          <a:lstStyle/>
          <a:p>
            <a:pPr marL="255651" lvl="0" indent="-255651" defTabSz="457200">
              <a:spcAft>
                <a:spcPct val="0"/>
              </a:spcAft>
              <a:buFont typeface="Arial" panose="020B0604020202020204" pitchFamily="34" charset="0"/>
            </a:pPr>
            <a:r>
              <a:rPr lang="en-US" sz="2400" kern="1200" dirty="0">
                <a:solidFill>
                  <a:srgbClr val="000000"/>
                </a:solidFill>
                <a:latin typeface="Arial (Body)"/>
                <a:ea typeface="+mn-ea"/>
                <a:cs typeface="+mn-cs"/>
              </a:rPr>
              <a:t>Much higher level of seasonal inventory</a:t>
            </a:r>
          </a:p>
          <a:p>
            <a:pPr marL="255651" lvl="0" indent="-255651" defTabSz="457200">
              <a:spcAft>
                <a:spcPct val="0"/>
              </a:spcAft>
              <a:buFont typeface="Arial" panose="020B0604020202020204" pitchFamily="34" charset="0"/>
            </a:pPr>
            <a:r>
              <a:rPr lang="en-US" sz="2400" kern="1200" dirty="0">
                <a:solidFill>
                  <a:srgbClr val="000000"/>
                </a:solidFill>
                <a:latin typeface="Arial (Body)"/>
                <a:ea typeface="+mn-ea"/>
                <a:cs typeface="+mn-cs"/>
              </a:rPr>
              <a:t>Uses more stockouts and subcontracting</a:t>
            </a:r>
          </a:p>
          <a:p>
            <a:pPr marL="255651" lvl="0" indent="-255651" defTabSz="457200">
              <a:spcAft>
                <a:spcPct val="0"/>
              </a:spcAft>
              <a:buFont typeface="Arial" panose="020B0604020202020204" pitchFamily="34" charset="0"/>
            </a:pPr>
            <a:r>
              <a:rPr lang="en-US" sz="2400" kern="1200" dirty="0">
                <a:solidFill>
                  <a:srgbClr val="000000"/>
                </a:solidFill>
                <a:latin typeface="Arial (Body)"/>
                <a:ea typeface="+mn-ea"/>
                <a:cs typeface="+mn-cs"/>
              </a:rPr>
              <a:t>Revenues increase</a:t>
            </a:r>
          </a:p>
          <a:p>
            <a:pPr marL="255651" lvl="0" indent="-255651" defTabSz="457200">
              <a:spcAft>
                <a:spcPct val="0"/>
              </a:spcAft>
              <a:buFont typeface="Arial" panose="020B0604020202020204" pitchFamily="34" charset="0"/>
            </a:pPr>
            <a:r>
              <a:rPr lang="en-US" sz="2400" kern="1200" dirty="0">
                <a:solidFill>
                  <a:srgbClr val="000000"/>
                </a:solidFill>
                <a:latin typeface="Arial (Body)"/>
                <a:ea typeface="+mn-ea"/>
                <a:cs typeface="+mn-cs"/>
              </a:rPr>
              <a:t>Overall profits </a:t>
            </a:r>
            <a:r>
              <a:rPr lang="en-US" sz="2400" kern="1200" dirty="0" smtClean="0">
                <a:solidFill>
                  <a:srgbClr val="000000"/>
                </a:solidFill>
                <a:latin typeface="Arial (Body)"/>
                <a:ea typeface="+mn-ea"/>
                <a:cs typeface="+mn-cs"/>
              </a:rPr>
              <a:t>higher</a:t>
            </a:r>
            <a:endParaRPr lang="en-US" sz="2400" kern="1200" dirty="0">
              <a:solidFill>
                <a:srgbClr val="000000"/>
              </a:solidFill>
              <a:latin typeface="Arial (Body)"/>
              <a:ea typeface="+mn-ea"/>
              <a:cs typeface="+mn-cs"/>
            </a:endParaRPr>
          </a:p>
        </p:txBody>
      </p:sp>
    </p:spTree>
    <p:extLst>
      <p:ext uri="{BB962C8B-B14F-4D97-AF65-F5344CB8AC3E}">
        <p14:creationId xmlns:p14="http://schemas.microsoft.com/office/powerpoint/2010/main" val="2242320537"/>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4794"/>
            <a:ext cx="8229600" cy="707856"/>
          </a:xfrm>
        </p:spPr>
        <p:txBody>
          <a:bodyPr tIns="91425">
            <a:spAutoFit/>
          </a:bodyPr>
          <a:lstStyle/>
          <a:p>
            <a:pPr lvl="0" defTabSz="457200">
              <a:spcBef>
                <a:spcPct val="0"/>
              </a:spcBef>
              <a:buClrTx/>
            </a:pPr>
            <a:r>
              <a:rPr lang="en-US" kern="1200" dirty="0" smtClean="0">
                <a:latin typeface="Times New Roman" panose="02020603050405020304" pitchFamily="18" charset="0"/>
                <a:ea typeface="+mj-ea"/>
                <a:cs typeface="+mj-cs"/>
              </a:rPr>
              <a:t>Supply Chain Performance</a:t>
            </a:r>
            <a:endParaRPr lang="en-US" kern="1200" dirty="0">
              <a:latin typeface="Times New Roman" panose="02020603050405020304" pitchFamily="18" charset="0"/>
              <a:ea typeface="+mj-ea"/>
              <a:cs typeface="+mj-cs"/>
            </a:endParaRPr>
          </a:p>
        </p:txBody>
      </p:sp>
      <p:sp>
        <p:nvSpPr>
          <p:cNvPr id="3" name="Text Placeholder 2"/>
          <p:cNvSpPr>
            <a:spLocks noGrp="1"/>
          </p:cNvSpPr>
          <p:nvPr>
            <p:ph type="body" idx="1"/>
          </p:nvPr>
        </p:nvSpPr>
        <p:spPr>
          <a:xfrm>
            <a:off x="457200" y="1600200"/>
            <a:ext cx="8229600" cy="450273"/>
          </a:xfrm>
        </p:spPr>
        <p:txBody>
          <a:bodyPr/>
          <a:lstStyle/>
          <a:p>
            <a:pPr marL="0" indent="0">
              <a:buNone/>
            </a:pPr>
            <a:r>
              <a:rPr lang="en-US" sz="2000" b="1" kern="1200" dirty="0" smtClean="0">
                <a:solidFill>
                  <a:schemeClr val="tx1"/>
                </a:solidFill>
                <a:latin typeface="+mn-lt"/>
              </a:rPr>
              <a:t>Table 9-3 </a:t>
            </a:r>
            <a:r>
              <a:rPr lang="en-US" sz="2000" kern="1200" dirty="0" smtClean="0">
                <a:solidFill>
                  <a:schemeClr val="tx1"/>
                </a:solidFill>
                <a:latin typeface="+mn-lt"/>
              </a:rPr>
              <a:t>Supply </a:t>
            </a:r>
            <a:r>
              <a:rPr lang="en-US" sz="2000" kern="1200" dirty="0">
                <a:solidFill>
                  <a:schemeClr val="tx1"/>
                </a:solidFill>
                <a:latin typeface="+mn-lt"/>
              </a:rPr>
              <a:t>Chain Performance Under Different </a:t>
            </a:r>
            <a:r>
              <a:rPr lang="en-US" sz="2000" kern="1200" dirty="0" smtClean="0">
                <a:solidFill>
                  <a:schemeClr val="tx1"/>
                </a:solidFill>
                <a:latin typeface="+mn-lt"/>
              </a:rPr>
              <a:t>Scenarios</a:t>
            </a:r>
            <a:endParaRPr lang="en-US" sz="2000" kern="1200" dirty="0">
              <a:solidFill>
                <a:schemeClr val="tx1"/>
              </a:solidFill>
              <a:latin typeface="+mn-lt"/>
            </a:endParaRPr>
          </a:p>
        </p:txBody>
      </p:sp>
      <p:graphicFrame>
        <p:nvGraphicFramePr>
          <p:cNvPr id="4" name="Table 3"/>
          <p:cNvGraphicFramePr>
            <a:graphicFrameLocks noGrp="1"/>
          </p:cNvGraphicFramePr>
          <p:nvPr>
            <p:extLst>
              <p:ext uri="{D42A27DB-BD31-4B8C-83A1-F6EECF244321}">
                <p14:modId xmlns:p14="http://schemas.microsoft.com/office/powerpoint/2010/main" val="3648463116"/>
              </p:ext>
            </p:extLst>
          </p:nvPr>
        </p:nvGraphicFramePr>
        <p:xfrm>
          <a:off x="587826" y="2577377"/>
          <a:ext cx="7932057" cy="3262338"/>
        </p:xfrm>
        <a:graphic>
          <a:graphicData uri="http://schemas.openxmlformats.org/drawingml/2006/table">
            <a:tbl>
              <a:tblPr firstRow="1" bandRow="1">
                <a:tableStyleId>{2D5ABB26-0587-4C30-8999-92F81FD0307C}</a:tableStyleId>
              </a:tblPr>
              <a:tblGrid>
                <a:gridCol w="954785">
                  <a:extLst>
                    <a:ext uri="{9D8B030D-6E8A-4147-A177-3AD203B41FA5}">
                      <a16:colId xmlns:a16="http://schemas.microsoft.com/office/drawing/2014/main" xmlns="" val="20000"/>
                    </a:ext>
                  </a:extLst>
                </a:gridCol>
                <a:gridCol w="1150639">
                  <a:extLst>
                    <a:ext uri="{9D8B030D-6E8A-4147-A177-3AD203B41FA5}">
                      <a16:colId xmlns:a16="http://schemas.microsoft.com/office/drawing/2014/main" xmlns="" val="20001"/>
                    </a:ext>
                  </a:extLst>
                </a:gridCol>
                <a:gridCol w="1162879">
                  <a:extLst>
                    <a:ext uri="{9D8B030D-6E8A-4147-A177-3AD203B41FA5}">
                      <a16:colId xmlns:a16="http://schemas.microsoft.com/office/drawing/2014/main" xmlns="" val="20002"/>
                    </a:ext>
                  </a:extLst>
                </a:gridCol>
                <a:gridCol w="1227600">
                  <a:extLst>
                    <a:ext uri="{9D8B030D-6E8A-4147-A177-3AD203B41FA5}">
                      <a16:colId xmlns:a16="http://schemas.microsoft.com/office/drawing/2014/main" xmlns="" val="20003"/>
                    </a:ext>
                  </a:extLst>
                </a:gridCol>
                <a:gridCol w="1123975">
                  <a:extLst>
                    <a:ext uri="{9D8B030D-6E8A-4147-A177-3AD203B41FA5}">
                      <a16:colId xmlns:a16="http://schemas.microsoft.com/office/drawing/2014/main" xmlns="" val="20004"/>
                    </a:ext>
                  </a:extLst>
                </a:gridCol>
                <a:gridCol w="1173786">
                  <a:extLst>
                    <a:ext uri="{9D8B030D-6E8A-4147-A177-3AD203B41FA5}">
                      <a16:colId xmlns:a16="http://schemas.microsoft.com/office/drawing/2014/main" xmlns="" val="20005"/>
                    </a:ext>
                  </a:extLst>
                </a:gridCol>
                <a:gridCol w="1138393">
                  <a:extLst>
                    <a:ext uri="{9D8B030D-6E8A-4147-A177-3AD203B41FA5}">
                      <a16:colId xmlns:a16="http://schemas.microsoft.com/office/drawing/2014/main" xmlns="" val="20006"/>
                    </a:ext>
                  </a:extLst>
                </a:gridCol>
              </a:tblGrid>
              <a:tr h="702852">
                <a:tc>
                  <a:txBody>
                    <a:bodyPr/>
                    <a:lstStyle/>
                    <a:p>
                      <a:pPr marL="0" indent="0" algn="ctr"/>
                      <a:r>
                        <a:rPr lang="en-US" sz="1400" b="1" kern="1200" dirty="0" smtClean="0">
                          <a:solidFill>
                            <a:schemeClr val="tx1"/>
                          </a:solidFill>
                          <a:latin typeface="+mn-lt"/>
                          <a:ea typeface="+mn-ea"/>
                          <a:cs typeface="+mn-cs"/>
                        </a:rPr>
                        <a:t>Regular Price</a:t>
                      </a:r>
                    </a:p>
                  </a:txBody>
                  <a:tcPr marL="82856" marR="82856" marT="41429" marB="41429" anchor="b">
                    <a:lnT w="19050" cap="flat" cmpd="sng" algn="ctr">
                      <a:solidFill>
                        <a:scrgbClr r="0" g="0" b="0"/>
                      </a:solidFill>
                      <a:prstDash val="solid"/>
                      <a:round/>
                      <a:headEnd type="none" w="med" len="med"/>
                      <a:tailEnd type="none" w="med" len="med"/>
                    </a:lnT>
                    <a:lnB w="19050" cap="flat" cmpd="sng" algn="ctr">
                      <a:solidFill>
                        <a:scrgbClr r="0" g="0" b="0"/>
                      </a:solidFill>
                      <a:prstDash val="solid"/>
                      <a:round/>
                      <a:headEnd type="none" w="med" len="med"/>
                      <a:tailEnd type="none" w="med" len="med"/>
                    </a:lnB>
                    <a:solidFill>
                      <a:srgbClr val="FFFFFF"/>
                    </a:solidFill>
                  </a:tcPr>
                </a:tc>
                <a:tc>
                  <a:txBody>
                    <a:bodyPr/>
                    <a:lstStyle/>
                    <a:p>
                      <a:pPr marL="0" indent="0" algn="ctr"/>
                      <a:r>
                        <a:rPr lang="en-US" sz="1400" b="1" kern="1200" dirty="0" smtClean="0">
                          <a:solidFill>
                            <a:schemeClr val="tx1"/>
                          </a:solidFill>
                          <a:latin typeface="+mn-lt"/>
                          <a:ea typeface="+mn-ea"/>
                          <a:cs typeface="+mn-cs"/>
                        </a:rPr>
                        <a:t>Promotion Price</a:t>
                      </a:r>
                    </a:p>
                  </a:txBody>
                  <a:tcPr marL="82856" marR="82856" marT="41429" marB="41429" anchor="b">
                    <a:lnT w="19050" cap="flat" cmpd="sng" algn="ctr">
                      <a:solidFill>
                        <a:scrgbClr r="0" g="0" b="0"/>
                      </a:solidFill>
                      <a:prstDash val="solid"/>
                      <a:round/>
                      <a:headEnd type="none" w="med" len="med"/>
                      <a:tailEnd type="none" w="med" len="med"/>
                    </a:lnT>
                    <a:lnB w="19050" cap="flat" cmpd="sng" algn="ctr">
                      <a:solidFill>
                        <a:scrgbClr r="0" g="0" b="0"/>
                      </a:solidFill>
                      <a:prstDash val="solid"/>
                      <a:round/>
                      <a:headEnd type="none" w="med" len="med"/>
                      <a:tailEnd type="none" w="med" len="med"/>
                    </a:lnB>
                    <a:solidFill>
                      <a:srgbClr val="FFFFFF"/>
                    </a:solidFill>
                  </a:tcPr>
                </a:tc>
                <a:tc>
                  <a:txBody>
                    <a:bodyPr/>
                    <a:lstStyle/>
                    <a:p>
                      <a:pPr marL="0" indent="0" algn="ctr"/>
                      <a:r>
                        <a:rPr lang="en-US" sz="1400" b="1" kern="1200" dirty="0" smtClean="0">
                          <a:solidFill>
                            <a:schemeClr val="tx1"/>
                          </a:solidFill>
                          <a:latin typeface="+mn-lt"/>
                          <a:ea typeface="+mn-ea"/>
                          <a:cs typeface="+mn-cs"/>
                        </a:rPr>
                        <a:t>Promotion Period</a:t>
                      </a:r>
                    </a:p>
                  </a:txBody>
                  <a:tcPr marL="82856" marR="82856" marT="41429" marB="41429" anchor="b">
                    <a:lnT w="19050" cap="flat" cmpd="sng" algn="ctr">
                      <a:solidFill>
                        <a:scrgbClr r="0" g="0" b="0"/>
                      </a:solidFill>
                      <a:prstDash val="solid"/>
                      <a:round/>
                      <a:headEnd type="none" w="med" len="med"/>
                      <a:tailEnd type="none" w="med" len="med"/>
                    </a:lnT>
                    <a:lnB w="19050" cap="flat" cmpd="sng" algn="ctr">
                      <a:solidFill>
                        <a:scrgbClr r="0" g="0" b="0"/>
                      </a:solidFill>
                      <a:prstDash val="solid"/>
                      <a:round/>
                      <a:headEnd type="none" w="med" len="med"/>
                      <a:tailEnd type="none" w="med" len="med"/>
                    </a:lnB>
                    <a:solidFill>
                      <a:srgbClr val="FFFFFF"/>
                    </a:solidFill>
                  </a:tcPr>
                </a:tc>
                <a:tc>
                  <a:txBody>
                    <a:bodyPr/>
                    <a:lstStyle/>
                    <a:p>
                      <a:pPr marL="0" indent="0" algn="ctr"/>
                      <a:r>
                        <a:rPr lang="en-US" sz="1400" b="1" kern="1200" dirty="0" smtClean="0">
                          <a:solidFill>
                            <a:schemeClr val="tx1"/>
                          </a:solidFill>
                          <a:latin typeface="+mn-lt"/>
                          <a:ea typeface="+mn-ea"/>
                          <a:cs typeface="+mn-cs"/>
                        </a:rPr>
                        <a:t>Percentage of Increase in Demand</a:t>
                      </a:r>
                    </a:p>
                  </a:txBody>
                  <a:tcPr marL="82856" marR="82856" marT="41429" marB="41429" anchor="b">
                    <a:lnT w="19050" cap="flat" cmpd="sng" algn="ctr">
                      <a:solidFill>
                        <a:scrgbClr r="0" g="0" b="0"/>
                      </a:solidFill>
                      <a:prstDash val="solid"/>
                      <a:round/>
                      <a:headEnd type="none" w="med" len="med"/>
                      <a:tailEnd type="none" w="med" len="med"/>
                    </a:lnT>
                    <a:lnB w="19050" cap="flat" cmpd="sng" algn="ctr">
                      <a:solidFill>
                        <a:scrgbClr r="0" g="0" b="0"/>
                      </a:solidFill>
                      <a:prstDash val="solid"/>
                      <a:round/>
                      <a:headEnd type="none" w="med" len="med"/>
                      <a:tailEnd type="none" w="med" len="med"/>
                    </a:lnB>
                    <a:solidFill>
                      <a:srgbClr val="FFFFFF"/>
                    </a:solidFill>
                  </a:tcPr>
                </a:tc>
                <a:tc>
                  <a:txBody>
                    <a:bodyPr/>
                    <a:lstStyle/>
                    <a:p>
                      <a:pPr marL="0" indent="0" algn="ctr"/>
                      <a:r>
                        <a:rPr lang="en-US" sz="1400" b="1" kern="1200" dirty="0" smtClean="0">
                          <a:solidFill>
                            <a:schemeClr val="tx1"/>
                          </a:solidFill>
                          <a:latin typeface="+mn-lt"/>
                          <a:ea typeface="+mn-ea"/>
                          <a:cs typeface="+mn-cs"/>
                        </a:rPr>
                        <a:t>Percentage of Forward Buy</a:t>
                      </a:r>
                    </a:p>
                  </a:txBody>
                  <a:tcPr marL="82856" marR="82856" marT="41429" marB="41429" anchor="b">
                    <a:lnT w="19050" cap="flat" cmpd="sng" algn="ctr">
                      <a:solidFill>
                        <a:scrgbClr r="0" g="0" b="0"/>
                      </a:solidFill>
                      <a:prstDash val="solid"/>
                      <a:round/>
                      <a:headEnd type="none" w="med" len="med"/>
                      <a:tailEnd type="none" w="med" len="med"/>
                    </a:lnT>
                    <a:lnB w="19050" cap="flat" cmpd="sng" algn="ctr">
                      <a:solidFill>
                        <a:scrgbClr r="0" g="0" b="0"/>
                      </a:solidFill>
                      <a:prstDash val="solid"/>
                      <a:round/>
                      <a:headEnd type="none" w="med" len="med"/>
                      <a:tailEnd type="none" w="med" len="med"/>
                    </a:lnB>
                    <a:solidFill>
                      <a:srgbClr val="FFFFFF"/>
                    </a:solidFill>
                  </a:tcPr>
                </a:tc>
                <a:tc>
                  <a:txBody>
                    <a:bodyPr/>
                    <a:lstStyle/>
                    <a:p>
                      <a:pPr marL="0" indent="0" algn="ctr"/>
                      <a:r>
                        <a:rPr lang="en-US" sz="1400" b="1" kern="1200" dirty="0" smtClean="0">
                          <a:solidFill>
                            <a:schemeClr val="tx1"/>
                          </a:solidFill>
                          <a:latin typeface="+mn-lt"/>
                          <a:ea typeface="+mn-ea"/>
                          <a:cs typeface="+mn-cs"/>
                        </a:rPr>
                        <a:t>Profit</a:t>
                      </a:r>
                    </a:p>
                  </a:txBody>
                  <a:tcPr marL="82856" marR="82856" marT="41429" marB="41429" anchor="b">
                    <a:lnT w="19050" cap="flat" cmpd="sng" algn="ctr">
                      <a:solidFill>
                        <a:scrgbClr r="0" g="0" b="0"/>
                      </a:solidFill>
                      <a:prstDash val="solid"/>
                      <a:round/>
                      <a:headEnd type="none" w="med" len="med"/>
                      <a:tailEnd type="none" w="med" len="med"/>
                    </a:lnT>
                    <a:lnB w="19050" cap="flat" cmpd="sng" algn="ctr">
                      <a:solidFill>
                        <a:scrgbClr r="0" g="0" b="0"/>
                      </a:solidFill>
                      <a:prstDash val="solid"/>
                      <a:round/>
                      <a:headEnd type="none" w="med" len="med"/>
                      <a:tailEnd type="none" w="med" len="med"/>
                    </a:lnB>
                    <a:solidFill>
                      <a:srgbClr val="FFFFFF"/>
                    </a:solidFill>
                  </a:tcPr>
                </a:tc>
                <a:tc>
                  <a:txBody>
                    <a:bodyPr/>
                    <a:lstStyle/>
                    <a:p>
                      <a:pPr marL="0" indent="0" algn="ctr"/>
                      <a:r>
                        <a:rPr lang="en-US" sz="1400" b="1" kern="1200" dirty="0" smtClean="0">
                          <a:solidFill>
                            <a:schemeClr val="tx1"/>
                          </a:solidFill>
                          <a:latin typeface="+mn-lt"/>
                          <a:ea typeface="+mn-ea"/>
                          <a:cs typeface="+mn-cs"/>
                        </a:rPr>
                        <a:t>Average Inventory</a:t>
                      </a:r>
                    </a:p>
                  </a:txBody>
                  <a:tcPr marL="82856" marR="82856" marT="41429" marB="41429" anchor="b">
                    <a:lnT w="19050" cap="flat" cmpd="sng" algn="ctr">
                      <a:solidFill>
                        <a:scrgbClr r="0" g="0" b="0"/>
                      </a:solidFill>
                      <a:prstDash val="solid"/>
                      <a:round/>
                      <a:headEnd type="none" w="med" len="med"/>
                      <a:tailEnd type="none" w="med" len="med"/>
                    </a:lnT>
                    <a:lnB w="19050" cap="flat" cmpd="sng" algn="ctr">
                      <a:solidFill>
                        <a:scrgbClr r="0" g="0" b="0"/>
                      </a:solidFill>
                      <a:prstDash val="solid"/>
                      <a:round/>
                      <a:headEnd type="none" w="med" len="med"/>
                      <a:tailEnd type="none" w="med" len="med"/>
                    </a:lnB>
                    <a:solidFill>
                      <a:srgbClr val="FFFFFF"/>
                    </a:solidFill>
                  </a:tcPr>
                </a:tc>
                <a:extLst>
                  <a:ext uri="{0D108BD9-81ED-4DB2-BD59-A6C34878D82A}">
                    <a16:rowId xmlns:a16="http://schemas.microsoft.com/office/drawing/2014/main" xmlns="" val="10001"/>
                  </a:ext>
                </a:extLst>
              </a:tr>
              <a:tr h="317425">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1400" dirty="0" smtClean="0"/>
                        <a:t>$40</a:t>
                      </a:r>
                    </a:p>
                  </a:txBody>
                  <a:tcPr marL="82856" marR="82856" marT="41429" marB="41429">
                    <a:lnT w="1905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1400" dirty="0" smtClean="0"/>
                        <a:t>$40</a:t>
                      </a:r>
                    </a:p>
                  </a:txBody>
                  <a:tcPr marL="82856" marR="82856" marT="41429" marB="41429">
                    <a:lnT w="1905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tc>
                  <a:txBody>
                    <a:bodyPr/>
                    <a:lstStyle/>
                    <a:p>
                      <a:pPr marL="0" marR="0" indent="0" algn="ctr" defTabSz="457200" rtl="0" eaLnBrk="1" fontAlgn="auto" latinLnBrk="0" hangingPunct="1">
                        <a:lnSpc>
                          <a:spcPct val="100000"/>
                        </a:lnSpc>
                        <a:spcBef>
                          <a:spcPts val="0"/>
                        </a:spcBef>
                        <a:spcAft>
                          <a:spcPts val="0"/>
                        </a:spcAft>
                        <a:buClrTx/>
                        <a:buSzTx/>
                        <a:buFontTx/>
                        <a:buNone/>
                        <a:tabLst>
                          <a:tab pos="177800" algn="l"/>
                        </a:tabLst>
                        <a:defRPr/>
                      </a:pPr>
                      <a:r>
                        <a:rPr lang="en-US" sz="1400" dirty="0" smtClean="0"/>
                        <a:t>NA</a:t>
                      </a:r>
                    </a:p>
                  </a:txBody>
                  <a:tcPr marL="82856" marR="82856" marT="41429" marB="41429">
                    <a:lnT w="1905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1400" dirty="0" smtClean="0"/>
                        <a:t>NA</a:t>
                      </a:r>
                    </a:p>
                  </a:txBody>
                  <a:tcPr marL="82856" marR="82856" marT="41429" marB="41429">
                    <a:lnT w="1905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1400" dirty="0" smtClean="0"/>
                        <a:t>NA</a:t>
                      </a:r>
                    </a:p>
                  </a:txBody>
                  <a:tcPr marL="82856" marR="82856" marT="41429" marB="41429">
                    <a:lnT w="1905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tc>
                  <a:txBody>
                    <a:bodyPr/>
                    <a:lstStyle/>
                    <a:p>
                      <a:pPr marL="0" marR="0" indent="0" algn="ctr" defTabSz="457200" rtl="0" eaLnBrk="1" fontAlgn="auto" latinLnBrk="0" hangingPunct="1">
                        <a:lnSpc>
                          <a:spcPct val="100000"/>
                        </a:lnSpc>
                        <a:spcBef>
                          <a:spcPts val="0"/>
                        </a:spcBef>
                        <a:spcAft>
                          <a:spcPts val="0"/>
                        </a:spcAft>
                        <a:buClrTx/>
                        <a:buSzTx/>
                        <a:buFontTx/>
                        <a:buNone/>
                        <a:tabLst>
                          <a:tab pos="901700" algn="r"/>
                        </a:tabLst>
                        <a:defRPr/>
                      </a:pPr>
                      <a:r>
                        <a:rPr lang="en-US" sz="1400" dirty="0" smtClean="0"/>
                        <a:t>$217,340</a:t>
                      </a:r>
                    </a:p>
                  </a:txBody>
                  <a:tcPr marL="82856" marR="82856" marT="41429" marB="41429">
                    <a:lnT w="1905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tc>
                  <a:txBody>
                    <a:bodyPr/>
                    <a:lstStyle/>
                    <a:p>
                      <a:pPr algn="ctr">
                        <a:tabLst>
                          <a:tab pos="723900" algn="r"/>
                        </a:tabLst>
                      </a:pPr>
                      <a:r>
                        <a:rPr lang="en-US" sz="1400" dirty="0" smtClean="0"/>
                        <a:t>875</a:t>
                      </a:r>
                    </a:p>
                  </a:txBody>
                  <a:tcPr marL="82856" marR="82856" marT="41429" marB="41429">
                    <a:lnT w="1905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extLst>
                  <a:ext uri="{0D108BD9-81ED-4DB2-BD59-A6C34878D82A}">
                    <a16:rowId xmlns:a16="http://schemas.microsoft.com/office/drawing/2014/main" xmlns="" val="10002"/>
                  </a:ext>
                </a:extLst>
              </a:tr>
              <a:tr h="317425">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1400" dirty="0" smtClean="0"/>
                        <a:t>$40</a:t>
                      </a:r>
                    </a:p>
                  </a:txBody>
                  <a:tcPr marL="82856" marR="82856" marT="41429" marB="41429">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1400" dirty="0" smtClean="0"/>
                        <a:t>$39</a:t>
                      </a:r>
                    </a:p>
                  </a:txBody>
                  <a:tcPr marL="82856" marR="82856" marT="41429" marB="41429">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tc>
                  <a:txBody>
                    <a:bodyPr/>
                    <a:lstStyle/>
                    <a:p>
                      <a:pPr marL="0" marR="0" indent="0" algn="ctr" defTabSz="457200" rtl="0" eaLnBrk="1" fontAlgn="auto" latinLnBrk="0" hangingPunct="1">
                        <a:lnSpc>
                          <a:spcPct val="100000"/>
                        </a:lnSpc>
                        <a:spcBef>
                          <a:spcPts val="0"/>
                        </a:spcBef>
                        <a:spcAft>
                          <a:spcPts val="0"/>
                        </a:spcAft>
                        <a:buClrTx/>
                        <a:buSzTx/>
                        <a:buFontTx/>
                        <a:buNone/>
                        <a:tabLst>
                          <a:tab pos="177800" algn="l"/>
                        </a:tabLst>
                        <a:defRPr/>
                      </a:pPr>
                      <a:r>
                        <a:rPr lang="en-US" sz="1400" dirty="0" smtClean="0"/>
                        <a:t>January</a:t>
                      </a:r>
                    </a:p>
                  </a:txBody>
                  <a:tcPr marL="82856" marR="82856" marT="41429" marB="41429">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1400" dirty="0" smtClean="0"/>
                        <a:t>10%</a:t>
                      </a:r>
                    </a:p>
                  </a:txBody>
                  <a:tcPr marL="82856" marR="82856" marT="41429" marB="41429">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1400" dirty="0" smtClean="0"/>
                        <a:t>20%</a:t>
                      </a:r>
                    </a:p>
                  </a:txBody>
                  <a:tcPr marL="82856" marR="82856" marT="41429" marB="41429">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tc>
                  <a:txBody>
                    <a:bodyPr/>
                    <a:lstStyle/>
                    <a:p>
                      <a:pPr marL="0" marR="0" indent="0" algn="ctr" defTabSz="457200" rtl="0" eaLnBrk="1" fontAlgn="auto" latinLnBrk="0" hangingPunct="1">
                        <a:lnSpc>
                          <a:spcPct val="100000"/>
                        </a:lnSpc>
                        <a:spcBef>
                          <a:spcPts val="0"/>
                        </a:spcBef>
                        <a:spcAft>
                          <a:spcPts val="0"/>
                        </a:spcAft>
                        <a:buClrTx/>
                        <a:buSzTx/>
                        <a:buFontTx/>
                        <a:buNone/>
                        <a:tabLst>
                          <a:tab pos="901700" algn="r"/>
                        </a:tabLst>
                        <a:defRPr/>
                      </a:pPr>
                      <a:r>
                        <a:rPr lang="en-US" sz="1400" dirty="0" smtClean="0"/>
                        <a:t>$221,320</a:t>
                      </a:r>
                    </a:p>
                  </a:txBody>
                  <a:tcPr marL="82856" marR="82856" marT="41429" marB="41429">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tc>
                  <a:txBody>
                    <a:bodyPr/>
                    <a:lstStyle/>
                    <a:p>
                      <a:pPr algn="ctr">
                        <a:tabLst>
                          <a:tab pos="723900" algn="r"/>
                        </a:tabLst>
                      </a:pPr>
                      <a:r>
                        <a:rPr lang="en-US" sz="1400" dirty="0" smtClean="0"/>
                        <a:t>515</a:t>
                      </a:r>
                      <a:endParaRPr lang="en-US" sz="1400" dirty="0"/>
                    </a:p>
                  </a:txBody>
                  <a:tcPr marL="82856" marR="82856" marT="41429" marB="41429">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extLst>
                  <a:ext uri="{0D108BD9-81ED-4DB2-BD59-A6C34878D82A}">
                    <a16:rowId xmlns:a16="http://schemas.microsoft.com/office/drawing/2014/main" xmlns="" val="10003"/>
                  </a:ext>
                </a:extLst>
              </a:tr>
              <a:tr h="317425">
                <a:tc>
                  <a:txBody>
                    <a:bodyPr/>
                    <a:lstStyle/>
                    <a:p>
                      <a:pPr marL="0" indent="0" algn="ctr"/>
                      <a:r>
                        <a:rPr lang="en-US" sz="1400" dirty="0" smtClean="0"/>
                        <a:t>$40</a:t>
                      </a:r>
                      <a:endParaRPr lang="en-US" sz="1400" dirty="0"/>
                    </a:p>
                  </a:txBody>
                  <a:tcPr marL="82856" marR="82856" marT="41429" marB="41429">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tc>
                  <a:txBody>
                    <a:bodyPr/>
                    <a:lstStyle/>
                    <a:p>
                      <a:pPr marL="0" indent="0" algn="ctr"/>
                      <a:r>
                        <a:rPr lang="en-US" sz="1400" dirty="0" smtClean="0"/>
                        <a:t>$39</a:t>
                      </a:r>
                      <a:endParaRPr lang="en-US" sz="1400" dirty="0"/>
                    </a:p>
                  </a:txBody>
                  <a:tcPr marL="82856" marR="82856" marT="41429" marB="41429">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tc>
                  <a:txBody>
                    <a:bodyPr/>
                    <a:lstStyle/>
                    <a:p>
                      <a:pPr marL="0" indent="0" algn="ctr">
                        <a:tabLst>
                          <a:tab pos="177800" algn="l"/>
                        </a:tabLst>
                      </a:pPr>
                      <a:r>
                        <a:rPr lang="en-US" sz="1400" dirty="0" smtClean="0"/>
                        <a:t>April</a:t>
                      </a:r>
                      <a:endParaRPr lang="en-US" sz="1400" dirty="0"/>
                    </a:p>
                  </a:txBody>
                  <a:tcPr marL="82856" marR="82856" marT="41429" marB="41429">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tc>
                  <a:txBody>
                    <a:bodyPr/>
                    <a:lstStyle/>
                    <a:p>
                      <a:pPr marL="0" indent="0" algn="ctr"/>
                      <a:r>
                        <a:rPr lang="en-US" sz="1400" dirty="0" smtClean="0"/>
                        <a:t>10%</a:t>
                      </a:r>
                      <a:endParaRPr lang="en-US" sz="1400" dirty="0"/>
                    </a:p>
                  </a:txBody>
                  <a:tcPr marL="82856" marR="82856" marT="41429" marB="41429">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tc>
                  <a:txBody>
                    <a:bodyPr/>
                    <a:lstStyle/>
                    <a:p>
                      <a:pPr marL="0" indent="0" algn="ctr"/>
                      <a:r>
                        <a:rPr lang="en-US" sz="1400" dirty="0" smtClean="0"/>
                        <a:t>20%</a:t>
                      </a:r>
                      <a:endParaRPr lang="en-US" sz="1400" dirty="0"/>
                    </a:p>
                  </a:txBody>
                  <a:tcPr marL="82856" marR="82856" marT="41429" marB="41429">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tc>
                  <a:txBody>
                    <a:bodyPr/>
                    <a:lstStyle/>
                    <a:p>
                      <a:pPr marL="0" indent="0" algn="ctr">
                        <a:tabLst>
                          <a:tab pos="901700" algn="r"/>
                        </a:tabLst>
                      </a:pPr>
                      <a:r>
                        <a:rPr lang="en-US" sz="1400" dirty="0" smtClean="0"/>
                        <a:t>$211,220</a:t>
                      </a:r>
                      <a:endParaRPr lang="en-US" sz="1400" dirty="0"/>
                    </a:p>
                  </a:txBody>
                  <a:tcPr marL="82856" marR="82856" marT="41429" marB="41429">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tc>
                  <a:txBody>
                    <a:bodyPr/>
                    <a:lstStyle/>
                    <a:p>
                      <a:pPr marL="0" marR="0" indent="0" algn="ctr" defTabSz="457200" rtl="0" eaLnBrk="1" fontAlgn="auto" latinLnBrk="0" hangingPunct="1">
                        <a:lnSpc>
                          <a:spcPct val="100000"/>
                        </a:lnSpc>
                        <a:spcBef>
                          <a:spcPts val="0"/>
                        </a:spcBef>
                        <a:spcAft>
                          <a:spcPts val="0"/>
                        </a:spcAft>
                        <a:buClrTx/>
                        <a:buSzTx/>
                        <a:buFontTx/>
                        <a:buNone/>
                        <a:tabLst>
                          <a:tab pos="723900" algn="r"/>
                        </a:tabLst>
                        <a:defRPr/>
                      </a:pPr>
                      <a:r>
                        <a:rPr lang="en-US" sz="1400" dirty="0" smtClean="0"/>
                        <a:t>932</a:t>
                      </a:r>
                    </a:p>
                  </a:txBody>
                  <a:tcPr marL="82856" marR="82856" marT="41429" marB="41429">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extLst>
                  <a:ext uri="{0D108BD9-81ED-4DB2-BD59-A6C34878D82A}">
                    <a16:rowId xmlns:a16="http://schemas.microsoft.com/office/drawing/2014/main" xmlns="" val="10004"/>
                  </a:ext>
                </a:extLst>
              </a:tr>
              <a:tr h="317425">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1400" dirty="0" smtClean="0"/>
                        <a:t>$40</a:t>
                      </a:r>
                    </a:p>
                  </a:txBody>
                  <a:tcPr marL="82856" marR="82856" marT="41429" marB="41429">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1400" dirty="0" smtClean="0"/>
                        <a:t>$39</a:t>
                      </a:r>
                    </a:p>
                  </a:txBody>
                  <a:tcPr marL="82856" marR="82856" marT="41429" marB="41429">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tc>
                  <a:txBody>
                    <a:bodyPr/>
                    <a:lstStyle/>
                    <a:p>
                      <a:pPr marL="0" marR="0" indent="0" algn="ctr" defTabSz="457200" rtl="0" eaLnBrk="1" fontAlgn="auto" latinLnBrk="0" hangingPunct="1">
                        <a:lnSpc>
                          <a:spcPct val="100000"/>
                        </a:lnSpc>
                        <a:spcBef>
                          <a:spcPts val="0"/>
                        </a:spcBef>
                        <a:spcAft>
                          <a:spcPts val="0"/>
                        </a:spcAft>
                        <a:buClrTx/>
                        <a:buSzTx/>
                        <a:buFontTx/>
                        <a:buNone/>
                        <a:tabLst>
                          <a:tab pos="177800" algn="l"/>
                        </a:tabLst>
                        <a:defRPr/>
                      </a:pPr>
                      <a:r>
                        <a:rPr lang="en-US" sz="1400" dirty="0" smtClean="0"/>
                        <a:t>January</a:t>
                      </a:r>
                    </a:p>
                  </a:txBody>
                  <a:tcPr marL="82856" marR="82856" marT="41429" marB="41429">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1400" dirty="0" smtClean="0"/>
                        <a:t>100%</a:t>
                      </a:r>
                    </a:p>
                  </a:txBody>
                  <a:tcPr marL="82856" marR="82856" marT="41429" marB="41429">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1400" dirty="0" smtClean="0"/>
                        <a:t>20%</a:t>
                      </a:r>
                    </a:p>
                  </a:txBody>
                  <a:tcPr marL="82856" marR="82856" marT="41429" marB="41429">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tc>
                  <a:txBody>
                    <a:bodyPr/>
                    <a:lstStyle/>
                    <a:p>
                      <a:pPr marL="0" marR="0" indent="0" algn="ctr" defTabSz="457200" rtl="0" eaLnBrk="1" fontAlgn="auto" latinLnBrk="0" hangingPunct="1">
                        <a:lnSpc>
                          <a:spcPct val="100000"/>
                        </a:lnSpc>
                        <a:spcBef>
                          <a:spcPts val="0"/>
                        </a:spcBef>
                        <a:spcAft>
                          <a:spcPts val="0"/>
                        </a:spcAft>
                        <a:buClrTx/>
                        <a:buSzTx/>
                        <a:buFontTx/>
                        <a:buNone/>
                        <a:tabLst>
                          <a:tab pos="901700" algn="r"/>
                        </a:tabLst>
                        <a:defRPr/>
                      </a:pPr>
                      <a:r>
                        <a:rPr lang="en-US" sz="1400" dirty="0" smtClean="0"/>
                        <a:t>$242,680</a:t>
                      </a:r>
                    </a:p>
                  </a:txBody>
                  <a:tcPr marL="82856" marR="82856" marT="41429" marB="41429">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tc>
                  <a:txBody>
                    <a:bodyPr/>
                    <a:lstStyle/>
                    <a:p>
                      <a:pPr marL="0" marR="0" indent="0" algn="ctr" defTabSz="457200" rtl="0" eaLnBrk="1" fontAlgn="auto" latinLnBrk="0" hangingPunct="1">
                        <a:lnSpc>
                          <a:spcPct val="100000"/>
                        </a:lnSpc>
                        <a:spcBef>
                          <a:spcPts val="0"/>
                        </a:spcBef>
                        <a:spcAft>
                          <a:spcPts val="0"/>
                        </a:spcAft>
                        <a:buClrTx/>
                        <a:buSzTx/>
                        <a:buFontTx/>
                        <a:buNone/>
                        <a:tabLst>
                          <a:tab pos="723900" algn="r"/>
                        </a:tabLst>
                        <a:defRPr/>
                      </a:pPr>
                      <a:r>
                        <a:rPr lang="en-US" sz="1400" dirty="0" smtClean="0"/>
                        <a:t>232</a:t>
                      </a:r>
                      <a:endParaRPr lang="en-US" sz="1400" dirty="0"/>
                    </a:p>
                  </a:txBody>
                  <a:tcPr marL="82856" marR="82856" marT="41429" marB="41429">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extLst>
                  <a:ext uri="{0D108BD9-81ED-4DB2-BD59-A6C34878D82A}">
                    <a16:rowId xmlns:a16="http://schemas.microsoft.com/office/drawing/2014/main" xmlns="" val="10005"/>
                  </a:ext>
                </a:extLst>
              </a:tr>
              <a:tr h="317425">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1400" dirty="0" smtClean="0"/>
                        <a:t>$40</a:t>
                      </a:r>
                    </a:p>
                  </a:txBody>
                  <a:tcPr marL="82856" marR="82856" marT="41429" marB="41429">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1400" dirty="0" smtClean="0"/>
                        <a:t>$39</a:t>
                      </a:r>
                    </a:p>
                  </a:txBody>
                  <a:tcPr marL="82856" marR="82856" marT="41429" marB="41429">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tc>
                  <a:txBody>
                    <a:bodyPr/>
                    <a:lstStyle/>
                    <a:p>
                      <a:pPr marL="0" marR="0" indent="0" algn="ctr" defTabSz="457200" rtl="0" eaLnBrk="1" fontAlgn="auto" latinLnBrk="0" hangingPunct="1">
                        <a:lnSpc>
                          <a:spcPct val="100000"/>
                        </a:lnSpc>
                        <a:spcBef>
                          <a:spcPts val="0"/>
                        </a:spcBef>
                        <a:spcAft>
                          <a:spcPts val="0"/>
                        </a:spcAft>
                        <a:buClrTx/>
                        <a:buSzTx/>
                        <a:buFontTx/>
                        <a:buNone/>
                        <a:tabLst>
                          <a:tab pos="177800" algn="l"/>
                        </a:tabLst>
                        <a:defRPr/>
                      </a:pPr>
                      <a:r>
                        <a:rPr lang="en-US" sz="1400" dirty="0" smtClean="0"/>
                        <a:t>April</a:t>
                      </a:r>
                    </a:p>
                  </a:txBody>
                  <a:tcPr marL="82856" marR="82856" marT="41429" marB="41429">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1400" dirty="0" smtClean="0"/>
                        <a:t>100%</a:t>
                      </a:r>
                    </a:p>
                  </a:txBody>
                  <a:tcPr marL="82856" marR="82856" marT="41429" marB="41429">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1400" dirty="0" smtClean="0"/>
                        <a:t>20%</a:t>
                      </a:r>
                    </a:p>
                  </a:txBody>
                  <a:tcPr marL="82856" marR="82856" marT="41429" marB="41429">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tc>
                  <a:txBody>
                    <a:bodyPr/>
                    <a:lstStyle/>
                    <a:p>
                      <a:pPr marL="0" marR="0" indent="0" algn="ctr" defTabSz="457200" rtl="0" eaLnBrk="1" fontAlgn="auto" latinLnBrk="0" hangingPunct="1">
                        <a:lnSpc>
                          <a:spcPct val="100000"/>
                        </a:lnSpc>
                        <a:spcBef>
                          <a:spcPts val="0"/>
                        </a:spcBef>
                        <a:spcAft>
                          <a:spcPts val="0"/>
                        </a:spcAft>
                        <a:buClrTx/>
                        <a:buSzTx/>
                        <a:buFontTx/>
                        <a:buNone/>
                        <a:tabLst>
                          <a:tab pos="901700" algn="r"/>
                        </a:tabLst>
                        <a:defRPr/>
                      </a:pPr>
                      <a:r>
                        <a:rPr lang="en-US" sz="1400" dirty="0" smtClean="0"/>
                        <a:t>$247,320</a:t>
                      </a:r>
                    </a:p>
                  </a:txBody>
                  <a:tcPr marL="82856" marR="82856" marT="41429" marB="41429">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tc>
                  <a:txBody>
                    <a:bodyPr/>
                    <a:lstStyle/>
                    <a:p>
                      <a:pPr algn="ctr">
                        <a:tabLst>
                          <a:tab pos="723900" algn="r"/>
                        </a:tabLst>
                      </a:pPr>
                      <a:r>
                        <a:rPr lang="en-US" sz="1400" dirty="0" smtClean="0"/>
                        <a:t>1,492</a:t>
                      </a:r>
                      <a:endParaRPr lang="en-US" sz="1400" dirty="0"/>
                    </a:p>
                  </a:txBody>
                  <a:tcPr marL="82856" marR="82856" marT="41429" marB="41429">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extLst>
                  <a:ext uri="{0D108BD9-81ED-4DB2-BD59-A6C34878D82A}">
                    <a16:rowId xmlns:a16="http://schemas.microsoft.com/office/drawing/2014/main" xmlns="" val="10006"/>
                  </a:ext>
                </a:extLst>
              </a:tr>
              <a:tr h="317425">
                <a:tc>
                  <a:txBody>
                    <a:bodyPr/>
                    <a:lstStyle/>
                    <a:p>
                      <a:pPr marL="0" indent="0" algn="ctr"/>
                      <a:r>
                        <a:rPr lang="en-US" sz="1400" dirty="0" smtClean="0"/>
                        <a:t>$31</a:t>
                      </a:r>
                      <a:endParaRPr lang="en-US" sz="1400" dirty="0"/>
                    </a:p>
                  </a:txBody>
                  <a:tcPr marL="82856" marR="82856" marT="41429" marB="41429">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tc>
                  <a:txBody>
                    <a:bodyPr/>
                    <a:lstStyle/>
                    <a:p>
                      <a:pPr marL="0" indent="0" algn="ctr"/>
                      <a:r>
                        <a:rPr lang="en-US" sz="1400" dirty="0" smtClean="0"/>
                        <a:t>$31</a:t>
                      </a:r>
                      <a:endParaRPr lang="en-US" sz="1400" dirty="0"/>
                    </a:p>
                  </a:txBody>
                  <a:tcPr marL="82856" marR="82856" marT="41429" marB="41429">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tc>
                  <a:txBody>
                    <a:bodyPr/>
                    <a:lstStyle/>
                    <a:p>
                      <a:pPr marL="0" indent="0" algn="ctr">
                        <a:tabLst>
                          <a:tab pos="177800" algn="l"/>
                        </a:tabLst>
                      </a:pPr>
                      <a:r>
                        <a:rPr lang="en-US" sz="1400" dirty="0" smtClean="0"/>
                        <a:t>NA</a:t>
                      </a:r>
                      <a:endParaRPr lang="en-US" sz="1400" dirty="0"/>
                    </a:p>
                  </a:txBody>
                  <a:tcPr marL="82856" marR="82856" marT="41429" marB="41429">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tc>
                  <a:txBody>
                    <a:bodyPr/>
                    <a:lstStyle/>
                    <a:p>
                      <a:pPr marL="0" indent="0" algn="ctr"/>
                      <a:r>
                        <a:rPr lang="en-US" sz="1400" dirty="0" smtClean="0"/>
                        <a:t>NA</a:t>
                      </a:r>
                      <a:endParaRPr lang="en-US" sz="1400" dirty="0"/>
                    </a:p>
                  </a:txBody>
                  <a:tcPr marL="82856" marR="82856" marT="41429" marB="41429">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tc>
                  <a:txBody>
                    <a:bodyPr/>
                    <a:lstStyle/>
                    <a:p>
                      <a:pPr marL="0" indent="0" algn="ctr"/>
                      <a:r>
                        <a:rPr lang="en-US" sz="1400" dirty="0" smtClean="0"/>
                        <a:t>NA</a:t>
                      </a:r>
                      <a:endParaRPr lang="en-US" sz="1400" dirty="0"/>
                    </a:p>
                  </a:txBody>
                  <a:tcPr marL="82856" marR="82856" marT="41429" marB="41429">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tc>
                  <a:txBody>
                    <a:bodyPr/>
                    <a:lstStyle/>
                    <a:p>
                      <a:pPr marL="0" indent="0" algn="ctr">
                        <a:tabLst>
                          <a:tab pos="901700" algn="r"/>
                        </a:tabLst>
                      </a:pPr>
                      <a:r>
                        <a:rPr lang="en-US" sz="1400" dirty="0" smtClean="0"/>
                        <a:t>$73,340</a:t>
                      </a:r>
                      <a:endParaRPr lang="en-US" sz="1400" dirty="0"/>
                    </a:p>
                  </a:txBody>
                  <a:tcPr marL="82856" marR="82856" marT="41429" marB="41429">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tc>
                  <a:txBody>
                    <a:bodyPr/>
                    <a:lstStyle/>
                    <a:p>
                      <a:pPr marL="0" marR="0" indent="0" algn="ctr" defTabSz="457200" rtl="0" eaLnBrk="1" fontAlgn="auto" latinLnBrk="0" hangingPunct="1">
                        <a:lnSpc>
                          <a:spcPct val="100000"/>
                        </a:lnSpc>
                        <a:spcBef>
                          <a:spcPts val="0"/>
                        </a:spcBef>
                        <a:spcAft>
                          <a:spcPts val="0"/>
                        </a:spcAft>
                        <a:buClrTx/>
                        <a:buSzTx/>
                        <a:buFontTx/>
                        <a:buNone/>
                        <a:tabLst>
                          <a:tab pos="723900" algn="r"/>
                        </a:tabLst>
                        <a:defRPr/>
                      </a:pPr>
                      <a:r>
                        <a:rPr lang="en-US" sz="1400" dirty="0" smtClean="0"/>
                        <a:t>875</a:t>
                      </a:r>
                    </a:p>
                  </a:txBody>
                  <a:tcPr marL="82856" marR="82856" marT="41429" marB="41429">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extLst>
                  <a:ext uri="{0D108BD9-81ED-4DB2-BD59-A6C34878D82A}">
                    <a16:rowId xmlns:a16="http://schemas.microsoft.com/office/drawing/2014/main" xmlns="" val="10007"/>
                  </a:ext>
                </a:extLst>
              </a:tr>
              <a:tr h="317425">
                <a:tc>
                  <a:txBody>
                    <a:bodyPr/>
                    <a:lstStyle/>
                    <a:p>
                      <a:pPr marL="0" indent="0" algn="ctr"/>
                      <a:r>
                        <a:rPr lang="en-US" sz="1400" dirty="0" smtClean="0"/>
                        <a:t>$31</a:t>
                      </a:r>
                      <a:endParaRPr lang="en-US" sz="1400" dirty="0"/>
                    </a:p>
                  </a:txBody>
                  <a:tcPr marL="82856" marR="82856" marT="41429" marB="41429">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tc>
                  <a:txBody>
                    <a:bodyPr/>
                    <a:lstStyle/>
                    <a:p>
                      <a:pPr marL="0" indent="0" algn="ctr"/>
                      <a:r>
                        <a:rPr lang="en-US" sz="1400" dirty="0" smtClean="0"/>
                        <a:t>$30</a:t>
                      </a:r>
                      <a:endParaRPr lang="en-US" sz="1400" dirty="0"/>
                    </a:p>
                  </a:txBody>
                  <a:tcPr marL="82856" marR="82856" marT="41429" marB="41429">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tc>
                  <a:txBody>
                    <a:bodyPr/>
                    <a:lstStyle/>
                    <a:p>
                      <a:pPr marL="0" indent="0" algn="ctr">
                        <a:tabLst>
                          <a:tab pos="177800" algn="l"/>
                        </a:tabLst>
                      </a:pPr>
                      <a:r>
                        <a:rPr lang="en-US" sz="1400" dirty="0" smtClean="0"/>
                        <a:t>January</a:t>
                      </a:r>
                      <a:endParaRPr lang="en-US" sz="1400" dirty="0"/>
                    </a:p>
                  </a:txBody>
                  <a:tcPr marL="82856" marR="82856" marT="41429" marB="41429">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tc>
                  <a:txBody>
                    <a:bodyPr/>
                    <a:lstStyle/>
                    <a:p>
                      <a:pPr marL="0" indent="0" algn="ctr"/>
                      <a:r>
                        <a:rPr lang="en-US" sz="1400" dirty="0" smtClean="0"/>
                        <a:t>100%</a:t>
                      </a:r>
                      <a:endParaRPr lang="en-US" sz="1400" dirty="0"/>
                    </a:p>
                  </a:txBody>
                  <a:tcPr marL="82856" marR="82856" marT="41429" marB="41429">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tc>
                  <a:txBody>
                    <a:bodyPr/>
                    <a:lstStyle/>
                    <a:p>
                      <a:pPr marL="0" indent="0" algn="ctr"/>
                      <a:r>
                        <a:rPr lang="en-US" sz="1400" dirty="0" smtClean="0"/>
                        <a:t>20%</a:t>
                      </a:r>
                      <a:endParaRPr lang="en-US" sz="1400" dirty="0"/>
                    </a:p>
                  </a:txBody>
                  <a:tcPr marL="82856" marR="82856" marT="41429" marB="41429">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tc>
                  <a:txBody>
                    <a:bodyPr/>
                    <a:lstStyle/>
                    <a:p>
                      <a:pPr marL="0" indent="0" algn="ctr">
                        <a:tabLst>
                          <a:tab pos="901700" algn="r"/>
                        </a:tabLst>
                      </a:pPr>
                      <a:r>
                        <a:rPr lang="en-US" sz="1400" dirty="0" smtClean="0"/>
                        <a:t>$84,280</a:t>
                      </a:r>
                      <a:endParaRPr lang="en-US" sz="1400" dirty="0"/>
                    </a:p>
                  </a:txBody>
                  <a:tcPr marL="82856" marR="82856" marT="41429" marB="41429">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tc>
                  <a:txBody>
                    <a:bodyPr/>
                    <a:lstStyle/>
                    <a:p>
                      <a:pPr marL="0" marR="0" indent="0" algn="ctr" defTabSz="457200" rtl="0" eaLnBrk="1" fontAlgn="auto" latinLnBrk="0" hangingPunct="1">
                        <a:lnSpc>
                          <a:spcPct val="100000"/>
                        </a:lnSpc>
                        <a:spcBef>
                          <a:spcPts val="0"/>
                        </a:spcBef>
                        <a:spcAft>
                          <a:spcPts val="0"/>
                        </a:spcAft>
                        <a:buClrTx/>
                        <a:buSzTx/>
                        <a:buFontTx/>
                        <a:buNone/>
                        <a:tabLst>
                          <a:tab pos="723900" algn="r"/>
                        </a:tabLst>
                        <a:defRPr/>
                      </a:pPr>
                      <a:r>
                        <a:rPr lang="en-US" sz="1400" dirty="0" smtClean="0"/>
                        <a:t>232</a:t>
                      </a:r>
                      <a:endParaRPr lang="en-US" sz="1400" dirty="0"/>
                    </a:p>
                  </a:txBody>
                  <a:tcPr marL="82856" marR="82856" marT="41429" marB="41429">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extLst>
                  <a:ext uri="{0D108BD9-81ED-4DB2-BD59-A6C34878D82A}">
                    <a16:rowId xmlns:a16="http://schemas.microsoft.com/office/drawing/2014/main" xmlns="" val="10008"/>
                  </a:ext>
                </a:extLst>
              </a:tr>
              <a:tr h="317425">
                <a:tc>
                  <a:txBody>
                    <a:bodyPr/>
                    <a:lstStyle/>
                    <a:p>
                      <a:pPr marL="0" indent="0" algn="ctr"/>
                      <a:r>
                        <a:rPr lang="en-US" sz="1400" dirty="0" smtClean="0"/>
                        <a:t>$31</a:t>
                      </a:r>
                      <a:endParaRPr lang="en-US" sz="1400" dirty="0"/>
                    </a:p>
                  </a:txBody>
                  <a:tcPr marL="82856" marR="82856" marT="41429" marB="41429">
                    <a:lnT w="12700" cap="flat" cmpd="sng" algn="ctr">
                      <a:solidFill>
                        <a:scrgbClr r="0" g="0" b="0"/>
                      </a:solidFill>
                      <a:prstDash val="solid"/>
                      <a:round/>
                      <a:headEnd type="none" w="med" len="med"/>
                      <a:tailEnd type="none" w="med" len="med"/>
                    </a:lnT>
                    <a:lnB w="28575" cap="flat" cmpd="sng" algn="ctr">
                      <a:solidFill>
                        <a:scrgbClr r="0" g="0" b="0"/>
                      </a:solidFill>
                      <a:prstDash val="solid"/>
                      <a:round/>
                      <a:headEnd type="none" w="med" len="med"/>
                      <a:tailEnd type="none" w="med" len="med"/>
                    </a:lnB>
                    <a:solidFill>
                      <a:srgbClr val="FFFFFF"/>
                    </a:solidFill>
                  </a:tcPr>
                </a:tc>
                <a:tc>
                  <a:txBody>
                    <a:bodyPr/>
                    <a:lstStyle/>
                    <a:p>
                      <a:pPr marL="0" indent="0" algn="ctr"/>
                      <a:r>
                        <a:rPr lang="en-US" sz="1400" dirty="0" smtClean="0"/>
                        <a:t>$30</a:t>
                      </a:r>
                      <a:endParaRPr lang="en-US" sz="1400" dirty="0"/>
                    </a:p>
                  </a:txBody>
                  <a:tcPr marL="82856" marR="82856" marT="41429" marB="41429">
                    <a:lnT w="12700" cap="flat" cmpd="sng" algn="ctr">
                      <a:solidFill>
                        <a:scrgbClr r="0" g="0" b="0"/>
                      </a:solidFill>
                      <a:prstDash val="solid"/>
                      <a:round/>
                      <a:headEnd type="none" w="med" len="med"/>
                      <a:tailEnd type="none" w="med" len="med"/>
                    </a:lnT>
                    <a:lnB w="28575" cap="flat" cmpd="sng" algn="ctr">
                      <a:solidFill>
                        <a:scrgbClr r="0" g="0" b="0"/>
                      </a:solidFill>
                      <a:prstDash val="solid"/>
                      <a:round/>
                      <a:headEnd type="none" w="med" len="med"/>
                      <a:tailEnd type="none" w="med" len="med"/>
                    </a:lnB>
                    <a:solidFill>
                      <a:srgbClr val="FFFFFF"/>
                    </a:solidFill>
                  </a:tcPr>
                </a:tc>
                <a:tc>
                  <a:txBody>
                    <a:bodyPr/>
                    <a:lstStyle/>
                    <a:p>
                      <a:pPr marL="0" indent="0" algn="ctr">
                        <a:tabLst>
                          <a:tab pos="177800" algn="l"/>
                        </a:tabLst>
                      </a:pPr>
                      <a:r>
                        <a:rPr lang="en-US" sz="1400" dirty="0" smtClean="0"/>
                        <a:t>April</a:t>
                      </a:r>
                      <a:endParaRPr lang="en-US" sz="1400" dirty="0"/>
                    </a:p>
                  </a:txBody>
                  <a:tcPr marL="82856" marR="82856" marT="41429" marB="41429">
                    <a:lnT w="12700" cap="flat" cmpd="sng" algn="ctr">
                      <a:solidFill>
                        <a:scrgbClr r="0" g="0" b="0"/>
                      </a:solidFill>
                      <a:prstDash val="solid"/>
                      <a:round/>
                      <a:headEnd type="none" w="med" len="med"/>
                      <a:tailEnd type="none" w="med" len="med"/>
                    </a:lnT>
                    <a:lnB w="28575" cap="flat" cmpd="sng" algn="ctr">
                      <a:solidFill>
                        <a:scrgbClr r="0" g="0" b="0"/>
                      </a:solidFill>
                      <a:prstDash val="solid"/>
                      <a:round/>
                      <a:headEnd type="none" w="med" len="med"/>
                      <a:tailEnd type="none" w="med" len="med"/>
                    </a:lnB>
                    <a:solidFill>
                      <a:srgbClr val="FFFFFF"/>
                    </a:solidFill>
                  </a:tcPr>
                </a:tc>
                <a:tc>
                  <a:txBody>
                    <a:bodyPr/>
                    <a:lstStyle/>
                    <a:p>
                      <a:pPr marL="0" indent="0" algn="ctr"/>
                      <a:r>
                        <a:rPr lang="en-US" sz="1400" dirty="0" smtClean="0"/>
                        <a:t>100%</a:t>
                      </a:r>
                      <a:endParaRPr lang="en-US" sz="1400" dirty="0"/>
                    </a:p>
                  </a:txBody>
                  <a:tcPr marL="82856" marR="82856" marT="41429" marB="41429">
                    <a:lnT w="12700" cap="flat" cmpd="sng" algn="ctr">
                      <a:solidFill>
                        <a:scrgbClr r="0" g="0" b="0"/>
                      </a:solidFill>
                      <a:prstDash val="solid"/>
                      <a:round/>
                      <a:headEnd type="none" w="med" len="med"/>
                      <a:tailEnd type="none" w="med" len="med"/>
                    </a:lnT>
                    <a:lnB w="28575" cap="flat" cmpd="sng" algn="ctr">
                      <a:solidFill>
                        <a:scrgbClr r="0" g="0" b="0"/>
                      </a:solidFill>
                      <a:prstDash val="solid"/>
                      <a:round/>
                      <a:headEnd type="none" w="med" len="med"/>
                      <a:tailEnd type="none" w="med" len="med"/>
                    </a:lnB>
                    <a:solidFill>
                      <a:srgbClr val="FFFFFF"/>
                    </a:solidFill>
                  </a:tcPr>
                </a:tc>
                <a:tc>
                  <a:txBody>
                    <a:bodyPr/>
                    <a:lstStyle/>
                    <a:p>
                      <a:pPr marL="0" indent="0" algn="ctr"/>
                      <a:r>
                        <a:rPr lang="en-US" sz="1400" dirty="0" smtClean="0"/>
                        <a:t>20%</a:t>
                      </a:r>
                      <a:endParaRPr lang="en-US" sz="1400" dirty="0"/>
                    </a:p>
                  </a:txBody>
                  <a:tcPr marL="82856" marR="82856" marT="41429" marB="41429">
                    <a:lnT w="12700" cap="flat" cmpd="sng" algn="ctr">
                      <a:solidFill>
                        <a:scrgbClr r="0" g="0" b="0"/>
                      </a:solidFill>
                      <a:prstDash val="solid"/>
                      <a:round/>
                      <a:headEnd type="none" w="med" len="med"/>
                      <a:tailEnd type="none" w="med" len="med"/>
                    </a:lnT>
                    <a:lnB w="28575" cap="flat" cmpd="sng" algn="ctr">
                      <a:solidFill>
                        <a:scrgbClr r="0" g="0" b="0"/>
                      </a:solidFill>
                      <a:prstDash val="solid"/>
                      <a:round/>
                      <a:headEnd type="none" w="med" len="med"/>
                      <a:tailEnd type="none" w="med" len="med"/>
                    </a:lnB>
                    <a:solidFill>
                      <a:srgbClr val="FFFFFF"/>
                    </a:solidFill>
                  </a:tcPr>
                </a:tc>
                <a:tc>
                  <a:txBody>
                    <a:bodyPr/>
                    <a:lstStyle/>
                    <a:p>
                      <a:pPr marL="0" indent="0" algn="ctr">
                        <a:tabLst>
                          <a:tab pos="901700" algn="r"/>
                        </a:tabLst>
                      </a:pPr>
                      <a:r>
                        <a:rPr lang="en-US" sz="1400" dirty="0" smtClean="0"/>
                        <a:t>$69,120</a:t>
                      </a:r>
                      <a:endParaRPr lang="en-US" sz="1400" dirty="0"/>
                    </a:p>
                  </a:txBody>
                  <a:tcPr marL="82856" marR="82856" marT="41429" marB="41429">
                    <a:lnT w="12700" cap="flat" cmpd="sng" algn="ctr">
                      <a:solidFill>
                        <a:scrgbClr r="0" g="0" b="0"/>
                      </a:solidFill>
                      <a:prstDash val="solid"/>
                      <a:round/>
                      <a:headEnd type="none" w="med" len="med"/>
                      <a:tailEnd type="none" w="med" len="med"/>
                    </a:lnT>
                    <a:lnB w="28575" cap="flat" cmpd="sng" algn="ctr">
                      <a:solidFill>
                        <a:scrgbClr r="0" g="0" b="0"/>
                      </a:solidFill>
                      <a:prstDash val="solid"/>
                      <a:round/>
                      <a:headEnd type="none" w="med" len="med"/>
                      <a:tailEnd type="none" w="med" len="med"/>
                    </a:lnB>
                    <a:solidFill>
                      <a:srgbClr val="FFFFFF"/>
                    </a:solidFill>
                  </a:tcPr>
                </a:tc>
                <a:tc>
                  <a:txBody>
                    <a:bodyPr/>
                    <a:lstStyle/>
                    <a:p>
                      <a:pPr algn="ctr">
                        <a:tabLst>
                          <a:tab pos="723900" algn="r"/>
                        </a:tabLst>
                      </a:pPr>
                      <a:r>
                        <a:rPr lang="en-US" sz="1400" dirty="0" smtClean="0"/>
                        <a:t>1,492</a:t>
                      </a:r>
                      <a:endParaRPr lang="en-US" sz="1400" dirty="0"/>
                    </a:p>
                  </a:txBody>
                  <a:tcPr marL="82856" marR="82856" marT="41429" marB="41429">
                    <a:lnT w="12700" cap="flat" cmpd="sng" algn="ctr">
                      <a:solidFill>
                        <a:scrgbClr r="0" g="0" b="0"/>
                      </a:solidFill>
                      <a:prstDash val="solid"/>
                      <a:round/>
                      <a:headEnd type="none" w="med" len="med"/>
                      <a:tailEnd type="none" w="med" len="med"/>
                    </a:lnT>
                    <a:lnB w="28575" cap="flat" cmpd="sng" algn="ctr">
                      <a:solidFill>
                        <a:scrgbClr r="0" g="0" b="0"/>
                      </a:solidFill>
                      <a:prstDash val="solid"/>
                      <a:round/>
                      <a:headEnd type="none" w="med" len="med"/>
                      <a:tailEnd type="none" w="med" len="med"/>
                    </a:lnB>
                    <a:solidFill>
                      <a:srgbClr val="FFFFFF"/>
                    </a:solidFill>
                  </a:tcPr>
                </a:tc>
                <a:extLst>
                  <a:ext uri="{0D108BD9-81ED-4DB2-BD59-A6C34878D82A}">
                    <a16:rowId xmlns:a16="http://schemas.microsoft.com/office/drawing/2014/main" xmlns="" val="10009"/>
                  </a:ext>
                </a:extLst>
              </a:tr>
            </a:tbl>
          </a:graphicData>
        </a:graphic>
      </p:graphicFrame>
    </p:spTree>
    <p:extLst>
      <p:ext uri="{BB962C8B-B14F-4D97-AF65-F5344CB8AC3E}">
        <p14:creationId xmlns:p14="http://schemas.microsoft.com/office/powerpoint/2010/main" val="398024454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4794"/>
            <a:ext cx="8229600" cy="707856"/>
          </a:xfrm>
        </p:spPr>
        <p:txBody>
          <a:bodyPr tIns="91425">
            <a:spAutoFit/>
          </a:bodyPr>
          <a:lstStyle/>
          <a:p>
            <a:pPr lvl="0" defTabSz="457200">
              <a:spcBef>
                <a:spcPct val="0"/>
              </a:spcBef>
              <a:buClrTx/>
            </a:pPr>
            <a:r>
              <a:rPr lang="en-US" kern="1200" dirty="0" smtClean="0">
                <a:latin typeface="Times New Roman" panose="02020603050405020304" pitchFamily="18" charset="0"/>
                <a:ea typeface="+mj-ea"/>
                <a:cs typeface="+mj-cs"/>
              </a:rPr>
              <a:t>Conclusions on Promotion </a:t>
            </a:r>
            <a:r>
              <a:rPr lang="en-US" sz="2000" b="0" kern="1200" dirty="0" smtClean="0">
                <a:latin typeface="Times New Roman" panose="02020603050405020304" pitchFamily="18" charset="0"/>
                <a:ea typeface="+mj-ea"/>
                <a:cs typeface="+mj-cs"/>
              </a:rPr>
              <a:t>(1 of 3)</a:t>
            </a:r>
            <a:endParaRPr lang="en-US" sz="2000" b="0" kern="1200" dirty="0">
              <a:latin typeface="Times New Roman" panose="02020603050405020304" pitchFamily="18" charset="0"/>
              <a:ea typeface="+mj-ea"/>
              <a:cs typeface="+mj-cs"/>
            </a:endParaRPr>
          </a:p>
        </p:txBody>
      </p:sp>
      <p:sp>
        <p:nvSpPr>
          <p:cNvPr id="3" name="Text Placeholder 2"/>
          <p:cNvSpPr>
            <a:spLocks noGrp="1"/>
          </p:cNvSpPr>
          <p:nvPr>
            <p:ph type="body" idx="1"/>
          </p:nvPr>
        </p:nvSpPr>
        <p:spPr>
          <a:xfrm>
            <a:off x="457200" y="1600200"/>
            <a:ext cx="8229600" cy="2962319"/>
          </a:xfrm>
        </p:spPr>
        <p:txBody>
          <a:bodyPr wrap="square" lIns="91425" tIns="91425" rIns="91425" bIns="91425">
            <a:spAutoFit/>
          </a:bodyPr>
          <a:lstStyle/>
          <a:p>
            <a:pPr marL="432054" lvl="0" indent="-432054" defTabSz="457200">
              <a:spcAft>
                <a:spcPct val="0"/>
              </a:spcAft>
              <a:buSzPts val="2400"/>
              <a:buFont typeface="+mj-lt"/>
              <a:buAutoNum type="arabicPeriod"/>
              <a:tabLst/>
            </a:pPr>
            <a:r>
              <a:rPr lang="en-US" sz="2400" kern="1200" dirty="0">
                <a:solidFill>
                  <a:srgbClr val="000000"/>
                </a:solidFill>
                <a:latin typeface="Arial (Body)"/>
                <a:ea typeface="+mn-ea"/>
                <a:cs typeface="+mn-cs"/>
              </a:rPr>
              <a:t>Average inventory increases if a promotion is run during the peak period and decreases if the promotion is run during the off-peak period</a:t>
            </a:r>
          </a:p>
          <a:p>
            <a:pPr marL="432054" lvl="0" indent="-432054" defTabSz="457200">
              <a:spcAft>
                <a:spcPct val="0"/>
              </a:spcAft>
              <a:buSzPts val="2400"/>
              <a:buFont typeface="+mj-lt"/>
              <a:buAutoNum type="arabicPeriod"/>
              <a:tabLst/>
            </a:pPr>
            <a:r>
              <a:rPr lang="en-US" sz="2400" kern="1200" dirty="0">
                <a:solidFill>
                  <a:srgbClr val="000000"/>
                </a:solidFill>
                <a:latin typeface="Arial (Body)"/>
                <a:ea typeface="+mn-ea"/>
                <a:cs typeface="+mn-cs"/>
              </a:rPr>
              <a:t>Promoting during a peak-demand month may decrease overall profitability if there is a small increase in consumption and a significant fraction of the demand increase results from a forward </a:t>
            </a:r>
            <a:r>
              <a:rPr lang="en-US" sz="2400" kern="1200" dirty="0" smtClean="0">
                <a:solidFill>
                  <a:srgbClr val="000000"/>
                </a:solidFill>
                <a:latin typeface="Arial (Body)"/>
                <a:ea typeface="+mn-ea"/>
                <a:cs typeface="+mn-cs"/>
              </a:rPr>
              <a:t>buy</a:t>
            </a:r>
          </a:p>
        </p:txBody>
      </p:sp>
    </p:spTree>
    <p:extLst>
      <p:ext uri="{BB962C8B-B14F-4D97-AF65-F5344CB8AC3E}">
        <p14:creationId xmlns:p14="http://schemas.microsoft.com/office/powerpoint/2010/main" val="3906318772"/>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4794"/>
            <a:ext cx="8229600" cy="707856"/>
          </a:xfrm>
        </p:spPr>
        <p:txBody>
          <a:bodyPr tIns="91425">
            <a:spAutoFit/>
          </a:bodyPr>
          <a:lstStyle/>
          <a:p>
            <a:pPr lvl="0" defTabSz="457200">
              <a:spcBef>
                <a:spcPct val="0"/>
              </a:spcBef>
              <a:buClrTx/>
            </a:pPr>
            <a:r>
              <a:rPr lang="en-US" kern="1200" dirty="0" smtClean="0">
                <a:latin typeface="Times New Roman" panose="02020603050405020304" pitchFamily="18" charset="0"/>
                <a:ea typeface="+mj-ea"/>
                <a:cs typeface="+mj-cs"/>
              </a:rPr>
              <a:t>Conclusions on Promotion </a:t>
            </a:r>
            <a:r>
              <a:rPr lang="en-US" sz="2000" b="0" kern="1200" dirty="0" smtClean="0">
                <a:latin typeface="Times New Roman" panose="02020603050405020304" pitchFamily="18" charset="0"/>
                <a:ea typeface="+mj-ea"/>
                <a:cs typeface="+mj-cs"/>
              </a:rPr>
              <a:t>(2 of 3)</a:t>
            </a:r>
            <a:endParaRPr lang="en-US" sz="2000" b="0" kern="1200" dirty="0">
              <a:latin typeface="Times New Roman" panose="02020603050405020304" pitchFamily="18" charset="0"/>
              <a:ea typeface="+mj-ea"/>
              <a:cs typeface="+mj-cs"/>
            </a:endParaRPr>
          </a:p>
        </p:txBody>
      </p:sp>
      <p:sp>
        <p:nvSpPr>
          <p:cNvPr id="3" name="Text Placeholder 2"/>
          <p:cNvSpPr>
            <a:spLocks noGrp="1"/>
          </p:cNvSpPr>
          <p:nvPr>
            <p:ph type="body" idx="1"/>
          </p:nvPr>
        </p:nvSpPr>
        <p:spPr>
          <a:xfrm>
            <a:off x="457200" y="1600200"/>
            <a:ext cx="8229600" cy="2592987"/>
          </a:xfrm>
        </p:spPr>
        <p:txBody>
          <a:bodyPr wrap="square" lIns="91425" tIns="91425" rIns="91425" bIns="91425">
            <a:spAutoFit/>
          </a:bodyPr>
          <a:lstStyle/>
          <a:p>
            <a:pPr marL="432054" lvl="0" indent="-432054" defTabSz="457200">
              <a:spcAft>
                <a:spcPct val="0"/>
              </a:spcAft>
              <a:buSzPts val="2400"/>
              <a:buFont typeface="+mj-lt"/>
              <a:buAutoNum type="arabicPeriod" startAt="3"/>
              <a:tabLst/>
            </a:pPr>
            <a:r>
              <a:rPr lang="en-US" sz="2400" kern="1200" dirty="0">
                <a:solidFill>
                  <a:srgbClr val="000000"/>
                </a:solidFill>
                <a:latin typeface="Arial (Body)"/>
                <a:ea typeface="+mn-ea"/>
                <a:cs typeface="+mn-cs"/>
              </a:rPr>
              <a:t>As the consumption increase from discounting grows and forward buying becomes a smaller fraction of the demand increase from a promotion, it is more profitable to promote during the peak period</a:t>
            </a:r>
          </a:p>
          <a:p>
            <a:pPr marL="432054" lvl="0" indent="-432054" defTabSz="457200">
              <a:spcAft>
                <a:spcPct val="0"/>
              </a:spcAft>
              <a:buSzPts val="2400"/>
              <a:buFont typeface="+mj-lt"/>
              <a:buAutoNum type="arabicPeriod" startAt="3"/>
              <a:tabLst/>
            </a:pPr>
            <a:r>
              <a:rPr lang="en-US" sz="2400" kern="1200" dirty="0">
                <a:solidFill>
                  <a:srgbClr val="000000"/>
                </a:solidFill>
                <a:latin typeface="Arial (Body)"/>
                <a:ea typeface="+mn-ea"/>
                <a:cs typeface="+mn-cs"/>
              </a:rPr>
              <a:t>As the product margin declines, promoting during the peak-demand period becomes less </a:t>
            </a:r>
            <a:r>
              <a:rPr lang="en-US" sz="2400" kern="1200" dirty="0" smtClean="0">
                <a:solidFill>
                  <a:srgbClr val="000000"/>
                </a:solidFill>
                <a:latin typeface="Arial (Body)"/>
                <a:ea typeface="+mn-ea"/>
                <a:cs typeface="+mn-cs"/>
              </a:rPr>
              <a:t>profitable</a:t>
            </a:r>
          </a:p>
        </p:txBody>
      </p:sp>
    </p:spTree>
    <p:extLst>
      <p:ext uri="{BB962C8B-B14F-4D97-AF65-F5344CB8AC3E}">
        <p14:creationId xmlns:p14="http://schemas.microsoft.com/office/powerpoint/2010/main" val="2701419064"/>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4794"/>
            <a:ext cx="8229600" cy="707856"/>
          </a:xfrm>
        </p:spPr>
        <p:txBody>
          <a:bodyPr tIns="91425">
            <a:spAutoFit/>
          </a:bodyPr>
          <a:lstStyle/>
          <a:p>
            <a:pPr lvl="0" defTabSz="457200">
              <a:spcBef>
                <a:spcPct val="0"/>
              </a:spcBef>
              <a:buClrTx/>
            </a:pPr>
            <a:r>
              <a:rPr lang="en-US" kern="1200" dirty="0" smtClean="0">
                <a:latin typeface="Times New Roman" panose="02020603050405020304" pitchFamily="18" charset="0"/>
                <a:ea typeface="+mj-ea"/>
                <a:cs typeface="+mj-cs"/>
              </a:rPr>
              <a:t>Conclusions on Promotion </a:t>
            </a:r>
            <a:r>
              <a:rPr lang="en-US" sz="2000" b="0" kern="1200" dirty="0" smtClean="0">
                <a:latin typeface="Times New Roman" panose="02020603050405020304" pitchFamily="18" charset="0"/>
                <a:ea typeface="+mj-ea"/>
                <a:cs typeface="+mj-cs"/>
              </a:rPr>
              <a:t>(3 of 3)</a:t>
            </a:r>
            <a:endParaRPr lang="en-US" sz="2000" b="0" kern="1200" dirty="0">
              <a:latin typeface="Times New Roman" panose="02020603050405020304" pitchFamily="18" charset="0"/>
              <a:ea typeface="+mj-ea"/>
              <a:cs typeface="+mj-cs"/>
            </a:endParaRPr>
          </a:p>
        </p:txBody>
      </p:sp>
      <p:sp>
        <p:nvSpPr>
          <p:cNvPr id="3" name="Text Placeholder 2"/>
          <p:cNvSpPr>
            <a:spLocks noGrp="1"/>
          </p:cNvSpPr>
          <p:nvPr>
            <p:ph type="body" idx="1"/>
          </p:nvPr>
        </p:nvSpPr>
        <p:spPr>
          <a:xfrm>
            <a:off x="457200" y="1600200"/>
            <a:ext cx="8229600" cy="3716372"/>
          </a:xfrm>
        </p:spPr>
        <p:txBody>
          <a:bodyPr wrap="square" lIns="91425" tIns="91425" rIns="91425" bIns="91425">
            <a:spAutoFit/>
          </a:bodyPr>
          <a:lstStyle/>
          <a:p>
            <a:pPr marL="255651" lvl="0" indent="-255651" defTabSz="457200">
              <a:spcAft>
                <a:spcPct val="0"/>
              </a:spcAft>
              <a:buFont typeface="Arial" panose="020B0604020202020204" pitchFamily="34" charset="0"/>
              <a:buChar char="•"/>
              <a:tabLst/>
            </a:pPr>
            <a:r>
              <a:rPr lang="en-US" sz="2400" kern="1200" dirty="0">
                <a:solidFill>
                  <a:srgbClr val="000000"/>
                </a:solidFill>
                <a:latin typeface="Arial (Body)"/>
                <a:ea typeface="+mn-ea"/>
                <a:cs typeface="+mn-cs"/>
              </a:rPr>
              <a:t>When faced with seasonal demand, use combination of pricing and production and inventory to improve profitability</a:t>
            </a:r>
          </a:p>
          <a:p>
            <a:pPr marL="255651" lvl="0" indent="-255651" defTabSz="457200">
              <a:spcAft>
                <a:spcPct val="0"/>
              </a:spcAft>
              <a:buFont typeface="Arial" panose="020B0604020202020204" pitchFamily="34" charset="0"/>
              <a:buChar char="•"/>
              <a:tabLst/>
            </a:pPr>
            <a:r>
              <a:rPr lang="en-US" sz="2400" kern="1200" dirty="0">
                <a:solidFill>
                  <a:srgbClr val="000000"/>
                </a:solidFill>
                <a:latin typeface="Arial (Body)"/>
                <a:ea typeface="+mn-ea"/>
                <a:cs typeface="+mn-cs"/>
              </a:rPr>
              <a:t>Entire supply chain must work toward one goal of maximizing profitability</a:t>
            </a:r>
          </a:p>
          <a:p>
            <a:pPr marL="255651" lvl="0" indent="-255651" defTabSz="457200">
              <a:spcAft>
                <a:spcPct val="0"/>
              </a:spcAft>
              <a:buFont typeface="Arial" panose="020B0604020202020204" pitchFamily="34" charset="0"/>
              <a:buChar char="•"/>
              <a:tabLst/>
            </a:pPr>
            <a:r>
              <a:rPr lang="en-US" sz="2400" kern="1200" dirty="0">
                <a:solidFill>
                  <a:srgbClr val="000000"/>
                </a:solidFill>
                <a:latin typeface="Arial (Body)"/>
                <a:ea typeface="+mn-ea"/>
                <a:cs typeface="+mn-cs"/>
              </a:rPr>
              <a:t>High-level support within an organization is necessary</a:t>
            </a:r>
          </a:p>
          <a:p>
            <a:pPr marL="255651" lvl="0" indent="-255651" defTabSz="457200">
              <a:spcAft>
                <a:spcPct val="0"/>
              </a:spcAft>
              <a:buFont typeface="Arial" panose="020B0604020202020204" pitchFamily="34" charset="0"/>
              <a:buChar char="•"/>
              <a:tabLst/>
            </a:pPr>
            <a:r>
              <a:rPr lang="en-US" sz="2400" kern="1200" dirty="0">
                <a:solidFill>
                  <a:srgbClr val="000000"/>
                </a:solidFill>
                <a:latin typeface="Arial (Body)"/>
                <a:ea typeface="+mn-ea"/>
                <a:cs typeface="+mn-cs"/>
              </a:rPr>
              <a:t>Early warning alerts should be built into the </a:t>
            </a:r>
            <a:r>
              <a:rPr lang="en-US" sz="2400" kern="1200" dirty="0" smtClean="0">
                <a:solidFill>
                  <a:srgbClr val="000000"/>
                </a:solidFill>
                <a:latin typeface="Arial (Body)"/>
                <a:ea typeface="+mn-ea"/>
                <a:cs typeface="+mn-cs"/>
              </a:rPr>
              <a:t>S</a:t>
            </a:r>
            <a:r>
              <a:rPr lang="en-US" sz="100" kern="1200" dirty="0" smtClean="0">
                <a:solidFill>
                  <a:srgbClr val="000000"/>
                </a:solidFill>
                <a:latin typeface="Arial (Body)"/>
                <a:ea typeface="+mn-ea"/>
                <a:cs typeface="+mn-cs"/>
              </a:rPr>
              <a:t> </a:t>
            </a:r>
            <a:r>
              <a:rPr lang="en-US" sz="2400" kern="1200" dirty="0" smtClean="0">
                <a:solidFill>
                  <a:srgbClr val="000000"/>
                </a:solidFill>
                <a:latin typeface="Arial (Body)"/>
                <a:ea typeface="+mn-ea"/>
                <a:cs typeface="+mn-cs"/>
              </a:rPr>
              <a:t>&amp;</a:t>
            </a:r>
            <a:r>
              <a:rPr lang="en-US" sz="100" kern="1200" dirty="0" smtClean="0">
                <a:solidFill>
                  <a:srgbClr val="000000"/>
                </a:solidFill>
                <a:latin typeface="Arial (Body)"/>
                <a:ea typeface="+mn-ea"/>
                <a:cs typeface="+mn-cs"/>
              </a:rPr>
              <a:t> </a:t>
            </a:r>
            <a:r>
              <a:rPr lang="en-US" sz="2400" kern="1200" dirty="0" smtClean="0">
                <a:solidFill>
                  <a:srgbClr val="000000"/>
                </a:solidFill>
                <a:latin typeface="Arial (Body)"/>
                <a:ea typeface="+mn-ea"/>
                <a:cs typeface="+mn-cs"/>
              </a:rPr>
              <a:t>O</a:t>
            </a:r>
            <a:r>
              <a:rPr lang="en-US" sz="100" kern="1200" dirty="0" smtClean="0">
                <a:solidFill>
                  <a:srgbClr val="000000"/>
                </a:solidFill>
                <a:latin typeface="Arial (Body)"/>
                <a:ea typeface="+mn-ea"/>
                <a:cs typeface="+mn-cs"/>
              </a:rPr>
              <a:t> </a:t>
            </a:r>
            <a:r>
              <a:rPr lang="en-US" sz="2400" kern="1200" dirty="0" smtClean="0">
                <a:solidFill>
                  <a:srgbClr val="000000"/>
                </a:solidFill>
                <a:latin typeface="Arial (Body)"/>
                <a:ea typeface="+mn-ea"/>
                <a:cs typeface="+mn-cs"/>
              </a:rPr>
              <a:t>P process</a:t>
            </a:r>
          </a:p>
        </p:txBody>
      </p:sp>
    </p:spTree>
    <p:extLst>
      <p:ext uri="{BB962C8B-B14F-4D97-AF65-F5344CB8AC3E}">
        <p14:creationId xmlns:p14="http://schemas.microsoft.com/office/powerpoint/2010/main" val="1456220791"/>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4794"/>
            <a:ext cx="8229600" cy="707856"/>
          </a:xfrm>
        </p:spPr>
        <p:txBody>
          <a:bodyPr tIns="91425">
            <a:spAutoFit/>
          </a:bodyPr>
          <a:lstStyle/>
          <a:p>
            <a:pPr lvl="0" defTabSz="457200">
              <a:spcBef>
                <a:spcPct val="0"/>
              </a:spcBef>
              <a:buClrTx/>
            </a:pPr>
            <a:r>
              <a:rPr lang="en-US" kern="1200" dirty="0" smtClean="0">
                <a:solidFill>
                  <a:srgbClr val="007FA3"/>
                </a:solidFill>
                <a:latin typeface="Times New Roman" panose="02020603050405020304" pitchFamily="18" charset="0"/>
                <a:ea typeface="+mj-ea"/>
                <a:cs typeface="+mj-cs"/>
              </a:rPr>
              <a:t>Summary of Learning Objective 2</a:t>
            </a:r>
            <a:endParaRPr lang="en-US" sz="2000" b="0" kern="1200" dirty="0">
              <a:solidFill>
                <a:srgbClr val="007FA3"/>
              </a:solidFill>
              <a:latin typeface="Times New Roman" panose="02020603050405020304" pitchFamily="18" charset="0"/>
              <a:ea typeface="+mj-ea"/>
              <a:cs typeface="+mj-cs"/>
            </a:endParaRPr>
          </a:p>
        </p:txBody>
      </p:sp>
      <p:sp>
        <p:nvSpPr>
          <p:cNvPr id="3" name="Content Placeholder 2"/>
          <p:cNvSpPr>
            <a:spLocks noGrp="1"/>
          </p:cNvSpPr>
          <p:nvPr>
            <p:ph type="body" idx="1"/>
          </p:nvPr>
        </p:nvSpPr>
        <p:spPr>
          <a:xfrm>
            <a:off x="457200" y="1600200"/>
            <a:ext cx="8229600" cy="4247286"/>
          </a:xfrm>
        </p:spPr>
        <p:txBody>
          <a:bodyPr wrap="square" lIns="91425" tIns="91425" rIns="91425" bIns="91425">
            <a:spAutoFit/>
          </a:bodyPr>
          <a:lstStyle/>
          <a:p>
            <a:pPr marL="0" lvl="0" indent="0" defTabSz="457200">
              <a:spcAft>
                <a:spcPct val="0"/>
              </a:spcAft>
              <a:buSzPct val="100000"/>
              <a:buNone/>
            </a:pPr>
            <a:r>
              <a:rPr lang="en-US" sz="2400" kern="1200" dirty="0">
                <a:solidFill>
                  <a:srgbClr val="000000"/>
                </a:solidFill>
                <a:latin typeface="Arial (Body)"/>
                <a:ea typeface="+mn-ea"/>
                <a:cs typeface="+mn-cs"/>
              </a:rPr>
              <a:t>To handle predictable variability in a profit-maximizing manner, supply chains must coordinate the management of both supply and demand. This requires coordinated planning across all stages of the supply chain to select pricing and promotion plans and aggregate plans that maximize supply chain profit. Sales and operations planning allows a supply chain to coordinate the planning of pricing and promotions along with the planning of production to maximize profits. To achieve coordination in practice, it is important that the </a:t>
            </a:r>
            <a:r>
              <a:rPr lang="en-US" sz="2400" kern="1200" dirty="0" smtClean="0">
                <a:solidFill>
                  <a:srgbClr val="000000"/>
                </a:solidFill>
                <a:latin typeface="Arial (Body)"/>
                <a:ea typeface="+mn-ea"/>
                <a:cs typeface="+mn-cs"/>
              </a:rPr>
              <a:t>S</a:t>
            </a:r>
            <a:r>
              <a:rPr lang="en-US" sz="100" kern="1200" dirty="0" smtClean="0">
                <a:solidFill>
                  <a:srgbClr val="000000"/>
                </a:solidFill>
                <a:latin typeface="Arial (Body)"/>
                <a:ea typeface="+mn-ea"/>
                <a:cs typeface="+mn-cs"/>
              </a:rPr>
              <a:t> </a:t>
            </a:r>
            <a:r>
              <a:rPr lang="en-US" sz="2400" kern="1200" dirty="0" smtClean="0">
                <a:solidFill>
                  <a:srgbClr val="000000"/>
                </a:solidFill>
                <a:latin typeface="Arial (Body)"/>
                <a:ea typeface="+mn-ea"/>
                <a:cs typeface="+mn-cs"/>
              </a:rPr>
              <a:t>&amp;</a:t>
            </a:r>
            <a:r>
              <a:rPr lang="en-US" sz="100" kern="1200" dirty="0" smtClean="0">
                <a:solidFill>
                  <a:srgbClr val="000000"/>
                </a:solidFill>
                <a:latin typeface="Arial (Body)"/>
                <a:ea typeface="+mn-ea"/>
                <a:cs typeface="+mn-cs"/>
              </a:rPr>
              <a:t> </a:t>
            </a:r>
            <a:r>
              <a:rPr lang="en-US" sz="2400" kern="1200" dirty="0" smtClean="0">
                <a:solidFill>
                  <a:srgbClr val="000000"/>
                </a:solidFill>
                <a:latin typeface="Arial (Body)"/>
                <a:ea typeface="+mn-ea"/>
                <a:cs typeface="+mn-cs"/>
              </a:rPr>
              <a:t>O</a:t>
            </a:r>
            <a:r>
              <a:rPr lang="en-US" sz="100" kern="1200" dirty="0" smtClean="0">
                <a:solidFill>
                  <a:srgbClr val="000000"/>
                </a:solidFill>
                <a:latin typeface="Arial (Body)"/>
                <a:ea typeface="+mn-ea"/>
                <a:cs typeface="+mn-cs"/>
              </a:rPr>
              <a:t> </a:t>
            </a:r>
            <a:r>
              <a:rPr lang="en-US" sz="2400" kern="1200" dirty="0" smtClean="0">
                <a:solidFill>
                  <a:srgbClr val="000000"/>
                </a:solidFill>
                <a:latin typeface="Arial (Body)"/>
                <a:ea typeface="+mn-ea"/>
                <a:cs typeface="+mn-cs"/>
              </a:rPr>
              <a:t>P process </a:t>
            </a:r>
            <a:r>
              <a:rPr lang="en-US" sz="2400" kern="1200" dirty="0">
                <a:solidFill>
                  <a:srgbClr val="000000"/>
                </a:solidFill>
                <a:latin typeface="Arial (Body)"/>
                <a:ea typeface="+mn-ea"/>
                <a:cs typeface="+mn-cs"/>
              </a:rPr>
              <a:t>be owned by a senior leader within the supply </a:t>
            </a:r>
            <a:r>
              <a:rPr lang="en-US" sz="2400" kern="1200" dirty="0" smtClean="0">
                <a:solidFill>
                  <a:srgbClr val="000000"/>
                </a:solidFill>
                <a:latin typeface="Arial (Body)"/>
                <a:ea typeface="+mn-ea"/>
                <a:cs typeface="+mn-cs"/>
              </a:rPr>
              <a:t>chain.</a:t>
            </a:r>
          </a:p>
        </p:txBody>
      </p:sp>
    </p:spTree>
    <p:extLst>
      <p:ext uri="{BB962C8B-B14F-4D97-AF65-F5344CB8AC3E}">
        <p14:creationId xmlns:p14="http://schemas.microsoft.com/office/powerpoint/2010/main" val="3785276460"/>
      </p:ext>
    </p:extLst>
  </p:cSld>
  <p:clrMapOvr>
    <a:masterClrMapping/>
  </p:clrMapOvr>
  <p:timing>
    <p:tnLst>
      <p:par>
        <p:cTn id="1" dur="indefinite" restart="never" nodeType="tmRoot"/>
      </p:par>
    </p:tnLst>
  </p:timing>
</p:sld>
</file>

<file path=ppt/theme/theme1.xml><?xml version="1.0" encoding="utf-8"?>
<a:theme xmlns:a="http://schemas.openxmlformats.org/drawingml/2006/main" name="508 Lectur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508 Lectur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7840</TotalTime>
  <Words>1319</Words>
  <Application>Microsoft Office PowerPoint</Application>
  <PresentationFormat>On-screen Show (4:3)</PresentationFormat>
  <Paragraphs>214</Paragraphs>
  <Slides>26</Slides>
  <Notes>2</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26</vt:i4>
      </vt:variant>
    </vt:vector>
  </HeadingPairs>
  <TitlesOfParts>
    <vt:vector size="33" baseType="lpstr">
      <vt:lpstr>Arial (Body)</vt:lpstr>
      <vt:lpstr>Noto Sans Symbols</vt:lpstr>
      <vt:lpstr>Arial</vt:lpstr>
      <vt:lpstr>Times New Roman</vt:lpstr>
      <vt:lpstr>Verdana</vt:lpstr>
      <vt:lpstr>508 Lecture</vt:lpstr>
      <vt:lpstr>1_508 Lecture</vt:lpstr>
      <vt:lpstr>Supply Chain Management: Strategy, Planning, and Operation</vt:lpstr>
      <vt:lpstr>Learning Objectives</vt:lpstr>
      <vt:lpstr>Responding to Predictable Variability in a Supply Chain</vt:lpstr>
      <vt:lpstr>Managing Supply (1 of 2)</vt:lpstr>
      <vt:lpstr>Managing Supply (2 of 2)</vt:lpstr>
      <vt:lpstr>Inventory/Capacity Trade-Off</vt:lpstr>
      <vt:lpstr>Managing Demand (1 of 4)</vt:lpstr>
      <vt:lpstr>Managing Demand (2 of 4)</vt:lpstr>
      <vt:lpstr>Summary of Learning Objective 1</vt:lpstr>
      <vt:lpstr>Sales and Operations Planning at Red Tomato</vt:lpstr>
      <vt:lpstr>Managing Demand (3 of 4)</vt:lpstr>
      <vt:lpstr>Managing Demand (4 of 4)</vt:lpstr>
      <vt:lpstr>When to Promote</vt:lpstr>
      <vt:lpstr>Promotion in January (1 of 2)</vt:lpstr>
      <vt:lpstr>Promotion in January (2 of 2)</vt:lpstr>
      <vt:lpstr>Promotion in April (1 of 2)</vt:lpstr>
      <vt:lpstr>Promotion in April (2 of 2)</vt:lpstr>
      <vt:lpstr>Discount Leads to Large Increase in Consumption (1 of 4)</vt:lpstr>
      <vt:lpstr>Discount Leads to Large Increase in Consumption (2 of 4)</vt:lpstr>
      <vt:lpstr>Discount Leads to Large Increase in Consumption (3 of 4)</vt:lpstr>
      <vt:lpstr>Discount Leads to Large Increase in Consumption (4 of 4)</vt:lpstr>
      <vt:lpstr>Supply Chain Performance</vt:lpstr>
      <vt:lpstr>Conclusions on Promotion (1 of 3)</vt:lpstr>
      <vt:lpstr>Conclusions on Promotion (2 of 3)</vt:lpstr>
      <vt:lpstr>Conclusions on Promotion (3 of 3)</vt:lpstr>
      <vt:lpstr>Summary of Learning Objective 2</vt:lpstr>
    </vt:vector>
  </TitlesOfParts>
  <Company>SPi</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Supply Chain Management: Strategy, Planning, and Operation, 7e</dc:title>
  <dc:subject>Decision Science</dc:subject>
  <dc:creator>Chopra</dc:creator>
  <cp:keywords>Supply Chain Management</cp:keywords>
  <cp:lastModifiedBy>Banerjee, Paromita</cp:lastModifiedBy>
  <cp:revision>682</cp:revision>
  <dcterms:modified xsi:type="dcterms:W3CDTF">2018-10-17T08:31:46Z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UniqueId">
    <vt:lpwstr>682739</vt:lpwstr>
  </property>
  <property fmtid="{D5CDD505-2E9C-101B-9397-08002B2CF9AE}" pid="3" name="Offisync_ServerID">
    <vt:lpwstr>7e960520-0e88-4f05-9fa0-24079b61e486</vt:lpwstr>
  </property>
  <property fmtid="{D5CDD505-2E9C-101B-9397-08002B2CF9AE}" pid="4" name="Offisync_UpdateToken">
    <vt:lpwstr>2</vt:lpwstr>
  </property>
  <property fmtid="{D5CDD505-2E9C-101B-9397-08002B2CF9AE}" pid="5" name="Jive_VersionGuid">
    <vt:lpwstr>2e874262-9747-49d3-bf1e-677aeb587663</vt:lpwstr>
  </property>
  <property fmtid="{D5CDD505-2E9C-101B-9397-08002B2CF9AE}" pid="6" name="Offisync_ProviderInitializationData">
    <vt:lpwstr>https://neo.pearson.com</vt:lpwstr>
  </property>
  <property fmtid="{D5CDD505-2E9C-101B-9397-08002B2CF9AE}" pid="7" name="Jive_LatestUserAccountName">
    <vt:lpwstr>joel</vt:lpwstr>
  </property>
</Properties>
</file>