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78"/>
  </p:notesMasterIdLst>
  <p:sldIdLst>
    <p:sldId id="257" r:id="rId6"/>
    <p:sldId id="258" r:id="rId7"/>
    <p:sldId id="259" r:id="rId8"/>
    <p:sldId id="554" r:id="rId9"/>
    <p:sldId id="553" r:id="rId10"/>
    <p:sldId id="559" r:id="rId11"/>
    <p:sldId id="551" r:id="rId12"/>
    <p:sldId id="303" r:id="rId13"/>
    <p:sldId id="270" r:id="rId14"/>
    <p:sldId id="271" r:id="rId15"/>
    <p:sldId id="292" r:id="rId16"/>
    <p:sldId id="273" r:id="rId17"/>
    <p:sldId id="274" r:id="rId18"/>
    <p:sldId id="279" r:id="rId19"/>
    <p:sldId id="275" r:id="rId20"/>
    <p:sldId id="278" r:id="rId21"/>
    <p:sldId id="304" r:id="rId22"/>
    <p:sldId id="276" r:id="rId23"/>
    <p:sldId id="280" r:id="rId24"/>
    <p:sldId id="293" r:id="rId25"/>
    <p:sldId id="294" r:id="rId26"/>
    <p:sldId id="277" r:id="rId27"/>
    <p:sldId id="281" r:id="rId28"/>
    <p:sldId id="305" r:id="rId29"/>
    <p:sldId id="295" r:id="rId30"/>
    <p:sldId id="296" r:id="rId31"/>
    <p:sldId id="297" r:id="rId32"/>
    <p:sldId id="471" r:id="rId33"/>
    <p:sldId id="299" r:id="rId34"/>
    <p:sldId id="300" r:id="rId35"/>
    <p:sldId id="301" r:id="rId36"/>
    <p:sldId id="306" r:id="rId37"/>
    <p:sldId id="560" r:id="rId38"/>
    <p:sldId id="313" r:id="rId39"/>
    <p:sldId id="308" r:id="rId40"/>
    <p:sldId id="309" r:id="rId41"/>
    <p:sldId id="310" r:id="rId42"/>
    <p:sldId id="311" r:id="rId43"/>
    <p:sldId id="312" r:id="rId44"/>
    <p:sldId id="322" r:id="rId45"/>
    <p:sldId id="323" r:id="rId46"/>
    <p:sldId id="324" r:id="rId47"/>
    <p:sldId id="326" r:id="rId48"/>
    <p:sldId id="489" r:id="rId49"/>
    <p:sldId id="507" r:id="rId50"/>
    <p:sldId id="508" r:id="rId51"/>
    <p:sldId id="509" r:id="rId52"/>
    <p:sldId id="510" r:id="rId53"/>
    <p:sldId id="511" r:id="rId54"/>
    <p:sldId id="512" r:id="rId55"/>
    <p:sldId id="513" r:id="rId56"/>
    <p:sldId id="514" r:id="rId57"/>
    <p:sldId id="520" r:id="rId58"/>
    <p:sldId id="521" r:id="rId59"/>
    <p:sldId id="523" r:id="rId60"/>
    <p:sldId id="522" r:id="rId61"/>
    <p:sldId id="550" r:id="rId62"/>
    <p:sldId id="525" r:id="rId63"/>
    <p:sldId id="526" r:id="rId64"/>
    <p:sldId id="529" r:id="rId65"/>
    <p:sldId id="556" r:id="rId66"/>
    <p:sldId id="527" r:id="rId67"/>
    <p:sldId id="528" r:id="rId68"/>
    <p:sldId id="530" r:id="rId69"/>
    <p:sldId id="531" r:id="rId70"/>
    <p:sldId id="532" r:id="rId71"/>
    <p:sldId id="537" r:id="rId72"/>
    <p:sldId id="533" r:id="rId73"/>
    <p:sldId id="534" r:id="rId74"/>
    <p:sldId id="535" r:id="rId75"/>
    <p:sldId id="536" r:id="rId76"/>
    <p:sldId id="558" r:id="rId7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C1EEEB3-9678-5345-767E-1C5366A37E69}" name="Abdulaziz Salah Tabbakh" initials="AST" userId="S::atabakh@kfupm.edu.sa::13d07dd4-69ac-411a-922e-4b5b9289e64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bdul Jabbar Siddiqui" initials="AJS" lastIdx="2" clrIdx="0">
    <p:extLst>
      <p:ext uri="{19B8F6BF-5375-455C-9EA6-DF929625EA0E}">
        <p15:presenceInfo xmlns:p15="http://schemas.microsoft.com/office/powerpoint/2012/main" userId="S-1-5-21-1454471165-1383384898-1801674531-174930" providerId="AD"/>
      </p:ext>
    </p:extLst>
  </p:cmAuthor>
  <p:cmAuthor id="2" name="Akram Fadhl N. Ahmed" initials="AFNA" lastIdx="6" clrIdx="1">
    <p:extLst>
      <p:ext uri="{19B8F6BF-5375-455C-9EA6-DF929625EA0E}">
        <p15:presenceInfo xmlns:p15="http://schemas.microsoft.com/office/powerpoint/2012/main" userId="Akram Fadhl N. Ahme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134263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D0FF41-2EEA-4220-8AAE-3EFF71CBC809}" v="2" dt="2023-03-08T08:03:03.1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3" autoAdjust="0"/>
    <p:restoredTop sz="85034"/>
  </p:normalViewPr>
  <p:slideViewPr>
    <p:cSldViewPr snapToGrid="0">
      <p:cViewPr varScale="1">
        <p:scale>
          <a:sx n="63" d="100"/>
          <a:sy n="63" d="100"/>
        </p:scale>
        <p:origin x="7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6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microsoft.com/office/2016/11/relationships/changesInfo" Target="changesInfos/changesInfo1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86" Type="http://schemas.microsoft.com/office/2018/10/relationships/authors" Target="author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61" Type="http://schemas.openxmlformats.org/officeDocument/2006/relationships/slide" Target="slides/slide56.xml"/><Relationship Id="rId8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Yahya Mahmoud" userId="bdccdc38-b150-46cf-bcf4-0020ea23ff90" providerId="ADAL" clId="{303ADAC2-F848-4B40-A029-59AE66AF7246}"/>
    <pc:docChg chg="modSld">
      <pc:chgData name="Muhammad Yahya Mahmoud" userId="bdccdc38-b150-46cf-bcf4-0020ea23ff90" providerId="ADAL" clId="{303ADAC2-F848-4B40-A029-59AE66AF7246}" dt="2023-01-31T05:56:40.627" v="9" actId="20577"/>
      <pc:docMkLst>
        <pc:docMk/>
      </pc:docMkLst>
      <pc:sldChg chg="modSp mod">
        <pc:chgData name="Muhammad Yahya Mahmoud" userId="bdccdc38-b150-46cf-bcf4-0020ea23ff90" providerId="ADAL" clId="{303ADAC2-F848-4B40-A029-59AE66AF7246}" dt="2023-01-31T05:56:40.627" v="9" actId="20577"/>
        <pc:sldMkLst>
          <pc:docMk/>
          <pc:sldMk cId="2443750230" sldId="556"/>
        </pc:sldMkLst>
        <pc:spChg chg="mod">
          <ac:chgData name="Muhammad Yahya Mahmoud" userId="bdccdc38-b150-46cf-bcf4-0020ea23ff90" providerId="ADAL" clId="{303ADAC2-F848-4B40-A029-59AE66AF7246}" dt="2023-01-31T05:56:40.627" v="9" actId="20577"/>
          <ac:spMkLst>
            <pc:docMk/>
            <pc:sldMk cId="2443750230" sldId="556"/>
            <ac:spMk id="3" creationId="{E237AB45-473D-80CC-5150-FD1B619607C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2B948-17DE-4318-A223-FEB17B8C2DD8}" type="datetimeFigureOut">
              <a:rPr lang="en-US" smtClean="0"/>
              <a:t>6/18/2023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1AEB7-B41F-48E3-BCC6-652836A69C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795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80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43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82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Reference: https://www.javatpoint.com/knowledge-based-agent-in-ai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315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Reference: </a:t>
            </a:r>
            <a:r>
              <a:rPr lang="en-US" dirty="0" err="1"/>
              <a:t>Russlle</a:t>
            </a:r>
            <a:r>
              <a:rPr lang="en-US" dirty="0"/>
              <a:t> Book section 7.1 (pg. </a:t>
            </a:r>
            <a:r>
              <a:rPr lang="en-US"/>
              <a:t>236) 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018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51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972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581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633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602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270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64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8942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6085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6471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047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018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5867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1419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85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3457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804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442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27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2774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268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1496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771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971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653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9706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145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496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071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2560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7582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1373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264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9112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78687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1846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7579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8135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4880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35534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2158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2283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01842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41466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1AEB7-B41F-48E3-BCC6-652836A69C2D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67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rgbClr val="006600">
              <a:alpha val="7058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8763C1FE-A311-4D90-BBBB-DA04667BABC9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75B1DB82-35C9-4076-A5B8-0781B30E89ED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24572" y="4749800"/>
            <a:ext cx="11277600" cy="914400"/>
          </a:xfrm>
        </p:spPr>
        <p:txBody>
          <a:bodyPr>
            <a:noAutofit/>
          </a:bodyPr>
          <a:lstStyle>
            <a:lvl4pPr marL="156629" indent="0" algn="ctr">
              <a:buNone/>
              <a:defRPr sz="4267" baseline="0"/>
            </a:lvl4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628" y="5660231"/>
            <a:ext cx="11277600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solidFill>
                  <a:srgbClr val="996600"/>
                </a:solidFill>
              </a:rPr>
              <a:t>Content on these slides was mostly developed by Dr. Akram F. Ahmed, COE Dept.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48799"/>
            <a:ext cx="11277600" cy="152875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4667" dirty="0">
                <a:solidFill>
                  <a:srgbClr val="008000"/>
                </a:solidFill>
              </a:rPr>
              <a:t>COE 292</a:t>
            </a:r>
          </a:p>
          <a:p>
            <a:pPr algn="ctr"/>
            <a:r>
              <a:rPr lang="en-US" sz="4667" dirty="0">
                <a:solidFill>
                  <a:srgbClr val="008000"/>
                </a:solidFill>
              </a:rPr>
              <a:t> Introduction to Artificial Intelligence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BBAFCE8-2EF7-4D77-AE15-DC2F91554DC0}"/>
              </a:ext>
            </a:extLst>
          </p:cNvPr>
          <p:cNvGrpSpPr/>
          <p:nvPr/>
        </p:nvGrpSpPr>
        <p:grpSpPr>
          <a:xfrm>
            <a:off x="4106513" y="2173992"/>
            <a:ext cx="4313719" cy="2474208"/>
            <a:chOff x="1" y="1"/>
            <a:chExt cx="9155896" cy="517326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5C01A5-4EF1-4D2D-931F-790FAC34A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297" y="1479947"/>
              <a:ext cx="3649266" cy="2215754"/>
            </a:xfrm>
            <a:prstGeom prst="rect">
              <a:avLst/>
            </a:prstGeom>
            <a:noFill/>
            <a:ln w="60325" cap="flat">
              <a:solidFill>
                <a:srgbClr val="00A6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D" sz="1351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1" y="1"/>
              <a:ext cx="9155896" cy="5173261"/>
              <a:chOff x="0" y="0"/>
              <a:chExt cx="12207875" cy="6897688"/>
            </a:xfrm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B0E1781B-2A28-4946-82E3-F0738AF0F2D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30200" y="2344738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19"/>
                      <a:pt x="20" y="0"/>
                      <a:pt x="44" y="0"/>
                    </a:cubicBezTo>
                    <a:cubicBezTo>
                      <a:pt x="68" y="0"/>
                      <a:pt x="88" y="19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FF33298A-962D-4868-9F85-4F813DCFD8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1813" y="5299075"/>
                <a:ext cx="514350" cy="461963"/>
              </a:xfrm>
              <a:custGeom>
                <a:avLst/>
                <a:gdLst>
                  <a:gd name="T0" fmla="*/ 324 w 324"/>
                  <a:gd name="T1" fmla="*/ 291 h 291"/>
                  <a:gd name="T2" fmla="*/ 0 w 324"/>
                  <a:gd name="T3" fmla="*/ 291 h 291"/>
                  <a:gd name="T4" fmla="*/ 0 w 324"/>
                  <a:gd name="T5" fmla="*/ 0 h 291"/>
                  <a:gd name="T6" fmla="*/ 57 w 324"/>
                  <a:gd name="T7" fmla="*/ 0 h 291"/>
                  <a:gd name="T8" fmla="*/ 57 w 324"/>
                  <a:gd name="T9" fmla="*/ 233 h 291"/>
                  <a:gd name="T10" fmla="*/ 267 w 324"/>
                  <a:gd name="T11" fmla="*/ 233 h 291"/>
                  <a:gd name="T12" fmla="*/ 267 w 324"/>
                  <a:gd name="T13" fmla="*/ 0 h 291"/>
                  <a:gd name="T14" fmla="*/ 324 w 324"/>
                  <a:gd name="T15" fmla="*/ 0 h 291"/>
                  <a:gd name="T16" fmla="*/ 324 w 324"/>
                  <a:gd name="T17" fmla="*/ 291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4" h="291">
                    <a:moveTo>
                      <a:pt x="324" y="291"/>
                    </a:moveTo>
                    <a:lnTo>
                      <a:pt x="0" y="291"/>
                    </a:lnTo>
                    <a:lnTo>
                      <a:pt x="0" y="0"/>
                    </a:lnTo>
                    <a:lnTo>
                      <a:pt x="57" y="0"/>
                    </a:lnTo>
                    <a:lnTo>
                      <a:pt x="57" y="233"/>
                    </a:lnTo>
                    <a:lnTo>
                      <a:pt x="267" y="233"/>
                    </a:lnTo>
                    <a:lnTo>
                      <a:pt x="267" y="0"/>
                    </a:lnTo>
                    <a:lnTo>
                      <a:pt x="324" y="0"/>
                    </a:lnTo>
                    <a:lnTo>
                      <a:pt x="324" y="291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60D3C279-BB5B-4DAC-A416-F7E9D5EFD7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963" y="5299074"/>
                <a:ext cx="1395413" cy="1558925"/>
              </a:xfrm>
              <a:custGeom>
                <a:avLst/>
                <a:gdLst>
                  <a:gd name="T0" fmla="*/ 58 w 879"/>
                  <a:gd name="T1" fmla="*/ 877 h 877"/>
                  <a:gd name="T2" fmla="*/ 0 w 879"/>
                  <a:gd name="T3" fmla="*/ 877 h 877"/>
                  <a:gd name="T4" fmla="*/ 0 w 879"/>
                  <a:gd name="T5" fmla="*/ 615 h 877"/>
                  <a:gd name="T6" fmla="*/ 821 w 879"/>
                  <a:gd name="T7" fmla="*/ 615 h 877"/>
                  <a:gd name="T8" fmla="*/ 821 w 879"/>
                  <a:gd name="T9" fmla="*/ 0 h 877"/>
                  <a:gd name="T10" fmla="*/ 879 w 879"/>
                  <a:gd name="T11" fmla="*/ 0 h 877"/>
                  <a:gd name="T12" fmla="*/ 879 w 879"/>
                  <a:gd name="T13" fmla="*/ 672 h 877"/>
                  <a:gd name="T14" fmla="*/ 58 w 879"/>
                  <a:gd name="T15" fmla="*/ 672 h 877"/>
                  <a:gd name="T16" fmla="*/ 58 w 879"/>
                  <a:gd name="T17" fmla="*/ 877 h 8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79" h="877">
                    <a:moveTo>
                      <a:pt x="58" y="877"/>
                    </a:moveTo>
                    <a:lnTo>
                      <a:pt x="0" y="877"/>
                    </a:lnTo>
                    <a:lnTo>
                      <a:pt x="0" y="615"/>
                    </a:lnTo>
                    <a:lnTo>
                      <a:pt x="821" y="615"/>
                    </a:lnTo>
                    <a:lnTo>
                      <a:pt x="821" y="0"/>
                    </a:lnTo>
                    <a:lnTo>
                      <a:pt x="879" y="0"/>
                    </a:lnTo>
                    <a:lnTo>
                      <a:pt x="879" y="672"/>
                    </a:lnTo>
                    <a:lnTo>
                      <a:pt x="58" y="672"/>
                    </a:lnTo>
                    <a:lnTo>
                      <a:pt x="58" y="877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9ABD3A90-6B58-459F-9E4F-9BF49BDA97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3663" y="5253038"/>
                <a:ext cx="3057525" cy="803275"/>
              </a:xfrm>
              <a:custGeom>
                <a:avLst/>
                <a:gdLst>
                  <a:gd name="T0" fmla="*/ 1270 w 1926"/>
                  <a:gd name="T1" fmla="*/ 506 h 506"/>
                  <a:gd name="T2" fmla="*/ 0 w 1926"/>
                  <a:gd name="T3" fmla="*/ 506 h 506"/>
                  <a:gd name="T4" fmla="*/ 0 w 1926"/>
                  <a:gd name="T5" fmla="*/ 448 h 506"/>
                  <a:gd name="T6" fmla="*/ 1251 w 1926"/>
                  <a:gd name="T7" fmla="*/ 448 h 506"/>
                  <a:gd name="T8" fmla="*/ 1893 w 1926"/>
                  <a:gd name="T9" fmla="*/ 0 h 506"/>
                  <a:gd name="T10" fmla="*/ 1926 w 1926"/>
                  <a:gd name="T11" fmla="*/ 45 h 506"/>
                  <a:gd name="T12" fmla="*/ 1270 w 1926"/>
                  <a:gd name="T13" fmla="*/ 506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26" h="506">
                    <a:moveTo>
                      <a:pt x="1270" y="506"/>
                    </a:moveTo>
                    <a:lnTo>
                      <a:pt x="0" y="506"/>
                    </a:lnTo>
                    <a:lnTo>
                      <a:pt x="0" y="448"/>
                    </a:lnTo>
                    <a:lnTo>
                      <a:pt x="1251" y="448"/>
                    </a:lnTo>
                    <a:lnTo>
                      <a:pt x="1893" y="0"/>
                    </a:lnTo>
                    <a:lnTo>
                      <a:pt x="1926" y="45"/>
                    </a:lnTo>
                    <a:lnTo>
                      <a:pt x="1270" y="506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49882A93-2455-4BE3-A203-B5A7C2A1C4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47738" y="5310188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20"/>
                      <a:pt x="20" y="0"/>
                      <a:pt x="44" y="0"/>
                    </a:cubicBezTo>
                    <a:cubicBezTo>
                      <a:pt x="68" y="0"/>
                      <a:pt x="88" y="20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35DFB328-1E5F-418E-A936-CB01C3AA70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06488" y="5843588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20"/>
                      <a:pt x="20" y="0"/>
                      <a:pt x="44" y="0"/>
                    </a:cubicBezTo>
                    <a:cubicBezTo>
                      <a:pt x="68" y="0"/>
                      <a:pt x="88" y="20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95D8B28B-BCAA-44F1-AD44-3672123F35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8950" y="5843588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20"/>
                      <a:pt x="20" y="0"/>
                      <a:pt x="44" y="0"/>
                    </a:cubicBezTo>
                    <a:cubicBezTo>
                      <a:pt x="68" y="0"/>
                      <a:pt x="88" y="20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1F6A1139-BE1A-4B03-AA8C-7F2B97B761A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7963" y="5310188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20"/>
                      <a:pt x="20" y="0"/>
                      <a:pt x="44" y="0"/>
                    </a:cubicBezTo>
                    <a:cubicBezTo>
                      <a:pt x="68" y="0"/>
                      <a:pt x="88" y="20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4E287759-C4C4-4DEE-98A8-665AF54566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5338" y="4060825"/>
                <a:ext cx="333375" cy="331788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20"/>
                      <a:pt x="20" y="0"/>
                      <a:pt x="44" y="0"/>
                    </a:cubicBezTo>
                    <a:cubicBezTo>
                      <a:pt x="68" y="0"/>
                      <a:pt x="88" y="20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2A155A82-29DD-449B-AD04-F49B115E905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5900" y="3708400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19"/>
                      <a:pt x="20" y="0"/>
                      <a:pt x="44" y="0"/>
                    </a:cubicBezTo>
                    <a:cubicBezTo>
                      <a:pt x="68" y="0"/>
                      <a:pt x="88" y="19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2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2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F2D8B5A2-0D89-4949-97BC-3DE1F189530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02300" y="5884863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20"/>
                      <a:pt x="20" y="0"/>
                      <a:pt x="44" y="0"/>
                    </a:cubicBezTo>
                    <a:cubicBezTo>
                      <a:pt x="68" y="0"/>
                      <a:pt x="88" y="20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2CBAABB5-83DD-4C08-B1E9-A2BB238246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41850" y="5764213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20"/>
                      <a:pt x="20" y="0"/>
                      <a:pt x="44" y="0"/>
                    </a:cubicBezTo>
                    <a:cubicBezTo>
                      <a:pt x="69" y="0"/>
                      <a:pt x="88" y="20"/>
                      <a:pt x="88" y="44"/>
                    </a:cubicBezTo>
                    <a:cubicBezTo>
                      <a:pt x="88" y="68"/>
                      <a:pt x="69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3FF8BDC-3425-4474-AFB3-B276B179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61125" y="5299074"/>
                <a:ext cx="90488" cy="1558925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C2E6FEB6-D1EE-4D9E-B90D-68B902C4B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4988" y="5299074"/>
                <a:ext cx="1481138" cy="1558925"/>
              </a:xfrm>
              <a:custGeom>
                <a:avLst/>
                <a:gdLst>
                  <a:gd name="T0" fmla="*/ 933 w 933"/>
                  <a:gd name="T1" fmla="*/ 877 h 877"/>
                  <a:gd name="T2" fmla="*/ 876 w 933"/>
                  <a:gd name="T3" fmla="*/ 877 h 877"/>
                  <a:gd name="T4" fmla="*/ 876 w 933"/>
                  <a:gd name="T5" fmla="*/ 467 h 877"/>
                  <a:gd name="T6" fmla="*/ 0 w 933"/>
                  <a:gd name="T7" fmla="*/ 467 h 877"/>
                  <a:gd name="T8" fmla="*/ 0 w 933"/>
                  <a:gd name="T9" fmla="*/ 0 h 877"/>
                  <a:gd name="T10" fmla="*/ 57 w 933"/>
                  <a:gd name="T11" fmla="*/ 0 h 877"/>
                  <a:gd name="T12" fmla="*/ 57 w 933"/>
                  <a:gd name="T13" fmla="*/ 410 h 877"/>
                  <a:gd name="T14" fmla="*/ 933 w 933"/>
                  <a:gd name="T15" fmla="*/ 410 h 877"/>
                  <a:gd name="T16" fmla="*/ 933 w 933"/>
                  <a:gd name="T17" fmla="*/ 877 h 8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33" h="877">
                    <a:moveTo>
                      <a:pt x="933" y="877"/>
                    </a:moveTo>
                    <a:lnTo>
                      <a:pt x="876" y="877"/>
                    </a:lnTo>
                    <a:lnTo>
                      <a:pt x="876" y="467"/>
                    </a:lnTo>
                    <a:lnTo>
                      <a:pt x="0" y="467"/>
                    </a:lnTo>
                    <a:lnTo>
                      <a:pt x="0" y="0"/>
                    </a:lnTo>
                    <a:lnTo>
                      <a:pt x="57" y="0"/>
                    </a:lnTo>
                    <a:lnTo>
                      <a:pt x="57" y="410"/>
                    </a:lnTo>
                    <a:lnTo>
                      <a:pt x="933" y="410"/>
                    </a:lnTo>
                    <a:lnTo>
                      <a:pt x="933" y="877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7E7AFE70-76AA-46DB-A091-97BB05C35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5299074"/>
                <a:ext cx="1481138" cy="1558925"/>
              </a:xfrm>
              <a:custGeom>
                <a:avLst/>
                <a:gdLst>
                  <a:gd name="T0" fmla="*/ 933 w 933"/>
                  <a:gd name="T1" fmla="*/ 877 h 877"/>
                  <a:gd name="T2" fmla="*/ 876 w 933"/>
                  <a:gd name="T3" fmla="*/ 877 h 877"/>
                  <a:gd name="T4" fmla="*/ 876 w 933"/>
                  <a:gd name="T5" fmla="*/ 314 h 877"/>
                  <a:gd name="T6" fmla="*/ 0 w 933"/>
                  <a:gd name="T7" fmla="*/ 314 h 877"/>
                  <a:gd name="T8" fmla="*/ 0 w 933"/>
                  <a:gd name="T9" fmla="*/ 0 h 877"/>
                  <a:gd name="T10" fmla="*/ 57 w 933"/>
                  <a:gd name="T11" fmla="*/ 0 h 877"/>
                  <a:gd name="T12" fmla="*/ 57 w 933"/>
                  <a:gd name="T13" fmla="*/ 257 h 877"/>
                  <a:gd name="T14" fmla="*/ 933 w 933"/>
                  <a:gd name="T15" fmla="*/ 257 h 877"/>
                  <a:gd name="T16" fmla="*/ 933 w 933"/>
                  <a:gd name="T17" fmla="*/ 877 h 8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33" h="877">
                    <a:moveTo>
                      <a:pt x="933" y="877"/>
                    </a:moveTo>
                    <a:lnTo>
                      <a:pt x="876" y="877"/>
                    </a:lnTo>
                    <a:lnTo>
                      <a:pt x="876" y="314"/>
                    </a:lnTo>
                    <a:lnTo>
                      <a:pt x="0" y="314"/>
                    </a:lnTo>
                    <a:lnTo>
                      <a:pt x="0" y="0"/>
                    </a:lnTo>
                    <a:lnTo>
                      <a:pt x="57" y="0"/>
                    </a:lnTo>
                    <a:lnTo>
                      <a:pt x="57" y="257"/>
                    </a:lnTo>
                    <a:lnTo>
                      <a:pt x="933" y="257"/>
                    </a:lnTo>
                    <a:lnTo>
                      <a:pt x="933" y="877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F39BA17-4B01-4639-9BCF-7638759CA2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24538" y="6173788"/>
                <a:ext cx="90488" cy="684212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E1BAEDAA-B346-4E93-859E-74FEDB940F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50475" y="6049963"/>
                <a:ext cx="333375" cy="331788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19"/>
                      <a:pt x="20" y="0"/>
                      <a:pt x="44" y="0"/>
                    </a:cubicBezTo>
                    <a:cubicBezTo>
                      <a:pt x="68" y="0"/>
                      <a:pt x="88" y="19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4496FB95-FF48-44C5-8A84-EA25F0DE2B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50475" y="4219575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20"/>
                      <a:pt x="20" y="0"/>
                      <a:pt x="44" y="0"/>
                    </a:cubicBezTo>
                    <a:cubicBezTo>
                      <a:pt x="68" y="0"/>
                      <a:pt x="88" y="20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276B9B64-9131-4AAE-B9FF-E412E55817B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50475" y="4886325"/>
                <a:ext cx="333375" cy="331788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19"/>
                      <a:pt x="20" y="0"/>
                      <a:pt x="44" y="0"/>
                    </a:cubicBezTo>
                    <a:cubicBezTo>
                      <a:pt x="68" y="0"/>
                      <a:pt x="88" y="19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7581C431-7708-454E-A880-F28093B6CF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50475" y="3148013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19"/>
                      <a:pt x="20" y="0"/>
                      <a:pt x="44" y="0"/>
                    </a:cubicBezTo>
                    <a:cubicBezTo>
                      <a:pt x="68" y="0"/>
                      <a:pt x="88" y="19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D2E8318B-BB50-4792-855D-70AAF9E01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72713" y="6337300"/>
                <a:ext cx="90488" cy="5207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A6E29741-B7FB-4378-9F65-6B22B6393FD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33063" y="6564313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9"/>
                      <a:pt x="0" y="44"/>
                    </a:cubicBezTo>
                    <a:cubicBezTo>
                      <a:pt x="0" y="20"/>
                      <a:pt x="20" y="0"/>
                      <a:pt x="44" y="0"/>
                    </a:cubicBezTo>
                    <a:cubicBezTo>
                      <a:pt x="68" y="0"/>
                      <a:pt x="88" y="20"/>
                      <a:pt x="88" y="44"/>
                    </a:cubicBezTo>
                    <a:cubicBezTo>
                      <a:pt x="88" y="69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C5CF7F24-F480-4687-9E3F-9F527758D8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55300" y="5784850"/>
                <a:ext cx="90488" cy="8255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301977F-C754-47C5-AA24-960811674C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2500" y="5299075"/>
                <a:ext cx="90488" cy="536575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00554FD-DAB0-46D1-A428-30427AF02E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72713" y="3386138"/>
                <a:ext cx="90488" cy="877888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ED93F65E-E922-4B58-9CCF-C7BABEDDAE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50475" y="2571750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9"/>
                      <a:pt x="0" y="44"/>
                    </a:cubicBezTo>
                    <a:cubicBezTo>
                      <a:pt x="0" y="20"/>
                      <a:pt x="20" y="0"/>
                      <a:pt x="44" y="0"/>
                    </a:cubicBezTo>
                    <a:cubicBezTo>
                      <a:pt x="68" y="0"/>
                      <a:pt x="88" y="20"/>
                      <a:pt x="88" y="44"/>
                    </a:cubicBezTo>
                    <a:cubicBezTo>
                      <a:pt x="88" y="69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8D7DC1AB-0DE0-4711-88EB-94F0325475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50475" y="1500188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20"/>
                      <a:pt x="20" y="0"/>
                      <a:pt x="44" y="0"/>
                    </a:cubicBezTo>
                    <a:cubicBezTo>
                      <a:pt x="68" y="0"/>
                      <a:pt x="88" y="20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059E3498-692E-4B0D-A35B-ACFF56981E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17988" y="493713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19"/>
                      <a:pt x="20" y="0"/>
                      <a:pt x="44" y="0"/>
                    </a:cubicBezTo>
                    <a:cubicBezTo>
                      <a:pt x="69" y="0"/>
                      <a:pt x="88" y="19"/>
                      <a:pt x="88" y="44"/>
                    </a:cubicBezTo>
                    <a:cubicBezTo>
                      <a:pt x="88" y="68"/>
                      <a:pt x="69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78E17970-4FF5-4BF7-8202-CAFF63919C4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89075" y="1928813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19" y="88"/>
                      <a:pt x="0" y="68"/>
                      <a:pt x="0" y="44"/>
                    </a:cubicBezTo>
                    <a:cubicBezTo>
                      <a:pt x="0" y="20"/>
                      <a:pt x="19" y="0"/>
                      <a:pt x="44" y="0"/>
                    </a:cubicBezTo>
                    <a:cubicBezTo>
                      <a:pt x="68" y="0"/>
                      <a:pt x="88" y="20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2" y="24"/>
                      <a:pt x="24" y="33"/>
                      <a:pt x="24" y="44"/>
                    </a:cubicBezTo>
                    <a:cubicBezTo>
                      <a:pt x="24" y="55"/>
                      <a:pt x="32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249D29B8-38D6-4376-B97F-22469EB1489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93363" y="508000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19"/>
                      <a:pt x="20" y="0"/>
                      <a:pt x="44" y="0"/>
                    </a:cubicBezTo>
                    <a:cubicBezTo>
                      <a:pt x="68" y="0"/>
                      <a:pt x="88" y="19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08DA4A68-B020-46A0-9DAC-0026F78A52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72713" y="1743075"/>
                <a:ext cx="90488" cy="874713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D38154DF-11ED-44D4-97EC-5F1C2DE787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08375" y="781050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19"/>
                      <a:pt x="20" y="0"/>
                      <a:pt x="44" y="0"/>
                    </a:cubicBezTo>
                    <a:cubicBezTo>
                      <a:pt x="68" y="0"/>
                      <a:pt x="88" y="19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15B6BD74-0BD5-463F-B5FA-E61B17F97C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0613" y="0"/>
                <a:ext cx="90488" cy="827087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C8347EAE-1694-4A39-947E-57064CC46A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30200" y="2344738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19"/>
                      <a:pt x="20" y="0"/>
                      <a:pt x="44" y="0"/>
                    </a:cubicBezTo>
                    <a:cubicBezTo>
                      <a:pt x="68" y="0"/>
                      <a:pt x="88" y="19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175C7674-BCFC-4CEA-928B-19E69913E7A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30200" y="1270000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20"/>
                      <a:pt x="20" y="0"/>
                      <a:pt x="44" y="0"/>
                    </a:cubicBezTo>
                    <a:cubicBezTo>
                      <a:pt x="68" y="0"/>
                      <a:pt x="88" y="20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62024AD6-50A7-4F40-AEEB-08E26FBE66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850" y="1511300"/>
                <a:ext cx="90488" cy="879475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DB4EF13E-DBD0-4744-9529-B52EBFCF45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30200" y="576263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9"/>
                      <a:pt x="0" y="44"/>
                    </a:cubicBezTo>
                    <a:cubicBezTo>
                      <a:pt x="0" y="20"/>
                      <a:pt x="20" y="0"/>
                      <a:pt x="44" y="0"/>
                    </a:cubicBezTo>
                    <a:cubicBezTo>
                      <a:pt x="68" y="0"/>
                      <a:pt x="88" y="20"/>
                      <a:pt x="88" y="44"/>
                    </a:cubicBezTo>
                    <a:cubicBezTo>
                      <a:pt x="88" y="69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696600C0-B38A-45E4-87AA-35E515E14E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850" y="0"/>
                <a:ext cx="90488" cy="6223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D1363D1B-4325-437A-9EA4-AD21040F329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199813" y="2519363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19"/>
                      <a:pt x="20" y="0"/>
                      <a:pt x="44" y="0"/>
                    </a:cubicBezTo>
                    <a:cubicBezTo>
                      <a:pt x="68" y="0"/>
                      <a:pt x="88" y="19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A069C20-9137-45BC-8E8B-76DE88571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2050" y="2806700"/>
                <a:ext cx="90488" cy="18669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0BD43229-65BD-4B2F-A95A-558BA02899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2438" y="679450"/>
                <a:ext cx="1579562" cy="415925"/>
              </a:xfrm>
              <a:custGeom>
                <a:avLst/>
                <a:gdLst>
                  <a:gd name="T0" fmla="*/ 934 w 934"/>
                  <a:gd name="T1" fmla="*/ 262 h 262"/>
                  <a:gd name="T2" fmla="*/ 308 w 934"/>
                  <a:gd name="T3" fmla="*/ 262 h 262"/>
                  <a:gd name="T4" fmla="*/ 0 w 934"/>
                  <a:gd name="T5" fmla="*/ 47 h 262"/>
                  <a:gd name="T6" fmla="*/ 34 w 934"/>
                  <a:gd name="T7" fmla="*/ 0 h 262"/>
                  <a:gd name="T8" fmla="*/ 325 w 934"/>
                  <a:gd name="T9" fmla="*/ 205 h 262"/>
                  <a:gd name="T10" fmla="*/ 934 w 934"/>
                  <a:gd name="T11" fmla="*/ 205 h 262"/>
                  <a:gd name="T12" fmla="*/ 934 w 934"/>
                  <a:gd name="T13" fmla="*/ 262 h 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34" h="262">
                    <a:moveTo>
                      <a:pt x="934" y="262"/>
                    </a:moveTo>
                    <a:lnTo>
                      <a:pt x="308" y="262"/>
                    </a:lnTo>
                    <a:lnTo>
                      <a:pt x="0" y="47"/>
                    </a:lnTo>
                    <a:lnTo>
                      <a:pt x="34" y="0"/>
                    </a:lnTo>
                    <a:lnTo>
                      <a:pt x="325" y="205"/>
                    </a:lnTo>
                    <a:lnTo>
                      <a:pt x="934" y="205"/>
                    </a:lnTo>
                    <a:lnTo>
                      <a:pt x="934" y="262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95146E0B-94B0-4131-99A1-E3B0B1C7038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8675" y="1885950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20"/>
                      <a:pt x="20" y="0"/>
                      <a:pt x="44" y="0"/>
                    </a:cubicBezTo>
                    <a:cubicBezTo>
                      <a:pt x="68" y="0"/>
                      <a:pt x="88" y="20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3948B8C7-6DAE-4078-AF75-A61FB92A02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07750" y="2057400"/>
                <a:ext cx="1000125" cy="2082800"/>
              </a:xfrm>
              <a:custGeom>
                <a:avLst/>
                <a:gdLst>
                  <a:gd name="T0" fmla="*/ 599 w 630"/>
                  <a:gd name="T1" fmla="*/ 1312 h 1312"/>
                  <a:gd name="T2" fmla="*/ 287 w 630"/>
                  <a:gd name="T3" fmla="*/ 1092 h 1312"/>
                  <a:gd name="T4" fmla="*/ 287 w 630"/>
                  <a:gd name="T5" fmla="*/ 627 h 1312"/>
                  <a:gd name="T6" fmla="*/ 289 w 630"/>
                  <a:gd name="T7" fmla="*/ 627 h 1312"/>
                  <a:gd name="T8" fmla="*/ 289 w 630"/>
                  <a:gd name="T9" fmla="*/ 248 h 1312"/>
                  <a:gd name="T10" fmla="*/ 0 w 630"/>
                  <a:gd name="T11" fmla="*/ 47 h 1312"/>
                  <a:gd name="T12" fmla="*/ 34 w 630"/>
                  <a:gd name="T13" fmla="*/ 0 h 1312"/>
                  <a:gd name="T14" fmla="*/ 346 w 630"/>
                  <a:gd name="T15" fmla="*/ 219 h 1312"/>
                  <a:gd name="T16" fmla="*/ 346 w 630"/>
                  <a:gd name="T17" fmla="*/ 684 h 1312"/>
                  <a:gd name="T18" fmla="*/ 344 w 630"/>
                  <a:gd name="T19" fmla="*/ 684 h 1312"/>
                  <a:gd name="T20" fmla="*/ 344 w 630"/>
                  <a:gd name="T21" fmla="*/ 1064 h 1312"/>
                  <a:gd name="T22" fmla="*/ 630 w 630"/>
                  <a:gd name="T23" fmla="*/ 1264 h 1312"/>
                  <a:gd name="T24" fmla="*/ 599 w 630"/>
                  <a:gd name="T25" fmla="*/ 1312 h 1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30" h="1312">
                    <a:moveTo>
                      <a:pt x="599" y="1312"/>
                    </a:moveTo>
                    <a:lnTo>
                      <a:pt x="287" y="1092"/>
                    </a:lnTo>
                    <a:lnTo>
                      <a:pt x="287" y="627"/>
                    </a:lnTo>
                    <a:lnTo>
                      <a:pt x="289" y="627"/>
                    </a:lnTo>
                    <a:lnTo>
                      <a:pt x="289" y="248"/>
                    </a:lnTo>
                    <a:lnTo>
                      <a:pt x="0" y="47"/>
                    </a:lnTo>
                    <a:lnTo>
                      <a:pt x="34" y="0"/>
                    </a:lnTo>
                    <a:lnTo>
                      <a:pt x="346" y="219"/>
                    </a:lnTo>
                    <a:lnTo>
                      <a:pt x="346" y="684"/>
                    </a:lnTo>
                    <a:lnTo>
                      <a:pt x="344" y="684"/>
                    </a:lnTo>
                    <a:lnTo>
                      <a:pt x="344" y="1064"/>
                    </a:lnTo>
                    <a:lnTo>
                      <a:pt x="630" y="1264"/>
                    </a:lnTo>
                    <a:lnTo>
                      <a:pt x="599" y="1312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C37C1290-C35E-4FF3-8738-2A5095FBE7F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322050" y="4886325"/>
                <a:ext cx="333375" cy="331788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19"/>
                      <a:pt x="20" y="0"/>
                      <a:pt x="44" y="0"/>
                    </a:cubicBezTo>
                    <a:cubicBezTo>
                      <a:pt x="68" y="0"/>
                      <a:pt x="88" y="19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7129FBFD-E0AF-47A6-A6AC-4E4EC37889D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814050" y="4165600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20"/>
                      <a:pt x="20" y="0"/>
                      <a:pt x="44" y="0"/>
                    </a:cubicBezTo>
                    <a:cubicBezTo>
                      <a:pt x="68" y="0"/>
                      <a:pt x="88" y="20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98139BEA-E093-4187-9E74-ED925AA442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74350" y="4102100"/>
                <a:ext cx="265113" cy="223838"/>
              </a:xfrm>
              <a:custGeom>
                <a:avLst/>
                <a:gdLst>
                  <a:gd name="T0" fmla="*/ 133 w 167"/>
                  <a:gd name="T1" fmla="*/ 141 h 141"/>
                  <a:gd name="T2" fmla="*/ 0 w 167"/>
                  <a:gd name="T3" fmla="*/ 47 h 141"/>
                  <a:gd name="T4" fmla="*/ 33 w 167"/>
                  <a:gd name="T5" fmla="*/ 0 h 141"/>
                  <a:gd name="T6" fmla="*/ 167 w 167"/>
                  <a:gd name="T7" fmla="*/ 93 h 141"/>
                  <a:gd name="T8" fmla="*/ 133 w 167"/>
                  <a:gd name="T9" fmla="*/ 141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7" h="141">
                    <a:moveTo>
                      <a:pt x="133" y="141"/>
                    </a:moveTo>
                    <a:lnTo>
                      <a:pt x="0" y="47"/>
                    </a:lnTo>
                    <a:lnTo>
                      <a:pt x="33" y="0"/>
                    </a:lnTo>
                    <a:lnTo>
                      <a:pt x="167" y="93"/>
                    </a:lnTo>
                    <a:lnTo>
                      <a:pt x="133" y="141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CAB512FA-1838-4739-840F-40D14B9B579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814050" y="3648075"/>
                <a:ext cx="333375" cy="331788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19"/>
                      <a:pt x="20" y="0"/>
                      <a:pt x="44" y="0"/>
                    </a:cubicBezTo>
                    <a:cubicBezTo>
                      <a:pt x="68" y="0"/>
                      <a:pt x="88" y="19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1130BD22-E335-4968-8533-6D3BF3CB6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74350" y="3582988"/>
                <a:ext cx="265113" cy="223838"/>
              </a:xfrm>
              <a:custGeom>
                <a:avLst/>
                <a:gdLst>
                  <a:gd name="T0" fmla="*/ 133 w 167"/>
                  <a:gd name="T1" fmla="*/ 141 h 141"/>
                  <a:gd name="T2" fmla="*/ 0 w 167"/>
                  <a:gd name="T3" fmla="*/ 45 h 141"/>
                  <a:gd name="T4" fmla="*/ 33 w 167"/>
                  <a:gd name="T5" fmla="*/ 0 h 141"/>
                  <a:gd name="T6" fmla="*/ 167 w 167"/>
                  <a:gd name="T7" fmla="*/ 93 h 141"/>
                  <a:gd name="T8" fmla="*/ 133 w 167"/>
                  <a:gd name="T9" fmla="*/ 141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7" h="141">
                    <a:moveTo>
                      <a:pt x="133" y="141"/>
                    </a:moveTo>
                    <a:lnTo>
                      <a:pt x="0" y="45"/>
                    </a:lnTo>
                    <a:lnTo>
                      <a:pt x="33" y="0"/>
                    </a:lnTo>
                    <a:lnTo>
                      <a:pt x="167" y="93"/>
                    </a:lnTo>
                    <a:lnTo>
                      <a:pt x="133" y="141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9F96E7DA-7B79-473D-BDC5-E43145ECF4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814050" y="3124200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9"/>
                      <a:pt x="0" y="44"/>
                    </a:cubicBezTo>
                    <a:cubicBezTo>
                      <a:pt x="0" y="20"/>
                      <a:pt x="20" y="0"/>
                      <a:pt x="44" y="0"/>
                    </a:cubicBezTo>
                    <a:cubicBezTo>
                      <a:pt x="68" y="0"/>
                      <a:pt x="88" y="20"/>
                      <a:pt x="88" y="44"/>
                    </a:cubicBezTo>
                    <a:cubicBezTo>
                      <a:pt x="88" y="69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2D9491AE-5070-4E5C-91CF-8A07DAB1D8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74350" y="3060700"/>
                <a:ext cx="265113" cy="223838"/>
              </a:xfrm>
              <a:custGeom>
                <a:avLst/>
                <a:gdLst>
                  <a:gd name="T0" fmla="*/ 133 w 167"/>
                  <a:gd name="T1" fmla="*/ 141 h 141"/>
                  <a:gd name="T2" fmla="*/ 0 w 167"/>
                  <a:gd name="T3" fmla="*/ 48 h 141"/>
                  <a:gd name="T4" fmla="*/ 33 w 167"/>
                  <a:gd name="T5" fmla="*/ 0 h 141"/>
                  <a:gd name="T6" fmla="*/ 167 w 167"/>
                  <a:gd name="T7" fmla="*/ 95 h 141"/>
                  <a:gd name="T8" fmla="*/ 133 w 167"/>
                  <a:gd name="T9" fmla="*/ 141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7" h="141">
                    <a:moveTo>
                      <a:pt x="133" y="141"/>
                    </a:moveTo>
                    <a:lnTo>
                      <a:pt x="0" y="48"/>
                    </a:lnTo>
                    <a:lnTo>
                      <a:pt x="33" y="0"/>
                    </a:lnTo>
                    <a:lnTo>
                      <a:pt x="167" y="95"/>
                    </a:lnTo>
                    <a:lnTo>
                      <a:pt x="133" y="141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FC01A0C4-7879-49F5-B60C-1367149464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0700" y="1620838"/>
                <a:ext cx="1511300" cy="92075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64729636-3E26-4AB5-90A6-184E2D5D9F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3175" y="4249738"/>
                <a:ext cx="2024063" cy="1271588"/>
              </a:xfrm>
              <a:custGeom>
                <a:avLst/>
                <a:gdLst>
                  <a:gd name="T0" fmla="*/ 850 w 1275"/>
                  <a:gd name="T1" fmla="*/ 801 h 801"/>
                  <a:gd name="T2" fmla="*/ 0 w 1275"/>
                  <a:gd name="T3" fmla="*/ 801 h 801"/>
                  <a:gd name="T4" fmla="*/ 0 w 1275"/>
                  <a:gd name="T5" fmla="*/ 744 h 801"/>
                  <a:gd name="T6" fmla="*/ 792 w 1275"/>
                  <a:gd name="T7" fmla="*/ 744 h 801"/>
                  <a:gd name="T8" fmla="*/ 792 w 1275"/>
                  <a:gd name="T9" fmla="*/ 0 h 801"/>
                  <a:gd name="T10" fmla="*/ 1275 w 1275"/>
                  <a:gd name="T11" fmla="*/ 0 h 801"/>
                  <a:gd name="T12" fmla="*/ 1275 w 1275"/>
                  <a:gd name="T13" fmla="*/ 57 h 801"/>
                  <a:gd name="T14" fmla="*/ 850 w 1275"/>
                  <a:gd name="T15" fmla="*/ 57 h 801"/>
                  <a:gd name="T16" fmla="*/ 850 w 1275"/>
                  <a:gd name="T17" fmla="*/ 801 h 8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75" h="801">
                    <a:moveTo>
                      <a:pt x="850" y="801"/>
                    </a:moveTo>
                    <a:lnTo>
                      <a:pt x="0" y="801"/>
                    </a:lnTo>
                    <a:lnTo>
                      <a:pt x="0" y="744"/>
                    </a:lnTo>
                    <a:lnTo>
                      <a:pt x="792" y="744"/>
                    </a:lnTo>
                    <a:lnTo>
                      <a:pt x="792" y="0"/>
                    </a:lnTo>
                    <a:lnTo>
                      <a:pt x="1275" y="0"/>
                    </a:lnTo>
                    <a:lnTo>
                      <a:pt x="1275" y="57"/>
                    </a:lnTo>
                    <a:lnTo>
                      <a:pt x="850" y="57"/>
                    </a:lnTo>
                    <a:lnTo>
                      <a:pt x="850" y="801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ED6BF77E-38FC-44B3-B9ED-55E9BBAB23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4150" y="0"/>
                <a:ext cx="573088" cy="2647950"/>
              </a:xfrm>
              <a:custGeom>
                <a:avLst/>
                <a:gdLst>
                  <a:gd name="T0" fmla="*/ 0 w 361"/>
                  <a:gd name="T1" fmla="*/ 1689 h 1689"/>
                  <a:gd name="T2" fmla="*/ 0 w 361"/>
                  <a:gd name="T3" fmla="*/ 0 h 1689"/>
                  <a:gd name="T4" fmla="*/ 57 w 361"/>
                  <a:gd name="T5" fmla="*/ 0 h 1689"/>
                  <a:gd name="T6" fmla="*/ 57 w 361"/>
                  <a:gd name="T7" fmla="*/ 1632 h 1689"/>
                  <a:gd name="T8" fmla="*/ 361 w 361"/>
                  <a:gd name="T9" fmla="*/ 1632 h 1689"/>
                  <a:gd name="T10" fmla="*/ 361 w 361"/>
                  <a:gd name="T11" fmla="*/ 1689 h 1689"/>
                  <a:gd name="T12" fmla="*/ 0 w 361"/>
                  <a:gd name="T13" fmla="*/ 1689 h 16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1" h="1689">
                    <a:moveTo>
                      <a:pt x="0" y="1689"/>
                    </a:moveTo>
                    <a:lnTo>
                      <a:pt x="0" y="0"/>
                    </a:lnTo>
                    <a:lnTo>
                      <a:pt x="57" y="0"/>
                    </a:lnTo>
                    <a:lnTo>
                      <a:pt x="57" y="1632"/>
                    </a:lnTo>
                    <a:lnTo>
                      <a:pt x="361" y="1632"/>
                    </a:lnTo>
                    <a:lnTo>
                      <a:pt x="361" y="1689"/>
                    </a:lnTo>
                    <a:lnTo>
                      <a:pt x="0" y="1689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B473B3F3-47F1-4AB3-8017-BCBA74E03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3829050"/>
                <a:ext cx="3297238" cy="1273175"/>
              </a:xfrm>
              <a:custGeom>
                <a:avLst/>
                <a:gdLst>
                  <a:gd name="T0" fmla="*/ 1387 w 1996"/>
                  <a:gd name="T1" fmla="*/ 802 h 802"/>
                  <a:gd name="T2" fmla="*/ 0 w 1996"/>
                  <a:gd name="T3" fmla="*/ 802 h 802"/>
                  <a:gd name="T4" fmla="*/ 0 w 1996"/>
                  <a:gd name="T5" fmla="*/ 744 h 802"/>
                  <a:gd name="T6" fmla="*/ 1330 w 1996"/>
                  <a:gd name="T7" fmla="*/ 744 h 802"/>
                  <a:gd name="T8" fmla="*/ 1330 w 1996"/>
                  <a:gd name="T9" fmla="*/ 0 h 802"/>
                  <a:gd name="T10" fmla="*/ 1996 w 1996"/>
                  <a:gd name="T11" fmla="*/ 0 h 802"/>
                  <a:gd name="T12" fmla="*/ 1996 w 1996"/>
                  <a:gd name="T13" fmla="*/ 57 h 802"/>
                  <a:gd name="T14" fmla="*/ 1387 w 1996"/>
                  <a:gd name="T15" fmla="*/ 57 h 802"/>
                  <a:gd name="T16" fmla="*/ 1387 w 1996"/>
                  <a:gd name="T17" fmla="*/ 802 h 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96" h="802">
                    <a:moveTo>
                      <a:pt x="1387" y="802"/>
                    </a:moveTo>
                    <a:lnTo>
                      <a:pt x="0" y="802"/>
                    </a:lnTo>
                    <a:lnTo>
                      <a:pt x="0" y="744"/>
                    </a:lnTo>
                    <a:lnTo>
                      <a:pt x="1330" y="744"/>
                    </a:lnTo>
                    <a:lnTo>
                      <a:pt x="1330" y="0"/>
                    </a:lnTo>
                    <a:lnTo>
                      <a:pt x="1996" y="0"/>
                    </a:lnTo>
                    <a:lnTo>
                      <a:pt x="1996" y="57"/>
                    </a:lnTo>
                    <a:lnTo>
                      <a:pt x="1387" y="57"/>
                    </a:lnTo>
                    <a:lnTo>
                      <a:pt x="1387" y="802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7CE66EF3-289C-4950-9DB0-9219D54E82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200" y="3905250"/>
                <a:ext cx="417513" cy="309563"/>
              </a:xfrm>
              <a:custGeom>
                <a:avLst/>
                <a:gdLst>
                  <a:gd name="T0" fmla="*/ 234 w 263"/>
                  <a:gd name="T1" fmla="*/ 195 h 195"/>
                  <a:gd name="T2" fmla="*/ 0 w 263"/>
                  <a:gd name="T3" fmla="*/ 47 h 195"/>
                  <a:gd name="T4" fmla="*/ 29 w 263"/>
                  <a:gd name="T5" fmla="*/ 0 h 195"/>
                  <a:gd name="T6" fmla="*/ 263 w 263"/>
                  <a:gd name="T7" fmla="*/ 145 h 195"/>
                  <a:gd name="T8" fmla="*/ 234 w 263"/>
                  <a:gd name="T9" fmla="*/ 195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3" h="195">
                    <a:moveTo>
                      <a:pt x="234" y="195"/>
                    </a:moveTo>
                    <a:lnTo>
                      <a:pt x="0" y="47"/>
                    </a:lnTo>
                    <a:lnTo>
                      <a:pt x="29" y="0"/>
                    </a:lnTo>
                    <a:lnTo>
                      <a:pt x="263" y="145"/>
                    </a:lnTo>
                    <a:lnTo>
                      <a:pt x="234" y="19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317682EF-F710-44C2-BF31-73747B56BA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7138" y="2692400"/>
                <a:ext cx="2070100" cy="803275"/>
              </a:xfrm>
              <a:custGeom>
                <a:avLst/>
                <a:gdLst>
                  <a:gd name="T0" fmla="*/ 1304 w 1304"/>
                  <a:gd name="T1" fmla="*/ 506 h 506"/>
                  <a:gd name="T2" fmla="*/ 275 w 1304"/>
                  <a:gd name="T3" fmla="*/ 506 h 506"/>
                  <a:gd name="T4" fmla="*/ 0 w 1304"/>
                  <a:gd name="T5" fmla="*/ 353 h 506"/>
                  <a:gd name="T6" fmla="*/ 0 w 1304"/>
                  <a:gd name="T7" fmla="*/ 0 h 506"/>
                  <a:gd name="T8" fmla="*/ 58 w 1304"/>
                  <a:gd name="T9" fmla="*/ 0 h 506"/>
                  <a:gd name="T10" fmla="*/ 58 w 1304"/>
                  <a:gd name="T11" fmla="*/ 320 h 506"/>
                  <a:gd name="T12" fmla="*/ 289 w 1304"/>
                  <a:gd name="T13" fmla="*/ 449 h 506"/>
                  <a:gd name="T14" fmla="*/ 1304 w 1304"/>
                  <a:gd name="T15" fmla="*/ 449 h 506"/>
                  <a:gd name="T16" fmla="*/ 1304 w 1304"/>
                  <a:gd name="T17" fmla="*/ 506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04" h="506">
                    <a:moveTo>
                      <a:pt x="1304" y="506"/>
                    </a:moveTo>
                    <a:lnTo>
                      <a:pt x="275" y="506"/>
                    </a:lnTo>
                    <a:lnTo>
                      <a:pt x="0" y="353"/>
                    </a:lnTo>
                    <a:lnTo>
                      <a:pt x="0" y="0"/>
                    </a:lnTo>
                    <a:lnTo>
                      <a:pt x="58" y="0"/>
                    </a:lnTo>
                    <a:lnTo>
                      <a:pt x="58" y="320"/>
                    </a:lnTo>
                    <a:lnTo>
                      <a:pt x="289" y="449"/>
                    </a:lnTo>
                    <a:lnTo>
                      <a:pt x="1304" y="449"/>
                    </a:lnTo>
                    <a:lnTo>
                      <a:pt x="1304" y="506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84A00AF0-E731-446B-8322-61A5AE0FF6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8638" y="781050"/>
                <a:ext cx="90488" cy="828675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52EC7BA4-1633-4F98-A2A3-AE097EAE15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2500" y="0"/>
                <a:ext cx="90488" cy="1609725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F61A0D3A-8CB9-42A7-89E3-BCE7826026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7950" y="1"/>
                <a:ext cx="90488" cy="16097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19411E09-7A62-4C1A-AD96-6A81A55090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1125" y="0"/>
                <a:ext cx="284163" cy="1609725"/>
              </a:xfrm>
              <a:custGeom>
                <a:avLst/>
                <a:gdLst>
                  <a:gd name="T0" fmla="*/ 57 w 179"/>
                  <a:gd name="T1" fmla="*/ 1035 h 1035"/>
                  <a:gd name="T2" fmla="*/ 0 w 179"/>
                  <a:gd name="T3" fmla="*/ 1035 h 1035"/>
                  <a:gd name="T4" fmla="*/ 0 w 179"/>
                  <a:gd name="T5" fmla="*/ 725 h 1035"/>
                  <a:gd name="T6" fmla="*/ 121 w 179"/>
                  <a:gd name="T7" fmla="*/ 506 h 1035"/>
                  <a:gd name="T8" fmla="*/ 121 w 179"/>
                  <a:gd name="T9" fmla="*/ 0 h 1035"/>
                  <a:gd name="T10" fmla="*/ 179 w 179"/>
                  <a:gd name="T11" fmla="*/ 0 h 1035"/>
                  <a:gd name="T12" fmla="*/ 179 w 179"/>
                  <a:gd name="T13" fmla="*/ 520 h 1035"/>
                  <a:gd name="T14" fmla="*/ 57 w 179"/>
                  <a:gd name="T15" fmla="*/ 740 h 1035"/>
                  <a:gd name="T16" fmla="*/ 57 w 179"/>
                  <a:gd name="T17" fmla="*/ 1035 h 10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9" h="1035">
                    <a:moveTo>
                      <a:pt x="57" y="1035"/>
                    </a:moveTo>
                    <a:lnTo>
                      <a:pt x="0" y="1035"/>
                    </a:lnTo>
                    <a:lnTo>
                      <a:pt x="0" y="725"/>
                    </a:lnTo>
                    <a:lnTo>
                      <a:pt x="121" y="506"/>
                    </a:lnTo>
                    <a:lnTo>
                      <a:pt x="121" y="0"/>
                    </a:lnTo>
                    <a:lnTo>
                      <a:pt x="179" y="0"/>
                    </a:lnTo>
                    <a:lnTo>
                      <a:pt x="179" y="520"/>
                    </a:lnTo>
                    <a:lnTo>
                      <a:pt x="57" y="740"/>
                    </a:lnTo>
                    <a:lnTo>
                      <a:pt x="57" y="103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F1BC7555-0A88-4B84-AB35-D78FAFC662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42000" y="0"/>
                <a:ext cx="284163" cy="1609725"/>
              </a:xfrm>
              <a:custGeom>
                <a:avLst/>
                <a:gdLst>
                  <a:gd name="T0" fmla="*/ 179 w 179"/>
                  <a:gd name="T1" fmla="*/ 1035 h 1035"/>
                  <a:gd name="T2" fmla="*/ 122 w 179"/>
                  <a:gd name="T3" fmla="*/ 1035 h 1035"/>
                  <a:gd name="T4" fmla="*/ 122 w 179"/>
                  <a:gd name="T5" fmla="*/ 740 h 1035"/>
                  <a:gd name="T6" fmla="*/ 0 w 179"/>
                  <a:gd name="T7" fmla="*/ 520 h 1035"/>
                  <a:gd name="T8" fmla="*/ 0 w 179"/>
                  <a:gd name="T9" fmla="*/ 0 h 1035"/>
                  <a:gd name="T10" fmla="*/ 58 w 179"/>
                  <a:gd name="T11" fmla="*/ 0 h 1035"/>
                  <a:gd name="T12" fmla="*/ 58 w 179"/>
                  <a:gd name="T13" fmla="*/ 506 h 1035"/>
                  <a:gd name="T14" fmla="*/ 179 w 179"/>
                  <a:gd name="T15" fmla="*/ 725 h 1035"/>
                  <a:gd name="T16" fmla="*/ 179 w 179"/>
                  <a:gd name="T17" fmla="*/ 1035 h 10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9" h="1035">
                    <a:moveTo>
                      <a:pt x="179" y="1035"/>
                    </a:moveTo>
                    <a:lnTo>
                      <a:pt x="122" y="1035"/>
                    </a:lnTo>
                    <a:lnTo>
                      <a:pt x="122" y="740"/>
                    </a:lnTo>
                    <a:lnTo>
                      <a:pt x="0" y="520"/>
                    </a:lnTo>
                    <a:lnTo>
                      <a:pt x="0" y="0"/>
                    </a:lnTo>
                    <a:lnTo>
                      <a:pt x="58" y="0"/>
                    </a:lnTo>
                    <a:lnTo>
                      <a:pt x="58" y="506"/>
                    </a:lnTo>
                    <a:lnTo>
                      <a:pt x="179" y="725"/>
                    </a:lnTo>
                    <a:lnTo>
                      <a:pt x="179" y="103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DBA56DF2-9C0C-48DA-A2C8-C1973B265D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8138" y="0"/>
                <a:ext cx="284163" cy="1609725"/>
              </a:xfrm>
              <a:custGeom>
                <a:avLst/>
                <a:gdLst>
                  <a:gd name="T0" fmla="*/ 179 w 179"/>
                  <a:gd name="T1" fmla="*/ 1035 h 1035"/>
                  <a:gd name="T2" fmla="*/ 122 w 179"/>
                  <a:gd name="T3" fmla="*/ 1035 h 1035"/>
                  <a:gd name="T4" fmla="*/ 122 w 179"/>
                  <a:gd name="T5" fmla="*/ 740 h 1035"/>
                  <a:gd name="T6" fmla="*/ 0 w 179"/>
                  <a:gd name="T7" fmla="*/ 520 h 1035"/>
                  <a:gd name="T8" fmla="*/ 0 w 179"/>
                  <a:gd name="T9" fmla="*/ 0 h 1035"/>
                  <a:gd name="T10" fmla="*/ 57 w 179"/>
                  <a:gd name="T11" fmla="*/ 0 h 1035"/>
                  <a:gd name="T12" fmla="*/ 57 w 179"/>
                  <a:gd name="T13" fmla="*/ 506 h 1035"/>
                  <a:gd name="T14" fmla="*/ 179 w 179"/>
                  <a:gd name="T15" fmla="*/ 725 h 1035"/>
                  <a:gd name="T16" fmla="*/ 179 w 179"/>
                  <a:gd name="T17" fmla="*/ 1035 h 10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9" h="1035">
                    <a:moveTo>
                      <a:pt x="179" y="1035"/>
                    </a:moveTo>
                    <a:lnTo>
                      <a:pt x="122" y="1035"/>
                    </a:lnTo>
                    <a:lnTo>
                      <a:pt x="122" y="740"/>
                    </a:lnTo>
                    <a:lnTo>
                      <a:pt x="0" y="520"/>
                    </a:lnTo>
                    <a:lnTo>
                      <a:pt x="0" y="0"/>
                    </a:lnTo>
                    <a:lnTo>
                      <a:pt x="57" y="0"/>
                    </a:lnTo>
                    <a:lnTo>
                      <a:pt x="57" y="506"/>
                    </a:lnTo>
                    <a:lnTo>
                      <a:pt x="179" y="725"/>
                    </a:lnTo>
                    <a:lnTo>
                      <a:pt x="179" y="103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61897DC2-F356-407A-8F30-C047E7DA86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4988" y="0"/>
                <a:ext cx="284163" cy="1609725"/>
              </a:xfrm>
              <a:custGeom>
                <a:avLst/>
                <a:gdLst>
                  <a:gd name="T0" fmla="*/ 57 w 179"/>
                  <a:gd name="T1" fmla="*/ 1035 h 1035"/>
                  <a:gd name="T2" fmla="*/ 0 w 179"/>
                  <a:gd name="T3" fmla="*/ 1035 h 1035"/>
                  <a:gd name="T4" fmla="*/ 0 w 179"/>
                  <a:gd name="T5" fmla="*/ 725 h 1035"/>
                  <a:gd name="T6" fmla="*/ 122 w 179"/>
                  <a:gd name="T7" fmla="*/ 506 h 1035"/>
                  <a:gd name="T8" fmla="*/ 122 w 179"/>
                  <a:gd name="T9" fmla="*/ 0 h 1035"/>
                  <a:gd name="T10" fmla="*/ 179 w 179"/>
                  <a:gd name="T11" fmla="*/ 0 h 1035"/>
                  <a:gd name="T12" fmla="*/ 179 w 179"/>
                  <a:gd name="T13" fmla="*/ 520 h 1035"/>
                  <a:gd name="T14" fmla="*/ 57 w 179"/>
                  <a:gd name="T15" fmla="*/ 740 h 1035"/>
                  <a:gd name="T16" fmla="*/ 57 w 179"/>
                  <a:gd name="T17" fmla="*/ 1035 h 10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9" h="1035">
                    <a:moveTo>
                      <a:pt x="57" y="1035"/>
                    </a:moveTo>
                    <a:lnTo>
                      <a:pt x="0" y="1035"/>
                    </a:lnTo>
                    <a:lnTo>
                      <a:pt x="0" y="725"/>
                    </a:lnTo>
                    <a:lnTo>
                      <a:pt x="122" y="506"/>
                    </a:lnTo>
                    <a:lnTo>
                      <a:pt x="122" y="0"/>
                    </a:lnTo>
                    <a:lnTo>
                      <a:pt x="179" y="0"/>
                    </a:lnTo>
                    <a:lnTo>
                      <a:pt x="179" y="520"/>
                    </a:lnTo>
                    <a:lnTo>
                      <a:pt x="57" y="740"/>
                    </a:lnTo>
                    <a:lnTo>
                      <a:pt x="57" y="103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5FDBBE59-ED6B-409D-B74A-71A9BB19DE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0"/>
                <a:ext cx="284163" cy="1609725"/>
              </a:xfrm>
              <a:custGeom>
                <a:avLst/>
                <a:gdLst>
                  <a:gd name="T0" fmla="*/ 57 w 179"/>
                  <a:gd name="T1" fmla="*/ 1035 h 1035"/>
                  <a:gd name="T2" fmla="*/ 0 w 179"/>
                  <a:gd name="T3" fmla="*/ 1035 h 1035"/>
                  <a:gd name="T4" fmla="*/ 0 w 179"/>
                  <a:gd name="T5" fmla="*/ 725 h 1035"/>
                  <a:gd name="T6" fmla="*/ 122 w 179"/>
                  <a:gd name="T7" fmla="*/ 506 h 1035"/>
                  <a:gd name="T8" fmla="*/ 122 w 179"/>
                  <a:gd name="T9" fmla="*/ 0 h 1035"/>
                  <a:gd name="T10" fmla="*/ 179 w 179"/>
                  <a:gd name="T11" fmla="*/ 0 h 1035"/>
                  <a:gd name="T12" fmla="*/ 179 w 179"/>
                  <a:gd name="T13" fmla="*/ 520 h 1035"/>
                  <a:gd name="T14" fmla="*/ 57 w 179"/>
                  <a:gd name="T15" fmla="*/ 740 h 1035"/>
                  <a:gd name="T16" fmla="*/ 57 w 179"/>
                  <a:gd name="T17" fmla="*/ 1035 h 10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9" h="1035">
                    <a:moveTo>
                      <a:pt x="57" y="1035"/>
                    </a:moveTo>
                    <a:lnTo>
                      <a:pt x="0" y="1035"/>
                    </a:lnTo>
                    <a:lnTo>
                      <a:pt x="0" y="725"/>
                    </a:lnTo>
                    <a:lnTo>
                      <a:pt x="122" y="506"/>
                    </a:lnTo>
                    <a:lnTo>
                      <a:pt x="122" y="0"/>
                    </a:lnTo>
                    <a:lnTo>
                      <a:pt x="179" y="0"/>
                    </a:lnTo>
                    <a:lnTo>
                      <a:pt x="179" y="520"/>
                    </a:lnTo>
                    <a:lnTo>
                      <a:pt x="57" y="740"/>
                    </a:lnTo>
                    <a:lnTo>
                      <a:pt x="57" y="103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0EE0B35A-A3D0-4C9B-B565-8CD90AE9A2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32713" y="76200"/>
                <a:ext cx="2854325" cy="1544638"/>
              </a:xfrm>
              <a:custGeom>
                <a:avLst/>
                <a:gdLst>
                  <a:gd name="T0" fmla="*/ 55 w 1798"/>
                  <a:gd name="T1" fmla="*/ 973 h 973"/>
                  <a:gd name="T2" fmla="*/ 0 w 1798"/>
                  <a:gd name="T3" fmla="*/ 959 h 973"/>
                  <a:gd name="T4" fmla="*/ 134 w 1798"/>
                  <a:gd name="T5" fmla="*/ 415 h 973"/>
                  <a:gd name="T6" fmla="*/ 1132 w 1798"/>
                  <a:gd name="T7" fmla="*/ 415 h 973"/>
                  <a:gd name="T8" fmla="*/ 1767 w 1798"/>
                  <a:gd name="T9" fmla="*/ 0 h 973"/>
                  <a:gd name="T10" fmla="*/ 1798 w 1798"/>
                  <a:gd name="T11" fmla="*/ 48 h 973"/>
                  <a:gd name="T12" fmla="*/ 1149 w 1798"/>
                  <a:gd name="T13" fmla="*/ 473 h 973"/>
                  <a:gd name="T14" fmla="*/ 177 w 1798"/>
                  <a:gd name="T15" fmla="*/ 473 h 973"/>
                  <a:gd name="T16" fmla="*/ 55 w 1798"/>
                  <a:gd name="T17" fmla="*/ 973 h 9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98" h="973">
                    <a:moveTo>
                      <a:pt x="55" y="973"/>
                    </a:moveTo>
                    <a:lnTo>
                      <a:pt x="0" y="959"/>
                    </a:lnTo>
                    <a:lnTo>
                      <a:pt x="134" y="415"/>
                    </a:lnTo>
                    <a:lnTo>
                      <a:pt x="1132" y="415"/>
                    </a:lnTo>
                    <a:lnTo>
                      <a:pt x="1767" y="0"/>
                    </a:lnTo>
                    <a:lnTo>
                      <a:pt x="1798" y="48"/>
                    </a:lnTo>
                    <a:lnTo>
                      <a:pt x="1149" y="473"/>
                    </a:lnTo>
                    <a:lnTo>
                      <a:pt x="177" y="473"/>
                    </a:lnTo>
                    <a:lnTo>
                      <a:pt x="55" y="973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E8A56942-BBA2-4937-B475-87644034E5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1113" y="280988"/>
                <a:ext cx="704850" cy="1768475"/>
              </a:xfrm>
              <a:custGeom>
                <a:avLst/>
                <a:gdLst>
                  <a:gd name="T0" fmla="*/ 174 w 444"/>
                  <a:gd name="T1" fmla="*/ 1114 h 1114"/>
                  <a:gd name="T2" fmla="*/ 0 w 444"/>
                  <a:gd name="T3" fmla="*/ 895 h 1114"/>
                  <a:gd name="T4" fmla="*/ 0 w 444"/>
                  <a:gd name="T5" fmla="*/ 432 h 1114"/>
                  <a:gd name="T6" fmla="*/ 401 w 444"/>
                  <a:gd name="T7" fmla="*/ 0 h 1114"/>
                  <a:gd name="T8" fmla="*/ 444 w 444"/>
                  <a:gd name="T9" fmla="*/ 38 h 1114"/>
                  <a:gd name="T10" fmla="*/ 57 w 444"/>
                  <a:gd name="T11" fmla="*/ 456 h 1114"/>
                  <a:gd name="T12" fmla="*/ 57 w 444"/>
                  <a:gd name="T13" fmla="*/ 875 h 1114"/>
                  <a:gd name="T14" fmla="*/ 219 w 444"/>
                  <a:gd name="T15" fmla="*/ 1078 h 1114"/>
                  <a:gd name="T16" fmla="*/ 174 w 444"/>
                  <a:gd name="T17" fmla="*/ 1114 h 1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4" h="1114">
                    <a:moveTo>
                      <a:pt x="174" y="1114"/>
                    </a:moveTo>
                    <a:lnTo>
                      <a:pt x="0" y="895"/>
                    </a:lnTo>
                    <a:lnTo>
                      <a:pt x="0" y="432"/>
                    </a:lnTo>
                    <a:lnTo>
                      <a:pt x="401" y="0"/>
                    </a:lnTo>
                    <a:lnTo>
                      <a:pt x="444" y="38"/>
                    </a:lnTo>
                    <a:lnTo>
                      <a:pt x="57" y="456"/>
                    </a:lnTo>
                    <a:lnTo>
                      <a:pt x="57" y="875"/>
                    </a:lnTo>
                    <a:lnTo>
                      <a:pt x="219" y="1078"/>
                    </a:lnTo>
                    <a:lnTo>
                      <a:pt x="174" y="1114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F0513F09-28E8-4A3F-BECB-5757BE2D80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09788" y="1928813"/>
                <a:ext cx="333375" cy="333375"/>
              </a:xfrm>
              <a:custGeom>
                <a:avLst/>
                <a:gdLst>
                  <a:gd name="T0" fmla="*/ 44 w 88"/>
                  <a:gd name="T1" fmla="*/ 88 h 88"/>
                  <a:gd name="T2" fmla="*/ 0 w 88"/>
                  <a:gd name="T3" fmla="*/ 44 h 88"/>
                  <a:gd name="T4" fmla="*/ 44 w 88"/>
                  <a:gd name="T5" fmla="*/ 0 h 88"/>
                  <a:gd name="T6" fmla="*/ 88 w 88"/>
                  <a:gd name="T7" fmla="*/ 44 h 88"/>
                  <a:gd name="T8" fmla="*/ 44 w 88"/>
                  <a:gd name="T9" fmla="*/ 88 h 88"/>
                  <a:gd name="T10" fmla="*/ 44 w 88"/>
                  <a:gd name="T11" fmla="*/ 24 h 88"/>
                  <a:gd name="T12" fmla="*/ 24 w 88"/>
                  <a:gd name="T13" fmla="*/ 44 h 88"/>
                  <a:gd name="T14" fmla="*/ 44 w 88"/>
                  <a:gd name="T15" fmla="*/ 64 h 88"/>
                  <a:gd name="T16" fmla="*/ 64 w 88"/>
                  <a:gd name="T17" fmla="*/ 44 h 88"/>
                  <a:gd name="T18" fmla="*/ 44 w 88"/>
                  <a:gd name="T19" fmla="*/ 24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88">
                    <a:moveTo>
                      <a:pt x="44" y="88"/>
                    </a:moveTo>
                    <a:cubicBezTo>
                      <a:pt x="20" y="88"/>
                      <a:pt x="0" y="68"/>
                      <a:pt x="0" y="44"/>
                    </a:cubicBezTo>
                    <a:cubicBezTo>
                      <a:pt x="0" y="20"/>
                      <a:pt x="20" y="0"/>
                      <a:pt x="44" y="0"/>
                    </a:cubicBezTo>
                    <a:cubicBezTo>
                      <a:pt x="68" y="0"/>
                      <a:pt x="88" y="20"/>
                      <a:pt x="88" y="44"/>
                    </a:cubicBezTo>
                    <a:cubicBezTo>
                      <a:pt x="88" y="68"/>
                      <a:pt x="68" y="88"/>
                      <a:pt x="44" y="88"/>
                    </a:cubicBezTo>
                    <a:close/>
                    <a:moveTo>
                      <a:pt x="44" y="24"/>
                    </a:moveTo>
                    <a:cubicBezTo>
                      <a:pt x="33" y="24"/>
                      <a:pt x="24" y="33"/>
                      <a:pt x="24" y="44"/>
                    </a:cubicBezTo>
                    <a:cubicBezTo>
                      <a:pt x="24" y="55"/>
                      <a:pt x="33" y="64"/>
                      <a:pt x="44" y="64"/>
                    </a:cubicBezTo>
                    <a:cubicBezTo>
                      <a:pt x="55" y="64"/>
                      <a:pt x="64" y="55"/>
                      <a:pt x="64" y="44"/>
                    </a:cubicBezTo>
                    <a:cubicBezTo>
                      <a:pt x="64" y="33"/>
                      <a:pt x="55" y="24"/>
                      <a:pt x="44" y="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A6A31E92-08B8-420C-9187-E022BA8D1F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6588" y="114300"/>
                <a:ext cx="347663" cy="1935163"/>
              </a:xfrm>
              <a:custGeom>
                <a:avLst/>
                <a:gdLst>
                  <a:gd name="T0" fmla="*/ 174 w 219"/>
                  <a:gd name="T1" fmla="*/ 1219 h 1219"/>
                  <a:gd name="T2" fmla="*/ 0 w 219"/>
                  <a:gd name="T3" fmla="*/ 1000 h 1219"/>
                  <a:gd name="T4" fmla="*/ 0 w 219"/>
                  <a:gd name="T5" fmla="*/ 0 h 1219"/>
                  <a:gd name="T6" fmla="*/ 57 w 219"/>
                  <a:gd name="T7" fmla="*/ 0 h 1219"/>
                  <a:gd name="T8" fmla="*/ 57 w 219"/>
                  <a:gd name="T9" fmla="*/ 980 h 1219"/>
                  <a:gd name="T10" fmla="*/ 219 w 219"/>
                  <a:gd name="T11" fmla="*/ 1183 h 1219"/>
                  <a:gd name="T12" fmla="*/ 174 w 219"/>
                  <a:gd name="T13" fmla="*/ 1219 h 1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9" h="1219">
                    <a:moveTo>
                      <a:pt x="174" y="1219"/>
                    </a:moveTo>
                    <a:lnTo>
                      <a:pt x="0" y="1000"/>
                    </a:lnTo>
                    <a:lnTo>
                      <a:pt x="0" y="0"/>
                    </a:lnTo>
                    <a:lnTo>
                      <a:pt x="57" y="0"/>
                    </a:lnTo>
                    <a:lnTo>
                      <a:pt x="57" y="980"/>
                    </a:lnTo>
                    <a:lnTo>
                      <a:pt x="219" y="1183"/>
                    </a:lnTo>
                    <a:lnTo>
                      <a:pt x="174" y="1219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CF2EC49A-C36C-41E7-B26C-315C78D777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6130925"/>
                <a:ext cx="92075" cy="727075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85F30256-9B8F-4F7A-832E-90CF2AF7E3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6488" y="6354763"/>
                <a:ext cx="1693863" cy="503237"/>
              </a:xfrm>
              <a:custGeom>
                <a:avLst/>
                <a:gdLst>
                  <a:gd name="T0" fmla="*/ 1067 w 1067"/>
                  <a:gd name="T1" fmla="*/ 250 h 250"/>
                  <a:gd name="T2" fmla="*/ 1010 w 1067"/>
                  <a:gd name="T3" fmla="*/ 250 h 250"/>
                  <a:gd name="T4" fmla="*/ 1010 w 1067"/>
                  <a:gd name="T5" fmla="*/ 57 h 250"/>
                  <a:gd name="T6" fmla="*/ 57 w 1067"/>
                  <a:gd name="T7" fmla="*/ 57 h 250"/>
                  <a:gd name="T8" fmla="*/ 57 w 1067"/>
                  <a:gd name="T9" fmla="*/ 250 h 250"/>
                  <a:gd name="T10" fmla="*/ 0 w 1067"/>
                  <a:gd name="T11" fmla="*/ 250 h 250"/>
                  <a:gd name="T12" fmla="*/ 0 w 1067"/>
                  <a:gd name="T13" fmla="*/ 0 h 250"/>
                  <a:gd name="T14" fmla="*/ 1067 w 1067"/>
                  <a:gd name="T15" fmla="*/ 0 h 250"/>
                  <a:gd name="T16" fmla="*/ 1067 w 1067"/>
                  <a:gd name="T17" fmla="*/ 25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67" h="250">
                    <a:moveTo>
                      <a:pt x="1067" y="250"/>
                    </a:moveTo>
                    <a:lnTo>
                      <a:pt x="1010" y="250"/>
                    </a:lnTo>
                    <a:lnTo>
                      <a:pt x="1010" y="57"/>
                    </a:lnTo>
                    <a:lnTo>
                      <a:pt x="57" y="57"/>
                    </a:lnTo>
                    <a:lnTo>
                      <a:pt x="57" y="250"/>
                    </a:lnTo>
                    <a:lnTo>
                      <a:pt x="0" y="250"/>
                    </a:lnTo>
                    <a:lnTo>
                      <a:pt x="0" y="0"/>
                    </a:lnTo>
                    <a:lnTo>
                      <a:pt x="1067" y="0"/>
                    </a:lnTo>
                    <a:lnTo>
                      <a:pt x="1067" y="250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56238CC1-186F-4F1B-9AEB-EDE4654E00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1438" y="1193800"/>
                <a:ext cx="1401763" cy="1454150"/>
              </a:xfrm>
              <a:custGeom>
                <a:avLst/>
                <a:gdLst>
                  <a:gd name="T0" fmla="*/ 258 w 883"/>
                  <a:gd name="T1" fmla="*/ 916 h 916"/>
                  <a:gd name="T2" fmla="*/ 0 w 883"/>
                  <a:gd name="T3" fmla="*/ 916 h 916"/>
                  <a:gd name="T4" fmla="*/ 0 w 883"/>
                  <a:gd name="T5" fmla="*/ 859 h 916"/>
                  <a:gd name="T6" fmla="*/ 200 w 883"/>
                  <a:gd name="T7" fmla="*/ 859 h 916"/>
                  <a:gd name="T8" fmla="*/ 200 w 883"/>
                  <a:gd name="T9" fmla="*/ 0 h 916"/>
                  <a:gd name="T10" fmla="*/ 883 w 883"/>
                  <a:gd name="T11" fmla="*/ 0 h 916"/>
                  <a:gd name="T12" fmla="*/ 883 w 883"/>
                  <a:gd name="T13" fmla="*/ 222 h 916"/>
                  <a:gd name="T14" fmla="*/ 826 w 883"/>
                  <a:gd name="T15" fmla="*/ 222 h 916"/>
                  <a:gd name="T16" fmla="*/ 826 w 883"/>
                  <a:gd name="T17" fmla="*/ 57 h 916"/>
                  <a:gd name="T18" fmla="*/ 258 w 883"/>
                  <a:gd name="T19" fmla="*/ 57 h 916"/>
                  <a:gd name="T20" fmla="*/ 258 w 883"/>
                  <a:gd name="T21" fmla="*/ 916 h 9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83" h="916">
                    <a:moveTo>
                      <a:pt x="258" y="916"/>
                    </a:moveTo>
                    <a:lnTo>
                      <a:pt x="0" y="916"/>
                    </a:lnTo>
                    <a:lnTo>
                      <a:pt x="0" y="859"/>
                    </a:lnTo>
                    <a:lnTo>
                      <a:pt x="200" y="859"/>
                    </a:lnTo>
                    <a:lnTo>
                      <a:pt x="200" y="0"/>
                    </a:lnTo>
                    <a:lnTo>
                      <a:pt x="883" y="0"/>
                    </a:lnTo>
                    <a:lnTo>
                      <a:pt x="883" y="222"/>
                    </a:lnTo>
                    <a:lnTo>
                      <a:pt x="826" y="222"/>
                    </a:lnTo>
                    <a:lnTo>
                      <a:pt x="826" y="57"/>
                    </a:lnTo>
                    <a:lnTo>
                      <a:pt x="258" y="57"/>
                    </a:lnTo>
                    <a:lnTo>
                      <a:pt x="258" y="916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B55ACEAB-87BD-4173-BFFE-3149F1A900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1438" y="2344738"/>
                <a:ext cx="1284288" cy="727075"/>
              </a:xfrm>
              <a:custGeom>
                <a:avLst/>
                <a:gdLst>
                  <a:gd name="T0" fmla="*/ 406 w 809"/>
                  <a:gd name="T1" fmla="*/ 458 h 458"/>
                  <a:gd name="T2" fmla="*/ 0 w 809"/>
                  <a:gd name="T3" fmla="*/ 458 h 458"/>
                  <a:gd name="T4" fmla="*/ 0 w 809"/>
                  <a:gd name="T5" fmla="*/ 401 h 458"/>
                  <a:gd name="T6" fmla="*/ 348 w 809"/>
                  <a:gd name="T7" fmla="*/ 401 h 458"/>
                  <a:gd name="T8" fmla="*/ 348 w 809"/>
                  <a:gd name="T9" fmla="*/ 0 h 458"/>
                  <a:gd name="T10" fmla="*/ 577 w 809"/>
                  <a:gd name="T11" fmla="*/ 0 h 458"/>
                  <a:gd name="T12" fmla="*/ 809 w 809"/>
                  <a:gd name="T13" fmla="*/ 184 h 458"/>
                  <a:gd name="T14" fmla="*/ 773 w 809"/>
                  <a:gd name="T15" fmla="*/ 229 h 458"/>
                  <a:gd name="T16" fmla="*/ 556 w 809"/>
                  <a:gd name="T17" fmla="*/ 57 h 458"/>
                  <a:gd name="T18" fmla="*/ 406 w 809"/>
                  <a:gd name="T19" fmla="*/ 57 h 458"/>
                  <a:gd name="T20" fmla="*/ 406 w 809"/>
                  <a:gd name="T21" fmla="*/ 458 h 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9" h="458">
                    <a:moveTo>
                      <a:pt x="406" y="458"/>
                    </a:moveTo>
                    <a:lnTo>
                      <a:pt x="0" y="458"/>
                    </a:lnTo>
                    <a:lnTo>
                      <a:pt x="0" y="401"/>
                    </a:lnTo>
                    <a:lnTo>
                      <a:pt x="348" y="401"/>
                    </a:lnTo>
                    <a:lnTo>
                      <a:pt x="348" y="0"/>
                    </a:lnTo>
                    <a:lnTo>
                      <a:pt x="577" y="0"/>
                    </a:lnTo>
                    <a:lnTo>
                      <a:pt x="809" y="184"/>
                    </a:lnTo>
                    <a:lnTo>
                      <a:pt x="773" y="229"/>
                    </a:lnTo>
                    <a:lnTo>
                      <a:pt x="556" y="57"/>
                    </a:lnTo>
                    <a:lnTo>
                      <a:pt x="406" y="57"/>
                    </a:lnTo>
                    <a:lnTo>
                      <a:pt x="406" y="458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ED91C094-261C-422A-A2E9-F20835E9D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1438" y="3405188"/>
                <a:ext cx="631825" cy="514350"/>
              </a:xfrm>
              <a:custGeom>
                <a:avLst/>
                <a:gdLst>
                  <a:gd name="T0" fmla="*/ 398 w 398"/>
                  <a:gd name="T1" fmla="*/ 324 h 324"/>
                  <a:gd name="T2" fmla="*/ 0 w 398"/>
                  <a:gd name="T3" fmla="*/ 324 h 324"/>
                  <a:gd name="T4" fmla="*/ 0 w 398"/>
                  <a:gd name="T5" fmla="*/ 267 h 324"/>
                  <a:gd name="T6" fmla="*/ 341 w 398"/>
                  <a:gd name="T7" fmla="*/ 267 h 324"/>
                  <a:gd name="T8" fmla="*/ 341 w 398"/>
                  <a:gd name="T9" fmla="*/ 57 h 324"/>
                  <a:gd name="T10" fmla="*/ 0 w 398"/>
                  <a:gd name="T11" fmla="*/ 57 h 324"/>
                  <a:gd name="T12" fmla="*/ 0 w 398"/>
                  <a:gd name="T13" fmla="*/ 0 h 324"/>
                  <a:gd name="T14" fmla="*/ 398 w 398"/>
                  <a:gd name="T15" fmla="*/ 0 h 324"/>
                  <a:gd name="T16" fmla="*/ 398 w 398"/>
                  <a:gd name="T17" fmla="*/ 324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8" h="324">
                    <a:moveTo>
                      <a:pt x="398" y="324"/>
                    </a:moveTo>
                    <a:lnTo>
                      <a:pt x="0" y="324"/>
                    </a:lnTo>
                    <a:lnTo>
                      <a:pt x="0" y="267"/>
                    </a:lnTo>
                    <a:lnTo>
                      <a:pt x="341" y="267"/>
                    </a:lnTo>
                    <a:lnTo>
                      <a:pt x="341" y="57"/>
                    </a:lnTo>
                    <a:lnTo>
                      <a:pt x="0" y="57"/>
                    </a:lnTo>
                    <a:lnTo>
                      <a:pt x="0" y="0"/>
                    </a:lnTo>
                    <a:lnTo>
                      <a:pt x="398" y="0"/>
                    </a:lnTo>
                    <a:lnTo>
                      <a:pt x="398" y="324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993BE429-C939-4562-83C0-C1C34996BB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37725" y="4340225"/>
                <a:ext cx="458788" cy="757238"/>
              </a:xfrm>
              <a:custGeom>
                <a:avLst/>
                <a:gdLst>
                  <a:gd name="T0" fmla="*/ 289 w 289"/>
                  <a:gd name="T1" fmla="*/ 477 h 477"/>
                  <a:gd name="T2" fmla="*/ 0 w 289"/>
                  <a:gd name="T3" fmla="*/ 477 h 477"/>
                  <a:gd name="T4" fmla="*/ 0 w 289"/>
                  <a:gd name="T5" fmla="*/ 0 h 477"/>
                  <a:gd name="T6" fmla="*/ 289 w 289"/>
                  <a:gd name="T7" fmla="*/ 0 h 477"/>
                  <a:gd name="T8" fmla="*/ 289 w 289"/>
                  <a:gd name="T9" fmla="*/ 57 h 477"/>
                  <a:gd name="T10" fmla="*/ 57 w 289"/>
                  <a:gd name="T11" fmla="*/ 57 h 477"/>
                  <a:gd name="T12" fmla="*/ 57 w 289"/>
                  <a:gd name="T13" fmla="*/ 420 h 477"/>
                  <a:gd name="T14" fmla="*/ 289 w 289"/>
                  <a:gd name="T15" fmla="*/ 420 h 477"/>
                  <a:gd name="T16" fmla="*/ 289 w 289"/>
                  <a:gd name="T17" fmla="*/ 477 h 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9" h="477">
                    <a:moveTo>
                      <a:pt x="289" y="477"/>
                    </a:moveTo>
                    <a:lnTo>
                      <a:pt x="0" y="477"/>
                    </a:lnTo>
                    <a:lnTo>
                      <a:pt x="0" y="0"/>
                    </a:lnTo>
                    <a:lnTo>
                      <a:pt x="289" y="0"/>
                    </a:lnTo>
                    <a:lnTo>
                      <a:pt x="289" y="57"/>
                    </a:lnTo>
                    <a:lnTo>
                      <a:pt x="57" y="57"/>
                    </a:lnTo>
                    <a:lnTo>
                      <a:pt x="57" y="420"/>
                    </a:lnTo>
                    <a:lnTo>
                      <a:pt x="289" y="420"/>
                    </a:lnTo>
                    <a:lnTo>
                      <a:pt x="289" y="477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38CED6A1-0675-433A-9689-BA0027F0031F}"/>
                  </a:ext>
                </a:extLst>
              </p:cNvPr>
              <p:cNvGrpSpPr/>
              <p:nvPr/>
            </p:nvGrpSpPr>
            <p:grpSpPr>
              <a:xfrm>
                <a:off x="4217988" y="4643438"/>
                <a:ext cx="3727450" cy="700087"/>
                <a:chOff x="4217988" y="4643438"/>
                <a:chExt cx="3727450" cy="700087"/>
              </a:xfrm>
            </p:grpSpPr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id="{F6E7FA45-567C-437F-8FAF-2829058B0E0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217988" y="5010150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20" y="88"/>
                        <a:pt x="0" y="68"/>
                        <a:pt x="0" y="44"/>
                      </a:cubicBezTo>
                      <a:cubicBezTo>
                        <a:pt x="0" y="20"/>
                        <a:pt x="20" y="0"/>
                        <a:pt x="44" y="0"/>
                      </a:cubicBezTo>
                      <a:cubicBezTo>
                        <a:pt x="69" y="0"/>
                        <a:pt x="88" y="20"/>
                        <a:pt x="88" y="44"/>
                      </a:cubicBezTo>
                      <a:cubicBezTo>
                        <a:pt x="88" y="68"/>
                        <a:pt x="69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F9C509A5-F4D0-4A3E-8F1D-042DDF2C09C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641850" y="5010150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20" y="88"/>
                        <a:pt x="0" y="68"/>
                        <a:pt x="0" y="44"/>
                      </a:cubicBezTo>
                      <a:cubicBezTo>
                        <a:pt x="0" y="20"/>
                        <a:pt x="20" y="0"/>
                        <a:pt x="44" y="0"/>
                      </a:cubicBezTo>
                      <a:cubicBezTo>
                        <a:pt x="69" y="0"/>
                        <a:pt x="88" y="20"/>
                        <a:pt x="88" y="44"/>
                      </a:cubicBezTo>
                      <a:cubicBezTo>
                        <a:pt x="88" y="68"/>
                        <a:pt x="69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51" name="Freeform 150">
                  <a:extLst>
                    <a:ext uri="{FF2B5EF4-FFF2-40B4-BE49-F238E27FC236}">
                      <a16:creationId xmlns:a16="http://schemas.microsoft.com/office/drawing/2014/main" id="{65C54CAE-6857-41CF-88C7-83DAE75EB9B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065713" y="5010150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20" y="88"/>
                        <a:pt x="0" y="68"/>
                        <a:pt x="0" y="44"/>
                      </a:cubicBezTo>
                      <a:cubicBezTo>
                        <a:pt x="0" y="20"/>
                        <a:pt x="20" y="0"/>
                        <a:pt x="44" y="0"/>
                      </a:cubicBezTo>
                      <a:cubicBezTo>
                        <a:pt x="68" y="0"/>
                        <a:pt x="88" y="20"/>
                        <a:pt x="88" y="44"/>
                      </a:cubicBezTo>
                      <a:cubicBezTo>
                        <a:pt x="88" y="68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52" name="Freeform 151">
                  <a:extLst>
                    <a:ext uri="{FF2B5EF4-FFF2-40B4-BE49-F238E27FC236}">
                      <a16:creationId xmlns:a16="http://schemas.microsoft.com/office/drawing/2014/main" id="{8C158AC3-E81B-4519-9C37-E1551467AE5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489575" y="5010150"/>
                  <a:ext cx="334963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20" y="88"/>
                        <a:pt x="0" y="68"/>
                        <a:pt x="0" y="44"/>
                      </a:cubicBezTo>
                      <a:cubicBezTo>
                        <a:pt x="0" y="20"/>
                        <a:pt x="20" y="0"/>
                        <a:pt x="44" y="0"/>
                      </a:cubicBezTo>
                      <a:cubicBezTo>
                        <a:pt x="68" y="0"/>
                        <a:pt x="88" y="20"/>
                        <a:pt x="88" y="44"/>
                      </a:cubicBezTo>
                      <a:cubicBezTo>
                        <a:pt x="88" y="68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53" name="Freeform 152">
                  <a:extLst>
                    <a:ext uri="{FF2B5EF4-FFF2-40B4-BE49-F238E27FC236}">
                      <a16:creationId xmlns:a16="http://schemas.microsoft.com/office/drawing/2014/main" id="{9AFE2B00-9DF8-44C9-9A5A-E5381B74F1D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15025" y="5010150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20" y="88"/>
                        <a:pt x="0" y="68"/>
                        <a:pt x="0" y="44"/>
                      </a:cubicBezTo>
                      <a:cubicBezTo>
                        <a:pt x="0" y="20"/>
                        <a:pt x="20" y="0"/>
                        <a:pt x="44" y="0"/>
                      </a:cubicBezTo>
                      <a:cubicBezTo>
                        <a:pt x="68" y="0"/>
                        <a:pt x="88" y="20"/>
                        <a:pt x="88" y="44"/>
                      </a:cubicBezTo>
                      <a:cubicBezTo>
                        <a:pt x="88" y="68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54" name="Freeform 153">
                  <a:extLst>
                    <a:ext uri="{FF2B5EF4-FFF2-40B4-BE49-F238E27FC236}">
                      <a16:creationId xmlns:a16="http://schemas.microsoft.com/office/drawing/2014/main" id="{552EB0B6-E588-4BA4-B734-E56C7E056C0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38888" y="5010150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20" y="88"/>
                        <a:pt x="0" y="68"/>
                        <a:pt x="0" y="44"/>
                      </a:cubicBezTo>
                      <a:cubicBezTo>
                        <a:pt x="0" y="20"/>
                        <a:pt x="20" y="0"/>
                        <a:pt x="44" y="0"/>
                      </a:cubicBezTo>
                      <a:cubicBezTo>
                        <a:pt x="68" y="0"/>
                        <a:pt x="88" y="20"/>
                        <a:pt x="88" y="44"/>
                      </a:cubicBezTo>
                      <a:cubicBezTo>
                        <a:pt x="88" y="68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55" name="Freeform 154">
                  <a:extLst>
                    <a:ext uri="{FF2B5EF4-FFF2-40B4-BE49-F238E27FC236}">
                      <a16:creationId xmlns:a16="http://schemas.microsoft.com/office/drawing/2014/main" id="{FB8E7050-3451-4C50-AC5C-4C00099F6FD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762750" y="5010150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20" y="88"/>
                        <a:pt x="0" y="68"/>
                        <a:pt x="0" y="44"/>
                      </a:cubicBezTo>
                      <a:cubicBezTo>
                        <a:pt x="0" y="20"/>
                        <a:pt x="20" y="0"/>
                        <a:pt x="44" y="0"/>
                      </a:cubicBezTo>
                      <a:cubicBezTo>
                        <a:pt x="68" y="0"/>
                        <a:pt x="88" y="20"/>
                        <a:pt x="88" y="44"/>
                      </a:cubicBezTo>
                      <a:cubicBezTo>
                        <a:pt x="88" y="68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56" name="Freeform 155">
                  <a:extLst>
                    <a:ext uri="{FF2B5EF4-FFF2-40B4-BE49-F238E27FC236}">
                      <a16:creationId xmlns:a16="http://schemas.microsoft.com/office/drawing/2014/main" id="{56E62FD7-056D-4230-BB8E-69DEDC7BC09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188200" y="5010150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20" y="88"/>
                        <a:pt x="0" y="68"/>
                        <a:pt x="0" y="44"/>
                      </a:cubicBezTo>
                      <a:cubicBezTo>
                        <a:pt x="0" y="20"/>
                        <a:pt x="20" y="0"/>
                        <a:pt x="44" y="0"/>
                      </a:cubicBezTo>
                      <a:cubicBezTo>
                        <a:pt x="68" y="0"/>
                        <a:pt x="88" y="20"/>
                        <a:pt x="88" y="44"/>
                      </a:cubicBezTo>
                      <a:cubicBezTo>
                        <a:pt x="88" y="68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A62DAE04-03BF-4D54-9446-7E59E0ACF48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612063" y="5010150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19" y="88"/>
                        <a:pt x="0" y="68"/>
                        <a:pt x="0" y="44"/>
                      </a:cubicBezTo>
                      <a:cubicBezTo>
                        <a:pt x="0" y="20"/>
                        <a:pt x="19" y="0"/>
                        <a:pt x="44" y="0"/>
                      </a:cubicBezTo>
                      <a:cubicBezTo>
                        <a:pt x="68" y="0"/>
                        <a:pt x="88" y="20"/>
                        <a:pt x="88" y="44"/>
                      </a:cubicBezTo>
                      <a:cubicBezTo>
                        <a:pt x="88" y="68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0F8D02A5-90AF-40EC-B347-087C88945F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6413" y="4643438"/>
                  <a:ext cx="139700" cy="4429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321568E7-1933-436E-A68D-969507CE5C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40275" y="4643438"/>
                  <a:ext cx="139700" cy="4429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87000D23-4E17-4329-89D0-D7327C20DD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64138" y="4643438"/>
                  <a:ext cx="141288" cy="4429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61" name="Rectangle 160">
                  <a:extLst>
                    <a:ext uri="{FF2B5EF4-FFF2-40B4-BE49-F238E27FC236}">
                      <a16:creationId xmlns:a16="http://schemas.microsoft.com/office/drawing/2014/main" id="{3C269EC3-17D5-4EA7-BEE2-99AD3D835B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84825" y="4643438"/>
                  <a:ext cx="144463" cy="4429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E7D73C06-0641-4CF6-AF01-537389BBC2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08688" y="4643438"/>
                  <a:ext cx="144463" cy="4429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63" name="Rectangle 162">
                  <a:extLst>
                    <a:ext uri="{FF2B5EF4-FFF2-40B4-BE49-F238E27FC236}">
                      <a16:creationId xmlns:a16="http://schemas.microsoft.com/office/drawing/2014/main" id="{852EFEBC-3A9F-465A-AC3E-73494E51F0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34138" y="4643438"/>
                  <a:ext cx="144463" cy="4429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1F49F056-B74C-4A91-8943-81A1003332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58000" y="4643438"/>
                  <a:ext cx="144463" cy="4429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65" name="Rectangle 164">
                  <a:extLst>
                    <a:ext uri="{FF2B5EF4-FFF2-40B4-BE49-F238E27FC236}">
                      <a16:creationId xmlns:a16="http://schemas.microsoft.com/office/drawing/2014/main" id="{2190DCC4-1E89-4CE5-AECA-EAA6040DA6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81863" y="4643438"/>
                  <a:ext cx="141288" cy="4429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5537C76E-6841-49F7-BBD7-5267C80F6B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07313" y="4643438"/>
                  <a:ext cx="139700" cy="4429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</p:grp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DC4058D5-7616-4381-A43A-14911909D865}"/>
                  </a:ext>
                </a:extLst>
              </p:cNvPr>
              <p:cNvGrpSpPr/>
              <p:nvPr/>
            </p:nvGrpSpPr>
            <p:grpSpPr>
              <a:xfrm>
                <a:off x="4217988" y="1565275"/>
                <a:ext cx="3727450" cy="688976"/>
                <a:chOff x="4217988" y="1565275"/>
                <a:chExt cx="3727450" cy="688976"/>
              </a:xfrm>
            </p:grpSpPr>
            <p:sp>
              <p:nvSpPr>
                <p:cNvPr id="131" name="Freeform 130">
                  <a:extLst>
                    <a:ext uri="{FF2B5EF4-FFF2-40B4-BE49-F238E27FC236}">
                      <a16:creationId xmlns:a16="http://schemas.microsoft.com/office/drawing/2014/main" id="{4F3F766C-42DB-4307-BE61-953F4884E45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217988" y="1565275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20" y="88"/>
                        <a:pt x="0" y="68"/>
                        <a:pt x="0" y="44"/>
                      </a:cubicBezTo>
                      <a:cubicBezTo>
                        <a:pt x="0" y="20"/>
                        <a:pt x="20" y="0"/>
                        <a:pt x="44" y="0"/>
                      </a:cubicBezTo>
                      <a:cubicBezTo>
                        <a:pt x="69" y="0"/>
                        <a:pt x="88" y="20"/>
                        <a:pt x="88" y="44"/>
                      </a:cubicBezTo>
                      <a:cubicBezTo>
                        <a:pt x="88" y="68"/>
                        <a:pt x="69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32" name="Freeform 131">
                  <a:extLst>
                    <a:ext uri="{FF2B5EF4-FFF2-40B4-BE49-F238E27FC236}">
                      <a16:creationId xmlns:a16="http://schemas.microsoft.com/office/drawing/2014/main" id="{C2FF1C07-39F5-4BBB-8862-FFB5503C30B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641850" y="1565275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20" y="88"/>
                        <a:pt x="0" y="68"/>
                        <a:pt x="0" y="44"/>
                      </a:cubicBezTo>
                      <a:cubicBezTo>
                        <a:pt x="0" y="20"/>
                        <a:pt x="20" y="0"/>
                        <a:pt x="44" y="0"/>
                      </a:cubicBezTo>
                      <a:cubicBezTo>
                        <a:pt x="69" y="0"/>
                        <a:pt x="88" y="20"/>
                        <a:pt x="88" y="44"/>
                      </a:cubicBezTo>
                      <a:cubicBezTo>
                        <a:pt x="88" y="68"/>
                        <a:pt x="69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33" name="Freeform 132">
                  <a:extLst>
                    <a:ext uri="{FF2B5EF4-FFF2-40B4-BE49-F238E27FC236}">
                      <a16:creationId xmlns:a16="http://schemas.microsoft.com/office/drawing/2014/main" id="{E9E26525-54DD-4D64-B4C7-FC98FFC71C7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065713" y="1565275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20" y="88"/>
                        <a:pt x="0" y="68"/>
                        <a:pt x="0" y="44"/>
                      </a:cubicBezTo>
                      <a:cubicBezTo>
                        <a:pt x="0" y="20"/>
                        <a:pt x="20" y="0"/>
                        <a:pt x="44" y="0"/>
                      </a:cubicBezTo>
                      <a:cubicBezTo>
                        <a:pt x="68" y="0"/>
                        <a:pt x="88" y="20"/>
                        <a:pt x="88" y="44"/>
                      </a:cubicBezTo>
                      <a:cubicBezTo>
                        <a:pt x="88" y="68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34" name="Freeform 133">
                  <a:extLst>
                    <a:ext uri="{FF2B5EF4-FFF2-40B4-BE49-F238E27FC236}">
                      <a16:creationId xmlns:a16="http://schemas.microsoft.com/office/drawing/2014/main" id="{1344F054-3FE1-42DC-A691-74A27AF2EF4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489575" y="1565275"/>
                  <a:ext cx="334963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20" y="88"/>
                        <a:pt x="0" y="68"/>
                        <a:pt x="0" y="44"/>
                      </a:cubicBezTo>
                      <a:cubicBezTo>
                        <a:pt x="0" y="20"/>
                        <a:pt x="20" y="0"/>
                        <a:pt x="44" y="0"/>
                      </a:cubicBezTo>
                      <a:cubicBezTo>
                        <a:pt x="68" y="0"/>
                        <a:pt x="88" y="20"/>
                        <a:pt x="88" y="44"/>
                      </a:cubicBezTo>
                      <a:cubicBezTo>
                        <a:pt x="88" y="68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35" name="Freeform 134">
                  <a:extLst>
                    <a:ext uri="{FF2B5EF4-FFF2-40B4-BE49-F238E27FC236}">
                      <a16:creationId xmlns:a16="http://schemas.microsoft.com/office/drawing/2014/main" id="{C2A5FF86-9866-4A73-A3C6-F0F04DEA411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915025" y="1565275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20" y="88"/>
                        <a:pt x="0" y="68"/>
                        <a:pt x="0" y="44"/>
                      </a:cubicBezTo>
                      <a:cubicBezTo>
                        <a:pt x="0" y="20"/>
                        <a:pt x="20" y="0"/>
                        <a:pt x="44" y="0"/>
                      </a:cubicBezTo>
                      <a:cubicBezTo>
                        <a:pt x="68" y="0"/>
                        <a:pt x="88" y="20"/>
                        <a:pt x="88" y="44"/>
                      </a:cubicBezTo>
                      <a:cubicBezTo>
                        <a:pt x="88" y="68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36" name="Freeform 135">
                  <a:extLst>
                    <a:ext uri="{FF2B5EF4-FFF2-40B4-BE49-F238E27FC236}">
                      <a16:creationId xmlns:a16="http://schemas.microsoft.com/office/drawing/2014/main" id="{6F36219A-9465-403C-A12D-21076E2A71D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38888" y="1565275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20" y="88"/>
                        <a:pt x="0" y="68"/>
                        <a:pt x="0" y="44"/>
                      </a:cubicBezTo>
                      <a:cubicBezTo>
                        <a:pt x="0" y="20"/>
                        <a:pt x="20" y="0"/>
                        <a:pt x="44" y="0"/>
                      </a:cubicBezTo>
                      <a:cubicBezTo>
                        <a:pt x="68" y="0"/>
                        <a:pt x="88" y="20"/>
                        <a:pt x="88" y="44"/>
                      </a:cubicBezTo>
                      <a:cubicBezTo>
                        <a:pt x="88" y="68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37" name="Freeform 136">
                  <a:extLst>
                    <a:ext uri="{FF2B5EF4-FFF2-40B4-BE49-F238E27FC236}">
                      <a16:creationId xmlns:a16="http://schemas.microsoft.com/office/drawing/2014/main" id="{E8ED73CD-E83F-4E84-9596-DBF09A61B52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762750" y="1565275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20" y="88"/>
                        <a:pt x="0" y="68"/>
                        <a:pt x="0" y="44"/>
                      </a:cubicBezTo>
                      <a:cubicBezTo>
                        <a:pt x="0" y="20"/>
                        <a:pt x="20" y="0"/>
                        <a:pt x="44" y="0"/>
                      </a:cubicBezTo>
                      <a:cubicBezTo>
                        <a:pt x="68" y="0"/>
                        <a:pt x="88" y="20"/>
                        <a:pt x="88" y="44"/>
                      </a:cubicBezTo>
                      <a:cubicBezTo>
                        <a:pt x="88" y="68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38" name="Freeform 137">
                  <a:extLst>
                    <a:ext uri="{FF2B5EF4-FFF2-40B4-BE49-F238E27FC236}">
                      <a16:creationId xmlns:a16="http://schemas.microsoft.com/office/drawing/2014/main" id="{D7C331D8-380C-4454-8F2C-0553A04452D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188200" y="1565275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20" y="88"/>
                        <a:pt x="0" y="68"/>
                        <a:pt x="0" y="44"/>
                      </a:cubicBezTo>
                      <a:cubicBezTo>
                        <a:pt x="0" y="20"/>
                        <a:pt x="20" y="0"/>
                        <a:pt x="44" y="0"/>
                      </a:cubicBezTo>
                      <a:cubicBezTo>
                        <a:pt x="68" y="0"/>
                        <a:pt x="88" y="20"/>
                        <a:pt x="88" y="44"/>
                      </a:cubicBezTo>
                      <a:cubicBezTo>
                        <a:pt x="88" y="68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39" name="Freeform 138">
                  <a:extLst>
                    <a:ext uri="{FF2B5EF4-FFF2-40B4-BE49-F238E27FC236}">
                      <a16:creationId xmlns:a16="http://schemas.microsoft.com/office/drawing/2014/main" id="{0C615597-AD50-4410-991B-B17D05034E2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612063" y="1565275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19" y="88"/>
                        <a:pt x="0" y="68"/>
                        <a:pt x="0" y="44"/>
                      </a:cubicBezTo>
                      <a:cubicBezTo>
                        <a:pt x="0" y="20"/>
                        <a:pt x="19" y="0"/>
                        <a:pt x="44" y="0"/>
                      </a:cubicBezTo>
                      <a:cubicBezTo>
                        <a:pt x="68" y="0"/>
                        <a:pt x="88" y="20"/>
                        <a:pt x="88" y="44"/>
                      </a:cubicBezTo>
                      <a:cubicBezTo>
                        <a:pt x="88" y="68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E72F5153-F280-4B7B-B59B-E672787B2D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6413" y="1811338"/>
                  <a:ext cx="139700" cy="4429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F67256C4-20B1-4E87-A8ED-6350778F91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40275" y="1811338"/>
                  <a:ext cx="139700" cy="4429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42" name="Rectangle 141">
                  <a:extLst>
                    <a:ext uri="{FF2B5EF4-FFF2-40B4-BE49-F238E27FC236}">
                      <a16:creationId xmlns:a16="http://schemas.microsoft.com/office/drawing/2014/main" id="{9548F5DF-FDE6-4F5C-BDB4-373137F789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64138" y="1811338"/>
                  <a:ext cx="141288" cy="4429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F8EC5AA6-5978-44AF-A05C-ABDC964F66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84825" y="1811338"/>
                  <a:ext cx="144463" cy="4429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8D6CAC31-A3F6-49B2-831B-0B4323A765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08688" y="1811338"/>
                  <a:ext cx="144463" cy="4429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47DF79A9-ABC2-491E-A085-88ABB92D1F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34138" y="1811338"/>
                  <a:ext cx="144463" cy="4429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FAABB74F-B4F5-4FF6-ACB5-E3B70205F1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58000" y="1811338"/>
                  <a:ext cx="144463" cy="4429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47" name="Rectangle 146">
                  <a:extLst>
                    <a:ext uri="{FF2B5EF4-FFF2-40B4-BE49-F238E27FC236}">
                      <a16:creationId xmlns:a16="http://schemas.microsoft.com/office/drawing/2014/main" id="{BD00DECD-5778-43C9-A048-38E6558F35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81863" y="1811338"/>
                  <a:ext cx="141288" cy="4429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D864C5E3-B9B4-4FB4-BCA6-4A18456609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07313" y="1811338"/>
                  <a:ext cx="139700" cy="44291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1154766D-6818-438A-BBD2-8BAC29B64000}"/>
                  </a:ext>
                </a:extLst>
              </p:cNvPr>
              <p:cNvGrpSpPr/>
              <p:nvPr/>
            </p:nvGrpSpPr>
            <p:grpSpPr>
              <a:xfrm>
                <a:off x="3251200" y="2435225"/>
                <a:ext cx="704851" cy="2025650"/>
                <a:chOff x="3251200" y="2435225"/>
                <a:chExt cx="704851" cy="2025650"/>
              </a:xfrm>
            </p:grpSpPr>
            <p:sp>
              <p:nvSpPr>
                <p:cNvPr id="121" name="Freeform 120">
                  <a:extLst>
                    <a:ext uri="{FF2B5EF4-FFF2-40B4-BE49-F238E27FC236}">
                      <a16:creationId xmlns:a16="http://schemas.microsoft.com/office/drawing/2014/main" id="{50423E5F-4A0C-4458-B11F-149A5A757B6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251200" y="4127500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19" y="88"/>
                        <a:pt x="0" y="69"/>
                        <a:pt x="0" y="44"/>
                      </a:cubicBezTo>
                      <a:cubicBezTo>
                        <a:pt x="0" y="20"/>
                        <a:pt x="19" y="0"/>
                        <a:pt x="44" y="0"/>
                      </a:cubicBezTo>
                      <a:cubicBezTo>
                        <a:pt x="68" y="0"/>
                        <a:pt x="88" y="20"/>
                        <a:pt x="88" y="44"/>
                      </a:cubicBezTo>
                      <a:cubicBezTo>
                        <a:pt x="88" y="69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22" name="Freeform 121">
                  <a:extLst>
                    <a:ext uri="{FF2B5EF4-FFF2-40B4-BE49-F238E27FC236}">
                      <a16:creationId xmlns:a16="http://schemas.microsoft.com/office/drawing/2014/main" id="{EA918874-72BD-4D3F-9BB1-8954DC5581B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251200" y="3708400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19" y="88"/>
                        <a:pt x="0" y="68"/>
                        <a:pt x="0" y="44"/>
                      </a:cubicBezTo>
                      <a:cubicBezTo>
                        <a:pt x="0" y="19"/>
                        <a:pt x="19" y="0"/>
                        <a:pt x="44" y="0"/>
                      </a:cubicBezTo>
                      <a:cubicBezTo>
                        <a:pt x="68" y="0"/>
                        <a:pt x="88" y="19"/>
                        <a:pt x="88" y="44"/>
                      </a:cubicBezTo>
                      <a:cubicBezTo>
                        <a:pt x="88" y="68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2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2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23" name="Freeform 122">
                  <a:extLst>
                    <a:ext uri="{FF2B5EF4-FFF2-40B4-BE49-F238E27FC236}">
                      <a16:creationId xmlns:a16="http://schemas.microsoft.com/office/drawing/2014/main" id="{55940E9E-6408-4D50-9DD5-72BB899906F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251200" y="3284538"/>
                  <a:ext cx="333375" cy="331788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19" y="88"/>
                        <a:pt x="0" y="68"/>
                        <a:pt x="0" y="44"/>
                      </a:cubicBezTo>
                      <a:cubicBezTo>
                        <a:pt x="0" y="19"/>
                        <a:pt x="19" y="0"/>
                        <a:pt x="44" y="0"/>
                      </a:cubicBezTo>
                      <a:cubicBezTo>
                        <a:pt x="68" y="0"/>
                        <a:pt x="88" y="19"/>
                        <a:pt x="88" y="44"/>
                      </a:cubicBezTo>
                      <a:cubicBezTo>
                        <a:pt x="88" y="68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24" name="Freeform 123">
                  <a:extLst>
                    <a:ext uri="{FF2B5EF4-FFF2-40B4-BE49-F238E27FC236}">
                      <a16:creationId xmlns:a16="http://schemas.microsoft.com/office/drawing/2014/main" id="{911E3705-D245-4B56-983C-B42B49993A4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251200" y="2859088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19" y="88"/>
                        <a:pt x="0" y="68"/>
                        <a:pt x="0" y="44"/>
                      </a:cubicBezTo>
                      <a:cubicBezTo>
                        <a:pt x="0" y="19"/>
                        <a:pt x="19" y="0"/>
                        <a:pt x="44" y="0"/>
                      </a:cubicBezTo>
                      <a:cubicBezTo>
                        <a:pt x="68" y="0"/>
                        <a:pt x="88" y="19"/>
                        <a:pt x="88" y="44"/>
                      </a:cubicBezTo>
                      <a:cubicBezTo>
                        <a:pt x="88" y="68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25" name="Freeform 124">
                  <a:extLst>
                    <a:ext uri="{FF2B5EF4-FFF2-40B4-BE49-F238E27FC236}">
                      <a16:creationId xmlns:a16="http://schemas.microsoft.com/office/drawing/2014/main" id="{1E278F16-2941-4838-A419-2DFF354BD70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251200" y="2435225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19" y="88"/>
                        <a:pt x="0" y="68"/>
                        <a:pt x="0" y="44"/>
                      </a:cubicBezTo>
                      <a:cubicBezTo>
                        <a:pt x="0" y="19"/>
                        <a:pt x="19" y="0"/>
                        <a:pt x="44" y="0"/>
                      </a:cubicBezTo>
                      <a:cubicBezTo>
                        <a:pt x="68" y="0"/>
                        <a:pt x="88" y="19"/>
                        <a:pt x="88" y="44"/>
                      </a:cubicBezTo>
                      <a:cubicBezTo>
                        <a:pt x="88" y="68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1C72D454-B6FC-4AE4-9E2B-7387C8B174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13138" y="4227513"/>
                  <a:ext cx="442913" cy="1397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13B23638-FDD1-41BD-9DFB-64D76BF47C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13138" y="3802063"/>
                  <a:ext cx="442913" cy="14128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899FAA37-CAFC-4FCC-BF72-5EFB05737A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13138" y="3378200"/>
                  <a:ext cx="442913" cy="1397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4B17F3A6-209B-4489-9C8C-3D751A38E9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13138" y="2954338"/>
                  <a:ext cx="442913" cy="1397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98B92010-5D2C-4909-AAE3-5DEA967CEE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13138" y="2530475"/>
                  <a:ext cx="442913" cy="1397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10BE09FA-6863-4755-9C96-C0224510CD52}"/>
                  </a:ext>
                </a:extLst>
              </p:cNvPr>
              <p:cNvGrpSpPr/>
              <p:nvPr/>
            </p:nvGrpSpPr>
            <p:grpSpPr>
              <a:xfrm>
                <a:off x="8270875" y="2435225"/>
                <a:ext cx="735013" cy="2025650"/>
                <a:chOff x="8270875" y="2435225"/>
                <a:chExt cx="735013" cy="2025650"/>
              </a:xfrm>
            </p:grpSpPr>
            <p:sp>
              <p:nvSpPr>
                <p:cNvPr id="111" name="Freeform 110">
                  <a:extLst>
                    <a:ext uri="{FF2B5EF4-FFF2-40B4-BE49-F238E27FC236}">
                      <a16:creationId xmlns:a16="http://schemas.microsoft.com/office/drawing/2014/main" id="{AEBAB066-1891-4426-BBC3-3A1C1FE929F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672513" y="4127500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19" y="88"/>
                        <a:pt x="0" y="69"/>
                        <a:pt x="0" y="44"/>
                      </a:cubicBezTo>
                      <a:cubicBezTo>
                        <a:pt x="0" y="20"/>
                        <a:pt x="19" y="0"/>
                        <a:pt x="44" y="0"/>
                      </a:cubicBezTo>
                      <a:cubicBezTo>
                        <a:pt x="68" y="0"/>
                        <a:pt x="88" y="20"/>
                        <a:pt x="88" y="44"/>
                      </a:cubicBezTo>
                      <a:cubicBezTo>
                        <a:pt x="88" y="69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12" name="Freeform 111">
                  <a:extLst>
                    <a:ext uri="{FF2B5EF4-FFF2-40B4-BE49-F238E27FC236}">
                      <a16:creationId xmlns:a16="http://schemas.microsoft.com/office/drawing/2014/main" id="{96D2A1DD-DA65-4505-8649-179EA279064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672513" y="3708400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19" y="88"/>
                        <a:pt x="0" y="68"/>
                        <a:pt x="0" y="44"/>
                      </a:cubicBezTo>
                      <a:cubicBezTo>
                        <a:pt x="0" y="19"/>
                        <a:pt x="19" y="0"/>
                        <a:pt x="44" y="0"/>
                      </a:cubicBezTo>
                      <a:cubicBezTo>
                        <a:pt x="68" y="0"/>
                        <a:pt x="88" y="19"/>
                        <a:pt x="88" y="44"/>
                      </a:cubicBezTo>
                      <a:cubicBezTo>
                        <a:pt x="88" y="68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2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2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13" name="Freeform 112">
                  <a:extLst>
                    <a:ext uri="{FF2B5EF4-FFF2-40B4-BE49-F238E27FC236}">
                      <a16:creationId xmlns:a16="http://schemas.microsoft.com/office/drawing/2014/main" id="{1EA4B09B-557B-43FE-9B0F-058683FBFF0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672513" y="3284538"/>
                  <a:ext cx="333375" cy="331788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19" y="88"/>
                        <a:pt x="0" y="68"/>
                        <a:pt x="0" y="44"/>
                      </a:cubicBezTo>
                      <a:cubicBezTo>
                        <a:pt x="0" y="19"/>
                        <a:pt x="19" y="0"/>
                        <a:pt x="44" y="0"/>
                      </a:cubicBezTo>
                      <a:cubicBezTo>
                        <a:pt x="68" y="0"/>
                        <a:pt x="88" y="19"/>
                        <a:pt x="88" y="44"/>
                      </a:cubicBezTo>
                      <a:cubicBezTo>
                        <a:pt x="88" y="68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14" name="Freeform 113">
                  <a:extLst>
                    <a:ext uri="{FF2B5EF4-FFF2-40B4-BE49-F238E27FC236}">
                      <a16:creationId xmlns:a16="http://schemas.microsoft.com/office/drawing/2014/main" id="{E451B60A-221E-4EF4-A06F-FEE5339CC4D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672513" y="2859088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19" y="88"/>
                        <a:pt x="0" y="68"/>
                        <a:pt x="0" y="44"/>
                      </a:cubicBezTo>
                      <a:cubicBezTo>
                        <a:pt x="0" y="19"/>
                        <a:pt x="19" y="0"/>
                        <a:pt x="44" y="0"/>
                      </a:cubicBezTo>
                      <a:cubicBezTo>
                        <a:pt x="68" y="0"/>
                        <a:pt x="88" y="19"/>
                        <a:pt x="88" y="44"/>
                      </a:cubicBezTo>
                      <a:cubicBezTo>
                        <a:pt x="88" y="68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15" name="Freeform 114">
                  <a:extLst>
                    <a:ext uri="{FF2B5EF4-FFF2-40B4-BE49-F238E27FC236}">
                      <a16:creationId xmlns:a16="http://schemas.microsoft.com/office/drawing/2014/main" id="{58505C88-6DD4-4B30-808D-E0B8AB78E15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672513" y="2435225"/>
                  <a:ext cx="333375" cy="333375"/>
                </a:xfrm>
                <a:custGeom>
                  <a:avLst/>
                  <a:gdLst>
                    <a:gd name="T0" fmla="*/ 44 w 88"/>
                    <a:gd name="T1" fmla="*/ 88 h 88"/>
                    <a:gd name="T2" fmla="*/ 0 w 88"/>
                    <a:gd name="T3" fmla="*/ 44 h 88"/>
                    <a:gd name="T4" fmla="*/ 44 w 88"/>
                    <a:gd name="T5" fmla="*/ 0 h 88"/>
                    <a:gd name="T6" fmla="*/ 88 w 88"/>
                    <a:gd name="T7" fmla="*/ 44 h 88"/>
                    <a:gd name="T8" fmla="*/ 44 w 88"/>
                    <a:gd name="T9" fmla="*/ 88 h 88"/>
                    <a:gd name="T10" fmla="*/ 44 w 88"/>
                    <a:gd name="T11" fmla="*/ 24 h 88"/>
                    <a:gd name="T12" fmla="*/ 24 w 88"/>
                    <a:gd name="T13" fmla="*/ 44 h 88"/>
                    <a:gd name="T14" fmla="*/ 44 w 88"/>
                    <a:gd name="T15" fmla="*/ 64 h 88"/>
                    <a:gd name="T16" fmla="*/ 64 w 88"/>
                    <a:gd name="T17" fmla="*/ 44 h 88"/>
                    <a:gd name="T18" fmla="*/ 44 w 88"/>
                    <a:gd name="T19" fmla="*/ 24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88">
                      <a:moveTo>
                        <a:pt x="44" y="88"/>
                      </a:moveTo>
                      <a:cubicBezTo>
                        <a:pt x="19" y="88"/>
                        <a:pt x="0" y="68"/>
                        <a:pt x="0" y="44"/>
                      </a:cubicBezTo>
                      <a:cubicBezTo>
                        <a:pt x="0" y="19"/>
                        <a:pt x="19" y="0"/>
                        <a:pt x="44" y="0"/>
                      </a:cubicBezTo>
                      <a:cubicBezTo>
                        <a:pt x="68" y="0"/>
                        <a:pt x="88" y="19"/>
                        <a:pt x="88" y="44"/>
                      </a:cubicBezTo>
                      <a:cubicBezTo>
                        <a:pt x="88" y="68"/>
                        <a:pt x="68" y="88"/>
                        <a:pt x="44" y="88"/>
                      </a:cubicBezTo>
                      <a:close/>
                      <a:moveTo>
                        <a:pt x="44" y="24"/>
                      </a:moveTo>
                      <a:cubicBezTo>
                        <a:pt x="33" y="24"/>
                        <a:pt x="24" y="33"/>
                        <a:pt x="24" y="44"/>
                      </a:cubicBezTo>
                      <a:cubicBezTo>
                        <a:pt x="24" y="55"/>
                        <a:pt x="33" y="64"/>
                        <a:pt x="44" y="64"/>
                      </a:cubicBezTo>
                      <a:cubicBezTo>
                        <a:pt x="55" y="64"/>
                        <a:pt x="64" y="55"/>
                        <a:pt x="64" y="44"/>
                      </a:cubicBezTo>
                      <a:cubicBezTo>
                        <a:pt x="64" y="33"/>
                        <a:pt x="55" y="24"/>
                        <a:pt x="44" y="24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B6B51175-6D6A-4360-89C2-D64610D5E3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70875" y="4227513"/>
                  <a:ext cx="447675" cy="1397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96A69C26-D617-439D-8ECC-E7F152F6C5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70875" y="3802063"/>
                  <a:ext cx="447675" cy="141288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FEFDE5B5-98C7-4C9A-B537-B350B7C251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70875" y="3378200"/>
                  <a:ext cx="447675" cy="1397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43DEFC10-8C34-4436-A3BD-72604C2898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70875" y="2954338"/>
                  <a:ext cx="447675" cy="1397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D31871AA-9A93-4332-8428-90D3AEDFAB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70875" y="2530475"/>
                  <a:ext cx="447675" cy="1397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</p:grp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2998CDA8-96E0-4B34-9F20-3B54EA60B5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3600" y="0"/>
                <a:ext cx="2439988" cy="3071813"/>
              </a:xfrm>
              <a:custGeom>
                <a:avLst/>
                <a:gdLst>
                  <a:gd name="T0" fmla="*/ 1537 w 1537"/>
                  <a:gd name="T1" fmla="*/ 1803 h 1803"/>
                  <a:gd name="T2" fmla="*/ 910 w 1537"/>
                  <a:gd name="T3" fmla="*/ 1803 h 1803"/>
                  <a:gd name="T4" fmla="*/ 611 w 1537"/>
                  <a:gd name="T5" fmla="*/ 1593 h 1803"/>
                  <a:gd name="T6" fmla="*/ 0 w 1537"/>
                  <a:gd name="T7" fmla="*/ 1593 h 1803"/>
                  <a:gd name="T8" fmla="*/ 0 w 1537"/>
                  <a:gd name="T9" fmla="*/ 0 h 1803"/>
                  <a:gd name="T10" fmla="*/ 57 w 1537"/>
                  <a:gd name="T11" fmla="*/ 0 h 1803"/>
                  <a:gd name="T12" fmla="*/ 57 w 1537"/>
                  <a:gd name="T13" fmla="*/ 1536 h 1803"/>
                  <a:gd name="T14" fmla="*/ 628 w 1537"/>
                  <a:gd name="T15" fmla="*/ 1536 h 1803"/>
                  <a:gd name="T16" fmla="*/ 929 w 1537"/>
                  <a:gd name="T17" fmla="*/ 1746 h 1803"/>
                  <a:gd name="T18" fmla="*/ 1537 w 1537"/>
                  <a:gd name="T19" fmla="*/ 1746 h 1803"/>
                  <a:gd name="T20" fmla="*/ 1537 w 1537"/>
                  <a:gd name="T21" fmla="*/ 1803 h 18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7" h="1803">
                    <a:moveTo>
                      <a:pt x="1537" y="1803"/>
                    </a:moveTo>
                    <a:lnTo>
                      <a:pt x="910" y="1803"/>
                    </a:lnTo>
                    <a:lnTo>
                      <a:pt x="611" y="1593"/>
                    </a:lnTo>
                    <a:lnTo>
                      <a:pt x="0" y="1593"/>
                    </a:lnTo>
                    <a:lnTo>
                      <a:pt x="0" y="0"/>
                    </a:lnTo>
                    <a:lnTo>
                      <a:pt x="57" y="0"/>
                    </a:lnTo>
                    <a:lnTo>
                      <a:pt x="57" y="1536"/>
                    </a:lnTo>
                    <a:lnTo>
                      <a:pt x="628" y="1536"/>
                    </a:lnTo>
                    <a:lnTo>
                      <a:pt x="929" y="1746"/>
                    </a:lnTo>
                    <a:lnTo>
                      <a:pt x="1537" y="1746"/>
                    </a:lnTo>
                    <a:lnTo>
                      <a:pt x="1537" y="1803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D" sz="1351"/>
              </a:p>
            </p:txBody>
          </p: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C63AA9E8-1120-443A-9CE6-A0A5EC088A98}"/>
                  </a:ext>
                </a:extLst>
              </p:cNvPr>
              <p:cNvGrpSpPr/>
              <p:nvPr/>
            </p:nvGrpSpPr>
            <p:grpSpPr>
              <a:xfrm>
                <a:off x="8166100" y="0"/>
                <a:ext cx="1779588" cy="431800"/>
                <a:chOff x="8166100" y="0"/>
                <a:chExt cx="1779588" cy="431800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109" name="Freeform 108">
                  <a:extLst>
                    <a:ext uri="{FF2B5EF4-FFF2-40B4-BE49-F238E27FC236}">
                      <a16:creationId xmlns:a16="http://schemas.microsoft.com/office/drawing/2014/main" id="{CB929412-D31F-41DD-A832-7D3D7F8BE7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66100" y="76200"/>
                  <a:ext cx="1779588" cy="355600"/>
                </a:xfrm>
                <a:custGeom>
                  <a:avLst/>
                  <a:gdLst>
                    <a:gd name="T0" fmla="*/ 861 w 1121"/>
                    <a:gd name="T1" fmla="*/ 224 h 224"/>
                    <a:gd name="T2" fmla="*/ 0 w 1121"/>
                    <a:gd name="T3" fmla="*/ 224 h 224"/>
                    <a:gd name="T4" fmla="*/ 0 w 1121"/>
                    <a:gd name="T5" fmla="*/ 24 h 224"/>
                    <a:gd name="T6" fmla="*/ 57 w 1121"/>
                    <a:gd name="T7" fmla="*/ 24 h 224"/>
                    <a:gd name="T8" fmla="*/ 57 w 1121"/>
                    <a:gd name="T9" fmla="*/ 167 h 224"/>
                    <a:gd name="T10" fmla="*/ 842 w 1121"/>
                    <a:gd name="T11" fmla="*/ 167 h 224"/>
                    <a:gd name="T12" fmla="*/ 1090 w 1121"/>
                    <a:gd name="T13" fmla="*/ 0 h 224"/>
                    <a:gd name="T14" fmla="*/ 1121 w 1121"/>
                    <a:gd name="T15" fmla="*/ 48 h 224"/>
                    <a:gd name="T16" fmla="*/ 861 w 1121"/>
                    <a:gd name="T17" fmla="*/ 224 h 2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21" h="224">
                      <a:moveTo>
                        <a:pt x="861" y="224"/>
                      </a:moveTo>
                      <a:lnTo>
                        <a:pt x="0" y="224"/>
                      </a:lnTo>
                      <a:lnTo>
                        <a:pt x="0" y="24"/>
                      </a:lnTo>
                      <a:lnTo>
                        <a:pt x="57" y="24"/>
                      </a:lnTo>
                      <a:lnTo>
                        <a:pt x="57" y="167"/>
                      </a:lnTo>
                      <a:lnTo>
                        <a:pt x="842" y="167"/>
                      </a:lnTo>
                      <a:lnTo>
                        <a:pt x="1090" y="0"/>
                      </a:lnTo>
                      <a:lnTo>
                        <a:pt x="1121" y="48"/>
                      </a:lnTo>
                      <a:lnTo>
                        <a:pt x="861" y="22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ID" sz="1351"/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5C8460CB-3AC1-44C1-9EB5-145A90A57682}"/>
                    </a:ext>
                  </a:extLst>
                </p:cNvPr>
                <p:cNvSpPr/>
                <p:nvPr/>
              </p:nvSpPr>
              <p:spPr>
                <a:xfrm>
                  <a:off x="8166100" y="0"/>
                  <a:ext cx="88900" cy="212725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ID" sz="1351"/>
                </a:p>
              </p:txBody>
            </p:sp>
          </p:grpSp>
          <p:sp>
            <p:nvSpPr>
              <p:cNvPr id="101" name="Freeform: Shape 170">
                <a:extLst>
                  <a:ext uri="{FF2B5EF4-FFF2-40B4-BE49-F238E27FC236}">
                    <a16:creationId xmlns:a16="http://schemas.microsoft.com/office/drawing/2014/main" id="{1EE7338C-4BB5-4FC8-AE66-F5503EB74554}"/>
                  </a:ext>
                </a:extLst>
              </p:cNvPr>
              <p:cNvSpPr/>
              <p:nvPr/>
            </p:nvSpPr>
            <p:spPr>
              <a:xfrm>
                <a:off x="0" y="3106036"/>
                <a:ext cx="1325563" cy="1772353"/>
              </a:xfrm>
              <a:custGeom>
                <a:avLst/>
                <a:gdLst>
                  <a:gd name="connsiteX0" fmla="*/ 0 w 1325563"/>
                  <a:gd name="connsiteY0" fmla="*/ 0 h 1772353"/>
                  <a:gd name="connsiteX1" fmla="*/ 1325563 w 1325563"/>
                  <a:gd name="connsiteY1" fmla="*/ 738890 h 1772353"/>
                  <a:gd name="connsiteX2" fmla="*/ 1325563 w 1325563"/>
                  <a:gd name="connsiteY2" fmla="*/ 1772353 h 1772353"/>
                  <a:gd name="connsiteX3" fmla="*/ 0 w 1325563"/>
                  <a:gd name="connsiteY3" fmla="*/ 1772353 h 1772353"/>
                  <a:gd name="connsiteX4" fmla="*/ 0 w 1325563"/>
                  <a:gd name="connsiteY4" fmla="*/ 1681866 h 1772353"/>
                  <a:gd name="connsiteX5" fmla="*/ 1235076 w 1325563"/>
                  <a:gd name="connsiteY5" fmla="*/ 1681866 h 1772353"/>
                  <a:gd name="connsiteX6" fmla="*/ 1235076 w 1325563"/>
                  <a:gd name="connsiteY6" fmla="*/ 794453 h 1772353"/>
                  <a:gd name="connsiteX7" fmla="*/ 0 w 1325563"/>
                  <a:gd name="connsiteY7" fmla="*/ 105749 h 1772353"/>
                  <a:gd name="connsiteX8" fmla="*/ 0 w 1325563"/>
                  <a:gd name="connsiteY8" fmla="*/ 0 h 1772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25563" h="1772353">
                    <a:moveTo>
                      <a:pt x="0" y="0"/>
                    </a:moveTo>
                    <a:lnTo>
                      <a:pt x="1325563" y="738890"/>
                    </a:lnTo>
                    <a:lnTo>
                      <a:pt x="1325563" y="1772353"/>
                    </a:lnTo>
                    <a:lnTo>
                      <a:pt x="0" y="1772353"/>
                    </a:lnTo>
                    <a:lnTo>
                      <a:pt x="0" y="1681866"/>
                    </a:lnTo>
                    <a:lnTo>
                      <a:pt x="1235076" y="1681866"/>
                    </a:lnTo>
                    <a:lnTo>
                      <a:pt x="1235076" y="794453"/>
                    </a:lnTo>
                    <a:lnTo>
                      <a:pt x="0" y="1057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D" sz="1351"/>
              </a:p>
            </p:txBody>
          </p:sp>
          <p:sp>
            <p:nvSpPr>
              <p:cNvPr id="102" name="Freeform: Shape 178">
                <a:extLst>
                  <a:ext uri="{FF2B5EF4-FFF2-40B4-BE49-F238E27FC236}">
                    <a16:creationId xmlns:a16="http://schemas.microsoft.com/office/drawing/2014/main" id="{4BFB81BB-C1D9-485F-93EE-698488FC9D14}"/>
                  </a:ext>
                </a:extLst>
              </p:cNvPr>
              <p:cNvSpPr/>
              <p:nvPr/>
            </p:nvSpPr>
            <p:spPr>
              <a:xfrm>
                <a:off x="1" y="4235994"/>
                <a:ext cx="620713" cy="596356"/>
              </a:xfrm>
              <a:custGeom>
                <a:avLst/>
                <a:gdLst>
                  <a:gd name="connsiteX0" fmla="*/ 0 w 620713"/>
                  <a:gd name="connsiteY0" fmla="*/ 0 h 596356"/>
                  <a:gd name="connsiteX1" fmla="*/ 620713 w 620713"/>
                  <a:gd name="connsiteY1" fmla="*/ 286794 h 596356"/>
                  <a:gd name="connsiteX2" fmla="*/ 620713 w 620713"/>
                  <a:gd name="connsiteY2" fmla="*/ 596356 h 596356"/>
                  <a:gd name="connsiteX3" fmla="*/ 530225 w 620713"/>
                  <a:gd name="connsiteY3" fmla="*/ 596356 h 596356"/>
                  <a:gd name="connsiteX4" fmla="*/ 530225 w 620713"/>
                  <a:gd name="connsiteY4" fmla="*/ 347119 h 596356"/>
                  <a:gd name="connsiteX5" fmla="*/ 0 w 620713"/>
                  <a:gd name="connsiteY5" fmla="*/ 101828 h 596356"/>
                  <a:gd name="connsiteX6" fmla="*/ 0 w 620713"/>
                  <a:gd name="connsiteY6" fmla="*/ 0 h 596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20713" h="596356">
                    <a:moveTo>
                      <a:pt x="0" y="0"/>
                    </a:moveTo>
                    <a:lnTo>
                      <a:pt x="620713" y="286794"/>
                    </a:lnTo>
                    <a:lnTo>
                      <a:pt x="620713" y="596356"/>
                    </a:lnTo>
                    <a:lnTo>
                      <a:pt x="530225" y="596356"/>
                    </a:lnTo>
                    <a:lnTo>
                      <a:pt x="530225" y="347119"/>
                    </a:lnTo>
                    <a:lnTo>
                      <a:pt x="0" y="1018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D" sz="1351"/>
              </a:p>
            </p:txBody>
          </p:sp>
          <p:sp>
            <p:nvSpPr>
              <p:cNvPr id="103" name="Freeform: Shape 187">
                <a:extLst>
                  <a:ext uri="{FF2B5EF4-FFF2-40B4-BE49-F238E27FC236}">
                    <a16:creationId xmlns:a16="http://schemas.microsoft.com/office/drawing/2014/main" id="{2F475784-9EDC-4F26-A2EC-FEB9E78CA452}"/>
                  </a:ext>
                </a:extLst>
              </p:cNvPr>
              <p:cNvSpPr/>
              <p:nvPr/>
            </p:nvSpPr>
            <p:spPr>
              <a:xfrm flipH="1">
                <a:off x="11541126" y="5056188"/>
                <a:ext cx="647699" cy="415925"/>
              </a:xfrm>
              <a:custGeom>
                <a:avLst/>
                <a:gdLst>
                  <a:gd name="connsiteX0" fmla="*/ 593724 w 647699"/>
                  <a:gd name="connsiteY0" fmla="*/ 0 h 415925"/>
                  <a:gd name="connsiteX1" fmla="*/ 131761 w 647699"/>
                  <a:gd name="connsiteY1" fmla="*/ 325438 h 415925"/>
                  <a:gd name="connsiteX2" fmla="*/ 0 w 647699"/>
                  <a:gd name="connsiteY2" fmla="*/ 325438 h 415925"/>
                  <a:gd name="connsiteX3" fmla="*/ 0 w 647699"/>
                  <a:gd name="connsiteY3" fmla="*/ 415925 h 415925"/>
                  <a:gd name="connsiteX4" fmla="*/ 158749 w 647699"/>
                  <a:gd name="connsiteY4" fmla="*/ 415925 h 415925"/>
                  <a:gd name="connsiteX5" fmla="*/ 647699 w 647699"/>
                  <a:gd name="connsiteY5" fmla="*/ 76200 h 415925"/>
                  <a:gd name="connsiteX6" fmla="*/ 593724 w 647699"/>
                  <a:gd name="connsiteY6" fmla="*/ 0 h 415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7699" h="415925">
                    <a:moveTo>
                      <a:pt x="593724" y="0"/>
                    </a:moveTo>
                    <a:lnTo>
                      <a:pt x="131761" y="325438"/>
                    </a:lnTo>
                    <a:lnTo>
                      <a:pt x="0" y="325438"/>
                    </a:lnTo>
                    <a:lnTo>
                      <a:pt x="0" y="415925"/>
                    </a:lnTo>
                    <a:lnTo>
                      <a:pt x="158749" y="415925"/>
                    </a:lnTo>
                    <a:lnTo>
                      <a:pt x="647699" y="76200"/>
                    </a:lnTo>
                    <a:lnTo>
                      <a:pt x="593724" y="0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D" sz="1351"/>
              </a:p>
            </p:txBody>
          </p:sp>
          <p:sp>
            <p:nvSpPr>
              <p:cNvPr id="104" name="Freeform: Shape 183">
                <a:extLst>
                  <a:ext uri="{FF2B5EF4-FFF2-40B4-BE49-F238E27FC236}">
                    <a16:creationId xmlns:a16="http://schemas.microsoft.com/office/drawing/2014/main" id="{4614F863-2BEF-49AD-88A9-6619AB9B5C62}"/>
                  </a:ext>
                </a:extLst>
              </p:cNvPr>
              <p:cNvSpPr/>
              <p:nvPr/>
            </p:nvSpPr>
            <p:spPr>
              <a:xfrm>
                <a:off x="10636250" y="1341438"/>
                <a:ext cx="1556543" cy="3378200"/>
              </a:xfrm>
              <a:custGeom>
                <a:avLst/>
                <a:gdLst>
                  <a:gd name="connsiteX0" fmla="*/ 0 w 1556543"/>
                  <a:gd name="connsiteY0" fmla="*/ 0 h 3378200"/>
                  <a:gd name="connsiteX1" fmla="*/ 1547742 w 1556543"/>
                  <a:gd name="connsiteY1" fmla="*/ 0 h 3378200"/>
                  <a:gd name="connsiteX2" fmla="*/ 1547742 w 1556543"/>
                  <a:gd name="connsiteY2" fmla="*/ 90488 h 3378200"/>
                  <a:gd name="connsiteX3" fmla="*/ 95997 w 1556543"/>
                  <a:gd name="connsiteY3" fmla="*/ 90488 h 3378200"/>
                  <a:gd name="connsiteX4" fmla="*/ 95997 w 1556543"/>
                  <a:gd name="connsiteY4" fmla="*/ 3286125 h 3378200"/>
                  <a:gd name="connsiteX5" fmla="*/ 1556543 w 1556543"/>
                  <a:gd name="connsiteY5" fmla="*/ 3286125 h 3378200"/>
                  <a:gd name="connsiteX6" fmla="*/ 1556543 w 1556543"/>
                  <a:gd name="connsiteY6" fmla="*/ 3378200 h 3378200"/>
                  <a:gd name="connsiteX7" fmla="*/ 0 w 1556543"/>
                  <a:gd name="connsiteY7" fmla="*/ 3378200 h 3378200"/>
                  <a:gd name="connsiteX8" fmla="*/ 0 w 1556543"/>
                  <a:gd name="connsiteY8" fmla="*/ 0 h 3378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56543" h="3378200">
                    <a:moveTo>
                      <a:pt x="0" y="0"/>
                    </a:moveTo>
                    <a:lnTo>
                      <a:pt x="1547742" y="0"/>
                    </a:lnTo>
                    <a:lnTo>
                      <a:pt x="1547742" y="90488"/>
                    </a:lnTo>
                    <a:lnTo>
                      <a:pt x="95997" y="90488"/>
                    </a:lnTo>
                    <a:lnTo>
                      <a:pt x="95997" y="3286125"/>
                    </a:lnTo>
                    <a:lnTo>
                      <a:pt x="1556543" y="3286125"/>
                    </a:lnTo>
                    <a:lnTo>
                      <a:pt x="1556543" y="3378200"/>
                    </a:lnTo>
                    <a:lnTo>
                      <a:pt x="0" y="3378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D" sz="1351"/>
              </a:p>
            </p:txBody>
          </p:sp>
          <p:sp>
            <p:nvSpPr>
              <p:cNvPr id="105" name="Freeform: Shape 194">
                <a:extLst>
                  <a:ext uri="{FF2B5EF4-FFF2-40B4-BE49-F238E27FC236}">
                    <a16:creationId xmlns:a16="http://schemas.microsoft.com/office/drawing/2014/main" id="{6EE82D75-7D96-4AE5-870E-117E8AE9A987}"/>
                  </a:ext>
                </a:extLst>
              </p:cNvPr>
              <p:cNvSpPr/>
              <p:nvPr/>
            </p:nvSpPr>
            <p:spPr>
              <a:xfrm>
                <a:off x="7732712" y="5299075"/>
                <a:ext cx="4456113" cy="698848"/>
              </a:xfrm>
              <a:custGeom>
                <a:avLst/>
                <a:gdLst>
                  <a:gd name="connsiteX0" fmla="*/ 0 w 4456113"/>
                  <a:gd name="connsiteY0" fmla="*/ 0 h 698848"/>
                  <a:gd name="connsiteX1" fmla="*/ 93549 w 4456113"/>
                  <a:gd name="connsiteY1" fmla="*/ 0 h 698848"/>
                  <a:gd name="connsiteX2" fmla="*/ 93549 w 4456113"/>
                  <a:gd name="connsiteY2" fmla="*/ 131763 h 698848"/>
                  <a:gd name="connsiteX3" fmla="*/ 3791938 w 4456113"/>
                  <a:gd name="connsiteY3" fmla="*/ 131763 h 698848"/>
                  <a:gd name="connsiteX4" fmla="*/ 4456113 w 4456113"/>
                  <a:gd name="connsiteY4" fmla="*/ 588370 h 698848"/>
                  <a:gd name="connsiteX5" fmla="*/ 4456113 w 4456113"/>
                  <a:gd name="connsiteY5" fmla="*/ 698848 h 698848"/>
                  <a:gd name="connsiteX6" fmla="*/ 3766132 w 4456113"/>
                  <a:gd name="connsiteY6" fmla="*/ 222250 h 698848"/>
                  <a:gd name="connsiteX7" fmla="*/ 0 w 4456113"/>
                  <a:gd name="connsiteY7" fmla="*/ 222250 h 698848"/>
                  <a:gd name="connsiteX8" fmla="*/ 0 w 4456113"/>
                  <a:gd name="connsiteY8" fmla="*/ 0 h 6988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56113" h="698848">
                    <a:moveTo>
                      <a:pt x="0" y="0"/>
                    </a:moveTo>
                    <a:lnTo>
                      <a:pt x="93549" y="0"/>
                    </a:lnTo>
                    <a:lnTo>
                      <a:pt x="93549" y="131763"/>
                    </a:lnTo>
                    <a:lnTo>
                      <a:pt x="3791938" y="131763"/>
                    </a:lnTo>
                    <a:lnTo>
                      <a:pt x="4456113" y="588370"/>
                    </a:lnTo>
                    <a:lnTo>
                      <a:pt x="4456113" y="698848"/>
                    </a:lnTo>
                    <a:lnTo>
                      <a:pt x="3766132" y="222250"/>
                    </a:lnTo>
                    <a:lnTo>
                      <a:pt x="0" y="2222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D" sz="1351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C9A8D692-12C2-42F2-88B4-5A9EA114D347}"/>
                  </a:ext>
                </a:extLst>
              </p:cNvPr>
              <p:cNvSpPr/>
              <p:nvPr/>
            </p:nvSpPr>
            <p:spPr>
              <a:xfrm>
                <a:off x="9931400" y="5738813"/>
                <a:ext cx="88900" cy="1119187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D" sz="1351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D12B4C6B-1ABF-4A08-B4CA-D38322BBF54D}"/>
                  </a:ext>
                </a:extLst>
              </p:cNvPr>
              <p:cNvSpPr/>
              <p:nvPr/>
            </p:nvSpPr>
            <p:spPr>
              <a:xfrm>
                <a:off x="10990263" y="5738813"/>
                <a:ext cx="88900" cy="1119187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D" sz="1351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8D959865-100C-44A1-8F18-F5A72A703100}"/>
                  </a:ext>
                </a:extLst>
              </p:cNvPr>
              <p:cNvSpPr/>
              <p:nvPr/>
            </p:nvSpPr>
            <p:spPr>
              <a:xfrm rot="5400000">
                <a:off x="10475119" y="5223670"/>
                <a:ext cx="88900" cy="1119187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ID" sz="1351"/>
              </a:p>
            </p:txBody>
          </p: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0708BEF-D6C0-4BD1-8412-877B4DBAF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1325" y="1704975"/>
              <a:ext cx="3199210" cy="1763316"/>
            </a:xfrm>
            <a:prstGeom prst="rect">
              <a:avLst/>
            </a:prstGeom>
            <a:noFill/>
            <a:ln w="60325" cap="flat">
              <a:solidFill>
                <a:srgbClr val="00A6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  <a:norm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D" sz="135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20" name="Picture 19" descr="A picture containing monitor, computer, keyboard, table&#10;&#10;Description automatically generated">
              <a:extLst>
                <a:ext uri="{FF2B5EF4-FFF2-40B4-BE49-F238E27FC236}">
                  <a16:creationId xmlns:a16="http://schemas.microsoft.com/office/drawing/2014/main" id="{DC46C932-19EF-4690-AB35-D49ED58E4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5223" y="1796707"/>
              <a:ext cx="2332431" cy="18265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3955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28153"/>
            <a:ext cx="11582400" cy="5021979"/>
          </a:xfrm>
        </p:spPr>
        <p:txBody>
          <a:bodyPr/>
          <a:lstStyle>
            <a:lvl1pPr marL="304792" indent="-228594">
              <a:buSzPct val="110000"/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</a:defRPr>
            </a:lvl1pPr>
            <a:lvl2pPr marL="609585" indent="-304792">
              <a:defRPr sz="3200">
                <a:solidFill>
                  <a:schemeClr val="tx1"/>
                </a:solidFill>
              </a:defRPr>
            </a:lvl2pPr>
            <a:lvl3pPr marL="836063" indent="-226478">
              <a:defRPr sz="2667">
                <a:solidFill>
                  <a:schemeClr val="tx1"/>
                </a:solidFill>
              </a:defRPr>
            </a:lvl3pPr>
            <a:lvl4pPr marL="1071007" indent="-234945">
              <a:defRPr sz="2400">
                <a:solidFill>
                  <a:schemeClr val="tx1"/>
                </a:solidFill>
              </a:defRPr>
            </a:lvl4pPr>
            <a:lvl5pPr marL="1297485" indent="-226478">
              <a:defRPr sz="21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1" y="6448468"/>
            <a:ext cx="2472271" cy="365125"/>
          </a:xfrm>
        </p:spPr>
        <p:txBody>
          <a:bodyPr/>
          <a:lstStyle>
            <a:lvl1pPr>
              <a:defRPr sz="1600"/>
            </a:lvl1pPr>
          </a:lstStyle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75B1DB82-35C9-4076-A5B8-0781B30E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709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/>
            </a:lvl1pPr>
          </a:lstStyle>
          <a:p>
            <a:fld id="{32A3D4D7-2170-41A3-B880-00E013DFF58E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75B1DB82-35C9-4076-A5B8-0781B30E89E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120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04800" y="286605"/>
            <a:ext cx="11582400" cy="703996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193800"/>
            <a:ext cx="5689600" cy="5080000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667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133">
                <a:solidFill>
                  <a:schemeClr val="tx1"/>
                </a:solidFill>
              </a:defRPr>
            </a:lvl4pPr>
            <a:lvl5pPr>
              <a:defRPr sz="21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193800"/>
            <a:ext cx="5791200" cy="5080000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667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133">
                <a:solidFill>
                  <a:schemeClr val="tx1"/>
                </a:solidFill>
              </a:defRPr>
            </a:lvl4pPr>
            <a:lvl5pPr>
              <a:defRPr sz="21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017B-1767-4C05-8279-C189AA0C4571}" type="datetime1">
              <a:rPr lang="en-US" smtClean="0"/>
              <a:t>6/18/2023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660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04800" y="279400"/>
            <a:ext cx="11582400" cy="71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01995"/>
            <a:ext cx="5683795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0605" y="2094962"/>
            <a:ext cx="5683795" cy="41788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1" y="1201995"/>
            <a:ext cx="5651863" cy="73628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1" y="2133907"/>
            <a:ext cx="5651863" cy="41398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835E7-4C2F-476A-9D16-2A05DA165C60}" type="datetime1">
              <a:rPr lang="en-US" smtClean="0"/>
              <a:t>6/18/2023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94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D484F-7D1D-4223-B4EB-4774EB72A1BF}" type="datetime1">
              <a:rPr lang="en-US" smtClean="0"/>
              <a:t>6/18/2023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416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596E-E238-44EA-B44A-E8BBAA7C1898}" type="datetime1">
              <a:rPr lang="en-US" smtClean="0"/>
              <a:t>6/18/2023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Introduction to AI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34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1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6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265CA693-E051-489F-AD60-4836BFF8D4C0}" type="datetime1">
              <a:rPr lang="en-US" smtClean="0"/>
              <a:t>6/18/2023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6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Introduction to 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B1DB82-35C9-4076-A5B8-0781B30E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93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1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E5D39-2C70-49FC-8BEA-2C0469021ACB}" type="datetime1">
              <a:rPr lang="en-US" smtClean="0"/>
              <a:t>6/18/2023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5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34743-1993-4606-86DC-A30336869D0E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969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2301"/>
            <a:ext cx="2628900" cy="57598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2301"/>
            <a:ext cx="7734300" cy="5759899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1C26-1B82-4B05-B2A5-72C95E92D3BF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47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6334317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86605"/>
            <a:ext cx="11582400" cy="7039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10736"/>
            <a:ext cx="11582400" cy="502197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1" y="6442483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</a:defRPr>
            </a:lvl1pPr>
          </a:lstStyle>
          <a:p>
            <a:fld id="{CB0D3A30-4813-421E-868B-5102825C77AE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6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33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75176" y="64484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chemeClr val="bg1"/>
                </a:solidFill>
              </a:defRPr>
            </a:lvl1pPr>
          </a:lstStyle>
          <a:p>
            <a:fld id="{75B1DB82-35C9-4076-A5B8-0781B30E89E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304800" y="1092200"/>
            <a:ext cx="115824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346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4800" kern="1200" spc="-51" baseline="0">
          <a:solidFill>
            <a:schemeClr val="accent6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91438" indent="-91438" algn="l" defTabSz="914377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384038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566914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749789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932665" indent="-182875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1099973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68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63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58" indent="-228594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bster-dictionary.org/definition/Knowledg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://primaryobjects.github.io/wumpus/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luka1199.github.io/wumpus-world/" TargetMode="External"/><Relationship Id="rId2" Type="http://schemas.openxmlformats.org/officeDocument/2006/relationships/hyperlink" Target="https://thiagodnf.github.io/wumpus-world-simulato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sric.com/wumpu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pPr algn="ctr"/>
            <a:r>
              <a:rPr lang="en-US" dirty="0"/>
              <a:t>Knowledge and Reasoning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4067-A9CA-4A27-8DA7-3E08B1BB6143}" type="datetime1">
              <a:rPr lang="en-US" smtClean="0"/>
              <a:t>6/18/2023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7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/>
              <a:t>Knowledge Representation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/>
              <a:t>Propositional Logic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/>
              <a:t>Rules of Inference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/>
              <a:t>Wumpus World Example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5AC14-F69F-470B-87F4-41DE8C843EFA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33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Knowledge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solidFill>
                  <a:srgbClr val="C00000"/>
                </a:solidFill>
              </a:rPr>
              <a:t>Knowledge</a:t>
            </a:r>
            <a:r>
              <a:rPr lang="en-US" sz="3600" dirty="0"/>
              <a:t> is defined as "The act or state of </a:t>
            </a:r>
            <a:r>
              <a:rPr lang="en-US" sz="3600" i="1" dirty="0">
                <a:solidFill>
                  <a:srgbClr val="C00000"/>
                </a:solidFill>
              </a:rPr>
              <a:t>knowing</a:t>
            </a:r>
            <a:r>
              <a:rPr lang="en-US" sz="3600" dirty="0"/>
              <a:t>; clear </a:t>
            </a:r>
            <a:r>
              <a:rPr lang="en-US" sz="3600" i="1" dirty="0">
                <a:solidFill>
                  <a:srgbClr val="C00000"/>
                </a:solidFill>
              </a:rPr>
              <a:t>perception</a:t>
            </a:r>
            <a:r>
              <a:rPr lang="en-US" sz="3600" dirty="0"/>
              <a:t> of fact, truth or duty; certain apprehension." </a:t>
            </a:r>
            <a:r>
              <a:rPr lang="en-US" sz="2800" dirty="0">
                <a:solidFill>
                  <a:srgbClr val="0000CC"/>
                </a:solidFill>
              </a:rPr>
              <a:t>[</a:t>
            </a:r>
            <a:r>
              <a:rPr lang="en-US" sz="2800" dirty="0">
                <a:solidFill>
                  <a:srgbClr val="0000CC"/>
                </a:solidFill>
                <a:hlinkClick r:id="rId3"/>
              </a:rPr>
              <a:t>Webster Dictionary</a:t>
            </a:r>
            <a:r>
              <a:rPr lang="en-US" sz="2800" dirty="0">
                <a:solidFill>
                  <a:srgbClr val="0000CC"/>
                </a:solidFill>
              </a:rPr>
              <a:t>]</a:t>
            </a:r>
          </a:p>
          <a:p>
            <a:pPr marL="76198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600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Knowledge in AI</a:t>
            </a:r>
            <a:r>
              <a:rPr lang="en-US" sz="3600" dirty="0"/>
              <a:t> is represented using a </a:t>
            </a:r>
            <a:r>
              <a:rPr lang="en-US" sz="3600" dirty="0">
                <a:solidFill>
                  <a:srgbClr val="C00000"/>
                </a:solidFill>
              </a:rPr>
              <a:t>formal</a:t>
            </a:r>
            <a:r>
              <a:rPr lang="en-US" sz="3600" dirty="0"/>
              <a:t> </a:t>
            </a:r>
            <a:r>
              <a:rPr lang="en-US" sz="3600" dirty="0">
                <a:solidFill>
                  <a:srgbClr val="C00000"/>
                </a:solidFill>
              </a:rPr>
              <a:t>language</a:t>
            </a:r>
          </a:p>
          <a:p>
            <a:pPr marL="76198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600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dirty="0"/>
              <a:t>The formal language enables AI programs to perform </a:t>
            </a:r>
            <a:r>
              <a:rPr lang="en-US" sz="3600" i="1" dirty="0">
                <a:solidFill>
                  <a:srgbClr val="C00000"/>
                </a:solidFill>
              </a:rPr>
              <a:t>reasoning</a:t>
            </a:r>
            <a:r>
              <a:rPr lang="en-US" sz="3600" dirty="0"/>
              <a:t> and </a:t>
            </a:r>
            <a:r>
              <a:rPr lang="en-US" sz="3600" i="1" dirty="0">
                <a:solidFill>
                  <a:srgbClr val="C00000"/>
                </a:solidFill>
              </a:rPr>
              <a:t>logical</a:t>
            </a:r>
            <a:r>
              <a:rPr lang="en-US" sz="3600" dirty="0"/>
              <a:t> </a:t>
            </a:r>
            <a:r>
              <a:rPr lang="en-US" sz="3600" i="1" dirty="0">
                <a:solidFill>
                  <a:srgbClr val="C00000"/>
                </a:solidFill>
              </a:rPr>
              <a:t>inferences</a:t>
            </a:r>
          </a:p>
          <a:p>
            <a:pPr marL="76198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600" i="1" dirty="0">
              <a:solidFill>
                <a:srgbClr val="C00000"/>
              </a:solidFill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Knowledge-based Agents</a:t>
            </a:r>
            <a:endParaRPr lang="en-US" sz="3600" dirty="0"/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i="1" dirty="0"/>
              <a:t>“agents that reason by operating on internal representations of knowledge”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E5AD5-1960-409F-A888-A43A03FC6FEA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88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8FBE8EA-33CC-3B3E-6770-8FEA43C91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rbel" panose="020B0503020204020204" pitchFamily="34" charset="0"/>
              </a:rPr>
              <a:t>Knowledge-Based Agent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CDE2F47-91CC-4AB6-6074-60019A6571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Knowledge-based agents are those agents who have the capability of</a:t>
            </a:r>
          </a:p>
          <a:p>
            <a:pPr lvl="1"/>
            <a:r>
              <a:rPr lang="en-US" dirty="0"/>
              <a:t>Maintaining an internal state of knowledge</a:t>
            </a:r>
          </a:p>
          <a:p>
            <a:pPr lvl="1"/>
            <a:r>
              <a:rPr lang="en-US" dirty="0"/>
              <a:t>Reason over that knowledge</a:t>
            </a:r>
          </a:p>
          <a:p>
            <a:pPr lvl="1"/>
            <a:r>
              <a:rPr lang="en-US" dirty="0"/>
              <a:t>Update their knowledge after observations and take actions</a:t>
            </a:r>
          </a:p>
          <a:p>
            <a:endParaRPr lang="en-US" dirty="0"/>
          </a:p>
          <a:p>
            <a:r>
              <a:rPr lang="en-US" dirty="0"/>
              <a:t>These agents can represent the world with some formal representation and act intelligently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0E7B7-BED0-1691-AD8E-18A08A01E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017B-1767-4C05-8279-C189AA0C4571}" type="datetime1">
              <a:rPr lang="en-US" smtClean="0"/>
              <a:t>6/18/2023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4EFE1-C720-036F-7CC3-6ECD1447D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C43AE-04A0-602A-BD84-1FDCE6993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BE43D902-CCA5-6D91-4740-5DF1582FBA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2" y="2014537"/>
            <a:ext cx="535305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789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8E92E17-6DD4-309F-E2E8-AE1810E01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Knowledge-Based Agent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B2A993D-0A5A-B7CA-6E38-8C8885E3A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Agent that uses -prior or acquired- knowledge to achieve its goals</a:t>
            </a:r>
          </a:p>
          <a:p>
            <a:pPr lvl="1"/>
            <a:r>
              <a:rPr lang="en-US" dirty="0"/>
              <a:t>Can make informed decisions</a:t>
            </a:r>
          </a:p>
          <a:p>
            <a:pPr lvl="1"/>
            <a:r>
              <a:rPr lang="en-US" dirty="0"/>
              <a:t>Can make more efficient decisions</a:t>
            </a:r>
          </a:p>
          <a:p>
            <a:r>
              <a:rPr lang="en-US" b="1" dirty="0"/>
              <a:t>Knowledge Base (KB): </a:t>
            </a:r>
            <a:r>
              <a:rPr lang="en-US" dirty="0"/>
              <a:t>contains a set of facts (called </a:t>
            </a:r>
            <a:r>
              <a:rPr lang="en-US" b="1" u="sng" dirty="0"/>
              <a:t>statements)</a:t>
            </a:r>
            <a:r>
              <a:rPr lang="en-US" dirty="0"/>
              <a:t> about the Agent’s environment.</a:t>
            </a:r>
          </a:p>
          <a:p>
            <a:r>
              <a:rPr lang="en-US" dirty="0"/>
              <a:t>The agent should be able to:</a:t>
            </a:r>
          </a:p>
          <a:p>
            <a:pPr lvl="1"/>
            <a:r>
              <a:rPr lang="en-US" dirty="0"/>
              <a:t>Update the knowledge base with new facts perceived from the environment (</a:t>
            </a:r>
            <a:r>
              <a:rPr lang="en-US" b="1" dirty="0"/>
              <a:t>TELL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ASK</a:t>
            </a:r>
            <a:r>
              <a:rPr lang="en-US" dirty="0"/>
              <a:t> the KB about known facts and what to do</a:t>
            </a:r>
          </a:p>
          <a:p>
            <a:pPr lvl="1"/>
            <a:r>
              <a:rPr lang="en-US" dirty="0"/>
              <a:t>Derive new facts from already known facts (</a:t>
            </a:r>
            <a:r>
              <a:rPr lang="en-US" b="1" dirty="0"/>
              <a:t>inference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7F872-251F-74E1-7077-57CB66A64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017B-1767-4C05-8279-C189AA0C4571}" type="datetime1">
              <a:rPr lang="en-US" smtClean="0"/>
              <a:t>6/18/2023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9F509-487B-1258-9238-3A67D8F64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BE6AB6-764B-5812-94E6-AB17F9087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03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8CB92-36C4-20E7-6D1C-4C1EF652A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rbel" panose="020B0503020204020204" pitchFamily="34" charset="0"/>
              </a:rPr>
              <a:t>Knowledge-Based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14A54-BC1F-EC83-DD7E-2B1E3A49F0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Every time the agent program is called, it does three things.</a:t>
            </a:r>
          </a:p>
          <a:p>
            <a:pPr marL="715513" lvl="1" indent="-5143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First, it </a:t>
            </a:r>
            <a:r>
              <a:rPr lang="en-US" b="1" dirty="0"/>
              <a:t>TELLs</a:t>
            </a:r>
            <a:r>
              <a:rPr lang="en-US" dirty="0"/>
              <a:t> the knowledge base what it perceives.</a:t>
            </a:r>
          </a:p>
          <a:p>
            <a:pPr marL="715513" lvl="1" indent="-5143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Second, it </a:t>
            </a:r>
            <a:r>
              <a:rPr lang="en-US" b="1" dirty="0"/>
              <a:t>ASKs</a:t>
            </a:r>
            <a:r>
              <a:rPr lang="en-US" dirty="0"/>
              <a:t> the knowledge base what action it should perform.</a:t>
            </a:r>
          </a:p>
          <a:p>
            <a:pPr marL="715513" lvl="1" indent="-5143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Third, the agent program </a:t>
            </a:r>
            <a:r>
              <a:rPr lang="en-US" b="1" dirty="0"/>
              <a:t>TELLs</a:t>
            </a:r>
            <a:r>
              <a:rPr lang="en-US" dirty="0"/>
              <a:t> the knowledge base which action was chosen, and the agent executes the action.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619261-A5B9-9A64-D62D-AC578A8F5DD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>
            <a:normAutofit lnSpcReduction="10000"/>
          </a:bodyPr>
          <a:lstStyle/>
          <a:p>
            <a:pPr marL="201163" lvl="1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Example:</a:t>
            </a:r>
          </a:p>
          <a:p>
            <a:pPr marL="715513" lvl="1" indent="-5143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Agent to KB (TELL): detecting (perceiving) car brakes failure.</a:t>
            </a:r>
          </a:p>
          <a:p>
            <a:pPr marL="715513" lvl="1" indent="-5143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Agent to KB (ASK): What to do.</a:t>
            </a:r>
            <a:br>
              <a:rPr lang="en-US" dirty="0"/>
            </a:br>
            <a:r>
              <a:rPr lang="en-US" dirty="0"/>
              <a:t>KB to Agent: downshift, pump brakes, slowly apply emergency brake.</a:t>
            </a:r>
          </a:p>
          <a:p>
            <a:pPr marL="715513" lvl="1" indent="-5143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/>
              <a:t>Agent to KB (TELL): Will pump the brakes.</a:t>
            </a:r>
            <a:br>
              <a:rPr lang="en-US" dirty="0"/>
            </a:br>
            <a:r>
              <a:rPr lang="en-US" dirty="0"/>
              <a:t>Agent: pumping the brakes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E1BF4-7F55-F473-7A17-79F885DD8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D64A6-7115-B7D4-C14C-BCB242CFE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12C41-1F33-A237-E38D-25DBA74F3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68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415" y="1531682"/>
            <a:ext cx="6676537" cy="33109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rbel" panose="020B0503020204020204" pitchFamily="34" charset="0"/>
              </a:rPr>
              <a:t>Logic-Based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193800"/>
            <a:ext cx="5149900" cy="5080000"/>
          </a:xfrm>
        </p:spPr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 knowledge-based agent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It uses Logic to </a:t>
            </a:r>
            <a:r>
              <a:rPr lang="en-US" dirty="0">
                <a:solidFill>
                  <a:srgbClr val="FF0000"/>
                </a:solidFill>
              </a:rPr>
              <a:t>represent</a:t>
            </a:r>
            <a:r>
              <a:rPr lang="en-US" dirty="0"/>
              <a:t> the knowledge about the  </a:t>
            </a:r>
            <a:r>
              <a:rPr lang="en-US" dirty="0">
                <a:solidFill>
                  <a:srgbClr val="FF0000"/>
                </a:solidFill>
              </a:rPr>
              <a:t>environment</a:t>
            </a:r>
            <a:r>
              <a:rPr lang="en-US" dirty="0"/>
              <a:t> (world).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B7A81A-058D-4C9A-AB3D-C69C2797B48B}" type="datetime1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6/18/2023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AI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9964" y="3809833"/>
            <a:ext cx="855212" cy="86925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884E68-CE57-44C0-BE0F-84C629DF22D5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476" y="2670506"/>
            <a:ext cx="2259712" cy="126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06835" y="4758514"/>
            <a:ext cx="12803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/>
              <a:t>Wumpus</a:t>
            </a:r>
            <a:r>
              <a:rPr lang="en-US" i="1" dirty="0"/>
              <a:t> World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1341" y="4196331"/>
            <a:ext cx="16156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/>
              <a:t>Propositional</a:t>
            </a:r>
          </a:p>
          <a:p>
            <a:pPr algn="ctr"/>
            <a:r>
              <a:rPr lang="en-US" sz="2000" i="1" dirty="0"/>
              <a:t>Logic</a:t>
            </a:r>
          </a:p>
        </p:txBody>
      </p:sp>
      <p:cxnSp>
        <p:nvCxnSpPr>
          <p:cNvPr id="14" name="Straight Arrow Connector 13"/>
          <p:cNvCxnSpPr>
            <a:stCxn id="11" idx="3"/>
          </p:cNvCxnSpPr>
          <p:nvPr/>
        </p:nvCxnSpPr>
        <p:spPr>
          <a:xfrm flipV="1">
            <a:off x="4957010" y="3616353"/>
            <a:ext cx="1037390" cy="9339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172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2CBAA-1A72-4A98-BC17-C467FDF06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Propositional Logic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D23C2-6CD2-4578-BC7B-BE218371C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800" dirty="0">
                <a:solidFill>
                  <a:schemeClr val="accent6">
                    <a:lumMod val="75000"/>
                  </a:schemeClr>
                </a:solidFill>
              </a:rPr>
              <a:t>Propositional Logic </a:t>
            </a:r>
            <a:r>
              <a:rPr lang="en-US" altLang="zh-TW" sz="2800" dirty="0"/>
              <a:t>is the logic of compound statements built from simpler statements using so-called </a:t>
            </a:r>
            <a:r>
              <a:rPr lang="en-US" altLang="zh-TW" sz="2800" dirty="0">
                <a:solidFill>
                  <a:srgbClr val="C00000"/>
                </a:solidFill>
              </a:rPr>
              <a:t>Boolean connectives</a:t>
            </a:r>
            <a:r>
              <a:rPr lang="en-US" altLang="zh-TW" sz="2800" dirty="0"/>
              <a:t>.</a:t>
            </a:r>
          </a:p>
          <a:p>
            <a:r>
              <a:rPr lang="en-US" altLang="zh-TW" sz="2800" dirty="0"/>
              <a:t>Some applications:</a:t>
            </a:r>
          </a:p>
          <a:p>
            <a:pPr lvl="1"/>
            <a:r>
              <a:rPr lang="en-US" altLang="zh-TW" sz="2800" dirty="0"/>
              <a:t>Design of digital logic circuits (Computer Engineering)</a:t>
            </a:r>
          </a:p>
          <a:p>
            <a:pPr lvl="1"/>
            <a:r>
              <a:rPr lang="en-US" altLang="zh-TW" sz="2800" dirty="0"/>
              <a:t>Expressing conditions in programs</a:t>
            </a:r>
          </a:p>
          <a:p>
            <a:pPr lvl="1"/>
            <a:r>
              <a:rPr lang="en-US" altLang="zh-TW" sz="2800" dirty="0"/>
              <a:t>Queries to databases &amp; search engines</a:t>
            </a:r>
          </a:p>
          <a:p>
            <a:pPr lvl="1"/>
            <a:r>
              <a:rPr lang="en-US" altLang="zh-TW" sz="2800" dirty="0"/>
              <a:t>Inference and Decision Making</a:t>
            </a:r>
          </a:p>
          <a:p>
            <a:pPr lvl="2"/>
            <a:r>
              <a:rPr lang="en-US" altLang="zh-TW" sz="2800" dirty="0"/>
              <a:t>Example: “If today is Tuesday, I have a test in English or Science. </a:t>
            </a:r>
            <a:br>
              <a:rPr lang="en-US" altLang="zh-TW" sz="2800" dirty="0"/>
            </a:br>
            <a:r>
              <a:rPr lang="en-US" altLang="zh-TW" sz="2800" dirty="0"/>
              <a:t>If my English Professor is absent, then I will not have a test in English. </a:t>
            </a:r>
            <a:br>
              <a:rPr lang="en-US" altLang="zh-TW" sz="2800" dirty="0"/>
            </a:br>
            <a:r>
              <a:rPr lang="en-US" altLang="zh-TW" sz="2800" dirty="0"/>
              <a:t>Today is Tuesday and my English Professor is absent. </a:t>
            </a:r>
            <a:br>
              <a:rPr lang="en-US" altLang="zh-TW" sz="2800" dirty="0"/>
            </a:br>
            <a:r>
              <a:rPr lang="en-US" altLang="zh-TW" sz="2800" i="1" dirty="0"/>
              <a:t>Therefore, I have a test in Science.“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9B291-EA91-4B4B-8CA1-D474B49E0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1792B-6588-4E83-99F8-45D9E8BA7CA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7497D-FA4B-4B5D-90C1-916E1D104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996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134263"/>
                </a:solidFill>
              </a:rPr>
              <a:t>Propositional Logic </a:t>
            </a:r>
            <a:r>
              <a:rPr lang="en-US" altLang="zh-TW" dirty="0">
                <a:solidFill>
                  <a:srgbClr val="134263"/>
                </a:solidFill>
              </a:rPr>
              <a:t>Definition</a:t>
            </a:r>
            <a:endParaRPr lang="en-US" dirty="0">
              <a:solidFill>
                <a:srgbClr val="13426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rgbClr val="FFFF00"/>
            </a:solidFill>
          </a:ln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 </a:t>
            </a:r>
            <a:r>
              <a:rPr lang="en-US" b="1" dirty="0"/>
              <a:t>proposition</a:t>
            </a:r>
            <a:r>
              <a:rPr lang="en-US" dirty="0"/>
              <a:t> </a:t>
            </a:r>
            <a:r>
              <a:rPr lang="en-US" altLang="zh-TW" dirty="0"/>
              <a:t>(denoted P, Q, R, p, q, r, …)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is a </a:t>
            </a:r>
            <a:r>
              <a:rPr lang="en-US" dirty="0">
                <a:solidFill>
                  <a:srgbClr val="FF0000"/>
                </a:solidFill>
              </a:rPr>
              <a:t>statement</a:t>
            </a:r>
            <a:r>
              <a:rPr lang="en-US" dirty="0"/>
              <a:t> </a:t>
            </a:r>
            <a:r>
              <a:rPr lang="en-US" altLang="zh-TW" dirty="0">
                <a:ea typeface="新細明體" pitchFamily="18" charset="-120"/>
              </a:rPr>
              <a:t>(</a:t>
            </a:r>
            <a:r>
              <a:rPr lang="en-US" altLang="zh-TW" i="1" dirty="0">
                <a:ea typeface="新細明體" pitchFamily="18" charset="-120"/>
              </a:rPr>
              <a:t>i.e.</a:t>
            </a:r>
            <a:r>
              <a:rPr lang="en-US" altLang="zh-TW" dirty="0">
                <a:ea typeface="新細明體" pitchFamily="18" charset="-120"/>
              </a:rPr>
              <a:t>, a declarative sentence) </a:t>
            </a:r>
            <a:endParaRPr lang="en-US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with some </a:t>
            </a:r>
            <a:r>
              <a:rPr lang="en-US" dirty="0">
                <a:solidFill>
                  <a:srgbClr val="FF0000"/>
                </a:solidFill>
              </a:rPr>
              <a:t>definite meaning</a:t>
            </a:r>
            <a:r>
              <a:rPr lang="en-US" dirty="0"/>
              <a:t>, (not vague or ambiguous)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dirty="0">
                <a:ea typeface="新細明體" pitchFamily="18" charset="-120"/>
              </a:rPr>
              <a:t>having a </a:t>
            </a:r>
            <a:r>
              <a:rPr lang="en-US" altLang="zh-TW" i="1" dirty="0">
                <a:solidFill>
                  <a:srgbClr val="FF0000"/>
                </a:solidFill>
                <a:ea typeface="新細明體" pitchFamily="18" charset="-120"/>
              </a:rPr>
              <a:t>truth value</a:t>
            </a:r>
            <a:r>
              <a:rPr lang="en-US" altLang="zh-TW" dirty="0">
                <a:solidFill>
                  <a:srgbClr val="FF0000"/>
                </a:solidFill>
                <a:ea typeface="新細明體" pitchFamily="18" charset="-120"/>
              </a:rPr>
              <a:t> </a:t>
            </a:r>
            <a:r>
              <a:rPr lang="en-US" altLang="zh-TW" dirty="0">
                <a:ea typeface="新細明體" pitchFamily="18" charset="-120"/>
              </a:rPr>
              <a:t>that is </a:t>
            </a:r>
            <a:r>
              <a:rPr lang="en-US" dirty="0"/>
              <a:t>either </a:t>
            </a:r>
            <a:r>
              <a:rPr lang="en-US" dirty="0">
                <a:solidFill>
                  <a:srgbClr val="00B0F0"/>
                </a:solidFill>
              </a:rPr>
              <a:t>TRUE</a:t>
            </a:r>
            <a:r>
              <a:rPr lang="en-US" dirty="0"/>
              <a:t> (</a:t>
            </a:r>
            <a:r>
              <a:rPr lang="en-US" dirty="0">
                <a:solidFill>
                  <a:srgbClr val="00B0F0"/>
                </a:solidFill>
              </a:rPr>
              <a:t>T</a:t>
            </a:r>
            <a:r>
              <a:rPr lang="en-US" dirty="0"/>
              <a:t>) or </a:t>
            </a:r>
            <a:r>
              <a:rPr lang="en-US" dirty="0">
                <a:solidFill>
                  <a:srgbClr val="FF0000"/>
                </a:solidFill>
              </a:rPr>
              <a:t>FALSE</a:t>
            </a:r>
            <a:r>
              <a:rPr lang="en-US" dirty="0"/>
              <a:t> (</a:t>
            </a:r>
            <a:r>
              <a:rPr lang="en-US" dirty="0">
                <a:solidFill>
                  <a:srgbClr val="FF0000"/>
                </a:solidFill>
              </a:rPr>
              <a:t>F</a:t>
            </a:r>
            <a:r>
              <a:rPr lang="en-US" dirty="0"/>
              <a:t>)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3000" dirty="0"/>
              <a:t>it is never both, neither, or somewhere “in between!”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3000" dirty="0"/>
              <a:t>however, the actual truth value might not be known and might depend on the situation or context</a:t>
            </a:r>
          </a:p>
          <a:p>
            <a:pPr marL="609585" lvl="2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TW" dirty="0"/>
          </a:p>
          <a:p>
            <a:pPr marL="76198" indent="0">
              <a:buNone/>
            </a:pPr>
            <a:endParaRPr lang="en-US" altLang="zh-TW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AB479-6B97-4E1C-AE3F-752E5980EC47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959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Propositions vs. Non-Propositions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b="1" dirty="0">
                <a:solidFill>
                  <a:schemeClr val="accent6">
                    <a:lumMod val="75000"/>
                  </a:schemeClr>
                </a:solidFill>
              </a:rPr>
              <a:t>Examples of Propositions</a:t>
            </a:r>
            <a:r>
              <a:rPr lang="en-US" altLang="zh-TW" dirty="0">
                <a:solidFill>
                  <a:schemeClr val="accent6">
                    <a:lumMod val="75000"/>
                  </a:schemeClr>
                </a:solidFill>
              </a:rPr>
              <a:t>: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“It is raining.”  (In a given situation.)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“Riyadh is the capital of Saudi Arabia.”  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“1 + 2 equals 3”</a:t>
            </a:r>
          </a:p>
          <a:p>
            <a:pPr marL="304793" lvl="1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TW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b="1" dirty="0">
                <a:solidFill>
                  <a:schemeClr val="accent6">
                    <a:lumMod val="75000"/>
                  </a:schemeClr>
                </a:solidFill>
              </a:rPr>
              <a:t>Examples of Non-Propositions</a:t>
            </a:r>
            <a:r>
              <a:rPr lang="en-US" altLang="zh-TW" dirty="0">
                <a:solidFill>
                  <a:schemeClr val="accent6">
                    <a:lumMod val="75000"/>
                  </a:schemeClr>
                </a:solidFill>
              </a:rPr>
              <a:t>: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“Who is there?” (interrogative, question)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“Concentrate, please!” (imperative, command)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“No, no, no, no, no,...” (meaningless interjection)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“Just do it!” (imperative, command)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“Yeah, I have no idea, whatever...” (vague)</a:t>
            </a:r>
            <a:endParaRPr lang="en-US" dirty="0"/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“1 + 2” (expression with a non-true/false value)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F28D1-870E-4820-85A9-BA4472EBBD37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34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5E836-696D-4119-A1D7-F343A1491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Operators/Connectives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2E4B1-F39B-4683-B1EE-797C52EBC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An operator, or connective, </a:t>
            </a:r>
            <a:r>
              <a:rPr lang="en-US" altLang="zh-TW" dirty="0">
                <a:solidFill>
                  <a:srgbClr val="C00000"/>
                </a:solidFill>
              </a:rPr>
              <a:t>combines one or more </a:t>
            </a:r>
            <a:r>
              <a:rPr lang="en-US" altLang="zh-TW" dirty="0"/>
              <a:t>operands to form a larger expression.  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800" dirty="0"/>
              <a:t>Example: </a:t>
            </a:r>
          </a:p>
          <a:p>
            <a: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533" dirty="0"/>
              <a:t>“+” in numeric expressions</a:t>
            </a:r>
          </a:p>
          <a:p>
            <a: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533" dirty="0"/>
              <a:t>“and” in logic expressions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TW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There exist two types of operators: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dirty="0">
                <a:solidFill>
                  <a:srgbClr val="C00000"/>
                </a:solidFill>
              </a:rPr>
              <a:t>Unary</a:t>
            </a:r>
            <a:r>
              <a:rPr lang="en-US" altLang="zh-TW" dirty="0"/>
              <a:t> operators: take 1 operand (e.g., </a:t>
            </a:r>
            <a:r>
              <a:rPr lang="en-US" altLang="zh-TW" b="1" dirty="0"/>
              <a:t>−</a:t>
            </a:r>
            <a:r>
              <a:rPr lang="en-US" altLang="zh-TW" dirty="0"/>
              <a:t>3, </a:t>
            </a:r>
            <a:r>
              <a:rPr lang="en-US" altLang="zh-TW" b="1" dirty="0"/>
              <a:t>not</a:t>
            </a:r>
            <a:r>
              <a:rPr lang="en-US" altLang="zh-TW" dirty="0"/>
              <a:t>(P), </a:t>
            </a:r>
            <a:r>
              <a:rPr lang="en-US" b="1" dirty="0"/>
              <a:t>¬</a:t>
            </a:r>
            <a:r>
              <a:rPr lang="en-US" dirty="0"/>
              <a:t>P</a:t>
            </a:r>
            <a:r>
              <a:rPr lang="en-US" altLang="zh-TW" dirty="0"/>
              <a:t>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dirty="0">
                <a:solidFill>
                  <a:srgbClr val="C00000"/>
                </a:solidFill>
              </a:rPr>
              <a:t>Binary</a:t>
            </a:r>
            <a:r>
              <a:rPr lang="en-US" altLang="zh-TW" dirty="0"/>
              <a:t> operators: take 2 operands (e.g., 3 </a:t>
            </a:r>
            <a:r>
              <a:rPr lang="en-US" altLang="zh-TW" dirty="0">
                <a:sym typeface="Symbol" pitchFamily="18" charset="2"/>
              </a:rPr>
              <a:t></a:t>
            </a:r>
            <a:r>
              <a:rPr lang="en-US" altLang="zh-TW" dirty="0"/>
              <a:t> 4, p </a:t>
            </a:r>
            <a:r>
              <a:rPr lang="en-US" altLang="zh-TW" b="1" dirty="0"/>
              <a:t>and</a:t>
            </a:r>
            <a:r>
              <a:rPr lang="en-US" altLang="zh-TW" dirty="0"/>
              <a:t> q).</a:t>
            </a:r>
          </a:p>
          <a:p>
            <a:pPr marL="304793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TW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Propositional, or </a:t>
            </a:r>
            <a:r>
              <a:rPr lang="en-US" altLang="zh-TW" dirty="0">
                <a:solidFill>
                  <a:srgbClr val="C00000"/>
                </a:solidFill>
              </a:rPr>
              <a:t>Boolean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operators,</a:t>
            </a:r>
            <a:r>
              <a:rPr lang="en-US" altLang="zh-TW" dirty="0"/>
              <a:t> operate on propositions (or their truth values) instead of on numbers.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DD480-1A04-435E-B994-5B0A7E386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3BCA2-83F2-44EE-BE98-3A253CD55F9F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BC5A9-5375-459C-B240-2BCC2ECF4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35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Boolean Operators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430EE7-D81F-4937-8090-BB4152AECB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330655"/>
              </p:ext>
            </p:extLst>
          </p:nvPr>
        </p:nvGraphicFramePr>
        <p:xfrm>
          <a:off x="950248" y="1445119"/>
          <a:ext cx="10291504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2876">
                  <a:extLst>
                    <a:ext uri="{9D8B030D-6E8A-4147-A177-3AD203B41FA5}">
                      <a16:colId xmlns:a16="http://schemas.microsoft.com/office/drawing/2014/main" val="3729891777"/>
                    </a:ext>
                  </a:extLst>
                </a:gridCol>
                <a:gridCol w="2572876">
                  <a:extLst>
                    <a:ext uri="{9D8B030D-6E8A-4147-A177-3AD203B41FA5}">
                      <a16:colId xmlns:a16="http://schemas.microsoft.com/office/drawing/2014/main" val="1407188656"/>
                    </a:ext>
                  </a:extLst>
                </a:gridCol>
                <a:gridCol w="2572876">
                  <a:extLst>
                    <a:ext uri="{9D8B030D-6E8A-4147-A177-3AD203B41FA5}">
                      <a16:colId xmlns:a16="http://schemas.microsoft.com/office/drawing/2014/main" val="911124938"/>
                    </a:ext>
                  </a:extLst>
                </a:gridCol>
                <a:gridCol w="2572876">
                  <a:extLst>
                    <a:ext uri="{9D8B030D-6E8A-4147-A177-3AD203B41FA5}">
                      <a16:colId xmlns:a16="http://schemas.microsoft.com/office/drawing/2014/main" val="15394253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3200" dirty="0"/>
                        <a:t>Formal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Nickname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Symbol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2286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0000CC"/>
                          </a:solidFill>
                        </a:rPr>
                        <a:t>Negation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Unary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+mn-ea"/>
                        </a:rPr>
                        <a:t>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876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0000CC"/>
                          </a:solidFill>
                        </a:rPr>
                        <a:t>Conjunction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2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+mn-ea"/>
                          <a:sym typeface="Symbol" pitchFamily="18" charset="2"/>
                        </a:rPr>
                        <a:t>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813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0000CC"/>
                          </a:solidFill>
                        </a:rPr>
                        <a:t>Disjunction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2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+mn-ea"/>
                          <a:sym typeface="Symbol" pitchFamily="18" charset="2"/>
                        </a:rPr>
                        <a:t>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614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0000CC"/>
                          </a:solidFill>
                        </a:rPr>
                        <a:t>Exclusive-OR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XOR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2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+mn-ea"/>
                          <a:sym typeface="Symbol" pitchFamily="18" charset="2"/>
                        </a:rPr>
                        <a:t>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801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0000CC"/>
                          </a:solidFill>
                        </a:rPr>
                        <a:t>Implication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IMPLIES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2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+mn-ea"/>
                          <a:sym typeface="Symbol" pitchFamily="18" charset="2"/>
                        </a:rPr>
                        <a:t>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133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0000CC"/>
                          </a:solidFill>
                        </a:rPr>
                        <a:t>Biconditional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+mn-ea"/>
                          <a:cs typeface="Times New Roman" pitchFamily="18" charset="0"/>
                          <a:sym typeface="Symbol" panose="05050102010706020507" pitchFamily="18" charset="2"/>
                        </a:rPr>
                        <a:t></a:t>
                      </a:r>
                      <a:endParaRPr lang="en-US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029353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B679E-50E3-448D-996A-E8564FFA84D0}" type="datetime1">
              <a:rPr lang="en-US" smtClean="0"/>
              <a:t>6/18/2023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20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The Negation Operator</a:t>
            </a:r>
            <a:r>
              <a:rPr lang="en-US" dirty="0"/>
              <a:t> (Not) </a:t>
            </a:r>
            <a:r>
              <a:rPr lang="en-US" altLang="zh-TW" dirty="0">
                <a:ea typeface="新細明體" pitchFamily="18" charset="-120"/>
              </a:rPr>
              <a:t>“¬”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 </a:t>
            </a:r>
            <a:r>
              <a:rPr lang="en-US" altLang="zh-TW" dirty="0">
                <a:solidFill>
                  <a:srgbClr val="C00000"/>
                </a:solidFill>
              </a:rPr>
              <a:t>unary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negation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operator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C00000"/>
                </a:solidFill>
              </a:rPr>
              <a:t>“¬” (NOT) </a:t>
            </a:r>
            <a:r>
              <a:rPr lang="en-US" altLang="zh-TW" dirty="0"/>
              <a:t>transforms a proposition into its logical </a:t>
            </a:r>
            <a:r>
              <a:rPr lang="en-US" altLang="zh-TW" b="1" dirty="0"/>
              <a:t>negation</a:t>
            </a:r>
            <a:r>
              <a:rPr lang="en-US" altLang="zh-TW" dirty="0"/>
              <a:t>.</a:t>
            </a:r>
          </a:p>
          <a:p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pPr lvl="1"/>
            <a:r>
              <a:rPr lang="en-US" sz="2800" dirty="0"/>
              <a:t>if </a:t>
            </a:r>
            <a:r>
              <a:rPr lang="en-US" sz="2800" i="1" dirty="0"/>
              <a:t>p</a:t>
            </a:r>
            <a:r>
              <a:rPr lang="en-US" sz="2800" dirty="0"/>
              <a:t> = “it is raining today.”, then ¬</a:t>
            </a:r>
            <a:r>
              <a:rPr lang="en-US" sz="2800" i="1" dirty="0"/>
              <a:t>p</a:t>
            </a:r>
            <a:r>
              <a:rPr lang="en-US" sz="2800" dirty="0"/>
              <a:t> = “it is not raining today.”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77788-3F7F-4E4A-97D7-5B124D962958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033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The Negation Operator</a:t>
            </a:r>
            <a:r>
              <a:rPr lang="en-US" dirty="0"/>
              <a:t> (Not) </a:t>
            </a:r>
            <a:r>
              <a:rPr lang="en-US" altLang="zh-TW" dirty="0">
                <a:ea typeface="新細明體" pitchFamily="18" charset="-120"/>
              </a:rPr>
              <a:t>“¬” – Truth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truth table </a:t>
            </a:r>
            <a:r>
              <a:rPr lang="en-US" dirty="0"/>
              <a:t>displays the relationships between truth values (T or F) of different propositions.</a:t>
            </a:r>
          </a:p>
          <a:p>
            <a:r>
              <a:rPr lang="en-US" dirty="0"/>
              <a:t>The truth table of the negation operator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4221019" y="5435801"/>
            <a:ext cx="229291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Cambria" panose="02040503050406030204" pitchFamily="18" charset="0"/>
                <a:ea typeface="新細明體" pitchFamily="18" charset="-120"/>
              </a:rPr>
              <a:t>T  = </a:t>
            </a:r>
            <a:r>
              <a:rPr lang="en-US" altLang="zh-TW" sz="2000" dirty="0">
                <a:latin typeface="Cambria" panose="02040503050406030204" pitchFamily="18" charset="0"/>
                <a:ea typeface="新細明體" pitchFamily="18" charset="-120"/>
                <a:cs typeface="Times New Roman" pitchFamily="18" charset="0"/>
              </a:rPr>
              <a:t>True;  F = False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27CF-3777-4553-A5EA-3EB5A92FC5E0}" type="datetime1">
              <a:rPr lang="en-US" smtClean="0"/>
              <a:t>6/18/2023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405606"/>
              </p:ext>
            </p:extLst>
          </p:nvPr>
        </p:nvGraphicFramePr>
        <p:xfrm>
          <a:off x="2457749" y="3316546"/>
          <a:ext cx="5633305" cy="1705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9458">
                  <a:extLst>
                    <a:ext uri="{9D8B030D-6E8A-4147-A177-3AD203B41FA5}">
                      <a16:colId xmlns:a16="http://schemas.microsoft.com/office/drawing/2014/main" val="2460625219"/>
                    </a:ext>
                  </a:extLst>
                </a:gridCol>
                <a:gridCol w="2753847">
                  <a:extLst>
                    <a:ext uri="{9D8B030D-6E8A-4147-A177-3AD203B41FA5}">
                      <a16:colId xmlns:a16="http://schemas.microsoft.com/office/drawing/2014/main" val="1239423881"/>
                    </a:ext>
                  </a:extLst>
                </a:gridCol>
              </a:tblGrid>
              <a:tr h="424874">
                <a:tc>
                  <a:txBody>
                    <a:bodyPr/>
                    <a:lstStyle/>
                    <a:p>
                      <a:pPr marL="0" marR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Cambria" panose="02040503050406030204" pitchFamily="18" charset="0"/>
                          <a:ea typeface="新細明體" pitchFamily="18" charset="-120"/>
                        </a:rPr>
                        <a:t>Operand:   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Cambria" panose="02040503050406030204" pitchFamily="18" charset="0"/>
                          <a:ea typeface="新細明體" pitchFamily="18" charset="-120"/>
                        </a:rPr>
                        <a:t>Result:  </a:t>
                      </a:r>
                      <a:r>
                        <a:rPr lang="en-US" altLang="zh-TW" dirty="0">
                          <a:ea typeface="新細明體" pitchFamily="18" charset="-120"/>
                        </a:rPr>
                        <a:t>¬ </a:t>
                      </a:r>
                      <a:r>
                        <a:rPr lang="en-US" altLang="zh-TW" sz="1800" b="1" i="1" kern="1200" dirty="0">
                          <a:solidFill>
                            <a:schemeClr val="lt1"/>
                          </a:solidFill>
                          <a:latin typeface="+mn-lt"/>
                          <a:ea typeface="Cambria" panose="02040503050406030204" pitchFamily="18" charset="0"/>
                          <a:cs typeface="+mn-cs"/>
                        </a:rPr>
                        <a:t>P</a:t>
                      </a:r>
                      <a:endParaRPr lang="en-US" altLang="en-US" sz="1800" b="1" i="1" kern="1200" dirty="0">
                        <a:solidFill>
                          <a:schemeClr val="lt1"/>
                        </a:solidFill>
                        <a:latin typeface="+mn-lt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65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916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02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7567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The Conjunction Operator (AND) “</a:t>
            </a:r>
            <a:r>
              <a:rPr lang="en-US" altLang="zh-TW" dirty="0">
                <a:sym typeface="Symbol" panose="05050102010706020507" pitchFamily="18" charset="2"/>
              </a:rPr>
              <a:t>”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</a:t>
            </a:r>
            <a:r>
              <a:rPr lang="en-US" altLang="zh-TW" dirty="0">
                <a:solidFill>
                  <a:srgbClr val="C00000"/>
                </a:solidFill>
              </a:rPr>
              <a:t>binary conjunction operator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</a:rPr>
              <a:t>“</a:t>
            </a:r>
            <a:r>
              <a:rPr lang="en-US" altLang="zh-TW" dirty="0">
                <a:solidFill>
                  <a:srgbClr val="C00000"/>
                </a:solidFill>
                <a:sym typeface="Symbol" pitchFamily="18" charset="2"/>
              </a:rPr>
              <a:t>” (AND) </a:t>
            </a:r>
            <a:r>
              <a:rPr lang="en-US" altLang="zh-TW" dirty="0">
                <a:sym typeface="Symbol" pitchFamily="18" charset="2"/>
              </a:rPr>
              <a:t>combines two propositions to form their logical </a:t>
            </a:r>
            <a:r>
              <a:rPr lang="en-US" altLang="zh-TW" b="1" dirty="0">
                <a:sym typeface="Symbol" pitchFamily="18" charset="2"/>
              </a:rPr>
              <a:t>conjunction</a:t>
            </a:r>
            <a:r>
              <a:rPr lang="en-US" altLang="zh-TW" dirty="0">
                <a:sym typeface="Symbol" pitchFamily="18" charset="2"/>
              </a:rPr>
              <a:t>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sz="2800" dirty="0"/>
              <a:t>If </a:t>
            </a:r>
            <a:r>
              <a:rPr lang="en-US" sz="2800" i="1" dirty="0"/>
              <a:t>p</a:t>
            </a:r>
            <a:r>
              <a:rPr lang="en-US" sz="2800" dirty="0"/>
              <a:t> = “I will have salad for lunch.” and </a:t>
            </a:r>
          </a:p>
          <a:p>
            <a:pPr marL="304793" lvl="1" indent="0">
              <a:buNone/>
            </a:pPr>
            <a:r>
              <a:rPr lang="en-US" sz="2800" i="1" dirty="0"/>
              <a:t>	q</a:t>
            </a:r>
            <a:r>
              <a:rPr lang="en-US" sz="2800" dirty="0"/>
              <a:t> = “I will have steak for dinner.”, then </a:t>
            </a:r>
          </a:p>
          <a:p>
            <a:pPr marL="304793" lvl="1" indent="0">
              <a:buNone/>
            </a:pPr>
            <a:r>
              <a:rPr lang="en-US" sz="2800" i="1" dirty="0"/>
              <a:t>	p </a:t>
            </a:r>
            <a:r>
              <a:rPr lang="en-US" altLang="zh-TW" sz="2800" dirty="0">
                <a:sym typeface="Symbol" pitchFamily="18" charset="2"/>
              </a:rPr>
              <a:t> </a:t>
            </a:r>
            <a:r>
              <a:rPr lang="en-US" sz="2800" i="1" dirty="0"/>
              <a:t>q</a:t>
            </a:r>
            <a:r>
              <a:rPr lang="en-US" sz="2800" dirty="0"/>
              <a:t> = “I will have salad for lunch, </a:t>
            </a:r>
            <a:r>
              <a:rPr lang="en-US" sz="2800" b="1" dirty="0"/>
              <a:t>and</a:t>
            </a:r>
            <a:r>
              <a:rPr lang="en-US" sz="2800" dirty="0"/>
              <a:t> I will have steak for dinner.”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6106A-C699-4D1E-9769-D24AD3E85FB5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28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The Conjunction Operator (AND) “</a:t>
            </a:r>
            <a:r>
              <a:rPr lang="en-US" altLang="zh-TW" dirty="0">
                <a:sym typeface="Symbol" panose="05050102010706020507" pitchFamily="18" charset="2"/>
              </a:rPr>
              <a:t>” – Truth Table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228153"/>
                <a:ext cx="6742545" cy="5021979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dirty="0"/>
                  <a:t>The conjunction of </a:t>
                </a:r>
                <a:r>
                  <a:rPr lang="en-US" b="1" i="1" dirty="0"/>
                  <a:t>n</a:t>
                </a:r>
                <a:r>
                  <a:rPr lang="en-US" b="1" dirty="0"/>
                  <a:t> </a:t>
                </a:r>
                <a:r>
                  <a:rPr lang="en-US" dirty="0"/>
                  <a:t>propositions:</a:t>
                </a:r>
              </a:p>
              <a:p>
                <a:pPr marL="304793" lvl="1" indent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i="1" dirty="0"/>
                  <a:t>p</a:t>
                </a:r>
                <a:r>
                  <a:rPr lang="en-US" i="1" baseline="-25000" dirty="0"/>
                  <a:t>1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⋀</m:t>
                    </m:r>
                  </m:oMath>
                </a14:m>
                <a:r>
                  <a:rPr lang="en-US" i="1" dirty="0"/>
                  <a:t> p</a:t>
                </a:r>
                <a:r>
                  <a:rPr lang="en-US" i="1" baseline="-25000" dirty="0"/>
                  <a:t>2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⋀</m:t>
                    </m:r>
                  </m:oMath>
                </a14:m>
                <a:r>
                  <a:rPr lang="en-US" i="1" dirty="0"/>
                  <a:t> …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⋀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i="1" dirty="0" err="1"/>
                  <a:t>p</a:t>
                </a:r>
                <a:r>
                  <a:rPr lang="en-US" i="1" baseline="-25000" dirty="0" err="1"/>
                  <a:t>n</a:t>
                </a:r>
                <a:r>
                  <a:rPr lang="en-US" dirty="0"/>
                  <a:t> </a:t>
                </a:r>
              </a:p>
              <a:p>
                <a:pPr marL="304793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pPr marL="304793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/>
                  <a:t>will have 2</a:t>
                </a:r>
                <a:r>
                  <a:rPr lang="en-US" baseline="30000" dirty="0"/>
                  <a:t>n</a:t>
                </a:r>
                <a:r>
                  <a:rPr lang="en-US" dirty="0"/>
                  <a:t> rows in its truth table</a:t>
                </a:r>
              </a:p>
              <a:p>
                <a:pPr marL="304793" lvl="1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TW" dirty="0">
                    <a:solidFill>
                      <a:srgbClr val="0070C0"/>
                    </a:solidFill>
                  </a:rPr>
                  <a:t>¬ and </a:t>
                </a:r>
                <a:r>
                  <a:rPr lang="en-US" altLang="zh-TW" dirty="0">
                    <a:solidFill>
                      <a:srgbClr val="0070C0"/>
                    </a:solidFill>
                    <a:sym typeface="Symbol" pitchFamily="18" charset="2"/>
                  </a:rPr>
                  <a:t> operators used together are sufficient to express </a:t>
                </a:r>
                <a:r>
                  <a:rPr lang="en-US" altLang="zh-TW" i="1" dirty="0">
                    <a:solidFill>
                      <a:srgbClr val="0070C0"/>
                    </a:solidFill>
                    <a:sym typeface="Symbol" pitchFamily="18" charset="2"/>
                  </a:rPr>
                  <a:t>any</a:t>
                </a:r>
                <a:r>
                  <a:rPr lang="en-US" altLang="zh-TW" dirty="0">
                    <a:solidFill>
                      <a:srgbClr val="0070C0"/>
                    </a:solidFill>
                    <a:sym typeface="Symbol" pitchFamily="18" charset="2"/>
                  </a:rPr>
                  <a:t> Boolean function or truth table.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TW" dirty="0">
                    <a:solidFill>
                      <a:srgbClr val="0070C0"/>
                    </a:solidFill>
                    <a:sym typeface="Symbol" pitchFamily="18" charset="2"/>
                  </a:rPr>
                  <a:t>These are known as universal operators.</a:t>
                </a:r>
                <a:endParaRPr lang="en-US" altLang="zh-TW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228153"/>
                <a:ext cx="6742545" cy="5021979"/>
              </a:xfrm>
              <a:blipFill>
                <a:blip r:embed="rId3"/>
                <a:stretch>
                  <a:fillRect l="-2532" t="-2063" b="-2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7087738"/>
                  </p:ext>
                </p:extLst>
              </p:nvPr>
            </p:nvGraphicFramePr>
            <p:xfrm>
              <a:off x="7931392" y="2484238"/>
              <a:ext cx="3212813" cy="2509808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10705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717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7049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995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</a:t>
                          </a:r>
                          <a:endParaRPr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905" algn="ctr">
                            <a:lnSpc>
                              <a:spcPct val="100000"/>
                            </a:lnSpc>
                          </a:pP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q</a:t>
                          </a:r>
                          <a:endParaRPr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00000"/>
                            </a:lnSpc>
                          </a:pP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⋀</m:t>
                              </m:r>
                            </m:oMath>
                          </a14:m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q </a:t>
                          </a:r>
                          <a:endParaRPr lang="en-US"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9958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255" algn="ctr">
                            <a:lnSpc>
                              <a:spcPct val="100000"/>
                            </a:lnSpc>
                          </a:pPr>
                          <a:r>
                            <a:rPr lang="en-US" sz="2400" b="1" dirty="0">
                              <a:latin typeface="+mn-lt"/>
                              <a:cs typeface="Arial"/>
                            </a:rPr>
                            <a:t>F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9959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sz="2400" b="1" dirty="0">
                              <a:latin typeface="+mn-lt"/>
                              <a:cs typeface="Arial"/>
                            </a:rPr>
                            <a:t>F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9958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255" algn="ctr">
                            <a:lnSpc>
                              <a:spcPct val="100000"/>
                            </a:lnSpc>
                          </a:pPr>
                          <a:r>
                            <a:rPr lang="en-US" sz="2400" b="1" dirty="0">
                              <a:latin typeface="+mn-lt"/>
                              <a:cs typeface="Arial"/>
                            </a:rPr>
                            <a:t>F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09974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255" algn="ctr">
                            <a:lnSpc>
                              <a:spcPct val="100000"/>
                            </a:lnSpc>
                          </a:pPr>
                          <a:r>
                            <a:rPr lang="en-US" sz="2400" b="1" dirty="0">
                              <a:latin typeface="+mn-lt"/>
                              <a:cs typeface="Arial"/>
                            </a:rPr>
                            <a:t>T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7087738"/>
                  </p:ext>
                </p:extLst>
              </p:nvPr>
            </p:nvGraphicFramePr>
            <p:xfrm>
              <a:off x="7931392" y="2484238"/>
              <a:ext cx="3212813" cy="2509808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10705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717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7049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995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</a:t>
                          </a:r>
                          <a:endParaRPr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905" algn="ctr">
                            <a:lnSpc>
                              <a:spcPct val="100000"/>
                            </a:lnSpc>
                          </a:pP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q</a:t>
                          </a:r>
                          <a:endParaRPr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200568" t="-4878" r="-1705" b="-4256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9958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255" algn="ctr">
                            <a:lnSpc>
                              <a:spcPct val="100000"/>
                            </a:lnSpc>
                          </a:pPr>
                          <a:r>
                            <a:rPr lang="en-US" sz="2400" b="1" dirty="0" smtClean="0">
                              <a:latin typeface="+mn-lt"/>
                              <a:cs typeface="Arial"/>
                            </a:rPr>
                            <a:t>F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9959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sz="2400" b="1" dirty="0" smtClean="0">
                              <a:latin typeface="+mn-lt"/>
                              <a:cs typeface="Arial"/>
                            </a:rPr>
                            <a:t>F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9958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255" algn="ctr">
                            <a:lnSpc>
                              <a:spcPct val="100000"/>
                            </a:lnSpc>
                          </a:pPr>
                          <a:r>
                            <a:rPr lang="en-US" sz="2400" b="1" dirty="0" smtClean="0">
                              <a:latin typeface="+mn-lt"/>
                              <a:cs typeface="Arial"/>
                            </a:rPr>
                            <a:t>F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09974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255" algn="ctr">
                            <a:lnSpc>
                              <a:spcPct val="100000"/>
                            </a:lnSpc>
                          </a:pPr>
                          <a:r>
                            <a:rPr lang="en-US" sz="2400" b="1" dirty="0" smtClean="0">
                              <a:latin typeface="+mn-lt"/>
                              <a:cs typeface="Arial"/>
                            </a:rPr>
                            <a:t>T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4C84F-33E0-4437-AB99-C144B01AC4F1}" type="datetime1">
              <a:rPr lang="en-US" smtClean="0"/>
              <a:t>6/18/2023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79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Conjunction Truth Table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97A33F5-1D68-4D53-A3DC-44F0F05A3B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0875070"/>
                  </p:ext>
                </p:extLst>
              </p:nvPr>
            </p:nvGraphicFramePr>
            <p:xfrm>
              <a:off x="1264474" y="2332570"/>
              <a:ext cx="1396535" cy="17145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0597">
                      <a:extLst>
                        <a:ext uri="{9D8B030D-6E8A-4147-A177-3AD203B41FA5}">
                          <a16:colId xmlns:a16="http://schemas.microsoft.com/office/drawing/2014/main" val="3065536435"/>
                        </a:ext>
                      </a:extLst>
                    </a:gridCol>
                    <a:gridCol w="477969">
                      <a:extLst>
                        <a:ext uri="{9D8B030D-6E8A-4147-A177-3AD203B41FA5}">
                          <a16:colId xmlns:a16="http://schemas.microsoft.com/office/drawing/2014/main" val="2034239161"/>
                        </a:ext>
                      </a:extLst>
                    </a:gridCol>
                    <a:gridCol w="477969">
                      <a:extLst>
                        <a:ext uri="{9D8B030D-6E8A-4147-A177-3AD203B41FA5}">
                          <a16:colId xmlns:a16="http://schemas.microsoft.com/office/drawing/2014/main" val="1354784550"/>
                        </a:ext>
                      </a:extLst>
                    </a:gridCol>
                  </a:tblGrid>
                  <a:tr h="342900">
                    <a:tc>
                      <a:txBody>
                        <a:bodyPr/>
                        <a:lstStyle/>
                        <a:p>
                          <a:r>
                            <a:rPr lang="en-US" altLang="zh-TW" sz="1800" i="1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p</a:t>
                          </a:r>
                          <a:r>
                            <a:rPr lang="en-US" altLang="zh-TW" sz="1800" baseline="-25000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1</a:t>
                          </a:r>
                          <a:endParaRPr lang="en-US" sz="1800" dirty="0">
                            <a:latin typeface="Cambria" panose="020405030504060302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i="1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p</a:t>
                          </a:r>
                          <a:r>
                            <a:rPr lang="en-US" altLang="zh-TW" sz="1800" i="0" baseline="-25000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2</a:t>
                          </a:r>
                          <a:endParaRPr lang="en-US" sz="1800" dirty="0">
                            <a:latin typeface="Cambria" panose="020405030504060302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⋀</m:t>
                                </m:r>
                              </m:oMath>
                            </m:oMathPara>
                          </a14:m>
                          <a:endParaRPr lang="en-US" sz="1800" dirty="0">
                            <a:latin typeface="Cambria" panose="02040503050406030204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564980568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435485816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488749241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019624671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7208117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97A33F5-1D68-4D53-A3DC-44F0F05A3B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0875070"/>
                  </p:ext>
                </p:extLst>
              </p:nvPr>
            </p:nvGraphicFramePr>
            <p:xfrm>
              <a:off x="1264474" y="2332570"/>
              <a:ext cx="1396535" cy="17145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0597">
                      <a:extLst>
                        <a:ext uri="{9D8B030D-6E8A-4147-A177-3AD203B41FA5}">
                          <a16:colId xmlns:a16="http://schemas.microsoft.com/office/drawing/2014/main" val="3065536435"/>
                        </a:ext>
                      </a:extLst>
                    </a:gridCol>
                    <a:gridCol w="477969">
                      <a:extLst>
                        <a:ext uri="{9D8B030D-6E8A-4147-A177-3AD203B41FA5}">
                          <a16:colId xmlns:a16="http://schemas.microsoft.com/office/drawing/2014/main" val="2034239161"/>
                        </a:ext>
                      </a:extLst>
                    </a:gridCol>
                    <a:gridCol w="477969">
                      <a:extLst>
                        <a:ext uri="{9D8B030D-6E8A-4147-A177-3AD203B41FA5}">
                          <a16:colId xmlns:a16="http://schemas.microsoft.com/office/drawing/2014/main" val="1354784550"/>
                        </a:ext>
                      </a:extLst>
                    </a:gridCol>
                  </a:tblGrid>
                  <a:tr h="342900">
                    <a:tc>
                      <a:txBody>
                        <a:bodyPr/>
                        <a:lstStyle/>
                        <a:p>
                          <a:r>
                            <a:rPr lang="en-US" altLang="zh-TW" sz="1800" i="1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p</a:t>
                          </a:r>
                          <a:r>
                            <a:rPr lang="en-US" altLang="zh-TW" sz="1800" baseline="-25000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1</a:t>
                          </a:r>
                          <a:endParaRPr lang="en-US" sz="1800" dirty="0">
                            <a:latin typeface="Cambria" panose="020405030504060302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i="1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p</a:t>
                          </a:r>
                          <a:r>
                            <a:rPr lang="en-US" altLang="zh-TW" sz="1800" i="0" baseline="-25000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2</a:t>
                          </a:r>
                          <a:endParaRPr lang="en-US" sz="1800" dirty="0">
                            <a:latin typeface="Cambria" panose="020405030504060302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192405" t="-14286" r="-5063" b="-4339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4980568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435485816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488749241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019624671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7208117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3D422269-F230-4893-B44E-CD5712A7694A}"/>
              </a:ext>
            </a:extLst>
          </p:cNvPr>
          <p:cNvSpPr/>
          <p:nvPr/>
        </p:nvSpPr>
        <p:spPr>
          <a:xfrm>
            <a:off x="863920" y="4119586"/>
            <a:ext cx="1913152" cy="4444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TW" sz="2100" dirty="0">
                <a:solidFill>
                  <a:srgbClr val="00A64E"/>
                </a:solidFill>
                <a:latin typeface="Cambria" panose="02040503050406030204" pitchFamily="18" charset="0"/>
                <a:ea typeface="新細明體" pitchFamily="18" charset="-120"/>
              </a:rPr>
              <a:t># rows = 2</a:t>
            </a:r>
            <a:r>
              <a:rPr lang="en-US" altLang="zh-TW" sz="2100" baseline="30000" dirty="0">
                <a:solidFill>
                  <a:srgbClr val="00A64E"/>
                </a:solidFill>
                <a:latin typeface="Cambria" panose="02040503050406030204" pitchFamily="18" charset="0"/>
                <a:ea typeface="新細明體" pitchFamily="18" charset="-120"/>
              </a:rPr>
              <a:t>2</a:t>
            </a:r>
            <a:r>
              <a:rPr lang="en-US" altLang="zh-TW" sz="2100" dirty="0">
                <a:solidFill>
                  <a:srgbClr val="00A64E"/>
                </a:solidFill>
                <a:latin typeface="Cambria" panose="02040503050406030204" pitchFamily="18" charset="0"/>
                <a:ea typeface="新細明體" pitchFamily="18" charset="-120"/>
              </a:rPr>
              <a:t> = 4</a:t>
            </a:r>
            <a:endParaRPr lang="en-US" sz="2100" dirty="0">
              <a:solidFill>
                <a:srgbClr val="00A64E"/>
              </a:solidFill>
              <a:latin typeface="Cambria" panose="02040503050406030204" pitchFamily="18" charset="0"/>
              <a:ea typeface="新細明體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24F1C33-0753-4F3D-9851-AAEDC61F3E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4695848"/>
                  </p:ext>
                </p:extLst>
              </p:nvPr>
            </p:nvGraphicFramePr>
            <p:xfrm>
              <a:off x="4472247" y="1779089"/>
              <a:ext cx="1527372" cy="26898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3341">
                      <a:extLst>
                        <a:ext uri="{9D8B030D-6E8A-4147-A177-3AD203B41FA5}">
                          <a16:colId xmlns:a16="http://schemas.microsoft.com/office/drawing/2014/main" val="2780090462"/>
                        </a:ext>
                      </a:extLst>
                    </a:gridCol>
                    <a:gridCol w="373225">
                      <a:extLst>
                        <a:ext uri="{9D8B030D-6E8A-4147-A177-3AD203B41FA5}">
                          <a16:colId xmlns:a16="http://schemas.microsoft.com/office/drawing/2014/main" val="3177118586"/>
                        </a:ext>
                      </a:extLst>
                    </a:gridCol>
                    <a:gridCol w="380403">
                      <a:extLst>
                        <a:ext uri="{9D8B030D-6E8A-4147-A177-3AD203B41FA5}">
                          <a16:colId xmlns:a16="http://schemas.microsoft.com/office/drawing/2014/main" val="3064314907"/>
                        </a:ext>
                      </a:extLst>
                    </a:gridCol>
                    <a:gridCol w="380403">
                      <a:extLst>
                        <a:ext uri="{9D8B030D-6E8A-4147-A177-3AD203B41FA5}">
                          <a16:colId xmlns:a16="http://schemas.microsoft.com/office/drawing/2014/main" val="504307059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altLang="zh-TW" sz="1500" i="1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p</a:t>
                          </a:r>
                          <a:r>
                            <a:rPr lang="en-US" altLang="zh-TW" sz="1500" baseline="-25000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1</a:t>
                          </a:r>
                          <a:endParaRPr lang="en-US" sz="1500" dirty="0">
                            <a:latin typeface="Cambria" panose="020405030504060302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500" i="1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p</a:t>
                          </a:r>
                          <a:r>
                            <a:rPr lang="en-US" altLang="zh-TW" sz="1500" i="0" baseline="-25000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2</a:t>
                          </a:r>
                          <a:endParaRPr lang="en-US" sz="1500" dirty="0">
                            <a:latin typeface="Cambria" panose="020405030504060302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500" i="1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p</a:t>
                          </a:r>
                          <a:r>
                            <a:rPr lang="en-US" altLang="zh-TW" sz="1500" i="0" baseline="-25000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3</a:t>
                          </a:r>
                          <a:endParaRPr lang="en-US" sz="1500" dirty="0">
                            <a:latin typeface="Cambria" panose="020405030504060302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⋀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" panose="02040503050406030204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354149712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91829653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837502300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75303747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35327459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441186023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55080689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573803825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1676218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24F1C33-0753-4F3D-9851-AAEDC61F3E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4695848"/>
                  </p:ext>
                </p:extLst>
              </p:nvPr>
            </p:nvGraphicFramePr>
            <p:xfrm>
              <a:off x="4472247" y="1779089"/>
              <a:ext cx="1527372" cy="26898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3341">
                      <a:extLst>
                        <a:ext uri="{9D8B030D-6E8A-4147-A177-3AD203B41FA5}">
                          <a16:colId xmlns:a16="http://schemas.microsoft.com/office/drawing/2014/main" val="2780090462"/>
                        </a:ext>
                      </a:extLst>
                    </a:gridCol>
                    <a:gridCol w="373225">
                      <a:extLst>
                        <a:ext uri="{9D8B030D-6E8A-4147-A177-3AD203B41FA5}">
                          <a16:colId xmlns:a16="http://schemas.microsoft.com/office/drawing/2014/main" val="3177118586"/>
                        </a:ext>
                      </a:extLst>
                    </a:gridCol>
                    <a:gridCol w="380403">
                      <a:extLst>
                        <a:ext uri="{9D8B030D-6E8A-4147-A177-3AD203B41FA5}">
                          <a16:colId xmlns:a16="http://schemas.microsoft.com/office/drawing/2014/main" val="3064314907"/>
                        </a:ext>
                      </a:extLst>
                    </a:gridCol>
                    <a:gridCol w="380403">
                      <a:extLst>
                        <a:ext uri="{9D8B030D-6E8A-4147-A177-3AD203B41FA5}">
                          <a16:colId xmlns:a16="http://schemas.microsoft.com/office/drawing/2014/main" val="504307059"/>
                        </a:ext>
                      </a:extLst>
                    </a:gridCol>
                  </a:tblGrid>
                  <a:tr h="312420">
                    <a:tc>
                      <a:txBody>
                        <a:bodyPr/>
                        <a:lstStyle/>
                        <a:p>
                          <a:r>
                            <a:rPr lang="en-US" altLang="zh-TW" sz="1500" i="1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p</a:t>
                          </a:r>
                          <a:r>
                            <a:rPr lang="en-US" altLang="zh-TW" sz="1500" baseline="-25000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1</a:t>
                          </a:r>
                          <a:endParaRPr lang="en-US" sz="1500" dirty="0">
                            <a:latin typeface="Cambria" panose="020405030504060302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500" i="1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p</a:t>
                          </a:r>
                          <a:r>
                            <a:rPr lang="en-US" altLang="zh-TW" sz="1500" i="0" baseline="-25000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2</a:t>
                          </a:r>
                          <a:endParaRPr lang="en-US" sz="1500" dirty="0">
                            <a:latin typeface="Cambria" panose="020405030504060302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500" i="1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p</a:t>
                          </a:r>
                          <a:r>
                            <a:rPr lang="en-US" altLang="zh-TW" sz="1500" i="0" baseline="-25000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3</a:t>
                          </a:r>
                          <a:endParaRPr lang="en-US" sz="1500" dirty="0">
                            <a:latin typeface="Cambria" panose="020405030504060302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4"/>
                          <a:stretch>
                            <a:fillRect l="-301587" t="-5882" r="-6349" b="-7921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4149712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91829653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837502300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75303747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35327459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441186023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55080689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573803825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16762189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F74DACB3-9EC6-48A1-8A0B-65DE6DF375A5}"/>
              </a:ext>
            </a:extLst>
          </p:cNvPr>
          <p:cNvSpPr/>
          <p:nvPr/>
        </p:nvSpPr>
        <p:spPr>
          <a:xfrm>
            <a:off x="4086466" y="4564003"/>
            <a:ext cx="1913152" cy="4444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TW" sz="2100" dirty="0">
                <a:solidFill>
                  <a:srgbClr val="00A64E"/>
                </a:solidFill>
                <a:latin typeface="Cambria" panose="02040503050406030204" pitchFamily="18" charset="0"/>
                <a:ea typeface="新細明體" pitchFamily="18" charset="-120"/>
              </a:rPr>
              <a:t># rows = 2</a:t>
            </a:r>
            <a:r>
              <a:rPr lang="en-US" altLang="zh-TW" sz="2100" baseline="30000" dirty="0">
                <a:solidFill>
                  <a:srgbClr val="00A64E"/>
                </a:solidFill>
                <a:latin typeface="Cambria" panose="02040503050406030204" pitchFamily="18" charset="0"/>
                <a:ea typeface="新細明體" pitchFamily="18" charset="-120"/>
              </a:rPr>
              <a:t>3</a:t>
            </a:r>
            <a:r>
              <a:rPr lang="en-US" altLang="zh-TW" sz="2100" dirty="0">
                <a:solidFill>
                  <a:srgbClr val="00A64E"/>
                </a:solidFill>
                <a:latin typeface="Cambria" panose="02040503050406030204" pitchFamily="18" charset="0"/>
                <a:ea typeface="新細明體" pitchFamily="18" charset="-120"/>
              </a:rPr>
              <a:t> = 8</a:t>
            </a:r>
            <a:endParaRPr lang="en-US" sz="2100" dirty="0">
              <a:solidFill>
                <a:srgbClr val="00A64E"/>
              </a:solidFill>
              <a:latin typeface="Cambria" panose="02040503050406030204" pitchFamily="18" charset="0"/>
              <a:ea typeface="新細明體" pitchFamily="18" charset="-12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0639A9-9150-40D7-B488-0A12ABE1BBED}"/>
              </a:ext>
            </a:extLst>
          </p:cNvPr>
          <p:cNvSpPr/>
          <p:nvPr/>
        </p:nvSpPr>
        <p:spPr>
          <a:xfrm>
            <a:off x="9514518" y="3480060"/>
            <a:ext cx="2042995" cy="4444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TW" sz="2100" dirty="0">
                <a:solidFill>
                  <a:srgbClr val="00A64E"/>
                </a:solidFill>
                <a:latin typeface="Cambria" panose="02040503050406030204" pitchFamily="18" charset="0"/>
                <a:ea typeface="新細明體" pitchFamily="18" charset="-120"/>
              </a:rPr>
              <a:t># rows = 2</a:t>
            </a:r>
            <a:r>
              <a:rPr lang="en-US" altLang="zh-TW" sz="2100" baseline="30000" dirty="0">
                <a:solidFill>
                  <a:srgbClr val="00A64E"/>
                </a:solidFill>
                <a:latin typeface="Cambria" panose="02040503050406030204" pitchFamily="18" charset="0"/>
                <a:ea typeface="新細明體" pitchFamily="18" charset="-120"/>
              </a:rPr>
              <a:t>4 </a:t>
            </a:r>
            <a:r>
              <a:rPr lang="en-US" altLang="zh-TW" sz="2100" dirty="0">
                <a:solidFill>
                  <a:srgbClr val="00A64E"/>
                </a:solidFill>
                <a:latin typeface="Cambria" panose="02040503050406030204" pitchFamily="18" charset="0"/>
                <a:ea typeface="新細明體" pitchFamily="18" charset="-120"/>
              </a:rPr>
              <a:t>= 16</a:t>
            </a:r>
            <a:endParaRPr lang="en-US" sz="2100" dirty="0">
              <a:solidFill>
                <a:srgbClr val="00A64E"/>
              </a:solidFill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6C0DE927-44E6-45F8-9327-198A30C052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0751734"/>
                  </p:ext>
                </p:extLst>
              </p:nvPr>
            </p:nvGraphicFramePr>
            <p:xfrm>
              <a:off x="7724070" y="1176239"/>
              <a:ext cx="1694035" cy="50673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8807">
                      <a:extLst>
                        <a:ext uri="{9D8B030D-6E8A-4147-A177-3AD203B41FA5}">
                          <a16:colId xmlns:a16="http://schemas.microsoft.com/office/drawing/2014/main" val="2780090462"/>
                        </a:ext>
                      </a:extLst>
                    </a:gridCol>
                    <a:gridCol w="338807">
                      <a:extLst>
                        <a:ext uri="{9D8B030D-6E8A-4147-A177-3AD203B41FA5}">
                          <a16:colId xmlns:a16="http://schemas.microsoft.com/office/drawing/2014/main" val="3177118586"/>
                        </a:ext>
                      </a:extLst>
                    </a:gridCol>
                    <a:gridCol w="338807">
                      <a:extLst>
                        <a:ext uri="{9D8B030D-6E8A-4147-A177-3AD203B41FA5}">
                          <a16:colId xmlns:a16="http://schemas.microsoft.com/office/drawing/2014/main" val="3064314907"/>
                        </a:ext>
                      </a:extLst>
                    </a:gridCol>
                    <a:gridCol w="338807">
                      <a:extLst>
                        <a:ext uri="{9D8B030D-6E8A-4147-A177-3AD203B41FA5}">
                          <a16:colId xmlns:a16="http://schemas.microsoft.com/office/drawing/2014/main" val="4058391200"/>
                        </a:ext>
                      </a:extLst>
                    </a:gridCol>
                    <a:gridCol w="338807">
                      <a:extLst>
                        <a:ext uri="{9D8B030D-6E8A-4147-A177-3AD203B41FA5}">
                          <a16:colId xmlns:a16="http://schemas.microsoft.com/office/drawing/2014/main" val="3945227538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altLang="zh-TW" sz="1500" i="1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p</a:t>
                          </a:r>
                          <a:r>
                            <a:rPr lang="en-US" altLang="zh-TW" sz="1500" baseline="-25000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1</a:t>
                          </a:r>
                          <a:endParaRPr lang="en-US" sz="1500" dirty="0">
                            <a:latin typeface="Cambria" panose="020405030504060302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500" i="1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p</a:t>
                          </a:r>
                          <a:r>
                            <a:rPr lang="en-US" altLang="zh-TW" sz="1500" i="0" baseline="-25000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2</a:t>
                          </a:r>
                          <a:endParaRPr lang="en-US" sz="1500" dirty="0">
                            <a:latin typeface="Cambria" panose="020405030504060302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500" i="1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p</a:t>
                          </a:r>
                          <a:r>
                            <a:rPr lang="en-US" altLang="zh-TW" sz="1500" i="0" baseline="-25000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3</a:t>
                          </a:r>
                          <a:endParaRPr lang="en-US" sz="1500" dirty="0">
                            <a:latin typeface="Cambria" panose="020405030504060302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500" i="1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p</a:t>
                          </a:r>
                          <a:r>
                            <a:rPr lang="en-US" altLang="zh-TW" sz="1500" i="0" baseline="-25000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4</a:t>
                          </a:r>
                          <a:endParaRPr lang="en-US" sz="1500" dirty="0">
                            <a:latin typeface="Cambria" panose="020405030504060302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⋀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Cambria" panose="02040503050406030204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354149712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91829653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837502300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75303747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35327459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441186023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55080689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573803825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167621896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413403414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643935323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776791744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963719299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353444584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96958936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245373640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228910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6C0DE927-44E6-45F8-9327-198A30C052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0751734"/>
                  </p:ext>
                </p:extLst>
              </p:nvPr>
            </p:nvGraphicFramePr>
            <p:xfrm>
              <a:off x="7724070" y="1176239"/>
              <a:ext cx="1694035" cy="50673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8807">
                      <a:extLst>
                        <a:ext uri="{9D8B030D-6E8A-4147-A177-3AD203B41FA5}">
                          <a16:colId xmlns:a16="http://schemas.microsoft.com/office/drawing/2014/main" val="2780090462"/>
                        </a:ext>
                      </a:extLst>
                    </a:gridCol>
                    <a:gridCol w="338807">
                      <a:extLst>
                        <a:ext uri="{9D8B030D-6E8A-4147-A177-3AD203B41FA5}">
                          <a16:colId xmlns:a16="http://schemas.microsoft.com/office/drawing/2014/main" val="3177118586"/>
                        </a:ext>
                      </a:extLst>
                    </a:gridCol>
                    <a:gridCol w="338807">
                      <a:extLst>
                        <a:ext uri="{9D8B030D-6E8A-4147-A177-3AD203B41FA5}">
                          <a16:colId xmlns:a16="http://schemas.microsoft.com/office/drawing/2014/main" val="3064314907"/>
                        </a:ext>
                      </a:extLst>
                    </a:gridCol>
                    <a:gridCol w="338807">
                      <a:extLst>
                        <a:ext uri="{9D8B030D-6E8A-4147-A177-3AD203B41FA5}">
                          <a16:colId xmlns:a16="http://schemas.microsoft.com/office/drawing/2014/main" val="4058391200"/>
                        </a:ext>
                      </a:extLst>
                    </a:gridCol>
                    <a:gridCol w="338807">
                      <a:extLst>
                        <a:ext uri="{9D8B030D-6E8A-4147-A177-3AD203B41FA5}">
                          <a16:colId xmlns:a16="http://schemas.microsoft.com/office/drawing/2014/main" val="3945227538"/>
                        </a:ext>
                      </a:extLst>
                    </a:gridCol>
                  </a:tblGrid>
                  <a:tr h="312420">
                    <a:tc>
                      <a:txBody>
                        <a:bodyPr/>
                        <a:lstStyle/>
                        <a:p>
                          <a:r>
                            <a:rPr lang="en-US" altLang="zh-TW" sz="1500" i="1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p</a:t>
                          </a:r>
                          <a:r>
                            <a:rPr lang="en-US" altLang="zh-TW" sz="1500" baseline="-25000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1</a:t>
                          </a:r>
                          <a:endParaRPr lang="en-US" sz="1500" dirty="0">
                            <a:latin typeface="Cambria" panose="020405030504060302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500" i="1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p</a:t>
                          </a:r>
                          <a:r>
                            <a:rPr lang="en-US" altLang="zh-TW" sz="1500" i="0" baseline="-25000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2</a:t>
                          </a:r>
                          <a:endParaRPr lang="en-US" sz="1500" dirty="0">
                            <a:latin typeface="Cambria" panose="020405030504060302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500" i="1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p</a:t>
                          </a:r>
                          <a:r>
                            <a:rPr lang="en-US" altLang="zh-TW" sz="1500" i="0" baseline="-25000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3</a:t>
                          </a:r>
                          <a:endParaRPr lang="en-US" sz="1500" dirty="0">
                            <a:latin typeface="Cambria" panose="020405030504060302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500" i="1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p</a:t>
                          </a:r>
                          <a:r>
                            <a:rPr lang="en-US" altLang="zh-TW" sz="1500" i="0" baseline="-25000" dirty="0">
                              <a:latin typeface="Cambria" panose="02040503050406030204" pitchFamily="18" charset="0"/>
                              <a:ea typeface="新細明體" pitchFamily="18" charset="-120"/>
                            </a:rPr>
                            <a:t>4</a:t>
                          </a:r>
                          <a:endParaRPr lang="en-US" sz="1500" dirty="0">
                            <a:latin typeface="Cambria" panose="020405030504060302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5"/>
                          <a:stretch>
                            <a:fillRect l="-398214" t="-5882" r="-8929" b="-15568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54149712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91829653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837502300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075303747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35327459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441186023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955080689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573803825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167621896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413403414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643935323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776791744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963719299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353444584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96958936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F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245373640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500" dirty="0">
                              <a:latin typeface="Cambria" panose="02040503050406030204" pitchFamily="18" charset="0"/>
                            </a:rPr>
                            <a:t>T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228910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6B262-8FF3-4985-BF14-0158C1C91C9D}" type="datetime1">
              <a:rPr lang="en-US" smtClean="0"/>
              <a:t>6/18/2023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17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863187" y="5548531"/>
            <a:ext cx="66047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CC"/>
                </a:solidFill>
              </a:rPr>
              <a:t>Generally, # rows = 2</a:t>
            </a:r>
            <a:r>
              <a:rPr lang="en-US" sz="2000" baseline="30000" dirty="0">
                <a:solidFill>
                  <a:srgbClr val="0000CC"/>
                </a:solidFill>
              </a:rPr>
              <a:t>n</a:t>
            </a:r>
            <a:r>
              <a:rPr lang="en-US" sz="2000" dirty="0">
                <a:solidFill>
                  <a:srgbClr val="0000CC"/>
                </a:solidFill>
              </a:rPr>
              <a:t>, where n is the number of propositions </a:t>
            </a:r>
          </a:p>
        </p:txBody>
      </p:sp>
    </p:spTree>
    <p:extLst>
      <p:ext uri="{BB962C8B-B14F-4D97-AF65-F5344CB8AC3E}">
        <p14:creationId xmlns:p14="http://schemas.microsoft.com/office/powerpoint/2010/main" val="4089336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The </a:t>
            </a:r>
            <a:r>
              <a:rPr lang="en-US" dirty="0"/>
              <a:t>Disjunction</a:t>
            </a:r>
            <a:r>
              <a:rPr lang="en-US" altLang="zh-TW" dirty="0"/>
              <a:t> Operator </a:t>
            </a:r>
            <a:r>
              <a:rPr lang="en-US" dirty="0"/>
              <a:t>(OR) </a:t>
            </a:r>
            <a:r>
              <a:rPr lang="en-US" altLang="zh-TW" dirty="0">
                <a:ea typeface="新細明體" pitchFamily="18" charset="-120"/>
              </a:rPr>
              <a:t>“∨”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TW" dirty="0"/>
                  <a:t>The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binary </a:t>
                </a:r>
                <a:r>
                  <a:rPr lang="en-US" dirty="0">
                    <a:solidFill>
                      <a:srgbClr val="C00000"/>
                    </a:solidFill>
                  </a:rPr>
                  <a:t>disjunction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 operator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“</a:t>
                </a:r>
                <a:r>
                  <a:rPr lang="en-US" altLang="zh-TW" dirty="0">
                    <a:solidFill>
                      <a:srgbClr val="C00000"/>
                    </a:solidFill>
                    <a:sym typeface="Symbol" pitchFamily="18" charset="2"/>
                  </a:rPr>
                  <a:t>∨” (OR) </a:t>
                </a:r>
                <a:r>
                  <a:rPr lang="en-US" altLang="zh-TW" dirty="0">
                    <a:sym typeface="Symbol" pitchFamily="18" charset="2"/>
                  </a:rPr>
                  <a:t>combines two propositions to form their logical </a:t>
                </a:r>
                <a:r>
                  <a:rPr lang="en-US" b="1" dirty="0"/>
                  <a:t>disjunction</a:t>
                </a:r>
                <a:endParaRPr lang="en-US" b="1" dirty="0">
                  <a:solidFill>
                    <a:srgbClr val="00B0F0"/>
                  </a:solidFill>
                </a:endParaRPr>
              </a:p>
              <a:p>
                <a:pPr marL="76198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zh-TW" b="1" dirty="0">
                  <a:sym typeface="Symbol" pitchFamily="18" charset="2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b="1" dirty="0"/>
                  <a:t>Example</a:t>
                </a:r>
                <a:r>
                  <a:rPr lang="en-US" dirty="0"/>
                  <a:t>: </a:t>
                </a:r>
              </a:p>
              <a:p>
                <a:pPr lvl="2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i="1" dirty="0"/>
                  <a:t> p</a:t>
                </a:r>
                <a:r>
                  <a:rPr lang="en-US" sz="2800" dirty="0"/>
                  <a:t> = “My car has a bad engine.” </a:t>
                </a:r>
              </a:p>
              <a:p>
                <a:pPr marL="609585" lvl="2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i="1" dirty="0"/>
                  <a:t>	q</a:t>
                </a:r>
                <a:r>
                  <a:rPr lang="en-US" sz="2800" dirty="0"/>
                  <a:t> = “My car has a bad carburetor.”, then     </a:t>
                </a:r>
              </a:p>
              <a:p>
                <a:pPr marL="609585" lvl="2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i="1" dirty="0"/>
                  <a:t>	p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i="1" dirty="0"/>
                  <a:t>q</a:t>
                </a:r>
                <a:r>
                  <a:rPr lang="en-US" sz="2800" dirty="0"/>
                  <a:t> =“My car has a bad engine, </a:t>
                </a:r>
                <a:r>
                  <a:rPr lang="en-US" sz="2800" b="1" dirty="0"/>
                  <a:t>or</a:t>
                </a:r>
                <a:r>
                  <a:rPr lang="en-US" sz="2800" dirty="0"/>
                  <a:t> my car has a bad carburetor.”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68" t="-1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1E076-5B1E-425C-B058-0B8A29027FE5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92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The </a:t>
            </a:r>
            <a:r>
              <a:rPr lang="en-US" dirty="0"/>
              <a:t>Disjunction</a:t>
            </a:r>
            <a:r>
              <a:rPr lang="en-US" altLang="zh-TW" dirty="0"/>
              <a:t> Operator </a:t>
            </a:r>
            <a:r>
              <a:rPr lang="en-US" dirty="0"/>
              <a:t>(OR) </a:t>
            </a:r>
            <a:r>
              <a:rPr lang="en-US" altLang="zh-TW" dirty="0">
                <a:ea typeface="新細明體" pitchFamily="18" charset="-120"/>
              </a:rPr>
              <a:t>“∨” – Truth Table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70181"/>
                <a:ext cx="6696364" cy="5021979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b="1" i="1" dirty="0"/>
                  <a:t>p</a:t>
                </a:r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r>
                      <a:rPr lang="en-US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sz="2800" b="1" dirty="0"/>
                  <a:t> </a:t>
                </a:r>
                <a:r>
                  <a:rPr lang="en-US" sz="2800" b="1" i="1" dirty="0"/>
                  <a:t>q</a:t>
                </a:r>
                <a:r>
                  <a:rPr lang="en-US" sz="2800" b="1" dirty="0"/>
                  <a:t> means</a:t>
                </a:r>
                <a:r>
                  <a:rPr lang="en-US" sz="2800" dirty="0"/>
                  <a:t>: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333" i="1" dirty="0"/>
                  <a:t>p</a:t>
                </a:r>
                <a:r>
                  <a:rPr lang="en-US" sz="3333" dirty="0"/>
                  <a:t> is true, </a:t>
                </a:r>
                <a:r>
                  <a:rPr lang="en-US" sz="3333" b="1" dirty="0"/>
                  <a:t>or</a:t>
                </a:r>
                <a:r>
                  <a:rPr lang="en-US" sz="3333" dirty="0"/>
                  <a:t> 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333" i="1" dirty="0"/>
                  <a:t>q</a:t>
                </a:r>
                <a:r>
                  <a:rPr lang="en-US" sz="3333" dirty="0"/>
                  <a:t> is true </a:t>
                </a:r>
                <a:r>
                  <a:rPr lang="en-US" sz="3333" b="1" dirty="0"/>
                  <a:t>or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333" b="1" dirty="0"/>
                  <a:t>both</a:t>
                </a:r>
                <a:r>
                  <a:rPr lang="en-US" sz="3333" dirty="0"/>
                  <a:t> are true!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TW" sz="2800" dirty="0">
                    <a:sym typeface="Symbol" pitchFamily="18" charset="2"/>
                  </a:rPr>
                  <a:t>This operator is also called </a:t>
                </a:r>
                <a:r>
                  <a:rPr lang="en-US" altLang="zh-TW" sz="2800" dirty="0">
                    <a:solidFill>
                      <a:srgbClr val="FF0000"/>
                    </a:solidFill>
                    <a:sym typeface="Symbol" pitchFamily="18" charset="2"/>
                  </a:rPr>
                  <a:t>inclusive OR</a:t>
                </a:r>
                <a:r>
                  <a:rPr lang="en-US" altLang="zh-TW" sz="2800" dirty="0">
                    <a:sym typeface="Symbol" pitchFamily="18" charset="2"/>
                  </a:rPr>
                  <a:t> because it includes the possibility that both </a:t>
                </a:r>
                <a:r>
                  <a:rPr lang="en-US" altLang="zh-TW" sz="2800" i="1" dirty="0">
                    <a:sym typeface="Symbol" pitchFamily="18" charset="2"/>
                  </a:rPr>
                  <a:t>p </a:t>
                </a:r>
                <a:r>
                  <a:rPr lang="en-US" altLang="zh-TW" sz="2800" dirty="0">
                    <a:sym typeface="Symbol" pitchFamily="18" charset="2"/>
                  </a:rPr>
                  <a:t>and q are true.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TW" sz="2800" dirty="0">
                  <a:sym typeface="Symbol" pitchFamily="18" charset="2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TW" sz="2800" dirty="0">
                    <a:sym typeface="Symbol" pitchFamily="18" charset="2"/>
                  </a:rPr>
                  <a:t>“</a:t>
                </a:r>
                <a:r>
                  <a:rPr lang="en-US" altLang="zh-TW" sz="2800" b="1" dirty="0"/>
                  <a:t>¬</a:t>
                </a:r>
                <a:r>
                  <a:rPr lang="en-US" altLang="zh-TW" sz="2800" dirty="0">
                    <a:sym typeface="Symbol" pitchFamily="18" charset="2"/>
                  </a:rPr>
                  <a:t>” and “</a:t>
                </a:r>
                <a:r>
                  <a:rPr lang="en-US" altLang="zh-TW" sz="2800" b="1" dirty="0">
                    <a:sym typeface="Symbol" pitchFamily="18" charset="2"/>
                  </a:rPr>
                  <a:t></a:t>
                </a:r>
                <a:r>
                  <a:rPr lang="en-US" altLang="zh-TW" sz="2800" dirty="0">
                    <a:sym typeface="Symbol" pitchFamily="18" charset="2"/>
                  </a:rPr>
                  <a:t>” when used together are also universal operators (</a:t>
                </a:r>
                <a:r>
                  <a:rPr lang="en-US" altLang="zh-TW" sz="2800" dirty="0">
                    <a:solidFill>
                      <a:schemeClr val="accent2"/>
                    </a:solidFill>
                    <a:sym typeface="Symbol" pitchFamily="18" charset="2"/>
                  </a:rPr>
                  <a:t>sufficient to express </a:t>
                </a:r>
                <a:r>
                  <a:rPr lang="en-US" altLang="zh-TW" sz="2800" i="1" dirty="0">
                    <a:solidFill>
                      <a:schemeClr val="accent2"/>
                    </a:solidFill>
                    <a:sym typeface="Symbol" pitchFamily="18" charset="2"/>
                  </a:rPr>
                  <a:t>any</a:t>
                </a:r>
                <a:r>
                  <a:rPr lang="en-US" altLang="zh-TW" sz="2800" dirty="0">
                    <a:solidFill>
                      <a:schemeClr val="accent2"/>
                    </a:solidFill>
                    <a:sym typeface="Symbol" pitchFamily="18" charset="2"/>
                  </a:rPr>
                  <a:t> Boolean function/truth table</a:t>
                </a:r>
                <a:r>
                  <a:rPr lang="en-US" altLang="zh-TW" sz="2800" dirty="0">
                    <a:sym typeface="Symbol" pitchFamily="18" charset="2"/>
                  </a:rPr>
                  <a:t>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70181"/>
                <a:ext cx="6696364" cy="5021979"/>
              </a:xfrm>
              <a:blipFill>
                <a:blip r:embed="rId3"/>
                <a:stretch>
                  <a:fillRect l="-2095" t="-1699" r="-2459" b="-3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5851779"/>
                  </p:ext>
                </p:extLst>
              </p:nvPr>
            </p:nvGraphicFramePr>
            <p:xfrm>
              <a:off x="7932945" y="2484238"/>
              <a:ext cx="3212813" cy="2509808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10705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717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7049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995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</a:t>
                          </a:r>
                          <a:endParaRPr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905" algn="ctr">
                            <a:lnSpc>
                              <a:spcPct val="100000"/>
                            </a:lnSpc>
                          </a:pP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a:t>q</a:t>
                          </a:r>
                          <a:endParaRPr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00000"/>
                            </a:lnSpc>
                          </a:pP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∨</m:t>
                              </m:r>
                            </m:oMath>
                          </a14:m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q </a:t>
                          </a:r>
                          <a:endParaRPr lang="en-US"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9958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255" algn="ctr">
                            <a:lnSpc>
                              <a:spcPct val="100000"/>
                            </a:lnSpc>
                          </a:pPr>
                          <a:r>
                            <a:rPr lang="en-US" sz="2400" b="1" dirty="0">
                              <a:latin typeface="+mn-lt"/>
                              <a:cs typeface="Arial"/>
                            </a:rPr>
                            <a:t>F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9959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sz="2400" b="1" dirty="0">
                              <a:latin typeface="+mn-lt"/>
                              <a:cs typeface="Arial"/>
                            </a:rPr>
                            <a:t>T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9958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255" algn="ctr">
                            <a:lnSpc>
                              <a:spcPct val="100000"/>
                            </a:lnSpc>
                          </a:pPr>
                          <a:r>
                            <a:rPr lang="en-US" sz="2400" b="1" dirty="0">
                              <a:latin typeface="+mn-lt"/>
                              <a:cs typeface="Arial"/>
                            </a:rPr>
                            <a:t>T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09974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255" algn="ctr">
                            <a:lnSpc>
                              <a:spcPct val="100000"/>
                            </a:lnSpc>
                          </a:pPr>
                          <a:r>
                            <a:rPr lang="en-US" sz="2400" b="1" dirty="0">
                              <a:latin typeface="+mn-lt"/>
                              <a:cs typeface="Arial"/>
                            </a:rPr>
                            <a:t>T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5851779"/>
                  </p:ext>
                </p:extLst>
              </p:nvPr>
            </p:nvGraphicFramePr>
            <p:xfrm>
              <a:off x="7932945" y="2484238"/>
              <a:ext cx="3212813" cy="2509808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10705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717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7049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995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</a:t>
                          </a:r>
                          <a:endParaRPr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905" algn="ctr">
                            <a:lnSpc>
                              <a:spcPct val="100000"/>
                            </a:lnSpc>
                          </a:pP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+mn-cs"/>
                            </a:rPr>
                            <a:t>q</a:t>
                          </a:r>
                          <a:endParaRPr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4"/>
                          <a:stretch>
                            <a:fillRect l="-200568" t="-4878" r="-1705" b="-4256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9958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255" algn="ctr">
                            <a:lnSpc>
                              <a:spcPct val="100000"/>
                            </a:lnSpc>
                          </a:pPr>
                          <a:r>
                            <a:rPr lang="en-US" sz="2400" b="1" dirty="0" smtClean="0">
                              <a:latin typeface="+mn-lt"/>
                              <a:cs typeface="Arial"/>
                            </a:rPr>
                            <a:t>F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9959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sz="2400" b="1" dirty="0" smtClean="0">
                              <a:latin typeface="+mn-lt"/>
                              <a:cs typeface="Arial"/>
                            </a:rPr>
                            <a:t>T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9958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255" algn="ctr">
                            <a:lnSpc>
                              <a:spcPct val="100000"/>
                            </a:lnSpc>
                          </a:pPr>
                          <a:r>
                            <a:rPr lang="en-US" sz="2400" b="1" dirty="0" smtClean="0">
                              <a:latin typeface="+mn-lt"/>
                              <a:cs typeface="Arial"/>
                            </a:rPr>
                            <a:t>T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09974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255" algn="ctr">
                            <a:lnSpc>
                              <a:spcPct val="100000"/>
                            </a:lnSpc>
                          </a:pPr>
                          <a:r>
                            <a:rPr lang="en-US" sz="2400" b="1" dirty="0" smtClean="0">
                              <a:latin typeface="+mn-lt"/>
                              <a:cs typeface="Arial"/>
                            </a:rPr>
                            <a:t>T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1A419-75F8-4308-A980-3B3A2C2861AC}" type="datetime1">
              <a:rPr lang="en-US" smtClean="0"/>
              <a:t>6/18/2023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697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新細明體" pitchFamily="18" charset="-120"/>
              </a:rPr>
              <a:t>Nested Propositional Expressions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61521"/>
                <a:ext cx="7656946" cy="5146915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000" dirty="0"/>
                  <a:t>A </a:t>
                </a:r>
                <a:r>
                  <a:rPr lang="en-US" sz="3000" dirty="0">
                    <a:solidFill>
                      <a:srgbClr val="C00000"/>
                    </a:solidFill>
                  </a:rPr>
                  <a:t>nested</a:t>
                </a:r>
                <a:r>
                  <a:rPr lang="en-US" sz="3000" dirty="0"/>
                  <a:t> propositional expression is constructed using several propositions connected with the operators: AND, OR, NOT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000" dirty="0"/>
                  <a:t>where parentheses are used to group sub-expressions</a:t>
                </a:r>
              </a:p>
              <a:p>
                <a:pPr marL="76198" inden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3000" dirty="0"/>
              </a:p>
              <a:p>
                <a:pPr lvl="1"/>
                <a:r>
                  <a:rPr lang="en-US" sz="3000" b="1" dirty="0"/>
                  <a:t>Example</a:t>
                </a:r>
                <a:r>
                  <a:rPr lang="en-US" dirty="0"/>
                  <a:t>:</a:t>
                </a:r>
              </a:p>
              <a:p>
                <a:pPr lvl="2"/>
                <a:r>
                  <a:rPr lang="en-US" sz="2600" b="1" i="1" dirty="0"/>
                  <a:t>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600" b="1" i="1" dirty="0"/>
                  <a:t> (g </a:t>
                </a:r>
                <a14:m>
                  <m:oMath xmlns:m="http://schemas.openxmlformats.org/officeDocument/2006/math">
                    <m:r>
                      <a:rPr lang="en-US" sz="26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⋀</m:t>
                    </m:r>
                  </m:oMath>
                </a14:m>
                <a:r>
                  <a:rPr lang="en-US" sz="2600" b="1" i="1" dirty="0"/>
                  <a:t> s)</a:t>
                </a:r>
                <a:r>
                  <a:rPr lang="en-US" sz="2600" dirty="0"/>
                  <a:t> is a proposition that would mean something different than </a:t>
                </a:r>
                <a:r>
                  <a:rPr lang="en-US" sz="2600" b="1" i="1" dirty="0"/>
                  <a:t>(f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600" b="1" i="1" dirty="0"/>
                  <a:t> g) </a:t>
                </a:r>
                <a14:m>
                  <m:oMath xmlns:m="http://schemas.openxmlformats.org/officeDocument/2006/math">
                    <m:r>
                      <a:rPr lang="en-US" sz="26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⋀</m:t>
                    </m:r>
                  </m:oMath>
                </a14:m>
                <a:r>
                  <a:rPr lang="en-US" sz="2600" b="1" i="1" dirty="0"/>
                  <a:t> s</a:t>
                </a:r>
                <a:endParaRPr lang="en-US" sz="2600" dirty="0"/>
              </a:p>
              <a:p>
                <a:pPr lvl="2"/>
                <a:r>
                  <a:rPr lang="en-US" sz="2600" b="1" i="1" dirty="0"/>
                  <a:t>f</a:t>
                </a:r>
                <a:r>
                  <a:rPr lang="en-US" altLang="zh-TW" sz="2600" b="1" i="1" dirty="0">
                    <a:ea typeface="新細明體" pitchFamily="18" charset="-120"/>
                    <a:sym typeface="Symbol" pitchFamily="18" charset="2"/>
                  </a:rPr>
                  <a:t> </a:t>
                </a:r>
                <a:r>
                  <a:rPr lang="en-US" altLang="zh-TW" sz="2600" dirty="0">
                    <a:ea typeface="新細明體" pitchFamily="18" charset="-120"/>
                    <a:sym typeface="Symbol" pitchFamily="18" charset="2"/>
                  </a:rPr>
                  <a:t>∨</a:t>
                </a:r>
                <a:r>
                  <a:rPr lang="en-US" altLang="zh-TW" sz="2600" b="1" dirty="0">
                    <a:cs typeface="Arial"/>
                    <a:sym typeface="Symbol" pitchFamily="18" charset="2"/>
                  </a:rPr>
                  <a:t> </a:t>
                </a:r>
                <a:r>
                  <a:rPr lang="en-US" sz="2600" b="1" i="1" dirty="0"/>
                  <a:t>g </a:t>
                </a:r>
                <a14:m>
                  <m:oMath xmlns:m="http://schemas.openxmlformats.org/officeDocument/2006/math">
                    <m:r>
                      <a:rPr lang="en-US" sz="2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⋀</m:t>
                    </m:r>
                  </m:oMath>
                </a14:m>
                <a:r>
                  <a:rPr lang="en-US" sz="2600" b="1" i="1" dirty="0"/>
                  <a:t> s </a:t>
                </a:r>
                <a:r>
                  <a:rPr lang="en-US" sz="2600" dirty="0"/>
                  <a:t>would be ambiguous (</a:t>
                </a:r>
                <a:r>
                  <a:rPr lang="en-US" sz="2600" dirty="0">
                    <a:solidFill>
                      <a:srgbClr val="0000CC"/>
                    </a:solidFill>
                  </a:rPr>
                  <a:t>if operator precedence rules are not used</a:t>
                </a:r>
                <a:r>
                  <a:rPr lang="en-US" sz="2600" dirty="0"/>
                  <a:t>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TW" sz="2800" dirty="0">
                  <a:sym typeface="Symbol" pitchFamily="18" charset="2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TW" sz="2800" dirty="0">
                    <a:sym typeface="Symbol" pitchFamily="18" charset="2"/>
                  </a:rPr>
                  <a:t>By convention, the “</a:t>
                </a:r>
                <a:r>
                  <a:rPr lang="en-US" altLang="zh-TW" sz="2800" dirty="0"/>
                  <a:t>¬” operator has </a:t>
                </a:r>
                <a:r>
                  <a:rPr lang="en-US" altLang="zh-TW" sz="2800" i="1" dirty="0"/>
                  <a:t>precedence</a:t>
                </a:r>
                <a:r>
                  <a:rPr lang="en-US" altLang="zh-TW" sz="2800" dirty="0"/>
                  <a:t> over both “</a:t>
                </a:r>
                <a:r>
                  <a:rPr lang="en-US" altLang="zh-TW" sz="2800" dirty="0">
                    <a:sym typeface="Symbol" pitchFamily="18" charset="2"/>
                  </a:rPr>
                  <a:t></a:t>
                </a:r>
                <a:r>
                  <a:rPr lang="en-US" altLang="zh-TW" sz="2800" dirty="0"/>
                  <a:t>” and “</a:t>
                </a:r>
                <a:r>
                  <a:rPr lang="en-US" altLang="zh-TW" sz="2800" dirty="0">
                    <a:sym typeface="Symbol" pitchFamily="18" charset="2"/>
                  </a:rPr>
                  <a:t>” operators:</a:t>
                </a:r>
              </a:p>
              <a:p>
                <a:pPr lvl="2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TW" sz="2800" dirty="0"/>
                  <a:t>  </a:t>
                </a:r>
                <a:r>
                  <a:rPr lang="en-US" altLang="zh-TW" sz="2800" dirty="0">
                    <a:solidFill>
                      <a:schemeClr val="accent1">
                        <a:lumMod val="75000"/>
                      </a:schemeClr>
                    </a:solidFill>
                  </a:rPr>
                  <a:t>¬</a:t>
                </a:r>
                <a:r>
                  <a:rPr lang="en-US" altLang="zh-TW" sz="2800" i="1" dirty="0">
                    <a:solidFill>
                      <a:schemeClr val="accent1">
                        <a:lumMod val="75000"/>
                      </a:schemeClr>
                    </a:solidFill>
                  </a:rPr>
                  <a:t>s </a:t>
                </a:r>
                <a:r>
                  <a:rPr lang="en-US" altLang="zh-TW" sz="2800" dirty="0">
                    <a:solidFill>
                      <a:schemeClr val="accent1">
                        <a:lumMod val="75000"/>
                      </a:schemeClr>
                    </a:solidFill>
                    <a:sym typeface="Symbol" pitchFamily="18" charset="2"/>
                  </a:rPr>
                  <a:t> </a:t>
                </a:r>
                <a:r>
                  <a:rPr lang="en-US" altLang="zh-TW" sz="2800" i="1" dirty="0">
                    <a:solidFill>
                      <a:schemeClr val="accent1">
                        <a:lumMod val="75000"/>
                      </a:schemeClr>
                    </a:solidFill>
                  </a:rPr>
                  <a:t>f</a:t>
                </a:r>
                <a:r>
                  <a:rPr lang="en-US" altLang="zh-TW" sz="2800" dirty="0">
                    <a:solidFill>
                      <a:schemeClr val="accent1">
                        <a:lumMod val="75000"/>
                      </a:schemeClr>
                    </a:solidFill>
                  </a:rPr>
                  <a:t>   </a:t>
                </a:r>
                <a:r>
                  <a:rPr lang="en-US" altLang="zh-TW" sz="2800" dirty="0"/>
                  <a:t>means   </a:t>
                </a:r>
                <a:r>
                  <a:rPr lang="en-US" altLang="zh-TW" sz="2800" dirty="0">
                    <a:solidFill>
                      <a:schemeClr val="accent1">
                        <a:lumMod val="75000"/>
                      </a:schemeClr>
                    </a:solidFill>
                  </a:rPr>
                  <a:t>(¬</a:t>
                </a:r>
                <a:r>
                  <a:rPr lang="en-US" altLang="zh-TW" sz="2800" i="1" dirty="0">
                    <a:solidFill>
                      <a:schemeClr val="accent1">
                        <a:lumMod val="75000"/>
                      </a:schemeClr>
                    </a:solidFill>
                  </a:rPr>
                  <a:t>s</a:t>
                </a:r>
                <a:r>
                  <a:rPr lang="en-US" altLang="zh-TW" sz="2800" dirty="0">
                    <a:solidFill>
                      <a:schemeClr val="accent1">
                        <a:lumMod val="75000"/>
                      </a:schemeClr>
                    </a:solidFill>
                  </a:rPr>
                  <a:t>)</a:t>
                </a:r>
                <a:r>
                  <a:rPr lang="en-US" altLang="zh-TW" sz="2800" i="1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altLang="zh-TW" sz="2800" dirty="0">
                    <a:solidFill>
                      <a:schemeClr val="accent1">
                        <a:lumMod val="75000"/>
                      </a:schemeClr>
                    </a:solidFill>
                    <a:sym typeface="Symbol" pitchFamily="18" charset="2"/>
                  </a:rPr>
                  <a:t> </a:t>
                </a:r>
                <a:r>
                  <a:rPr lang="en-US" altLang="zh-TW" sz="2800" i="1" dirty="0">
                    <a:solidFill>
                      <a:schemeClr val="accent1">
                        <a:lumMod val="75000"/>
                      </a:schemeClr>
                    </a:solidFill>
                  </a:rPr>
                  <a:t>f  </a:t>
                </a:r>
                <a:r>
                  <a:rPr lang="en-US" altLang="zh-TW" sz="2800" dirty="0"/>
                  <a:t>but not   </a:t>
                </a:r>
                <a:r>
                  <a:rPr lang="en-US" altLang="zh-TW" sz="2800" dirty="0">
                    <a:solidFill>
                      <a:srgbClr val="FF0000"/>
                    </a:solidFill>
                  </a:rPr>
                  <a:t>¬ (</a:t>
                </a:r>
                <a:r>
                  <a:rPr lang="en-US" altLang="zh-TW" sz="2800" i="1" dirty="0">
                    <a:solidFill>
                      <a:srgbClr val="FF0000"/>
                    </a:solidFill>
                  </a:rPr>
                  <a:t>s </a:t>
                </a:r>
                <a:r>
                  <a:rPr lang="en-US" altLang="zh-TW" sz="2800" dirty="0">
                    <a:solidFill>
                      <a:srgbClr val="FF0000"/>
                    </a:solidFill>
                    <a:sym typeface="Symbol" pitchFamily="18" charset="2"/>
                  </a:rPr>
                  <a:t> </a:t>
                </a:r>
                <a:r>
                  <a:rPr lang="en-US" altLang="zh-TW" sz="2800" i="1" dirty="0">
                    <a:solidFill>
                      <a:srgbClr val="FF0000"/>
                    </a:solidFill>
                  </a:rPr>
                  <a:t>f</a:t>
                </a:r>
                <a:r>
                  <a:rPr lang="en-US" altLang="zh-TW" sz="2800" dirty="0">
                    <a:solidFill>
                      <a:srgbClr val="FF0000"/>
                    </a:solidFill>
                  </a:rPr>
                  <a:t>)</a:t>
                </a:r>
                <a:endParaRPr lang="en-US" sz="2800" dirty="0">
                  <a:solidFill>
                    <a:srgbClr val="FF0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61521"/>
                <a:ext cx="7656946" cy="5146915"/>
              </a:xfrm>
              <a:blipFill>
                <a:blip r:embed="rId3"/>
                <a:stretch>
                  <a:fillRect l="-1831" t="-3199" r="-2309" b="-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object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718278"/>
                  </p:ext>
                </p:extLst>
              </p:nvPr>
            </p:nvGraphicFramePr>
            <p:xfrm>
              <a:off x="7961746" y="2742679"/>
              <a:ext cx="3842327" cy="1621204"/>
            </p:xfrm>
            <a:graphic>
              <a:graphicData uri="http://schemas.openxmlformats.org/drawingml/2006/table">
                <a:tbl>
                  <a:tblPr firstRow="1" bandRow="1">
                    <a:tableStyleId>{5DA37D80-6434-44D0-A028-1B22A696006F}</a:tableStyleId>
                  </a:tblPr>
                  <a:tblGrid>
                    <a:gridCol w="1930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1192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01341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00000"/>
                            </a:lnSpc>
                          </a:pPr>
                          <a:r>
                            <a:rPr lang="en-US" sz="2400" b="0" dirty="0">
                              <a:latin typeface="+mn-lt"/>
                              <a:cs typeface="Arial"/>
                            </a:rPr>
                            <a:t>Operator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76213" indent="0">
                            <a:lnSpc>
                              <a:spcPct val="100000"/>
                            </a:lnSpc>
                          </a:pPr>
                          <a:r>
                            <a:rPr lang="en-US" sz="2400" b="0" dirty="0"/>
                            <a:t>Precedence</a:t>
                          </a:r>
                          <a:endParaRPr sz="2400" b="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8403">
                    <a:tc>
                      <a:txBody>
                        <a:bodyPr/>
                        <a:lstStyle/>
                        <a:p>
                          <a:pPr marL="155575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latin typeface="+mn-lt"/>
                              <a:ea typeface="Cambria" panose="02040503050406030204" pitchFamily="18" charset="0"/>
                              <a:sym typeface="Symbol"/>
                            </a:rPr>
                            <a:t></a:t>
                          </a:r>
                          <a:endParaRPr lang="en-US" sz="2400" b="1" dirty="0">
                            <a:solidFill>
                              <a:srgbClr val="FF0000"/>
                            </a:solidFill>
                            <a:latin typeface="+mn-lt"/>
                            <a:ea typeface="Cambria" panose="02040503050406030204" pitchFamily="18" charset="0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+mn-lt"/>
                              <a:cs typeface="Arial"/>
                            </a:rPr>
                            <a:t>1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09261">
                    <a:tc>
                      <a:txBody>
                        <a:bodyPr/>
                        <a:lstStyle/>
                        <a:p>
                          <a:pPr marL="155575" algn="ctr">
                            <a:lnSpc>
                              <a:spcPct val="100000"/>
                            </a:lnSpc>
                          </a:pPr>
                          <a:r>
                            <a:rPr lang="en-US" sz="2400" dirty="0">
                              <a:solidFill>
                                <a:srgbClr val="FF0000"/>
                              </a:solidFill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⋀</m:t>
                              </m:r>
                            </m:oMath>
                          </a14:m>
                          <a:endParaRPr lang="en-US" sz="2400" dirty="0">
                            <a:solidFill>
                              <a:srgbClr val="FF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+mn-lt"/>
                              <a:cs typeface="Arial"/>
                            </a:rPr>
                            <a:t>2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02199">
                    <a:tc>
                      <a:txBody>
                        <a:bodyPr/>
                        <a:lstStyle/>
                        <a:p>
                          <a:pPr marL="155575"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400" dirty="0">
                              <a:solidFill>
                                <a:srgbClr val="FF0000"/>
                              </a:solidFill>
                              <a:ea typeface="新細明體" pitchFamily="18" charset="-120"/>
                              <a:sym typeface="Symbol" pitchFamily="18" charset="2"/>
                            </a:rPr>
                            <a:t>∨</a:t>
                          </a:r>
                          <a:endParaRPr sz="2400" dirty="0">
                            <a:solidFill>
                              <a:srgbClr val="FF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00000"/>
                            </a:lnSpc>
                          </a:pPr>
                          <a:r>
                            <a:rPr lang="en-US" sz="2400" dirty="0"/>
                            <a:t>3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object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718278"/>
                  </p:ext>
                </p:extLst>
              </p:nvPr>
            </p:nvGraphicFramePr>
            <p:xfrm>
              <a:off x="7961746" y="2742679"/>
              <a:ext cx="3842327" cy="1621204"/>
            </p:xfrm>
            <a:graphic>
              <a:graphicData uri="http://schemas.openxmlformats.org/drawingml/2006/table">
                <a:tbl>
                  <a:tblPr firstRow="1" bandRow="1">
                    <a:tableStyleId>{5DA37D80-6434-44D0-A028-1B22A696006F}</a:tableStyleId>
                  </a:tblPr>
                  <a:tblGrid>
                    <a:gridCol w="1930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1192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01341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00000"/>
                            </a:lnSpc>
                          </a:pPr>
                          <a:r>
                            <a:rPr lang="en-US" sz="2400" b="0" dirty="0">
                              <a:latin typeface="+mn-lt"/>
                              <a:cs typeface="Arial"/>
                            </a:rPr>
                            <a:t>Operator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76213" indent="0">
                            <a:lnSpc>
                              <a:spcPct val="100000"/>
                            </a:lnSpc>
                          </a:pPr>
                          <a:r>
                            <a:rPr lang="en-US" sz="2400" b="0" dirty="0"/>
                            <a:t>Precedence</a:t>
                          </a:r>
                          <a:endParaRPr sz="2400" b="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8403">
                    <a:tc>
                      <a:txBody>
                        <a:bodyPr/>
                        <a:lstStyle/>
                        <a:p>
                          <a:pPr marL="155575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solidFill>
                                <a:srgbClr val="FF0000"/>
                              </a:solidFill>
                              <a:latin typeface="+mn-lt"/>
                              <a:ea typeface="Cambria" panose="02040503050406030204" pitchFamily="18" charset="0"/>
                              <a:sym typeface="Symbol"/>
                            </a:rPr>
                            <a:t></a:t>
                          </a:r>
                          <a:endParaRPr lang="en-US" sz="2400" b="1" dirty="0">
                            <a:solidFill>
                              <a:srgbClr val="FF0000"/>
                            </a:solidFill>
                            <a:latin typeface="+mn-lt"/>
                            <a:ea typeface="Cambria" panose="02040503050406030204" pitchFamily="18" charset="0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+mn-lt"/>
                              <a:cs typeface="Arial"/>
                            </a:rPr>
                            <a:t>1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0926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4"/>
                          <a:stretch>
                            <a:fillRect l="-315" t="-213235" r="-100000" b="-136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+mn-lt"/>
                              <a:cs typeface="Arial"/>
                            </a:rPr>
                            <a:t>2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02199">
                    <a:tc>
                      <a:txBody>
                        <a:bodyPr/>
                        <a:lstStyle/>
                        <a:p>
                          <a:pPr marL="155575"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400" dirty="0">
                              <a:solidFill>
                                <a:srgbClr val="FF0000"/>
                              </a:solidFill>
                              <a:ea typeface="新細明體" pitchFamily="18" charset="-120"/>
                              <a:sym typeface="Symbol" pitchFamily="18" charset="2"/>
                            </a:rPr>
                            <a:t>∨</a:t>
                          </a:r>
                          <a:endParaRPr sz="2400" dirty="0">
                            <a:solidFill>
                              <a:srgbClr val="FF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00000"/>
                            </a:lnSpc>
                          </a:pPr>
                          <a:r>
                            <a:rPr lang="en-US" sz="2400" dirty="0"/>
                            <a:t>3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Content Placeholder 2"/>
          <p:cNvSpPr txBox="1">
            <a:spLocks/>
          </p:cNvSpPr>
          <p:nvPr/>
        </p:nvSpPr>
        <p:spPr>
          <a:xfrm>
            <a:off x="397164" y="2990697"/>
            <a:ext cx="6320953" cy="307887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04792" indent="-228594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-304792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6063" indent="-226478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1007" indent="-234945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7485" indent="-226478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5CD63-2F2A-4930-AB8A-88176D536B54}" type="datetime1">
              <a:rPr lang="en-US" smtClean="0"/>
              <a:t>6/18/2023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52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新細明體" pitchFamily="18" charset="-120"/>
              </a:rPr>
              <a:t>Propositional Expressions - Examples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Let:</a:t>
                </a:r>
              </a:p>
              <a:p>
                <a:pPr lvl="1"/>
                <a:r>
                  <a:rPr lang="en-US" i="1" dirty="0"/>
                  <a:t>p</a:t>
                </a:r>
                <a:r>
                  <a:rPr lang="en-US" dirty="0"/>
                  <a:t> = “It rained last night”, </a:t>
                </a:r>
              </a:p>
              <a:p>
                <a:pPr lvl="1"/>
                <a:r>
                  <a:rPr lang="en-US" i="1" dirty="0"/>
                  <a:t>q</a:t>
                </a:r>
                <a:r>
                  <a:rPr lang="en-US" dirty="0"/>
                  <a:t> = “The sprinklers came on last night,” </a:t>
                </a:r>
              </a:p>
              <a:p>
                <a:pPr lvl="1"/>
                <a:r>
                  <a:rPr lang="en-US" i="1" dirty="0"/>
                  <a:t>r</a:t>
                </a:r>
                <a:r>
                  <a:rPr lang="en-US" dirty="0"/>
                  <a:t> = “The lawn was wet this morning.”</a:t>
                </a:r>
              </a:p>
              <a:p>
                <a:r>
                  <a:rPr lang="en-US" altLang="zh-TW" dirty="0">
                    <a:ea typeface="新細明體" pitchFamily="18" charset="-120"/>
                  </a:rPr>
                  <a:t>Translate each of the following into English:</a:t>
                </a:r>
              </a:p>
              <a:p>
                <a:pPr lvl="1"/>
                <a:r>
                  <a:rPr lang="pt-BR" altLang="zh-TW" sz="2800" dirty="0">
                    <a:ea typeface="新細明體" pitchFamily="18" charset="-120"/>
                  </a:rPr>
                  <a:t>¬</a:t>
                </a:r>
                <a:r>
                  <a:rPr lang="pt-BR" altLang="zh-TW" sz="2800" i="1" dirty="0">
                    <a:ea typeface="新細明體" pitchFamily="18" charset="-120"/>
                  </a:rPr>
                  <a:t>p</a:t>
                </a:r>
                <a:r>
                  <a:rPr lang="pt-BR" altLang="zh-TW" sz="2800" dirty="0">
                    <a:ea typeface="新細明體" pitchFamily="18" charset="-120"/>
                  </a:rPr>
                  <a:t>               </a:t>
                </a:r>
              </a:p>
              <a:p>
                <a:pPr lvl="1"/>
                <a:r>
                  <a:rPr lang="pt-BR" altLang="zh-TW" sz="2800" i="1" dirty="0">
                    <a:ea typeface="新細明體" pitchFamily="18" charset="-120"/>
                  </a:rPr>
                  <a:t>r</a:t>
                </a:r>
                <a:r>
                  <a:rPr lang="pt-BR" altLang="zh-TW" sz="2800" dirty="0">
                    <a:ea typeface="新細明體" pitchFamily="18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⋀</m:t>
                    </m:r>
                  </m:oMath>
                </a14:m>
                <a:r>
                  <a:rPr lang="pt-BR" altLang="zh-TW" sz="2800" dirty="0">
                    <a:ea typeface="新細明體" pitchFamily="18" charset="-120"/>
                  </a:rPr>
                  <a:t> ¬</a:t>
                </a:r>
                <a:r>
                  <a:rPr lang="pt-BR" altLang="zh-TW" sz="2800" i="1" dirty="0">
                    <a:ea typeface="新細明體" pitchFamily="18" charset="-120"/>
                  </a:rPr>
                  <a:t>p</a:t>
                </a:r>
                <a:r>
                  <a:rPr lang="pt-BR" altLang="zh-TW" sz="2800" dirty="0">
                    <a:ea typeface="新細明體" pitchFamily="18" charset="-120"/>
                  </a:rPr>
                  <a:t>         </a:t>
                </a:r>
              </a:p>
              <a:p>
                <a:pPr lvl="1"/>
                <a:r>
                  <a:rPr lang="pt-BR" altLang="zh-TW" sz="2800" dirty="0">
                    <a:ea typeface="新細明體" pitchFamily="18" charset="-120"/>
                  </a:rPr>
                  <a:t>¬ </a:t>
                </a:r>
                <a:r>
                  <a:rPr lang="pt-BR" altLang="zh-TW" sz="2800" i="1" dirty="0">
                    <a:ea typeface="新細明體" pitchFamily="18" charset="-120"/>
                  </a:rPr>
                  <a:t>r</a:t>
                </a:r>
                <a:r>
                  <a:rPr lang="pt-BR" altLang="zh-TW" sz="2800" dirty="0">
                    <a:ea typeface="新細明體" pitchFamily="18" charset="-120"/>
                  </a:rPr>
                  <a:t> </a:t>
                </a:r>
                <a:r>
                  <a:rPr lang="en-US" altLang="zh-TW" sz="2800" dirty="0">
                    <a:ea typeface="新細明體" pitchFamily="18" charset="-120"/>
                    <a:sym typeface="Symbol" pitchFamily="18" charset="2"/>
                  </a:rPr>
                  <a:t>∨</a:t>
                </a:r>
                <a:r>
                  <a:rPr lang="pt-BR" altLang="zh-TW" sz="2800" dirty="0">
                    <a:ea typeface="新細明體" pitchFamily="18" charset="-120"/>
                  </a:rPr>
                  <a:t> </a:t>
                </a:r>
                <a:r>
                  <a:rPr lang="pt-BR" altLang="zh-TW" sz="2800" i="1" dirty="0">
                    <a:ea typeface="新細明體" pitchFamily="18" charset="-120"/>
                  </a:rPr>
                  <a:t>p</a:t>
                </a:r>
                <a:r>
                  <a:rPr lang="pt-BR" altLang="zh-TW" sz="2800" dirty="0">
                    <a:ea typeface="新細明體" pitchFamily="18" charset="-120"/>
                  </a:rPr>
                  <a:t> </a:t>
                </a:r>
                <a:r>
                  <a:rPr lang="en-US" altLang="zh-TW" sz="2800" dirty="0">
                    <a:ea typeface="新細明體" pitchFamily="18" charset="-120"/>
                    <a:sym typeface="Symbol" pitchFamily="18" charset="2"/>
                  </a:rPr>
                  <a:t>∨</a:t>
                </a:r>
                <a:r>
                  <a:rPr lang="pt-BR" altLang="zh-TW" sz="2800" dirty="0">
                    <a:ea typeface="新細明體" pitchFamily="18" charset="-120"/>
                  </a:rPr>
                  <a:t> </a:t>
                </a:r>
                <a:r>
                  <a:rPr lang="pt-BR" altLang="zh-TW" sz="2800" i="1" dirty="0">
                    <a:ea typeface="新細明體" pitchFamily="18" charset="-120"/>
                  </a:rPr>
                  <a:t>q</a:t>
                </a:r>
                <a:endParaRPr lang="en-US" altLang="zh-TW" sz="2800" dirty="0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74" t="-3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443161" y="3871340"/>
            <a:ext cx="4700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zh-TW" sz="2800" dirty="0">
                <a:ea typeface="新細明體" pitchFamily="18" charset="-120"/>
              </a:rPr>
              <a:t>= </a:t>
            </a:r>
            <a:r>
              <a:rPr lang="en-US" altLang="zh-TW" sz="2800" dirty="0">
                <a:ea typeface="新細明體" pitchFamily="18" charset="-120"/>
              </a:rPr>
              <a:t>“It did </a:t>
            </a:r>
            <a:r>
              <a:rPr lang="en-US" altLang="zh-TW" sz="2800" b="1" dirty="0">
                <a:ea typeface="新細明體" pitchFamily="18" charset="-120"/>
              </a:rPr>
              <a:t>not</a:t>
            </a:r>
            <a:r>
              <a:rPr lang="en-US" altLang="zh-TW" sz="2800" dirty="0">
                <a:ea typeface="新細明體" pitchFamily="18" charset="-120"/>
              </a:rPr>
              <a:t> rain last night.”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3161" y="4370502"/>
            <a:ext cx="95440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zh-TW" sz="2800" dirty="0">
                <a:ea typeface="新細明體" pitchFamily="18" charset="-120"/>
              </a:rPr>
              <a:t>= “</a:t>
            </a:r>
            <a:r>
              <a:rPr lang="en-US" altLang="zh-TW" sz="2800" dirty="0">
                <a:ea typeface="新細明體" pitchFamily="18" charset="-120"/>
              </a:rPr>
              <a:t>The lawn was wet this morning, </a:t>
            </a:r>
            <a:r>
              <a:rPr lang="en-US" altLang="zh-TW" sz="2800" b="1" dirty="0">
                <a:ea typeface="新細明體" pitchFamily="18" charset="-120"/>
              </a:rPr>
              <a:t>and</a:t>
            </a:r>
            <a:r>
              <a:rPr lang="en-US" altLang="zh-TW" sz="2800" dirty="0">
                <a:ea typeface="新細明體" pitchFamily="18" charset="-120"/>
              </a:rPr>
              <a:t> it did </a:t>
            </a:r>
            <a:r>
              <a:rPr lang="en-US" altLang="zh-TW" sz="2800" b="1" dirty="0">
                <a:ea typeface="新細明體" pitchFamily="18" charset="-120"/>
              </a:rPr>
              <a:t>not</a:t>
            </a:r>
            <a:r>
              <a:rPr lang="en-US" altLang="zh-TW" sz="2800" dirty="0">
                <a:ea typeface="新細明體" pitchFamily="18" charset="-120"/>
              </a:rPr>
              <a:t> rain last night.”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3161" y="4869664"/>
            <a:ext cx="91154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zh-TW" sz="2800" dirty="0">
                <a:ea typeface="新細明體" pitchFamily="18" charset="-120"/>
              </a:rPr>
              <a:t>= “</a:t>
            </a:r>
            <a:r>
              <a:rPr lang="en-US" altLang="zh-TW" sz="2800" dirty="0">
                <a:ea typeface="新細明體" pitchFamily="18" charset="-120"/>
              </a:rPr>
              <a:t>The lawn was </a:t>
            </a:r>
            <a:r>
              <a:rPr lang="en-US" altLang="zh-TW" sz="2800" b="1" dirty="0">
                <a:ea typeface="新細明體" pitchFamily="18" charset="-120"/>
              </a:rPr>
              <a:t>not</a:t>
            </a:r>
            <a:r>
              <a:rPr lang="en-US" altLang="zh-TW" sz="2800" dirty="0">
                <a:ea typeface="新細明體" pitchFamily="18" charset="-120"/>
              </a:rPr>
              <a:t> wet this morning, </a:t>
            </a:r>
            <a:r>
              <a:rPr lang="en-US" altLang="zh-TW" sz="2800" b="1" dirty="0">
                <a:ea typeface="新細明體" pitchFamily="18" charset="-120"/>
              </a:rPr>
              <a:t>or</a:t>
            </a:r>
            <a:r>
              <a:rPr lang="en-US" altLang="zh-TW" sz="2800" dirty="0">
                <a:ea typeface="新細明體" pitchFamily="18" charset="-120"/>
              </a:rPr>
              <a:t> it rained last night, </a:t>
            </a:r>
            <a:r>
              <a:rPr lang="en-US" altLang="zh-TW" sz="2800" b="1" dirty="0">
                <a:ea typeface="新細明體" pitchFamily="18" charset="-120"/>
              </a:rPr>
              <a:t>or</a:t>
            </a:r>
            <a:r>
              <a:rPr lang="en-US" altLang="zh-TW" sz="2800" dirty="0">
                <a:ea typeface="新細明體" pitchFamily="18" charset="-120"/>
              </a:rPr>
              <a:t> the sprinklers came on last night.”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11406-5B36-4C77-89DF-41F3252CF6E8}" type="datetime1">
              <a:rPr lang="en-US" smtClean="0"/>
              <a:t>6/18/2023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70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Exclusive Disjunction </a:t>
            </a:r>
            <a:r>
              <a:rPr lang="en-US" altLang="zh-TW" dirty="0"/>
              <a:t>Operator </a:t>
            </a:r>
            <a:r>
              <a:rPr lang="en-US" dirty="0"/>
              <a:t>(XOR) </a:t>
            </a:r>
            <a:r>
              <a:rPr lang="en-US" altLang="zh-TW" dirty="0">
                <a:ea typeface="新細明體" pitchFamily="18" charset="-120"/>
              </a:rPr>
              <a:t>“</a:t>
            </a:r>
            <a:r>
              <a:rPr lang="en-US" dirty="0"/>
              <a:t>⊕</a:t>
            </a:r>
            <a:r>
              <a:rPr lang="en-US" altLang="zh-TW" dirty="0">
                <a:ea typeface="新細明體" pitchFamily="18" charset="-120"/>
                <a:sym typeface="Symbol" pitchFamily="18" charset="2"/>
              </a:rPr>
              <a:t>”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TW" dirty="0"/>
              <a:t>The </a:t>
            </a:r>
            <a:r>
              <a:rPr lang="en-US" altLang="zh-TW" dirty="0">
                <a:solidFill>
                  <a:srgbClr val="C00000"/>
                </a:solidFill>
              </a:rPr>
              <a:t>binary exclusive-or operator “</a:t>
            </a:r>
            <a:r>
              <a:rPr lang="en-US" altLang="zh-TW" dirty="0">
                <a:solidFill>
                  <a:srgbClr val="C00000"/>
                </a:solidFill>
                <a:sym typeface="Symbol" pitchFamily="18" charset="2"/>
              </a:rPr>
              <a:t>” (XOR) </a:t>
            </a:r>
            <a:r>
              <a:rPr lang="en-US" altLang="zh-TW" dirty="0">
                <a:sym typeface="Symbol" pitchFamily="18" charset="2"/>
              </a:rPr>
              <a:t>combines two propositions to form their logical </a:t>
            </a:r>
            <a:r>
              <a:rPr lang="en-US" altLang="zh-TW" b="1" dirty="0">
                <a:sym typeface="Symbol" pitchFamily="18" charset="2"/>
              </a:rPr>
              <a:t>“exclusive or”</a:t>
            </a:r>
            <a:endParaRPr lang="en-US" altLang="zh-TW" b="1" dirty="0"/>
          </a:p>
          <a:p>
            <a:pPr lvl="1">
              <a:lnSpc>
                <a:spcPct val="100000"/>
              </a:lnSpc>
            </a:pPr>
            <a:r>
              <a:rPr lang="en-US" i="1" dirty="0"/>
              <a:t>p</a:t>
            </a:r>
            <a:r>
              <a:rPr lang="en-US" dirty="0"/>
              <a:t> = “I will earn an A+ in this course,” </a:t>
            </a:r>
          </a:p>
          <a:p>
            <a:pPr lvl="1">
              <a:lnSpc>
                <a:spcPct val="100000"/>
              </a:lnSpc>
            </a:pPr>
            <a:r>
              <a:rPr lang="en-US" i="1" dirty="0"/>
              <a:t>q</a:t>
            </a:r>
            <a:r>
              <a:rPr lang="en-US" dirty="0"/>
              <a:t> = “I will drop this course,” then </a:t>
            </a:r>
          </a:p>
          <a:p>
            <a:pPr lvl="1">
              <a:lnSpc>
                <a:spcPct val="100000"/>
              </a:lnSpc>
            </a:pPr>
            <a:r>
              <a:rPr lang="en-US" i="1" dirty="0"/>
              <a:t>p</a:t>
            </a:r>
            <a:r>
              <a:rPr lang="en-US" dirty="0"/>
              <a:t> ⊕ </a:t>
            </a:r>
            <a:r>
              <a:rPr lang="en-US" i="1" dirty="0"/>
              <a:t>q</a:t>
            </a:r>
            <a:r>
              <a:rPr lang="en-US" dirty="0"/>
              <a:t> = </a:t>
            </a:r>
          </a:p>
          <a:p>
            <a:pPr lvl="1">
              <a:lnSpc>
                <a:spcPct val="100000"/>
              </a:lnSpc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0905E-93F8-419E-BD1A-970662A52620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22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208368" y="3292386"/>
            <a:ext cx="6613542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sz="3200" dirty="0"/>
              <a:t>“I will either earn an A+ in this course, </a:t>
            </a:r>
            <a:br>
              <a:rPr lang="en-US" sz="3200" dirty="0"/>
            </a:br>
            <a:r>
              <a:rPr lang="en-US" sz="3200" dirty="0"/>
              <a:t>or I will drop it </a:t>
            </a:r>
            <a:br>
              <a:rPr lang="en-US" sz="3200" dirty="0"/>
            </a:br>
            <a:r>
              <a:rPr lang="en-US" sz="3200" dirty="0"/>
              <a:t>(but not both!)”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768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The Exclusive Disjunction </a:t>
            </a:r>
            <a:r>
              <a:rPr lang="en-US" altLang="zh-TW" sz="3600" dirty="0"/>
              <a:t>Operator </a:t>
            </a:r>
            <a:r>
              <a:rPr lang="en-US" sz="3600" dirty="0"/>
              <a:t>(XOR) </a:t>
            </a:r>
            <a:r>
              <a:rPr lang="en-US" altLang="zh-TW" sz="3600" dirty="0">
                <a:ea typeface="新細明體" pitchFamily="18" charset="-120"/>
              </a:rPr>
              <a:t>“</a:t>
            </a:r>
            <a:r>
              <a:rPr lang="en-US" sz="3600" dirty="0"/>
              <a:t>⊕</a:t>
            </a:r>
            <a:r>
              <a:rPr lang="en-US" altLang="zh-TW" sz="3600" dirty="0">
                <a:ea typeface="新細明體" pitchFamily="18" charset="-120"/>
                <a:sym typeface="Symbol" pitchFamily="18" charset="2"/>
              </a:rPr>
              <a:t>”</a:t>
            </a:r>
            <a:r>
              <a:rPr lang="en-US" sz="3600" dirty="0"/>
              <a:t>  - Truth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228153"/>
                <a:ext cx="7518400" cy="502197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TW" b="1" dirty="0"/>
                  <a:t>Note</a:t>
                </a:r>
                <a:r>
                  <a:rPr lang="en-US" altLang="zh-TW" dirty="0"/>
                  <a:t>:</a:t>
                </a:r>
              </a:p>
              <a:p>
                <a:pPr lvl="1"/>
                <a:r>
                  <a:rPr lang="en-US" altLang="zh-TW" i="1" dirty="0"/>
                  <a:t>p </a:t>
                </a:r>
                <a:r>
                  <a:rPr lang="en-US" altLang="zh-TW" dirty="0">
                    <a:sym typeface="Symbol" pitchFamily="18" charset="2"/>
                  </a:rPr>
                  <a:t> </a:t>
                </a:r>
                <a:r>
                  <a:rPr lang="en-US" altLang="zh-TW" i="1" dirty="0">
                    <a:sym typeface="Symbol" pitchFamily="18" charset="2"/>
                  </a:rPr>
                  <a:t>q is TRUE (T) </a:t>
                </a:r>
                <a:r>
                  <a:rPr lang="en-US" altLang="zh-TW" dirty="0">
                    <a:sym typeface="Symbol" pitchFamily="18" charset="2"/>
                  </a:rPr>
                  <a:t>when either </a:t>
                </a:r>
                <a:r>
                  <a:rPr lang="en-US" altLang="zh-TW" i="1" dirty="0">
                    <a:sym typeface="Symbol" pitchFamily="18" charset="2"/>
                  </a:rPr>
                  <a:t>p</a:t>
                </a:r>
                <a:r>
                  <a:rPr lang="en-US" altLang="zh-TW" dirty="0">
                    <a:sym typeface="Symbol" pitchFamily="18" charset="2"/>
                  </a:rPr>
                  <a:t> is true, or </a:t>
                </a:r>
                <a:r>
                  <a:rPr lang="en-US" altLang="zh-TW" i="1" dirty="0">
                    <a:sym typeface="Symbol" pitchFamily="18" charset="2"/>
                  </a:rPr>
                  <a:t>q</a:t>
                </a:r>
                <a:r>
                  <a:rPr lang="en-US" altLang="zh-TW" dirty="0">
                    <a:sym typeface="Symbol" pitchFamily="18" charset="2"/>
                  </a:rPr>
                  <a:t> is true, but </a:t>
                </a:r>
                <a:r>
                  <a:rPr lang="en-US" altLang="zh-TW" b="1" dirty="0">
                    <a:sym typeface="Symbol" pitchFamily="18" charset="2"/>
                  </a:rPr>
                  <a:t>not both</a:t>
                </a:r>
              </a:p>
              <a:p>
                <a:pPr lvl="1"/>
                <a:endParaRPr lang="en-US" sz="2800" i="1" dirty="0"/>
              </a:p>
              <a:p>
                <a:pPr lvl="1"/>
                <a:r>
                  <a:rPr lang="en-US" sz="2800" b="1" i="1" dirty="0"/>
                  <a:t>p</a:t>
                </a:r>
                <a:r>
                  <a:rPr lang="en-US" sz="2800" b="1" dirty="0"/>
                  <a:t> ⊕ </a:t>
                </a:r>
                <a:r>
                  <a:rPr lang="en-US" sz="2800" b="1" i="1" dirty="0"/>
                  <a:t>q</a:t>
                </a:r>
                <a:r>
                  <a:rPr lang="en-US" sz="2800" b="1" dirty="0"/>
                  <a:t> </a:t>
                </a:r>
                <a:r>
                  <a:rPr lang="en-US" sz="2800" dirty="0"/>
                  <a:t>is equivalent to: </a:t>
                </a:r>
                <a:r>
                  <a:rPr lang="en-US" sz="2800" b="1" dirty="0"/>
                  <a:t>(</a:t>
                </a:r>
                <a:r>
                  <a:rPr lang="pt-BR" altLang="zh-TW" sz="2800" b="1" i="1" dirty="0">
                    <a:ea typeface="新細明體" pitchFamily="18" charset="-120"/>
                  </a:rPr>
                  <a:t>p</a:t>
                </a:r>
                <a:r>
                  <a:rPr lang="pt-BR" altLang="zh-TW" sz="2800" b="1" dirty="0">
                    <a:ea typeface="新細明體" pitchFamily="18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⋀</m:t>
                    </m:r>
                  </m:oMath>
                </a14:m>
                <a:r>
                  <a:rPr lang="pt-BR" altLang="zh-TW" sz="2800" b="1" dirty="0">
                    <a:ea typeface="新細明體" pitchFamily="18" charset="-120"/>
                  </a:rPr>
                  <a:t> ¬</a:t>
                </a:r>
                <a:r>
                  <a:rPr lang="pt-BR" altLang="zh-TW" sz="2800" b="1" i="1" dirty="0">
                    <a:ea typeface="新細明體" pitchFamily="18" charset="-120"/>
                  </a:rPr>
                  <a:t>q</a:t>
                </a:r>
                <a:r>
                  <a:rPr lang="pt-BR" altLang="zh-TW" sz="2800" b="1" dirty="0">
                    <a:ea typeface="新細明體" pitchFamily="18" charset="-120"/>
                  </a:rPr>
                  <a:t>) </a:t>
                </a:r>
                <a:r>
                  <a:rPr lang="en-US" altLang="zh-TW" sz="2800" b="1" dirty="0">
                    <a:ea typeface="新細明體" pitchFamily="18" charset="-120"/>
                    <a:sym typeface="Symbol" pitchFamily="18" charset="2"/>
                  </a:rPr>
                  <a:t>∨</a:t>
                </a:r>
                <a:r>
                  <a:rPr lang="pt-BR" altLang="zh-TW" sz="2800" b="1" dirty="0">
                    <a:ea typeface="新細明體" pitchFamily="18" charset="-120"/>
                  </a:rPr>
                  <a:t> (¬</a:t>
                </a:r>
                <a:r>
                  <a:rPr lang="pt-BR" altLang="zh-TW" sz="2800" b="1" i="1" dirty="0">
                    <a:ea typeface="新細明體" pitchFamily="18" charset="-120"/>
                  </a:rPr>
                  <a:t>p</a:t>
                </a:r>
                <a:r>
                  <a:rPr lang="pt-BR" altLang="zh-TW" sz="2800" b="1" dirty="0">
                    <a:ea typeface="新細明體" pitchFamily="18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⋀</m:t>
                    </m:r>
                  </m:oMath>
                </a14:m>
                <a:r>
                  <a:rPr lang="pt-BR" altLang="zh-TW" sz="2800" b="1" dirty="0">
                    <a:ea typeface="新細明體" pitchFamily="18" charset="-120"/>
                  </a:rPr>
                  <a:t> </a:t>
                </a:r>
                <a:r>
                  <a:rPr lang="pt-BR" altLang="zh-TW" sz="2800" b="1" i="1" dirty="0">
                    <a:ea typeface="新細明體" pitchFamily="18" charset="-120"/>
                  </a:rPr>
                  <a:t>q</a:t>
                </a:r>
                <a:r>
                  <a:rPr lang="pt-BR" altLang="zh-TW" sz="2800" b="1" dirty="0">
                    <a:ea typeface="新細明體" pitchFamily="18" charset="-120"/>
                  </a:rPr>
                  <a:t>) </a:t>
                </a:r>
              </a:p>
              <a:p>
                <a:pPr lvl="1"/>
                <a:endParaRPr lang="en-US" altLang="zh-TW" sz="2800" dirty="0">
                  <a:ea typeface="新細明體" pitchFamily="18" charset="-120"/>
                </a:endParaRPr>
              </a:p>
              <a:p>
                <a:pPr lvl="1"/>
                <a:r>
                  <a:rPr lang="en-US" altLang="zh-TW" sz="2800" b="1" dirty="0">
                    <a:ea typeface="新細明體" pitchFamily="18" charset="-120"/>
                  </a:rPr>
                  <a:t>Example</a:t>
                </a:r>
                <a:r>
                  <a:rPr lang="en-US" altLang="zh-TW" sz="2800" dirty="0">
                    <a:ea typeface="新細明體" pitchFamily="18" charset="-120"/>
                  </a:rPr>
                  <a:t>:</a:t>
                </a:r>
              </a:p>
              <a:p>
                <a:pPr lvl="2"/>
                <a:r>
                  <a:rPr lang="en-US" altLang="zh-TW" sz="2800" dirty="0">
                    <a:solidFill>
                      <a:schemeClr val="accent6">
                        <a:lumMod val="75000"/>
                      </a:schemeClr>
                    </a:solidFill>
                    <a:ea typeface="新細明體" pitchFamily="18" charset="-120"/>
                  </a:rPr>
                  <a:t>“A student can have either soup or salad, </a:t>
                </a:r>
                <a:br>
                  <a:rPr lang="en-US" altLang="zh-TW" sz="2800" dirty="0">
                    <a:solidFill>
                      <a:schemeClr val="accent6">
                        <a:lumMod val="75000"/>
                      </a:schemeClr>
                    </a:solidFill>
                    <a:ea typeface="新細明體" pitchFamily="18" charset="-120"/>
                  </a:rPr>
                </a:br>
                <a:r>
                  <a:rPr lang="en-US" altLang="zh-TW" sz="2800" dirty="0">
                    <a:solidFill>
                      <a:srgbClr val="C00000"/>
                    </a:solidFill>
                    <a:ea typeface="新細明體" pitchFamily="18" charset="-120"/>
                  </a:rPr>
                  <a:t>but not both</a:t>
                </a:r>
                <a:r>
                  <a:rPr lang="en-US" altLang="zh-TW" sz="2800" dirty="0">
                    <a:ea typeface="新細明體" pitchFamily="18" charset="-120"/>
                  </a:rPr>
                  <a:t>,</a:t>
                </a:r>
                <a:r>
                  <a:rPr lang="en-US" altLang="zh-TW" sz="2800" dirty="0">
                    <a:solidFill>
                      <a:schemeClr val="accent6">
                        <a:lumMod val="75000"/>
                      </a:schemeClr>
                    </a:solidFill>
                    <a:ea typeface="新細明體" pitchFamily="18" charset="-120"/>
                  </a:rPr>
                  <a:t> </a:t>
                </a:r>
                <a:r>
                  <a:rPr lang="en-US" altLang="zh-TW" sz="2800" dirty="0">
                    <a:ea typeface="新細明體" pitchFamily="18" charset="-120"/>
                  </a:rPr>
                  <a:t>with his/her dinner</a:t>
                </a:r>
                <a:r>
                  <a:rPr lang="en-US" altLang="zh-TW" sz="2800" dirty="0">
                    <a:solidFill>
                      <a:schemeClr val="accent6">
                        <a:lumMod val="75000"/>
                      </a:schemeClr>
                    </a:solidFill>
                    <a:ea typeface="新細明體" pitchFamily="18" charset="-120"/>
                  </a:rPr>
                  <a:t>.”</a:t>
                </a:r>
                <a:r>
                  <a:rPr lang="pt-BR" altLang="zh-TW" sz="2800" dirty="0">
                    <a:solidFill>
                      <a:schemeClr val="accent6">
                        <a:lumMod val="75000"/>
                      </a:schemeClr>
                    </a:solidFill>
                    <a:ea typeface="新細明體" pitchFamily="18" charset="-120"/>
                  </a:rPr>
                  <a:t>  </a:t>
                </a:r>
              </a:p>
              <a:p>
                <a:pPr marL="609585" lvl="2" indent="0">
                  <a:buNone/>
                </a:pPr>
                <a:r>
                  <a:rPr lang="pt-BR" altLang="zh-TW" sz="2800" dirty="0">
                    <a:solidFill>
                      <a:schemeClr val="accent6">
                        <a:lumMod val="75000"/>
                      </a:schemeClr>
                    </a:solidFill>
                    <a:ea typeface="新細明體" pitchFamily="18" charset="-120"/>
                  </a:rPr>
                  <a:t>   </a:t>
                </a:r>
              </a:p>
              <a:p>
                <a:r>
                  <a:rPr lang="en-US" altLang="zh-TW" dirty="0">
                    <a:sym typeface="Symbol" pitchFamily="18" charset="2"/>
                  </a:rPr>
                  <a:t>“</a:t>
                </a:r>
                <a:r>
                  <a:rPr lang="en-US" altLang="zh-TW" dirty="0"/>
                  <a:t>¬</a:t>
                </a:r>
                <a:r>
                  <a:rPr lang="en-US" altLang="zh-TW" dirty="0">
                    <a:sym typeface="Symbol" pitchFamily="18" charset="2"/>
                  </a:rPr>
                  <a:t>” and “” together are </a:t>
                </a:r>
                <a:r>
                  <a:rPr lang="en-US" altLang="zh-TW" b="1" dirty="0">
                    <a:sym typeface="Symbol" pitchFamily="18" charset="2"/>
                  </a:rPr>
                  <a:t>not</a:t>
                </a:r>
                <a:r>
                  <a:rPr lang="en-US" altLang="zh-TW" dirty="0">
                    <a:sym typeface="Symbol" pitchFamily="18" charset="2"/>
                  </a:rPr>
                  <a:t> universal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228153"/>
                <a:ext cx="7518400" cy="5021979"/>
              </a:xfrm>
              <a:blipFill>
                <a:blip r:embed="rId3"/>
                <a:stretch>
                  <a:fillRect l="-2271" t="-3762" r="-3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459839"/>
              </p:ext>
            </p:extLst>
          </p:nvPr>
        </p:nvGraphicFramePr>
        <p:xfrm>
          <a:off x="7823200" y="2654003"/>
          <a:ext cx="3371850" cy="250980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123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en-US" sz="24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</a:t>
                      </a:r>
                      <a:endParaRPr sz="2400" i="1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lang="en-US" sz="24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</a:t>
                      </a:r>
                      <a:endParaRPr sz="2400" i="1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</a:t>
                      </a: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altLang="en-US" sz="2400" b="1" dirty="0">
                          <a:latin typeface="Cambria" panose="02040503050406030204" pitchFamily="18" charset="0"/>
                          <a:sym typeface="Symbol" panose="05050102010706020507" pitchFamily="18" charset="2"/>
                        </a:rPr>
                        <a:t> </a:t>
                      </a:r>
                      <a:r>
                        <a:rPr lang="en-US" sz="24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</a:t>
                      </a: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95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</a:pPr>
                      <a:r>
                        <a:rPr lang="en-US" sz="2400" b="1" dirty="0">
                          <a:latin typeface="+mn-lt"/>
                          <a:cs typeface="Arial"/>
                        </a:rPr>
                        <a:t>F</a:t>
                      </a:r>
                      <a:endParaRPr sz="24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959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lang="en-US" sz="2400" b="1" dirty="0">
                          <a:latin typeface="+mn-lt"/>
                          <a:cs typeface="Arial"/>
                        </a:rPr>
                        <a:t>T</a:t>
                      </a:r>
                      <a:endParaRPr sz="24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95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</a:pPr>
                      <a:r>
                        <a:rPr lang="en-US" sz="2400" b="1" dirty="0">
                          <a:latin typeface="+mn-lt"/>
                          <a:cs typeface="Arial"/>
                        </a:rPr>
                        <a:t>T</a:t>
                      </a:r>
                      <a:endParaRPr sz="24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974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</a:pPr>
                      <a:r>
                        <a:rPr lang="en-US" sz="2400" b="1" dirty="0">
                          <a:latin typeface="+mn-lt"/>
                          <a:cs typeface="Arial"/>
                        </a:rPr>
                        <a:t>F</a:t>
                      </a:r>
                      <a:endParaRPr sz="24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76CA4-2FDD-49E6-97DD-0DF1C8A58455}" type="datetime1">
              <a:rPr lang="en-US" smtClean="0"/>
              <a:t>6/18/2023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80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7F568-76FA-4F04-A45D-384AABD7B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Inclusive OR </a:t>
            </a:r>
            <a:r>
              <a:rPr lang="en-US" altLang="zh-TW" dirty="0">
                <a:ea typeface="新細明體" pitchFamily="18" charset="-120"/>
              </a:rPr>
              <a:t>“∨” </a:t>
            </a:r>
            <a:r>
              <a:rPr lang="en-US" altLang="zh-TW" dirty="0"/>
              <a:t>vs. Exclusive OR </a:t>
            </a:r>
            <a:r>
              <a:rPr lang="en-US" altLang="zh-TW" dirty="0">
                <a:ea typeface="新細明體" pitchFamily="18" charset="-120"/>
              </a:rPr>
              <a:t>“</a:t>
            </a:r>
            <a:r>
              <a:rPr lang="en-US" dirty="0"/>
              <a:t>⊕</a:t>
            </a:r>
            <a:r>
              <a:rPr lang="en-US" altLang="zh-TW" dirty="0">
                <a:ea typeface="新細明體" pitchFamily="18" charset="-120"/>
                <a:sym typeface="Symbol" pitchFamily="18" charset="2"/>
              </a:rPr>
              <a:t>”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4E141-978F-4736-BA0F-057B8F008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28153"/>
            <a:ext cx="7656945" cy="5021979"/>
          </a:xfrm>
        </p:spPr>
        <p:txBody>
          <a:bodyPr/>
          <a:lstStyle/>
          <a:p>
            <a:r>
              <a:rPr lang="en-US" altLang="zh-TW" dirty="0"/>
              <a:t>Note that the English “OR” can be ambiguous regarding the “both” case!</a:t>
            </a:r>
          </a:p>
          <a:p>
            <a:r>
              <a:rPr lang="en-US" altLang="zh-TW" dirty="0"/>
              <a:t>“Noor is a teacher </a:t>
            </a:r>
            <a:r>
              <a:rPr lang="en-US" altLang="zh-TW" b="1" dirty="0"/>
              <a:t>or</a:t>
            </a:r>
            <a:r>
              <a:rPr lang="en-US" altLang="zh-TW" dirty="0"/>
              <a:t> Noor is a writer.” </a:t>
            </a:r>
            <a:r>
              <a:rPr lang="zh-TW" altLang="en-US" b="1" dirty="0">
                <a:solidFill>
                  <a:srgbClr val="C00000"/>
                </a:solidFill>
                <a:sym typeface="Symbol" pitchFamily="18" charset="2"/>
              </a:rPr>
              <a:t></a:t>
            </a:r>
            <a:endParaRPr lang="en-US" altLang="zh-TW" b="1" dirty="0">
              <a:solidFill>
                <a:srgbClr val="C00000"/>
              </a:solidFill>
            </a:endParaRPr>
          </a:p>
          <a:p>
            <a:pPr>
              <a:tabLst>
                <a:tab pos="3255963" algn="l"/>
              </a:tabLst>
            </a:pPr>
            <a:r>
              <a:rPr lang="en-US" altLang="zh-TW" dirty="0"/>
              <a:t>“Noor is a man </a:t>
            </a:r>
            <a:r>
              <a:rPr lang="en-US" altLang="zh-TW" b="1" dirty="0"/>
              <a:t>or</a:t>
            </a:r>
            <a:r>
              <a:rPr lang="en-US" altLang="zh-TW" dirty="0"/>
              <a:t> Noor is a woman.” </a:t>
            </a:r>
            <a:r>
              <a:rPr lang="zh-TW" altLang="en-US" b="1" dirty="0">
                <a:solidFill>
                  <a:srgbClr val="C00000"/>
                </a:solidFill>
                <a:sym typeface="Symbol" pitchFamily="18" charset="2"/>
              </a:rPr>
              <a:t></a:t>
            </a:r>
            <a:endParaRPr lang="en-US" altLang="zh-TW" b="1" dirty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altLang="zh-TW" dirty="0">
                <a:sym typeface="Symbol" pitchFamily="18" charset="2"/>
              </a:rPr>
              <a:t>Need context to disambiguate the meaning!</a:t>
            </a:r>
          </a:p>
          <a:p>
            <a:r>
              <a:rPr lang="en-US" altLang="zh-TW" dirty="0">
                <a:sym typeface="Symbol" pitchFamily="18" charset="2"/>
              </a:rPr>
              <a:t>For this course, assume “or” </a:t>
            </a:r>
            <a:r>
              <a:rPr lang="en-US" altLang="zh-TW" dirty="0">
                <a:solidFill>
                  <a:srgbClr val="C00000"/>
                </a:solidFill>
                <a:sym typeface="Symbol" pitchFamily="18" charset="2"/>
              </a:rPr>
              <a:t>means inclusive. i.e. either one, or both propositions can be true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F2E56-EC58-4FD7-AA50-2FEE9220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A156-7286-493C-ACC6-562F199F925A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32DEC-3A55-40A0-A22E-69B35295E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CD05D0B-D241-4945-A32E-263C45404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129420"/>
              </p:ext>
            </p:extLst>
          </p:nvPr>
        </p:nvGraphicFramePr>
        <p:xfrm>
          <a:off x="8285018" y="2341356"/>
          <a:ext cx="3167743" cy="2438400"/>
        </p:xfrm>
        <a:graphic>
          <a:graphicData uri="http://schemas.openxmlformats.org/drawingml/2006/table">
            <a:tbl>
              <a:tblPr firstRow="1" firstCol="1" bandRow="1" bandCol="1">
                <a:tableStyleId>{5A111915-BE36-4E01-A7E5-04B1672EAD32}</a:tableStyleId>
              </a:tblPr>
              <a:tblGrid>
                <a:gridCol w="660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i="1" dirty="0">
                          <a:effectLst/>
                          <a:latin typeface="+mn-lt"/>
                        </a:rPr>
                        <a:t>p</a:t>
                      </a:r>
                      <a:endParaRPr lang="en-US" sz="2800" i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i="1" dirty="0">
                          <a:effectLst/>
                          <a:latin typeface="+mn-lt"/>
                        </a:rPr>
                        <a:t>q</a:t>
                      </a:r>
                      <a:endParaRPr lang="en-US" sz="2800" i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i="1" dirty="0">
                          <a:effectLst/>
                          <a:latin typeface="+mn-lt"/>
                        </a:rPr>
                        <a:t>p</a:t>
                      </a:r>
                      <a:r>
                        <a:rPr lang="en-US" sz="2800" dirty="0">
                          <a:effectLst/>
                          <a:latin typeface="+mn-lt"/>
                        </a:rPr>
                        <a:t> "OR" </a:t>
                      </a:r>
                      <a:r>
                        <a:rPr lang="en-US" sz="2800" i="1" dirty="0">
                          <a:effectLst/>
                          <a:latin typeface="+mn-lt"/>
                        </a:rPr>
                        <a:t>q</a:t>
                      </a:r>
                      <a:endParaRPr lang="en-US" sz="2800" i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</a:rPr>
                        <a:t>F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</a:rPr>
                        <a:t>F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dirty="0">
                          <a:effectLst/>
                          <a:latin typeface="+mn-lt"/>
                        </a:rPr>
                        <a:t>F</a:t>
                      </a:r>
                      <a:endParaRPr lang="en-US" sz="28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</a:rPr>
                        <a:t>F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</a:rPr>
                        <a:t>T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dirty="0">
                          <a:effectLst/>
                          <a:latin typeface="+mn-lt"/>
                        </a:rPr>
                        <a:t>T</a:t>
                      </a:r>
                      <a:endParaRPr lang="en-US" sz="28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>
                          <a:effectLst/>
                          <a:latin typeface="+mn-lt"/>
                        </a:rPr>
                        <a:t>T</a:t>
                      </a:r>
                      <a:endParaRPr lang="en-US" sz="2800" b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</a:rPr>
                        <a:t>F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dirty="0">
                          <a:effectLst/>
                          <a:latin typeface="+mn-lt"/>
                        </a:rPr>
                        <a:t>T</a:t>
                      </a:r>
                      <a:endParaRPr lang="en-US" sz="28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>
                          <a:effectLst/>
                          <a:latin typeface="+mn-lt"/>
                        </a:rPr>
                        <a:t>T</a:t>
                      </a:r>
                      <a:endParaRPr lang="en-US" sz="2800" b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0" dirty="0">
                          <a:effectLst/>
                          <a:latin typeface="+mn-lt"/>
                        </a:rPr>
                        <a:t>T</a:t>
                      </a:r>
                      <a:endParaRPr lang="en-US" sz="2800" b="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dirty="0">
                          <a:effectLst/>
                          <a:latin typeface="+mn-lt"/>
                        </a:rPr>
                        <a:t>?</a:t>
                      </a:r>
                      <a:endParaRPr lang="en-US" sz="2800" b="1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563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新細明體" pitchFamily="18" charset="-120"/>
              </a:rPr>
              <a:t>The Implication Operator (</a:t>
            </a:r>
            <a:r>
              <a:rPr lang="en-US" altLang="zh-TW" dirty="0">
                <a:ea typeface="新細明體" pitchFamily="18" charset="-120"/>
                <a:sym typeface="Symbol" pitchFamily="18" charset="2"/>
              </a:rPr>
              <a:t>implies</a:t>
            </a:r>
            <a:r>
              <a:rPr lang="en-US" altLang="zh-TW" dirty="0">
                <a:ea typeface="新細明體" pitchFamily="18" charset="-120"/>
              </a:rPr>
              <a:t>) “</a:t>
            </a:r>
            <a:r>
              <a:rPr lang="en-US" altLang="zh-TW" dirty="0">
                <a:ea typeface="新細明體" pitchFamily="18" charset="-120"/>
                <a:sym typeface="Symbol" pitchFamily="18" charset="2"/>
              </a:rPr>
              <a:t>”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C00000"/>
                </a:solidFill>
              </a:rPr>
              <a:t>The implication</a:t>
            </a:r>
            <a:r>
              <a:rPr lang="en-US" dirty="0"/>
              <a:t> </a:t>
            </a:r>
            <a:r>
              <a:rPr lang="en-US" b="1" i="1" dirty="0"/>
              <a:t>p</a:t>
            </a:r>
            <a:r>
              <a:rPr lang="en-US" b="1" dirty="0"/>
              <a:t> </a:t>
            </a:r>
            <a:r>
              <a:rPr lang="en-US" altLang="zh-TW" b="1" dirty="0">
                <a:ea typeface="新細明體" pitchFamily="18" charset="-120"/>
                <a:sym typeface="Symbol" pitchFamily="18" charset="2"/>
              </a:rPr>
              <a:t></a:t>
            </a:r>
            <a:r>
              <a:rPr lang="en-US" b="1" dirty="0"/>
              <a:t> </a:t>
            </a:r>
            <a:r>
              <a:rPr lang="en-US" b="1" i="1" dirty="0"/>
              <a:t>q</a:t>
            </a:r>
            <a:r>
              <a:rPr lang="en-US" b="1" dirty="0"/>
              <a:t> </a:t>
            </a:r>
            <a:r>
              <a:rPr lang="en-US" dirty="0"/>
              <a:t>states that </a:t>
            </a:r>
            <a:r>
              <a:rPr lang="en-US" i="1" dirty="0">
                <a:solidFill>
                  <a:srgbClr val="C00000"/>
                </a:solidFill>
              </a:rPr>
              <a:t>p</a:t>
            </a:r>
            <a:r>
              <a:rPr lang="en-US" dirty="0">
                <a:solidFill>
                  <a:srgbClr val="C00000"/>
                </a:solidFill>
              </a:rPr>
              <a:t> implies </a:t>
            </a:r>
            <a:r>
              <a:rPr lang="en-US" i="1" dirty="0">
                <a:solidFill>
                  <a:srgbClr val="C00000"/>
                </a:solidFill>
              </a:rPr>
              <a:t>q</a:t>
            </a:r>
            <a:r>
              <a:rPr lang="en-US" dirty="0"/>
              <a:t>, i.e.,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if </a:t>
            </a:r>
            <a:r>
              <a:rPr lang="en-US" i="1" dirty="0"/>
              <a:t>p</a:t>
            </a:r>
            <a:r>
              <a:rPr lang="en-US" dirty="0"/>
              <a:t> is true, then </a:t>
            </a:r>
            <a:r>
              <a:rPr lang="en-US" i="1" dirty="0"/>
              <a:t>q</a:t>
            </a:r>
            <a:r>
              <a:rPr lang="en-US" dirty="0"/>
              <a:t> is true; </a:t>
            </a:r>
            <a:endParaRPr lang="en-US" b="1" dirty="0"/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but, </a:t>
            </a:r>
            <a:r>
              <a:rPr lang="en-US" dirty="0"/>
              <a:t>if </a:t>
            </a:r>
            <a:r>
              <a:rPr lang="en-US" i="1" dirty="0"/>
              <a:t>p</a:t>
            </a:r>
            <a:r>
              <a:rPr lang="en-US" dirty="0"/>
              <a:t> is not true, then </a:t>
            </a:r>
            <a:r>
              <a:rPr lang="en-US" i="1" dirty="0"/>
              <a:t>q</a:t>
            </a:r>
            <a:r>
              <a:rPr lang="en-US" dirty="0"/>
              <a:t> could be either true or false</a:t>
            </a:r>
          </a:p>
          <a:p>
            <a:pPr marL="304793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Example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Let </a:t>
            </a:r>
            <a:r>
              <a:rPr lang="en-US" i="1" dirty="0"/>
              <a:t>p</a:t>
            </a:r>
            <a:r>
              <a:rPr lang="en-US" dirty="0"/>
              <a:t> = “You study hard.”,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dirty="0"/>
              <a:t>q</a:t>
            </a:r>
            <a:r>
              <a:rPr lang="en-US" dirty="0"/>
              <a:t> = “You will get a good grade.”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dirty="0"/>
              <a:t>p</a:t>
            </a:r>
            <a:r>
              <a:rPr lang="en-US" dirty="0"/>
              <a:t> </a:t>
            </a:r>
            <a:r>
              <a:rPr lang="en-US" altLang="zh-TW" dirty="0">
                <a:ea typeface="新細明體" pitchFamily="18" charset="-120"/>
                <a:sym typeface="Symbol" pitchFamily="18" charset="2"/>
              </a:rPr>
              <a:t> </a:t>
            </a:r>
            <a:r>
              <a:rPr lang="en-US" i="1" dirty="0"/>
              <a:t>q</a:t>
            </a:r>
            <a:r>
              <a:rPr lang="en-US" dirty="0"/>
              <a:t> = “If you study hard, </a:t>
            </a:r>
            <a:r>
              <a:rPr lang="en-US" i="1" dirty="0">
                <a:solidFill>
                  <a:srgbClr val="C00000"/>
                </a:solidFill>
              </a:rPr>
              <a:t>then</a:t>
            </a:r>
            <a:r>
              <a:rPr lang="en-US" dirty="0"/>
              <a:t> you will get a good grade.” (else, it could go either way: if you don’t study hard, you may or may not get good grade)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509322" y="1295432"/>
            <a:ext cx="1099916" cy="571500"/>
            <a:chOff x="2133600" y="1004889"/>
            <a:chExt cx="1466555" cy="762000"/>
          </a:xfrm>
        </p:grpSpPr>
        <p:sp>
          <p:nvSpPr>
            <p:cNvPr id="5" name="Text Box 6"/>
            <p:cNvSpPr txBox="1">
              <a:spLocks noChangeArrowheads="1"/>
            </p:cNvSpPr>
            <p:nvPr/>
          </p:nvSpPr>
          <p:spPr bwMode="auto">
            <a:xfrm>
              <a:off x="2133600" y="1004889"/>
              <a:ext cx="1466555" cy="430887"/>
            </a:xfrm>
            <a:prstGeom prst="rect">
              <a:avLst/>
            </a:prstGeom>
            <a:solidFill>
              <a:srgbClr val="92D050"/>
            </a:solidFill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US" altLang="zh-TW" sz="1500" dirty="0">
                  <a:latin typeface="Cambria" panose="02040503050406030204" pitchFamily="18" charset="0"/>
                  <a:ea typeface="新細明體" pitchFamily="18" charset="-120"/>
                </a:rPr>
                <a:t>antecedent</a:t>
              </a:r>
            </a:p>
          </p:txBody>
        </p:sp>
        <p:sp>
          <p:nvSpPr>
            <p:cNvPr id="6" name="AutoShape 7"/>
            <p:cNvSpPr>
              <a:spLocks/>
            </p:cNvSpPr>
            <p:nvPr/>
          </p:nvSpPr>
          <p:spPr bwMode="auto">
            <a:xfrm rot="5400000">
              <a:off x="3162300" y="1500189"/>
              <a:ext cx="228600" cy="304800"/>
            </a:xfrm>
            <a:prstGeom prst="leftBrace">
              <a:avLst>
                <a:gd name="adj1" fmla="val 11111"/>
                <a:gd name="adj2" fmla="val 50000"/>
              </a:avLst>
            </a:prstGeom>
            <a:noFill/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 sz="1500">
                <a:latin typeface="Cambria" panose="02040503050406030204" pitchFamily="18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060547" y="1284715"/>
            <a:ext cx="1144644" cy="582217"/>
            <a:chOff x="4756755" y="1130565"/>
            <a:chExt cx="1526191" cy="776289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4767146" y="1130565"/>
              <a:ext cx="1515800" cy="430886"/>
            </a:xfrm>
            <a:prstGeom prst="rect">
              <a:avLst/>
            </a:prstGeom>
            <a:solidFill>
              <a:srgbClr val="92D050"/>
            </a:solidFill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US" altLang="zh-TW" sz="1500" dirty="0">
                  <a:latin typeface="Cambria" panose="02040503050406030204" pitchFamily="18" charset="0"/>
                  <a:ea typeface="新細明體" pitchFamily="18" charset="-120"/>
                </a:rPr>
                <a:t>consequent</a:t>
              </a:r>
            </a:p>
          </p:txBody>
        </p:sp>
        <p:sp>
          <p:nvSpPr>
            <p:cNvPr id="9" name="AutoShape 9"/>
            <p:cNvSpPr>
              <a:spLocks/>
            </p:cNvSpPr>
            <p:nvPr/>
          </p:nvSpPr>
          <p:spPr bwMode="auto">
            <a:xfrm rot="5400000">
              <a:off x="4794855" y="1640154"/>
              <a:ext cx="228600" cy="304800"/>
            </a:xfrm>
            <a:prstGeom prst="leftBrace">
              <a:avLst>
                <a:gd name="adj1" fmla="val 11111"/>
                <a:gd name="adj2" fmla="val 50000"/>
              </a:avLst>
            </a:prstGeom>
            <a:noFill/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 sz="1500">
                <a:latin typeface="Cambria" panose="02040503050406030204" pitchFamily="18" charset="0"/>
              </a:endParaRPr>
            </a:p>
          </p:txBody>
        </p:sp>
      </p:grp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B10F-2DBC-438E-A0C2-40999183F306}" type="datetime1">
              <a:rPr lang="en-US" smtClean="0"/>
              <a:t>6/18/2023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23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新細明體" pitchFamily="18" charset="-120"/>
              </a:rPr>
              <a:t>The Implication Operator (</a:t>
            </a:r>
            <a:r>
              <a:rPr lang="en-US" altLang="zh-TW" dirty="0">
                <a:ea typeface="新細明體" pitchFamily="18" charset="-120"/>
                <a:sym typeface="Symbol" pitchFamily="18" charset="2"/>
              </a:rPr>
              <a:t>implies</a:t>
            </a:r>
            <a:r>
              <a:rPr lang="en-US" altLang="zh-TW" dirty="0">
                <a:ea typeface="新細明體" pitchFamily="18" charset="-120"/>
              </a:rPr>
              <a:t>) “</a:t>
            </a:r>
            <a:r>
              <a:rPr lang="en-US" altLang="zh-TW" dirty="0">
                <a:ea typeface="新細明體" pitchFamily="18" charset="-120"/>
                <a:sym typeface="Symbol" pitchFamily="18" charset="2"/>
              </a:rPr>
              <a:t>”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28153"/>
            <a:ext cx="6642735" cy="502197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truth table of the implication operator is shown below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i="1" dirty="0">
                <a:ea typeface="新細明體" pitchFamily="18" charset="-120"/>
              </a:rPr>
              <a:t>p </a:t>
            </a:r>
            <a:r>
              <a:rPr lang="en-US" altLang="zh-TW" dirty="0">
                <a:ea typeface="新細明體" pitchFamily="18" charset="-120"/>
                <a:sym typeface="Symbol" pitchFamily="18" charset="2"/>
              </a:rPr>
              <a:t></a:t>
            </a:r>
            <a:r>
              <a:rPr lang="en-US" altLang="zh-TW" i="1" dirty="0">
                <a:ea typeface="新細明體" pitchFamily="18" charset="-120"/>
              </a:rPr>
              <a:t> q </a:t>
            </a:r>
            <a:r>
              <a:rPr lang="en-US" altLang="zh-TW" dirty="0">
                <a:ea typeface="新細明體" pitchFamily="18" charset="-120"/>
              </a:rPr>
              <a:t>is </a:t>
            </a:r>
            <a:r>
              <a:rPr lang="en-US" altLang="zh-TW" b="1" dirty="0">
                <a:ea typeface="新細明體" pitchFamily="18" charset="-120"/>
              </a:rPr>
              <a:t>false</a:t>
            </a:r>
            <a:r>
              <a:rPr lang="en-US" altLang="zh-TW" dirty="0">
                <a:ea typeface="新細明體" pitchFamily="18" charset="-120"/>
              </a:rPr>
              <a:t> </a:t>
            </a:r>
            <a:r>
              <a:rPr lang="en-US" altLang="zh-TW" u="sng" dirty="0">
                <a:ea typeface="新細明體" pitchFamily="18" charset="-120"/>
              </a:rPr>
              <a:t>only</a:t>
            </a:r>
            <a:r>
              <a:rPr lang="en-US" altLang="zh-TW" dirty="0">
                <a:ea typeface="新細明體" pitchFamily="18" charset="-120"/>
              </a:rPr>
              <a:t> when</a:t>
            </a:r>
            <a:br>
              <a:rPr lang="en-US" altLang="zh-TW" dirty="0">
                <a:ea typeface="新細明體" pitchFamily="18" charset="-120"/>
              </a:rPr>
            </a:br>
            <a:r>
              <a:rPr lang="en-US" altLang="zh-TW" i="1" dirty="0">
                <a:ea typeface="新細明體" pitchFamily="18" charset="-120"/>
              </a:rPr>
              <a:t>p</a:t>
            </a:r>
            <a:r>
              <a:rPr lang="en-US" altLang="zh-TW" dirty="0">
                <a:ea typeface="新細明體" pitchFamily="18" charset="-120"/>
              </a:rPr>
              <a:t> is true but </a:t>
            </a:r>
            <a:r>
              <a:rPr lang="en-US" altLang="zh-TW" i="1" dirty="0">
                <a:ea typeface="新細明體" pitchFamily="18" charset="-120"/>
              </a:rPr>
              <a:t>q</a:t>
            </a:r>
            <a:r>
              <a:rPr lang="en-US" altLang="zh-TW" dirty="0">
                <a:ea typeface="新細明體" pitchFamily="18" charset="-120"/>
              </a:rPr>
              <a:t> is </a:t>
            </a:r>
            <a:r>
              <a:rPr lang="en-US" altLang="zh-TW" b="1" dirty="0">
                <a:ea typeface="新細明體" pitchFamily="18" charset="-120"/>
              </a:rPr>
              <a:t>not</a:t>
            </a:r>
            <a:r>
              <a:rPr lang="en-US" altLang="zh-TW" dirty="0">
                <a:ea typeface="新細明體" pitchFamily="18" charset="-120"/>
              </a:rPr>
              <a:t> true.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i="1" dirty="0">
                <a:ea typeface="新細明體" pitchFamily="18" charset="-120"/>
              </a:rPr>
              <a:t>p </a:t>
            </a:r>
            <a:r>
              <a:rPr lang="en-US" altLang="zh-TW" dirty="0">
                <a:ea typeface="新細明體" pitchFamily="18" charset="-120"/>
                <a:sym typeface="Symbol" pitchFamily="18" charset="2"/>
              </a:rPr>
              <a:t></a:t>
            </a:r>
            <a:r>
              <a:rPr lang="en-US" altLang="zh-TW" i="1" dirty="0">
                <a:ea typeface="新細明體" pitchFamily="18" charset="-120"/>
              </a:rPr>
              <a:t> q   </a:t>
            </a:r>
            <a:r>
              <a:rPr lang="en-US" altLang="zh-TW" dirty="0">
                <a:ea typeface="新細明體" pitchFamily="18" charset="-120"/>
              </a:rPr>
              <a:t>does </a:t>
            </a:r>
            <a:r>
              <a:rPr lang="en-US" altLang="zh-TW" b="1" dirty="0">
                <a:ea typeface="新細明體" pitchFamily="18" charset="-120"/>
              </a:rPr>
              <a:t>not </a:t>
            </a:r>
            <a:r>
              <a:rPr lang="en-US" altLang="zh-TW" dirty="0">
                <a:ea typeface="新細明體" pitchFamily="18" charset="-120"/>
              </a:rPr>
              <a:t>say</a:t>
            </a:r>
            <a:br>
              <a:rPr lang="en-US" altLang="zh-TW" dirty="0">
                <a:ea typeface="新細明體" pitchFamily="18" charset="-120"/>
              </a:rPr>
            </a:br>
            <a:r>
              <a:rPr lang="en-US" altLang="zh-TW" dirty="0">
                <a:ea typeface="新細明體" pitchFamily="18" charset="-120"/>
              </a:rPr>
              <a:t>that </a:t>
            </a:r>
            <a:r>
              <a:rPr lang="en-US" altLang="zh-TW" i="1" dirty="0">
                <a:ea typeface="新細明體" pitchFamily="18" charset="-120"/>
              </a:rPr>
              <a:t>p</a:t>
            </a:r>
            <a:r>
              <a:rPr lang="en-US" altLang="zh-TW" dirty="0">
                <a:ea typeface="新細明體" pitchFamily="18" charset="-120"/>
              </a:rPr>
              <a:t> </a:t>
            </a:r>
            <a:r>
              <a:rPr lang="en-US" altLang="zh-TW" u="sng" dirty="0">
                <a:ea typeface="新細明體" pitchFamily="18" charset="-120"/>
              </a:rPr>
              <a:t>causes</a:t>
            </a:r>
            <a:r>
              <a:rPr lang="en-US" altLang="zh-TW" dirty="0">
                <a:ea typeface="新細明體" pitchFamily="18" charset="-120"/>
              </a:rPr>
              <a:t> </a:t>
            </a:r>
            <a:r>
              <a:rPr lang="en-US" altLang="zh-TW" i="1" dirty="0">
                <a:ea typeface="新細明體" pitchFamily="18" charset="-120"/>
              </a:rPr>
              <a:t>q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i="1" dirty="0">
                <a:ea typeface="新細明體" pitchFamily="18" charset="-120"/>
              </a:rPr>
              <a:t>p </a:t>
            </a:r>
            <a:r>
              <a:rPr lang="en-US" altLang="zh-TW" dirty="0">
                <a:ea typeface="新細明體" pitchFamily="18" charset="-120"/>
                <a:sym typeface="Symbol" pitchFamily="18" charset="2"/>
              </a:rPr>
              <a:t></a:t>
            </a:r>
            <a:r>
              <a:rPr lang="en-US" altLang="zh-TW" i="1" dirty="0">
                <a:ea typeface="新細明體" pitchFamily="18" charset="-120"/>
              </a:rPr>
              <a:t> q   </a:t>
            </a:r>
            <a:r>
              <a:rPr lang="en-US" altLang="zh-TW" dirty="0">
                <a:ea typeface="新細明體" pitchFamily="18" charset="-120"/>
              </a:rPr>
              <a:t>does </a:t>
            </a:r>
            <a:r>
              <a:rPr lang="en-US" altLang="zh-TW" b="1" dirty="0">
                <a:ea typeface="新細明體" pitchFamily="18" charset="-120"/>
              </a:rPr>
              <a:t>not </a:t>
            </a:r>
            <a:r>
              <a:rPr lang="en-US" altLang="zh-TW" dirty="0">
                <a:ea typeface="新細明體" pitchFamily="18" charset="-120"/>
              </a:rPr>
              <a:t>require</a:t>
            </a:r>
            <a:br>
              <a:rPr lang="en-US" altLang="zh-TW" dirty="0">
                <a:ea typeface="新細明體" pitchFamily="18" charset="-120"/>
              </a:rPr>
            </a:br>
            <a:r>
              <a:rPr lang="en-US" altLang="zh-TW" dirty="0">
                <a:ea typeface="新細明體" pitchFamily="18" charset="-120"/>
              </a:rPr>
              <a:t>that </a:t>
            </a:r>
            <a:r>
              <a:rPr lang="en-US" altLang="zh-TW" i="1" dirty="0">
                <a:ea typeface="新細明體" pitchFamily="18" charset="-120"/>
              </a:rPr>
              <a:t>p</a:t>
            </a:r>
            <a:r>
              <a:rPr lang="en-US" altLang="zh-TW" dirty="0">
                <a:ea typeface="新細明體" pitchFamily="18" charset="-120"/>
              </a:rPr>
              <a:t> or </a:t>
            </a:r>
            <a:r>
              <a:rPr lang="en-US" altLang="zh-TW" i="1" dirty="0">
                <a:ea typeface="新細明體" pitchFamily="18" charset="-120"/>
              </a:rPr>
              <a:t>q</a:t>
            </a:r>
            <a:r>
              <a:rPr lang="en-US" altLang="zh-TW" dirty="0">
                <a:ea typeface="新細明體" pitchFamily="18" charset="-120"/>
              </a:rPr>
              <a:t> </a:t>
            </a:r>
            <a:r>
              <a:rPr lang="en-US" altLang="zh-TW" b="1" u="sng" dirty="0">
                <a:ea typeface="新細明體" pitchFamily="18" charset="-120"/>
              </a:rPr>
              <a:t>are ever true</a:t>
            </a:r>
            <a:r>
              <a:rPr lang="en-US" altLang="zh-TW" dirty="0">
                <a:ea typeface="新細明體" pitchFamily="18" charset="-120"/>
              </a:rPr>
              <a:t>!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p </a:t>
            </a:r>
            <a:r>
              <a:rPr lang="en-US" altLang="zh-TW" dirty="0">
                <a:sym typeface="Symbol" pitchFamily="18" charset="2"/>
              </a:rPr>
              <a:t></a:t>
            </a:r>
            <a:r>
              <a:rPr lang="en-US" altLang="zh-TW" dirty="0"/>
              <a:t> q is equivalent to </a:t>
            </a:r>
            <a:r>
              <a:rPr lang="en-US" altLang="zh-TW" b="1" dirty="0"/>
              <a:t>p </a:t>
            </a:r>
            <a:r>
              <a:rPr lang="en-US" altLang="zh-TW" b="1" dirty="0">
                <a:sym typeface="Symbol" panose="05050102010706020507" pitchFamily="18" charset="2"/>
              </a:rPr>
              <a:t></a:t>
            </a:r>
            <a:r>
              <a:rPr lang="en-US" altLang="zh-TW" b="1" dirty="0"/>
              <a:t> q </a:t>
            </a:r>
          </a:p>
          <a:p>
            <a:pPr lvl="1"/>
            <a:endParaRPr lang="en-US" altLang="zh-TW" dirty="0">
              <a:ea typeface="新細明體" pitchFamily="18" charset="-120"/>
            </a:endParaRPr>
          </a:p>
          <a:p>
            <a:pPr lvl="1"/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875020"/>
              </p:ext>
            </p:extLst>
          </p:nvPr>
        </p:nvGraphicFramePr>
        <p:xfrm>
          <a:off x="6655031" y="2098589"/>
          <a:ext cx="3371850" cy="250980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123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en-US" sz="24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</a:t>
                      </a:r>
                      <a:endParaRPr sz="2400" i="1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lang="en-US" sz="24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</a:t>
                      </a:r>
                      <a:endParaRPr sz="2400" i="1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 </a:t>
                      </a:r>
                      <a:r>
                        <a:rPr lang="en-US" altLang="zh-TW" sz="2400" i="0" dirty="0">
                          <a:ea typeface="新細明體" pitchFamily="18" charset="-120"/>
                          <a:sym typeface="Symbol" pitchFamily="18" charset="2"/>
                        </a:rPr>
                        <a:t></a:t>
                      </a:r>
                      <a:r>
                        <a:rPr lang="en-US" altLang="en-US" sz="2400" b="1" i="1" dirty="0">
                          <a:latin typeface="Cambria" panose="02040503050406030204" pitchFamily="18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US" sz="24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 </a:t>
                      </a:r>
                      <a:endParaRPr lang="en-US" sz="2400" i="1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95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lang="en-US" sz="2400" b="1" dirty="0">
                          <a:latin typeface="+mn-lt"/>
                          <a:cs typeface="Arial"/>
                        </a:rPr>
                        <a:t>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959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lang="en-US" sz="2400" b="1" dirty="0">
                          <a:latin typeface="+mn-lt"/>
                          <a:cs typeface="Arial"/>
                        </a:rPr>
                        <a:t>T</a:t>
                      </a:r>
                      <a:endParaRPr sz="24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95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sz="2400" b="1" dirty="0">
                          <a:latin typeface="+mn-lt"/>
                          <a:cs typeface="Arial"/>
                        </a:rPr>
                        <a:t>F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974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lang="en-US" sz="2400" b="1" dirty="0">
                          <a:latin typeface="+mn-lt"/>
                          <a:cs typeface="Arial"/>
                        </a:rPr>
                        <a:t>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FA4470D3-C137-4066-A7B6-8D12D7C13D6A}"/>
              </a:ext>
            </a:extLst>
          </p:cNvPr>
          <p:cNvGrpSpPr/>
          <p:nvPr/>
        </p:nvGrpSpPr>
        <p:grpSpPr>
          <a:xfrm>
            <a:off x="10026881" y="3576424"/>
            <a:ext cx="1416970" cy="533400"/>
            <a:chOff x="9394373" y="3962400"/>
            <a:chExt cx="1030888" cy="533400"/>
          </a:xfrm>
        </p:grpSpPr>
        <p:sp>
          <p:nvSpPr>
            <p:cNvPr id="6" name="AutoShape 6">
              <a:extLst>
                <a:ext uri="{FF2B5EF4-FFF2-40B4-BE49-F238E27FC236}">
                  <a16:creationId xmlns:a16="http://schemas.microsoft.com/office/drawing/2014/main" id="{63D2A031-E0DE-4A9E-B6D1-407CC10F0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4373" y="3962400"/>
              <a:ext cx="228600" cy="533400"/>
            </a:xfrm>
            <a:prstGeom prst="rightBrace">
              <a:avLst>
                <a:gd name="adj1" fmla="val 16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1"/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87A457F8-A41A-4670-AA7C-B8C5E5A03B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7049" y="3975056"/>
              <a:ext cx="708212" cy="508088"/>
            </a:xfrm>
            <a:prstGeom prst="rect">
              <a:avLst/>
            </a:prstGeom>
            <a:solidFill>
              <a:srgbClr val="FFFF00"/>
            </a:solidFill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r>
                <a:rPr lang="en-US" altLang="zh-TW" sz="1351" dirty="0">
                  <a:solidFill>
                    <a:schemeClr val="tx1"/>
                  </a:solidFill>
                  <a:ea typeface="新細明體" pitchFamily="18" charset="-120"/>
                </a:rPr>
                <a:t>The </a:t>
              </a:r>
              <a:r>
                <a:rPr lang="en-US" altLang="zh-TW" sz="1351" u="sng" dirty="0">
                  <a:solidFill>
                    <a:schemeClr val="tx1"/>
                  </a:solidFill>
                  <a:latin typeface="Cambria" panose="02040503050406030204" pitchFamily="18" charset="0"/>
                  <a:ea typeface="新細明體" pitchFamily="18" charset="-120"/>
                </a:rPr>
                <a:t>only</a:t>
              </a:r>
              <a:br>
                <a:rPr lang="en-US" altLang="zh-TW" sz="1351" dirty="0">
                  <a:solidFill>
                    <a:schemeClr val="tx1"/>
                  </a:solidFill>
                  <a:ea typeface="新細明體" pitchFamily="18" charset="-120"/>
                </a:rPr>
              </a:br>
              <a:r>
                <a:rPr lang="en-US" altLang="zh-TW" sz="1351" dirty="0">
                  <a:solidFill>
                    <a:schemeClr val="tx1"/>
                  </a:solidFill>
                  <a:latin typeface="Cambria" panose="02040503050406030204" pitchFamily="18" charset="0"/>
                  <a:ea typeface="新細明體" pitchFamily="18" charset="-120"/>
                </a:rPr>
                <a:t>False case</a:t>
              </a:r>
              <a:r>
                <a:rPr lang="en-US" altLang="zh-TW" sz="1351" dirty="0">
                  <a:solidFill>
                    <a:schemeClr val="tx1"/>
                  </a:solidFill>
                  <a:ea typeface="新細明體" pitchFamily="18" charset="-120"/>
                </a:rPr>
                <a:t>!</a:t>
              </a: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8D046-3F21-4C20-B357-4AB38CDCF384}" type="datetime1">
              <a:rPr lang="en-US" smtClean="0"/>
              <a:t>6/18/2023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1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新細明體" pitchFamily="18" charset="-120"/>
              </a:rPr>
              <a:t>The Implication Operator (</a:t>
            </a:r>
            <a:r>
              <a:rPr lang="en-US" altLang="zh-TW" dirty="0">
                <a:ea typeface="新細明體" pitchFamily="18" charset="-120"/>
                <a:sym typeface="Symbol" pitchFamily="18" charset="2"/>
              </a:rPr>
              <a:t>implies</a:t>
            </a:r>
            <a:r>
              <a:rPr lang="en-US" altLang="zh-TW" dirty="0">
                <a:ea typeface="新細明體" pitchFamily="18" charset="-120"/>
              </a:rPr>
              <a:t>) “</a:t>
            </a:r>
            <a:r>
              <a:rPr lang="en-US" altLang="zh-TW" dirty="0">
                <a:ea typeface="新細明體" pitchFamily="18" charset="-120"/>
                <a:sym typeface="Symbol" pitchFamily="18" charset="2"/>
              </a:rPr>
              <a:t>”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a typeface="新細明體" pitchFamily="18" charset="-120"/>
              </a:rPr>
              <a:t>Examples of Implications</a:t>
            </a:r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04800" y="1836021"/>
            <a:ext cx="7890510" cy="430188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04792" indent="-228594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-304792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6063" indent="-226478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1007" indent="-234945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7485" indent="-226478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altLang="zh-TW" sz="2800" dirty="0">
                <a:ea typeface="新細明體" pitchFamily="18" charset="-120"/>
              </a:rPr>
              <a:t>If this lecture ever ends, </a:t>
            </a:r>
            <a:r>
              <a:rPr lang="en-US" altLang="zh-TW" sz="2800" i="1" dirty="0">
                <a:solidFill>
                  <a:srgbClr val="C00000"/>
                </a:solidFill>
                <a:ea typeface="新細明體" pitchFamily="18" charset="-120"/>
              </a:rPr>
              <a:t>then</a:t>
            </a:r>
            <a:r>
              <a:rPr lang="en-US" altLang="zh-TW" sz="2800" dirty="0">
                <a:ea typeface="新細明體" pitchFamily="18" charset="-120"/>
              </a:rPr>
              <a:t> the sun will rise tomorrow.” [</a:t>
            </a:r>
            <a:r>
              <a:rPr lang="en-US" altLang="zh-TW" sz="2800" dirty="0">
                <a:solidFill>
                  <a:srgbClr val="00B050"/>
                </a:solidFill>
                <a:ea typeface="新細明體" pitchFamily="18" charset="-120"/>
              </a:rPr>
              <a:t>True</a:t>
            </a:r>
            <a:r>
              <a:rPr lang="en-US" altLang="zh-TW" sz="2800" dirty="0">
                <a:ea typeface="新細明體" pitchFamily="18" charset="-120"/>
              </a:rPr>
              <a:t>]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altLang="zh-TW" sz="2800" dirty="0">
                <a:ea typeface="新細明體" pitchFamily="18" charset="-120"/>
              </a:rPr>
              <a:t>“If Tuesday is a day of the week, </a:t>
            </a:r>
            <a:r>
              <a:rPr lang="en-US" altLang="zh-TW" sz="2800" i="1" dirty="0">
                <a:solidFill>
                  <a:srgbClr val="C00000"/>
                </a:solidFill>
                <a:ea typeface="新細明體" pitchFamily="18" charset="-120"/>
              </a:rPr>
              <a:t>then</a:t>
            </a:r>
            <a:r>
              <a:rPr lang="en-US" altLang="zh-TW" sz="2800" dirty="0">
                <a:ea typeface="新細明體" pitchFamily="18" charset="-120"/>
              </a:rPr>
              <a:t> I am a penguin.” [</a:t>
            </a:r>
            <a:r>
              <a:rPr lang="en-US" altLang="zh-TW" sz="2800" dirty="0">
                <a:solidFill>
                  <a:srgbClr val="FF0000"/>
                </a:solidFill>
                <a:ea typeface="新細明體" pitchFamily="18" charset="-120"/>
              </a:rPr>
              <a:t>False</a:t>
            </a:r>
            <a:r>
              <a:rPr lang="en-US" altLang="zh-TW" sz="2800" dirty="0">
                <a:ea typeface="新細明體" pitchFamily="18" charset="-120"/>
              </a:rPr>
              <a:t>]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altLang="zh-TW" sz="2800" dirty="0">
                <a:ea typeface="新細明體" pitchFamily="18" charset="-120"/>
              </a:rPr>
              <a:t>“If the moon is made of green cheese, </a:t>
            </a:r>
            <a:r>
              <a:rPr lang="en-US" altLang="zh-TW" sz="2800" i="1" dirty="0">
                <a:solidFill>
                  <a:srgbClr val="C00000"/>
                </a:solidFill>
                <a:ea typeface="新細明體" pitchFamily="18" charset="-120"/>
              </a:rPr>
              <a:t>then</a:t>
            </a:r>
            <a:r>
              <a:rPr lang="en-US" altLang="zh-TW" sz="2800" dirty="0">
                <a:ea typeface="新細明體" pitchFamily="18" charset="-120"/>
              </a:rPr>
              <a:t> I am richer than Bill Gates.” [</a:t>
            </a:r>
            <a:r>
              <a:rPr lang="en-US" altLang="zh-TW" sz="2800" dirty="0">
                <a:solidFill>
                  <a:srgbClr val="00B050"/>
                </a:solidFill>
                <a:ea typeface="新細明體" pitchFamily="18" charset="-120"/>
              </a:rPr>
              <a:t>True</a:t>
            </a:r>
            <a:r>
              <a:rPr lang="en-US" altLang="zh-TW" sz="2800" dirty="0">
                <a:ea typeface="新細明體" pitchFamily="18" charset="-120"/>
              </a:rPr>
              <a:t>]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endParaRPr lang="en-US" altLang="zh-TW" sz="2800" dirty="0">
              <a:solidFill>
                <a:schemeClr val="accent2"/>
              </a:solidFill>
              <a:ea typeface="新細明體" pitchFamily="18" charset="-120"/>
            </a:endParaRP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133689"/>
              </p:ext>
            </p:extLst>
          </p:nvPr>
        </p:nvGraphicFramePr>
        <p:xfrm>
          <a:off x="8515350" y="1867884"/>
          <a:ext cx="3371850" cy="250980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123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 </a:t>
                      </a:r>
                      <a:r>
                        <a:rPr lang="en-US" altLang="zh-TW" sz="2400" dirty="0">
                          <a:ea typeface="新細明體" pitchFamily="18" charset="-120"/>
                          <a:sym typeface="Symbol" pitchFamily="18" charset="2"/>
                        </a:rPr>
                        <a:t></a:t>
                      </a:r>
                      <a:r>
                        <a:rPr lang="en-US" altLang="en-US" sz="2400" b="1" dirty="0">
                          <a:latin typeface="Cambria" panose="02040503050406030204" pitchFamily="18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 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95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lang="en-US" altLang="en-US" sz="2400" b="1" dirty="0"/>
                        <a:t>T</a:t>
                      </a:r>
                      <a:endParaRPr lang="en-US" sz="24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959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lang="en-US" altLang="en-US" sz="2400" b="1" dirty="0"/>
                        <a:t>T</a:t>
                      </a:r>
                      <a:endParaRPr sz="24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95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b="1" dirty="0"/>
                        <a:t>F</a:t>
                      </a:r>
                      <a:endParaRPr lang="en-US" sz="24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974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lang="en-US" altLang="en-US" sz="2400" b="1" dirty="0"/>
                        <a:t>T</a:t>
                      </a:r>
                      <a:endParaRPr lang="en-US" sz="24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D86D-EE3D-4C9E-9461-9AA9A8912244}" type="datetime1">
              <a:rPr lang="en-US" smtClean="0"/>
              <a:t>6/18/2023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7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99633-EE6A-4909-8356-8CD57CF16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English Phrases for </a:t>
            </a:r>
            <a:r>
              <a:rPr lang="en-US" altLang="zh-TW" b="1" dirty="0"/>
              <a:t>p </a:t>
            </a:r>
            <a:r>
              <a:rPr lang="en-US" altLang="zh-TW" b="1" dirty="0">
                <a:sym typeface="Symbol" pitchFamily="18" charset="2"/>
              </a:rPr>
              <a:t> q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BCF7E-FA62-4315-A5B1-C1C24A911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BEC4-B835-4E55-9D7F-50B76A3ED418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A1595-B87B-4074-91DA-DDE9E01AE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96EA1-607A-44BE-B2CC-E289E405B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84E68-CE57-44C0-BE0F-84C629DF22D5}" type="slidenum">
              <a:rPr lang="en-US" smtClean="0"/>
              <a:t>28</a:t>
            </a:fld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D26DE10-8B95-4B6A-A45E-34BD15AAE5D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04800" y="1193800"/>
            <a:ext cx="3971636" cy="3860799"/>
          </a:xfrm>
        </p:spPr>
        <p:txBody>
          <a:bodyPr/>
          <a:lstStyle/>
          <a:p>
            <a:r>
              <a:rPr lang="en-US" altLang="zh-TW" sz="2800" dirty="0"/>
              <a:t>“p implies q”</a:t>
            </a:r>
          </a:p>
          <a:p>
            <a:r>
              <a:rPr lang="en-US" altLang="zh-TW" sz="2800" dirty="0"/>
              <a:t>“if p, then q”</a:t>
            </a:r>
          </a:p>
          <a:p>
            <a:r>
              <a:rPr lang="en-US" altLang="zh-TW" sz="2800" dirty="0"/>
              <a:t>“if p, q”</a:t>
            </a:r>
          </a:p>
          <a:p>
            <a:r>
              <a:rPr lang="en-US" altLang="zh-TW" sz="2800" dirty="0"/>
              <a:t>“when p, q”</a:t>
            </a:r>
          </a:p>
          <a:p>
            <a:r>
              <a:rPr lang="en-US" altLang="zh-TW" sz="2800" dirty="0"/>
              <a:t>“whenever p, q”</a:t>
            </a:r>
          </a:p>
          <a:p>
            <a:r>
              <a:rPr lang="en-US" altLang="zh-TW" sz="2800" dirty="0"/>
              <a:t>“p only if q” </a:t>
            </a:r>
          </a:p>
          <a:p>
            <a:r>
              <a:rPr lang="en-US" altLang="zh-TW" sz="2800" dirty="0"/>
              <a:t>“p is sufficient for q”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1D33D271-5F04-44A6-94A4-6E812AFA1F30}"/>
              </a:ext>
            </a:extLst>
          </p:cNvPr>
          <p:cNvSpPr txBox="1">
            <a:spLocks noChangeArrowheads="1"/>
          </p:cNvSpPr>
          <p:nvPr/>
        </p:nvSpPr>
        <p:spPr>
          <a:xfrm>
            <a:off x="4014557" y="1176587"/>
            <a:ext cx="3448972" cy="3878012"/>
          </a:xfrm>
          <a:prstGeom prst="rect">
            <a:avLst/>
          </a:prstGeom>
        </p:spPr>
        <p:txBody>
          <a:bodyPr/>
          <a:lstStyle>
            <a:lvl1pPr marL="91438" indent="-91438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4038" indent="-182875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14" indent="-182875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49789" indent="-182875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665" indent="-182875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zh-TW" sz="2800" dirty="0"/>
              <a:t>“q is implied by p”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TW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800" dirty="0"/>
              <a:t>“q if p”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800" dirty="0"/>
              <a:t>“q when p”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800" dirty="0"/>
              <a:t>“q whenever p”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800" dirty="0"/>
              <a:t>“q is necessary for p”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800" dirty="0"/>
              <a:t>“q follows from p”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TW" sz="2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E15676-E7BA-4C13-8A53-A060B4570A50}"/>
              </a:ext>
            </a:extLst>
          </p:cNvPr>
          <p:cNvSpPr/>
          <p:nvPr/>
        </p:nvSpPr>
        <p:spPr>
          <a:xfrm>
            <a:off x="571731" y="5248701"/>
            <a:ext cx="103346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ea typeface="Cambria" panose="02040503050406030204" pitchFamily="18" charset="0"/>
              </a:rPr>
              <a:t>“</a:t>
            </a:r>
            <a:r>
              <a:rPr lang="en-US" sz="2400" i="1" dirty="0">
                <a:solidFill>
                  <a:srgbClr val="FF0000"/>
                </a:solidFill>
                <a:ea typeface="Cambria" panose="02040503050406030204" pitchFamily="18" charset="0"/>
              </a:rPr>
              <a:t>p </a:t>
            </a:r>
            <a:r>
              <a:rPr lang="en-US" sz="2400" dirty="0">
                <a:solidFill>
                  <a:srgbClr val="FF0000"/>
                </a:solidFill>
                <a:ea typeface="Cambria" panose="02040503050406030204" pitchFamily="18" charset="0"/>
              </a:rPr>
              <a:t>only if </a:t>
            </a:r>
            <a:r>
              <a:rPr lang="en-US" sz="2400" i="1" dirty="0">
                <a:solidFill>
                  <a:srgbClr val="FF0000"/>
                </a:solidFill>
                <a:ea typeface="Cambria" panose="02040503050406030204" pitchFamily="18" charset="0"/>
              </a:rPr>
              <a:t>q</a:t>
            </a:r>
            <a:r>
              <a:rPr lang="en-US" sz="2400" dirty="0">
                <a:solidFill>
                  <a:srgbClr val="FF0000"/>
                </a:solidFill>
                <a:ea typeface="Cambria" panose="02040503050406030204" pitchFamily="18" charset="0"/>
              </a:rPr>
              <a:t>” </a:t>
            </a:r>
            <a:r>
              <a:rPr lang="en-US" sz="2400" dirty="0">
                <a:ea typeface="Cambria" panose="02040503050406030204" pitchFamily="18" charset="0"/>
              </a:rPr>
              <a:t>and</a:t>
            </a:r>
            <a:r>
              <a:rPr lang="en-US" sz="2400" dirty="0">
                <a:solidFill>
                  <a:srgbClr val="FF0000"/>
                </a:solidFill>
                <a:ea typeface="Cambria" panose="020405030504060302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ea typeface="Cambria" panose="02040503050406030204" pitchFamily="18" charset="0"/>
              </a:rPr>
              <a:t>“q is necessary for p” </a:t>
            </a:r>
            <a:r>
              <a:rPr lang="en-US" sz="2400" dirty="0">
                <a:ea typeface="Cambria" panose="02040503050406030204" pitchFamily="18" charset="0"/>
              </a:rPr>
              <a:t>mean that </a:t>
            </a:r>
            <a:r>
              <a:rPr lang="en-US" sz="2400" i="1" dirty="0">
                <a:ea typeface="Cambria" panose="02040503050406030204" pitchFamily="18" charset="0"/>
              </a:rPr>
              <a:t>p </a:t>
            </a:r>
            <a:r>
              <a:rPr lang="en-US" sz="2400" dirty="0">
                <a:ea typeface="Cambria" panose="02040503050406030204" pitchFamily="18" charset="0"/>
              </a:rPr>
              <a:t>cannot be true when </a:t>
            </a:r>
            <a:r>
              <a:rPr lang="en-US" sz="2400" i="1" dirty="0">
                <a:ea typeface="Cambria" panose="02040503050406030204" pitchFamily="18" charset="0"/>
              </a:rPr>
              <a:t>q </a:t>
            </a:r>
            <a:r>
              <a:rPr lang="en-US" sz="2400" dirty="0">
                <a:ea typeface="Cambria" panose="02040503050406030204" pitchFamily="18" charset="0"/>
              </a:rPr>
              <a:t>is not true. That is, the statement is false if </a:t>
            </a:r>
            <a:r>
              <a:rPr lang="en-US" sz="2400" i="1" dirty="0">
                <a:ea typeface="Cambria" panose="02040503050406030204" pitchFamily="18" charset="0"/>
              </a:rPr>
              <a:t>p </a:t>
            </a:r>
            <a:r>
              <a:rPr lang="en-US" sz="2400" dirty="0">
                <a:ea typeface="Cambria" panose="02040503050406030204" pitchFamily="18" charset="0"/>
              </a:rPr>
              <a:t>is true, but </a:t>
            </a:r>
            <a:r>
              <a:rPr lang="en-US" sz="2400" i="1" dirty="0">
                <a:ea typeface="Cambria" panose="02040503050406030204" pitchFamily="18" charset="0"/>
              </a:rPr>
              <a:t>q </a:t>
            </a:r>
            <a:r>
              <a:rPr lang="en-US" sz="2400" dirty="0">
                <a:ea typeface="Cambria" panose="02040503050406030204" pitchFamily="18" charset="0"/>
              </a:rPr>
              <a:t>is false. 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C222D40-F7FE-4418-BC68-93AFEB9680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274092"/>
              </p:ext>
            </p:extLst>
          </p:nvPr>
        </p:nvGraphicFramePr>
        <p:xfrm>
          <a:off x="8247495" y="1869295"/>
          <a:ext cx="3371850" cy="250980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123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 </a:t>
                      </a:r>
                      <a:r>
                        <a:rPr lang="en-US" altLang="zh-TW" sz="2400" dirty="0">
                          <a:ea typeface="新細明體" pitchFamily="18" charset="-120"/>
                          <a:sym typeface="Symbol" pitchFamily="18" charset="2"/>
                        </a:rPr>
                        <a:t></a:t>
                      </a:r>
                      <a:r>
                        <a:rPr lang="en-US" altLang="en-US" sz="2400" b="1" dirty="0">
                          <a:latin typeface="Cambria" panose="02040503050406030204" pitchFamily="18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 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95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lang="en-US" altLang="en-US" sz="2400" b="1" dirty="0"/>
                        <a:t>T</a:t>
                      </a:r>
                      <a:endParaRPr lang="en-US" sz="24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959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lang="en-US" altLang="en-US" sz="2400" b="1" dirty="0"/>
                        <a:t>T</a:t>
                      </a:r>
                      <a:endParaRPr sz="24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95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b="1" dirty="0"/>
                        <a:t>F</a:t>
                      </a:r>
                      <a:endParaRPr lang="en-US" sz="24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974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lang="en-US" altLang="en-US" sz="2400" b="1" dirty="0"/>
                        <a:t>T</a:t>
                      </a:r>
                      <a:endParaRPr lang="en-US" sz="24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1306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animBg="1"/>
      <p:bldP spid="10" grpId="0" uiExpand="1" build="p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Examples  of  English uses of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If you get 100% in the final, you will get an A+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You get 100% in the final </a:t>
            </a:r>
            <a:r>
              <a:rPr lang="en-US" sz="2800" dirty="0">
                <a:solidFill>
                  <a:srgbClr val="C00000"/>
                </a:solidFill>
              </a:rPr>
              <a:t>is sufficient </a:t>
            </a:r>
            <a:r>
              <a:rPr lang="en-US" sz="2800" dirty="0"/>
              <a:t>to get an A+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A </a:t>
            </a:r>
            <a:r>
              <a:rPr lang="en-US" sz="2800" dirty="0">
                <a:solidFill>
                  <a:srgbClr val="C00000"/>
                </a:solidFill>
              </a:rPr>
              <a:t>sufficient condition </a:t>
            </a:r>
            <a:r>
              <a:rPr lang="en-US" sz="2800" dirty="0"/>
              <a:t>to get an A+ is to get 100% in the final 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You get an A+ is </a:t>
            </a:r>
            <a:r>
              <a:rPr lang="en-US" sz="2800" dirty="0">
                <a:solidFill>
                  <a:srgbClr val="C00000"/>
                </a:solidFill>
              </a:rPr>
              <a:t>necessary</a:t>
            </a:r>
            <a:r>
              <a:rPr lang="en-US" sz="2800" dirty="0"/>
              <a:t> for you to get 100% in the final (but not sufficient)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A </a:t>
            </a:r>
            <a:r>
              <a:rPr lang="en-US" sz="2800" dirty="0">
                <a:solidFill>
                  <a:srgbClr val="C00000"/>
                </a:solidFill>
              </a:rPr>
              <a:t>necessary condition </a:t>
            </a:r>
            <a:r>
              <a:rPr lang="en-US" sz="2800" dirty="0"/>
              <a:t>for you to get 100% is you get an A+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Imagine that you know your letter grade and you are trying to guess your grade in the final:</a:t>
            </a:r>
          </a:p>
          <a:p>
            <a:pPr lvl="2">
              <a:lnSpc>
                <a:spcPct val="100000"/>
              </a:lnSpc>
            </a:pPr>
            <a:r>
              <a:rPr lang="en-US" sz="2267" dirty="0"/>
              <a:t>If you did not get A+ then for sure you didn't get 100%</a:t>
            </a:r>
          </a:p>
          <a:p>
            <a:pPr lvl="2">
              <a:lnSpc>
                <a:spcPct val="100000"/>
              </a:lnSpc>
            </a:pPr>
            <a:r>
              <a:rPr lang="en-US" sz="2267" dirty="0"/>
              <a:t>If you get A+ then you may or may not get 100%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93946-E449-4F1F-8512-6A5444F61638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29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13D94C2-50AD-46A9-8281-C7D3D87C9944}"/>
              </a:ext>
            </a:extLst>
          </p:cNvPr>
          <p:cNvGrpSpPr/>
          <p:nvPr/>
        </p:nvGrpSpPr>
        <p:grpSpPr>
          <a:xfrm>
            <a:off x="1015999" y="837576"/>
            <a:ext cx="4100945" cy="521501"/>
            <a:chOff x="-337648" y="1004889"/>
            <a:chExt cx="5467927" cy="695334"/>
          </a:xfrm>
        </p:grpSpPr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6BE3FB10-B0A9-4DE1-A578-66CE242057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1004889"/>
              <a:ext cx="389424" cy="430887"/>
            </a:xfrm>
            <a:prstGeom prst="rect">
              <a:avLst/>
            </a:prstGeom>
            <a:solidFill>
              <a:srgbClr val="92D050"/>
            </a:solidFill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n-US" altLang="zh-TW" sz="1500" dirty="0">
                  <a:latin typeface="Cambria" panose="02040503050406030204" pitchFamily="18" charset="0"/>
                  <a:ea typeface="新細明體" pitchFamily="18" charset="-120"/>
                </a:rPr>
                <a:t>p</a:t>
              </a:r>
            </a:p>
          </p:txBody>
        </p:sp>
        <p:sp>
          <p:nvSpPr>
            <p:cNvPr id="10" name="AutoShape 7">
              <a:extLst>
                <a:ext uri="{FF2B5EF4-FFF2-40B4-BE49-F238E27FC236}">
                  <a16:creationId xmlns:a16="http://schemas.microsoft.com/office/drawing/2014/main" id="{7457383E-4E2A-4558-95D7-14F199B3D1E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315348" y="-1114708"/>
              <a:ext cx="161935" cy="5467927"/>
            </a:xfrm>
            <a:prstGeom prst="leftBrace">
              <a:avLst>
                <a:gd name="adj1" fmla="val 11111"/>
                <a:gd name="adj2" fmla="val 50000"/>
              </a:avLst>
            </a:prstGeom>
            <a:noFill/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 sz="1500">
                <a:latin typeface="Cambria" panose="02040503050406030204" pitchFamily="18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6E7431-C4E0-4700-9DBE-2CA402AF2950}"/>
              </a:ext>
            </a:extLst>
          </p:cNvPr>
          <p:cNvGrpSpPr/>
          <p:nvPr/>
        </p:nvGrpSpPr>
        <p:grpSpPr>
          <a:xfrm>
            <a:off x="5287818" y="832082"/>
            <a:ext cx="2969492" cy="521501"/>
            <a:chOff x="-337648" y="1004889"/>
            <a:chExt cx="5467927" cy="695334"/>
          </a:xfrm>
        </p:grpSpPr>
        <p:sp>
          <p:nvSpPr>
            <p:cNvPr id="12" name="Text Box 6">
              <a:extLst>
                <a:ext uri="{FF2B5EF4-FFF2-40B4-BE49-F238E27FC236}">
                  <a16:creationId xmlns:a16="http://schemas.microsoft.com/office/drawing/2014/main" id="{DE9A99AF-321A-4E04-ABCB-475A7DEFA7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1004889"/>
              <a:ext cx="537805" cy="430888"/>
            </a:xfrm>
            <a:prstGeom prst="rect">
              <a:avLst/>
            </a:prstGeom>
            <a:solidFill>
              <a:srgbClr val="92D050"/>
            </a:solidFill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r>
                <a:rPr lang="en-US" altLang="zh-TW" sz="1500" dirty="0">
                  <a:latin typeface="Cambria" panose="02040503050406030204" pitchFamily="18" charset="0"/>
                  <a:ea typeface="新細明體" pitchFamily="18" charset="-120"/>
                </a:rPr>
                <a:t>q</a:t>
              </a:r>
            </a:p>
          </p:txBody>
        </p:sp>
        <p:sp>
          <p:nvSpPr>
            <p:cNvPr id="13" name="AutoShape 7">
              <a:extLst>
                <a:ext uri="{FF2B5EF4-FFF2-40B4-BE49-F238E27FC236}">
                  <a16:creationId xmlns:a16="http://schemas.microsoft.com/office/drawing/2014/main" id="{C5273041-8FA8-44C8-B12D-3A1D6E24A7A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315348" y="-1114708"/>
              <a:ext cx="161935" cy="5467927"/>
            </a:xfrm>
            <a:prstGeom prst="leftBrace">
              <a:avLst>
                <a:gd name="adj1" fmla="val 11111"/>
                <a:gd name="adj2" fmla="val 50000"/>
              </a:avLst>
            </a:prstGeom>
            <a:noFill/>
            <a:ln>
              <a:solidFill>
                <a:schemeClr val="tx1"/>
              </a:solidFill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en-US" sz="1500">
                <a:latin typeface="Cambria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6852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Examples  of  English uses of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If you show up on Monday, you will get the job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You show up on Monday is </a:t>
            </a:r>
            <a:r>
              <a:rPr lang="en-US" dirty="0">
                <a:solidFill>
                  <a:srgbClr val="C00000"/>
                </a:solidFill>
              </a:rPr>
              <a:t>sufficient</a:t>
            </a:r>
            <a:r>
              <a:rPr lang="en-US" dirty="0"/>
              <a:t> for you to get the job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sufficient condition </a:t>
            </a:r>
            <a:r>
              <a:rPr lang="en-US" dirty="0"/>
              <a:t>for you to get the job is to show up on Monday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You get the job is </a:t>
            </a:r>
            <a:r>
              <a:rPr lang="en-US" dirty="0">
                <a:solidFill>
                  <a:srgbClr val="C00000"/>
                </a:solidFill>
              </a:rPr>
              <a:t>necessary</a:t>
            </a:r>
            <a:r>
              <a:rPr lang="en-US" dirty="0"/>
              <a:t> for you to show up on Monday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necessary condition </a:t>
            </a:r>
            <a:r>
              <a:rPr lang="en-US" dirty="0"/>
              <a:t>for you to show up on Monday is you get the job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AFB34-59BD-4F47-9BE6-C1E98DA4DE20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8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A9A4-AA01-46A8-9D15-7190E5EA3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Examples  of  English uses of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F53F4-AF83-4AD2-94F0-EAB2AB7FF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You walk 8 miles is </a:t>
            </a:r>
            <a:r>
              <a:rPr lang="en-US" dirty="0">
                <a:solidFill>
                  <a:srgbClr val="C00000"/>
                </a:solidFill>
              </a:rPr>
              <a:t>necessary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to get to the top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Which of the following statements is equivalent?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If you walk 8 miles, then you get to the top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If you got to the top, then you have walked 8 miles </a:t>
            </a:r>
          </a:p>
          <a:p>
            <a:pPr lvl="1">
              <a:lnSpc>
                <a:spcPct val="100000"/>
              </a:lnSpc>
            </a:pP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The first statement is not equivalent, </a:t>
            </a:r>
            <a:r>
              <a:rPr lang="en-US" i="1" dirty="0">
                <a:solidFill>
                  <a:srgbClr val="0000CC"/>
                </a:solidFill>
              </a:rPr>
              <a:t>WHY?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Suppose you walked 8 miles in the wrong direction! 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But if you got to the top then you are sure that you must have walked 8 miles.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2C6D7-4CED-430E-850B-721D4DBB2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85DD6-6D9F-4413-81FC-F12A632DD025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B5B63-5228-4649-A163-E8099D2CA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8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C4526-F5D9-4570-97DF-94200EC84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Converse, Inverse, Contrapositive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A2598-965D-44AB-980C-B1C83B813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ym typeface="Symbol" pitchFamily="18" charset="2"/>
              </a:rPr>
              <a:t>The </a:t>
            </a:r>
            <a:r>
              <a:rPr lang="en-US" altLang="zh-TW" dirty="0">
                <a:solidFill>
                  <a:srgbClr val="C00000"/>
                </a:solidFill>
                <a:sym typeface="Symbol" pitchFamily="18" charset="2"/>
              </a:rPr>
              <a:t>inverse</a:t>
            </a:r>
            <a:r>
              <a:rPr lang="en-US" altLang="zh-TW" dirty="0">
                <a:sym typeface="Symbol" pitchFamily="18" charset="2"/>
              </a:rPr>
              <a:t> of </a:t>
            </a:r>
            <a:r>
              <a:rPr lang="en-US" altLang="zh-TW" i="1" dirty="0"/>
              <a:t>p</a:t>
            </a:r>
            <a:r>
              <a:rPr lang="en-US" altLang="zh-TW" dirty="0"/>
              <a:t> </a:t>
            </a:r>
            <a:r>
              <a:rPr lang="en-US" altLang="zh-TW" dirty="0">
                <a:sym typeface="Symbol" pitchFamily="18" charset="2"/>
              </a:rPr>
              <a:t> </a:t>
            </a:r>
            <a:r>
              <a:rPr lang="en-US" altLang="zh-TW" i="1" dirty="0">
                <a:sym typeface="Symbol" pitchFamily="18" charset="2"/>
              </a:rPr>
              <a:t>q</a:t>
            </a:r>
            <a:r>
              <a:rPr lang="en-US" altLang="zh-TW" dirty="0">
                <a:sym typeface="Symbol" pitchFamily="18" charset="2"/>
              </a:rPr>
              <a:t> is </a:t>
            </a:r>
            <a:r>
              <a:rPr lang="en-US" altLang="zh-TW" dirty="0">
                <a:solidFill>
                  <a:srgbClr val="C00000"/>
                </a:solidFill>
                <a:sym typeface="Symbol" pitchFamily="18" charset="2"/>
              </a:rPr>
              <a:t>¬</a:t>
            </a:r>
            <a:r>
              <a:rPr lang="en-US" altLang="zh-TW" i="1" dirty="0">
                <a:solidFill>
                  <a:srgbClr val="C00000"/>
                </a:solidFill>
                <a:sym typeface="Symbol" pitchFamily="18" charset="2"/>
              </a:rPr>
              <a:t>p</a:t>
            </a:r>
            <a:r>
              <a:rPr lang="en-US" altLang="zh-TW" dirty="0">
                <a:solidFill>
                  <a:srgbClr val="C00000"/>
                </a:solidFill>
                <a:sym typeface="Symbol" pitchFamily="18" charset="2"/>
              </a:rPr>
              <a:t>  ¬</a:t>
            </a:r>
            <a:r>
              <a:rPr lang="en-US" altLang="zh-TW" i="1" dirty="0">
                <a:solidFill>
                  <a:srgbClr val="C00000"/>
                </a:solidFill>
                <a:sym typeface="Symbol" pitchFamily="18" charset="2"/>
              </a:rPr>
              <a:t>q</a:t>
            </a:r>
          </a:p>
          <a:p>
            <a:r>
              <a:rPr lang="en-US" altLang="zh-TW" dirty="0"/>
              <a:t>The </a:t>
            </a:r>
            <a:r>
              <a:rPr lang="en-US" altLang="zh-TW" dirty="0">
                <a:solidFill>
                  <a:srgbClr val="C00000"/>
                </a:solidFill>
              </a:rPr>
              <a:t>converse</a:t>
            </a:r>
            <a:r>
              <a:rPr lang="en-US" altLang="zh-TW" dirty="0"/>
              <a:t> of </a:t>
            </a:r>
            <a:r>
              <a:rPr lang="en-US" altLang="zh-TW" i="1" dirty="0"/>
              <a:t>p</a:t>
            </a:r>
            <a:r>
              <a:rPr lang="en-US" altLang="zh-TW" dirty="0"/>
              <a:t> </a:t>
            </a:r>
            <a:r>
              <a:rPr lang="en-US" altLang="zh-TW" dirty="0">
                <a:sym typeface="Symbol" pitchFamily="18" charset="2"/>
              </a:rPr>
              <a:t> </a:t>
            </a:r>
            <a:r>
              <a:rPr lang="en-US" altLang="zh-TW" i="1" dirty="0">
                <a:sym typeface="Symbol" pitchFamily="18" charset="2"/>
              </a:rPr>
              <a:t>q</a:t>
            </a:r>
            <a:r>
              <a:rPr lang="en-US" altLang="zh-TW" dirty="0">
                <a:sym typeface="Symbol" pitchFamily="18" charset="2"/>
              </a:rPr>
              <a:t> is </a:t>
            </a:r>
            <a:r>
              <a:rPr lang="en-US" altLang="zh-TW" i="1" dirty="0">
                <a:solidFill>
                  <a:srgbClr val="C00000"/>
                </a:solidFill>
              </a:rPr>
              <a:t>q</a:t>
            </a:r>
            <a:r>
              <a:rPr lang="en-US" altLang="zh-TW" dirty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  <a:sym typeface="Symbol" pitchFamily="18" charset="2"/>
              </a:rPr>
              <a:t> </a:t>
            </a:r>
            <a:r>
              <a:rPr lang="en-US" altLang="zh-TW" i="1" dirty="0">
                <a:solidFill>
                  <a:srgbClr val="C00000"/>
                </a:solidFill>
                <a:sym typeface="Symbol" pitchFamily="18" charset="2"/>
              </a:rPr>
              <a:t>p</a:t>
            </a:r>
          </a:p>
          <a:p>
            <a:r>
              <a:rPr lang="en-US" altLang="zh-TW" dirty="0">
                <a:sym typeface="Symbol" pitchFamily="18" charset="2"/>
              </a:rPr>
              <a:t>The </a:t>
            </a:r>
            <a:r>
              <a:rPr lang="en-US" altLang="zh-TW" dirty="0">
                <a:solidFill>
                  <a:srgbClr val="C00000"/>
                </a:solidFill>
                <a:sym typeface="Symbol" pitchFamily="18" charset="2"/>
              </a:rPr>
              <a:t>contrapositive</a:t>
            </a:r>
            <a:r>
              <a:rPr lang="en-US" altLang="zh-TW" dirty="0">
                <a:sym typeface="Symbol" pitchFamily="18" charset="2"/>
              </a:rPr>
              <a:t> of </a:t>
            </a:r>
            <a:r>
              <a:rPr lang="en-US" altLang="zh-TW" i="1" dirty="0"/>
              <a:t>p</a:t>
            </a:r>
            <a:r>
              <a:rPr lang="en-US" altLang="zh-TW" dirty="0"/>
              <a:t> </a:t>
            </a:r>
            <a:r>
              <a:rPr lang="en-US" altLang="zh-TW" dirty="0">
                <a:sym typeface="Symbol" pitchFamily="18" charset="2"/>
              </a:rPr>
              <a:t> </a:t>
            </a:r>
            <a:r>
              <a:rPr lang="en-US" altLang="zh-TW" i="1" dirty="0">
                <a:sym typeface="Symbol" pitchFamily="18" charset="2"/>
              </a:rPr>
              <a:t>q</a:t>
            </a:r>
            <a:r>
              <a:rPr lang="en-US" altLang="zh-TW" dirty="0">
                <a:sym typeface="Symbol" pitchFamily="18" charset="2"/>
              </a:rPr>
              <a:t>  is	</a:t>
            </a:r>
            <a:r>
              <a:rPr lang="en-US" altLang="zh-TW" dirty="0">
                <a:solidFill>
                  <a:srgbClr val="C00000"/>
                </a:solidFill>
              </a:rPr>
              <a:t>¬</a:t>
            </a:r>
            <a:r>
              <a:rPr lang="en-US" altLang="zh-TW" i="1" dirty="0">
                <a:solidFill>
                  <a:srgbClr val="C00000"/>
                </a:solidFill>
              </a:rPr>
              <a:t>q</a:t>
            </a:r>
            <a:r>
              <a:rPr lang="en-US" altLang="zh-TW" dirty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  <a:sym typeface="Symbol" pitchFamily="18" charset="2"/>
              </a:rPr>
              <a:t> </a:t>
            </a:r>
            <a:r>
              <a:rPr lang="en-US" altLang="zh-TW" dirty="0">
                <a:solidFill>
                  <a:srgbClr val="C00000"/>
                </a:solidFill>
              </a:rPr>
              <a:t>¬</a:t>
            </a:r>
            <a:r>
              <a:rPr lang="en-US" altLang="zh-TW" i="1" dirty="0">
                <a:solidFill>
                  <a:srgbClr val="C00000"/>
                </a:solidFill>
              </a:rPr>
              <a:t>p</a:t>
            </a:r>
            <a:r>
              <a:rPr lang="en-US" altLang="zh-TW" dirty="0">
                <a:solidFill>
                  <a:srgbClr val="C00000"/>
                </a:solidFill>
              </a:rPr>
              <a:t> </a:t>
            </a:r>
            <a:r>
              <a:rPr lang="en-US" altLang="zh-TW" dirty="0"/>
              <a:t>(if not q then not p)</a:t>
            </a:r>
          </a:p>
          <a:p>
            <a:r>
              <a:rPr lang="en-US" altLang="zh-TW" dirty="0"/>
              <a:t>One of these three has the same meaning (same truth table)           as </a:t>
            </a:r>
            <a:r>
              <a:rPr lang="en-US" altLang="zh-TW" i="1" dirty="0"/>
              <a:t>p</a:t>
            </a:r>
            <a:r>
              <a:rPr lang="en-US" altLang="zh-TW" dirty="0"/>
              <a:t> </a:t>
            </a:r>
            <a:r>
              <a:rPr lang="en-US" altLang="zh-TW" dirty="0">
                <a:sym typeface="Symbol" pitchFamily="18" charset="2"/>
              </a:rPr>
              <a:t> </a:t>
            </a:r>
            <a:r>
              <a:rPr lang="en-US" altLang="zh-TW" i="1" dirty="0">
                <a:sym typeface="Symbol" pitchFamily="18" charset="2"/>
              </a:rPr>
              <a:t>q</a:t>
            </a:r>
            <a:r>
              <a:rPr lang="en-US" altLang="zh-TW" dirty="0">
                <a:sym typeface="Symbol" pitchFamily="18" charset="2"/>
              </a:rPr>
              <a:t>.  Can you figure out which?</a:t>
            </a:r>
          </a:p>
          <a:p>
            <a:pPr lvl="1"/>
            <a:r>
              <a:rPr lang="en-US" altLang="zh-TW" dirty="0">
                <a:sym typeface="Symbol" pitchFamily="18" charset="2"/>
              </a:rPr>
              <a:t>The </a:t>
            </a:r>
            <a:r>
              <a:rPr lang="en-US" altLang="zh-TW" dirty="0">
                <a:solidFill>
                  <a:srgbClr val="C00000"/>
                </a:solidFill>
                <a:sym typeface="Symbol" pitchFamily="18" charset="2"/>
              </a:rPr>
              <a:t>contrapositive:</a:t>
            </a:r>
            <a:r>
              <a:rPr lang="en-US" altLang="zh-TW" dirty="0"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CC"/>
                </a:solidFill>
              </a:rPr>
              <a:t>¬</a:t>
            </a:r>
            <a:r>
              <a:rPr lang="en-US" altLang="zh-TW" i="1" dirty="0">
                <a:solidFill>
                  <a:srgbClr val="0000CC"/>
                </a:solidFill>
              </a:rPr>
              <a:t>q</a:t>
            </a:r>
            <a:r>
              <a:rPr lang="en-US" altLang="zh-TW" dirty="0">
                <a:solidFill>
                  <a:srgbClr val="0000CC"/>
                </a:solidFill>
              </a:rPr>
              <a:t> </a:t>
            </a:r>
            <a:r>
              <a:rPr lang="en-US" altLang="zh-TW" dirty="0">
                <a:solidFill>
                  <a:srgbClr val="0000CC"/>
                </a:solidFill>
                <a:sym typeface="Symbol" pitchFamily="18" charset="2"/>
              </a:rPr>
              <a:t> </a:t>
            </a:r>
            <a:r>
              <a:rPr lang="en-US" altLang="zh-TW" dirty="0">
                <a:solidFill>
                  <a:srgbClr val="0000CC"/>
                </a:solidFill>
              </a:rPr>
              <a:t>¬</a:t>
            </a:r>
            <a:r>
              <a:rPr lang="en-US" altLang="zh-TW" i="1" dirty="0">
                <a:solidFill>
                  <a:srgbClr val="0000CC"/>
                </a:solidFill>
              </a:rPr>
              <a:t>p</a:t>
            </a:r>
          </a:p>
          <a:p>
            <a:pPr lvl="2"/>
            <a:r>
              <a:rPr lang="en-US" altLang="zh-TW" i="1" dirty="0">
                <a:sym typeface="Symbol" pitchFamily="18" charset="2"/>
              </a:rPr>
              <a:t>the contrapositive is false only when ¬p is false and ¬q is true, that is, only when p is true and q is false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E6EEB-1975-4FC8-8B27-5A88DFF1D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BEC4-B835-4E55-9D7F-50B76A3ED418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564B9-6E2F-45D6-98C3-B4CB46802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5E323-7FCB-41B3-915C-1A332431E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84E68-CE57-44C0-BE0F-84C629DF22D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7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48C51-BC0B-4920-A4B1-C1614725F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Proving Equivalence between </a:t>
            </a:r>
            <a:r>
              <a:rPr lang="en-US" altLang="zh-TW" dirty="0"/>
              <a:t>p </a:t>
            </a:r>
            <a:r>
              <a:rPr lang="en-US" altLang="zh-TW" dirty="0">
                <a:sym typeface="Symbol" pitchFamily="18" charset="2"/>
              </a:rPr>
              <a:t> q  and </a:t>
            </a:r>
            <a:r>
              <a:rPr lang="en-US" altLang="zh-TW" dirty="0"/>
              <a:t>¬q </a:t>
            </a:r>
            <a:r>
              <a:rPr lang="en-US" altLang="zh-TW" dirty="0">
                <a:sym typeface="Symbol" pitchFamily="18" charset="2"/>
              </a:rPr>
              <a:t> </a:t>
            </a:r>
            <a:r>
              <a:rPr lang="en-US" altLang="zh-TW" dirty="0"/>
              <a:t>¬p</a:t>
            </a:r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B347F-EBB8-4A45-9829-4A4449026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BEC4-B835-4E55-9D7F-50B76A3ED418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B918B-443D-4E01-9D6C-9FD6FC463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5498E-14CA-4956-84C0-C1BBDAFF2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84E68-CE57-44C0-BE0F-84C629DF22D5}" type="slidenum">
              <a:rPr lang="en-US" smtClean="0"/>
              <a:t>33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5FD79E-D4D1-451A-91B9-F75F35396AA5}"/>
              </a:ext>
            </a:extLst>
          </p:cNvPr>
          <p:cNvGraphicFramePr>
            <a:graphicFrameLocks noGrp="1"/>
          </p:cNvGraphicFramePr>
          <p:nvPr/>
        </p:nvGraphicFramePr>
        <p:xfrm>
          <a:off x="797984" y="2011887"/>
          <a:ext cx="746284" cy="2057400"/>
        </p:xfrm>
        <a:graphic>
          <a:graphicData uri="http://schemas.openxmlformats.org/drawingml/2006/table">
            <a:tbl>
              <a:tblPr firstRow="1" firstCol="1" bandRow="1" bandCol="1">
                <a:tableStyleId>{5A111915-BE36-4E01-A7E5-04B1672EAD32}</a:tableStyleId>
              </a:tblPr>
              <a:tblGrid>
                <a:gridCol w="373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i="1" dirty="0">
                          <a:effectLst/>
                        </a:rPr>
                        <a:t>p</a:t>
                      </a:r>
                      <a:endParaRPr lang="en-US" sz="800" i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i="1" dirty="0">
                          <a:effectLst/>
                        </a:rPr>
                        <a:t>q</a:t>
                      </a:r>
                      <a:endParaRPr lang="en-US" sz="800" i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b="0" dirty="0">
                          <a:effectLst/>
                        </a:rPr>
                        <a:t>F</a:t>
                      </a:r>
                      <a:endParaRPr lang="en-US" sz="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b="0" dirty="0">
                          <a:effectLst/>
                          <a:latin typeface="Cambria" panose="02040503050406030204" pitchFamily="18" charset="0"/>
                        </a:rPr>
                        <a:t>F</a:t>
                      </a:r>
                      <a:endParaRPr lang="en-US" sz="8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b="0" dirty="0">
                          <a:effectLst/>
                        </a:rPr>
                        <a:t>F</a:t>
                      </a:r>
                      <a:endParaRPr lang="en-US" sz="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b="0" dirty="0">
                          <a:effectLst/>
                        </a:rPr>
                        <a:t>T</a:t>
                      </a:r>
                      <a:endParaRPr lang="en-US" sz="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b="0" dirty="0">
                          <a:effectLst/>
                        </a:rPr>
                        <a:t>T</a:t>
                      </a:r>
                      <a:endParaRPr lang="en-US" sz="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b="0" dirty="0">
                          <a:effectLst/>
                        </a:rPr>
                        <a:t>F</a:t>
                      </a:r>
                      <a:endParaRPr lang="en-US" sz="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b="0" dirty="0">
                          <a:effectLst/>
                        </a:rPr>
                        <a:t>T</a:t>
                      </a:r>
                      <a:endParaRPr lang="en-US" sz="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b="0" dirty="0">
                          <a:effectLst/>
                        </a:rPr>
                        <a:t>T</a:t>
                      </a:r>
                      <a:endParaRPr lang="en-US" sz="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14EC592-B725-487F-9CE8-5EC4A54793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379081"/>
              </p:ext>
            </p:extLst>
          </p:nvPr>
        </p:nvGraphicFramePr>
        <p:xfrm>
          <a:off x="3198328" y="2011887"/>
          <a:ext cx="617220" cy="2057400"/>
        </p:xfrm>
        <a:graphic>
          <a:graphicData uri="http://schemas.openxmlformats.org/drawingml/2006/table">
            <a:tbl>
              <a:tblPr firstRow="1" firstCol="1" bandRow="1" bandCol="1">
                <a:tableStyleId>{5A111915-BE36-4E01-A7E5-04B1672EAD32}</a:tableStyleId>
              </a:tblPr>
              <a:tblGrid>
                <a:gridCol w="617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dirty="0">
                          <a:effectLst/>
                          <a:latin typeface="Cambria" panose="020405030504060302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lang="en-US" sz="2700" i="1" dirty="0">
                          <a:effectLst/>
                          <a:latin typeface="Cambria" panose="02040503050406030204" pitchFamily="18" charset="0"/>
                        </a:rPr>
                        <a:t>q</a:t>
                      </a:r>
                      <a:endParaRPr lang="en-US" sz="800" i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b="0" dirty="0">
                          <a:effectLst/>
                          <a:latin typeface="Cambria" panose="02040503050406030204" pitchFamily="18" charset="0"/>
                        </a:rPr>
                        <a:t>T</a:t>
                      </a:r>
                      <a:endParaRPr lang="en-US" sz="8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b="0" dirty="0">
                          <a:effectLst/>
                          <a:latin typeface="Cambria" panose="02040503050406030204" pitchFamily="18" charset="0"/>
                        </a:rPr>
                        <a:t>F</a:t>
                      </a:r>
                      <a:endParaRPr lang="en-US" sz="8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b="0" dirty="0">
                          <a:effectLst/>
                          <a:latin typeface="Cambria" panose="02040503050406030204" pitchFamily="18" charset="0"/>
                        </a:rPr>
                        <a:t>T</a:t>
                      </a:r>
                      <a:endParaRPr lang="en-US" sz="8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b="0" dirty="0">
                          <a:effectLst/>
                          <a:latin typeface="Cambria" panose="02040503050406030204" pitchFamily="18" charset="0"/>
                        </a:rPr>
                        <a:t>F</a:t>
                      </a:r>
                      <a:endParaRPr lang="en-US" sz="800" b="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15141E0-5F23-4B92-A4C3-EA817E7CB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613413"/>
              </p:ext>
            </p:extLst>
          </p:nvPr>
        </p:nvGraphicFramePr>
        <p:xfrm>
          <a:off x="2581108" y="2011887"/>
          <a:ext cx="617220" cy="2057400"/>
        </p:xfrm>
        <a:graphic>
          <a:graphicData uri="http://schemas.openxmlformats.org/drawingml/2006/table">
            <a:tbl>
              <a:tblPr firstRow="1" firstCol="1" bandRow="1" bandCol="1">
                <a:tableStyleId>{5A111915-BE36-4E01-A7E5-04B1672EAD32}</a:tableStyleId>
              </a:tblPr>
              <a:tblGrid>
                <a:gridCol w="617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dirty="0">
                          <a:effectLst/>
                          <a:sym typeface="Symbol" panose="05050102010706020507" pitchFamily="18" charset="2"/>
                        </a:rPr>
                        <a:t></a:t>
                      </a:r>
                      <a:r>
                        <a:rPr lang="en-US" sz="2700" i="1" dirty="0">
                          <a:effectLst/>
                        </a:rPr>
                        <a:t>p</a:t>
                      </a:r>
                      <a:endParaRPr lang="en-US" sz="800" i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b="0" dirty="0">
                          <a:effectLst/>
                        </a:rPr>
                        <a:t>T</a:t>
                      </a:r>
                      <a:endParaRPr lang="en-US" sz="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b="0" dirty="0">
                          <a:effectLst/>
                        </a:rPr>
                        <a:t>T</a:t>
                      </a:r>
                      <a:endParaRPr lang="en-US" sz="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b="0" dirty="0">
                          <a:effectLst/>
                        </a:rPr>
                        <a:t>F</a:t>
                      </a:r>
                      <a:endParaRPr lang="en-US" sz="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b="0" dirty="0">
                          <a:effectLst/>
                        </a:rPr>
                        <a:t>F</a:t>
                      </a:r>
                      <a:endParaRPr lang="en-US" sz="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6B37FB1-D01C-48A3-A68F-CECF1E047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234551"/>
              </p:ext>
            </p:extLst>
          </p:nvPr>
        </p:nvGraphicFramePr>
        <p:xfrm>
          <a:off x="1540700" y="2011886"/>
          <a:ext cx="1050608" cy="2057400"/>
        </p:xfrm>
        <a:graphic>
          <a:graphicData uri="http://schemas.openxmlformats.org/drawingml/2006/table">
            <a:tbl>
              <a:tblPr firstRow="1" firstCol="1" bandRow="1" bandCol="1">
                <a:tableStyleId>{5A111915-BE36-4E01-A7E5-04B1672EAD32}</a:tableStyleId>
              </a:tblPr>
              <a:tblGrid>
                <a:gridCol w="10506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i="1" dirty="0">
                          <a:effectLst/>
                          <a:latin typeface="Cambria" panose="02040503050406030204" pitchFamily="18" charset="0"/>
                        </a:rPr>
                        <a:t>p</a:t>
                      </a:r>
                      <a:r>
                        <a:rPr lang="en-US" sz="2700" dirty="0">
                          <a:effectLst/>
                          <a:latin typeface="Cambria" panose="02040503050406030204" pitchFamily="18" charset="0"/>
                        </a:rPr>
                        <a:t> </a:t>
                      </a:r>
                      <a:r>
                        <a:rPr lang="en-US" sz="2700" dirty="0">
                          <a:effectLst/>
                          <a:latin typeface="Cambria" panose="02040503050406030204" pitchFamily="18" charset="0"/>
                          <a:sym typeface="Symbol" panose="05050102010706020507" pitchFamily="18" charset="2"/>
                        </a:rPr>
                        <a:t> </a:t>
                      </a:r>
                      <a:r>
                        <a:rPr lang="en-US" sz="2700" i="1" dirty="0">
                          <a:effectLst/>
                          <a:latin typeface="Cambria" panose="02040503050406030204" pitchFamily="18" charset="0"/>
                        </a:rPr>
                        <a:t>q</a:t>
                      </a:r>
                      <a:endParaRPr lang="en-US" sz="800" i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dirty="0">
                          <a:effectLst/>
                          <a:latin typeface="Cambria" panose="02040503050406030204" pitchFamily="18" charset="0"/>
                        </a:rPr>
                        <a:t>T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dirty="0">
                          <a:effectLst/>
                          <a:latin typeface="Cambria" panose="02040503050406030204" pitchFamily="18" charset="0"/>
                        </a:rPr>
                        <a:t>T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dirty="0">
                          <a:effectLst/>
                          <a:latin typeface="Cambria" panose="02040503050406030204" pitchFamily="18" charset="0"/>
                        </a:rPr>
                        <a:t>F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dirty="0">
                          <a:effectLst/>
                          <a:latin typeface="Cambria" panose="02040503050406030204" pitchFamily="18" charset="0"/>
                        </a:rPr>
                        <a:t>T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1D1368D-E883-4424-8F5B-2F64DF8E8477}"/>
              </a:ext>
            </a:extLst>
          </p:cNvPr>
          <p:cNvGraphicFramePr>
            <a:graphicFrameLocks noGrp="1"/>
          </p:cNvGraphicFramePr>
          <p:nvPr/>
        </p:nvGraphicFramePr>
        <p:xfrm>
          <a:off x="3815103" y="2011887"/>
          <a:ext cx="1538764" cy="2057400"/>
        </p:xfrm>
        <a:graphic>
          <a:graphicData uri="http://schemas.openxmlformats.org/drawingml/2006/table">
            <a:tbl>
              <a:tblPr firstRow="1" firstCol="1" bandRow="1" bandCol="1">
                <a:tableStyleId>{5A111915-BE36-4E01-A7E5-04B1672EAD32}</a:tableStyleId>
              </a:tblPr>
              <a:tblGrid>
                <a:gridCol w="15387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dirty="0">
                          <a:effectLst/>
                          <a:latin typeface="Cambria" panose="020405030504060302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lang="en-US" sz="2700" i="1" dirty="0">
                          <a:effectLst/>
                          <a:latin typeface="Cambria" panose="02040503050406030204" pitchFamily="18" charset="0"/>
                        </a:rPr>
                        <a:t>q</a:t>
                      </a:r>
                      <a:r>
                        <a:rPr lang="en-US" sz="2700" dirty="0">
                          <a:effectLst/>
                          <a:latin typeface="Cambria" panose="02040503050406030204" pitchFamily="18" charset="0"/>
                        </a:rPr>
                        <a:t> </a:t>
                      </a:r>
                      <a:r>
                        <a:rPr lang="en-US" sz="2700" dirty="0">
                          <a:effectLst/>
                          <a:latin typeface="Cambria" panose="02040503050406030204" pitchFamily="18" charset="0"/>
                          <a:sym typeface="Symbol" panose="05050102010706020507" pitchFamily="18" charset="2"/>
                        </a:rPr>
                        <a:t> </a:t>
                      </a:r>
                      <a:r>
                        <a:rPr lang="en-US" sz="2700" i="1" dirty="0">
                          <a:effectLst/>
                          <a:latin typeface="Cambria" panose="02040503050406030204" pitchFamily="18" charset="0"/>
                        </a:rPr>
                        <a:t>p</a:t>
                      </a:r>
                      <a:r>
                        <a:rPr lang="en-US" sz="2700" dirty="0">
                          <a:effectLst/>
                          <a:latin typeface="Cambria" panose="02040503050406030204" pitchFamily="18" charset="0"/>
                        </a:rPr>
                        <a:t> 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dirty="0">
                          <a:effectLst/>
                          <a:latin typeface="Cambria" panose="02040503050406030204" pitchFamily="18" charset="0"/>
                        </a:rPr>
                        <a:t>T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dirty="0">
                          <a:effectLst/>
                          <a:latin typeface="Cambria" panose="02040503050406030204" pitchFamily="18" charset="0"/>
                        </a:rPr>
                        <a:t>T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dirty="0">
                          <a:effectLst/>
                          <a:latin typeface="Cambria" panose="02040503050406030204" pitchFamily="18" charset="0"/>
                        </a:rPr>
                        <a:t>F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700" dirty="0">
                          <a:effectLst/>
                          <a:latin typeface="Cambria" panose="02040503050406030204" pitchFamily="18" charset="0"/>
                        </a:rPr>
                        <a:t>T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03E33C92-F3AE-4AF7-91B1-0A2E57CC9B7B}"/>
              </a:ext>
            </a:extLst>
          </p:cNvPr>
          <p:cNvSpPr/>
          <p:nvPr/>
        </p:nvSpPr>
        <p:spPr>
          <a:xfrm>
            <a:off x="1757394" y="2412454"/>
            <a:ext cx="617220" cy="1656832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2981580-E291-420A-9F11-2577EE80B59A}"/>
              </a:ext>
            </a:extLst>
          </p:cNvPr>
          <p:cNvSpPr/>
          <p:nvPr/>
        </p:nvSpPr>
        <p:spPr>
          <a:xfrm>
            <a:off x="4282163" y="2412455"/>
            <a:ext cx="617220" cy="1656832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281174" y="1879036"/>
          <a:ext cx="3371850" cy="250980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123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en-US" sz="24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</a:t>
                      </a:r>
                      <a:endParaRPr sz="2400" i="1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lang="en-US" sz="24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</a:t>
                      </a:r>
                      <a:endParaRPr sz="2400" i="1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 </a:t>
                      </a:r>
                      <a:r>
                        <a:rPr lang="en-US" altLang="zh-TW" sz="2400" i="0" dirty="0">
                          <a:ea typeface="新細明體" pitchFamily="18" charset="-120"/>
                          <a:sym typeface="Symbol" pitchFamily="18" charset="2"/>
                        </a:rPr>
                        <a:t></a:t>
                      </a:r>
                      <a:r>
                        <a:rPr lang="en-US" altLang="en-US" sz="2400" b="1" i="1" dirty="0">
                          <a:latin typeface="Cambria" panose="02040503050406030204" pitchFamily="18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US" sz="24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 </a:t>
                      </a:r>
                      <a:endParaRPr lang="en-US" sz="2400" i="1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95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lang="en-US" altLang="en-US" sz="2400" b="1" dirty="0"/>
                        <a:t>T</a:t>
                      </a:r>
                      <a:endParaRPr lang="en-US" sz="24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959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lang="en-US" altLang="en-US" sz="2400" b="1" dirty="0"/>
                        <a:t>T</a:t>
                      </a:r>
                      <a:endParaRPr sz="24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95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b="1" dirty="0"/>
                        <a:t>F</a:t>
                      </a:r>
                      <a:endParaRPr lang="en-US" sz="24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974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lang="en-US" altLang="en-US" sz="2400" b="1" dirty="0"/>
                        <a:t>T</a:t>
                      </a:r>
                      <a:endParaRPr lang="en-US" sz="24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4240D9C1-D7FC-4EF0-B37E-A39BD04B812A}"/>
              </a:ext>
            </a:extLst>
          </p:cNvPr>
          <p:cNvSpPr/>
          <p:nvPr/>
        </p:nvSpPr>
        <p:spPr>
          <a:xfrm>
            <a:off x="388911" y="5090573"/>
            <a:ext cx="1141417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A conditional statement is logically equivalent to its contrapositive</a:t>
            </a:r>
          </a:p>
        </p:txBody>
      </p:sp>
    </p:spTree>
    <p:extLst>
      <p:ext uri="{BB962C8B-B14F-4D97-AF65-F5344CB8AC3E}">
        <p14:creationId xmlns:p14="http://schemas.microsoft.com/office/powerpoint/2010/main" val="94105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Converse, Inverse, Contrapositive -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contrapositive, the converse, and the inverse of the conditional statement “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The home team wins </a:t>
            </a:r>
            <a:r>
              <a:rPr lang="en-US" u="sng" dirty="0">
                <a:solidFill>
                  <a:srgbClr val="C00000"/>
                </a:solidFill>
              </a:rPr>
              <a:t>whenever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it is raining</a:t>
            </a:r>
            <a:r>
              <a:rPr lang="en-US" dirty="0"/>
              <a:t>.”</a:t>
            </a:r>
          </a:p>
          <a:p>
            <a:pPr lvl="1"/>
            <a:r>
              <a:rPr lang="en-US" sz="2800" dirty="0"/>
              <a:t>Rewrite the statement as “</a:t>
            </a:r>
            <a:r>
              <a:rPr lang="en-US" sz="2800" dirty="0">
                <a:solidFill>
                  <a:srgbClr val="339933"/>
                </a:solidFill>
              </a:rPr>
              <a:t>If it is raining, then the home team wins</a:t>
            </a:r>
            <a:r>
              <a:rPr lang="en-US" sz="2800" dirty="0"/>
              <a:t>.”</a:t>
            </a:r>
          </a:p>
          <a:p>
            <a:pPr lvl="1"/>
            <a:r>
              <a:rPr lang="en-US" sz="2800" dirty="0"/>
              <a:t>The inverse (</a:t>
            </a:r>
            <a:r>
              <a:rPr lang="en-US" altLang="zh-TW" sz="2800" dirty="0">
                <a:sym typeface="Symbol" pitchFamily="18" charset="2"/>
              </a:rPr>
              <a:t>¬</a:t>
            </a:r>
            <a:r>
              <a:rPr lang="en-US" altLang="zh-TW" sz="2800" i="1" dirty="0">
                <a:sym typeface="Symbol" pitchFamily="18" charset="2"/>
              </a:rPr>
              <a:t>p</a:t>
            </a:r>
            <a:r>
              <a:rPr lang="en-US" altLang="zh-TW" sz="2800" dirty="0">
                <a:sym typeface="Symbol" pitchFamily="18" charset="2"/>
              </a:rPr>
              <a:t>  ¬</a:t>
            </a:r>
            <a:r>
              <a:rPr lang="en-US" altLang="zh-TW" sz="2800" i="1" dirty="0">
                <a:sym typeface="Symbol" pitchFamily="18" charset="2"/>
              </a:rPr>
              <a:t>q</a:t>
            </a:r>
            <a:r>
              <a:rPr lang="en-US" altLang="zh-TW" sz="2800" dirty="0">
                <a:sym typeface="Symbol" pitchFamily="18" charset="2"/>
              </a:rPr>
              <a:t>): </a:t>
            </a:r>
          </a:p>
          <a:p>
            <a:pPr lvl="2"/>
            <a:r>
              <a:rPr lang="en-US" altLang="zh-TW" sz="2800" dirty="0">
                <a:sym typeface="Symbol" pitchFamily="18" charset="2"/>
              </a:rPr>
              <a:t>“</a:t>
            </a:r>
            <a:r>
              <a:rPr lang="en-US" altLang="zh-TW" sz="2800" dirty="0">
                <a:solidFill>
                  <a:srgbClr val="0000CC"/>
                </a:solidFill>
                <a:sym typeface="Symbol" pitchFamily="18" charset="2"/>
              </a:rPr>
              <a:t>If it is not raining, then the home team does not win</a:t>
            </a:r>
            <a:r>
              <a:rPr lang="en-US" altLang="zh-TW" sz="2800" dirty="0">
                <a:sym typeface="Symbol" pitchFamily="18" charset="2"/>
              </a:rPr>
              <a:t>.”</a:t>
            </a:r>
            <a:endParaRPr lang="en-US" sz="2800" dirty="0"/>
          </a:p>
          <a:p>
            <a:pPr lvl="1"/>
            <a:r>
              <a:rPr lang="en-US" sz="2800" dirty="0"/>
              <a:t>The converse (</a:t>
            </a:r>
            <a:r>
              <a:rPr lang="en-US" altLang="zh-TW" sz="2800" i="1" dirty="0"/>
              <a:t>q</a:t>
            </a:r>
            <a:r>
              <a:rPr lang="en-US" altLang="zh-TW" sz="2800" dirty="0"/>
              <a:t> </a:t>
            </a:r>
            <a:r>
              <a:rPr lang="en-US" altLang="zh-TW" sz="2800" dirty="0">
                <a:sym typeface="Symbol" pitchFamily="18" charset="2"/>
              </a:rPr>
              <a:t> </a:t>
            </a:r>
            <a:r>
              <a:rPr lang="en-US" altLang="zh-TW" sz="2800" i="1" dirty="0">
                <a:sym typeface="Symbol" pitchFamily="18" charset="2"/>
              </a:rPr>
              <a:t>p</a:t>
            </a:r>
            <a:r>
              <a:rPr lang="en-US" altLang="zh-TW" sz="2800" dirty="0">
                <a:sym typeface="Symbol" pitchFamily="18" charset="2"/>
              </a:rPr>
              <a:t>)</a:t>
            </a:r>
            <a:r>
              <a:rPr lang="en-US" sz="2800" dirty="0"/>
              <a:t>: </a:t>
            </a:r>
          </a:p>
          <a:p>
            <a:pPr lvl="2"/>
            <a:r>
              <a:rPr lang="en-US" sz="2800" dirty="0"/>
              <a:t>“</a:t>
            </a:r>
            <a:r>
              <a:rPr lang="en-US" sz="2800" dirty="0">
                <a:solidFill>
                  <a:srgbClr val="0000CC"/>
                </a:solidFill>
              </a:rPr>
              <a:t>If the home team wins, then it is raining</a:t>
            </a:r>
            <a:r>
              <a:rPr lang="en-US" sz="2800" dirty="0"/>
              <a:t>.”</a:t>
            </a:r>
            <a:endParaRPr lang="en-US" sz="2400" dirty="0"/>
          </a:p>
          <a:p>
            <a:pPr lvl="1"/>
            <a:r>
              <a:rPr lang="en-US" sz="2800" dirty="0"/>
              <a:t>The contrapositive (</a:t>
            </a:r>
            <a:r>
              <a:rPr lang="en-US" altLang="zh-TW" sz="2800" dirty="0"/>
              <a:t>¬</a:t>
            </a:r>
            <a:r>
              <a:rPr lang="en-US" altLang="zh-TW" sz="2800" i="1" dirty="0"/>
              <a:t>q</a:t>
            </a:r>
            <a:r>
              <a:rPr lang="en-US" altLang="zh-TW" sz="2800" dirty="0"/>
              <a:t> </a:t>
            </a:r>
            <a:r>
              <a:rPr lang="en-US" altLang="zh-TW" sz="2800" dirty="0">
                <a:sym typeface="Symbol" pitchFamily="18" charset="2"/>
              </a:rPr>
              <a:t> </a:t>
            </a:r>
            <a:r>
              <a:rPr lang="en-US" altLang="zh-TW" sz="2800" dirty="0"/>
              <a:t>¬</a:t>
            </a:r>
            <a:r>
              <a:rPr lang="en-US" altLang="zh-TW" sz="2800" i="1" dirty="0"/>
              <a:t>p</a:t>
            </a:r>
            <a:r>
              <a:rPr lang="en-US" altLang="zh-TW" sz="2800" dirty="0"/>
              <a:t>) :</a:t>
            </a:r>
            <a:endParaRPr lang="en-US" sz="2800" dirty="0"/>
          </a:p>
          <a:p>
            <a:pPr lvl="2"/>
            <a:r>
              <a:rPr lang="en-US" sz="2800" dirty="0"/>
              <a:t>“</a:t>
            </a:r>
            <a:r>
              <a:rPr lang="en-US" sz="2800" dirty="0">
                <a:solidFill>
                  <a:srgbClr val="0000CC"/>
                </a:solidFill>
              </a:rPr>
              <a:t>If the home team does not win, then it is not raining</a:t>
            </a:r>
            <a:r>
              <a:rPr lang="en-US" sz="2800" dirty="0"/>
              <a:t>.”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8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Biconditional Operator “</a:t>
            </a:r>
            <a:r>
              <a:rPr lang="en-US" altLang="zh-TW" dirty="0">
                <a:sym typeface="Symbol" pitchFamily="18" charset="2"/>
              </a:rPr>
              <a:t></a:t>
            </a:r>
            <a:r>
              <a:rPr lang="en-US" dirty="0"/>
              <a:t>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</a:t>
            </a:r>
            <a:r>
              <a:rPr lang="en-US" altLang="zh-TW" i="1" dirty="0" err="1">
                <a:solidFill>
                  <a:srgbClr val="C00000"/>
                </a:solidFill>
              </a:rPr>
              <a:t>biconditional</a:t>
            </a:r>
            <a:r>
              <a:rPr lang="en-US" altLang="zh-TW" dirty="0">
                <a:solidFill>
                  <a:srgbClr val="C00000"/>
                </a:solidFill>
              </a:rPr>
              <a:t> </a:t>
            </a:r>
            <a:r>
              <a:rPr lang="en-US" altLang="zh-TW" i="1" dirty="0">
                <a:solidFill>
                  <a:srgbClr val="C00000"/>
                </a:solidFill>
              </a:rPr>
              <a:t>p </a:t>
            </a:r>
            <a:r>
              <a:rPr lang="en-US" altLang="zh-TW" dirty="0">
                <a:solidFill>
                  <a:srgbClr val="C00000"/>
                </a:solidFill>
                <a:sym typeface="Symbol" pitchFamily="18" charset="2"/>
              </a:rPr>
              <a:t> </a:t>
            </a:r>
            <a:r>
              <a:rPr lang="en-US" altLang="zh-TW" i="1" dirty="0">
                <a:solidFill>
                  <a:srgbClr val="C00000"/>
                </a:solidFill>
                <a:sym typeface="Symbol" pitchFamily="18" charset="2"/>
              </a:rPr>
              <a:t>q </a:t>
            </a:r>
            <a:r>
              <a:rPr lang="en-US" altLang="zh-TW" dirty="0">
                <a:sym typeface="Symbol" pitchFamily="18" charset="2"/>
              </a:rPr>
              <a:t>states that </a:t>
            </a:r>
            <a:r>
              <a:rPr lang="en-US" altLang="zh-TW" i="1" dirty="0">
                <a:sym typeface="Symbol" pitchFamily="18" charset="2"/>
              </a:rPr>
              <a:t>p</a:t>
            </a:r>
            <a:r>
              <a:rPr lang="en-US" altLang="zh-TW" dirty="0">
                <a:sym typeface="Symbol" pitchFamily="18" charset="2"/>
              </a:rPr>
              <a:t> is true </a:t>
            </a:r>
            <a:r>
              <a:rPr lang="en-US" altLang="zh-TW" i="1" dirty="0">
                <a:solidFill>
                  <a:srgbClr val="C00000"/>
                </a:solidFill>
                <a:sym typeface="Symbol" pitchFamily="18" charset="2"/>
              </a:rPr>
              <a:t>if and only if</a:t>
            </a:r>
            <a:r>
              <a:rPr lang="en-US" altLang="zh-TW" dirty="0">
                <a:solidFill>
                  <a:srgbClr val="C00000"/>
                </a:solidFill>
                <a:sym typeface="Symbol" pitchFamily="18" charset="2"/>
              </a:rPr>
              <a:t> (IFF)</a:t>
            </a:r>
            <a:r>
              <a:rPr lang="en-US" altLang="zh-TW" i="1" dirty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ym typeface="Symbol" pitchFamily="18" charset="2"/>
              </a:rPr>
              <a:t>q</a:t>
            </a:r>
            <a:r>
              <a:rPr lang="en-US" altLang="zh-TW" dirty="0">
                <a:sym typeface="Symbol" pitchFamily="18" charset="2"/>
              </a:rPr>
              <a:t> is true</a:t>
            </a:r>
          </a:p>
          <a:p>
            <a:r>
              <a:rPr lang="en-US" altLang="zh-TW" dirty="0">
                <a:sym typeface="Symbol" pitchFamily="18" charset="2"/>
              </a:rPr>
              <a:t>Example:</a:t>
            </a:r>
          </a:p>
          <a:p>
            <a:pPr lvl="1"/>
            <a:r>
              <a:rPr lang="en-US" altLang="zh-TW" i="1" dirty="0">
                <a:sym typeface="Symbol" pitchFamily="18" charset="2"/>
              </a:rPr>
              <a:t>p </a:t>
            </a:r>
            <a:r>
              <a:rPr lang="en-US" altLang="zh-TW" dirty="0">
                <a:sym typeface="Symbol" pitchFamily="18" charset="2"/>
              </a:rPr>
              <a:t>= “Ali wins the club election.”</a:t>
            </a:r>
          </a:p>
          <a:p>
            <a:pPr lvl="1"/>
            <a:r>
              <a:rPr lang="en-US" altLang="zh-TW" i="1" dirty="0">
                <a:sym typeface="Symbol" pitchFamily="18" charset="2"/>
              </a:rPr>
              <a:t>q</a:t>
            </a:r>
            <a:r>
              <a:rPr lang="en-US" altLang="zh-TW" dirty="0">
                <a:sym typeface="Symbol" pitchFamily="18" charset="2"/>
              </a:rPr>
              <a:t> =</a:t>
            </a:r>
            <a:r>
              <a:rPr lang="en-US" altLang="zh-TW" i="1" dirty="0">
                <a:sym typeface="Symbol" pitchFamily="18" charset="2"/>
              </a:rPr>
              <a:t> </a:t>
            </a:r>
            <a:r>
              <a:rPr lang="en-US" altLang="zh-TW" dirty="0">
                <a:sym typeface="Symbol" pitchFamily="18" charset="2"/>
              </a:rPr>
              <a:t>“Ali will be the president of the club for this year.”</a:t>
            </a:r>
          </a:p>
          <a:p>
            <a:pPr lvl="1"/>
            <a:r>
              <a:rPr lang="en-US" altLang="zh-TW" i="1" dirty="0"/>
              <a:t>p </a:t>
            </a:r>
            <a:r>
              <a:rPr lang="en-US" altLang="zh-TW" dirty="0">
                <a:sym typeface="Symbol" pitchFamily="18" charset="2"/>
              </a:rPr>
              <a:t> </a:t>
            </a:r>
            <a:r>
              <a:rPr lang="en-US" altLang="zh-TW" i="1" dirty="0">
                <a:sym typeface="Symbol" pitchFamily="18" charset="2"/>
              </a:rPr>
              <a:t>q = </a:t>
            </a:r>
            <a:r>
              <a:rPr lang="en-US" altLang="zh-TW" dirty="0">
                <a:sym typeface="Symbol" pitchFamily="18" charset="2"/>
              </a:rPr>
              <a:t>“If, and only if, Ali wins the club election, Ali will be the president of the club for this year.”</a:t>
            </a:r>
            <a:endParaRPr lang="en-US" altLang="zh-TW" i="1" dirty="0">
              <a:sym typeface="Symbol" pitchFamily="18" charset="2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205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Biconditional Operator “</a:t>
            </a:r>
            <a:r>
              <a:rPr lang="en-US" altLang="zh-TW" dirty="0">
                <a:sym typeface="Symbol" pitchFamily="18" charset="2"/>
              </a:rPr>
              <a:t></a:t>
            </a:r>
            <a:r>
              <a:rPr lang="en-US" dirty="0"/>
              <a:t>” - Truth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i="1" dirty="0"/>
              <a:t>p</a:t>
            </a:r>
            <a:r>
              <a:rPr lang="en-US" dirty="0"/>
              <a:t> </a:t>
            </a:r>
            <a:r>
              <a:rPr lang="en-US" dirty="0">
                <a:latin typeface="Cambria" panose="02040503050406030204" pitchFamily="18" charset="0"/>
                <a:sym typeface="Symbol" panose="05050102010706020507" pitchFamily="18" charset="2"/>
              </a:rPr>
              <a:t></a:t>
            </a:r>
            <a:r>
              <a:rPr lang="en-US" dirty="0"/>
              <a:t> </a:t>
            </a:r>
            <a:r>
              <a:rPr lang="en-US" i="1" dirty="0"/>
              <a:t>q</a:t>
            </a:r>
            <a:r>
              <a:rPr lang="en-US" dirty="0"/>
              <a:t> means that </a:t>
            </a:r>
            <a:r>
              <a:rPr lang="en-US" i="1" dirty="0"/>
              <a:t>p</a:t>
            </a:r>
            <a:r>
              <a:rPr lang="en-US" dirty="0"/>
              <a:t> and </a:t>
            </a:r>
            <a:r>
              <a:rPr lang="en-US" i="1" dirty="0"/>
              <a:t>q</a:t>
            </a:r>
            <a:r>
              <a:rPr lang="en-US" dirty="0"/>
              <a:t> have the </a:t>
            </a:r>
            <a:r>
              <a:rPr lang="en-US" dirty="0">
                <a:solidFill>
                  <a:srgbClr val="C00000"/>
                </a:solidFill>
              </a:rPr>
              <a:t>same</a:t>
            </a:r>
            <a:r>
              <a:rPr lang="en-US" dirty="0"/>
              <a:t> truth value</a:t>
            </a:r>
          </a:p>
          <a:p>
            <a:pPr lvl="1"/>
            <a:r>
              <a:rPr lang="en-US" altLang="zh-TW" dirty="0"/>
              <a:t>p </a:t>
            </a:r>
            <a:r>
              <a:rPr lang="en-US" altLang="zh-TW" dirty="0">
                <a:sym typeface="Symbol" pitchFamily="18" charset="2"/>
              </a:rPr>
              <a:t></a:t>
            </a:r>
            <a:r>
              <a:rPr lang="en-US" altLang="zh-TW" dirty="0"/>
              <a:t> q is equivalent to p </a:t>
            </a:r>
            <a:r>
              <a:rPr lang="en-US" altLang="zh-TW" dirty="0">
                <a:sym typeface="Symbol" panose="05050102010706020507" pitchFamily="18" charset="2"/>
              </a:rPr>
              <a:t></a:t>
            </a:r>
            <a:r>
              <a:rPr lang="en-US" altLang="zh-TW" dirty="0"/>
              <a:t> q</a:t>
            </a:r>
          </a:p>
          <a:p>
            <a:pPr lvl="1"/>
            <a:r>
              <a:rPr lang="en-US" altLang="zh-TW" dirty="0"/>
              <a:t>q </a:t>
            </a:r>
            <a:r>
              <a:rPr lang="en-US" altLang="zh-TW" dirty="0">
                <a:sym typeface="Symbol" pitchFamily="18" charset="2"/>
              </a:rPr>
              <a:t></a:t>
            </a:r>
            <a:r>
              <a:rPr lang="en-US" altLang="zh-TW" dirty="0"/>
              <a:t> p is equivalent to q </a:t>
            </a:r>
            <a:r>
              <a:rPr lang="en-US" altLang="zh-TW" dirty="0">
                <a:sym typeface="Symbol" panose="05050102010706020507" pitchFamily="18" charset="2"/>
              </a:rPr>
              <a:t></a:t>
            </a:r>
            <a:r>
              <a:rPr lang="en-US" altLang="zh-TW" dirty="0"/>
              <a:t> p </a:t>
            </a:r>
          </a:p>
          <a:p>
            <a:pPr lvl="1"/>
            <a:r>
              <a:rPr lang="en-US" altLang="zh-TW" dirty="0"/>
              <a:t> Thus, q </a:t>
            </a:r>
            <a:r>
              <a:rPr lang="en-US" altLang="zh-TW" dirty="0">
                <a:sym typeface="Symbol" panose="05050102010706020507" pitchFamily="18" charset="2"/>
              </a:rPr>
              <a:t> </a:t>
            </a:r>
            <a:r>
              <a:rPr lang="en-US" altLang="zh-TW" dirty="0"/>
              <a:t>p</a:t>
            </a:r>
            <a:endParaRPr lang="en-US" dirty="0"/>
          </a:p>
          <a:p>
            <a:pPr lvl="0"/>
            <a:r>
              <a:rPr lang="en-US" dirty="0"/>
              <a:t>Note this truth table is the exact                                                                   </a:t>
            </a:r>
            <a:r>
              <a:rPr lang="en-US" dirty="0">
                <a:solidFill>
                  <a:srgbClr val="C00000"/>
                </a:solidFill>
              </a:rPr>
              <a:t>opposite</a:t>
            </a:r>
            <a:r>
              <a:rPr lang="en-US" dirty="0"/>
              <a:t> of </a:t>
            </a:r>
            <a:r>
              <a:rPr lang="en-US" altLang="zh-TW" dirty="0">
                <a:solidFill>
                  <a:srgbClr val="C00000"/>
                </a:solidFill>
                <a:ea typeface="新細明體" pitchFamily="18" charset="-120"/>
                <a:sym typeface="Symbol" pitchFamily="18" charset="2"/>
              </a:rPr>
              <a:t></a:t>
            </a:r>
            <a:r>
              <a:rPr lang="en-US" dirty="0">
                <a:solidFill>
                  <a:srgbClr val="C00000"/>
                </a:solidFill>
              </a:rPr>
              <a:t>’</a:t>
            </a:r>
            <a:r>
              <a:rPr lang="en-US" dirty="0"/>
              <a:t>s!</a:t>
            </a:r>
          </a:p>
          <a:p>
            <a:pPr lvl="1"/>
            <a:r>
              <a:rPr lang="en-US" dirty="0"/>
              <a:t>Thus, 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en-US" dirty="0">
                <a:latin typeface="Cambria" panose="02040503050406030204" pitchFamily="18" charset="0"/>
                <a:sym typeface="Symbol" panose="05050102010706020507" pitchFamily="18" charset="2"/>
              </a:rPr>
              <a:t></a:t>
            </a:r>
            <a:r>
              <a:rPr lang="en-US" dirty="0"/>
              <a:t> </a:t>
            </a:r>
            <a:r>
              <a:rPr lang="en-US" i="1" dirty="0"/>
              <a:t>q</a:t>
            </a:r>
            <a:r>
              <a:rPr lang="en-US" dirty="0"/>
              <a:t> means ¬(p </a:t>
            </a:r>
            <a:r>
              <a:rPr lang="en-US" altLang="zh-TW" dirty="0">
                <a:ea typeface="新細明體" pitchFamily="18" charset="-120"/>
                <a:sym typeface="Symbol" pitchFamily="18" charset="2"/>
              </a:rPr>
              <a:t></a:t>
            </a:r>
            <a:r>
              <a:rPr lang="en-US" dirty="0"/>
              <a:t> q)</a:t>
            </a:r>
          </a:p>
          <a:p>
            <a:pPr lvl="1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i="1" dirty="0"/>
              <a:t>p</a:t>
            </a:r>
            <a:r>
              <a:rPr lang="en-US" dirty="0"/>
              <a:t> </a:t>
            </a:r>
            <a:r>
              <a:rPr lang="en-US" dirty="0">
                <a:latin typeface="Cambria" panose="02040503050406030204" pitchFamily="18" charset="0"/>
                <a:sym typeface="Symbol" panose="05050102010706020507" pitchFamily="18" charset="2"/>
              </a:rPr>
              <a:t> </a:t>
            </a:r>
            <a:r>
              <a:rPr lang="en-US" i="1" dirty="0"/>
              <a:t>q</a:t>
            </a:r>
            <a:r>
              <a:rPr lang="en-US" dirty="0"/>
              <a:t> does not imply that </a:t>
            </a:r>
            <a:r>
              <a:rPr lang="en-US" i="1" dirty="0"/>
              <a:t>p</a:t>
            </a:r>
            <a:r>
              <a:rPr lang="en-US" dirty="0"/>
              <a:t> and </a:t>
            </a:r>
            <a:r>
              <a:rPr lang="en-US" i="1" dirty="0"/>
              <a:t>q</a:t>
            </a:r>
            <a:r>
              <a:rPr lang="en-US" dirty="0"/>
              <a:t> are true, or that either of them causes the other, or that they have a common cause.</a:t>
            </a:r>
          </a:p>
          <a:p>
            <a:pPr lvl="0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36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609302"/>
              </p:ext>
            </p:extLst>
          </p:nvPr>
        </p:nvGraphicFramePr>
        <p:xfrm>
          <a:off x="8158511" y="1856732"/>
          <a:ext cx="3572571" cy="250980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190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17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3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en-US" sz="24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</a:t>
                      </a:r>
                      <a:endParaRPr sz="2400" i="1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lang="en-US" sz="24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</a:t>
                      </a:r>
                      <a:endParaRPr sz="2400" i="1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 </a:t>
                      </a:r>
                      <a:r>
                        <a:rPr lang="en-US" sz="2400" i="0" dirty="0">
                          <a:latin typeface="Cambria" panose="02040503050406030204" pitchFamily="18" charset="0"/>
                          <a:sym typeface="Symbol" panose="05050102010706020507" pitchFamily="18" charset="2"/>
                        </a:rPr>
                        <a:t></a:t>
                      </a:r>
                      <a:r>
                        <a:rPr lang="en-US" sz="2400" i="1" baseline="0" dirty="0">
                          <a:latin typeface="Cambria" panose="02040503050406030204" pitchFamily="18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US" sz="2400" i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 </a:t>
                      </a:r>
                      <a:endParaRPr lang="en-US" sz="2400" i="1" dirty="0">
                        <a:latin typeface="Cambria" panose="02040503050406030204" pitchFamily="18" charset="0"/>
                        <a:ea typeface="Cambria" panose="02040503050406030204" pitchFamily="18" charset="0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95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lang="en-US" altLang="en-US" sz="2400" b="1" dirty="0"/>
                        <a:t>T</a:t>
                      </a:r>
                      <a:endParaRPr lang="en-US" sz="24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959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lang="en-US" altLang="en-US" sz="2400" b="1" dirty="0"/>
                        <a:t>F</a:t>
                      </a:r>
                      <a:endParaRPr sz="24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958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F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b="1" dirty="0"/>
                        <a:t>F</a:t>
                      </a:r>
                      <a:endParaRPr lang="en-US" sz="24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974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lang="en-US" altLang="en-US" sz="2400" dirty="0"/>
                        <a:t>T</a:t>
                      </a:r>
                      <a:endParaRPr sz="24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lang="en-US" altLang="en-US" sz="2400" b="1" dirty="0"/>
                        <a:t>T</a:t>
                      </a:r>
                      <a:endParaRPr lang="en-US" sz="24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9560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Boolean Operations Summary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37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4227009"/>
                  </p:ext>
                </p:extLst>
              </p:nvPr>
            </p:nvGraphicFramePr>
            <p:xfrm>
              <a:off x="2067651" y="2188005"/>
              <a:ext cx="7865792" cy="3125126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82937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4713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2627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37063">
                      <a:extLst>
                        <a:ext uri="{9D8B030D-6E8A-4147-A177-3AD203B41FA5}">
                          <a16:colId xmlns:a16="http://schemas.microsoft.com/office/drawing/2014/main" val="1046036164"/>
                        </a:ext>
                      </a:extLst>
                    </a:gridCol>
                    <a:gridCol w="981307">
                      <a:extLst>
                        <a:ext uri="{9D8B030D-6E8A-4147-A177-3AD203B41FA5}">
                          <a16:colId xmlns:a16="http://schemas.microsoft.com/office/drawing/2014/main" val="350684122"/>
                        </a:ext>
                      </a:extLst>
                    </a:gridCol>
                    <a:gridCol w="1003610">
                      <a:extLst>
                        <a:ext uri="{9D8B030D-6E8A-4147-A177-3AD203B41FA5}">
                          <a16:colId xmlns:a16="http://schemas.microsoft.com/office/drawing/2014/main" val="1054527351"/>
                        </a:ext>
                      </a:extLst>
                    </a:gridCol>
                    <a:gridCol w="1037064">
                      <a:extLst>
                        <a:ext uri="{9D8B030D-6E8A-4147-A177-3AD203B41FA5}">
                          <a16:colId xmlns:a16="http://schemas.microsoft.com/office/drawing/2014/main" val="1089605961"/>
                        </a:ext>
                      </a:extLst>
                    </a:gridCol>
                    <a:gridCol w="1103970">
                      <a:extLst>
                        <a:ext uri="{9D8B030D-6E8A-4147-A177-3AD203B41FA5}">
                          <a16:colId xmlns:a16="http://schemas.microsoft.com/office/drawing/2014/main" val="852762923"/>
                        </a:ext>
                      </a:extLst>
                    </a:gridCol>
                  </a:tblGrid>
                  <a:tr h="62253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</a:t>
                          </a:r>
                          <a:endParaRPr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905" algn="ctr">
                            <a:lnSpc>
                              <a:spcPct val="100000"/>
                            </a:lnSpc>
                          </a:pP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q</a:t>
                          </a:r>
                          <a:endParaRPr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i="0" dirty="0">
                              <a:effectLst/>
                              <a:latin typeface="Cambria" panose="02040503050406030204" pitchFamily="18" charset="0"/>
                              <a:sym typeface="Symbol" panose="05050102010706020507" pitchFamily="18" charset="2"/>
                            </a:rPr>
                            <a:t></a:t>
                          </a: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 </a:t>
                          </a:r>
                          <a:endParaRPr lang="en-US"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00000"/>
                            </a:lnSpc>
                          </a:pP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⋀</m:t>
                              </m:r>
                            </m:oMath>
                          </a14:m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q </a:t>
                          </a:r>
                          <a:endParaRPr lang="en-US"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∨</m:t>
                              </m:r>
                            </m:oMath>
                          </a14:m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q  </a:t>
                          </a:r>
                          <a:endParaRPr lang="en-US"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 </a:t>
                          </a:r>
                          <a:r>
                            <a:rPr lang="en-US" altLang="en-US" sz="2400" b="1" i="0" dirty="0">
                              <a:latin typeface="Cambria" panose="02040503050406030204" pitchFamily="18" charset="0"/>
                              <a:sym typeface="Symbol" panose="05050102010706020507" pitchFamily="18" charset="2"/>
                            </a:rPr>
                            <a:t></a:t>
                          </a:r>
                          <a:r>
                            <a:rPr lang="en-US" altLang="en-US" sz="2400" b="1" i="1" dirty="0">
                              <a:latin typeface="Cambria" panose="02040503050406030204" pitchFamily="18" charset="0"/>
                              <a:sym typeface="Symbol" panose="05050102010706020507" pitchFamily="18" charset="2"/>
                            </a:rPr>
                            <a:t> </a:t>
                          </a: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q </a:t>
                          </a:r>
                          <a:endParaRPr lang="en-US"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 </a:t>
                          </a:r>
                          <a:r>
                            <a:rPr lang="en-US" altLang="zh-TW" sz="2400" i="0" dirty="0">
                              <a:ea typeface="新細明體" pitchFamily="18" charset="-120"/>
                              <a:sym typeface="Symbol" pitchFamily="18" charset="2"/>
                            </a:rPr>
                            <a:t></a:t>
                          </a:r>
                          <a:r>
                            <a:rPr lang="en-US" altLang="en-US" sz="2400" b="1" i="1" dirty="0">
                              <a:latin typeface="Cambria" panose="02040503050406030204" pitchFamily="18" charset="0"/>
                              <a:sym typeface="Symbol" panose="05050102010706020507" pitchFamily="18" charset="2"/>
                            </a:rPr>
                            <a:t> </a:t>
                          </a: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q </a:t>
                          </a:r>
                          <a:endParaRPr lang="en-US"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 </a:t>
                          </a:r>
                          <a:r>
                            <a:rPr lang="en-US" sz="2400" dirty="0">
                              <a:latin typeface="Cambria" panose="02040503050406030204" pitchFamily="18" charset="0"/>
                              <a:sym typeface="Symbol" panose="05050102010706020507" pitchFamily="18" charset="2"/>
                            </a:rPr>
                            <a:t></a:t>
                          </a:r>
                          <a:r>
                            <a:rPr lang="en-US" altLang="en-US" sz="2400" b="1" i="1" dirty="0">
                              <a:latin typeface="Cambria" panose="02040503050406030204" pitchFamily="18" charset="0"/>
                              <a:sym typeface="Symbol" panose="05050102010706020507" pitchFamily="18" charset="2"/>
                            </a:rPr>
                            <a:t> </a:t>
                          </a: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q </a:t>
                          </a:r>
                          <a:endParaRPr lang="en-US"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22530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F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F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F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2532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F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/>
                            <a:t>T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F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22530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F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F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F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F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35002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F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F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4227009"/>
                  </p:ext>
                </p:extLst>
              </p:nvPr>
            </p:nvGraphicFramePr>
            <p:xfrm>
              <a:off x="2067651" y="2188005"/>
              <a:ext cx="7865792" cy="3125126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82937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4713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2627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37063">
                      <a:extLst>
                        <a:ext uri="{9D8B030D-6E8A-4147-A177-3AD203B41FA5}">
                          <a16:colId xmlns:a16="http://schemas.microsoft.com/office/drawing/2014/main" val="1046036164"/>
                        </a:ext>
                      </a:extLst>
                    </a:gridCol>
                    <a:gridCol w="981307">
                      <a:extLst>
                        <a:ext uri="{9D8B030D-6E8A-4147-A177-3AD203B41FA5}">
                          <a16:colId xmlns:a16="http://schemas.microsoft.com/office/drawing/2014/main" val="350684122"/>
                        </a:ext>
                      </a:extLst>
                    </a:gridCol>
                    <a:gridCol w="1003610">
                      <a:extLst>
                        <a:ext uri="{9D8B030D-6E8A-4147-A177-3AD203B41FA5}">
                          <a16:colId xmlns:a16="http://schemas.microsoft.com/office/drawing/2014/main" val="1054527351"/>
                        </a:ext>
                      </a:extLst>
                    </a:gridCol>
                    <a:gridCol w="1037064">
                      <a:extLst>
                        <a:ext uri="{9D8B030D-6E8A-4147-A177-3AD203B41FA5}">
                          <a16:colId xmlns:a16="http://schemas.microsoft.com/office/drawing/2014/main" val="1089605961"/>
                        </a:ext>
                      </a:extLst>
                    </a:gridCol>
                    <a:gridCol w="1103970">
                      <a:extLst>
                        <a:ext uri="{9D8B030D-6E8A-4147-A177-3AD203B41FA5}">
                          <a16:colId xmlns:a16="http://schemas.microsoft.com/office/drawing/2014/main" val="852762923"/>
                        </a:ext>
                      </a:extLst>
                    </a:gridCol>
                  </a:tblGrid>
                  <a:tr h="62253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</a:t>
                          </a:r>
                          <a:endParaRPr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905" algn="ctr">
                            <a:lnSpc>
                              <a:spcPct val="100000"/>
                            </a:lnSpc>
                          </a:pP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q</a:t>
                          </a:r>
                          <a:endParaRPr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i="0" dirty="0">
                              <a:effectLst/>
                              <a:latin typeface="Cambria" panose="02040503050406030204" pitchFamily="18" charset="0"/>
                              <a:sym typeface="Symbol" panose="05050102010706020507" pitchFamily="18" charset="2"/>
                            </a:rPr>
                            <a:t></a:t>
                          </a: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 </a:t>
                          </a:r>
                          <a:endParaRPr lang="en-US"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3"/>
                          <a:stretch>
                            <a:fillRect l="-261765" t="-980" r="-400000" b="-4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3"/>
                          <a:stretch>
                            <a:fillRect l="-381988" t="-980" r="-322360" b="-4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 </a:t>
                          </a:r>
                          <a:r>
                            <a:rPr lang="en-US" altLang="en-US" sz="2400" b="1" i="0" dirty="0">
                              <a:latin typeface="Cambria" panose="02040503050406030204" pitchFamily="18" charset="0"/>
                              <a:sym typeface="Symbol" panose="05050102010706020507" pitchFamily="18" charset="2"/>
                            </a:rPr>
                            <a:t></a:t>
                          </a:r>
                          <a:r>
                            <a:rPr lang="en-US" altLang="en-US" sz="2400" b="1" i="1" dirty="0">
                              <a:latin typeface="Cambria" panose="02040503050406030204" pitchFamily="18" charset="0"/>
                              <a:sym typeface="Symbol" panose="05050102010706020507" pitchFamily="18" charset="2"/>
                            </a:rPr>
                            <a:t> </a:t>
                          </a: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q </a:t>
                          </a:r>
                          <a:endParaRPr lang="en-US"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 </a:t>
                          </a:r>
                          <a:r>
                            <a:rPr lang="en-US" altLang="zh-TW" sz="2400" i="0" dirty="0">
                              <a:ea typeface="新細明體" pitchFamily="18" charset="-120"/>
                              <a:sym typeface="Symbol" pitchFamily="18" charset="2"/>
                            </a:rPr>
                            <a:t></a:t>
                          </a:r>
                          <a:r>
                            <a:rPr lang="en-US" altLang="en-US" sz="2400" b="1" i="1" dirty="0">
                              <a:latin typeface="Cambria" panose="02040503050406030204" pitchFamily="18" charset="0"/>
                              <a:sym typeface="Symbol" panose="05050102010706020507" pitchFamily="18" charset="2"/>
                            </a:rPr>
                            <a:t> </a:t>
                          </a: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q </a:t>
                          </a:r>
                          <a:endParaRPr lang="en-US"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 </a:t>
                          </a:r>
                          <a:r>
                            <a:rPr lang="en-US" sz="2400" dirty="0">
                              <a:latin typeface="Cambria" panose="02040503050406030204" pitchFamily="18" charset="0"/>
                              <a:sym typeface="Symbol" panose="05050102010706020507" pitchFamily="18" charset="2"/>
                            </a:rPr>
                            <a:t></a:t>
                          </a:r>
                          <a:r>
                            <a:rPr lang="en-US" altLang="en-US" sz="2400" b="1" i="1" dirty="0">
                              <a:latin typeface="Cambria" panose="02040503050406030204" pitchFamily="18" charset="0"/>
                              <a:sym typeface="Symbol" panose="05050102010706020507" pitchFamily="18" charset="2"/>
                            </a:rPr>
                            <a:t> </a:t>
                          </a:r>
                          <a:r>
                            <a:rPr lang="en-US" sz="2400" i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q </a:t>
                          </a:r>
                          <a:endParaRPr lang="en-US" sz="2400" i="1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22530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F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F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F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2532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F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/>
                            <a:t>T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F</a:t>
                          </a:r>
                          <a:endParaRPr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22530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F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F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F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F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F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35002">
                    <a:tc>
                      <a:txBody>
                        <a:bodyPr/>
                        <a:lstStyle/>
                        <a:p>
                          <a:pPr marR="635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127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dirty="0"/>
                            <a:t>T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F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F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8890" algn="ctr">
                            <a:lnSpc>
                              <a:spcPct val="100000"/>
                            </a:lnSpc>
                          </a:pPr>
                          <a:r>
                            <a:rPr lang="en-US" altLang="en-US" sz="2400" b="1" dirty="0"/>
                            <a:t>T</a:t>
                          </a:r>
                          <a:endParaRPr lang="en-US" sz="2400" b="1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597640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Boolean Operations Alternative Notations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38</a:t>
            </a:fld>
            <a:endParaRPr lang="en-US"/>
          </a:p>
        </p:txBody>
      </p:sp>
      <p:graphicFrame>
        <p:nvGraphicFramePr>
          <p:cNvPr id="7" name="Table Placeholder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6833248"/>
              </p:ext>
            </p:extLst>
          </p:nvPr>
        </p:nvGraphicFramePr>
        <p:xfrm>
          <a:off x="1456481" y="1698876"/>
          <a:ext cx="9086482" cy="4054164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3440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7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51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04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37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mbria" panose="02040503050406030204" pitchFamily="18" charset="0"/>
                        </a:rPr>
                        <a:t>Name</a:t>
                      </a:r>
                      <a:endParaRPr lang="en-US" sz="8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ambria" panose="02040503050406030204" pitchFamily="18" charset="0"/>
                        </a:rPr>
                        <a:t>not</a:t>
                      </a:r>
                      <a:endParaRPr lang="en-US" sz="8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ambria" panose="02040503050406030204" pitchFamily="18" charset="0"/>
                        </a:rPr>
                        <a:t>and</a:t>
                      </a:r>
                      <a:endParaRPr lang="en-US" sz="8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ambria" panose="02040503050406030204" pitchFamily="18" charset="0"/>
                        </a:rPr>
                        <a:t>or</a:t>
                      </a:r>
                      <a:endParaRPr lang="en-US" sz="8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effectLst/>
                          <a:latin typeface="Cambria" panose="02040503050406030204" pitchFamily="18" charset="0"/>
                        </a:rPr>
                        <a:t>xor</a:t>
                      </a:r>
                      <a:endParaRPr lang="en-US" sz="8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ambria" panose="02040503050406030204" pitchFamily="18" charset="0"/>
                        </a:rPr>
                        <a:t>implies</a:t>
                      </a:r>
                      <a:endParaRPr lang="en-US" sz="8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 err="1">
                          <a:effectLst/>
                          <a:latin typeface="Cambria" panose="02040503050406030204" pitchFamily="18" charset="0"/>
                        </a:rPr>
                        <a:t>iff</a:t>
                      </a:r>
                      <a:endParaRPr lang="en-US" sz="800" b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</a:rPr>
                        <a:t>Propositional logic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  <a:sym typeface="Symbol" panose="05050102010706020507" pitchFamily="18" charset="2"/>
                        </a:rPr>
                        <a:t></a:t>
                      </a:r>
                      <a:endParaRPr lang="en-US" sz="2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  <a:sym typeface="Symbol" panose="05050102010706020507" pitchFamily="18" charset="2"/>
                        </a:rPr>
                        <a:t>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  <a:sym typeface="Symbol" panose="05050102010706020507" pitchFamily="18" charset="2"/>
                        </a:rPr>
                        <a:t>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  <a:sym typeface="Symbol" panose="05050102010706020507" pitchFamily="18" charset="2"/>
                        </a:rPr>
                        <a:t>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  <a:sym typeface="Symbol" panose="05050102010706020507" pitchFamily="18" charset="2"/>
                        </a:rPr>
                        <a:t>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  <a:sym typeface="Symbol" panose="05050102010706020507" pitchFamily="18" charset="2"/>
                        </a:rPr>
                        <a:t>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7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</a:rPr>
                        <a:t>Boolean algebra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¯</a:t>
                      </a: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i="1" dirty="0" err="1">
                          <a:effectLst/>
                          <a:latin typeface="Cambria" panose="02040503050406030204" pitchFamily="18" charset="0"/>
                        </a:rPr>
                        <a:t>p.q</a:t>
                      </a:r>
                      <a:r>
                        <a:rPr lang="en-US" sz="2400" i="1" dirty="0">
                          <a:effectLst/>
                          <a:latin typeface="Cambria" panose="02040503050406030204" pitchFamily="18" charset="0"/>
                        </a:rPr>
                        <a:t> (</a:t>
                      </a:r>
                      <a:r>
                        <a:rPr lang="en-US" sz="2400" i="1" dirty="0" err="1">
                          <a:effectLst/>
                          <a:latin typeface="Cambria" panose="02040503050406030204" pitchFamily="18" charset="0"/>
                        </a:rPr>
                        <a:t>pq</a:t>
                      </a:r>
                      <a:r>
                        <a:rPr lang="en-US" sz="2400" i="1" dirty="0">
                          <a:effectLst/>
                          <a:latin typeface="Cambria" panose="02040503050406030204" pitchFamily="18" charset="0"/>
                        </a:rPr>
                        <a:t>)</a:t>
                      </a:r>
                      <a:endParaRPr lang="en-US" sz="800" i="1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</a:rPr>
                        <a:t>+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mbria" panose="02040503050406030204" pitchFamily="18" charset="0"/>
                          <a:sym typeface="Symbol" panose="05050102010706020507" pitchFamily="18" charset="2"/>
                        </a:rPr>
                        <a:t>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</a:rPr>
                        <a:t> 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</a:rPr>
                        <a:t> 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7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</a:rPr>
                        <a:t>C/C++/Java (</a:t>
                      </a:r>
                      <a:r>
                        <a:rPr lang="en-US" sz="1800" dirty="0" err="1">
                          <a:effectLst/>
                          <a:latin typeface="Cambria" panose="02040503050406030204" pitchFamily="18" charset="0"/>
                        </a:rPr>
                        <a:t>wordwise</a:t>
                      </a:r>
                      <a:r>
                        <a:rPr lang="en-US" sz="1800" dirty="0">
                          <a:effectLst/>
                          <a:latin typeface="Cambria" panose="02040503050406030204" pitchFamily="18" charset="0"/>
                        </a:rPr>
                        <a:t>)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</a:rPr>
                        <a:t>!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</a:rPr>
                        <a:t>&amp;&amp;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mbria" panose="02040503050406030204" pitchFamily="18" charset="0"/>
                        </a:rPr>
                        <a:t>||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</a:rPr>
                        <a:t>!=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</a:rPr>
                        <a:t> 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</a:rPr>
                        <a:t>==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7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</a:rPr>
                        <a:t>C/C++/Java (bitwise)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</a:rPr>
                        <a:t>~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</a:rPr>
                        <a:t>&amp;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mbria" panose="02040503050406030204" pitchFamily="18" charset="0"/>
                        </a:rPr>
                        <a:t>|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</a:rPr>
                        <a:t>^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</a:rPr>
                        <a:t> 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</a:rPr>
                        <a:t> 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37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</a:rPr>
                        <a:t>Logic gates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</a:rPr>
                        <a:t> 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mbria" panose="020405030504060302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mbria" panose="020405030504060302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mbria" panose="02040503050406030204" pitchFamily="18" charset="0"/>
                        </a:rPr>
                        <a:t> </a:t>
                      </a:r>
                      <a:endParaRPr lang="en-US" sz="8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</a:rPr>
                        <a:t> 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</a:rPr>
                        <a:t> 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77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Python (logical operator)</a:t>
                      </a: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not</a:t>
                      </a: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and</a:t>
                      </a: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or</a:t>
                      </a: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</a:rPr>
                        <a:t>!=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</a:rPr>
                        <a:t>==</a:t>
                      </a:r>
                      <a:endParaRPr lang="en-US" sz="8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1435" marR="51435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57662"/>
                  </a:ext>
                </a:extLst>
              </a:tr>
            </a:tbl>
          </a:graphicData>
        </a:graphic>
      </p:graphicFrame>
      <p:grpSp>
        <p:nvGrpSpPr>
          <p:cNvPr id="8" name="Group 94"/>
          <p:cNvGrpSpPr>
            <a:grpSpLocks/>
          </p:cNvGrpSpPr>
          <p:nvPr/>
        </p:nvGrpSpPr>
        <p:grpSpPr bwMode="auto">
          <a:xfrm>
            <a:off x="5167744" y="4810445"/>
            <a:ext cx="411956" cy="205979"/>
            <a:chOff x="6624" y="5616"/>
            <a:chExt cx="1728" cy="864"/>
          </a:xfrm>
          <a:noFill/>
        </p:grpSpPr>
        <p:grpSp>
          <p:nvGrpSpPr>
            <p:cNvPr id="9" name="Group 97"/>
            <p:cNvGrpSpPr>
              <a:grpSpLocks/>
            </p:cNvGrpSpPr>
            <p:nvPr/>
          </p:nvGrpSpPr>
          <p:grpSpPr bwMode="auto">
            <a:xfrm>
              <a:off x="6624" y="5616"/>
              <a:ext cx="1152" cy="864"/>
              <a:chOff x="6624" y="5616"/>
              <a:chExt cx="1152" cy="864"/>
            </a:xfrm>
            <a:grpFill/>
          </p:grpSpPr>
          <p:sp>
            <p:nvSpPr>
              <p:cNvPr id="12" name="AutoShape 99"/>
              <p:cNvSpPr>
                <a:spLocks noChangeArrowheads="1"/>
              </p:cNvSpPr>
              <p:nvPr/>
            </p:nvSpPr>
            <p:spPr bwMode="auto">
              <a:xfrm rot="5400000">
                <a:off x="6912" y="5616"/>
                <a:ext cx="864" cy="864"/>
              </a:xfrm>
              <a:prstGeom prst="triangle">
                <a:avLst>
                  <a:gd name="adj" fmla="val 50000"/>
                </a:avLst>
              </a:prstGeom>
              <a:grp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13"/>
              </a:p>
            </p:txBody>
          </p:sp>
          <p:sp>
            <p:nvSpPr>
              <p:cNvPr id="13" name="Line 98"/>
              <p:cNvSpPr>
                <a:spLocks noChangeShapeType="1"/>
              </p:cNvSpPr>
              <p:nvPr/>
            </p:nvSpPr>
            <p:spPr bwMode="auto">
              <a:xfrm flipH="1">
                <a:off x="6624" y="6048"/>
                <a:ext cx="288" cy="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13"/>
              </a:p>
            </p:txBody>
          </p:sp>
        </p:grpSp>
        <p:sp>
          <p:nvSpPr>
            <p:cNvPr id="10" name="Oval 96"/>
            <p:cNvSpPr>
              <a:spLocks noChangeArrowheads="1"/>
            </p:cNvSpPr>
            <p:nvPr/>
          </p:nvSpPr>
          <p:spPr bwMode="auto">
            <a:xfrm>
              <a:off x="7776" y="5904"/>
              <a:ext cx="288" cy="288"/>
            </a:xfrm>
            <a:prstGeom prst="ellips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11" name="Line 95"/>
            <p:cNvSpPr>
              <a:spLocks noChangeShapeType="1"/>
            </p:cNvSpPr>
            <p:nvPr/>
          </p:nvSpPr>
          <p:spPr bwMode="auto">
            <a:xfrm>
              <a:off x="8064" y="6048"/>
              <a:ext cx="288" cy="0"/>
            </a:xfrm>
            <a:prstGeom prst="lin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</p:grpSp>
      <p:grpSp>
        <p:nvGrpSpPr>
          <p:cNvPr id="14" name="Group 89"/>
          <p:cNvGrpSpPr>
            <a:grpSpLocks/>
          </p:cNvGrpSpPr>
          <p:nvPr/>
        </p:nvGrpSpPr>
        <p:grpSpPr bwMode="auto">
          <a:xfrm>
            <a:off x="5950359" y="4805258"/>
            <a:ext cx="479822" cy="205979"/>
            <a:chOff x="7632" y="5760"/>
            <a:chExt cx="1440" cy="720"/>
          </a:xfrm>
          <a:noFill/>
        </p:grpSpPr>
        <p:sp>
          <p:nvSpPr>
            <p:cNvPr id="15" name="AutoShape 93"/>
            <p:cNvSpPr>
              <a:spLocks noChangeArrowheads="1"/>
            </p:cNvSpPr>
            <p:nvPr/>
          </p:nvSpPr>
          <p:spPr bwMode="auto">
            <a:xfrm>
              <a:off x="7920" y="5760"/>
              <a:ext cx="864" cy="720"/>
            </a:xfrm>
            <a:prstGeom prst="flowChartDelay">
              <a:avLst/>
            </a:prstGeom>
            <a:grp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16" name="Line 92"/>
            <p:cNvSpPr>
              <a:spLocks noChangeShapeType="1"/>
            </p:cNvSpPr>
            <p:nvPr/>
          </p:nvSpPr>
          <p:spPr bwMode="auto">
            <a:xfrm flipH="1">
              <a:off x="7632" y="5904"/>
              <a:ext cx="288" cy="0"/>
            </a:xfrm>
            <a:prstGeom prst="lin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17" name="Line 91"/>
            <p:cNvSpPr>
              <a:spLocks noChangeShapeType="1"/>
            </p:cNvSpPr>
            <p:nvPr/>
          </p:nvSpPr>
          <p:spPr bwMode="auto">
            <a:xfrm flipH="1">
              <a:off x="7632" y="6336"/>
              <a:ext cx="288" cy="0"/>
            </a:xfrm>
            <a:prstGeom prst="lin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18" name="Line 90"/>
            <p:cNvSpPr>
              <a:spLocks noChangeShapeType="1"/>
            </p:cNvSpPr>
            <p:nvPr/>
          </p:nvSpPr>
          <p:spPr bwMode="auto">
            <a:xfrm flipH="1">
              <a:off x="8784" y="6108"/>
              <a:ext cx="288" cy="0"/>
            </a:xfrm>
            <a:prstGeom prst="line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</p:grpSp>
      <p:grpSp>
        <p:nvGrpSpPr>
          <p:cNvPr id="19" name="Group 73"/>
          <p:cNvGrpSpPr>
            <a:grpSpLocks/>
          </p:cNvGrpSpPr>
          <p:nvPr/>
        </p:nvGrpSpPr>
        <p:grpSpPr bwMode="auto">
          <a:xfrm>
            <a:off x="6866619" y="4810729"/>
            <a:ext cx="411956" cy="207169"/>
            <a:chOff x="9216" y="5902"/>
            <a:chExt cx="1528" cy="722"/>
          </a:xfrm>
        </p:grpSpPr>
        <p:sp>
          <p:nvSpPr>
            <p:cNvPr id="20" name="Freeform 80"/>
            <p:cNvSpPr>
              <a:spLocks/>
            </p:cNvSpPr>
            <p:nvPr/>
          </p:nvSpPr>
          <p:spPr bwMode="auto">
            <a:xfrm>
              <a:off x="9360" y="5904"/>
              <a:ext cx="314" cy="720"/>
            </a:xfrm>
            <a:custGeom>
              <a:avLst/>
              <a:gdLst>
                <a:gd name="T0" fmla="*/ 0 w 314"/>
                <a:gd name="T1" fmla="*/ 720 h 720"/>
                <a:gd name="T2" fmla="*/ 314 w 314"/>
                <a:gd name="T3" fmla="*/ 383 h 720"/>
                <a:gd name="T4" fmla="*/ 0 w 314"/>
                <a:gd name="T5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4" h="720">
                  <a:moveTo>
                    <a:pt x="0" y="720"/>
                  </a:moveTo>
                  <a:cubicBezTo>
                    <a:pt x="52" y="664"/>
                    <a:pt x="314" y="503"/>
                    <a:pt x="314" y="383"/>
                  </a:cubicBezTo>
                  <a:cubicBezTo>
                    <a:pt x="314" y="263"/>
                    <a:pt x="65" y="80"/>
                    <a:pt x="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grpSp>
          <p:nvGrpSpPr>
            <p:cNvPr id="21" name="Group 74"/>
            <p:cNvGrpSpPr>
              <a:grpSpLocks/>
            </p:cNvGrpSpPr>
            <p:nvPr/>
          </p:nvGrpSpPr>
          <p:grpSpPr bwMode="auto">
            <a:xfrm>
              <a:off x="9216" y="5902"/>
              <a:ext cx="1528" cy="719"/>
              <a:chOff x="9216" y="5902"/>
              <a:chExt cx="1528" cy="719"/>
            </a:xfrm>
          </p:grpSpPr>
          <p:sp>
            <p:nvSpPr>
              <p:cNvPr id="22" name="Freeform 79"/>
              <p:cNvSpPr>
                <a:spLocks/>
              </p:cNvSpPr>
              <p:nvPr/>
            </p:nvSpPr>
            <p:spPr bwMode="auto">
              <a:xfrm>
                <a:off x="9360" y="5902"/>
                <a:ext cx="1146" cy="365"/>
              </a:xfrm>
              <a:custGeom>
                <a:avLst/>
                <a:gdLst>
                  <a:gd name="T0" fmla="*/ 0 w 1146"/>
                  <a:gd name="T1" fmla="*/ 2 h 365"/>
                  <a:gd name="T2" fmla="*/ 700 w 1146"/>
                  <a:gd name="T3" fmla="*/ 61 h 365"/>
                  <a:gd name="T4" fmla="*/ 1146 w 1146"/>
                  <a:gd name="T5" fmla="*/ 365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46" h="365">
                    <a:moveTo>
                      <a:pt x="0" y="2"/>
                    </a:moveTo>
                    <a:cubicBezTo>
                      <a:pt x="117" y="12"/>
                      <a:pt x="509" y="0"/>
                      <a:pt x="700" y="61"/>
                    </a:cubicBezTo>
                    <a:cubicBezTo>
                      <a:pt x="891" y="122"/>
                      <a:pt x="1053" y="302"/>
                      <a:pt x="1146" y="365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13"/>
              </a:p>
            </p:txBody>
          </p:sp>
          <p:sp>
            <p:nvSpPr>
              <p:cNvPr id="23" name="Freeform 78"/>
              <p:cNvSpPr>
                <a:spLocks/>
              </p:cNvSpPr>
              <p:nvPr/>
            </p:nvSpPr>
            <p:spPr bwMode="auto">
              <a:xfrm flipV="1">
                <a:off x="9360" y="6256"/>
                <a:ext cx="1146" cy="365"/>
              </a:xfrm>
              <a:custGeom>
                <a:avLst/>
                <a:gdLst>
                  <a:gd name="T0" fmla="*/ 0 w 1146"/>
                  <a:gd name="T1" fmla="*/ 2 h 365"/>
                  <a:gd name="T2" fmla="*/ 700 w 1146"/>
                  <a:gd name="T3" fmla="*/ 61 h 365"/>
                  <a:gd name="T4" fmla="*/ 1146 w 1146"/>
                  <a:gd name="T5" fmla="*/ 365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46" h="365">
                    <a:moveTo>
                      <a:pt x="0" y="2"/>
                    </a:moveTo>
                    <a:cubicBezTo>
                      <a:pt x="117" y="12"/>
                      <a:pt x="509" y="0"/>
                      <a:pt x="700" y="61"/>
                    </a:cubicBezTo>
                    <a:cubicBezTo>
                      <a:pt x="891" y="122"/>
                      <a:pt x="1053" y="302"/>
                      <a:pt x="1146" y="365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13"/>
              </a:p>
            </p:txBody>
          </p:sp>
          <p:sp>
            <p:nvSpPr>
              <p:cNvPr id="24" name="Line 77"/>
              <p:cNvSpPr>
                <a:spLocks noChangeShapeType="1"/>
              </p:cNvSpPr>
              <p:nvPr/>
            </p:nvSpPr>
            <p:spPr bwMode="auto">
              <a:xfrm flipH="1">
                <a:off x="9216" y="6048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13"/>
              </a:p>
            </p:txBody>
          </p:sp>
          <p:sp>
            <p:nvSpPr>
              <p:cNvPr id="25" name="Line 76"/>
              <p:cNvSpPr>
                <a:spLocks noChangeShapeType="1"/>
              </p:cNvSpPr>
              <p:nvPr/>
            </p:nvSpPr>
            <p:spPr bwMode="auto">
              <a:xfrm flipH="1">
                <a:off x="9256" y="6488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13"/>
              </a:p>
            </p:txBody>
          </p:sp>
          <p:sp>
            <p:nvSpPr>
              <p:cNvPr id="26" name="Line 75"/>
              <p:cNvSpPr>
                <a:spLocks noChangeShapeType="1"/>
              </p:cNvSpPr>
              <p:nvPr/>
            </p:nvSpPr>
            <p:spPr bwMode="auto">
              <a:xfrm flipH="1">
                <a:off x="10456" y="6268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13"/>
              </a:p>
            </p:txBody>
          </p:sp>
        </p:grpSp>
      </p:grpSp>
      <p:grpSp>
        <p:nvGrpSpPr>
          <p:cNvPr id="27" name="Group 81"/>
          <p:cNvGrpSpPr>
            <a:grpSpLocks/>
          </p:cNvGrpSpPr>
          <p:nvPr/>
        </p:nvGrpSpPr>
        <p:grpSpPr bwMode="auto">
          <a:xfrm>
            <a:off x="7571085" y="4810970"/>
            <a:ext cx="440531" cy="207169"/>
            <a:chOff x="10308" y="5904"/>
            <a:chExt cx="924" cy="434"/>
          </a:xfrm>
        </p:grpSpPr>
        <p:sp>
          <p:nvSpPr>
            <p:cNvPr id="28" name="Freeform 88"/>
            <p:cNvSpPr>
              <a:spLocks/>
            </p:cNvSpPr>
            <p:nvPr/>
          </p:nvSpPr>
          <p:spPr bwMode="auto">
            <a:xfrm>
              <a:off x="10389" y="5905"/>
              <a:ext cx="178" cy="433"/>
            </a:xfrm>
            <a:custGeom>
              <a:avLst/>
              <a:gdLst>
                <a:gd name="T0" fmla="*/ 0 w 314"/>
                <a:gd name="T1" fmla="*/ 720 h 720"/>
                <a:gd name="T2" fmla="*/ 314 w 314"/>
                <a:gd name="T3" fmla="*/ 383 h 720"/>
                <a:gd name="T4" fmla="*/ 0 w 314"/>
                <a:gd name="T5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4" h="720">
                  <a:moveTo>
                    <a:pt x="0" y="720"/>
                  </a:moveTo>
                  <a:cubicBezTo>
                    <a:pt x="52" y="664"/>
                    <a:pt x="314" y="503"/>
                    <a:pt x="314" y="383"/>
                  </a:cubicBezTo>
                  <a:cubicBezTo>
                    <a:pt x="314" y="263"/>
                    <a:pt x="65" y="80"/>
                    <a:pt x="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29" name="Freeform 87"/>
            <p:cNvSpPr>
              <a:spLocks/>
            </p:cNvSpPr>
            <p:nvPr/>
          </p:nvSpPr>
          <p:spPr bwMode="auto">
            <a:xfrm>
              <a:off x="10449" y="5904"/>
              <a:ext cx="648" cy="219"/>
            </a:xfrm>
            <a:custGeom>
              <a:avLst/>
              <a:gdLst>
                <a:gd name="T0" fmla="*/ 0 w 1146"/>
                <a:gd name="T1" fmla="*/ 2 h 365"/>
                <a:gd name="T2" fmla="*/ 700 w 1146"/>
                <a:gd name="T3" fmla="*/ 61 h 365"/>
                <a:gd name="T4" fmla="*/ 1146 w 1146"/>
                <a:gd name="T5" fmla="*/ 365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46" h="365">
                  <a:moveTo>
                    <a:pt x="0" y="2"/>
                  </a:moveTo>
                  <a:cubicBezTo>
                    <a:pt x="117" y="12"/>
                    <a:pt x="509" y="0"/>
                    <a:pt x="700" y="61"/>
                  </a:cubicBezTo>
                  <a:cubicBezTo>
                    <a:pt x="891" y="122"/>
                    <a:pt x="1053" y="302"/>
                    <a:pt x="1146" y="36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30" name="Freeform 86"/>
            <p:cNvSpPr>
              <a:spLocks/>
            </p:cNvSpPr>
            <p:nvPr/>
          </p:nvSpPr>
          <p:spPr bwMode="auto">
            <a:xfrm flipV="1">
              <a:off x="10449" y="6117"/>
              <a:ext cx="648" cy="219"/>
            </a:xfrm>
            <a:custGeom>
              <a:avLst/>
              <a:gdLst>
                <a:gd name="T0" fmla="*/ 0 w 1146"/>
                <a:gd name="T1" fmla="*/ 2 h 365"/>
                <a:gd name="T2" fmla="*/ 700 w 1146"/>
                <a:gd name="T3" fmla="*/ 61 h 365"/>
                <a:gd name="T4" fmla="*/ 1146 w 1146"/>
                <a:gd name="T5" fmla="*/ 365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46" h="365">
                  <a:moveTo>
                    <a:pt x="0" y="2"/>
                  </a:moveTo>
                  <a:cubicBezTo>
                    <a:pt x="117" y="12"/>
                    <a:pt x="509" y="0"/>
                    <a:pt x="700" y="61"/>
                  </a:cubicBezTo>
                  <a:cubicBezTo>
                    <a:pt x="891" y="122"/>
                    <a:pt x="1053" y="302"/>
                    <a:pt x="1146" y="36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31" name="Line 85"/>
            <p:cNvSpPr>
              <a:spLocks noChangeShapeType="1"/>
            </p:cNvSpPr>
            <p:nvPr/>
          </p:nvSpPr>
          <p:spPr bwMode="auto">
            <a:xfrm flipH="1">
              <a:off x="10308" y="5992"/>
              <a:ext cx="1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32" name="Line 84"/>
            <p:cNvSpPr>
              <a:spLocks noChangeShapeType="1"/>
            </p:cNvSpPr>
            <p:nvPr/>
          </p:nvSpPr>
          <p:spPr bwMode="auto">
            <a:xfrm flipH="1">
              <a:off x="10331" y="6256"/>
              <a:ext cx="1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33" name="Line 83"/>
            <p:cNvSpPr>
              <a:spLocks noChangeShapeType="1"/>
            </p:cNvSpPr>
            <p:nvPr/>
          </p:nvSpPr>
          <p:spPr bwMode="auto">
            <a:xfrm flipH="1">
              <a:off x="11069" y="6124"/>
              <a:ext cx="1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34" name="Freeform 82"/>
            <p:cNvSpPr>
              <a:spLocks/>
            </p:cNvSpPr>
            <p:nvPr/>
          </p:nvSpPr>
          <p:spPr bwMode="auto">
            <a:xfrm>
              <a:off x="10482" y="5904"/>
              <a:ext cx="178" cy="433"/>
            </a:xfrm>
            <a:custGeom>
              <a:avLst/>
              <a:gdLst>
                <a:gd name="T0" fmla="*/ 0 w 314"/>
                <a:gd name="T1" fmla="*/ 720 h 720"/>
                <a:gd name="T2" fmla="*/ 314 w 314"/>
                <a:gd name="T3" fmla="*/ 383 h 720"/>
                <a:gd name="T4" fmla="*/ 0 w 314"/>
                <a:gd name="T5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4" h="720">
                  <a:moveTo>
                    <a:pt x="0" y="720"/>
                  </a:moveTo>
                  <a:cubicBezTo>
                    <a:pt x="52" y="664"/>
                    <a:pt x="314" y="503"/>
                    <a:pt x="314" y="383"/>
                  </a:cubicBezTo>
                  <a:cubicBezTo>
                    <a:pt x="314" y="263"/>
                    <a:pt x="65" y="80"/>
                    <a:pt x="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</p:grpSp>
    </p:spTree>
    <p:extLst>
      <p:ext uri="{BB962C8B-B14F-4D97-AF65-F5344CB8AC3E}">
        <p14:creationId xmlns:p14="http://schemas.microsoft.com/office/powerpoint/2010/main" val="35771703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Precedence of 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i="1" dirty="0">
              <a:latin typeface="Cambria Math" pitchFamily="18" charset="0"/>
              <a:ea typeface="Cambria Math" pitchFamily="18" charset="0"/>
            </a:endParaRPr>
          </a:p>
          <a:p>
            <a:endParaRPr lang="en-US" i="1" dirty="0">
              <a:latin typeface="Cambria Math" pitchFamily="18" charset="0"/>
              <a:ea typeface="Cambria Math" pitchFamily="18" charset="0"/>
            </a:endParaRPr>
          </a:p>
          <a:p>
            <a:endParaRPr lang="en-US" i="1" dirty="0">
              <a:latin typeface="Cambria Math" pitchFamily="18" charset="0"/>
              <a:ea typeface="Cambria Math" pitchFamily="18" charset="0"/>
            </a:endParaRPr>
          </a:p>
          <a:p>
            <a:endParaRPr lang="en-US" i="1" dirty="0">
              <a:latin typeface="Cambria Math" pitchFamily="18" charset="0"/>
              <a:ea typeface="Cambria Math" pitchFamily="18" charset="0"/>
            </a:endParaRPr>
          </a:p>
          <a:p>
            <a:endParaRPr lang="en-US" i="1" dirty="0">
              <a:latin typeface="Cambria Math" pitchFamily="18" charset="0"/>
              <a:ea typeface="Cambria Math" pitchFamily="18" charset="0"/>
            </a:endParaRPr>
          </a:p>
          <a:p>
            <a:r>
              <a:rPr lang="en-US" i="1" dirty="0"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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  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r   </a:t>
            </a:r>
            <a:r>
              <a:rPr lang="en-US" dirty="0">
                <a:ea typeface="Cambria Math" pitchFamily="18" charset="0"/>
                <a:sym typeface="Symbol"/>
              </a:rPr>
              <a:t>is equivalent to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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  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r</a:t>
            </a:r>
          </a:p>
          <a:p>
            <a:r>
              <a:rPr lang="en-US" dirty="0">
                <a:ea typeface="Cambria Math" pitchFamily="18" charset="0"/>
                <a:sym typeface="Symbol"/>
              </a:rPr>
              <a:t>If the intended meaning is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 (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q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  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Symbol"/>
              </a:rPr>
              <a:t>r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Symbol"/>
              </a:rPr>
              <a:t>) </a:t>
            </a:r>
            <a:r>
              <a:rPr lang="en-US" dirty="0">
                <a:ea typeface="Cambria Math" pitchFamily="18" charset="0"/>
                <a:sym typeface="Symbol"/>
              </a:rPr>
              <a:t>then parentheses must be used.</a:t>
            </a:r>
            <a:r>
              <a:rPr lang="en-US" i="1" dirty="0">
                <a:ea typeface="Cambria Math" pitchFamily="18" charset="0"/>
                <a:sym typeface="Symbol"/>
              </a:rPr>
              <a:t>    </a:t>
            </a:r>
            <a:endParaRPr lang="en-US" i="1" dirty="0">
              <a:ea typeface="Cambria Math" pitchFamily="18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39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object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8485081"/>
                  </p:ext>
                </p:extLst>
              </p:nvPr>
            </p:nvGraphicFramePr>
            <p:xfrm>
              <a:off x="3785692" y="1422857"/>
              <a:ext cx="4878805" cy="2316285"/>
            </p:xfrm>
            <a:graphic>
              <a:graphicData uri="http://schemas.openxmlformats.org/drawingml/2006/table">
                <a:tbl>
                  <a:tblPr firstRow="1" bandRow="1">
                    <a:tableStyleId>{5DA37D80-6434-44D0-A028-1B22A696006F}</a:tableStyleId>
                  </a:tblPr>
                  <a:tblGrid>
                    <a:gridCol w="239715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816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01341">
                    <a:tc>
                      <a:txBody>
                        <a:bodyPr/>
                        <a:lstStyle/>
                        <a:p>
                          <a:pPr marL="0" marR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0" dirty="0"/>
                            <a:t>Operator</a:t>
                          </a:r>
                          <a:endParaRPr lang="en-US" sz="2400" b="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00000"/>
                            </a:lnSpc>
                          </a:pPr>
                          <a:r>
                            <a:rPr lang="en-US" sz="2400" b="0" dirty="0"/>
                            <a:t>Precedence</a:t>
                          </a:r>
                          <a:endParaRPr sz="2400" b="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8403">
                    <a:tc>
                      <a:txBody>
                        <a:bodyPr/>
                        <a:lstStyle/>
                        <a:p>
                          <a:pPr marL="155575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  <a:latin typeface="+mn-lt"/>
                              <a:ea typeface="Cambria" panose="02040503050406030204" pitchFamily="18" charset="0"/>
                              <a:sym typeface="Symbol"/>
                            </a:rPr>
                            <a:t></a:t>
                          </a:r>
                          <a:endParaRPr lang="en-US" sz="2400" b="1" dirty="0">
                            <a:solidFill>
                              <a:srgbClr val="C00000"/>
                            </a:solidFill>
                            <a:latin typeface="+mn-lt"/>
                            <a:ea typeface="Cambria" panose="02040503050406030204" pitchFamily="18" charset="0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+mn-lt"/>
                              <a:cs typeface="Arial"/>
                            </a:rPr>
                            <a:t>1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09261">
                    <a:tc>
                      <a:txBody>
                        <a:bodyPr/>
                        <a:lstStyle/>
                        <a:p>
                          <a:pPr marL="155575" algn="ctr">
                            <a:lnSpc>
                              <a:spcPct val="100000"/>
                            </a:lnSpc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⋀</m:t>
                              </m:r>
                            </m:oMath>
                          </a14:m>
                          <a:endParaRPr lang="en-US" sz="2400" dirty="0">
                            <a:solidFill>
                              <a:srgbClr val="C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+mn-lt"/>
                              <a:cs typeface="Arial"/>
                            </a:rPr>
                            <a:t>2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01100">
                    <a:tc>
                      <a:txBody>
                        <a:bodyPr/>
                        <a:lstStyle/>
                        <a:p>
                          <a:pPr marL="155575"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400" dirty="0">
                              <a:solidFill>
                                <a:srgbClr val="C00000"/>
                              </a:solidFill>
                              <a:ea typeface="新細明體" pitchFamily="18" charset="-120"/>
                              <a:sym typeface="Symbol" pitchFamily="18" charset="2"/>
                            </a:rPr>
                            <a:t>∨</a:t>
                          </a:r>
                          <a:endParaRPr sz="2400" dirty="0">
                            <a:solidFill>
                              <a:srgbClr val="C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00000"/>
                            </a:lnSpc>
                          </a:pPr>
                          <a:r>
                            <a:rPr lang="en-US" sz="2400" dirty="0"/>
                            <a:t>3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155575" algn="ctr">
                            <a:lnSpc>
                              <a:spcPct val="100000"/>
                            </a:lnSpc>
                          </a:pPr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  <a:sym typeface="Symbol"/>
                            </a:rPr>
                            <a:t></a:t>
                          </a:r>
                          <a:endParaRPr sz="2400" dirty="0">
                            <a:solidFill>
                              <a:srgbClr val="C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00000"/>
                            </a:lnSpc>
                          </a:pPr>
                          <a:r>
                            <a:rPr lang="en-US" sz="2400" dirty="0">
                              <a:latin typeface="+mn-lt"/>
                              <a:cs typeface="Arial"/>
                            </a:rPr>
                            <a:t>4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2665103712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155575" algn="ctr">
                            <a:lnSpc>
                              <a:spcPct val="100000"/>
                            </a:lnSpc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sym typeface="Symbol"/>
                            </a:rPr>
                            <a:t></a:t>
                          </a:r>
                          <a:endParaRPr sz="2400" dirty="0">
                            <a:solidFill>
                              <a:srgbClr val="C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00000"/>
                            </a:lnSpc>
                          </a:pPr>
                          <a:r>
                            <a:rPr lang="en-US" sz="2400" dirty="0">
                              <a:latin typeface="+mn-lt"/>
                              <a:cs typeface="Arial"/>
                            </a:rPr>
                            <a:t>5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32400245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object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8485081"/>
                  </p:ext>
                </p:extLst>
              </p:nvPr>
            </p:nvGraphicFramePr>
            <p:xfrm>
              <a:off x="3785692" y="1422857"/>
              <a:ext cx="4878805" cy="2316285"/>
            </p:xfrm>
            <a:graphic>
              <a:graphicData uri="http://schemas.openxmlformats.org/drawingml/2006/table">
                <a:tbl>
                  <a:tblPr firstRow="1" bandRow="1">
                    <a:tableStyleId>{5DA37D80-6434-44D0-A028-1B22A696006F}</a:tableStyleId>
                  </a:tblPr>
                  <a:tblGrid>
                    <a:gridCol w="239715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816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01341">
                    <a:tc>
                      <a:txBody>
                        <a:bodyPr/>
                        <a:lstStyle/>
                        <a:p>
                          <a:pPr marL="0" marR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0" dirty="0" smtClean="0"/>
                            <a:t>Operator</a:t>
                          </a:r>
                          <a:endParaRPr lang="en-US" sz="2400" b="0" dirty="0" smtClean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00000"/>
                            </a:lnSpc>
                          </a:pPr>
                          <a:r>
                            <a:rPr lang="en-US" sz="2400" b="0" dirty="0" smtClean="0"/>
                            <a:t>Precedence</a:t>
                          </a:r>
                          <a:endParaRPr sz="2400" b="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8403">
                    <a:tc>
                      <a:txBody>
                        <a:bodyPr/>
                        <a:lstStyle/>
                        <a:p>
                          <a:pPr marL="155575" marR="0" lvl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 smtClean="0">
                              <a:solidFill>
                                <a:srgbClr val="C00000"/>
                              </a:solidFill>
                              <a:latin typeface="+mn-lt"/>
                              <a:ea typeface="Cambria" panose="02040503050406030204" pitchFamily="18" charset="0"/>
                              <a:sym typeface="Symbol"/>
                            </a:rPr>
                            <a:t></a:t>
                          </a:r>
                          <a:endParaRPr lang="en-US" sz="2400" b="1" dirty="0" smtClean="0">
                            <a:solidFill>
                              <a:srgbClr val="C00000"/>
                            </a:solidFill>
                            <a:latin typeface="+mn-lt"/>
                            <a:ea typeface="Cambria" panose="02040503050406030204" pitchFamily="18" charset="0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+mn-lt"/>
                              <a:cs typeface="Arial"/>
                            </a:rPr>
                            <a:t>1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0926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3"/>
                          <a:stretch>
                            <a:fillRect l="-508" t="-213235" r="-104061" b="-30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latin typeface="+mn-lt"/>
                              <a:cs typeface="Arial"/>
                            </a:rPr>
                            <a:t>2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155575" algn="ctr">
                            <a:lnSpc>
                              <a:spcPct val="100000"/>
                            </a:lnSpc>
                          </a:pPr>
                          <a:r>
                            <a:rPr lang="en-US" altLang="zh-TW" sz="2400" dirty="0" smtClean="0">
                              <a:solidFill>
                                <a:srgbClr val="C00000"/>
                              </a:solidFill>
                              <a:ea typeface="新細明體" pitchFamily="18" charset="-120"/>
                              <a:sym typeface="Symbol" pitchFamily="18" charset="2"/>
                            </a:rPr>
                            <a:t>∨</a:t>
                          </a:r>
                          <a:endParaRPr sz="2400" dirty="0">
                            <a:solidFill>
                              <a:srgbClr val="C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00000"/>
                            </a:lnSpc>
                          </a:pPr>
                          <a:r>
                            <a:rPr lang="en-US" sz="2400" dirty="0" smtClean="0"/>
                            <a:t>3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155575" algn="ctr">
                            <a:lnSpc>
                              <a:spcPct val="100000"/>
                            </a:lnSpc>
                          </a:pPr>
                          <a:r>
                            <a:rPr lang="en-US" sz="2400" b="1" dirty="0" smtClean="0">
                              <a:solidFill>
                                <a:srgbClr val="C00000"/>
                              </a:solidFill>
                              <a:sym typeface="Symbol"/>
                            </a:rPr>
                            <a:t></a:t>
                          </a:r>
                          <a:endParaRPr sz="2400" dirty="0">
                            <a:solidFill>
                              <a:srgbClr val="C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00000"/>
                            </a:lnSpc>
                          </a:pPr>
                          <a:r>
                            <a:rPr lang="en-US" sz="2400" dirty="0" smtClean="0">
                              <a:latin typeface="+mn-lt"/>
                              <a:cs typeface="Arial"/>
                            </a:rPr>
                            <a:t>4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266510371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155575" algn="ctr">
                            <a:lnSpc>
                              <a:spcPct val="100000"/>
                            </a:lnSpc>
                          </a:pPr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  <a:sym typeface="Symbol"/>
                            </a:rPr>
                            <a:t></a:t>
                          </a:r>
                          <a:endParaRPr sz="2400" dirty="0">
                            <a:solidFill>
                              <a:srgbClr val="C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00000"/>
                            </a:lnSpc>
                          </a:pPr>
                          <a:r>
                            <a:rPr lang="en-US" sz="2400" dirty="0" smtClean="0">
                              <a:latin typeface="+mn-lt"/>
                              <a:cs typeface="Arial"/>
                            </a:rPr>
                            <a:t>5</a:t>
                          </a:r>
                          <a:endParaRPr sz="2400" dirty="0">
                            <a:latin typeface="+mn-lt"/>
                            <a:cs typeface="Arial"/>
                          </a:endParaRP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324002451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395125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Tautologies, Contradictions and Contingencies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 </a:t>
            </a:r>
            <a:r>
              <a:rPr lang="en-US" dirty="0">
                <a:solidFill>
                  <a:srgbClr val="C00000"/>
                </a:solidFill>
              </a:rPr>
              <a:t>tautology</a:t>
            </a:r>
            <a:r>
              <a:rPr lang="en-US" dirty="0"/>
              <a:t> is a proposition which is </a:t>
            </a:r>
            <a:r>
              <a:rPr lang="en-US" i="1" dirty="0"/>
              <a:t>always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True</a:t>
            </a:r>
            <a:endParaRPr lang="en-US" dirty="0"/>
          </a:p>
          <a:p>
            <a:pPr lvl="1"/>
            <a:r>
              <a:rPr lang="en-US" dirty="0"/>
              <a:t>Example: </a:t>
            </a:r>
            <a:r>
              <a:rPr lang="en-US" i="1" dirty="0"/>
              <a:t>p</a:t>
            </a:r>
            <a:r>
              <a:rPr lang="en-US" dirty="0"/>
              <a:t> ∨ ¬</a:t>
            </a:r>
            <a:r>
              <a:rPr lang="en-US" i="1" dirty="0"/>
              <a:t>p</a:t>
            </a:r>
            <a:r>
              <a:rPr lang="en-US" dirty="0"/>
              <a:t> 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contradiction</a:t>
            </a:r>
            <a:r>
              <a:rPr lang="en-US" dirty="0"/>
              <a:t> is a proposition which is </a:t>
            </a:r>
            <a:r>
              <a:rPr lang="en-US" i="1" dirty="0"/>
              <a:t>always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False</a:t>
            </a:r>
            <a:endParaRPr lang="en-US" dirty="0"/>
          </a:p>
          <a:p>
            <a:pPr lvl="1"/>
            <a:r>
              <a:rPr lang="en-US" dirty="0"/>
              <a:t>Example: </a:t>
            </a:r>
            <a:r>
              <a:rPr lang="en-US" i="1" dirty="0"/>
              <a:t>p</a:t>
            </a:r>
            <a:r>
              <a:rPr lang="en-US" dirty="0"/>
              <a:t> ∧ ¬</a:t>
            </a:r>
            <a:r>
              <a:rPr lang="en-US" i="1" dirty="0"/>
              <a:t>p</a:t>
            </a:r>
            <a:r>
              <a:rPr lang="en-US" dirty="0"/>
              <a:t> 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contingency</a:t>
            </a:r>
            <a:r>
              <a:rPr lang="en-US" dirty="0"/>
              <a:t> is a proposition which is </a:t>
            </a:r>
            <a:r>
              <a:rPr lang="en-US" i="1" dirty="0"/>
              <a:t>neither</a:t>
            </a:r>
            <a:r>
              <a:rPr lang="en-US" dirty="0"/>
              <a:t> a tautology </a:t>
            </a:r>
            <a:r>
              <a:rPr lang="en-US" i="1" dirty="0"/>
              <a:t>nor</a:t>
            </a:r>
            <a:r>
              <a:rPr lang="en-US" dirty="0"/>
              <a:t> a contradiction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14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Logically Equivalent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Two compound propositions </a:t>
                </a:r>
                <a:r>
                  <a:rPr lang="en-US" i="1" dirty="0"/>
                  <a:t>r</a:t>
                </a:r>
                <a:r>
                  <a:rPr lang="en-US" dirty="0"/>
                  <a:t> and </a:t>
                </a:r>
                <a:r>
                  <a:rPr lang="en-US" i="1" dirty="0"/>
                  <a:t>s</a:t>
                </a:r>
                <a:r>
                  <a:rPr lang="en-US" dirty="0"/>
                  <a:t> are </a:t>
                </a:r>
                <a:r>
                  <a:rPr lang="en-US" dirty="0">
                    <a:solidFill>
                      <a:srgbClr val="C00000"/>
                    </a:solidFill>
                  </a:rPr>
                  <a:t>logically equivalent </a:t>
                </a:r>
                <a:r>
                  <a:rPr lang="en-US" dirty="0"/>
                  <a:t>if  </a:t>
                </a:r>
                <a:r>
                  <a:rPr lang="en-US" i="1" dirty="0"/>
                  <a:t>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/>
                  <a:t>s</a:t>
                </a:r>
                <a:r>
                  <a:rPr lang="en-US" dirty="0"/>
                  <a:t>  is a tautology</a:t>
                </a:r>
              </a:p>
              <a:p>
                <a:pPr lvl="1"/>
                <a:r>
                  <a:rPr lang="en-US" dirty="0"/>
                  <a:t>Denoted by </a:t>
                </a:r>
                <a:r>
                  <a:rPr lang="en-US" i="1" dirty="0"/>
                  <a:t>r</a:t>
                </a:r>
                <a:r>
                  <a:rPr lang="en-US" dirty="0"/>
                  <a:t> ⇔ </a:t>
                </a:r>
                <a:r>
                  <a:rPr lang="en-US" i="1" dirty="0"/>
                  <a:t>s</a:t>
                </a:r>
                <a:r>
                  <a:rPr lang="en-US" dirty="0"/>
                  <a:t>  or as </a:t>
                </a:r>
                <a:r>
                  <a:rPr lang="en-US" i="1" dirty="0"/>
                  <a:t>r</a:t>
                </a:r>
                <a:r>
                  <a:rPr lang="en-US" dirty="0"/>
                  <a:t>  ≡ </a:t>
                </a:r>
                <a:r>
                  <a:rPr lang="en-US" i="1" dirty="0"/>
                  <a:t>s</a:t>
                </a:r>
                <a:r>
                  <a:rPr lang="en-US" dirty="0"/>
                  <a:t>, where </a:t>
                </a:r>
                <a:r>
                  <a:rPr lang="en-US" i="1" dirty="0"/>
                  <a:t>r</a:t>
                </a:r>
                <a:r>
                  <a:rPr lang="en-US" dirty="0"/>
                  <a:t> and </a:t>
                </a:r>
                <a:r>
                  <a:rPr lang="en-US" i="1" dirty="0"/>
                  <a:t>s</a:t>
                </a:r>
                <a:r>
                  <a:rPr lang="en-US" dirty="0"/>
                  <a:t> are compound propositions</a:t>
                </a:r>
              </a:p>
              <a:p>
                <a:r>
                  <a:rPr lang="en-US" dirty="0"/>
                  <a:t>In other words, two compound propositions </a:t>
                </a:r>
                <a:r>
                  <a:rPr lang="en-US" i="1" dirty="0"/>
                  <a:t>r</a:t>
                </a:r>
                <a:r>
                  <a:rPr lang="en-US" dirty="0"/>
                  <a:t> and </a:t>
                </a:r>
                <a:r>
                  <a:rPr lang="en-US" i="1" dirty="0"/>
                  <a:t>s</a:t>
                </a:r>
                <a:r>
                  <a:rPr lang="en-US" dirty="0"/>
                  <a:t> are equivalent  </a:t>
                </a:r>
                <a:r>
                  <a:rPr lang="en-US" dirty="0">
                    <a:solidFill>
                      <a:srgbClr val="C00000"/>
                    </a:solidFill>
                  </a:rPr>
                  <a:t>if and only if </a:t>
                </a:r>
                <a:r>
                  <a:rPr lang="en-US" dirty="0"/>
                  <a:t>the columns in a truth table giving their truth values agree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74" t="-2913" r="-1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0687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Logical Equivalence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truth table shows </a:t>
            </a:r>
            <a:r>
              <a:rPr lang="en-US" b="1" i="1" dirty="0"/>
              <a:t>r </a:t>
            </a:r>
            <a:r>
              <a:rPr lang="en-US" dirty="0"/>
              <a:t>: </a:t>
            </a:r>
            <a:r>
              <a:rPr lang="en-US" dirty="0">
                <a:ea typeface="Cambria Math"/>
              </a:rPr>
              <a:t>¬</a:t>
            </a:r>
            <a:r>
              <a:rPr lang="en-US" i="1" dirty="0">
                <a:ea typeface="Cambria Math" pitchFamily="18" charset="0"/>
              </a:rPr>
              <a:t>p </a:t>
            </a:r>
            <a:r>
              <a:rPr lang="en-US" dirty="0">
                <a:ea typeface="Cambria Math"/>
              </a:rPr>
              <a:t>∨ </a:t>
            </a:r>
            <a:r>
              <a:rPr lang="en-US" i="1" dirty="0">
                <a:ea typeface="Cambria Math" pitchFamily="18" charset="0"/>
              </a:rPr>
              <a:t>q  </a:t>
            </a:r>
            <a:r>
              <a:rPr lang="en-US" dirty="0">
                <a:ea typeface="Cambria Math" pitchFamily="18" charset="0"/>
              </a:rPr>
              <a:t>is </a:t>
            </a:r>
            <a:r>
              <a:rPr lang="en-US" dirty="0">
                <a:solidFill>
                  <a:srgbClr val="C00000"/>
                </a:solidFill>
                <a:ea typeface="Cambria Math" pitchFamily="18" charset="0"/>
              </a:rPr>
              <a:t>equivalent</a:t>
            </a:r>
            <a:r>
              <a:rPr lang="en-US" dirty="0">
                <a:ea typeface="Cambria Math" pitchFamily="18" charset="0"/>
              </a:rPr>
              <a:t> to </a:t>
            </a:r>
            <a:r>
              <a:rPr lang="en-US" b="1" i="1" dirty="0">
                <a:ea typeface="Cambria Math" pitchFamily="18" charset="0"/>
              </a:rPr>
              <a:t>s</a:t>
            </a:r>
            <a:r>
              <a:rPr lang="en-US" dirty="0">
                <a:ea typeface="Cambria Math" pitchFamily="18" charset="0"/>
              </a:rPr>
              <a:t>: </a:t>
            </a:r>
            <a:r>
              <a:rPr lang="en-US" i="1" dirty="0">
                <a:ea typeface="Cambria Math" pitchFamily="18" charset="0"/>
              </a:rPr>
              <a:t>p </a:t>
            </a:r>
            <a:r>
              <a:rPr lang="en-US" dirty="0">
                <a:ea typeface="Cambria Math"/>
              </a:rPr>
              <a:t>→</a:t>
            </a:r>
            <a:r>
              <a:rPr lang="en-US" i="1" dirty="0">
                <a:ea typeface="Cambria Math"/>
              </a:rPr>
              <a:t> </a:t>
            </a:r>
            <a:r>
              <a:rPr lang="en-US" i="1" dirty="0">
                <a:ea typeface="Cambria Math" pitchFamily="18" charset="0"/>
              </a:rPr>
              <a:t>q </a:t>
            </a:r>
            <a:r>
              <a:rPr lang="en-US" dirty="0">
                <a:ea typeface="Cambria Math" pitchFamily="18" charset="0"/>
              </a:rPr>
              <a:t>(and </a:t>
            </a:r>
            <a:r>
              <a:rPr lang="en-US" i="1" dirty="0">
                <a:ea typeface="Cambria Math" pitchFamily="18" charset="0"/>
              </a:rPr>
              <a:t>s</a:t>
            </a:r>
            <a:r>
              <a:rPr lang="en-US" dirty="0">
                <a:ea typeface="Cambria Math" pitchFamily="18" charset="0"/>
              </a:rPr>
              <a:t> is Equivalent to </a:t>
            </a:r>
            <a:r>
              <a:rPr lang="en-US" i="1" dirty="0">
                <a:ea typeface="Cambria Math" pitchFamily="18" charset="0"/>
              </a:rPr>
              <a:t>r</a:t>
            </a:r>
            <a:r>
              <a:rPr lang="en-US" dirty="0">
                <a:ea typeface="Cambria Math" pitchFamily="18" charset="0"/>
              </a:rPr>
              <a:t>)</a:t>
            </a:r>
            <a:endParaRPr lang="en-US" sz="3600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42</a:t>
            </a:fld>
            <a:endParaRPr lang="en-US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3686186" y="2748850"/>
          <a:ext cx="1371600" cy="24003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2700" i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p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i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q</a:t>
                      </a:r>
                      <a:r>
                        <a:rPr lang="en-US" sz="27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2700" b="0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2700" b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2700" b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2700" b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/>
          <p:cNvGraphicFramePr>
            <a:graphicFrameLocks/>
          </p:cNvGraphicFramePr>
          <p:nvPr/>
        </p:nvGraphicFramePr>
        <p:xfrm>
          <a:off x="5975117" y="2748850"/>
          <a:ext cx="1407967" cy="24003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4079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¬</a:t>
                      </a:r>
                      <a:r>
                        <a:rPr lang="en-US" sz="2700" i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7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2700">
                          <a:solidFill>
                            <a:schemeClr val="tx1"/>
                          </a:solidFill>
                          <a:ea typeface="Cambria Math"/>
                        </a:rPr>
                        <a:t>∨</a:t>
                      </a:r>
                      <a:r>
                        <a:rPr lang="en-US" sz="27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2700" i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q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2700" b="1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en-US" sz="2700" b="1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2700" b="1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en-US" sz="2700" b="1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2700" b="1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en-US" sz="2700" b="1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2700" b="1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en-US" sz="2700" b="1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/>
          <p:cNvGraphicFramePr>
            <a:graphicFrameLocks/>
          </p:cNvGraphicFramePr>
          <p:nvPr/>
        </p:nvGraphicFramePr>
        <p:xfrm>
          <a:off x="7383083" y="2748850"/>
          <a:ext cx="992334" cy="24003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923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i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p</a:t>
                      </a:r>
                      <a:r>
                        <a:rPr lang="en-US" sz="27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 → </a:t>
                      </a:r>
                      <a:r>
                        <a:rPr lang="en-US" sz="2700" i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q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2700" b="1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en-US" sz="2700" b="1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2700" b="1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en-US" sz="2700" b="1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2700" b="1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en-US" sz="2700" b="1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2700" b="1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en-US" sz="2700" b="1" dirty="0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/>
          <p:cNvGraphicFramePr>
            <a:graphicFrameLocks/>
          </p:cNvGraphicFramePr>
          <p:nvPr/>
        </p:nvGraphicFramePr>
        <p:xfrm>
          <a:off x="5060717" y="2748850"/>
          <a:ext cx="914400" cy="24003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¬</a:t>
                      </a:r>
                      <a:r>
                        <a:rPr lang="en-US" sz="2700" i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p</a:t>
                      </a:r>
                    </a:p>
                  </a:txBody>
                  <a:tcPr marL="68580" marR="68580" marT="34290" marB="34290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2700" b="0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2700" b="0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2700" b="0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lang="en-US" sz="2700" b="0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1405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rbel" panose="020B0503020204020204" pitchFamily="34" charset="0"/>
              </a:rPr>
              <a:t>De Morgan’s 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¬(</a:t>
            </a:r>
            <a:r>
              <a:rPr lang="en-US" i="1" dirty="0"/>
              <a:t>p</a:t>
            </a:r>
            <a:r>
              <a:rPr lang="en-US" dirty="0"/>
              <a:t> ∧ </a:t>
            </a:r>
            <a:r>
              <a:rPr lang="en-US" i="1" dirty="0"/>
              <a:t>q</a:t>
            </a:r>
            <a:r>
              <a:rPr lang="en-US" dirty="0"/>
              <a:t>) ≡ ¬</a:t>
            </a:r>
            <a:r>
              <a:rPr lang="en-US" i="1" dirty="0"/>
              <a:t>p</a:t>
            </a:r>
            <a:r>
              <a:rPr lang="en-US" dirty="0"/>
              <a:t> ∨ ¬</a:t>
            </a:r>
            <a:r>
              <a:rPr lang="en-US" i="1" dirty="0"/>
              <a:t>q, </a:t>
            </a:r>
            <a:r>
              <a:rPr lang="en-US" sz="2400" dirty="0"/>
              <a:t>[</a:t>
            </a:r>
            <a:r>
              <a:rPr lang="en-US" sz="2400" dirty="0">
                <a:solidFill>
                  <a:srgbClr val="0000CC"/>
                </a:solidFill>
              </a:rPr>
              <a:t>first law</a:t>
            </a:r>
            <a:r>
              <a:rPr lang="en-US" sz="2400" dirty="0"/>
              <a:t>]</a:t>
            </a:r>
            <a:br>
              <a:rPr lang="en-US" dirty="0"/>
            </a:br>
            <a:r>
              <a:rPr lang="en-US" dirty="0"/>
              <a:t>¬(</a:t>
            </a:r>
            <a:r>
              <a:rPr lang="en-US" i="1" dirty="0"/>
              <a:t>p</a:t>
            </a:r>
            <a:r>
              <a:rPr lang="en-US" dirty="0"/>
              <a:t> ∨ </a:t>
            </a:r>
            <a:r>
              <a:rPr lang="en-US" i="1" dirty="0"/>
              <a:t>q</a:t>
            </a:r>
            <a:r>
              <a:rPr lang="en-US" dirty="0"/>
              <a:t>) ≡ ¬</a:t>
            </a:r>
            <a:r>
              <a:rPr lang="en-US" i="1" dirty="0"/>
              <a:t>p</a:t>
            </a:r>
            <a:r>
              <a:rPr lang="en-US" dirty="0"/>
              <a:t> ∧ ¬</a:t>
            </a:r>
            <a:r>
              <a:rPr lang="en-US" i="1" dirty="0"/>
              <a:t>q, </a:t>
            </a:r>
            <a:r>
              <a:rPr lang="en-US" sz="2400" dirty="0"/>
              <a:t>[</a:t>
            </a:r>
            <a:r>
              <a:rPr lang="en-US" sz="2400" dirty="0">
                <a:solidFill>
                  <a:srgbClr val="0000CC"/>
                </a:solidFill>
              </a:rPr>
              <a:t>second law</a:t>
            </a:r>
            <a:r>
              <a:rPr lang="en-US" sz="2400" dirty="0"/>
              <a:t>]</a:t>
            </a:r>
            <a:endParaRPr lang="en-US" sz="2400" i="1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¬</a:t>
            </a:r>
            <a:r>
              <a:rPr lang="en-US" i="1" dirty="0"/>
              <a:t>p</a:t>
            </a:r>
            <a:r>
              <a:rPr lang="en-US" dirty="0"/>
              <a:t> ∨ ¬</a:t>
            </a:r>
            <a:r>
              <a:rPr lang="en-US" i="1" dirty="0"/>
              <a:t>q</a:t>
            </a:r>
            <a:r>
              <a:rPr lang="en-US" dirty="0"/>
              <a:t> ≡ ¬(</a:t>
            </a:r>
            <a:r>
              <a:rPr lang="en-US" i="1" dirty="0"/>
              <a:t>p</a:t>
            </a:r>
            <a:r>
              <a:rPr lang="en-US" dirty="0"/>
              <a:t> ∧ </a:t>
            </a:r>
            <a:r>
              <a:rPr lang="en-US" i="1" dirty="0"/>
              <a:t>q</a:t>
            </a:r>
            <a:r>
              <a:rPr lang="en-US" dirty="0"/>
              <a:t>) </a:t>
            </a:r>
            <a:br>
              <a:rPr lang="en-US" dirty="0"/>
            </a:br>
            <a:r>
              <a:rPr lang="en-US" dirty="0"/>
              <a:t>¬</a:t>
            </a:r>
            <a:r>
              <a:rPr lang="en-US" i="1" dirty="0"/>
              <a:t>p</a:t>
            </a:r>
            <a:r>
              <a:rPr lang="en-US" dirty="0"/>
              <a:t> ∧ ¬</a:t>
            </a:r>
            <a:r>
              <a:rPr lang="en-US" i="1" dirty="0"/>
              <a:t>q </a:t>
            </a:r>
            <a:r>
              <a:rPr lang="en-US" dirty="0"/>
              <a:t>≡ ¬(</a:t>
            </a:r>
            <a:r>
              <a:rPr lang="en-US" i="1" dirty="0"/>
              <a:t>p</a:t>
            </a:r>
            <a:r>
              <a:rPr lang="en-US" dirty="0"/>
              <a:t> ∨ </a:t>
            </a:r>
            <a:r>
              <a:rPr lang="en-US" i="1" dirty="0"/>
              <a:t>q</a:t>
            </a:r>
            <a:r>
              <a:rPr lang="en-US" dirty="0"/>
              <a:t>) </a:t>
            </a:r>
            <a:endParaRPr lang="en-US" i="1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017B-1767-4C05-8279-C189AA0C4571}" type="datetime1">
              <a:rPr lang="en-US" smtClean="0"/>
              <a:t>6/18/2023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43</a:t>
            </a:fld>
            <a:endParaRPr lang="en-US"/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/>
          </p:nvPr>
        </p:nvGraphicFramePr>
        <p:xfrm>
          <a:off x="2383884" y="2622040"/>
          <a:ext cx="4057650" cy="21717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i="1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a:t>p</a:t>
                      </a:r>
                      <a:endParaRPr lang="en-US" sz="2400" b="0" i="1">
                        <a:solidFill>
                          <a:schemeClr val="tx1"/>
                        </a:solidFill>
                        <a:latin typeface="+mn-lt"/>
                        <a:ea typeface="Cambria Math" panose="02040503050406030204" pitchFamily="18" charset="0"/>
                      </a:endParaRPr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a:t>q</a:t>
                      </a:r>
                      <a:endParaRPr lang="en-US" sz="2400" b="0" i="1">
                        <a:solidFill>
                          <a:schemeClr val="tx1"/>
                        </a:solidFill>
                        <a:latin typeface="+mn-lt"/>
                        <a:ea typeface="Cambria Math" panose="02040503050406030204" pitchFamily="18" charset="0"/>
                      </a:endParaRPr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a:t>¬</a:t>
                      </a:r>
                      <a:r>
                        <a:rPr lang="en-US" sz="2400" i="1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a:t>p</a:t>
                      </a:r>
                      <a:endParaRPr lang="en-US" sz="2400" b="0" i="1">
                        <a:solidFill>
                          <a:schemeClr val="tx1"/>
                        </a:solidFill>
                        <a:latin typeface="+mn-lt"/>
                        <a:ea typeface="Cambria Math" panose="02040503050406030204" pitchFamily="18" charset="0"/>
                      </a:endParaRPr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a:t>¬</a:t>
                      </a:r>
                      <a:r>
                        <a:rPr lang="en-US" sz="2400" i="1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a:t>q</a:t>
                      </a:r>
                      <a:endParaRPr lang="en-US" sz="2400" b="0" i="1">
                        <a:solidFill>
                          <a:schemeClr val="tx1"/>
                        </a:solidFill>
                        <a:latin typeface="+mn-lt"/>
                        <a:ea typeface="Cambria Math" panose="02040503050406030204" pitchFamily="18" charset="0"/>
                      </a:endParaRPr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a:t>(</a:t>
                      </a:r>
                      <a:r>
                        <a:rPr lang="en-US" sz="2400" i="1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a:t>p 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a:t>∨</a:t>
                      </a:r>
                      <a:r>
                        <a:rPr lang="en-US" sz="2400" i="1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a:t>q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a:t>)</a:t>
                      </a:r>
                      <a:endParaRPr lang="en-US" sz="2400" b="0" i="1">
                        <a:solidFill>
                          <a:schemeClr val="tx1"/>
                        </a:solidFill>
                        <a:latin typeface="+mn-lt"/>
                        <a:ea typeface="Cambria Math" panose="02040503050406030204" pitchFamily="18" charset="0"/>
                      </a:endParaRPr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/>
          <p:cNvGraphicFramePr>
            <a:graphicFrameLocks/>
          </p:cNvGraphicFramePr>
          <p:nvPr>
            <p:extLst/>
          </p:nvPr>
        </p:nvGraphicFramePr>
        <p:xfrm>
          <a:off x="6441534" y="2622040"/>
          <a:ext cx="1235869" cy="21717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35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a:t>¬(</a:t>
                      </a:r>
                      <a:r>
                        <a:rPr lang="en-US" sz="2400" i="1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a:t>p 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a:t>∨</a:t>
                      </a:r>
                      <a:r>
                        <a:rPr lang="en-US" sz="2400" i="1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a:t>q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a:t>)</a:t>
                      </a:r>
                      <a:endParaRPr lang="en-US" sz="2400" b="0" i="1">
                        <a:solidFill>
                          <a:schemeClr val="tx1"/>
                        </a:solidFill>
                        <a:latin typeface="+mn-lt"/>
                        <a:ea typeface="Cambria Math" pitchFamily="18" charset="0"/>
                      </a:endParaRPr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en-US" sz="2400" b="1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en-US" sz="2400" b="1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en-US" sz="2400" b="1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en-US" sz="2400" b="1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/>
          <p:cNvGraphicFramePr>
            <a:graphicFrameLocks/>
          </p:cNvGraphicFramePr>
          <p:nvPr>
            <p:extLst/>
          </p:nvPr>
        </p:nvGraphicFramePr>
        <p:xfrm>
          <a:off x="7677403" y="2622040"/>
          <a:ext cx="1314451" cy="21717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144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a:t>¬</a:t>
                      </a:r>
                      <a:r>
                        <a:rPr lang="en-US" sz="2400" i="1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a:t>p 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a:t>∧¬</a:t>
                      </a:r>
                      <a:r>
                        <a:rPr lang="en-US" sz="2400" i="1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a:t>q</a:t>
                      </a:r>
                      <a:endParaRPr lang="en-US" sz="2400" b="0" i="1">
                        <a:solidFill>
                          <a:schemeClr val="tx1"/>
                        </a:solidFill>
                        <a:latin typeface="+mn-lt"/>
                        <a:ea typeface="Cambria Math" pitchFamily="18" charset="0"/>
                      </a:endParaRPr>
                    </a:p>
                  </a:txBody>
                  <a:tcPr marL="68580" marR="68580" marT="34290" marB="3429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endParaRPr lang="en-US" sz="2400" b="1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en-US" sz="2400" b="1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en-US" sz="2400" b="1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latin typeface="Cambria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  <a:endParaRPr lang="en-US" sz="2400" b="1">
                        <a:solidFill>
                          <a:srgbClr val="00B050"/>
                        </a:solidFill>
                        <a:latin typeface="Cambria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: Rounded Corners 3">
            <a:extLst>
              <a:ext uri="{FF2B5EF4-FFF2-40B4-BE49-F238E27FC236}">
                <a16:creationId xmlns:a16="http://schemas.microsoft.com/office/drawing/2014/main" id="{FFC3F42D-CD65-4BD8-B1BA-BD2A797189F5}"/>
              </a:ext>
            </a:extLst>
          </p:cNvPr>
          <p:cNvSpPr/>
          <p:nvPr/>
        </p:nvSpPr>
        <p:spPr>
          <a:xfrm>
            <a:off x="6773626" y="3078223"/>
            <a:ext cx="559965" cy="1715518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2" name="Rectangle: Rounded Corners 12">
            <a:extLst>
              <a:ext uri="{FF2B5EF4-FFF2-40B4-BE49-F238E27FC236}">
                <a16:creationId xmlns:a16="http://schemas.microsoft.com/office/drawing/2014/main" id="{2B4528E3-4E6D-4DF3-B92C-95EAF27A73EA}"/>
              </a:ext>
            </a:extLst>
          </p:cNvPr>
          <p:cNvSpPr/>
          <p:nvPr/>
        </p:nvSpPr>
        <p:spPr>
          <a:xfrm>
            <a:off x="8048293" y="3078222"/>
            <a:ext cx="559965" cy="1715518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</p:spTree>
    <p:extLst>
      <p:ext uri="{BB962C8B-B14F-4D97-AF65-F5344CB8AC3E}">
        <p14:creationId xmlns:p14="http://schemas.microsoft.com/office/powerpoint/2010/main" val="2361295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78287-CB85-4025-AF59-56FEE856B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 Morgan’s Laws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0219B-1205-4690-848D-B6C872788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applying De Morgan’s laws on compound propositional expressions, make sure to put brackets first around conjunctive operators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¬(</a:t>
            </a:r>
            <a:r>
              <a:rPr lang="en-US" i="1" dirty="0"/>
              <a:t>p</a:t>
            </a:r>
            <a:r>
              <a:rPr lang="en-US" dirty="0"/>
              <a:t> ∧ </a:t>
            </a:r>
            <a:r>
              <a:rPr lang="en-US" i="1" dirty="0"/>
              <a:t>q V r </a:t>
            </a:r>
            <a:r>
              <a:rPr lang="en-US" dirty="0"/>
              <a:t>∧</a:t>
            </a:r>
            <a:r>
              <a:rPr lang="en-US" i="1" dirty="0"/>
              <a:t> 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≡ ¬((</a:t>
            </a:r>
            <a:r>
              <a:rPr lang="en-US" i="1" dirty="0"/>
              <a:t>p</a:t>
            </a:r>
            <a:r>
              <a:rPr lang="en-US" dirty="0"/>
              <a:t> ∧ </a:t>
            </a:r>
            <a:r>
              <a:rPr lang="en-US" i="1" dirty="0"/>
              <a:t>q) V (r </a:t>
            </a:r>
            <a:r>
              <a:rPr lang="en-US" dirty="0"/>
              <a:t>∧</a:t>
            </a:r>
            <a:r>
              <a:rPr lang="en-US" i="1" dirty="0"/>
              <a:t> s</a:t>
            </a:r>
            <a:r>
              <a:rPr lang="en-US" dirty="0"/>
              <a:t>))</a:t>
            </a:r>
          </a:p>
          <a:p>
            <a:pPr lvl="1"/>
            <a:r>
              <a:rPr lang="en-US" dirty="0"/>
              <a:t>≡ ¬(</a:t>
            </a:r>
            <a:r>
              <a:rPr lang="en-US" i="1" dirty="0"/>
              <a:t>p</a:t>
            </a:r>
            <a:r>
              <a:rPr lang="en-US" dirty="0"/>
              <a:t> ∧ </a:t>
            </a:r>
            <a:r>
              <a:rPr lang="en-US" i="1" dirty="0"/>
              <a:t>q) </a:t>
            </a:r>
            <a:r>
              <a:rPr lang="en-US" dirty="0"/>
              <a:t>∧</a:t>
            </a:r>
            <a:r>
              <a:rPr lang="en-US" i="1" dirty="0"/>
              <a:t> </a:t>
            </a:r>
            <a:r>
              <a:rPr lang="en-US" dirty="0"/>
              <a:t>¬ </a:t>
            </a:r>
            <a:r>
              <a:rPr lang="en-US" i="1" dirty="0"/>
              <a:t>(r </a:t>
            </a:r>
            <a:r>
              <a:rPr lang="en-US" dirty="0"/>
              <a:t>∧</a:t>
            </a:r>
            <a:r>
              <a:rPr lang="en-US" i="1" dirty="0"/>
              <a:t> 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≡ (¬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en-US" i="1" dirty="0"/>
              <a:t>V</a:t>
            </a:r>
            <a:r>
              <a:rPr lang="en-US" dirty="0"/>
              <a:t> ¬</a:t>
            </a:r>
            <a:r>
              <a:rPr lang="en-US" i="1" dirty="0"/>
              <a:t>q) </a:t>
            </a:r>
            <a:r>
              <a:rPr lang="en-US" dirty="0"/>
              <a:t>∧</a:t>
            </a:r>
            <a:r>
              <a:rPr lang="en-US" i="1" dirty="0"/>
              <a:t> (</a:t>
            </a:r>
            <a:r>
              <a:rPr lang="en-US" dirty="0"/>
              <a:t>¬</a:t>
            </a:r>
            <a:r>
              <a:rPr lang="en-US" i="1" dirty="0"/>
              <a:t>r V </a:t>
            </a:r>
            <a:r>
              <a:rPr lang="en-US" dirty="0"/>
              <a:t>¬</a:t>
            </a:r>
            <a:r>
              <a:rPr lang="en-US" i="1" dirty="0"/>
              <a:t>s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7BF95-A2BA-44B8-A2BC-1124F1932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5BB5B-A3B8-40FE-92AD-333928D7E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662B9-8B5D-418A-94CD-99A638F6D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498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86220-5E99-4EE3-924C-B7D76A62C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86605"/>
            <a:ext cx="11582400" cy="703996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Argument and Inference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793D4-48F2-4C94-87E4-271864FC7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b="1" dirty="0"/>
              <a:t>Argument</a:t>
            </a:r>
            <a:r>
              <a:rPr lang="en-US" altLang="en-US" dirty="0"/>
              <a:t>: a sequence of statements that end with a conclusion</a:t>
            </a:r>
          </a:p>
          <a:p>
            <a:r>
              <a:rPr lang="en-US" altLang="en-US" b="1" dirty="0"/>
              <a:t>Valid Argument</a:t>
            </a:r>
            <a:r>
              <a:rPr lang="en-US" altLang="en-US" dirty="0"/>
              <a:t>: the conclusion or final statement of the argument must follow the truth of preceding statements or </a:t>
            </a:r>
            <a:r>
              <a:rPr lang="en-US" altLang="en-US" b="1" dirty="0"/>
              <a:t>premises</a:t>
            </a:r>
            <a:r>
              <a:rPr lang="en-US" altLang="en-US" dirty="0"/>
              <a:t> of the argument</a:t>
            </a:r>
          </a:p>
          <a:p>
            <a:pPr lvl="1"/>
            <a:r>
              <a:rPr lang="en-US" altLang="en-US" dirty="0"/>
              <a:t>An argument is valid </a:t>
            </a:r>
            <a:r>
              <a:rPr lang="en-US" altLang="en-US" i="1" dirty="0"/>
              <a:t>if and only if </a:t>
            </a:r>
            <a:r>
              <a:rPr lang="en-US" altLang="en-US" dirty="0"/>
              <a:t>it is </a:t>
            </a:r>
            <a:r>
              <a:rPr lang="en-US" altLang="en-US" i="1" dirty="0"/>
              <a:t>impossible</a:t>
            </a:r>
            <a:r>
              <a:rPr lang="en-US" altLang="en-US" dirty="0"/>
              <a:t> for all the premises to be </a:t>
            </a:r>
            <a:r>
              <a:rPr lang="en-US" altLang="en-US" i="1" dirty="0"/>
              <a:t>true</a:t>
            </a:r>
            <a:r>
              <a:rPr lang="en-US" altLang="en-US" dirty="0"/>
              <a:t> and the conclusion to be </a:t>
            </a:r>
            <a:r>
              <a:rPr lang="en-US" altLang="en-US" i="1" dirty="0"/>
              <a:t>false</a:t>
            </a:r>
          </a:p>
          <a:p>
            <a:r>
              <a:rPr lang="en-US" altLang="en-US" b="1" dirty="0"/>
              <a:t>Inference </a:t>
            </a:r>
            <a:r>
              <a:rPr lang="en-US" altLang="en-US" dirty="0"/>
              <a:t>is the operation of deriving new facts from old ones.</a:t>
            </a:r>
          </a:p>
          <a:p>
            <a:r>
              <a:rPr lang="en-US" altLang="en-US" dirty="0"/>
              <a:t>Rules of </a:t>
            </a:r>
            <a:r>
              <a:rPr lang="en-US" altLang="en-US" b="1" dirty="0"/>
              <a:t>inference</a:t>
            </a:r>
            <a:r>
              <a:rPr lang="en-US" altLang="en-US" dirty="0"/>
              <a:t>: used to deduce (construct) new statements from statements that we already have</a:t>
            </a:r>
          </a:p>
          <a:p>
            <a:pPr lvl="1"/>
            <a:r>
              <a:rPr lang="en-US" altLang="en-US" dirty="0">
                <a:solidFill>
                  <a:srgbClr val="00A64E"/>
                </a:solidFill>
              </a:rPr>
              <a:t>Basic tools for establishing the truth of statements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06519-E823-4911-8426-A0B9C50A3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36EC3-C47E-41F4-9C89-AAB446917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DE229-69DA-46E8-BB56-951444DB4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381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6C90F-0BA1-421F-AC1B-6F5C21D88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Valid Arguments in Propositional Logic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F078C-441E-4EE4-8C93-FF5C7117D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FC53A-0679-4C8F-8959-E1F3A2274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CF539-22BF-44D0-AE56-467D9A55F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46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A685194-78F4-4DBC-92C5-4E1747BAD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975" y="1205359"/>
            <a:ext cx="10834012" cy="4917266"/>
          </a:xfrm>
        </p:spPr>
        <p:txBody>
          <a:bodyPr/>
          <a:lstStyle/>
          <a:p>
            <a:r>
              <a:rPr lang="en-US" altLang="en-US" dirty="0"/>
              <a:t>Consider the following arguments involving propositions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/>
              <a:t>   “</a:t>
            </a:r>
            <a:r>
              <a:rPr lang="en-US" altLang="en-US" dirty="0">
                <a:solidFill>
                  <a:srgbClr val="00A64E"/>
                </a:solidFill>
              </a:rPr>
              <a:t>If you have a current password, </a:t>
            </a:r>
            <a:br>
              <a:rPr lang="en-US" altLang="en-US" dirty="0">
                <a:solidFill>
                  <a:srgbClr val="00A64E"/>
                </a:solidFill>
              </a:rPr>
            </a:br>
            <a:r>
              <a:rPr lang="en-US" altLang="en-US" dirty="0">
                <a:solidFill>
                  <a:srgbClr val="00A64E"/>
                </a:solidFill>
              </a:rPr>
              <a:t>then you can login to the network</a:t>
            </a:r>
            <a:r>
              <a:rPr lang="en-US" altLang="en-US" dirty="0"/>
              <a:t>”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/>
              <a:t>    “You have a current password”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/>
              <a:t>    therefore,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/>
              <a:t>    “You can login to the network”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dirty="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FBC2E7EE-6E9A-4C7E-B304-11D988ACD821}"/>
              </a:ext>
            </a:extLst>
          </p:cNvPr>
          <p:cNvSpPr/>
          <p:nvPr/>
        </p:nvSpPr>
        <p:spPr>
          <a:xfrm>
            <a:off x="7073246" y="1913152"/>
            <a:ext cx="152400" cy="1676400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sz="1351">
              <a:latin typeface="Cambria" panose="02040503050406030204" pitchFamily="18" charset="0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152385A7-1A08-492A-9B21-242E6B43D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5458" y="2880746"/>
            <a:ext cx="13872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dirty="0">
                <a:solidFill>
                  <a:srgbClr val="FF0000"/>
                </a:solidFill>
                <a:latin typeface="Cambria" panose="02040503050406030204" pitchFamily="18" charset="0"/>
              </a:rPr>
              <a:t>premises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8E3646FD-A890-4F70-9297-DDA1D472A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5458" y="4096826"/>
            <a:ext cx="15985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dirty="0">
                <a:solidFill>
                  <a:srgbClr val="FF0000"/>
                </a:solidFill>
                <a:latin typeface="Cambria" panose="02040503050406030204" pitchFamily="18" charset="0"/>
              </a:rPr>
              <a:t>conclusion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E62E5C-E074-4ABE-AA4B-ABE4A9F8073B}"/>
              </a:ext>
            </a:extLst>
          </p:cNvPr>
          <p:cNvSpPr/>
          <p:nvPr/>
        </p:nvSpPr>
        <p:spPr>
          <a:xfrm>
            <a:off x="10093108" y="4802848"/>
            <a:ext cx="1528195" cy="92384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351" i="1">
                <a:latin typeface="Cambria" panose="02040503050406030204" pitchFamily="18" charset="0"/>
              </a:rPr>
              <a:t>p </a:t>
            </a:r>
            <a:r>
              <a:rPr lang="en-US" sz="1351">
                <a:latin typeface="Cambria" panose="02040503050406030204" pitchFamily="18" charset="0"/>
              </a:rPr>
              <a:t>→ </a:t>
            </a:r>
            <a:r>
              <a:rPr lang="en-US" sz="1351" i="1">
                <a:latin typeface="Cambria" panose="02040503050406030204" pitchFamily="18" charset="0"/>
              </a:rPr>
              <a:t>q</a:t>
            </a:r>
          </a:p>
          <a:p>
            <a:r>
              <a:rPr lang="en-US" sz="1351" i="1">
                <a:latin typeface="Cambria" panose="02040503050406030204" pitchFamily="18" charset="0"/>
              </a:rPr>
              <a:t>p </a:t>
            </a:r>
          </a:p>
          <a:p>
            <a:r>
              <a:rPr lang="en-US" sz="1351" i="1">
                <a:latin typeface="Cambria" panose="02040503050406030204" pitchFamily="18" charset="0"/>
              </a:rPr>
              <a:t>______       </a:t>
            </a:r>
          </a:p>
          <a:p>
            <a:r>
              <a:rPr lang="en-US" sz="1351">
                <a:latin typeface="Cambria" panose="02040503050406030204" pitchFamily="18" charset="0"/>
              </a:rPr>
              <a:t>∴ </a:t>
            </a:r>
            <a:r>
              <a:rPr lang="en-US" sz="1351" i="1">
                <a:latin typeface="Cambria" panose="02040503050406030204" pitchFamily="18" charset="0"/>
              </a:rPr>
              <a:t>q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1B5390-A1E6-4128-A7A4-8CDC86FB80A9}"/>
              </a:ext>
            </a:extLst>
          </p:cNvPr>
          <p:cNvSpPr/>
          <p:nvPr/>
        </p:nvSpPr>
        <p:spPr>
          <a:xfrm>
            <a:off x="346788" y="2951720"/>
            <a:ext cx="591976" cy="3002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351" b="1" i="1">
                <a:solidFill>
                  <a:schemeClr val="tx1"/>
                </a:solidFill>
                <a:latin typeface="Cambria" panose="02040503050406030204" pitchFamily="18" charset="0"/>
              </a:rPr>
              <a:t>p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A088B2-1D96-4E94-B386-075B15AB63AC}"/>
              </a:ext>
            </a:extLst>
          </p:cNvPr>
          <p:cNvSpPr/>
          <p:nvPr/>
        </p:nvSpPr>
        <p:spPr>
          <a:xfrm>
            <a:off x="7705012" y="2365778"/>
            <a:ext cx="591976" cy="3002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351" b="1" i="1">
                <a:solidFill>
                  <a:schemeClr val="tx1"/>
                </a:solidFill>
                <a:latin typeface="Cambria" panose="02040503050406030204" pitchFamily="18" charset="0"/>
              </a:rPr>
              <a:t>q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6E97C3-404C-474A-AF3C-50397A21689F}"/>
              </a:ext>
            </a:extLst>
          </p:cNvPr>
          <p:cNvSpPr/>
          <p:nvPr/>
        </p:nvSpPr>
        <p:spPr>
          <a:xfrm>
            <a:off x="166643" y="2107295"/>
            <a:ext cx="1020691" cy="3002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351" b="1" i="1">
                <a:solidFill>
                  <a:schemeClr val="tx1"/>
                </a:solidFill>
                <a:latin typeface="Cambria" panose="02040503050406030204" pitchFamily="18" charset="0"/>
              </a:rPr>
              <a:t>p → q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F64698-4B36-41DC-8D4C-A678CB310F1D}"/>
              </a:ext>
            </a:extLst>
          </p:cNvPr>
          <p:cNvSpPr/>
          <p:nvPr/>
        </p:nvSpPr>
        <p:spPr>
          <a:xfrm>
            <a:off x="7705012" y="1889474"/>
            <a:ext cx="591976" cy="3002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351" b="1" i="1" dirty="0">
                <a:solidFill>
                  <a:schemeClr val="tx1"/>
                </a:solidFill>
                <a:latin typeface="Cambria" panose="02040503050406030204" pitchFamily="18" charset="0"/>
              </a:rPr>
              <a:t>p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376B50-57BF-4688-859B-4561300A20F4}"/>
              </a:ext>
            </a:extLst>
          </p:cNvPr>
          <p:cNvSpPr/>
          <p:nvPr/>
        </p:nvSpPr>
        <p:spPr>
          <a:xfrm>
            <a:off x="381000" y="4258281"/>
            <a:ext cx="591976" cy="3002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351" b="1" i="1">
                <a:solidFill>
                  <a:schemeClr val="tx1"/>
                </a:solidFill>
                <a:latin typeface="Cambria" panose="02040503050406030204" pitchFamily="18" charset="0"/>
              </a:rPr>
              <a:t>q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F5E20B-451D-457D-B04F-9626FE37CCF8}"/>
              </a:ext>
            </a:extLst>
          </p:cNvPr>
          <p:cNvSpPr/>
          <p:nvPr/>
        </p:nvSpPr>
        <p:spPr>
          <a:xfrm>
            <a:off x="381000" y="3588577"/>
            <a:ext cx="591976" cy="3002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351" i="1">
                <a:solidFill>
                  <a:schemeClr val="tx1"/>
                </a:solidFill>
                <a:latin typeface="Cambria" panose="02040503050406030204" pitchFamily="18" charset="0"/>
              </a:rPr>
              <a:t>  </a:t>
            </a:r>
            <a:r>
              <a:rPr lang="en-US" sz="1351">
                <a:solidFill>
                  <a:schemeClr val="tx1"/>
                </a:solidFill>
                <a:latin typeface="Cambria" panose="02040503050406030204" pitchFamily="18" charset="0"/>
              </a:rPr>
              <a:t>∴</a:t>
            </a:r>
            <a:endParaRPr lang="en-US" sz="1351" i="1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4EDB50-F463-4E59-9AFA-89F7586075E0}"/>
              </a:ext>
            </a:extLst>
          </p:cNvPr>
          <p:cNvSpPr/>
          <p:nvPr/>
        </p:nvSpPr>
        <p:spPr>
          <a:xfrm>
            <a:off x="10093108" y="4802848"/>
            <a:ext cx="1528195" cy="9238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351" b="1" i="1">
                <a:solidFill>
                  <a:schemeClr val="tx1"/>
                </a:solidFill>
                <a:latin typeface="Cambria" panose="02040503050406030204" pitchFamily="18" charset="0"/>
              </a:rPr>
              <a:t>p </a:t>
            </a:r>
          </a:p>
          <a:p>
            <a:r>
              <a:rPr lang="en-US" sz="1351" b="1" i="1">
                <a:solidFill>
                  <a:schemeClr val="tx1"/>
                </a:solidFill>
                <a:latin typeface="Cambria" panose="02040503050406030204" pitchFamily="18" charset="0"/>
              </a:rPr>
              <a:t>p </a:t>
            </a:r>
            <a:r>
              <a:rPr lang="en-US" sz="1351" b="1">
                <a:solidFill>
                  <a:schemeClr val="tx1"/>
                </a:solidFill>
                <a:latin typeface="Cambria" panose="02040503050406030204" pitchFamily="18" charset="0"/>
              </a:rPr>
              <a:t>→ </a:t>
            </a:r>
            <a:r>
              <a:rPr lang="en-US" sz="1351" b="1" i="1">
                <a:solidFill>
                  <a:schemeClr val="tx1"/>
                </a:solidFill>
                <a:latin typeface="Cambria" panose="02040503050406030204" pitchFamily="18" charset="0"/>
              </a:rPr>
              <a:t>q</a:t>
            </a:r>
          </a:p>
          <a:p>
            <a:r>
              <a:rPr lang="en-US" sz="1351" b="1" i="1">
                <a:solidFill>
                  <a:schemeClr val="tx1"/>
                </a:solidFill>
                <a:latin typeface="Cambria" panose="02040503050406030204" pitchFamily="18" charset="0"/>
              </a:rPr>
              <a:t>______       </a:t>
            </a:r>
          </a:p>
          <a:p>
            <a:r>
              <a:rPr lang="en-US" sz="1351">
                <a:solidFill>
                  <a:schemeClr val="tx1"/>
                </a:solidFill>
                <a:latin typeface="Cambria" panose="02040503050406030204" pitchFamily="18" charset="0"/>
              </a:rPr>
              <a:t>∴</a:t>
            </a:r>
            <a:r>
              <a:rPr lang="en-US" sz="1351" b="1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lang="en-US" sz="1351" b="1" i="1">
                <a:solidFill>
                  <a:schemeClr val="tx1"/>
                </a:solidFill>
                <a:latin typeface="Cambria" panose="02040503050406030204" pitchFamily="18" charset="0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2974503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BFAA0-550C-416A-AFC2-1ECD833A2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79171"/>
            <a:ext cx="11582400" cy="703996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Cambria" panose="02040503050406030204" pitchFamily="18" charset="0"/>
              </a:rPr>
              <a:t>Valid Arguments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3C9DC-C5A5-44D7-901F-D094FB845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BCFC6-1868-4EC3-8782-44EDFAC1D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8258B-A668-4292-AB2B-843C5D55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47</a:t>
            </a:fld>
            <a:endParaRPr lang="en-US"/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F6C38852-B7FF-44CE-9322-95750172F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1" y="1708174"/>
            <a:ext cx="769768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</a:rPr>
              <a:t>(</a:t>
            </a:r>
            <a:r>
              <a:rPr lang="en-US" sz="2800" i="1" dirty="0">
                <a:solidFill>
                  <a:srgbClr val="FF0000"/>
                </a:solidFill>
                <a:latin typeface="Cambria" panose="02040503050406030204" pitchFamily="18" charset="0"/>
              </a:rPr>
              <a:t>p 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</a:rPr>
              <a:t>∧ (</a:t>
            </a:r>
            <a:r>
              <a:rPr lang="en-US" sz="2800" i="1" dirty="0">
                <a:solidFill>
                  <a:srgbClr val="FF0000"/>
                </a:solidFill>
                <a:latin typeface="Cambria" panose="02040503050406030204" pitchFamily="18" charset="0"/>
              </a:rPr>
              <a:t>p 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</a:rPr>
              <a:t>→ </a:t>
            </a:r>
            <a:r>
              <a:rPr lang="en-US" sz="2800" i="1" dirty="0">
                <a:solidFill>
                  <a:srgbClr val="FF0000"/>
                </a:solidFill>
                <a:latin typeface="Cambria" panose="02040503050406030204" pitchFamily="18" charset="0"/>
              </a:rPr>
              <a:t>q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</a:rPr>
              <a:t>))</a:t>
            </a:r>
            <a:r>
              <a:rPr lang="en-US" sz="2800" i="1" dirty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</a:rPr>
              <a:t>→ </a:t>
            </a:r>
            <a:r>
              <a:rPr lang="en-US" sz="2800" i="1" dirty="0">
                <a:solidFill>
                  <a:srgbClr val="FF0000"/>
                </a:solidFill>
                <a:latin typeface="Cambria" panose="02040503050406030204" pitchFamily="18" charset="0"/>
              </a:rPr>
              <a:t>q 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</a:rPr>
              <a:t>is </a:t>
            </a:r>
            <a:r>
              <a:rPr lang="en-GB" altLang="en-US" sz="2800" dirty="0">
                <a:solidFill>
                  <a:srgbClr val="FF0000"/>
                </a:solidFill>
                <a:latin typeface="Cambria" panose="02040503050406030204" pitchFamily="18" charset="0"/>
              </a:rPr>
              <a:t>a tautology (always true)</a:t>
            </a:r>
          </a:p>
        </p:txBody>
      </p:sp>
      <p:sp>
        <p:nvSpPr>
          <p:cNvPr id="8" name="Text Box 13">
            <a:extLst>
              <a:ext uri="{FF2B5EF4-FFF2-40B4-BE49-F238E27FC236}">
                <a16:creationId xmlns:a16="http://schemas.microsoft.com/office/drawing/2014/main" id="{4671F711-43F9-4859-8463-B6710BDAA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5139" y="5548333"/>
            <a:ext cx="3476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dirty="0">
                <a:latin typeface="Cambria" panose="02040503050406030204" pitchFamily="18" charset="0"/>
              </a:rPr>
              <a:t>This is another way of saying that</a:t>
            </a:r>
          </a:p>
        </p:txBody>
      </p:sp>
      <p:cxnSp>
        <p:nvCxnSpPr>
          <p:cNvPr id="9" name="AutoShape 15">
            <a:extLst>
              <a:ext uri="{FF2B5EF4-FFF2-40B4-BE49-F238E27FC236}">
                <a16:creationId xmlns:a16="http://schemas.microsoft.com/office/drawing/2014/main" id="{6D786BF6-F7DE-4D0D-8647-B877CE534381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1188535" y="2777641"/>
            <a:ext cx="3450647" cy="2474915"/>
          </a:xfrm>
          <a:prstGeom prst="curvedConnector3">
            <a:avLst>
              <a:gd name="adj1" fmla="val -594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F053FB5-9351-4CC8-BA0B-980050ADFE17}"/>
              </a:ext>
            </a:extLst>
          </p:cNvPr>
          <p:cNvSpPr/>
          <p:nvPr/>
        </p:nvSpPr>
        <p:spPr>
          <a:xfrm>
            <a:off x="9772990" y="4040497"/>
            <a:ext cx="18962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>
                <a:latin typeface="Cambria" panose="02040503050406030204" pitchFamily="18" charset="0"/>
              </a:rPr>
              <a:t>∴ therefore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8A425F4-5E21-4AF2-B41A-26E152088418}"/>
              </a:ext>
            </a:extLst>
          </p:cNvPr>
          <p:cNvGraphicFramePr>
            <a:graphicFrameLocks noGrp="1"/>
          </p:cNvGraphicFramePr>
          <p:nvPr/>
        </p:nvGraphicFramePr>
        <p:xfrm>
          <a:off x="2286000" y="2415267"/>
          <a:ext cx="902336" cy="2590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51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2800" i="1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q</a:t>
                      </a:r>
                      <a:endParaRPr lang="en-US" sz="2800" i="1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F</a:t>
                      </a:r>
                      <a:endParaRPr lang="en-US" sz="280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F</a:t>
                      </a:r>
                      <a:endParaRPr lang="en-US" sz="280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F</a:t>
                      </a:r>
                      <a:endParaRPr lang="en-US" sz="280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T</a:t>
                      </a:r>
                      <a:endParaRPr lang="en-US" sz="280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T</a:t>
                      </a:r>
                      <a:endParaRPr lang="en-US" sz="280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F</a:t>
                      </a:r>
                      <a:endParaRPr lang="en-US" sz="280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T</a:t>
                      </a:r>
                      <a:endParaRPr lang="en-US" sz="280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T</a:t>
                      </a:r>
                      <a:endParaRPr lang="en-US" sz="280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2" name="AutoShape 15">
            <a:extLst>
              <a:ext uri="{FF2B5EF4-FFF2-40B4-BE49-F238E27FC236}">
                <a16:creationId xmlns:a16="http://schemas.microsoft.com/office/drawing/2014/main" id="{DD57A2B2-659E-4670-8D4F-B446B7124899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7418454" y="2948263"/>
            <a:ext cx="3219817" cy="2097087"/>
          </a:xfrm>
          <a:prstGeom prst="curvedConnector3">
            <a:avLst>
              <a:gd name="adj1" fmla="val 98121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1635ECC-9F25-4D24-A48C-CAB213AA7A67}"/>
              </a:ext>
            </a:extLst>
          </p:cNvPr>
          <p:cNvGraphicFramePr>
            <a:graphicFrameLocks noGrp="1"/>
          </p:cNvGraphicFramePr>
          <p:nvPr/>
        </p:nvGraphicFramePr>
        <p:xfrm>
          <a:off x="3176553" y="2413827"/>
          <a:ext cx="1268731" cy="2590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68731">
                  <a:extLst>
                    <a:ext uri="{9D8B030D-6E8A-4147-A177-3AD203B41FA5}">
                      <a16:colId xmlns:a16="http://schemas.microsoft.com/office/drawing/2014/main" val="354128207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p → q</a:t>
                      </a:r>
                      <a:endParaRPr lang="en-US" sz="2800" i="1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97551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T</a:t>
                      </a:r>
                      <a:endParaRPr lang="en-US" sz="280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26471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T</a:t>
                      </a:r>
                      <a:endParaRPr lang="en-US" sz="280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80803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F</a:t>
                      </a:r>
                      <a:endParaRPr lang="en-US" sz="280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00895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T</a:t>
                      </a:r>
                      <a:endParaRPr lang="en-US" sz="280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4773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19E54F0-E378-4052-B4B4-6DF4DC34BE04}"/>
              </a:ext>
            </a:extLst>
          </p:cNvPr>
          <p:cNvGraphicFramePr>
            <a:graphicFrameLocks noGrp="1"/>
          </p:cNvGraphicFramePr>
          <p:nvPr/>
        </p:nvGraphicFramePr>
        <p:xfrm>
          <a:off x="4445283" y="2413827"/>
          <a:ext cx="2037080" cy="2590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3687120318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p  </a:t>
                      </a:r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(p → q)</a:t>
                      </a:r>
                      <a:endParaRPr lang="en-US" sz="2800" i="1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97551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F</a:t>
                      </a:r>
                      <a:endParaRPr lang="en-US" sz="280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26471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F</a:t>
                      </a:r>
                      <a:endParaRPr lang="en-US" sz="280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80803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F</a:t>
                      </a:r>
                      <a:endParaRPr lang="en-US" sz="280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00895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T</a:t>
                      </a:r>
                      <a:endParaRPr lang="en-US" sz="280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47732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FED53FB-DBE0-430B-9D87-435A91611F0F}"/>
              </a:ext>
            </a:extLst>
          </p:cNvPr>
          <p:cNvGraphicFramePr>
            <a:graphicFrameLocks noGrp="1"/>
          </p:cNvGraphicFramePr>
          <p:nvPr/>
        </p:nvGraphicFramePr>
        <p:xfrm>
          <a:off x="6417947" y="2413827"/>
          <a:ext cx="3029268" cy="2590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029268">
                  <a:extLst>
                    <a:ext uri="{9D8B030D-6E8A-4147-A177-3AD203B41FA5}">
                      <a16:colId xmlns:a16="http://schemas.microsoft.com/office/drawing/2014/main" val="3328916914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80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p  </a:t>
                      </a:r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(p → q)</a:t>
                      </a:r>
                      <a:r>
                        <a:rPr lang="en-US" sz="280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)</a:t>
                      </a:r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 → q</a:t>
                      </a:r>
                      <a:endParaRPr lang="en-US" sz="2800" i="1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97551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T</a:t>
                      </a:r>
                      <a:endParaRPr lang="en-US" sz="280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26471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T</a:t>
                      </a:r>
                      <a:endParaRPr lang="en-US" sz="280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80803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T</a:t>
                      </a:r>
                      <a:endParaRPr lang="en-US" sz="280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00895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T</a:t>
                      </a:r>
                      <a:endParaRPr lang="en-US" sz="2800"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47732"/>
                  </a:ext>
                </a:extLst>
              </a:tr>
            </a:tbl>
          </a:graphicData>
        </a:graphic>
      </p:graphicFrame>
      <p:sp>
        <p:nvSpPr>
          <p:cNvPr id="17" name="Oval 16">
            <a:extLst>
              <a:ext uri="{FF2B5EF4-FFF2-40B4-BE49-F238E27FC236}">
                <a16:creationId xmlns:a16="http://schemas.microsoft.com/office/drawing/2014/main" id="{90AB22FD-8C33-43AD-83ED-FDAD4B3DB13F}"/>
              </a:ext>
            </a:extLst>
          </p:cNvPr>
          <p:cNvSpPr/>
          <p:nvPr/>
        </p:nvSpPr>
        <p:spPr>
          <a:xfrm>
            <a:off x="7467601" y="2937572"/>
            <a:ext cx="915889" cy="2096235"/>
          </a:xfrm>
          <a:prstGeom prst="ellipse">
            <a:avLst/>
          </a:prstGeom>
          <a:solidFill>
            <a:srgbClr val="E3DF37">
              <a:alpha val="1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13A7A0C-D7CD-4EDB-B733-2D3F4B55B3E8}"/>
              </a:ext>
            </a:extLst>
          </p:cNvPr>
          <p:cNvSpPr/>
          <p:nvPr/>
        </p:nvSpPr>
        <p:spPr>
          <a:xfrm>
            <a:off x="2319949" y="2490025"/>
            <a:ext cx="347051" cy="2512219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A01E519-B7F8-4D1B-BEFD-175669F64832}"/>
              </a:ext>
            </a:extLst>
          </p:cNvPr>
          <p:cNvSpPr/>
          <p:nvPr/>
        </p:nvSpPr>
        <p:spPr>
          <a:xfrm>
            <a:off x="3204021" y="2490025"/>
            <a:ext cx="1241263" cy="2543779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812258-EDF2-4158-A3FF-CC33B451A59C}"/>
              </a:ext>
            </a:extLst>
          </p:cNvPr>
          <p:cNvSpPr/>
          <p:nvPr/>
        </p:nvSpPr>
        <p:spPr>
          <a:xfrm>
            <a:off x="9539163" y="1441260"/>
            <a:ext cx="1528195" cy="9238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351" i="1" dirty="0">
                <a:solidFill>
                  <a:schemeClr val="tx1"/>
                </a:solidFill>
                <a:latin typeface="Cambria" panose="02040503050406030204" pitchFamily="18" charset="0"/>
              </a:rPr>
              <a:t>p </a:t>
            </a:r>
          </a:p>
          <a:p>
            <a:r>
              <a:rPr lang="en-US" sz="1351" i="1" dirty="0">
                <a:solidFill>
                  <a:schemeClr val="tx1"/>
                </a:solidFill>
                <a:latin typeface="Cambria" panose="02040503050406030204" pitchFamily="18" charset="0"/>
              </a:rPr>
              <a:t>p </a:t>
            </a:r>
            <a:r>
              <a:rPr lang="en-US" sz="1351" dirty="0">
                <a:solidFill>
                  <a:schemeClr val="tx1"/>
                </a:solidFill>
                <a:latin typeface="Cambria" panose="02040503050406030204" pitchFamily="18" charset="0"/>
              </a:rPr>
              <a:t>→ </a:t>
            </a:r>
            <a:r>
              <a:rPr lang="en-US" sz="1351" i="1" dirty="0">
                <a:solidFill>
                  <a:schemeClr val="tx1"/>
                </a:solidFill>
                <a:latin typeface="Cambria" panose="02040503050406030204" pitchFamily="18" charset="0"/>
              </a:rPr>
              <a:t>q</a:t>
            </a:r>
          </a:p>
          <a:p>
            <a:r>
              <a:rPr lang="en-US" sz="1351" i="1" dirty="0">
                <a:solidFill>
                  <a:schemeClr val="tx1"/>
                </a:solidFill>
                <a:latin typeface="Cambria" panose="02040503050406030204" pitchFamily="18" charset="0"/>
              </a:rPr>
              <a:t>______       </a:t>
            </a:r>
          </a:p>
          <a:p>
            <a:r>
              <a:rPr lang="en-US" sz="1351" dirty="0">
                <a:solidFill>
                  <a:schemeClr val="tx1"/>
                </a:solidFill>
                <a:latin typeface="Cambria" panose="02040503050406030204" pitchFamily="18" charset="0"/>
              </a:rPr>
              <a:t>∴ </a:t>
            </a:r>
            <a:r>
              <a:rPr lang="en-US" sz="1351" i="1" dirty="0">
                <a:solidFill>
                  <a:schemeClr val="tx1"/>
                </a:solidFill>
                <a:latin typeface="Cambria" panose="02040503050406030204" pitchFamily="18" charset="0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215456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7" grpId="0" animBg="1"/>
      <p:bldP spid="18" grpId="0" animBg="1"/>
      <p:bldP spid="18" grpId="1" animBg="1"/>
      <p:bldP spid="19" grpId="0" animBg="1"/>
      <p:bldP spid="19" grpId="1" animBg="1"/>
      <p:bldP spid="2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2E207-0954-4A53-AB4E-D8BBA97C8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Rules of Inference for Propositional Logic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F7AC4-593D-4095-8FA2-998F5CA3E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Can always use truth table to show an </a:t>
            </a:r>
            <a:r>
              <a:rPr lang="en-US" altLang="en-US" dirty="0">
                <a:solidFill>
                  <a:srgbClr val="FF0000"/>
                </a:solidFill>
              </a:rPr>
              <a:t>argument form </a:t>
            </a:r>
            <a:r>
              <a:rPr lang="en-US" altLang="en-US" dirty="0"/>
              <a:t>is valid</a:t>
            </a:r>
          </a:p>
          <a:p>
            <a:r>
              <a:rPr lang="en-US" altLang="en-US" dirty="0"/>
              <a:t>For an argument form with 10 propositional variables, the truth table requires 2</a:t>
            </a:r>
            <a:r>
              <a:rPr lang="en-US" altLang="en-US" baseline="30000" dirty="0"/>
              <a:t>10</a:t>
            </a:r>
            <a:r>
              <a:rPr lang="en-US" altLang="en-US" dirty="0"/>
              <a:t> rows (1024)</a:t>
            </a:r>
          </a:p>
          <a:p>
            <a:r>
              <a:rPr lang="en-US" altLang="en-US" dirty="0"/>
              <a:t>The tautology (</a:t>
            </a:r>
            <a:r>
              <a:rPr lang="en-US" i="1" dirty="0"/>
              <a:t>p </a:t>
            </a:r>
            <a:r>
              <a:rPr lang="en-US" dirty="0"/>
              <a:t>∧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i="1" dirty="0"/>
              <a:t>p </a:t>
            </a:r>
            <a:r>
              <a:rPr lang="en-US" dirty="0"/>
              <a:t>→</a:t>
            </a:r>
            <a:r>
              <a:rPr lang="en-US" i="1" dirty="0"/>
              <a:t> q</a:t>
            </a:r>
            <a:r>
              <a:rPr lang="en-US" dirty="0"/>
              <a:t>))</a:t>
            </a:r>
            <a:r>
              <a:rPr lang="en-US" i="1" dirty="0"/>
              <a:t> </a:t>
            </a:r>
            <a:r>
              <a:rPr lang="en-US" dirty="0"/>
              <a:t>→</a:t>
            </a:r>
            <a:r>
              <a:rPr lang="en-US" i="1" dirty="0"/>
              <a:t> q</a:t>
            </a:r>
            <a:r>
              <a:rPr lang="en-US" altLang="en-US" dirty="0"/>
              <a:t> is the rule of inference called </a:t>
            </a:r>
            <a:r>
              <a:rPr lang="en-US" altLang="en-US" b="1" dirty="0">
                <a:solidFill>
                  <a:srgbClr val="FF0000"/>
                </a:solidFill>
              </a:rPr>
              <a:t>modus ponens </a:t>
            </a:r>
            <a:r>
              <a:rPr lang="en-US" altLang="en-US" dirty="0"/>
              <a:t>(</a:t>
            </a:r>
            <a:r>
              <a:rPr lang="en-US" altLang="en-US" i="1" dirty="0"/>
              <a:t>mode that affirms</a:t>
            </a:r>
            <a:r>
              <a:rPr lang="en-US" altLang="en-US" dirty="0"/>
              <a:t>), or the </a:t>
            </a:r>
            <a:r>
              <a:rPr lang="en-US" altLang="en-US" b="1" dirty="0">
                <a:solidFill>
                  <a:srgbClr val="FF0000"/>
                </a:solidFill>
              </a:rPr>
              <a:t>law of detachment 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D8434-5BBE-4EC5-888E-763A7F7E7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10552-D371-428B-BAAC-EEACDF59D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46490-EDC3-4159-9900-50A17DE7A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48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3FE694-F868-4765-87ED-46213B4F5B4C}"/>
              </a:ext>
            </a:extLst>
          </p:cNvPr>
          <p:cNvSpPr/>
          <p:nvPr/>
        </p:nvSpPr>
        <p:spPr>
          <a:xfrm>
            <a:off x="10057640" y="4589807"/>
            <a:ext cx="1528195" cy="9238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351" i="1" dirty="0">
                <a:solidFill>
                  <a:schemeClr val="tx1"/>
                </a:solidFill>
                <a:latin typeface="Cambria" panose="02040503050406030204" pitchFamily="18" charset="0"/>
              </a:rPr>
              <a:t>p </a:t>
            </a:r>
          </a:p>
          <a:p>
            <a:r>
              <a:rPr lang="en-US" sz="1351" i="1" dirty="0">
                <a:solidFill>
                  <a:schemeClr val="tx1"/>
                </a:solidFill>
                <a:latin typeface="Cambria" panose="02040503050406030204" pitchFamily="18" charset="0"/>
              </a:rPr>
              <a:t>p </a:t>
            </a:r>
            <a:r>
              <a:rPr lang="en-US" sz="1351" dirty="0">
                <a:solidFill>
                  <a:schemeClr val="tx1"/>
                </a:solidFill>
                <a:latin typeface="Cambria" panose="02040503050406030204" pitchFamily="18" charset="0"/>
              </a:rPr>
              <a:t>→ </a:t>
            </a:r>
            <a:r>
              <a:rPr lang="en-US" sz="1351" i="1" dirty="0">
                <a:solidFill>
                  <a:schemeClr val="tx1"/>
                </a:solidFill>
                <a:latin typeface="Cambria" panose="02040503050406030204" pitchFamily="18" charset="0"/>
              </a:rPr>
              <a:t>q</a:t>
            </a:r>
          </a:p>
          <a:p>
            <a:r>
              <a:rPr lang="en-US" sz="1351" i="1" dirty="0">
                <a:solidFill>
                  <a:schemeClr val="tx1"/>
                </a:solidFill>
                <a:latin typeface="Cambria" panose="02040503050406030204" pitchFamily="18" charset="0"/>
              </a:rPr>
              <a:t>______       </a:t>
            </a:r>
          </a:p>
          <a:p>
            <a:r>
              <a:rPr lang="en-US" sz="1351" dirty="0">
                <a:solidFill>
                  <a:schemeClr val="tx1"/>
                </a:solidFill>
                <a:latin typeface="Cambria" panose="02040503050406030204" pitchFamily="18" charset="0"/>
              </a:rPr>
              <a:t>∴ </a:t>
            </a:r>
            <a:r>
              <a:rPr lang="en-US" sz="1351" i="1" dirty="0">
                <a:solidFill>
                  <a:schemeClr val="tx1"/>
                </a:solidFill>
                <a:latin typeface="Cambria" panose="02040503050406030204" pitchFamily="18" charset="0"/>
              </a:rPr>
              <a:t>q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97C2F5-878C-47CF-B1F6-48D9ED15B7CC}"/>
              </a:ext>
            </a:extLst>
          </p:cNvPr>
          <p:cNvSpPr/>
          <p:nvPr/>
        </p:nvSpPr>
        <p:spPr>
          <a:xfrm>
            <a:off x="385013" y="4530943"/>
            <a:ext cx="8458199" cy="10772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en-US" sz="3200" b="1" dirty="0">
                <a:solidFill>
                  <a:schemeClr val="tx1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Argument form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: a sequence of compound propositions involving propositional variables</a:t>
            </a:r>
            <a:endParaRPr lang="en-US" altLang="en-US" sz="3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063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4C2EB-D0F4-46D0-BB6A-3B81EE03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70BB9-AAF3-402B-BE30-5A093CA07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If both statements </a:t>
            </a:r>
          </a:p>
          <a:p>
            <a:pPr lvl="1"/>
            <a:r>
              <a:rPr lang="en-US" altLang="en-US" dirty="0"/>
              <a:t>“If it snows today, then we will go skiing”</a:t>
            </a:r>
          </a:p>
          <a:p>
            <a:pPr lvl="1"/>
            <a:r>
              <a:rPr lang="en-US" altLang="en-US" dirty="0"/>
              <a:t>“It is snowing today” </a:t>
            </a:r>
          </a:p>
          <a:p>
            <a:pPr marL="0" indent="0">
              <a:buNone/>
            </a:pPr>
            <a:r>
              <a:rPr lang="en-US" altLang="en-US" dirty="0"/>
              <a:t>are true</a:t>
            </a:r>
          </a:p>
          <a:p>
            <a:r>
              <a:rPr lang="en-US" altLang="en-US" dirty="0"/>
              <a:t>By </a:t>
            </a:r>
            <a:r>
              <a:rPr lang="en-US" altLang="en-US" dirty="0">
                <a:solidFill>
                  <a:srgbClr val="FF0000"/>
                </a:solidFill>
              </a:rPr>
              <a:t>modus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FF0000"/>
                </a:solidFill>
              </a:rPr>
              <a:t>ponens</a:t>
            </a:r>
            <a:r>
              <a:rPr lang="en-US" altLang="en-US" dirty="0"/>
              <a:t>, </a:t>
            </a:r>
          </a:p>
          <a:p>
            <a:pPr lvl="1"/>
            <a:r>
              <a:rPr lang="en-US" altLang="en-US" dirty="0"/>
              <a:t>it follows the conclusion </a:t>
            </a:r>
          </a:p>
          <a:p>
            <a:pPr lvl="2"/>
            <a:r>
              <a:rPr lang="en-US" altLang="en-US" dirty="0"/>
              <a:t>“We will go skiing” </a:t>
            </a:r>
            <a:br>
              <a:rPr lang="en-US" altLang="en-US" dirty="0"/>
            </a:br>
            <a:r>
              <a:rPr lang="en-US" altLang="en-US" dirty="0"/>
              <a:t>	is true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11231-2C41-4E86-B7E3-045504D34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1D5CD-39F6-4B85-936F-E231BA53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79EA4-D9E6-4F63-9FA6-BC2922DA7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49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28A973-F3B0-48C9-A56B-2A5F24D1387E}"/>
              </a:ext>
            </a:extLst>
          </p:cNvPr>
          <p:cNvSpPr/>
          <p:nvPr/>
        </p:nvSpPr>
        <p:spPr>
          <a:xfrm>
            <a:off x="9682301" y="3114653"/>
            <a:ext cx="1528195" cy="9238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351" i="1">
                <a:solidFill>
                  <a:schemeClr val="tx1"/>
                </a:solidFill>
                <a:latin typeface="Cambria" panose="02040503050406030204" pitchFamily="18" charset="0"/>
              </a:rPr>
              <a:t>p </a:t>
            </a:r>
          </a:p>
          <a:p>
            <a:r>
              <a:rPr lang="en-US" sz="1351" i="1">
                <a:solidFill>
                  <a:schemeClr val="tx1"/>
                </a:solidFill>
                <a:latin typeface="Cambria" panose="02040503050406030204" pitchFamily="18" charset="0"/>
              </a:rPr>
              <a:t>p </a:t>
            </a:r>
            <a:r>
              <a:rPr lang="en-US" sz="1351">
                <a:solidFill>
                  <a:schemeClr val="tx1"/>
                </a:solidFill>
                <a:latin typeface="Cambria" panose="02040503050406030204" pitchFamily="18" charset="0"/>
              </a:rPr>
              <a:t>→ </a:t>
            </a:r>
            <a:r>
              <a:rPr lang="en-US" sz="1351" i="1">
                <a:solidFill>
                  <a:schemeClr val="tx1"/>
                </a:solidFill>
                <a:latin typeface="Cambria" panose="02040503050406030204" pitchFamily="18" charset="0"/>
              </a:rPr>
              <a:t>q</a:t>
            </a:r>
          </a:p>
          <a:p>
            <a:r>
              <a:rPr lang="en-US" sz="1351" i="1">
                <a:solidFill>
                  <a:schemeClr val="tx1"/>
                </a:solidFill>
                <a:latin typeface="Cambria" panose="02040503050406030204" pitchFamily="18" charset="0"/>
              </a:rPr>
              <a:t>______       </a:t>
            </a:r>
          </a:p>
          <a:p>
            <a:r>
              <a:rPr lang="en-US" sz="1351">
                <a:solidFill>
                  <a:schemeClr val="tx1"/>
                </a:solidFill>
                <a:latin typeface="Cambria" panose="02040503050406030204" pitchFamily="18" charset="0"/>
              </a:rPr>
              <a:t>∴ </a:t>
            </a:r>
            <a:r>
              <a:rPr lang="en-US" sz="1351" i="1">
                <a:solidFill>
                  <a:schemeClr val="tx1"/>
                </a:solidFill>
                <a:latin typeface="Cambria" panose="02040503050406030204" pitchFamily="18" charset="0"/>
              </a:rPr>
              <a:t>q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7868FF-7614-4800-875E-7A7375111DE6}"/>
              </a:ext>
            </a:extLst>
          </p:cNvPr>
          <p:cNvSpPr/>
          <p:nvPr/>
        </p:nvSpPr>
        <p:spPr>
          <a:xfrm>
            <a:off x="8072544" y="1591676"/>
            <a:ext cx="1140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i="1" dirty="0">
                <a:solidFill>
                  <a:srgbClr val="00A64E"/>
                </a:solidFill>
                <a:latin typeface="Cambria" panose="02040503050406030204" pitchFamily="18" charset="0"/>
              </a:rPr>
              <a:t>p </a:t>
            </a:r>
            <a:r>
              <a:rPr lang="en-US" sz="3200" dirty="0">
                <a:solidFill>
                  <a:srgbClr val="00A64E"/>
                </a:solidFill>
                <a:latin typeface="Cambria" panose="02040503050406030204" pitchFamily="18" charset="0"/>
              </a:rPr>
              <a:t>→ </a:t>
            </a:r>
            <a:r>
              <a:rPr lang="en-US" sz="3200" i="1" dirty="0">
                <a:solidFill>
                  <a:srgbClr val="00A64E"/>
                </a:solidFill>
                <a:latin typeface="Cambria" panose="02040503050406030204" pitchFamily="18" charset="0"/>
              </a:rPr>
              <a:t>q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C802FA-7D67-40B0-88E4-365B32190388}"/>
              </a:ext>
            </a:extLst>
          </p:cNvPr>
          <p:cNvSpPr/>
          <p:nvPr/>
        </p:nvSpPr>
        <p:spPr>
          <a:xfrm>
            <a:off x="4732923" y="2145651"/>
            <a:ext cx="4010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i="1" dirty="0">
                <a:solidFill>
                  <a:srgbClr val="00A64E"/>
                </a:solidFill>
                <a:latin typeface="Cambria" panose="02040503050406030204" pitchFamily="18" charset="0"/>
              </a:rPr>
              <a:t>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A997A5-D8C7-44B8-BDFC-607417281348}"/>
              </a:ext>
            </a:extLst>
          </p:cNvPr>
          <p:cNvSpPr/>
          <p:nvPr/>
        </p:nvSpPr>
        <p:spPr>
          <a:xfrm>
            <a:off x="4171283" y="4365746"/>
            <a:ext cx="3994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i="1" dirty="0">
                <a:solidFill>
                  <a:srgbClr val="00A64E"/>
                </a:solidFill>
                <a:latin typeface="Cambria" panose="02040503050406030204" pitchFamily="18" charset="0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818339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/>
      <p:bldP spid="1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DC6C-2F7F-4A85-939C-DBE51281F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9ABCC-9E27-426B-A4EF-3177F89EDD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Is the following argument valid? Is the conclusion true?</a:t>
                </a:r>
              </a:p>
              <a:p>
                <a:pPr marL="457178" lvl="1" indent="0">
                  <a:buNone/>
                </a:pPr>
                <a:r>
                  <a:rPr lang="en-US" sz="3000" dirty="0"/>
                  <a:t>If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en-US" sz="3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en-US" sz="3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altLang="en-US" sz="3000" i="1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altLang="en-US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30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en-US" sz="3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en-US" sz="3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sz="3000" i="1">
                        <a:latin typeface="Cambria Math" panose="02040503050406030204" pitchFamily="18" charset="0"/>
                      </a:rPr>
                      <m:t>𝑡h𝑒𝑛</m:t>
                    </m:r>
                    <m:r>
                      <a:rPr lang="en-US" altLang="en-US" sz="30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en-US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altLang="en-US" sz="3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en-US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US" altLang="en-US" sz="3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3000" i="1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altLang="en-US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en-US" sz="3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3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en-US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en-US" sz="3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3000" dirty="0"/>
                  <a:t>.  We know that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en-US" sz="3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en-US" sz="3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altLang="en-US" sz="3000" i="1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altLang="en-US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30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en-US" sz="3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en-US" sz="30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en-US" sz="3000" dirty="0"/>
                  <a:t> </a:t>
                </a:r>
              </a:p>
              <a:p>
                <a:pPr marL="457178" lvl="1" indent="0">
                  <a:buNone/>
                </a:pPr>
                <a:endParaRPr lang="en-US" altLang="en-US" sz="900" dirty="0"/>
              </a:p>
              <a:p>
                <a:pPr marL="457178" lvl="1" indent="0">
                  <a:buNone/>
                </a:pPr>
                <a:r>
                  <a:rPr lang="en-US" altLang="en-US" sz="3000" dirty="0"/>
                  <a:t>Consequently,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altLang="en-US" sz="30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en-US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US" altLang="en-US" sz="3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3000" i="1">
                        <a:latin typeface="Cambria Math" panose="02040503050406030204" pitchFamily="18" charset="0"/>
                      </a:rPr>
                      <m:t>=2&gt;</m:t>
                    </m:r>
                    <m:sSup>
                      <m:sSupPr>
                        <m:ctrlPr>
                          <a:rPr lang="en-US" altLang="en-US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en-US" sz="3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3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en-US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en-US" sz="3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3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3000" i="1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altLang="en-US" sz="30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altLang="en-US" sz="3000" dirty="0"/>
              </a:p>
              <a:p>
                <a:pPr lvl="1"/>
                <a:endParaRPr lang="en-US" altLang="en-US" sz="900" dirty="0"/>
              </a:p>
              <a:p>
                <a:r>
                  <a:rPr lang="en-US" altLang="en-US" dirty="0"/>
                  <a:t>Let </a:t>
                </a:r>
                <a:r>
                  <a:rPr lang="en-US" altLang="en-US" i="1" dirty="0"/>
                  <a:t>p</a:t>
                </a:r>
                <a:r>
                  <a:rPr lang="en-US" altLang="en-US" dirty="0"/>
                  <a:t> be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altLang="en-US" i="1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en-US" dirty="0"/>
                  <a:t>. Let </a:t>
                </a:r>
                <a:r>
                  <a:rPr lang="en-US" altLang="en-US" i="1" dirty="0"/>
                  <a:t>q</a:t>
                </a:r>
                <a:r>
                  <a:rPr lang="en-US" altLang="en-US" dirty="0"/>
                  <a:t> be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3600" i="1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altLang="en-US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sz="3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en-US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en-US" sz="3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en-US" dirty="0"/>
              </a:p>
              <a:p>
                <a:pPr lvl="1"/>
                <a:r>
                  <a:rPr lang="en-US" altLang="en-US" sz="3000" dirty="0">
                    <a:solidFill>
                      <a:srgbClr val="00A64E"/>
                    </a:solidFill>
                  </a:rPr>
                  <a:t>The premises of the argument are </a:t>
                </a:r>
                <a:r>
                  <a:rPr lang="en-US" altLang="en-US" sz="3000" i="1" dirty="0"/>
                  <a:t>p</a:t>
                </a:r>
                <a:r>
                  <a:rPr lang="en-US" altLang="en-US" sz="3000" dirty="0"/>
                  <a:t> </a:t>
                </a:r>
                <a:r>
                  <a:rPr lang="en-US" altLang="en-US" sz="3000" dirty="0">
                    <a:cs typeface="Times New Roman" panose="02020603050405020304" pitchFamily="18" charset="0"/>
                  </a:rPr>
                  <a:t>→ </a:t>
                </a:r>
                <a:r>
                  <a:rPr lang="en-US" altLang="en-US" sz="3000" i="1" dirty="0">
                    <a:cs typeface="Times New Roman" panose="02020603050405020304" pitchFamily="18" charset="0"/>
                  </a:rPr>
                  <a:t>q</a:t>
                </a:r>
                <a:r>
                  <a:rPr lang="en-US" altLang="en-US" sz="30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3000" dirty="0">
                    <a:solidFill>
                      <a:srgbClr val="00A64E"/>
                    </a:solidFill>
                    <a:cs typeface="Times New Roman" panose="02020603050405020304" pitchFamily="18" charset="0"/>
                  </a:rPr>
                  <a:t>and</a:t>
                </a:r>
                <a:r>
                  <a:rPr lang="en-US" altLang="en-US" sz="3000" dirty="0">
                    <a:solidFill>
                      <a:srgbClr val="FFFF0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3000" i="1" dirty="0">
                    <a:cs typeface="Times New Roman" panose="02020603050405020304" pitchFamily="18" charset="0"/>
                  </a:rPr>
                  <a:t>p</a:t>
                </a:r>
                <a:r>
                  <a:rPr lang="en-US" altLang="en-US" sz="3000" dirty="0">
                    <a:solidFill>
                      <a:srgbClr val="00A64E"/>
                    </a:solidFill>
                    <a:cs typeface="Times New Roman" panose="02020603050405020304" pitchFamily="18" charset="0"/>
                  </a:rPr>
                  <a:t>,</a:t>
                </a:r>
                <a:r>
                  <a:rPr lang="en-US" altLang="en-US" sz="3000" dirty="0">
                    <a:solidFill>
                      <a:srgbClr val="FFFF00"/>
                    </a:solidFill>
                    <a:cs typeface="Times New Roman" panose="02020603050405020304" pitchFamily="18" charset="0"/>
                  </a:rPr>
                  <a:t> </a:t>
                </a:r>
              </a:p>
              <a:p>
                <a:pPr lvl="1"/>
                <a:r>
                  <a:rPr lang="en-US" altLang="en-US" sz="30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3000" dirty="0">
                    <a:solidFill>
                      <a:srgbClr val="00A64E"/>
                    </a:solidFill>
                    <a:cs typeface="Times New Roman" panose="02020603050405020304" pitchFamily="18" charset="0"/>
                  </a:rPr>
                  <a:t>the conclusion is </a:t>
                </a:r>
                <a:r>
                  <a:rPr lang="en-US" altLang="en-US" sz="3000" i="1" dirty="0">
                    <a:cs typeface="Times New Roman" panose="02020603050405020304" pitchFamily="18" charset="0"/>
                  </a:rPr>
                  <a:t>q</a:t>
                </a:r>
                <a:r>
                  <a:rPr lang="en-US" altLang="en-US" sz="3000" dirty="0"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altLang="en-US" dirty="0">
                    <a:cs typeface="Times New Roman" panose="02020603050405020304" pitchFamily="18" charset="0"/>
                  </a:rPr>
                  <a:t>This argument is valid by using </a:t>
                </a:r>
                <a:r>
                  <a:rPr lang="en-US" altLang="en-US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modus ponens</a:t>
                </a:r>
              </a:p>
              <a:p>
                <a:r>
                  <a:rPr lang="en-US" altLang="en-US" dirty="0">
                    <a:cs typeface="Times New Roman" panose="02020603050405020304" pitchFamily="18" charset="0"/>
                  </a:rPr>
                  <a:t>But one of the premises </a:t>
                </a:r>
                <a14:m>
                  <m:oMath xmlns:m="http://schemas.openxmlformats.org/officeDocument/2006/math">
                    <m:r>
                      <a:rPr lang="en-US" altLang="en-US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altLang="en-US" i="1"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en-US" dirty="0">
                    <a:cs typeface="Times New Roman" panose="02020603050405020304" pitchFamily="18" charset="0"/>
                  </a:rPr>
                  <a:t>) is false, consequently we cannot conclude that the conclusion is true</a:t>
                </a:r>
              </a:p>
              <a:p>
                <a:r>
                  <a:rPr lang="en-US" altLang="en-US" dirty="0">
                    <a:cs typeface="Times New Roman" panose="02020603050405020304" pitchFamily="18" charset="0"/>
                  </a:rPr>
                  <a:t>The conclusion is false.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29ABCC-9E27-426B-A4EF-3177F89EDD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00" t="-33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BB4C1-36F4-40F5-8365-CABDDA39F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E1145-9876-4E60-B543-2ECE1770C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29C6C-C467-40BB-9E50-0F6841DC2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50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2423C2-82BB-427C-A0A5-077B99320161}"/>
              </a:ext>
            </a:extLst>
          </p:cNvPr>
          <p:cNvSpPr/>
          <p:nvPr/>
        </p:nvSpPr>
        <p:spPr>
          <a:xfrm>
            <a:off x="9577073" y="3182607"/>
            <a:ext cx="1528195" cy="9238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351" i="1">
                <a:solidFill>
                  <a:schemeClr val="tx1"/>
                </a:solidFill>
                <a:latin typeface="Cambria" panose="02040503050406030204" pitchFamily="18" charset="0"/>
              </a:rPr>
              <a:t>p </a:t>
            </a:r>
            <a:r>
              <a:rPr lang="en-US" sz="1351">
                <a:solidFill>
                  <a:schemeClr val="tx1"/>
                </a:solidFill>
                <a:latin typeface="Cambria" panose="02040503050406030204" pitchFamily="18" charset="0"/>
              </a:rPr>
              <a:t>→ </a:t>
            </a:r>
            <a:r>
              <a:rPr lang="en-US" sz="1351" i="1">
                <a:solidFill>
                  <a:schemeClr val="tx1"/>
                </a:solidFill>
                <a:latin typeface="Cambria" panose="02040503050406030204" pitchFamily="18" charset="0"/>
              </a:rPr>
              <a:t>q</a:t>
            </a:r>
          </a:p>
          <a:p>
            <a:r>
              <a:rPr lang="en-US" sz="1351" i="1">
                <a:solidFill>
                  <a:schemeClr val="tx1"/>
                </a:solidFill>
                <a:latin typeface="Cambria" panose="02040503050406030204" pitchFamily="18" charset="0"/>
              </a:rPr>
              <a:t>p </a:t>
            </a:r>
          </a:p>
          <a:p>
            <a:r>
              <a:rPr lang="en-US" sz="1351" i="1">
                <a:solidFill>
                  <a:schemeClr val="tx1"/>
                </a:solidFill>
                <a:latin typeface="Cambria" panose="02040503050406030204" pitchFamily="18" charset="0"/>
              </a:rPr>
              <a:t>______       </a:t>
            </a:r>
          </a:p>
          <a:p>
            <a:r>
              <a:rPr lang="en-US" sz="1351">
                <a:solidFill>
                  <a:schemeClr val="tx1"/>
                </a:solidFill>
                <a:latin typeface="Cambria" panose="02040503050406030204" pitchFamily="18" charset="0"/>
              </a:rPr>
              <a:t>∴ </a:t>
            </a:r>
            <a:r>
              <a:rPr lang="en-US" sz="1351" i="1">
                <a:solidFill>
                  <a:schemeClr val="tx1"/>
                </a:solidFill>
                <a:latin typeface="Cambria" panose="02040503050406030204" pitchFamily="18" charset="0"/>
              </a:rPr>
              <a:t>q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DDCED5-4351-4FEE-8B0C-3BE7A39F73A8}"/>
              </a:ext>
            </a:extLst>
          </p:cNvPr>
          <p:cNvCxnSpPr/>
          <p:nvPr/>
        </p:nvCxnSpPr>
        <p:spPr>
          <a:xfrm>
            <a:off x="4620699" y="1798164"/>
            <a:ext cx="3429000" cy="0"/>
          </a:xfrm>
          <a:prstGeom prst="line">
            <a:avLst/>
          </a:prstGeom>
          <a:ln w="50800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62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66D8-8B8E-46E7-8509-67E3D72F1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Rules of Inference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08959-C30D-481C-A4BD-C226A6F00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Means to draw conclusions from other assertions</a:t>
            </a:r>
          </a:p>
          <a:p>
            <a:r>
              <a:rPr lang="en-US" altLang="en-US" dirty="0"/>
              <a:t>Rules of inference provide justification of steps used to show that a conclusion follows from a set of hypotheses (premises)</a:t>
            </a:r>
          </a:p>
          <a:p>
            <a:r>
              <a:rPr lang="en-US" altLang="en-US" dirty="0"/>
              <a:t>The next several slides illustrate specific rules of inference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EA3B2-CC00-4C61-A7EE-14860A355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816F6-322C-4D0C-990F-5B9D4D724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7B71B-E98A-4AD7-905B-361C9A10D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92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7295-975C-45B3-91E7-D5458773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latin typeface="Cambria" panose="02040503050406030204" pitchFamily="18" charset="0"/>
              </a:rPr>
              <a:t>Addition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1BB4C-7B7E-4EB8-BA9C-0572B7D6F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0176E-EC9C-4459-AAD4-40A4A333E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78B29-A209-44D8-BEE0-884F8076D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52</a:t>
            </a:fld>
            <a:endParaRPr lang="en-US"/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E842B351-7645-473D-A118-4C59F778B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035176"/>
            <a:ext cx="8138766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>
                <a:latin typeface="Cambria" panose="02040503050406030204" pitchFamily="18" charset="0"/>
              </a:rPr>
              <a:t>A true hypothesis implies that the disjunction</a:t>
            </a:r>
          </a:p>
          <a:p>
            <a:r>
              <a:rPr lang="en-US" altLang="en-US" sz="3200">
                <a:latin typeface="Cambria" panose="02040503050406030204" pitchFamily="18" charset="0"/>
              </a:rPr>
              <a:t>of that hypothesis and another are true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CC3E7780-0B9C-4DCE-9154-769BF44C1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1" y="3429000"/>
            <a:ext cx="1486304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>
                <a:latin typeface="Cambria" panose="02040503050406030204" pitchFamily="18" charset="0"/>
              </a:rPr>
              <a:t> </a:t>
            </a:r>
            <a:r>
              <a:rPr lang="en-US" altLang="en-US" sz="3200" i="1">
                <a:latin typeface="Cambria" panose="02040503050406030204" pitchFamily="18" charset="0"/>
              </a:rPr>
              <a:t>p</a:t>
            </a:r>
          </a:p>
          <a:p>
            <a:r>
              <a:rPr lang="en-US" altLang="en-US" sz="3200">
                <a:latin typeface="Cambria" panose="02040503050406030204" pitchFamily="18" charset="0"/>
              </a:rPr>
              <a:t>_______</a:t>
            </a:r>
          </a:p>
          <a:p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 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p</a:t>
            </a:r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  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q</a:t>
            </a:r>
            <a:endParaRPr lang="en-US" altLang="en-US" sz="3200" i="1">
              <a:latin typeface="Cambria" panose="02040503050406030204" pitchFamily="18" charset="0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6ECF46DC-D594-4D61-BA4E-C6352849E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1" y="4154861"/>
            <a:ext cx="308449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>
                <a:latin typeface="Cambria" panose="02040503050406030204" pitchFamily="18" charset="0"/>
              </a:rPr>
              <a:t>    or  </a:t>
            </a:r>
            <a:r>
              <a:rPr lang="en-US" altLang="en-US" sz="3200" i="1">
                <a:latin typeface="Cambria" panose="02040503050406030204" pitchFamily="18" charset="0"/>
              </a:rPr>
              <a:t>p</a:t>
            </a:r>
            <a:r>
              <a:rPr lang="en-US" altLang="en-US" sz="3200">
                <a:latin typeface="Cambria" panose="02040503050406030204" pitchFamily="18" charset="0"/>
              </a:rPr>
              <a:t> </a:t>
            </a:r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 (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p</a:t>
            </a:r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  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q</a:t>
            </a:r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)</a:t>
            </a:r>
            <a:endParaRPr lang="en-US" altLang="en-US" sz="320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578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utoUpdateAnimBg="0"/>
      <p:bldP spid="9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3C38F-B4A1-4CA9-9FB6-9770B414F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latin typeface="Cambria" panose="02040503050406030204" pitchFamily="18" charset="0"/>
              </a:rPr>
              <a:t>Simplification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B65C8-DF77-4562-B5F7-C072D0D5D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A0C71-0AE1-4D6F-BE65-B1C3C0190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33B68-57A7-4CA4-8345-1A925ACD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53</a:t>
            </a:fld>
            <a:endParaRPr lang="en-US"/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CD7E8482-8FDC-4DB4-BAB4-558BB6A17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1585" y="1874839"/>
            <a:ext cx="761497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dirty="0">
                <a:latin typeface="Cambria" panose="02040503050406030204" pitchFamily="18" charset="0"/>
              </a:rPr>
              <a:t>If the conjunction of 2 propositions is true,</a:t>
            </a:r>
          </a:p>
          <a:p>
            <a:r>
              <a:rPr lang="en-US" altLang="en-US" sz="3200" dirty="0">
                <a:latin typeface="Cambria" panose="02040503050406030204" pitchFamily="18" charset="0"/>
              </a:rPr>
              <a:t>then each proposition is true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527237B8-FC97-43F3-9943-51F8F9CBB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2" y="3421064"/>
            <a:ext cx="125066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i="1">
                <a:latin typeface="Cambria" panose="02040503050406030204" pitchFamily="18" charset="0"/>
              </a:rPr>
              <a:t>p</a:t>
            </a:r>
            <a:r>
              <a:rPr lang="en-US" altLang="en-US" sz="3200">
                <a:latin typeface="Cambria" panose="02040503050406030204" pitchFamily="18" charset="0"/>
              </a:rPr>
              <a:t> </a:t>
            </a:r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 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q</a:t>
            </a:r>
            <a:endParaRPr lang="en-US" altLang="en-US" sz="3200" i="1">
              <a:latin typeface="Cambria" panose="02040503050406030204" pitchFamily="18" charset="0"/>
            </a:endParaRPr>
          </a:p>
          <a:p>
            <a:r>
              <a:rPr lang="en-US" altLang="en-US" sz="3200">
                <a:latin typeface="Cambria" panose="02040503050406030204" pitchFamily="18" charset="0"/>
              </a:rPr>
              <a:t>_______</a:t>
            </a:r>
          </a:p>
          <a:p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 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p</a:t>
            </a:r>
            <a:endParaRPr lang="en-US" altLang="en-US" sz="3200" i="1">
              <a:latin typeface="Cambria" panose="02040503050406030204" pitchFamily="18" charset="0"/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4A9EE11D-1403-4A22-8B42-06A58CF9A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1" y="3886201"/>
            <a:ext cx="281519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>
                <a:latin typeface="Cambria" panose="02040503050406030204" pitchFamily="18" charset="0"/>
              </a:rPr>
              <a:t>or   (</a:t>
            </a:r>
            <a:r>
              <a:rPr lang="en-US" altLang="en-US" sz="3200" i="1">
                <a:latin typeface="Cambria" panose="02040503050406030204" pitchFamily="18" charset="0"/>
              </a:rPr>
              <a:t>p</a:t>
            </a:r>
            <a:r>
              <a:rPr lang="en-US" altLang="en-US" sz="3200">
                <a:latin typeface="Cambria" panose="02040503050406030204" pitchFamily="18" charset="0"/>
              </a:rPr>
              <a:t> </a:t>
            </a:r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 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q</a:t>
            </a:r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)  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p</a:t>
            </a:r>
            <a:endParaRPr lang="en-US" altLang="en-US" sz="3200" i="1">
              <a:latin typeface="Cambria" panose="02040503050406030204" pitchFamily="18" charset="0"/>
            </a:endParaRP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53820C2C-624F-48C7-B80C-47B69F2E7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2" y="4990725"/>
            <a:ext cx="30989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>
                <a:solidFill>
                  <a:srgbClr val="00A64E"/>
                </a:solidFill>
                <a:latin typeface="Cambria" panose="02040503050406030204" pitchFamily="18" charset="0"/>
              </a:rPr>
              <a:t>Also  (</a:t>
            </a:r>
            <a:r>
              <a:rPr lang="en-US" altLang="en-US" sz="3200" i="1">
                <a:solidFill>
                  <a:srgbClr val="00A64E"/>
                </a:solidFill>
                <a:latin typeface="Cambria" panose="02040503050406030204" pitchFamily="18" charset="0"/>
              </a:rPr>
              <a:t>p</a:t>
            </a:r>
            <a:r>
              <a:rPr lang="en-US" altLang="en-US" sz="3200">
                <a:solidFill>
                  <a:srgbClr val="00A64E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3200">
                <a:solidFill>
                  <a:srgbClr val="00A64E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 </a:t>
            </a:r>
            <a:r>
              <a:rPr lang="en-US" altLang="en-US" sz="3200" i="1">
                <a:solidFill>
                  <a:srgbClr val="00A64E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q</a:t>
            </a:r>
            <a:r>
              <a:rPr lang="en-US" altLang="en-US" sz="3200">
                <a:solidFill>
                  <a:srgbClr val="00A64E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)  </a:t>
            </a:r>
            <a:r>
              <a:rPr lang="en-US" altLang="en-US" sz="3200" i="1">
                <a:solidFill>
                  <a:srgbClr val="00A64E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q</a:t>
            </a:r>
            <a:endParaRPr lang="en-US" altLang="en-US" sz="3200" i="1">
              <a:solidFill>
                <a:srgbClr val="00A64E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23CA15EA-07BE-4AFA-94F6-303F91C3A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2" y="4648200"/>
            <a:ext cx="125066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i="1">
                <a:solidFill>
                  <a:srgbClr val="00A64E"/>
                </a:solidFill>
                <a:latin typeface="Cambria" panose="02040503050406030204" pitchFamily="18" charset="0"/>
              </a:rPr>
              <a:t>p</a:t>
            </a:r>
            <a:r>
              <a:rPr lang="en-US" altLang="en-US" sz="3200">
                <a:solidFill>
                  <a:srgbClr val="00A64E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3200">
                <a:solidFill>
                  <a:srgbClr val="00A64E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 </a:t>
            </a:r>
            <a:r>
              <a:rPr lang="en-US" altLang="en-US" sz="3200" i="1">
                <a:solidFill>
                  <a:srgbClr val="00A64E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q</a:t>
            </a:r>
            <a:endParaRPr lang="en-US" altLang="en-US" sz="3200" i="1">
              <a:solidFill>
                <a:srgbClr val="00A64E"/>
              </a:solidFill>
              <a:latin typeface="Cambria" panose="02040503050406030204" pitchFamily="18" charset="0"/>
            </a:endParaRPr>
          </a:p>
          <a:p>
            <a:r>
              <a:rPr lang="en-US" altLang="en-US" sz="3200">
                <a:solidFill>
                  <a:srgbClr val="00A64E"/>
                </a:solidFill>
                <a:latin typeface="Cambria" panose="02040503050406030204" pitchFamily="18" charset="0"/>
              </a:rPr>
              <a:t>_______</a:t>
            </a:r>
          </a:p>
          <a:p>
            <a:r>
              <a:rPr lang="en-US" altLang="en-US" sz="3200">
                <a:solidFill>
                  <a:srgbClr val="00A64E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 </a:t>
            </a:r>
            <a:r>
              <a:rPr lang="en-US" altLang="en-US" sz="3200" i="1">
                <a:solidFill>
                  <a:srgbClr val="00A64E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q</a:t>
            </a:r>
            <a:endParaRPr lang="en-US" altLang="en-US" sz="3200" i="1">
              <a:solidFill>
                <a:srgbClr val="00A64E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9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D34BE-654D-43F2-8B53-EAE6F25B7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latin typeface="Cambria" panose="02040503050406030204" pitchFamily="18" charset="0"/>
              </a:rPr>
              <a:t>Conjunction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DA39A-70B5-4F95-9F9A-6A1FE9CBC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69E10-2D19-4708-9A34-2F300E7AF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FB445-4ECB-4C01-B119-7B0C7CADD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54</a:t>
            </a:fld>
            <a:endParaRPr lang="en-US"/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E15F9F67-4FA5-42EE-87A3-E2058B2BB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6744" y="1866901"/>
            <a:ext cx="769313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dirty="0">
                <a:latin typeface="Cambria" panose="02040503050406030204" pitchFamily="18" charset="0"/>
              </a:rPr>
              <a:t>    If </a:t>
            </a:r>
            <a:r>
              <a:rPr lang="en-US" altLang="en-US" sz="3200" i="1" dirty="0">
                <a:latin typeface="Cambria" panose="02040503050406030204" pitchFamily="18" charset="0"/>
              </a:rPr>
              <a:t>p</a:t>
            </a:r>
            <a:r>
              <a:rPr lang="en-US" altLang="en-US" sz="3200" dirty="0">
                <a:latin typeface="Cambria" panose="02040503050406030204" pitchFamily="18" charset="0"/>
              </a:rPr>
              <a:t> is true and </a:t>
            </a:r>
            <a:r>
              <a:rPr lang="en-US" altLang="en-US" sz="3200" i="1" dirty="0">
                <a:latin typeface="Cambria" panose="02040503050406030204" pitchFamily="18" charset="0"/>
              </a:rPr>
              <a:t>q</a:t>
            </a:r>
            <a:r>
              <a:rPr lang="en-US" altLang="en-US" sz="3200" dirty="0">
                <a:latin typeface="Cambria" panose="02040503050406030204" pitchFamily="18" charset="0"/>
              </a:rPr>
              <a:t> is true, then </a:t>
            </a:r>
            <a:r>
              <a:rPr lang="en-US" altLang="en-US" sz="3200" i="1" dirty="0">
                <a:latin typeface="Cambria" panose="02040503050406030204" pitchFamily="18" charset="0"/>
              </a:rPr>
              <a:t>p</a:t>
            </a:r>
            <a:r>
              <a:rPr lang="en-US" altLang="en-US" sz="3200" dirty="0">
                <a:latin typeface="Cambria" panose="02040503050406030204" pitchFamily="18" charset="0"/>
              </a:rPr>
              <a:t> </a:t>
            </a:r>
            <a:r>
              <a:rPr lang="en-US" altLang="en-US" sz="3200" dirty="0">
                <a:latin typeface="Cambria" panose="02040503050406030204" pitchFamily="18" charset="0"/>
                <a:sym typeface="Symbol" panose="05050102010706020507" pitchFamily="18" charset="2"/>
              </a:rPr>
              <a:t> </a:t>
            </a:r>
            <a:r>
              <a:rPr lang="en-US" altLang="en-US" sz="3200" i="1" dirty="0">
                <a:latin typeface="Cambria" panose="02040503050406030204" pitchFamily="18" charset="0"/>
                <a:sym typeface="Symbol" panose="05050102010706020507" pitchFamily="18" charset="2"/>
              </a:rPr>
              <a:t>q</a:t>
            </a:r>
            <a:r>
              <a:rPr lang="en-US" altLang="en-US" sz="3200" dirty="0">
                <a:latin typeface="Cambria" panose="02040503050406030204" pitchFamily="18" charset="0"/>
                <a:sym typeface="Symbol" panose="05050102010706020507" pitchFamily="18" charset="2"/>
              </a:rPr>
              <a:t> is true</a:t>
            </a:r>
            <a:endParaRPr lang="en-US" altLang="en-US" sz="3200" dirty="0">
              <a:latin typeface="Cambria" panose="02040503050406030204" pitchFamily="18" charset="0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7AE64C12-FEE2-4721-A04C-487CB5844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1" y="3429002"/>
            <a:ext cx="1486304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i="1">
                <a:latin typeface="Cambria" panose="02040503050406030204" pitchFamily="18" charset="0"/>
              </a:rPr>
              <a:t>p</a:t>
            </a:r>
          </a:p>
          <a:p>
            <a:r>
              <a:rPr lang="en-US" altLang="en-US" sz="3200" i="1">
                <a:latin typeface="Cambria" panose="02040503050406030204" pitchFamily="18" charset="0"/>
              </a:rPr>
              <a:t>q</a:t>
            </a:r>
          </a:p>
          <a:p>
            <a:r>
              <a:rPr lang="en-US" altLang="en-US" sz="3200">
                <a:latin typeface="Cambria" panose="02040503050406030204" pitchFamily="18" charset="0"/>
              </a:rPr>
              <a:t>_______</a:t>
            </a:r>
          </a:p>
          <a:p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 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p</a:t>
            </a:r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q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2E125875-87D6-4C0B-A269-48F270A34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1" y="4114801"/>
            <a:ext cx="42643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>
                <a:latin typeface="Cambria" panose="02040503050406030204" pitchFamily="18" charset="0"/>
              </a:rPr>
              <a:t> or    ((</a:t>
            </a:r>
            <a:r>
              <a:rPr lang="en-US" altLang="en-US" sz="3200" i="1">
                <a:latin typeface="Cambria" panose="02040503050406030204" pitchFamily="18" charset="0"/>
              </a:rPr>
              <a:t>p</a:t>
            </a:r>
            <a:r>
              <a:rPr lang="en-US" altLang="en-US" sz="3200">
                <a:latin typeface="Cambria" panose="02040503050406030204" pitchFamily="18" charset="0"/>
              </a:rPr>
              <a:t>) </a:t>
            </a:r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 (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q</a:t>
            </a:r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))  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p</a:t>
            </a:r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3054033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utoUpdateAnimBg="0"/>
      <p:bldP spid="9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15C03-E754-4282-A0F7-2471544A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latin typeface="Cambria" panose="02040503050406030204" pitchFamily="18" charset="0"/>
              </a:rPr>
              <a:t>Modus Ponens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53C12-4462-41C9-9F38-4398697E1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1D3EC-5612-44D3-B0E6-30A9CE842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C3B10-404D-47F5-AA3C-47E946A58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55</a:t>
            </a:fld>
            <a:endParaRPr lang="en-US"/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16312FAE-0286-4435-A9A9-16ACB1B46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1" y="1989139"/>
            <a:ext cx="801572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>
                <a:latin typeface="Cambria" panose="02040503050406030204" pitchFamily="18" charset="0"/>
              </a:rPr>
              <a:t>If a hypothesis and implication are both true,</a:t>
            </a:r>
          </a:p>
          <a:p>
            <a:r>
              <a:rPr lang="en-US" altLang="en-US" sz="3200">
                <a:latin typeface="Cambria" panose="02040503050406030204" pitchFamily="18" charset="0"/>
              </a:rPr>
              <a:t>then the conclusion is true</a:t>
            </a:r>
            <a:endParaRPr lang="en-US" altLang="en-US" sz="3200">
              <a:latin typeface="Cambria" panose="02040503050406030204" pitchFamily="18" charset="0"/>
              <a:sym typeface="Symbol" panose="05050102010706020507" pitchFamily="18" charset="2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CD0FBCBB-23C8-40F4-8D32-18F99734C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2" y="3436939"/>
            <a:ext cx="1250663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i="1">
                <a:latin typeface="Cambria" panose="02040503050406030204" pitchFamily="18" charset="0"/>
              </a:rPr>
              <a:t>p</a:t>
            </a:r>
          </a:p>
          <a:p>
            <a:r>
              <a:rPr lang="en-US" altLang="en-US" sz="3200" i="1">
                <a:latin typeface="Cambria" panose="02040503050406030204" pitchFamily="18" charset="0"/>
              </a:rPr>
              <a:t>p</a:t>
            </a:r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  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q</a:t>
            </a:r>
          </a:p>
          <a:p>
            <a:r>
              <a:rPr lang="en-US" altLang="en-US" sz="3200">
                <a:latin typeface="Cambria" panose="02040503050406030204" pitchFamily="18" charset="0"/>
              </a:rPr>
              <a:t>_______</a:t>
            </a:r>
            <a:endParaRPr lang="en-US" altLang="en-US" sz="3200">
              <a:latin typeface="Cambria" panose="02040503050406030204" pitchFamily="18" charset="0"/>
              <a:sym typeface="Symbol" panose="05050102010706020507" pitchFamily="18" charset="2"/>
            </a:endParaRPr>
          </a:p>
          <a:p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 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q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74ECF5ED-6D64-4483-9F0E-53A320504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1" y="4114801"/>
            <a:ext cx="410881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>
                <a:latin typeface="Cambria" panose="02040503050406030204" pitchFamily="18" charset="0"/>
              </a:rPr>
              <a:t> or    (</a:t>
            </a:r>
            <a:r>
              <a:rPr lang="en-US" altLang="en-US" sz="3200" i="1">
                <a:latin typeface="Cambria" panose="02040503050406030204" pitchFamily="18" charset="0"/>
              </a:rPr>
              <a:t>p</a:t>
            </a:r>
            <a:r>
              <a:rPr lang="en-US" altLang="en-US" sz="3200">
                <a:latin typeface="Cambria" panose="02040503050406030204" pitchFamily="18" charset="0"/>
              </a:rPr>
              <a:t> </a:t>
            </a:r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 (</a:t>
            </a:r>
            <a:r>
              <a:rPr lang="en-US" altLang="en-US" sz="3200" i="1">
                <a:latin typeface="Cambria" panose="02040503050406030204" pitchFamily="18" charset="0"/>
              </a:rPr>
              <a:t>p</a:t>
            </a:r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  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q</a:t>
            </a:r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))  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313000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utoUpdateAnimBg="0"/>
      <p:bldP spid="9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71916-2910-4B3F-A4CB-D4B8B5F1B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latin typeface="Cambria" panose="02040503050406030204" pitchFamily="18" charset="0"/>
              </a:rPr>
              <a:t>Modus Tollens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79762-7AFA-4CD6-9142-97475C3BD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2ECDC-CF0A-4E8A-9BFA-7BD628D20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CF832-DE56-4927-A970-F22F9BF3D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56</a:t>
            </a:fld>
            <a:endParaRPr lang="en-US"/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13196814-C93C-4D04-B524-84A0625B7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2" y="1989139"/>
            <a:ext cx="7334059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>
                <a:latin typeface="Cambria" panose="02040503050406030204" pitchFamily="18" charset="0"/>
              </a:rPr>
              <a:t>If a conclusion is false and its implication</a:t>
            </a:r>
          </a:p>
          <a:p>
            <a:r>
              <a:rPr lang="en-US" altLang="en-US" sz="3200">
                <a:latin typeface="Cambria" panose="02040503050406030204" pitchFamily="18" charset="0"/>
              </a:rPr>
              <a:t>is true, then the hypothesis must be false</a:t>
            </a:r>
            <a:endParaRPr lang="en-US" altLang="en-US" sz="3200">
              <a:latin typeface="Cambria" panose="02040503050406030204" pitchFamily="18" charset="0"/>
              <a:sym typeface="Symbol" panose="05050102010706020507" pitchFamily="18" charset="2"/>
            </a:endParaRP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2D8A83BA-0E0F-4013-A728-815619253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2" y="3429002"/>
            <a:ext cx="1250663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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q</a:t>
            </a:r>
          </a:p>
          <a:p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p</a:t>
            </a:r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  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q</a:t>
            </a:r>
          </a:p>
          <a:p>
            <a:r>
              <a:rPr lang="en-US" altLang="en-US" sz="3200">
                <a:latin typeface="Cambria" panose="02040503050406030204" pitchFamily="18" charset="0"/>
              </a:rPr>
              <a:t>_______</a:t>
            </a:r>
            <a:endParaRPr lang="en-US" altLang="en-US" sz="3200">
              <a:latin typeface="Cambria" panose="02040503050406030204" pitchFamily="18" charset="0"/>
              <a:sym typeface="Symbol" panose="05050102010706020507" pitchFamily="18" charset="2"/>
            </a:endParaRPr>
          </a:p>
          <a:p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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p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CB2B2141-D7CD-4767-A0D6-30E08E76C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1" y="4114801"/>
            <a:ext cx="45159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>
                <a:latin typeface="Cambria" panose="02040503050406030204" pitchFamily="18" charset="0"/>
              </a:rPr>
              <a:t>or   (</a:t>
            </a:r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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q</a:t>
            </a:r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  (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p</a:t>
            </a:r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  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q</a:t>
            </a:r>
            <a:r>
              <a:rPr lang="en-US" altLang="en-US" sz="3200">
                <a:latin typeface="Cambria" panose="02040503050406030204" pitchFamily="18" charset="0"/>
                <a:sym typeface="Symbol" panose="05050102010706020507" pitchFamily="18" charset="2"/>
              </a:rPr>
              <a:t>))  </a:t>
            </a:r>
            <a:r>
              <a:rPr lang="en-US" altLang="en-US" sz="3200" i="1">
                <a:latin typeface="Cambria" panose="02040503050406030204" pitchFamily="18" charset="0"/>
                <a:sym typeface="Symbol" panose="05050102010706020507" pitchFamily="18" charset="2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17995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1" grpId="0" autoUpdateAnimBg="0"/>
      <p:bldP spid="12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AB87D-703A-42E4-944B-F315BC826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Wumpus World Example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7541A-4B63-496A-95EF-A5A302773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39237-6E19-4FF3-A494-469DA4A56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99F65-248A-4DC3-A0C4-AA99E5076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57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271E23B-4B75-4A80-A164-0351ABC0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28153"/>
            <a:ext cx="7632569" cy="5021979"/>
          </a:xfrm>
        </p:spPr>
        <p:txBody>
          <a:bodyPr/>
          <a:lstStyle/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Wumpus world is a cave with 16 rooms (4×4).  Each room is connected to other rooms through walkways. No rooms are connected diagonally.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knowledge-based agent starts from room [1, 1]. The cave has some pits, a treasure, and a beast named Wumpus.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Wumpus cannot move but eats the one who enters its room, and if the agent enters the pit, it gets stuck there. </a:t>
            </a:r>
          </a:p>
          <a:p>
            <a:endParaRPr lang="en-US" dirty="0"/>
          </a:p>
        </p:txBody>
      </p:sp>
      <p:pic>
        <p:nvPicPr>
          <p:cNvPr id="8" name="Content Placeholder 7" descr="A picture containing diagram&#10;&#10;Description automatically generated">
            <a:extLst>
              <a:ext uri="{FF2B5EF4-FFF2-40B4-BE49-F238E27FC236}">
                <a16:creationId xmlns:a16="http://schemas.microsoft.com/office/drawing/2014/main" id="{2779F398-B275-4909-AFB4-67B179A1C87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428" y="1501330"/>
            <a:ext cx="4186772" cy="403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6746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EFFEB-CC3B-4C3B-BF3F-72F53C370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Wumpus World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9F164-BA7D-49E0-AC39-D82B5E818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28153"/>
            <a:ext cx="7274351" cy="5021979"/>
          </a:xfrm>
        </p:spPr>
        <p:txBody>
          <a:bodyPr/>
          <a:lstStyle/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goal of the agent is to take the treasure and come out of the cave. </a:t>
            </a:r>
          </a:p>
          <a:p>
            <a:pPr marL="304793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agent is rewarded, when the goal conditions are met. 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agent is penalized, when it falls into a pit or being eaten by the Wumpus.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99DA2-221C-472B-88CF-B841B22D6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BBE04-6B9E-4D1A-A497-4B53AA0B2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92C3A-9E4A-46C6-92ED-5DFDB09B2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pPr/>
              <a:t>58</a:t>
            </a:fld>
            <a:endParaRPr lang="en-US"/>
          </a:p>
        </p:txBody>
      </p:sp>
      <p:pic>
        <p:nvPicPr>
          <p:cNvPr id="7" name="Content Placeholder 7" descr="A picture containing diagram&#10;&#10;Description automatically generated">
            <a:extLst>
              <a:ext uri="{FF2B5EF4-FFF2-40B4-BE49-F238E27FC236}">
                <a16:creationId xmlns:a16="http://schemas.microsoft.com/office/drawing/2014/main" id="{2BE0AE73-46CD-4B47-9756-6878C588A05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428" y="1501330"/>
            <a:ext cx="4186772" cy="403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5699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EFFEB-CC3B-4C3B-BF3F-72F53C370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Wumpus World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9F164-BA7D-49E0-AC39-D82B5E818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28153"/>
            <a:ext cx="7528874" cy="5021979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Some elements support the agent to explore the cave: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Wumpus's adjacent rooms are </a:t>
            </a:r>
            <a:r>
              <a:rPr lang="en-US" dirty="0" err="1"/>
              <a:t>stenchy</a:t>
            </a:r>
            <a:r>
              <a:rPr lang="en-US" dirty="0"/>
              <a:t> (i.e., have bad smell).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adjacent rooms of the room with pits are filled with breeze.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agent is given one arrow which it can use to kill the Wumpus when facing it (Wumpus screams when it is killed).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treasure room is always glittery.</a:t>
            </a:r>
          </a:p>
          <a:p>
            <a:pPr marL="304793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agent starts with no information of where the pits, Wumpus and the gold are.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99DA2-221C-472B-88CF-B841B22D6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BBE04-6B9E-4D1A-A497-4B53AA0B2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92C3A-9E4A-46C6-92ED-5DFDB09B2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pPr/>
              <a:t>59</a:t>
            </a:fld>
            <a:endParaRPr lang="en-US"/>
          </a:p>
        </p:txBody>
      </p:sp>
      <p:pic>
        <p:nvPicPr>
          <p:cNvPr id="7" name="Content Placeholder 7" descr="A picture containing diagram&#10;&#10;Description automatically generated">
            <a:extLst>
              <a:ext uri="{FF2B5EF4-FFF2-40B4-BE49-F238E27FC236}">
                <a16:creationId xmlns:a16="http://schemas.microsoft.com/office/drawing/2014/main" id="{2BE0AE73-46CD-4B47-9756-6878C588A05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428" y="1501330"/>
            <a:ext cx="4186772" cy="403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6192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E4354-048F-41E0-A17E-98FE83BB7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Wumpus World Characterization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9C814EF-D7F7-47AE-B2E6-4C0EA0186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28153"/>
            <a:ext cx="11582400" cy="5021979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Acronyms</a:t>
            </a:r>
          </a:p>
          <a:p>
            <a:pPr lvl="1"/>
            <a:r>
              <a:rPr lang="en-US" dirty="0"/>
              <a:t>B = Breeze</a:t>
            </a:r>
          </a:p>
          <a:p>
            <a:pPr lvl="1"/>
            <a:r>
              <a:rPr lang="en-US" dirty="0"/>
              <a:t>A = Agent</a:t>
            </a:r>
          </a:p>
          <a:p>
            <a:pPr lvl="1"/>
            <a:r>
              <a:rPr lang="en-US" dirty="0"/>
              <a:t>G = Glitter</a:t>
            </a:r>
          </a:p>
          <a:p>
            <a:pPr lvl="1"/>
            <a:r>
              <a:rPr lang="en-US" dirty="0"/>
              <a:t>OK = Safe room</a:t>
            </a:r>
          </a:p>
          <a:p>
            <a:pPr lvl="1"/>
            <a:r>
              <a:rPr lang="en-US" dirty="0"/>
              <a:t>P = Pit</a:t>
            </a:r>
          </a:p>
          <a:p>
            <a:pPr lvl="1"/>
            <a:r>
              <a:rPr lang="en-US" dirty="0"/>
              <a:t>S = Stench</a:t>
            </a:r>
          </a:p>
          <a:p>
            <a:pPr lvl="1"/>
            <a:r>
              <a:rPr lang="en-US" dirty="0"/>
              <a:t>V = visited the room</a:t>
            </a:r>
          </a:p>
          <a:p>
            <a:pPr lvl="1"/>
            <a:r>
              <a:rPr lang="en-US" dirty="0"/>
              <a:t>W = Wumpus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C7E24-547B-400B-9F72-D75FA9F80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0CE7A-07C8-416D-877C-198256E7F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CC405-407B-474B-886E-5F05E7B02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pPr/>
              <a:t>60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613744"/>
              </p:ext>
            </p:extLst>
          </p:nvPr>
        </p:nvGraphicFramePr>
        <p:xfrm>
          <a:off x="3565007" y="1357462"/>
          <a:ext cx="803586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012">
                  <a:extLst>
                    <a:ext uri="{9D8B030D-6E8A-4147-A177-3AD203B41FA5}">
                      <a16:colId xmlns:a16="http://schemas.microsoft.com/office/drawing/2014/main" val="642942912"/>
                    </a:ext>
                  </a:extLst>
                </a:gridCol>
                <a:gridCol w="922297">
                  <a:extLst>
                    <a:ext uri="{9D8B030D-6E8A-4147-A177-3AD203B41FA5}">
                      <a16:colId xmlns:a16="http://schemas.microsoft.com/office/drawing/2014/main" val="2011668131"/>
                    </a:ext>
                  </a:extLst>
                </a:gridCol>
                <a:gridCol w="4839556">
                  <a:extLst>
                    <a:ext uri="{9D8B030D-6E8A-4147-A177-3AD203B41FA5}">
                      <a16:colId xmlns:a16="http://schemas.microsoft.com/office/drawing/2014/main" val="4212758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Is the</a:t>
                      </a:r>
                      <a:r>
                        <a:rPr lang="en-US" baseline="0" dirty="0"/>
                        <a:t> Wumpus World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Why?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305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Deterministic?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A64E"/>
                          </a:solidFill>
                        </a:rPr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A64E"/>
                          </a:solidFill>
                        </a:rPr>
                        <a:t>outcome exactly specified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89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Observable?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A64E"/>
                          </a:solidFill>
                        </a:rPr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A64E"/>
                          </a:solidFill>
                        </a:rPr>
                        <a:t>only local perception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76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Static?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A64E"/>
                          </a:solidFill>
                        </a:rPr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A64E"/>
                          </a:solidFill>
                        </a:rPr>
                        <a:t>Wumpus and pits do not move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510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Discrete?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A64E"/>
                          </a:solidFill>
                        </a:rPr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A64E"/>
                          </a:solidFill>
                        </a:rPr>
                        <a:t>Wumpus can be in a certain room at a time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0354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Episodic?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A64E"/>
                          </a:solidFill>
                        </a:rPr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A64E"/>
                          </a:solidFill>
                        </a:rPr>
                        <a:t>sequential at the level of actions.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307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3512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4D0CA-F436-2263-713E-D118CEE07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Wumpus World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7AB45-473D-80CC-5150-FD1B61960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u="sng" dirty="0"/>
              <a:t>Percepts:</a:t>
            </a:r>
            <a:r>
              <a:rPr lang="en-US" dirty="0"/>
              <a:t> Breeze, Glitter, Smell</a:t>
            </a:r>
          </a:p>
          <a:p>
            <a:r>
              <a:rPr lang="en-US" b="1" u="sng" dirty="0"/>
              <a:t>Actions:</a:t>
            </a:r>
            <a:r>
              <a:rPr lang="en-US" dirty="0"/>
              <a:t> Left turn, Right turn, Froward, Backward, Grab, Release, Shoot</a:t>
            </a:r>
          </a:p>
          <a:p>
            <a:r>
              <a:rPr lang="en-US" b="1" u="sng" dirty="0"/>
              <a:t>Goal:</a:t>
            </a:r>
            <a:r>
              <a:rPr lang="en-US" b="1" dirty="0"/>
              <a:t> </a:t>
            </a:r>
            <a:r>
              <a:rPr lang="en-US" dirty="0"/>
              <a:t>Get the gold and back to the starting point (square [1,1]) without falling into a pit or being eaten by the </a:t>
            </a:r>
            <a:r>
              <a:rPr lang="en-US" dirty="0" err="1"/>
              <a:t>wumpus</a:t>
            </a:r>
            <a:r>
              <a:rPr lang="en-US" dirty="0"/>
              <a:t>.</a:t>
            </a:r>
          </a:p>
          <a:p>
            <a:r>
              <a:rPr lang="en-US" dirty="0"/>
              <a:t>Environment:</a:t>
            </a:r>
          </a:p>
          <a:p>
            <a:pPr lvl="1"/>
            <a:r>
              <a:rPr lang="en-US" dirty="0"/>
              <a:t>Squares adjacent to the Wumpus are smelly</a:t>
            </a:r>
          </a:p>
          <a:p>
            <a:pPr lvl="2"/>
            <a:r>
              <a:rPr lang="en-US" dirty="0" err="1">
                <a:solidFill>
                  <a:srgbClr val="FF0000"/>
                </a:solidFill>
              </a:rPr>
              <a:t>S</a:t>
            </a:r>
            <a:r>
              <a:rPr lang="en-US" baseline="-25000" dirty="0" err="1">
                <a:solidFill>
                  <a:srgbClr val="FF0000"/>
                </a:solidFill>
              </a:rPr>
              <a:t>x,y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 W</a:t>
            </a:r>
            <a:r>
              <a:rPr lang="en-US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x+1,y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V W</a:t>
            </a:r>
            <a:r>
              <a:rPr lang="en-US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x-1,y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V W</a:t>
            </a:r>
            <a:r>
              <a:rPr lang="en-US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x,y+1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V W</a:t>
            </a:r>
            <a:r>
              <a:rPr lang="en-US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x,y-1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Squares adjacent to pit are breezy</a:t>
            </a:r>
          </a:p>
          <a:p>
            <a:pPr lvl="2"/>
            <a:r>
              <a:rPr lang="en-US" dirty="0" err="1">
                <a:solidFill>
                  <a:srgbClr val="FF0000"/>
                </a:solidFill>
              </a:rPr>
              <a:t>B</a:t>
            </a:r>
            <a:r>
              <a:rPr lang="en-US" baseline="-25000" dirty="0" err="1">
                <a:solidFill>
                  <a:srgbClr val="FF0000"/>
                </a:solidFill>
              </a:rPr>
              <a:t>x,y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 P</a:t>
            </a:r>
            <a:r>
              <a:rPr lang="en-US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x+1,y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V P</a:t>
            </a:r>
            <a:r>
              <a:rPr lang="en-US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x-1,y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V P</a:t>
            </a:r>
            <a:r>
              <a:rPr lang="en-US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x,y+1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V P</a:t>
            </a:r>
            <a:r>
              <a:rPr lang="en-US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x,y-1</a:t>
            </a:r>
            <a:endParaRPr lang="en-US" dirty="0"/>
          </a:p>
          <a:p>
            <a:pPr lvl="1"/>
            <a:r>
              <a:rPr lang="en-US" dirty="0"/>
              <a:t>Glitter if and only if gold is in the same square.</a:t>
            </a:r>
          </a:p>
          <a:p>
            <a:pPr lvl="1"/>
            <a:r>
              <a:rPr lang="en-US" dirty="0"/>
              <a:t>Shooting kills the Wumpus if you are facing it.</a:t>
            </a:r>
          </a:p>
          <a:p>
            <a:pPr lvl="1"/>
            <a:r>
              <a:rPr lang="en-US" dirty="0"/>
              <a:t>Grabbing picks up the gold if in the same square.</a:t>
            </a:r>
          </a:p>
          <a:p>
            <a:pPr lvl="1"/>
            <a:r>
              <a:rPr lang="en-US" dirty="0"/>
              <a:t>Releasing drops the gold in the same square.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DEC0A-4BA7-E5D4-E8C8-FC244AE72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C6C3D-AEE2-BA16-F19C-BAB4401EF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6B255-7A65-3C1D-1032-45DAE1A75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502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E3A9-CEDF-4C65-ADBB-87FC3084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Wumpus World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AE4BF-CA43-40D8-99FD-C16360756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Let’s assign a Utility measure as shown below:</a:t>
            </a:r>
          </a:p>
          <a:p>
            <a:pPr lvl="1"/>
            <a:r>
              <a:rPr lang="en-US" dirty="0"/>
              <a:t>+1000 for climbing out of the cave with the gold (End),</a:t>
            </a:r>
          </a:p>
          <a:p>
            <a:pPr lvl="1"/>
            <a:r>
              <a:rPr lang="en-US" dirty="0"/>
              <a:t>-1000 for falling into a pit or being eaten by the Wumpus (End),</a:t>
            </a:r>
          </a:p>
          <a:p>
            <a:pPr lvl="1"/>
            <a:r>
              <a:rPr lang="en-US" dirty="0"/>
              <a:t>–1 for each action taken, and</a:t>
            </a:r>
          </a:p>
          <a:p>
            <a:pPr lvl="1"/>
            <a:r>
              <a:rPr lang="en-US" dirty="0"/>
              <a:t>–10 for using up the arrow.</a:t>
            </a:r>
          </a:p>
          <a:p>
            <a:r>
              <a:rPr lang="en-US" dirty="0"/>
              <a:t>The Environment description:  </a:t>
            </a:r>
          </a:p>
          <a:p>
            <a:pPr lvl="1"/>
            <a:r>
              <a:rPr lang="en-US" dirty="0"/>
              <a:t>In a 4×4 grid of rooms, the agent starts in square [1,1], facing right.</a:t>
            </a:r>
          </a:p>
          <a:p>
            <a:pPr lvl="1"/>
            <a:r>
              <a:rPr lang="en-US" dirty="0"/>
              <a:t>The gold and the Wumpus locations are randomly chosen uniformly, in any room other than room [1,1]. </a:t>
            </a:r>
          </a:p>
          <a:p>
            <a:pPr lvl="1"/>
            <a:r>
              <a:rPr lang="en-US" dirty="0"/>
              <a:t>Each room other than the start can be a pit, with a probability of 0.2.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B93CD-2E2A-4DB8-95FC-495C7BD6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A8E22-CD76-4A4F-9559-F5B1F6CD5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CB884-022E-4429-B828-25DC631D0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6370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1848-B2E5-44F8-9DE3-D5F824D3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Wumpus World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00380-CF20-42D2-9E21-1A42A3C14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228153"/>
            <a:ext cx="7287127" cy="5021979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/>
              <a:t>Sensors</a:t>
            </a:r>
            <a:r>
              <a:rPr lang="en-US" sz="4000" dirty="0"/>
              <a:t>: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700" dirty="0"/>
              <a:t>Perceive a Stench in the squares adjacent to the Wumpus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700" dirty="0"/>
              <a:t>Perceive a Breeze in the squares adjacent to a pit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700" dirty="0"/>
              <a:t>Perceive a Glitter in the square where the gold is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700" dirty="0"/>
              <a:t>Perceive a Bump when the agent walks into a wall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700" dirty="0"/>
              <a:t>Perceive a woeful (i.e. unhappy) Scream anywhere in the caves when the Wumpus is killed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700" dirty="0"/>
              <a:t>Perceive “None” if all the adjacent rooms neither have a pit nor a Wumpus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6221A-A2F0-498A-AB34-CC68366A3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36331-24A8-48F1-B7D2-AC1C911D0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03313-07E9-452B-9DB1-76A35833D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63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13A3F1-8DCD-4FFF-804F-F28C1B1CFD7A}"/>
              </a:ext>
            </a:extLst>
          </p:cNvPr>
          <p:cNvSpPr txBox="1"/>
          <p:nvPr/>
        </p:nvSpPr>
        <p:spPr>
          <a:xfrm>
            <a:off x="8013032" y="1228153"/>
            <a:ext cx="4046621" cy="4505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/>
              <a:t>Actuators</a:t>
            </a:r>
            <a:r>
              <a:rPr lang="en-US" sz="2800" dirty="0"/>
              <a:t>:</a:t>
            </a: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Left turn</a:t>
            </a: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Right turn</a:t>
            </a: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Move forward</a:t>
            </a: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Move backward</a:t>
            </a: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Grab gold</a:t>
            </a: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Release gold</a:t>
            </a:r>
          </a:p>
          <a:p>
            <a:pPr marL="914400" lvl="1" indent="-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Shoot arrow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1155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3BF27-E9FF-42E1-9F9E-580E5E5CF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Wumpus World Solution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AFC08EB-43EA-41E5-B076-946CE0624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1228153"/>
            <a:ext cx="7104668" cy="4955831"/>
          </a:xfrm>
        </p:spPr>
        <p:txBody>
          <a:bodyPr>
            <a:normAutofit/>
          </a:bodyPr>
          <a:lstStyle/>
          <a:p>
            <a:r>
              <a:rPr lang="en-US" dirty="0"/>
              <a:t>Step 1:</a:t>
            </a:r>
          </a:p>
          <a:p>
            <a:pPr lvl="1"/>
            <a:r>
              <a:rPr lang="en-US" dirty="0"/>
              <a:t>Since</a:t>
            </a:r>
            <a:r>
              <a:rPr lang="en-US" dirty="0">
                <a:solidFill>
                  <a:srgbClr val="FF0000"/>
                </a:solidFill>
              </a:rPr>
              <a:t> A </a:t>
            </a:r>
            <a:r>
              <a:rPr lang="en-US" dirty="0"/>
              <a:t>does not perceive anything → room [1,1] is OK.</a:t>
            </a:r>
          </a:p>
          <a:p>
            <a:pPr lvl="1"/>
            <a:r>
              <a:rPr lang="en-US" dirty="0"/>
              <a:t>Since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does not perceive anything in [1,1] → room [1,2] and room [2,1] are OK.</a:t>
            </a:r>
          </a:p>
          <a:p>
            <a:pPr lvl="1"/>
            <a:r>
              <a:rPr lang="en-US" dirty="0"/>
              <a:t>The agent must choose between room [1,2] and room [2,1]. Since both are okay, he can flip a coin and choose any. </a:t>
            </a:r>
          </a:p>
          <a:p>
            <a:pPr lvl="1"/>
            <a:r>
              <a:rPr lang="en-US" dirty="0"/>
              <a:t>Suppose he chose room [1,2]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299BE-0D4C-48EB-BD23-2883BCAC2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0518D-D838-4D5D-8550-74EFE025C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471ED-D728-4947-A532-C96E9E4F2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pPr/>
              <a:t>64</a:t>
            </a:fld>
            <a:endParaRPr lang="en-US"/>
          </a:p>
        </p:txBody>
      </p:sp>
      <p:pic>
        <p:nvPicPr>
          <p:cNvPr id="17" name="Picture 16" descr="Calendar&#10;&#10;Description automatically generated">
            <a:extLst>
              <a:ext uri="{FF2B5EF4-FFF2-40B4-BE49-F238E27FC236}">
                <a16:creationId xmlns:a16="http://schemas.microsoft.com/office/drawing/2014/main" id="{07F30529-EAF8-4E77-A565-426435BB89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894" y="1123070"/>
            <a:ext cx="4057217" cy="390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243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2B1E6-14B4-417C-AFE5-74F1CAB88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Wumpus World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B190A-075D-49BE-AD3E-ADC3BD2AC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28153"/>
            <a:ext cx="7811678" cy="5021979"/>
          </a:xfrm>
        </p:spPr>
        <p:txBody>
          <a:bodyPr>
            <a:normAutofit/>
          </a:bodyPr>
          <a:lstStyle/>
          <a:p>
            <a:r>
              <a:rPr lang="en-US" dirty="0"/>
              <a:t>Step 2: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perceives a Breeze in room [1,2] → room [1,3] and [2,2] may have pits</a:t>
            </a:r>
          </a:p>
          <a:p>
            <a:pPr lvl="1"/>
            <a:r>
              <a:rPr lang="en-US" b="1" u="sng" dirty="0"/>
              <a:t>Action:</a:t>
            </a:r>
            <a:r>
              <a:rPr lang="en-US" dirty="0"/>
              <a:t> calculate penalty for each unexplored room and move to least penalty room, i.e. move to [2,1] via room [1,1]</a:t>
            </a:r>
          </a:p>
          <a:p>
            <a:pPr lvl="1"/>
            <a:r>
              <a:rPr lang="en-US" dirty="0"/>
              <a:t>Anticipated Penalty for room [1,3] = -1000</a:t>
            </a:r>
          </a:p>
          <a:p>
            <a:pPr lvl="1"/>
            <a:r>
              <a:rPr lang="en-US" dirty="0"/>
              <a:t>Anticipated Penalty for room [2,2] = -1000</a:t>
            </a:r>
          </a:p>
          <a:p>
            <a:pPr lvl="1"/>
            <a:r>
              <a:rPr lang="en-US" dirty="0"/>
              <a:t>Penalty for room [2,1] via room [1,1] = -2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B06EB-3100-4FAA-BFCD-87DAFAF63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C3C41-03FA-4A19-92BD-B89708A78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5CC3C-0635-4209-9D82-941E548E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pPr/>
              <a:t>65</a:t>
            </a:fld>
            <a:endParaRPr lang="en-US"/>
          </a:p>
        </p:txBody>
      </p:sp>
      <p:pic>
        <p:nvPicPr>
          <p:cNvPr id="12" name="Picture 11" descr="Calendar&#10;&#10;Description automatically generated">
            <a:extLst>
              <a:ext uri="{FF2B5EF4-FFF2-40B4-BE49-F238E27FC236}">
                <a16:creationId xmlns:a16="http://schemas.microsoft.com/office/drawing/2014/main" id="{AFC39462-8C6D-44DB-9B19-40EB687E6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478" y="1877213"/>
            <a:ext cx="3770722" cy="378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9133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0C0F6-2819-40D3-8AA3-9692D0827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Wumpus World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26660-F0AD-4AFC-ABEE-AF775EDB6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28153"/>
            <a:ext cx="7406326" cy="502197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Step 3: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perceives a Stench in room [2,1] → room [3,1] and [2,2] may have Wumpus</a:t>
            </a:r>
          </a:p>
          <a:p>
            <a:pPr lvl="1"/>
            <a:r>
              <a:rPr lang="en-US" dirty="0"/>
              <a:t>The agent observes a conflict in logic in room [2,2]:</a:t>
            </a:r>
          </a:p>
          <a:p>
            <a:pPr lvl="2"/>
            <a:r>
              <a:rPr lang="en-US" dirty="0"/>
              <a:t>When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was in room [1,2] there was no stench, thus room [2,2] cannot have Wumpus </a:t>
            </a:r>
          </a:p>
          <a:p>
            <a:pPr lvl="2"/>
            <a:r>
              <a:rPr lang="en-US" dirty="0"/>
              <a:t>Room [2,1] does not have a breeze and hence there cannot be a pit in room [2,2]. </a:t>
            </a:r>
          </a:p>
          <a:p>
            <a:pPr lvl="2"/>
            <a:r>
              <a:rPr lang="en-US" dirty="0"/>
              <a:t>Therefore,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concludes that room [2,2] is safe and marks it as OK.</a:t>
            </a:r>
          </a:p>
          <a:p>
            <a:pPr lvl="1"/>
            <a:r>
              <a:rPr lang="en-US" dirty="0"/>
              <a:t>Action Move to room [2,2]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3AFEC-395B-4FAB-B6EE-EEF0B88F2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69BCC-6603-439F-B386-187A4F969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33023-687C-405E-B862-1DC7EDAAC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pPr/>
              <a:t>66</a:t>
            </a:fld>
            <a:endParaRPr lang="en-US"/>
          </a:p>
        </p:txBody>
      </p:sp>
      <p:pic>
        <p:nvPicPr>
          <p:cNvPr id="12" name="Picture 11" descr="Calendar&#10;&#10;Description automatically generated">
            <a:extLst>
              <a:ext uri="{FF2B5EF4-FFF2-40B4-BE49-F238E27FC236}">
                <a16:creationId xmlns:a16="http://schemas.microsoft.com/office/drawing/2014/main" id="{4300493C-F339-4F68-B160-05EB48363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637" y="1764092"/>
            <a:ext cx="4057745" cy="391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136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0C0F6-2819-40D3-8AA3-9692D0827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Wumpus World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26660-F0AD-4AFC-ABEE-AF775EDB6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28153"/>
            <a:ext cx="7406326" cy="502197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Step 3:</a:t>
            </a:r>
          </a:p>
          <a:p>
            <a:pPr lvl="1"/>
            <a:r>
              <a:rPr lang="en-US" dirty="0"/>
              <a:t>Wumpus → Stench</a:t>
            </a:r>
          </a:p>
          <a:p>
            <a:pPr lvl="1"/>
            <a:r>
              <a:rPr lang="en-US" dirty="0"/>
              <a:t>[1,2] no stench → [2,2] no Wumpus</a:t>
            </a:r>
          </a:p>
          <a:p>
            <a:pPr lvl="1"/>
            <a:r>
              <a:rPr lang="en-US" dirty="0"/>
              <a:t>Pit → Breeze</a:t>
            </a:r>
          </a:p>
          <a:p>
            <a:pPr lvl="1"/>
            <a:r>
              <a:rPr lang="en-US" dirty="0"/>
              <a:t>[2,1] no Breeze → [2,2] no Pit</a:t>
            </a:r>
          </a:p>
          <a:p>
            <a:pPr lvl="1"/>
            <a:r>
              <a:rPr lang="en-US" dirty="0"/>
              <a:t>Thus, [2,2] has no Wumpus and no Pit and is marked OK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 in [2,1] </a:t>
            </a:r>
            <a:r>
              <a:rPr lang="en-US" dirty="0"/>
              <a:t>→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 in [3,1] </a:t>
            </a:r>
            <a:r>
              <a:rPr lang="en-US" dirty="0"/>
              <a:t>V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 in [2,2]</a:t>
            </a:r>
          </a:p>
          <a:p>
            <a:pPr lvl="1"/>
            <a:r>
              <a:rPr lang="en-US" dirty="0"/>
              <a:t>Since  W in [2,2]=F → W in [3,1]=T</a:t>
            </a:r>
          </a:p>
          <a:p>
            <a:pPr lvl="1"/>
            <a:r>
              <a:rPr lang="en-US" dirty="0"/>
              <a:t>Thus, we conclude that Wumpus is in [3,1]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3AFEC-395B-4FAB-B6EE-EEF0B88F2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69BCC-6603-439F-B386-187A4F969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33023-687C-405E-B862-1DC7EDAAC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pPr/>
              <a:t>67</a:t>
            </a:fld>
            <a:endParaRPr lang="en-US"/>
          </a:p>
        </p:txBody>
      </p:sp>
      <p:pic>
        <p:nvPicPr>
          <p:cNvPr id="12" name="Picture 11" descr="Calendar&#10;&#10;Description automatically generated">
            <a:extLst>
              <a:ext uri="{FF2B5EF4-FFF2-40B4-BE49-F238E27FC236}">
                <a16:creationId xmlns:a16="http://schemas.microsoft.com/office/drawing/2014/main" id="{4300493C-F339-4F68-B160-05EB48363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637" y="1764092"/>
            <a:ext cx="4057745" cy="391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66686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3E945-6C58-45BF-91AD-431E078C8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Wumpus World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19F4-3283-4F18-9654-A303FA8CA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28153"/>
            <a:ext cx="7104668" cy="5021979"/>
          </a:xfrm>
        </p:spPr>
        <p:txBody>
          <a:bodyPr/>
          <a:lstStyle/>
          <a:p>
            <a:r>
              <a:rPr lang="en-US" dirty="0"/>
              <a:t>Step 4: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perceives nothing in room [2,2] → Mark room [2,3] and [3,2] as OK</a:t>
            </a:r>
          </a:p>
          <a:p>
            <a:pPr lvl="1"/>
            <a:r>
              <a:rPr lang="en-US" dirty="0"/>
              <a:t>Choices: </a:t>
            </a:r>
          </a:p>
          <a:p>
            <a:pPr lvl="2"/>
            <a:r>
              <a:rPr lang="en-US" dirty="0"/>
              <a:t>Move to room [2,3] or [3,2] since they are safe</a:t>
            </a:r>
          </a:p>
          <a:p>
            <a:pPr lvl="1"/>
            <a:r>
              <a:rPr lang="en-US" dirty="0"/>
              <a:t>Action: move to room [2,3]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B5CE2-147C-48E9-99F6-551A34879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A364B-F54E-403E-93A2-D6E00D060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FFB34-4ADD-471F-835A-2A3E13D3F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pPr/>
              <a:t>68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E5323D-024F-4604-8F9B-8B953F8B5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602" y="1629347"/>
            <a:ext cx="4105275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67849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323E1-EDD7-446D-B15C-AB9DFB8BA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Wumpus World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830D7-F6C4-49A7-97F6-9895D51F8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28153"/>
            <a:ext cx="6265682" cy="5021979"/>
          </a:xfrm>
        </p:spPr>
        <p:txBody>
          <a:bodyPr/>
          <a:lstStyle/>
          <a:p>
            <a:r>
              <a:rPr lang="en-US" dirty="0"/>
              <a:t>Step 5: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perceives a Breeze in room [2,3] → rooms [3,3] and [2,4] may have pits.</a:t>
            </a:r>
          </a:p>
          <a:p>
            <a:pPr lvl="1"/>
            <a:r>
              <a:rPr lang="en-US" dirty="0"/>
              <a:t>Action: estimate penalty in each room → move to room [3,2]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3AADB-4FDF-4F7F-8B32-57B5BFBBB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6009A-8B72-46B4-AD6B-567396093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3A7B9-2AC5-4D38-9168-9C5B83A9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pPr/>
              <a:t>69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17FC7B-D265-422C-A198-5263E222C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435" y="1700792"/>
            <a:ext cx="413385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43199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9-640F-4A6C-8959-378494BD7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Wumpus World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3E4DE-23E0-42CE-9223-A73EA6944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28153"/>
            <a:ext cx="7312058" cy="5021979"/>
          </a:xfrm>
        </p:spPr>
        <p:txBody>
          <a:bodyPr/>
          <a:lstStyle/>
          <a:p>
            <a:r>
              <a:rPr lang="en-US" dirty="0"/>
              <a:t>Step 6: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perceives a Stench, Breeze and Glitter in room [3,2]→ grab the gold.</a:t>
            </a:r>
          </a:p>
          <a:p>
            <a:r>
              <a:rPr lang="en-US" dirty="0"/>
              <a:t>Step 7: To get out backtrack your steps by maximizing Utility (or minimizing penalty)  </a:t>
            </a:r>
          </a:p>
          <a:p>
            <a:pPr lvl="1"/>
            <a:r>
              <a:rPr lang="en-US" dirty="0"/>
              <a:t>Backtrack path [3,2] → [2,2] → [2,1] → [1,1]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6A8DA-C3A9-43A7-AD86-40F754153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3F812-6CFA-445F-9C6B-14813389C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7B78B-D649-4EA3-9EFE-BD07474B5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3E3AF-6356-4B26-967E-C9526500E209}"/>
              </a:ext>
            </a:extLst>
          </p:cNvPr>
          <p:cNvSpPr txBox="1"/>
          <p:nvPr/>
        </p:nvSpPr>
        <p:spPr>
          <a:xfrm>
            <a:off x="304799" y="5722070"/>
            <a:ext cx="777456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Try it out: </a:t>
            </a:r>
            <a:r>
              <a:rPr lang="en-US" sz="2800" dirty="0">
                <a:hlinkClick r:id="rId3"/>
              </a:rPr>
              <a:t>http://primaryobjects.github.io/wumpus/</a:t>
            </a:r>
            <a:endParaRPr lang="en-US" sz="2800" dirty="0"/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D1C1BA-D905-4FE7-A02E-E2BDF49EF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140" y="1476375"/>
            <a:ext cx="403860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7538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EC4C-4DA5-4C40-BFE1-6346C1A92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1C01D-1E86-4171-AA24-67F08563B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Knowledge representation plays a big role in an agent's behavior.</a:t>
            </a:r>
          </a:p>
          <a:p>
            <a:r>
              <a:rPr lang="en-US" dirty="0"/>
              <a:t>We utilize propositional logic and other types of logic for knowledge representation.</a:t>
            </a:r>
          </a:p>
          <a:p>
            <a:r>
              <a:rPr lang="en-US" dirty="0"/>
              <a:t>Inference logic is needed to infer new </a:t>
            </a:r>
            <a:r>
              <a:rPr lang="en-US"/>
              <a:t>knowledge from </a:t>
            </a:r>
            <a:r>
              <a:rPr lang="en-US" dirty="0"/>
              <a:t>known knowledge.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FDF07-C0E3-4324-A094-FC6D3F94D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131C7-4AD0-49B4-A2A0-4E2984122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E6130-AD4E-4286-90D1-41C9E99B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4508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A9805-3073-BE7C-DFE1-CD08B84CC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Play The Wumpus World Online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1FA9D-C25C-D3E6-ED3E-2D61B513C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https://thiagodnf.github.io/wumpus-world-simulator/</a:t>
            </a:r>
            <a:endParaRPr lang="en-US" dirty="0"/>
          </a:p>
          <a:p>
            <a:r>
              <a:rPr lang="en-US" dirty="0">
                <a:hlinkClick r:id="rId3"/>
              </a:rPr>
              <a:t>https://luka1199.github.io/wumpus-world/</a:t>
            </a:r>
            <a:endParaRPr lang="en-US" dirty="0"/>
          </a:p>
          <a:p>
            <a:r>
              <a:rPr lang="en-US" dirty="0">
                <a:hlinkClick r:id="rId4"/>
              </a:rPr>
              <a:t>https://osric.com/wumpus/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75124-FA44-E7C2-B4AC-AF6E7710F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5A3C7-98EA-4310-98DB-576388075F66}" type="datetime1">
              <a:rPr lang="en-US" smtClean="0"/>
              <a:t>6/18/2023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A9300-F739-801F-59F2-BD15C8A99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4C850-44C7-1951-0C3A-B062CDA70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DB82-35C9-4076-A5B8-0781B30E89ED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943057"/>
      </p:ext>
    </p:extLst>
  </p:cSld>
  <p:clrMapOvr>
    <a:masterClrMapping/>
  </p:clrMapOvr>
</p:sld>
</file>

<file path=ppt/theme/theme1.xml><?xml version="1.0" encoding="utf-8"?>
<a:theme xmlns:a="http://schemas.openxmlformats.org/drawingml/2006/main" name="COE292-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292-Theme" id="{AA9EC02E-8640-4E8B-ABAB-102FD008F986}" vid="{377DF88B-3CFC-44E3-A6D0-0AB6D06236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f9677ce1-080b-4051-a037-2610debe14cb" origin="userSelected">
  <element uid="id_classification_nonbusiness" value=""/>
</sisl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69f5268-cdab-4d15-bb52-0a55c8a2acbf">
      <Terms xmlns="http://schemas.microsoft.com/office/infopath/2007/PartnerControls"/>
    </lcf76f155ced4ddcb4097134ff3c332f>
    <TaxCatchAll xmlns="0a0093cb-ec06-41d8-a318-854d4a8ac90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729E42328A1340A83A8FC9E957FDB6" ma:contentTypeVersion="8" ma:contentTypeDescription="Create a new document." ma:contentTypeScope="" ma:versionID="175f9e8ff4b481a9e8dcf8826a373db4">
  <xsd:schema xmlns:xsd="http://www.w3.org/2001/XMLSchema" xmlns:xs="http://www.w3.org/2001/XMLSchema" xmlns:p="http://schemas.microsoft.com/office/2006/metadata/properties" xmlns:ns2="f69f5268-cdab-4d15-bb52-0a55c8a2acbf" xmlns:ns3="0a0093cb-ec06-41d8-a318-854d4a8ac904" targetNamespace="http://schemas.microsoft.com/office/2006/metadata/properties" ma:root="true" ma:fieldsID="a905881942c4f35b5b2fbf75db716a39" ns2:_="" ns3:_="">
    <xsd:import namespace="f69f5268-cdab-4d15-bb52-0a55c8a2acbf"/>
    <xsd:import namespace="0a0093cb-ec06-41d8-a318-854d4a8ac9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9f5268-cdab-4d15-bb52-0a55c8a2ac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87f4d030-a2bd-4159-b459-856363f4e7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0093cb-ec06-41d8-a318-854d4a8ac904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3ca49e6-d56c-49dc-876c-0fd2cd9cf023}" ma:internalName="TaxCatchAll" ma:showField="CatchAllData" ma:web="0a0093cb-ec06-41d8-a318-854d4a8ac9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CE9C68-F4F7-446A-9B08-4E1C773444F1}">
  <ds:schemaRefs>
    <ds:schemaRef ds:uri="http://www.w3.org/2001/XMLSchema"/>
    <ds:schemaRef ds:uri="http://www.boldonjames.com/2008/01/sie/internal/label"/>
  </ds:schemaRefs>
</ds:datastoreItem>
</file>

<file path=customXml/itemProps2.xml><?xml version="1.0" encoding="utf-8"?>
<ds:datastoreItem xmlns:ds="http://schemas.openxmlformats.org/officeDocument/2006/customXml" ds:itemID="{950AC43B-AFC1-478C-A68F-9018E1EF1DBC}">
  <ds:schemaRefs>
    <ds:schemaRef ds:uri="http://purl.org/dc/elements/1.1/"/>
    <ds:schemaRef ds:uri="http://schemas.microsoft.com/office/2006/documentManagement/types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09D86D4-6B25-4F24-8565-5CFF4EAB0B4A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5CFB952E-F5C5-4432-B50B-5EEE796D713E}"/>
</file>

<file path=docProps/app.xml><?xml version="1.0" encoding="utf-8"?>
<Properties xmlns="http://schemas.openxmlformats.org/officeDocument/2006/extended-properties" xmlns:vt="http://schemas.openxmlformats.org/officeDocument/2006/docPropsVTypes">
  <Template>COE292-Theme</Template>
  <TotalTime>10802</TotalTime>
  <Words>6077</Words>
  <Application>Microsoft Office PowerPoint</Application>
  <PresentationFormat>Widescreen</PresentationFormat>
  <Paragraphs>1366</Paragraphs>
  <Slides>72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4" baseType="lpstr">
      <vt:lpstr>ＭＳ Ｐゴシック</vt:lpstr>
      <vt:lpstr>新細明體</vt:lpstr>
      <vt:lpstr>Arial</vt:lpstr>
      <vt:lpstr>Calibri</vt:lpstr>
      <vt:lpstr>Calibri Light</vt:lpstr>
      <vt:lpstr>Cambria</vt:lpstr>
      <vt:lpstr>Cambria Math</vt:lpstr>
      <vt:lpstr>Corbel</vt:lpstr>
      <vt:lpstr>Symbol</vt:lpstr>
      <vt:lpstr>Times New Roman</vt:lpstr>
      <vt:lpstr>Wingdings</vt:lpstr>
      <vt:lpstr>COE292-Theme</vt:lpstr>
      <vt:lpstr>PowerPoint Presentation</vt:lpstr>
      <vt:lpstr>Objectives</vt:lpstr>
      <vt:lpstr>Knowledge Representation</vt:lpstr>
      <vt:lpstr>Knowledge-Based Agent</vt:lpstr>
      <vt:lpstr>Knowledge-Based Agent</vt:lpstr>
      <vt:lpstr>Knowledge-Based Agents</vt:lpstr>
      <vt:lpstr>Logic-Based Agent</vt:lpstr>
      <vt:lpstr>Propositional Logic</vt:lpstr>
      <vt:lpstr>Propositional Logic Definition</vt:lpstr>
      <vt:lpstr>Propositions vs. Non-Propositions</vt:lpstr>
      <vt:lpstr>Operators/Connectives</vt:lpstr>
      <vt:lpstr>Boolean Operators</vt:lpstr>
      <vt:lpstr>The Negation Operator (Not) “¬”</vt:lpstr>
      <vt:lpstr>The Negation Operator (Not) “¬” – Truth Table</vt:lpstr>
      <vt:lpstr>The Conjunction Operator (AND) “”</vt:lpstr>
      <vt:lpstr>The Conjunction Operator (AND) “” – Truth Table</vt:lpstr>
      <vt:lpstr>Conjunction Truth Table Examples</vt:lpstr>
      <vt:lpstr>The Disjunction Operator (OR) “∨”</vt:lpstr>
      <vt:lpstr>The Disjunction Operator (OR) “∨” – Truth Table</vt:lpstr>
      <vt:lpstr>Nested Propositional Expressions</vt:lpstr>
      <vt:lpstr>Propositional Expressions - Examples</vt:lpstr>
      <vt:lpstr>The Exclusive Disjunction Operator (XOR) “⊕” </vt:lpstr>
      <vt:lpstr>The Exclusive Disjunction Operator (XOR) “⊕”  - Truth Table</vt:lpstr>
      <vt:lpstr>Inclusive OR “∨” vs. Exclusive OR “⊕” </vt:lpstr>
      <vt:lpstr>The Implication Operator (implies) “”</vt:lpstr>
      <vt:lpstr>The Implication Operator (implies) “”</vt:lpstr>
      <vt:lpstr>The Implication Operator (implies) “”</vt:lpstr>
      <vt:lpstr>English Phrases for p  q</vt:lpstr>
      <vt:lpstr>Examples  of  English uses of Implications</vt:lpstr>
      <vt:lpstr>Examples  of  English uses of Implications</vt:lpstr>
      <vt:lpstr>Examples  of  English uses of Implications</vt:lpstr>
      <vt:lpstr>Converse, Inverse, Contrapositive</vt:lpstr>
      <vt:lpstr>Proving Equivalence between p  q  and ¬q  ¬p </vt:lpstr>
      <vt:lpstr>Converse, Inverse, Contrapositive - Example</vt:lpstr>
      <vt:lpstr>The Biconditional Operator “”</vt:lpstr>
      <vt:lpstr>The Biconditional Operator “” - Truth Table</vt:lpstr>
      <vt:lpstr>Boolean Operations Summary</vt:lpstr>
      <vt:lpstr>Boolean Operations Alternative Notations</vt:lpstr>
      <vt:lpstr>Precedence of Logical Operators</vt:lpstr>
      <vt:lpstr>Tautologies, Contradictions and Contingencies</vt:lpstr>
      <vt:lpstr>Logically Equivalent</vt:lpstr>
      <vt:lpstr>Logical Equivalence</vt:lpstr>
      <vt:lpstr>De Morgan’s Laws</vt:lpstr>
      <vt:lpstr>De Morgan’s Laws</vt:lpstr>
      <vt:lpstr>Argument and Inference</vt:lpstr>
      <vt:lpstr>Valid Arguments in Propositional Logic</vt:lpstr>
      <vt:lpstr>Valid Arguments</vt:lpstr>
      <vt:lpstr>Rules of Inference for Propositional Logic</vt:lpstr>
      <vt:lpstr>Example</vt:lpstr>
      <vt:lpstr>Example</vt:lpstr>
      <vt:lpstr>Rules of Inference</vt:lpstr>
      <vt:lpstr>Addition</vt:lpstr>
      <vt:lpstr>Simplification</vt:lpstr>
      <vt:lpstr>Conjunction</vt:lpstr>
      <vt:lpstr>Modus Ponens</vt:lpstr>
      <vt:lpstr>Modus Tollens</vt:lpstr>
      <vt:lpstr>The Wumpus World Example </vt:lpstr>
      <vt:lpstr>The Wumpus World Example </vt:lpstr>
      <vt:lpstr>The Wumpus World Example </vt:lpstr>
      <vt:lpstr>Wumpus World Characterization</vt:lpstr>
      <vt:lpstr>The Wumpus World Example </vt:lpstr>
      <vt:lpstr>The Wumpus World Example </vt:lpstr>
      <vt:lpstr>The Wumpus World Example </vt:lpstr>
      <vt:lpstr>Wumpus World Solution</vt:lpstr>
      <vt:lpstr>Wumpus World Solution</vt:lpstr>
      <vt:lpstr>Wumpus World Solution</vt:lpstr>
      <vt:lpstr>Wumpus World Solution</vt:lpstr>
      <vt:lpstr>Wumpus World Solution</vt:lpstr>
      <vt:lpstr>Wumpus World Solution</vt:lpstr>
      <vt:lpstr>Wumpus World Solution</vt:lpstr>
      <vt:lpstr>Conclusion</vt:lpstr>
      <vt:lpstr>Play The Wumpus World Online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Abdulaziz Yagoub Mahmoud Barnawi</dc:creator>
  <cp:lastModifiedBy>Aiman ElMaleh</cp:lastModifiedBy>
  <cp:revision>371</cp:revision>
  <dcterms:created xsi:type="dcterms:W3CDTF">2022-01-22T15:55:21Z</dcterms:created>
  <dcterms:modified xsi:type="dcterms:W3CDTF">2023-06-18T18:23:12Z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0x0101007C729E42328A1340A83A8FC9E957FDB6</vt:lpwstr>
  </property>
  <property fmtid="{D5CDD505-2E9C-101B-9397-08002B2CF9AE}" pid="3" name="docIndexRef">
    <vt:lpwstr>e83a8bd0-81d5-4d22-8e44-0be7abe9e64a</vt:lpwstr>
  </property>
  <property fmtid="{D5CDD505-2E9C-101B-9397-08002B2CF9AE}" pid="4" name="bjClsUserRVM">
    <vt:lpwstr>[]</vt:lpwstr>
  </property>
  <property fmtid="{D5CDD505-2E9C-101B-9397-08002B2CF9AE}" pid="5" name="bjSaver">
    <vt:lpwstr>++5quz01wECbOhKY+AQfocVzEJCe4oHG</vt:lpwstr>
  </property>
  <property fmtid="{D5CDD505-2E9C-101B-9397-08002B2CF9AE}" pid="6" name="bjDocumentLabelXML">
    <vt:lpwstr>&lt;?xml version="1.0" encoding="us-ascii"?&gt;&lt;sisl xmlns:xsd="http://www.w3.org/2001/XMLSchema" xmlns:xsi="http://www.w3.org/2001/XMLSchema-instance" sislVersion="0" policy="f9677ce1-080b-4051-a037-2610debe14cb" origin="userSelected" xmlns="http://www.boldonj</vt:lpwstr>
  </property>
  <property fmtid="{D5CDD505-2E9C-101B-9397-08002B2CF9AE}" pid="7" name="bjDocumentLabelXML-0">
    <vt:lpwstr>ames.com/2008/01/sie/internal/label"&gt;&lt;element uid="id_classification_nonbusiness" value="" /&gt;&lt;/sisl&gt;</vt:lpwstr>
  </property>
  <property fmtid="{D5CDD505-2E9C-101B-9397-08002B2CF9AE}" pid="8" name="bjDocumentSecurityLabel">
    <vt:lpwstr>Public</vt:lpwstr>
  </property>
  <property fmtid="{D5CDD505-2E9C-101B-9397-08002B2CF9AE}" pid="9" name="MediaServiceImageTags">
    <vt:lpwstr/>
  </property>
  <property fmtid="{D5CDD505-2E9C-101B-9397-08002B2CF9AE}" pid="10" name="Order">
    <vt:r8>6400</vt:r8>
  </property>
  <property fmtid="{D5CDD505-2E9C-101B-9397-08002B2CF9AE}" pid="11" name="xd_Signature">
    <vt:bool>false</vt:bool>
  </property>
  <property fmtid="{D5CDD505-2E9C-101B-9397-08002B2CF9AE}" pid="12" name="xd_ProgID">
    <vt:lpwstr/>
  </property>
  <property fmtid="{D5CDD505-2E9C-101B-9397-08002B2CF9AE}" pid="13" name="TriggerFlowInfo">
    <vt:lpwstr/>
  </property>
  <property fmtid="{D5CDD505-2E9C-101B-9397-08002B2CF9AE}" pid="14" name="ComplianceAssetId">
    <vt:lpwstr/>
  </property>
  <property fmtid="{D5CDD505-2E9C-101B-9397-08002B2CF9AE}" pid="15" name="TemplateUrl">
    <vt:lpwstr/>
  </property>
  <property fmtid="{D5CDD505-2E9C-101B-9397-08002B2CF9AE}" pid="16" name="_ExtendedDescription">
    <vt:lpwstr/>
  </property>
  <property fmtid="{D5CDD505-2E9C-101B-9397-08002B2CF9AE}" pid="17" name="_SourceUrl">
    <vt:lpwstr/>
  </property>
  <property fmtid="{D5CDD505-2E9C-101B-9397-08002B2CF9AE}" pid="18" name="_SharedFileIndex">
    <vt:lpwstr/>
  </property>
</Properties>
</file>