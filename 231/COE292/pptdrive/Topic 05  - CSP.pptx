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5"/>
  </p:sldMasterIdLst>
  <p:notesMasterIdLst>
    <p:notesMasterId r:id="rId116"/>
  </p:notesMasterIdLst>
  <p:sldIdLst>
    <p:sldId id="257" r:id="rId6"/>
    <p:sldId id="312" r:id="rId7"/>
    <p:sldId id="313" r:id="rId8"/>
    <p:sldId id="409" r:id="rId9"/>
    <p:sldId id="410" r:id="rId10"/>
    <p:sldId id="316" r:id="rId11"/>
    <p:sldId id="394" r:id="rId12"/>
    <p:sldId id="397" r:id="rId13"/>
    <p:sldId id="317" r:id="rId14"/>
    <p:sldId id="396" r:id="rId15"/>
    <p:sldId id="395" r:id="rId16"/>
    <p:sldId id="318" r:id="rId17"/>
    <p:sldId id="417" r:id="rId18"/>
    <p:sldId id="319" r:id="rId19"/>
    <p:sldId id="320" r:id="rId20"/>
    <p:sldId id="321" r:id="rId21"/>
    <p:sldId id="322" r:id="rId22"/>
    <p:sldId id="411" r:id="rId23"/>
    <p:sldId id="408" r:id="rId24"/>
    <p:sldId id="440" r:id="rId25"/>
    <p:sldId id="325" r:id="rId26"/>
    <p:sldId id="421" r:id="rId27"/>
    <p:sldId id="326" r:id="rId28"/>
    <p:sldId id="422" r:id="rId29"/>
    <p:sldId id="419" r:id="rId30"/>
    <p:sldId id="420" r:id="rId31"/>
    <p:sldId id="423" r:id="rId32"/>
    <p:sldId id="424" r:id="rId33"/>
    <p:sldId id="425" r:id="rId34"/>
    <p:sldId id="426" r:id="rId35"/>
    <p:sldId id="427" r:id="rId36"/>
    <p:sldId id="428" r:id="rId37"/>
    <p:sldId id="415" r:id="rId38"/>
    <p:sldId id="356" r:id="rId39"/>
    <p:sldId id="357" r:id="rId40"/>
    <p:sldId id="382" r:id="rId41"/>
    <p:sldId id="383" r:id="rId42"/>
    <p:sldId id="384" r:id="rId43"/>
    <p:sldId id="385" r:id="rId44"/>
    <p:sldId id="429" r:id="rId45"/>
    <p:sldId id="430" r:id="rId46"/>
    <p:sldId id="431" r:id="rId47"/>
    <p:sldId id="327" r:id="rId48"/>
    <p:sldId id="433" r:id="rId49"/>
    <p:sldId id="359" r:id="rId50"/>
    <p:sldId id="434" r:id="rId51"/>
    <p:sldId id="390" r:id="rId52"/>
    <p:sldId id="435" r:id="rId53"/>
    <p:sldId id="436" r:id="rId54"/>
    <p:sldId id="437" r:id="rId55"/>
    <p:sldId id="438" r:id="rId56"/>
    <p:sldId id="439" r:id="rId57"/>
    <p:sldId id="364" r:id="rId58"/>
    <p:sldId id="365" r:id="rId59"/>
    <p:sldId id="398" r:id="rId60"/>
    <p:sldId id="412" r:id="rId61"/>
    <p:sldId id="401" r:id="rId62"/>
    <p:sldId id="402" r:id="rId63"/>
    <p:sldId id="400" r:id="rId64"/>
    <p:sldId id="403" r:id="rId65"/>
    <p:sldId id="404" r:id="rId66"/>
    <p:sldId id="465" r:id="rId67"/>
    <p:sldId id="472" r:id="rId68"/>
    <p:sldId id="477" r:id="rId69"/>
    <p:sldId id="473" r:id="rId70"/>
    <p:sldId id="474" r:id="rId71"/>
    <p:sldId id="475" r:id="rId72"/>
    <p:sldId id="478" r:id="rId73"/>
    <p:sldId id="476" r:id="rId74"/>
    <p:sldId id="479" r:id="rId75"/>
    <p:sldId id="470" r:id="rId76"/>
    <p:sldId id="471" r:id="rId77"/>
    <p:sldId id="330" r:id="rId78"/>
    <p:sldId id="331" r:id="rId79"/>
    <p:sldId id="332" r:id="rId80"/>
    <p:sldId id="333" r:id="rId81"/>
    <p:sldId id="442" r:id="rId82"/>
    <p:sldId id="443" r:id="rId83"/>
    <p:sldId id="444" r:id="rId84"/>
    <p:sldId id="445" r:id="rId85"/>
    <p:sldId id="462" r:id="rId86"/>
    <p:sldId id="463" r:id="rId87"/>
    <p:sldId id="464"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66" r:id="rId101"/>
    <p:sldId id="367" r:id="rId102"/>
    <p:sldId id="368" r:id="rId103"/>
    <p:sldId id="369" r:id="rId104"/>
    <p:sldId id="370" r:id="rId105"/>
    <p:sldId id="371" r:id="rId106"/>
    <p:sldId id="372" r:id="rId107"/>
    <p:sldId id="373" r:id="rId108"/>
    <p:sldId id="374" r:id="rId109"/>
    <p:sldId id="375" r:id="rId110"/>
    <p:sldId id="376" r:id="rId111"/>
    <p:sldId id="377" r:id="rId112"/>
    <p:sldId id="378" r:id="rId113"/>
    <p:sldId id="379" r:id="rId114"/>
    <p:sldId id="380" r:id="rId1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dulaziz Yagoub Barnawi" initials="AYB" lastIdx="3" clrIdx="0">
    <p:extLst>
      <p:ext uri="{19B8F6BF-5375-455C-9EA6-DF929625EA0E}">
        <p15:presenceInfo xmlns:p15="http://schemas.microsoft.com/office/powerpoint/2012/main" userId="Abdulaziz Yagoub Barnawi" providerId="None"/>
      </p:ext>
    </p:extLst>
  </p:cmAuthor>
  <p:cmAuthor id="2" name="Akram Fadhl N. Ahmed" initials="AFNA" lastIdx="2" clrIdx="1">
    <p:extLst>
      <p:ext uri="{19B8F6BF-5375-455C-9EA6-DF929625EA0E}">
        <p15:presenceInfo xmlns:p15="http://schemas.microsoft.com/office/powerpoint/2012/main" userId="Akram Fadhl N. Ahmed" providerId="None"/>
      </p:ext>
    </p:extLst>
  </p:cmAuthor>
  <p:cmAuthor id="3" name="Abdulaziz Yagoub Barnawi" initials="AYB [2]" lastIdx="4" clrIdx="2">
    <p:extLst>
      <p:ext uri="{19B8F6BF-5375-455C-9EA6-DF929625EA0E}">
        <p15:presenceInfo xmlns:p15="http://schemas.microsoft.com/office/powerpoint/2012/main" userId="S-1-5-21-207102804-2038585253-273557809-133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FCC00"/>
    <a:srgbClr val="008000"/>
    <a:srgbClr val="0033CC"/>
    <a:srgbClr val="FF3300"/>
    <a:srgbClr val="FFCC99"/>
    <a:srgbClr val="FFCC66"/>
    <a:srgbClr val="996633"/>
    <a:srgbClr val="0000FF"/>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500" autoAdjust="0"/>
  </p:normalViewPr>
  <p:slideViewPr>
    <p:cSldViewPr snapToGrid="0">
      <p:cViewPr varScale="1">
        <p:scale>
          <a:sx n="114" d="100"/>
          <a:sy n="114" d="100"/>
        </p:scale>
        <p:origin x="734" y="82"/>
      </p:cViewPr>
      <p:guideLst/>
    </p:cSldViewPr>
  </p:slideViewPr>
  <p:notesTextViewPr>
    <p:cViewPr>
      <p:scale>
        <a:sx n="3" d="2"/>
        <a:sy n="3" d="2"/>
      </p:scale>
      <p:origin x="0" y="0"/>
    </p:cViewPr>
  </p:notesTextViewPr>
  <p:sorterViewPr>
    <p:cViewPr>
      <p:scale>
        <a:sx n="100" d="100"/>
        <a:sy n="100" d="100"/>
      </p:scale>
      <p:origin x="0" y="-3215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commentAuthors" Target="commentAuthors.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1.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presProps" Target="presProps.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customXml" Target="../customXml/item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viewProps" Target="viewProps.xml"/><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theme" Target="theme/theme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tableStyles" Target="tableStyles.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shad Ahmed Othman" userId="S::othmanr@kfupm.edu.sa::1008819f-419b-409e-93a4-f766321245ac" providerId="AD" clId="Web-{28B2ABCC-54AA-4776-AC8E-EDB1A747F69A}"/>
    <pc:docChg chg="modSld">
      <pc:chgData name="Rashad Ahmed Othman" userId="S::othmanr@kfupm.edu.sa::1008819f-419b-409e-93a4-f766321245ac" providerId="AD" clId="Web-{28B2ABCC-54AA-4776-AC8E-EDB1A747F69A}" dt="2022-09-26T07:56:19.611" v="1"/>
      <pc:docMkLst>
        <pc:docMk/>
      </pc:docMkLst>
    </pc:docChg>
  </pc:docChgLst>
  <pc:docChgLst>
    <pc:chgData name="Rashad Ahmed Othman" userId="S::othmanr@kfupm.edu.sa::1008819f-419b-409e-93a4-f766321245ac" providerId="AD" clId="Web-{57E7AC5C-A7B7-4F2B-A5CD-CED6D544F393}"/>
    <pc:docChg chg="modSld">
      <pc:chgData name="Rashad Ahmed Othman" userId="S::othmanr@kfupm.edu.sa::1008819f-419b-409e-93a4-f766321245ac" providerId="AD" clId="Web-{57E7AC5C-A7B7-4F2B-A5CD-CED6D544F393}" dt="2022-10-04T08:20:03.889" v="3"/>
      <pc:docMkLst>
        <pc:docMk/>
      </pc:docMkLst>
      <pc:sldChg chg="addSp delSp modSp">
        <pc:chgData name="Rashad Ahmed Othman" userId="S::othmanr@kfupm.edu.sa::1008819f-419b-409e-93a4-f766321245ac" providerId="AD" clId="Web-{57E7AC5C-A7B7-4F2B-A5CD-CED6D544F393}" dt="2022-10-04T08:19:47.217" v="1"/>
        <pc:sldMkLst>
          <pc:docMk/>
          <pc:sldMk cId="1411258033" sldId="408"/>
        </pc:sldMkLst>
        <pc:picChg chg="add del mod">
          <ac:chgData name="Rashad Ahmed Othman" userId="S::othmanr@kfupm.edu.sa::1008819f-419b-409e-93a4-f766321245ac" providerId="AD" clId="Web-{57E7AC5C-A7B7-4F2B-A5CD-CED6D544F393}" dt="2022-10-04T08:19:47.217" v="1"/>
          <ac:picMkLst>
            <pc:docMk/>
            <pc:sldMk cId="1411258033" sldId="408"/>
            <ac:picMk id="8" creationId="{CD4A0724-3235-84CA-CAB3-60364F9571BE}"/>
          </ac:picMkLst>
        </pc:picChg>
      </pc:sldChg>
      <pc:sldChg chg="addSp delSp modSp">
        <pc:chgData name="Rashad Ahmed Othman" userId="S::othmanr@kfupm.edu.sa::1008819f-419b-409e-93a4-f766321245ac" providerId="AD" clId="Web-{57E7AC5C-A7B7-4F2B-A5CD-CED6D544F393}" dt="2022-10-04T08:20:03.889" v="3"/>
        <pc:sldMkLst>
          <pc:docMk/>
          <pc:sldMk cId="2932935062" sldId="411"/>
        </pc:sldMkLst>
        <pc:picChg chg="add del mod">
          <ac:chgData name="Rashad Ahmed Othman" userId="S::othmanr@kfupm.edu.sa::1008819f-419b-409e-93a4-f766321245ac" providerId="AD" clId="Web-{57E7AC5C-A7B7-4F2B-A5CD-CED6D544F393}" dt="2022-10-04T08:20:03.889" v="3"/>
          <ac:picMkLst>
            <pc:docMk/>
            <pc:sldMk cId="2932935062" sldId="411"/>
            <ac:picMk id="5" creationId="{06456542-85D8-E53B-5D13-5AC8E61F63EB}"/>
          </ac:picMkLst>
        </pc:picChg>
      </pc:sldChg>
    </pc:docChg>
  </pc:docChgLst>
  <pc:docChgLst>
    <pc:chgData name="Abdulaziz Yagoub Barnawi" userId="fefbf4dc-5313-485e-b60d-222fac81d216" providerId="ADAL" clId="{36745F02-87E5-49E4-81E5-ED73C60D8C11}"/>
    <pc:docChg chg="modSld">
      <pc:chgData name="Abdulaziz Yagoub Barnawi" userId="fefbf4dc-5313-485e-b60d-222fac81d216" providerId="ADAL" clId="{36745F02-87E5-49E4-81E5-ED73C60D8C11}" dt="2022-10-08T09:34:41.308" v="5" actId="6549"/>
      <pc:docMkLst>
        <pc:docMk/>
      </pc:docMkLst>
      <pc:sldChg chg="modSp">
        <pc:chgData name="Abdulaziz Yagoub Barnawi" userId="fefbf4dc-5313-485e-b60d-222fac81d216" providerId="ADAL" clId="{36745F02-87E5-49E4-81E5-ED73C60D8C11}" dt="2022-10-02T19:42:01.759" v="3" actId="20577"/>
        <pc:sldMkLst>
          <pc:docMk/>
          <pc:sldMk cId="3485166465" sldId="356"/>
        </pc:sldMkLst>
        <pc:spChg chg="mod">
          <ac:chgData name="Abdulaziz Yagoub Barnawi" userId="fefbf4dc-5313-485e-b60d-222fac81d216" providerId="ADAL" clId="{36745F02-87E5-49E4-81E5-ED73C60D8C11}" dt="2022-10-02T19:42:01.759" v="3" actId="20577"/>
          <ac:spMkLst>
            <pc:docMk/>
            <pc:sldMk cId="3485166465" sldId="356"/>
            <ac:spMk id="3" creationId="{00000000-0000-0000-0000-000000000000}"/>
          </ac:spMkLst>
        </pc:spChg>
      </pc:sldChg>
      <pc:sldChg chg="modSp">
        <pc:chgData name="Abdulaziz Yagoub Barnawi" userId="fefbf4dc-5313-485e-b60d-222fac81d216" providerId="ADAL" clId="{36745F02-87E5-49E4-81E5-ED73C60D8C11}" dt="2022-10-02T19:43:29.273" v="4" actId="20577"/>
        <pc:sldMkLst>
          <pc:docMk/>
          <pc:sldMk cId="3487893077" sldId="403"/>
        </pc:sldMkLst>
        <pc:spChg chg="mod">
          <ac:chgData name="Abdulaziz Yagoub Barnawi" userId="fefbf4dc-5313-485e-b60d-222fac81d216" providerId="ADAL" clId="{36745F02-87E5-49E4-81E5-ED73C60D8C11}" dt="2022-10-02T19:43:29.273" v="4" actId="20577"/>
          <ac:spMkLst>
            <pc:docMk/>
            <pc:sldMk cId="3487893077" sldId="403"/>
            <ac:spMk id="3" creationId="{00000000-0000-0000-0000-000000000000}"/>
          </ac:spMkLst>
        </pc:spChg>
      </pc:sldChg>
      <pc:sldChg chg="modSp">
        <pc:chgData name="Abdulaziz Yagoub Barnawi" userId="fefbf4dc-5313-485e-b60d-222fac81d216" providerId="ADAL" clId="{36745F02-87E5-49E4-81E5-ED73C60D8C11}" dt="2022-10-08T09:34:41.308" v="5" actId="6549"/>
        <pc:sldMkLst>
          <pc:docMk/>
          <pc:sldMk cId="2932935062" sldId="411"/>
        </pc:sldMkLst>
        <pc:spChg chg="mod">
          <ac:chgData name="Abdulaziz Yagoub Barnawi" userId="fefbf4dc-5313-485e-b60d-222fac81d216" providerId="ADAL" clId="{36745F02-87E5-49E4-81E5-ED73C60D8C11}" dt="2022-10-08T09:34:41.308" v="5" actId="6549"/>
          <ac:spMkLst>
            <pc:docMk/>
            <pc:sldMk cId="2932935062" sldId="411"/>
            <ac:spMk id="4" creationId="{C334E0D7-EB47-33E3-71D9-1480B93A7E5D}"/>
          </ac:spMkLst>
        </pc:spChg>
      </pc:sldChg>
    </pc:docChg>
  </pc:docChgLst>
  <pc:docChgLst>
    <pc:chgData name="Abdulaziz Yagoub Barnawi" userId="fefbf4dc-5313-485e-b60d-222fac81d216" providerId="ADAL" clId="{99FE3D70-A9FC-4AE5-8830-9464A25E11D3}"/>
    <pc:docChg chg="modSld">
      <pc:chgData name="Abdulaziz Yagoub Barnawi" userId="fefbf4dc-5313-485e-b60d-222fac81d216" providerId="ADAL" clId="{99FE3D70-A9FC-4AE5-8830-9464A25E11D3}" dt="2022-10-15T18:10:09.164" v="1" actId="20577"/>
      <pc:docMkLst>
        <pc:docMk/>
      </pc:docMkLst>
      <pc:sldChg chg="modSp">
        <pc:chgData name="Abdulaziz Yagoub Barnawi" userId="fefbf4dc-5313-485e-b60d-222fac81d216" providerId="ADAL" clId="{99FE3D70-A9FC-4AE5-8830-9464A25E11D3}" dt="2022-10-15T18:10:09.164" v="1" actId="20577"/>
        <pc:sldMkLst>
          <pc:docMk/>
          <pc:sldMk cId="1744881816" sldId="439"/>
        </pc:sldMkLst>
        <pc:spChg chg="mod">
          <ac:chgData name="Abdulaziz Yagoub Barnawi" userId="fefbf4dc-5313-485e-b60d-222fac81d216" providerId="ADAL" clId="{99FE3D70-A9FC-4AE5-8830-9464A25E11D3}" dt="2022-10-15T18:10:09.164" v="1" actId="20577"/>
          <ac:spMkLst>
            <pc:docMk/>
            <pc:sldMk cId="1744881816" sldId="439"/>
            <ac:spMk id="28" creationId="{00000000-0000-0000-0000-000000000000}"/>
          </ac:spMkLst>
        </pc:spChg>
      </pc:sldChg>
    </pc:docChg>
  </pc:docChgLst>
  <pc:docChgLst>
    <pc:chgData name="Akram Fadhl N. Ahmed" userId="8ae2a0c5-ac6c-4591-a82d-fc279ce0d00b" providerId="ADAL" clId="{701EEB74-8EFE-499E-BCFB-BBB487CE71E4}"/>
    <pc:docChg chg="undo custSel modSld">
      <pc:chgData name="Akram Fadhl N. Ahmed" userId="8ae2a0c5-ac6c-4591-a82d-fc279ce0d00b" providerId="ADAL" clId="{701EEB74-8EFE-499E-BCFB-BBB487CE71E4}" dt="2022-09-25T12:23:43.666" v="207"/>
      <pc:docMkLst>
        <pc:docMk/>
      </pc:docMkLst>
      <pc:sldChg chg="modSp mod">
        <pc:chgData name="Akram Fadhl N. Ahmed" userId="8ae2a0c5-ac6c-4591-a82d-fc279ce0d00b" providerId="ADAL" clId="{701EEB74-8EFE-499E-BCFB-BBB487CE71E4}" dt="2022-09-25T12:16:07.989" v="153" actId="20577"/>
        <pc:sldMkLst>
          <pc:docMk/>
          <pc:sldMk cId="2154279875" sldId="384"/>
        </pc:sldMkLst>
        <pc:spChg chg="mod">
          <ac:chgData name="Akram Fadhl N. Ahmed" userId="8ae2a0c5-ac6c-4591-a82d-fc279ce0d00b" providerId="ADAL" clId="{701EEB74-8EFE-499E-BCFB-BBB487CE71E4}" dt="2022-09-25T12:16:07.989" v="153" actId="20577"/>
          <ac:spMkLst>
            <pc:docMk/>
            <pc:sldMk cId="2154279875" sldId="384"/>
            <ac:spMk id="18" creationId="{00000000-0000-0000-0000-000000000000}"/>
          </ac:spMkLst>
        </pc:spChg>
      </pc:sldChg>
      <pc:sldChg chg="modSp mod">
        <pc:chgData name="Akram Fadhl N. Ahmed" userId="8ae2a0c5-ac6c-4591-a82d-fc279ce0d00b" providerId="ADAL" clId="{701EEB74-8EFE-499E-BCFB-BBB487CE71E4}" dt="2022-09-25T12:15:56.663" v="152" actId="20577"/>
        <pc:sldMkLst>
          <pc:docMk/>
          <pc:sldMk cId="956373842" sldId="398"/>
        </pc:sldMkLst>
        <pc:spChg chg="mod">
          <ac:chgData name="Akram Fadhl N. Ahmed" userId="8ae2a0c5-ac6c-4591-a82d-fc279ce0d00b" providerId="ADAL" clId="{701EEB74-8EFE-499E-BCFB-BBB487CE71E4}" dt="2022-09-25T12:15:56.663" v="152" actId="20577"/>
          <ac:spMkLst>
            <pc:docMk/>
            <pc:sldMk cId="956373842" sldId="398"/>
            <ac:spMk id="3" creationId="{CB57002F-1B20-45F7-B85C-F91830A86739}"/>
          </ac:spMkLst>
        </pc:spChg>
      </pc:sldChg>
      <pc:sldChg chg="modSp mod">
        <pc:chgData name="Akram Fadhl N. Ahmed" userId="8ae2a0c5-ac6c-4591-a82d-fc279ce0d00b" providerId="ADAL" clId="{701EEB74-8EFE-499E-BCFB-BBB487CE71E4}" dt="2022-09-25T12:06:52.614" v="0" actId="20577"/>
        <pc:sldMkLst>
          <pc:docMk/>
          <pc:sldMk cId="2748669867" sldId="429"/>
        </pc:sldMkLst>
        <pc:spChg chg="mod">
          <ac:chgData name="Akram Fadhl N. Ahmed" userId="8ae2a0c5-ac6c-4591-a82d-fc279ce0d00b" providerId="ADAL" clId="{701EEB74-8EFE-499E-BCFB-BBB487CE71E4}" dt="2022-09-25T12:06:52.614" v="0" actId="20577"/>
          <ac:spMkLst>
            <pc:docMk/>
            <pc:sldMk cId="2748669867" sldId="429"/>
            <ac:spMk id="18" creationId="{00000000-0000-0000-0000-000000000000}"/>
          </ac:spMkLst>
        </pc:spChg>
      </pc:sldChg>
      <pc:sldChg chg="addSp delSp modSp mod">
        <pc:chgData name="Akram Fadhl N. Ahmed" userId="8ae2a0c5-ac6c-4591-a82d-fc279ce0d00b" providerId="ADAL" clId="{701EEB74-8EFE-499E-BCFB-BBB487CE71E4}" dt="2022-09-25T12:12:09.545" v="76" actId="20577"/>
        <pc:sldMkLst>
          <pc:docMk/>
          <pc:sldMk cId="3614416584" sldId="430"/>
        </pc:sldMkLst>
        <pc:spChg chg="mod">
          <ac:chgData name="Akram Fadhl N. Ahmed" userId="8ae2a0c5-ac6c-4591-a82d-fc279ce0d00b" providerId="ADAL" clId="{701EEB74-8EFE-499E-BCFB-BBB487CE71E4}" dt="2022-09-25T12:12:09.545" v="76" actId="20577"/>
          <ac:spMkLst>
            <pc:docMk/>
            <pc:sldMk cId="3614416584" sldId="430"/>
            <ac:spMk id="18" creationId="{00000000-0000-0000-0000-000000000000}"/>
          </ac:spMkLst>
        </pc:spChg>
        <pc:picChg chg="add mod">
          <ac:chgData name="Akram Fadhl N. Ahmed" userId="8ae2a0c5-ac6c-4591-a82d-fc279ce0d00b" providerId="ADAL" clId="{701EEB74-8EFE-499E-BCFB-BBB487CE71E4}" dt="2022-09-25T12:09:54.823" v="62" actId="1076"/>
          <ac:picMkLst>
            <pc:docMk/>
            <pc:sldMk cId="3614416584" sldId="430"/>
            <ac:picMk id="7" creationId="{7C91D77F-CD72-94F0-A444-6B23ADE8D51F}"/>
          </ac:picMkLst>
        </pc:picChg>
        <pc:picChg chg="del">
          <ac:chgData name="Akram Fadhl N. Ahmed" userId="8ae2a0c5-ac6c-4591-a82d-fc279ce0d00b" providerId="ADAL" clId="{701EEB74-8EFE-499E-BCFB-BBB487CE71E4}" dt="2022-09-25T12:09:34.537" v="58" actId="478"/>
          <ac:picMkLst>
            <pc:docMk/>
            <pc:sldMk cId="3614416584" sldId="430"/>
            <ac:picMk id="8" creationId="{9C096769-DC16-A24C-282C-67333A912A93}"/>
          </ac:picMkLst>
        </pc:picChg>
      </pc:sldChg>
      <pc:sldChg chg="addSp delSp modSp mod">
        <pc:chgData name="Akram Fadhl N. Ahmed" userId="8ae2a0c5-ac6c-4591-a82d-fc279ce0d00b" providerId="ADAL" clId="{701EEB74-8EFE-499E-BCFB-BBB487CE71E4}" dt="2022-09-25T12:11:46.739" v="73"/>
        <pc:sldMkLst>
          <pc:docMk/>
          <pc:sldMk cId="3619870846" sldId="431"/>
        </pc:sldMkLst>
        <pc:spChg chg="mod">
          <ac:chgData name="Akram Fadhl N. Ahmed" userId="8ae2a0c5-ac6c-4591-a82d-fc279ce0d00b" providerId="ADAL" clId="{701EEB74-8EFE-499E-BCFB-BBB487CE71E4}" dt="2022-09-25T12:11:01.428" v="68" actId="20577"/>
          <ac:spMkLst>
            <pc:docMk/>
            <pc:sldMk cId="3619870846" sldId="431"/>
            <ac:spMk id="13" creationId="{788A6302-3755-4416-8162-EE676223EC50}"/>
          </ac:spMkLst>
        </pc:spChg>
        <pc:spChg chg="mod">
          <ac:chgData name="Akram Fadhl N. Ahmed" userId="8ae2a0c5-ac6c-4591-a82d-fc279ce0d00b" providerId="ADAL" clId="{701EEB74-8EFE-499E-BCFB-BBB487CE71E4}" dt="2022-09-25T12:11:46.739" v="73"/>
          <ac:spMkLst>
            <pc:docMk/>
            <pc:sldMk cId="3619870846" sldId="431"/>
            <ac:spMk id="18" creationId="{00000000-0000-0000-0000-000000000000}"/>
          </ac:spMkLst>
        </pc:spChg>
        <pc:picChg chg="add mod">
          <ac:chgData name="Akram Fadhl N. Ahmed" userId="8ae2a0c5-ac6c-4591-a82d-fc279ce0d00b" providerId="ADAL" clId="{701EEB74-8EFE-499E-BCFB-BBB487CE71E4}" dt="2022-09-25T12:11:31.244" v="71" actId="14100"/>
          <ac:picMkLst>
            <pc:docMk/>
            <pc:sldMk cId="3619870846" sldId="431"/>
            <ac:picMk id="7" creationId="{2C1D01F4-2228-C1A5-856A-449B8913123F}"/>
          </ac:picMkLst>
        </pc:picChg>
        <pc:picChg chg="del">
          <ac:chgData name="Akram Fadhl N. Ahmed" userId="8ae2a0c5-ac6c-4591-a82d-fc279ce0d00b" providerId="ADAL" clId="{701EEB74-8EFE-499E-BCFB-BBB487CE71E4}" dt="2022-09-25T12:10:51.267" v="67" actId="478"/>
          <ac:picMkLst>
            <pc:docMk/>
            <pc:sldMk cId="3619870846" sldId="431"/>
            <ac:picMk id="9" creationId="{211E3471-3550-6CE8-6764-994C9435D584}"/>
          </ac:picMkLst>
        </pc:picChg>
      </pc:sldChg>
      <pc:sldChg chg="addSp delSp modSp mod">
        <pc:chgData name="Akram Fadhl N. Ahmed" userId="8ae2a0c5-ac6c-4591-a82d-fc279ce0d00b" providerId="ADAL" clId="{701EEB74-8EFE-499E-BCFB-BBB487CE71E4}" dt="2022-09-25T12:15:34.747" v="151" actId="20577"/>
        <pc:sldMkLst>
          <pc:docMk/>
          <pc:sldMk cId="790734946" sldId="433"/>
        </pc:sldMkLst>
        <pc:spChg chg="mod">
          <ac:chgData name="Akram Fadhl N. Ahmed" userId="8ae2a0c5-ac6c-4591-a82d-fc279ce0d00b" providerId="ADAL" clId="{701EEB74-8EFE-499E-BCFB-BBB487CE71E4}" dt="2022-09-25T12:14:47.007" v="101" actId="1037"/>
          <ac:spMkLst>
            <pc:docMk/>
            <pc:sldMk cId="790734946" sldId="433"/>
            <ac:spMk id="13" creationId="{31F8575B-A4B3-4CD3-9806-2BD2EFBF6A78}"/>
          </ac:spMkLst>
        </pc:spChg>
        <pc:spChg chg="mod">
          <ac:chgData name="Akram Fadhl N. Ahmed" userId="8ae2a0c5-ac6c-4591-a82d-fc279ce0d00b" providerId="ADAL" clId="{701EEB74-8EFE-499E-BCFB-BBB487CE71E4}" dt="2022-09-25T12:14:56.255" v="118" actId="20577"/>
          <ac:spMkLst>
            <pc:docMk/>
            <pc:sldMk cId="790734946" sldId="433"/>
            <ac:spMk id="14" creationId="{C2BA28CF-EFB7-434A-AE0D-F118444D00B0}"/>
          </ac:spMkLst>
        </pc:spChg>
        <pc:spChg chg="mod">
          <ac:chgData name="Akram Fadhl N. Ahmed" userId="8ae2a0c5-ac6c-4591-a82d-fc279ce0d00b" providerId="ADAL" clId="{701EEB74-8EFE-499E-BCFB-BBB487CE71E4}" dt="2022-09-25T12:15:34.747" v="151" actId="20577"/>
          <ac:spMkLst>
            <pc:docMk/>
            <pc:sldMk cId="790734946" sldId="433"/>
            <ac:spMk id="16" creationId="{3EFCBCA4-9526-49F5-B08C-61DCAD611323}"/>
          </ac:spMkLst>
        </pc:spChg>
        <pc:spChg chg="mod">
          <ac:chgData name="Akram Fadhl N. Ahmed" userId="8ae2a0c5-ac6c-4591-a82d-fc279ce0d00b" providerId="ADAL" clId="{701EEB74-8EFE-499E-BCFB-BBB487CE71E4}" dt="2022-09-25T12:15:28.307" v="145" actId="1076"/>
          <ac:spMkLst>
            <pc:docMk/>
            <pc:sldMk cId="790734946" sldId="433"/>
            <ac:spMk id="17" creationId="{6580ACE2-CDB1-445F-ADF0-D01521D6D963}"/>
          </ac:spMkLst>
        </pc:spChg>
        <pc:spChg chg="del">
          <ac:chgData name="Akram Fadhl N. Ahmed" userId="8ae2a0c5-ac6c-4591-a82d-fc279ce0d00b" providerId="ADAL" clId="{701EEB74-8EFE-499E-BCFB-BBB487CE71E4}" dt="2022-09-25T12:15:05.526" v="123" actId="478"/>
          <ac:spMkLst>
            <pc:docMk/>
            <pc:sldMk cId="790734946" sldId="433"/>
            <ac:spMk id="18" creationId="{788A6302-3755-4416-8162-EE676223EC50}"/>
          </ac:spMkLst>
        </pc:spChg>
        <pc:spChg chg="del">
          <ac:chgData name="Akram Fadhl N. Ahmed" userId="8ae2a0c5-ac6c-4591-a82d-fc279ce0d00b" providerId="ADAL" clId="{701EEB74-8EFE-499E-BCFB-BBB487CE71E4}" dt="2022-09-25T12:15:03.712" v="122" actId="478"/>
          <ac:spMkLst>
            <pc:docMk/>
            <pc:sldMk cId="790734946" sldId="433"/>
            <ac:spMk id="20" creationId="{919BD780-8F97-4B8B-B403-3DAEAD62EF8D}"/>
          </ac:spMkLst>
        </pc:spChg>
        <pc:picChg chg="add mod">
          <ac:chgData name="Akram Fadhl N. Ahmed" userId="8ae2a0c5-ac6c-4591-a82d-fc279ce0d00b" providerId="ADAL" clId="{701EEB74-8EFE-499E-BCFB-BBB487CE71E4}" dt="2022-09-25T12:14:42.436" v="84" actId="1076"/>
          <ac:picMkLst>
            <pc:docMk/>
            <pc:sldMk cId="790734946" sldId="433"/>
            <ac:picMk id="7" creationId="{DDE11D70-D292-834C-A4B9-8A29200ED6FD}"/>
          </ac:picMkLst>
        </pc:picChg>
        <pc:picChg chg="del">
          <ac:chgData name="Akram Fadhl N. Ahmed" userId="8ae2a0c5-ac6c-4591-a82d-fc279ce0d00b" providerId="ADAL" clId="{701EEB74-8EFE-499E-BCFB-BBB487CE71E4}" dt="2022-09-25T12:14:27.431" v="79" actId="478"/>
          <ac:picMkLst>
            <pc:docMk/>
            <pc:sldMk cId="790734946" sldId="433"/>
            <ac:picMk id="8" creationId="{9EE33A1F-77A0-8CE3-3C7F-08A5DC29ABB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CB3745-6C41-40A4-BEC9-6BEB218A0859}" type="datetimeFigureOut">
              <a:rPr lang="en-US" smtClean="0"/>
              <a:t>10/16/2022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003C43-1C0C-47D7-96F1-DE4B1C87DAE9}" type="slidenum">
              <a:rPr lang="en-US" smtClean="0"/>
              <a:t>‹#›</a:t>
            </a:fld>
            <a:endParaRPr lang="en-US" dirty="0"/>
          </a:p>
        </p:txBody>
      </p:sp>
    </p:spTree>
    <p:extLst>
      <p:ext uri="{BB962C8B-B14F-4D97-AF65-F5344CB8AC3E}">
        <p14:creationId xmlns:p14="http://schemas.microsoft.com/office/powerpoint/2010/main" val="45953281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a:t>
            </a:fld>
            <a:endParaRPr lang="en-US" dirty="0"/>
          </a:p>
        </p:txBody>
      </p:sp>
    </p:spTree>
    <p:extLst>
      <p:ext uri="{BB962C8B-B14F-4D97-AF65-F5344CB8AC3E}">
        <p14:creationId xmlns:p14="http://schemas.microsoft.com/office/powerpoint/2010/main" val="1172231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2</a:t>
            </a:fld>
            <a:endParaRPr lang="en-US" dirty="0"/>
          </a:p>
        </p:txBody>
      </p:sp>
    </p:spTree>
    <p:extLst>
      <p:ext uri="{BB962C8B-B14F-4D97-AF65-F5344CB8AC3E}">
        <p14:creationId xmlns:p14="http://schemas.microsoft.com/office/powerpoint/2010/main" val="932819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3</a:t>
            </a:fld>
            <a:endParaRPr lang="en-US" dirty="0"/>
          </a:p>
        </p:txBody>
      </p:sp>
    </p:spTree>
    <p:extLst>
      <p:ext uri="{BB962C8B-B14F-4D97-AF65-F5344CB8AC3E}">
        <p14:creationId xmlns:p14="http://schemas.microsoft.com/office/powerpoint/2010/main" val="518761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4</a:t>
            </a:fld>
            <a:endParaRPr lang="en-US" dirty="0"/>
          </a:p>
        </p:txBody>
      </p:sp>
    </p:spTree>
    <p:extLst>
      <p:ext uri="{BB962C8B-B14F-4D97-AF65-F5344CB8AC3E}">
        <p14:creationId xmlns:p14="http://schemas.microsoft.com/office/powerpoint/2010/main" val="1932758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5</a:t>
            </a:fld>
            <a:endParaRPr lang="en-US" dirty="0"/>
          </a:p>
        </p:txBody>
      </p:sp>
    </p:spTree>
    <p:extLst>
      <p:ext uri="{BB962C8B-B14F-4D97-AF65-F5344CB8AC3E}">
        <p14:creationId xmlns:p14="http://schemas.microsoft.com/office/powerpoint/2010/main" val="2256176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6</a:t>
            </a:fld>
            <a:endParaRPr lang="en-US" dirty="0"/>
          </a:p>
        </p:txBody>
      </p:sp>
    </p:spTree>
    <p:extLst>
      <p:ext uri="{BB962C8B-B14F-4D97-AF65-F5344CB8AC3E}">
        <p14:creationId xmlns:p14="http://schemas.microsoft.com/office/powerpoint/2010/main" val="435546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7</a:t>
            </a:fld>
            <a:endParaRPr lang="en-US" dirty="0"/>
          </a:p>
        </p:txBody>
      </p:sp>
    </p:spTree>
    <p:extLst>
      <p:ext uri="{BB962C8B-B14F-4D97-AF65-F5344CB8AC3E}">
        <p14:creationId xmlns:p14="http://schemas.microsoft.com/office/powerpoint/2010/main" val="823953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8</a:t>
            </a:fld>
            <a:endParaRPr lang="en-US" dirty="0"/>
          </a:p>
        </p:txBody>
      </p:sp>
    </p:spTree>
    <p:extLst>
      <p:ext uri="{BB962C8B-B14F-4D97-AF65-F5344CB8AC3E}">
        <p14:creationId xmlns:p14="http://schemas.microsoft.com/office/powerpoint/2010/main" val="453527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9</a:t>
            </a:fld>
            <a:endParaRPr lang="en-US" dirty="0"/>
          </a:p>
        </p:txBody>
      </p:sp>
    </p:spTree>
    <p:extLst>
      <p:ext uri="{BB962C8B-B14F-4D97-AF65-F5344CB8AC3E}">
        <p14:creationId xmlns:p14="http://schemas.microsoft.com/office/powerpoint/2010/main" val="26900981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10</a:t>
            </a:fld>
            <a:endParaRPr lang="en-US" dirty="0"/>
          </a:p>
        </p:txBody>
      </p:sp>
    </p:spTree>
    <p:extLst>
      <p:ext uri="{BB962C8B-B14F-4D97-AF65-F5344CB8AC3E}">
        <p14:creationId xmlns:p14="http://schemas.microsoft.com/office/powerpoint/2010/main" val="25656263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11</a:t>
            </a:fld>
            <a:endParaRPr lang="en-US" dirty="0"/>
          </a:p>
        </p:txBody>
      </p:sp>
    </p:spTree>
    <p:extLst>
      <p:ext uri="{BB962C8B-B14F-4D97-AF65-F5344CB8AC3E}">
        <p14:creationId xmlns:p14="http://schemas.microsoft.com/office/powerpoint/2010/main" val="14252656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12</a:t>
            </a:fld>
            <a:endParaRPr lang="en-US" dirty="0"/>
          </a:p>
        </p:txBody>
      </p:sp>
    </p:spTree>
    <p:extLst>
      <p:ext uri="{BB962C8B-B14F-4D97-AF65-F5344CB8AC3E}">
        <p14:creationId xmlns:p14="http://schemas.microsoft.com/office/powerpoint/2010/main" val="2947884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13</a:t>
            </a:fld>
            <a:endParaRPr lang="en-US" dirty="0"/>
          </a:p>
        </p:txBody>
      </p:sp>
    </p:spTree>
    <p:extLst>
      <p:ext uri="{BB962C8B-B14F-4D97-AF65-F5344CB8AC3E}">
        <p14:creationId xmlns:p14="http://schemas.microsoft.com/office/powerpoint/2010/main" val="909148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14</a:t>
            </a:fld>
            <a:endParaRPr lang="en-US" dirty="0"/>
          </a:p>
        </p:txBody>
      </p:sp>
    </p:spTree>
    <p:extLst>
      <p:ext uri="{BB962C8B-B14F-4D97-AF65-F5344CB8AC3E}">
        <p14:creationId xmlns:p14="http://schemas.microsoft.com/office/powerpoint/2010/main" val="30368417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15</a:t>
            </a:fld>
            <a:endParaRPr lang="en-US" dirty="0"/>
          </a:p>
        </p:txBody>
      </p:sp>
    </p:spTree>
    <p:extLst>
      <p:ext uri="{BB962C8B-B14F-4D97-AF65-F5344CB8AC3E}">
        <p14:creationId xmlns:p14="http://schemas.microsoft.com/office/powerpoint/2010/main" val="27043352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16</a:t>
            </a:fld>
            <a:endParaRPr lang="en-US" dirty="0"/>
          </a:p>
        </p:txBody>
      </p:sp>
    </p:spTree>
    <p:extLst>
      <p:ext uri="{BB962C8B-B14F-4D97-AF65-F5344CB8AC3E}">
        <p14:creationId xmlns:p14="http://schemas.microsoft.com/office/powerpoint/2010/main" val="8366650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17</a:t>
            </a:fld>
            <a:endParaRPr lang="en-US" dirty="0"/>
          </a:p>
        </p:txBody>
      </p:sp>
    </p:spTree>
    <p:extLst>
      <p:ext uri="{BB962C8B-B14F-4D97-AF65-F5344CB8AC3E}">
        <p14:creationId xmlns:p14="http://schemas.microsoft.com/office/powerpoint/2010/main" val="6251745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18</a:t>
            </a:fld>
            <a:endParaRPr lang="en-US" dirty="0"/>
          </a:p>
        </p:txBody>
      </p:sp>
    </p:spTree>
    <p:extLst>
      <p:ext uri="{BB962C8B-B14F-4D97-AF65-F5344CB8AC3E}">
        <p14:creationId xmlns:p14="http://schemas.microsoft.com/office/powerpoint/2010/main" val="32464150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19</a:t>
            </a:fld>
            <a:endParaRPr lang="en-US" dirty="0"/>
          </a:p>
        </p:txBody>
      </p:sp>
    </p:spTree>
    <p:extLst>
      <p:ext uri="{BB962C8B-B14F-4D97-AF65-F5344CB8AC3E}">
        <p14:creationId xmlns:p14="http://schemas.microsoft.com/office/powerpoint/2010/main" val="5797729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20</a:t>
            </a:fld>
            <a:endParaRPr lang="en-US" dirty="0"/>
          </a:p>
        </p:txBody>
      </p:sp>
    </p:spTree>
    <p:extLst>
      <p:ext uri="{BB962C8B-B14F-4D97-AF65-F5344CB8AC3E}">
        <p14:creationId xmlns:p14="http://schemas.microsoft.com/office/powerpoint/2010/main" val="33862417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21</a:t>
            </a:fld>
            <a:endParaRPr lang="en-US" dirty="0"/>
          </a:p>
        </p:txBody>
      </p:sp>
    </p:spTree>
    <p:extLst>
      <p:ext uri="{BB962C8B-B14F-4D97-AF65-F5344CB8AC3E}">
        <p14:creationId xmlns:p14="http://schemas.microsoft.com/office/powerpoint/2010/main" val="25245875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22</a:t>
            </a:fld>
            <a:endParaRPr lang="en-US" dirty="0"/>
          </a:p>
        </p:txBody>
      </p:sp>
    </p:spTree>
    <p:extLst>
      <p:ext uri="{BB962C8B-B14F-4D97-AF65-F5344CB8AC3E}">
        <p14:creationId xmlns:p14="http://schemas.microsoft.com/office/powerpoint/2010/main" val="2643745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23</a:t>
            </a:fld>
            <a:endParaRPr lang="en-US" dirty="0"/>
          </a:p>
        </p:txBody>
      </p:sp>
    </p:spTree>
    <p:extLst>
      <p:ext uri="{BB962C8B-B14F-4D97-AF65-F5344CB8AC3E}">
        <p14:creationId xmlns:p14="http://schemas.microsoft.com/office/powerpoint/2010/main" val="13090958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24</a:t>
            </a:fld>
            <a:endParaRPr lang="en-US" dirty="0"/>
          </a:p>
        </p:txBody>
      </p:sp>
    </p:spTree>
    <p:extLst>
      <p:ext uri="{BB962C8B-B14F-4D97-AF65-F5344CB8AC3E}">
        <p14:creationId xmlns:p14="http://schemas.microsoft.com/office/powerpoint/2010/main" val="1834416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25</a:t>
            </a:fld>
            <a:endParaRPr lang="en-US" dirty="0"/>
          </a:p>
        </p:txBody>
      </p:sp>
    </p:spTree>
    <p:extLst>
      <p:ext uri="{BB962C8B-B14F-4D97-AF65-F5344CB8AC3E}">
        <p14:creationId xmlns:p14="http://schemas.microsoft.com/office/powerpoint/2010/main" val="37644426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26</a:t>
            </a:fld>
            <a:endParaRPr lang="en-US" dirty="0"/>
          </a:p>
        </p:txBody>
      </p:sp>
    </p:spTree>
    <p:extLst>
      <p:ext uri="{BB962C8B-B14F-4D97-AF65-F5344CB8AC3E}">
        <p14:creationId xmlns:p14="http://schemas.microsoft.com/office/powerpoint/2010/main" val="5260885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27</a:t>
            </a:fld>
            <a:endParaRPr lang="en-US" dirty="0"/>
          </a:p>
        </p:txBody>
      </p:sp>
    </p:spTree>
    <p:extLst>
      <p:ext uri="{BB962C8B-B14F-4D97-AF65-F5344CB8AC3E}">
        <p14:creationId xmlns:p14="http://schemas.microsoft.com/office/powerpoint/2010/main" val="3967926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28</a:t>
            </a:fld>
            <a:endParaRPr lang="en-US" dirty="0"/>
          </a:p>
        </p:txBody>
      </p:sp>
    </p:spTree>
    <p:extLst>
      <p:ext uri="{BB962C8B-B14F-4D97-AF65-F5344CB8AC3E}">
        <p14:creationId xmlns:p14="http://schemas.microsoft.com/office/powerpoint/2010/main" val="13316930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29</a:t>
            </a:fld>
            <a:endParaRPr lang="en-US" dirty="0"/>
          </a:p>
        </p:txBody>
      </p:sp>
    </p:spTree>
    <p:extLst>
      <p:ext uri="{BB962C8B-B14F-4D97-AF65-F5344CB8AC3E}">
        <p14:creationId xmlns:p14="http://schemas.microsoft.com/office/powerpoint/2010/main" val="22354262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30</a:t>
            </a:fld>
            <a:endParaRPr lang="en-US" dirty="0"/>
          </a:p>
        </p:txBody>
      </p:sp>
    </p:spTree>
    <p:extLst>
      <p:ext uri="{BB962C8B-B14F-4D97-AF65-F5344CB8AC3E}">
        <p14:creationId xmlns:p14="http://schemas.microsoft.com/office/powerpoint/2010/main" val="41506107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31</a:t>
            </a:fld>
            <a:endParaRPr lang="en-US" dirty="0"/>
          </a:p>
        </p:txBody>
      </p:sp>
    </p:spTree>
    <p:extLst>
      <p:ext uri="{BB962C8B-B14F-4D97-AF65-F5344CB8AC3E}">
        <p14:creationId xmlns:p14="http://schemas.microsoft.com/office/powerpoint/2010/main" val="40922511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32</a:t>
            </a:fld>
            <a:endParaRPr lang="en-US" dirty="0"/>
          </a:p>
        </p:txBody>
      </p:sp>
    </p:spTree>
    <p:extLst>
      <p:ext uri="{BB962C8B-B14F-4D97-AF65-F5344CB8AC3E}">
        <p14:creationId xmlns:p14="http://schemas.microsoft.com/office/powerpoint/2010/main" val="40075357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33</a:t>
            </a:fld>
            <a:endParaRPr lang="en-US" dirty="0"/>
          </a:p>
        </p:txBody>
      </p:sp>
    </p:spTree>
    <p:extLst>
      <p:ext uri="{BB962C8B-B14F-4D97-AF65-F5344CB8AC3E}">
        <p14:creationId xmlns:p14="http://schemas.microsoft.com/office/powerpoint/2010/main" val="39906893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34</a:t>
            </a:fld>
            <a:endParaRPr lang="en-US" dirty="0"/>
          </a:p>
        </p:txBody>
      </p:sp>
    </p:spTree>
    <p:extLst>
      <p:ext uri="{BB962C8B-B14F-4D97-AF65-F5344CB8AC3E}">
        <p14:creationId xmlns:p14="http://schemas.microsoft.com/office/powerpoint/2010/main" val="37516424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35</a:t>
            </a:fld>
            <a:endParaRPr lang="en-US" dirty="0"/>
          </a:p>
        </p:txBody>
      </p:sp>
    </p:spTree>
    <p:extLst>
      <p:ext uri="{BB962C8B-B14F-4D97-AF65-F5344CB8AC3E}">
        <p14:creationId xmlns:p14="http://schemas.microsoft.com/office/powerpoint/2010/main" val="37353653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36</a:t>
            </a:fld>
            <a:endParaRPr lang="en-US" dirty="0"/>
          </a:p>
        </p:txBody>
      </p:sp>
    </p:spTree>
    <p:extLst>
      <p:ext uri="{BB962C8B-B14F-4D97-AF65-F5344CB8AC3E}">
        <p14:creationId xmlns:p14="http://schemas.microsoft.com/office/powerpoint/2010/main" val="37385043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37</a:t>
            </a:fld>
            <a:endParaRPr lang="en-US" dirty="0"/>
          </a:p>
        </p:txBody>
      </p:sp>
    </p:spTree>
    <p:extLst>
      <p:ext uri="{BB962C8B-B14F-4D97-AF65-F5344CB8AC3E}">
        <p14:creationId xmlns:p14="http://schemas.microsoft.com/office/powerpoint/2010/main" val="23302162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38</a:t>
            </a:fld>
            <a:endParaRPr lang="en-US" dirty="0"/>
          </a:p>
        </p:txBody>
      </p:sp>
    </p:spTree>
    <p:extLst>
      <p:ext uri="{BB962C8B-B14F-4D97-AF65-F5344CB8AC3E}">
        <p14:creationId xmlns:p14="http://schemas.microsoft.com/office/powerpoint/2010/main" val="41556473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39</a:t>
            </a:fld>
            <a:endParaRPr lang="en-US" dirty="0"/>
          </a:p>
        </p:txBody>
      </p:sp>
    </p:spTree>
    <p:extLst>
      <p:ext uri="{BB962C8B-B14F-4D97-AF65-F5344CB8AC3E}">
        <p14:creationId xmlns:p14="http://schemas.microsoft.com/office/powerpoint/2010/main" val="2028691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40</a:t>
            </a:fld>
            <a:endParaRPr lang="en-US" dirty="0"/>
          </a:p>
        </p:txBody>
      </p:sp>
    </p:spTree>
    <p:extLst>
      <p:ext uri="{BB962C8B-B14F-4D97-AF65-F5344CB8AC3E}">
        <p14:creationId xmlns:p14="http://schemas.microsoft.com/office/powerpoint/2010/main" val="40695655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41</a:t>
            </a:fld>
            <a:endParaRPr lang="en-US" dirty="0"/>
          </a:p>
        </p:txBody>
      </p:sp>
    </p:spTree>
    <p:extLst>
      <p:ext uri="{BB962C8B-B14F-4D97-AF65-F5344CB8AC3E}">
        <p14:creationId xmlns:p14="http://schemas.microsoft.com/office/powerpoint/2010/main" val="1241353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42</a:t>
            </a:fld>
            <a:endParaRPr lang="en-US" dirty="0"/>
          </a:p>
        </p:txBody>
      </p:sp>
    </p:spTree>
    <p:extLst>
      <p:ext uri="{BB962C8B-B14F-4D97-AF65-F5344CB8AC3E}">
        <p14:creationId xmlns:p14="http://schemas.microsoft.com/office/powerpoint/2010/main" val="5204749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43</a:t>
            </a:fld>
            <a:endParaRPr lang="en-US" dirty="0"/>
          </a:p>
        </p:txBody>
      </p:sp>
    </p:spTree>
    <p:extLst>
      <p:ext uri="{BB962C8B-B14F-4D97-AF65-F5344CB8AC3E}">
        <p14:creationId xmlns:p14="http://schemas.microsoft.com/office/powerpoint/2010/main" val="19637154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44</a:t>
            </a:fld>
            <a:endParaRPr lang="en-US" dirty="0"/>
          </a:p>
        </p:txBody>
      </p:sp>
    </p:spTree>
    <p:extLst>
      <p:ext uri="{BB962C8B-B14F-4D97-AF65-F5344CB8AC3E}">
        <p14:creationId xmlns:p14="http://schemas.microsoft.com/office/powerpoint/2010/main" val="23467458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45</a:t>
            </a:fld>
            <a:endParaRPr lang="en-US" dirty="0"/>
          </a:p>
        </p:txBody>
      </p:sp>
    </p:spTree>
    <p:extLst>
      <p:ext uri="{BB962C8B-B14F-4D97-AF65-F5344CB8AC3E}">
        <p14:creationId xmlns:p14="http://schemas.microsoft.com/office/powerpoint/2010/main" val="20454085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46</a:t>
            </a:fld>
            <a:endParaRPr lang="en-US" dirty="0"/>
          </a:p>
        </p:txBody>
      </p:sp>
    </p:spTree>
    <p:extLst>
      <p:ext uri="{BB962C8B-B14F-4D97-AF65-F5344CB8AC3E}">
        <p14:creationId xmlns:p14="http://schemas.microsoft.com/office/powerpoint/2010/main" val="16798892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47</a:t>
            </a:fld>
            <a:endParaRPr lang="en-US" dirty="0"/>
          </a:p>
        </p:txBody>
      </p:sp>
    </p:spTree>
    <p:extLst>
      <p:ext uri="{BB962C8B-B14F-4D97-AF65-F5344CB8AC3E}">
        <p14:creationId xmlns:p14="http://schemas.microsoft.com/office/powerpoint/2010/main" val="4073956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48</a:t>
            </a:fld>
            <a:endParaRPr lang="en-US" dirty="0"/>
          </a:p>
        </p:txBody>
      </p:sp>
    </p:spTree>
    <p:extLst>
      <p:ext uri="{BB962C8B-B14F-4D97-AF65-F5344CB8AC3E}">
        <p14:creationId xmlns:p14="http://schemas.microsoft.com/office/powerpoint/2010/main" val="21422990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49</a:t>
            </a:fld>
            <a:endParaRPr lang="en-US" dirty="0"/>
          </a:p>
        </p:txBody>
      </p:sp>
    </p:spTree>
    <p:extLst>
      <p:ext uri="{BB962C8B-B14F-4D97-AF65-F5344CB8AC3E}">
        <p14:creationId xmlns:p14="http://schemas.microsoft.com/office/powerpoint/2010/main" val="38881404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50</a:t>
            </a:fld>
            <a:endParaRPr lang="en-US" dirty="0"/>
          </a:p>
        </p:txBody>
      </p:sp>
    </p:spTree>
    <p:extLst>
      <p:ext uri="{BB962C8B-B14F-4D97-AF65-F5344CB8AC3E}">
        <p14:creationId xmlns:p14="http://schemas.microsoft.com/office/powerpoint/2010/main" val="83745434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51</a:t>
            </a:fld>
            <a:endParaRPr lang="en-US" dirty="0"/>
          </a:p>
        </p:txBody>
      </p:sp>
    </p:spTree>
    <p:extLst>
      <p:ext uri="{BB962C8B-B14F-4D97-AF65-F5344CB8AC3E}">
        <p14:creationId xmlns:p14="http://schemas.microsoft.com/office/powerpoint/2010/main" val="230701379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52</a:t>
            </a:fld>
            <a:endParaRPr lang="en-US" dirty="0"/>
          </a:p>
        </p:txBody>
      </p:sp>
    </p:spTree>
    <p:extLst>
      <p:ext uri="{BB962C8B-B14F-4D97-AF65-F5344CB8AC3E}">
        <p14:creationId xmlns:p14="http://schemas.microsoft.com/office/powerpoint/2010/main" val="121962158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53</a:t>
            </a:fld>
            <a:endParaRPr lang="en-US" dirty="0"/>
          </a:p>
        </p:txBody>
      </p:sp>
    </p:spTree>
    <p:extLst>
      <p:ext uri="{BB962C8B-B14F-4D97-AF65-F5344CB8AC3E}">
        <p14:creationId xmlns:p14="http://schemas.microsoft.com/office/powerpoint/2010/main" val="18435877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003C43-1C0C-47D7-96F1-DE4B1C87DAE9}" type="slidenum">
              <a:rPr lang="en-US" smtClean="0"/>
              <a:t>54</a:t>
            </a:fld>
            <a:endParaRPr lang="en-US" dirty="0"/>
          </a:p>
        </p:txBody>
      </p:sp>
    </p:spTree>
    <p:extLst>
      <p:ext uri="{BB962C8B-B14F-4D97-AF65-F5344CB8AC3E}">
        <p14:creationId xmlns:p14="http://schemas.microsoft.com/office/powerpoint/2010/main" val="9440715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55</a:t>
            </a:fld>
            <a:endParaRPr lang="en-US" dirty="0"/>
          </a:p>
        </p:txBody>
      </p:sp>
    </p:spTree>
    <p:extLst>
      <p:ext uri="{BB962C8B-B14F-4D97-AF65-F5344CB8AC3E}">
        <p14:creationId xmlns:p14="http://schemas.microsoft.com/office/powerpoint/2010/main" val="11833713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56</a:t>
            </a:fld>
            <a:endParaRPr lang="en-US" dirty="0"/>
          </a:p>
        </p:txBody>
      </p:sp>
    </p:spTree>
    <p:extLst>
      <p:ext uri="{BB962C8B-B14F-4D97-AF65-F5344CB8AC3E}">
        <p14:creationId xmlns:p14="http://schemas.microsoft.com/office/powerpoint/2010/main" val="357745057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57</a:t>
            </a:fld>
            <a:endParaRPr lang="en-US" dirty="0"/>
          </a:p>
        </p:txBody>
      </p:sp>
    </p:spTree>
    <p:extLst>
      <p:ext uri="{BB962C8B-B14F-4D97-AF65-F5344CB8AC3E}">
        <p14:creationId xmlns:p14="http://schemas.microsoft.com/office/powerpoint/2010/main" val="24851028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58</a:t>
            </a:fld>
            <a:endParaRPr lang="en-US" dirty="0"/>
          </a:p>
        </p:txBody>
      </p:sp>
    </p:spTree>
    <p:extLst>
      <p:ext uri="{BB962C8B-B14F-4D97-AF65-F5344CB8AC3E}">
        <p14:creationId xmlns:p14="http://schemas.microsoft.com/office/powerpoint/2010/main" val="284929785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59</a:t>
            </a:fld>
            <a:endParaRPr lang="en-US" dirty="0"/>
          </a:p>
        </p:txBody>
      </p:sp>
    </p:spTree>
    <p:extLst>
      <p:ext uri="{BB962C8B-B14F-4D97-AF65-F5344CB8AC3E}">
        <p14:creationId xmlns:p14="http://schemas.microsoft.com/office/powerpoint/2010/main" val="388337618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60</a:t>
            </a:fld>
            <a:endParaRPr lang="en-US" dirty="0"/>
          </a:p>
        </p:txBody>
      </p:sp>
    </p:spTree>
    <p:extLst>
      <p:ext uri="{BB962C8B-B14F-4D97-AF65-F5344CB8AC3E}">
        <p14:creationId xmlns:p14="http://schemas.microsoft.com/office/powerpoint/2010/main" val="249561387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61</a:t>
            </a:fld>
            <a:endParaRPr lang="en-US" dirty="0"/>
          </a:p>
        </p:txBody>
      </p:sp>
    </p:spTree>
    <p:extLst>
      <p:ext uri="{BB962C8B-B14F-4D97-AF65-F5344CB8AC3E}">
        <p14:creationId xmlns:p14="http://schemas.microsoft.com/office/powerpoint/2010/main" val="205073294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62</a:t>
            </a:fld>
            <a:endParaRPr lang="en-US" dirty="0"/>
          </a:p>
        </p:txBody>
      </p:sp>
    </p:spTree>
    <p:extLst>
      <p:ext uri="{BB962C8B-B14F-4D97-AF65-F5344CB8AC3E}">
        <p14:creationId xmlns:p14="http://schemas.microsoft.com/office/powerpoint/2010/main" val="168501488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70</a:t>
            </a:fld>
            <a:endParaRPr lang="en-US" dirty="0"/>
          </a:p>
        </p:txBody>
      </p:sp>
    </p:spTree>
    <p:extLst>
      <p:ext uri="{BB962C8B-B14F-4D97-AF65-F5344CB8AC3E}">
        <p14:creationId xmlns:p14="http://schemas.microsoft.com/office/powerpoint/2010/main" val="264435762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71</a:t>
            </a:fld>
            <a:endParaRPr lang="en-US" dirty="0"/>
          </a:p>
        </p:txBody>
      </p:sp>
    </p:spTree>
    <p:extLst>
      <p:ext uri="{BB962C8B-B14F-4D97-AF65-F5344CB8AC3E}">
        <p14:creationId xmlns:p14="http://schemas.microsoft.com/office/powerpoint/2010/main" val="18106841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72</a:t>
            </a:fld>
            <a:endParaRPr lang="en-US" dirty="0"/>
          </a:p>
        </p:txBody>
      </p:sp>
    </p:spTree>
    <p:extLst>
      <p:ext uri="{BB962C8B-B14F-4D97-AF65-F5344CB8AC3E}">
        <p14:creationId xmlns:p14="http://schemas.microsoft.com/office/powerpoint/2010/main" val="410384043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73</a:t>
            </a:fld>
            <a:endParaRPr lang="en-US" dirty="0"/>
          </a:p>
        </p:txBody>
      </p:sp>
    </p:spTree>
    <p:extLst>
      <p:ext uri="{BB962C8B-B14F-4D97-AF65-F5344CB8AC3E}">
        <p14:creationId xmlns:p14="http://schemas.microsoft.com/office/powerpoint/2010/main" val="193859192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74</a:t>
            </a:fld>
            <a:endParaRPr lang="en-US" dirty="0"/>
          </a:p>
        </p:txBody>
      </p:sp>
    </p:spTree>
    <p:extLst>
      <p:ext uri="{BB962C8B-B14F-4D97-AF65-F5344CB8AC3E}">
        <p14:creationId xmlns:p14="http://schemas.microsoft.com/office/powerpoint/2010/main" val="276686711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75</a:t>
            </a:fld>
            <a:endParaRPr lang="en-US" dirty="0"/>
          </a:p>
        </p:txBody>
      </p:sp>
    </p:spTree>
    <p:extLst>
      <p:ext uri="{BB962C8B-B14F-4D97-AF65-F5344CB8AC3E}">
        <p14:creationId xmlns:p14="http://schemas.microsoft.com/office/powerpoint/2010/main" val="406353105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76</a:t>
            </a:fld>
            <a:endParaRPr lang="en-US" dirty="0"/>
          </a:p>
        </p:txBody>
      </p:sp>
    </p:spTree>
    <p:extLst>
      <p:ext uri="{BB962C8B-B14F-4D97-AF65-F5344CB8AC3E}">
        <p14:creationId xmlns:p14="http://schemas.microsoft.com/office/powerpoint/2010/main" val="170769672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84</a:t>
            </a:fld>
            <a:endParaRPr lang="en-US" dirty="0"/>
          </a:p>
        </p:txBody>
      </p:sp>
    </p:spTree>
    <p:extLst>
      <p:ext uri="{BB962C8B-B14F-4D97-AF65-F5344CB8AC3E}">
        <p14:creationId xmlns:p14="http://schemas.microsoft.com/office/powerpoint/2010/main" val="71589147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85</a:t>
            </a:fld>
            <a:endParaRPr lang="en-US" dirty="0"/>
          </a:p>
        </p:txBody>
      </p:sp>
    </p:spTree>
    <p:extLst>
      <p:ext uri="{BB962C8B-B14F-4D97-AF65-F5344CB8AC3E}">
        <p14:creationId xmlns:p14="http://schemas.microsoft.com/office/powerpoint/2010/main" val="361698680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86</a:t>
            </a:fld>
            <a:endParaRPr lang="en-US" dirty="0"/>
          </a:p>
        </p:txBody>
      </p:sp>
    </p:spTree>
    <p:extLst>
      <p:ext uri="{BB962C8B-B14F-4D97-AF65-F5344CB8AC3E}">
        <p14:creationId xmlns:p14="http://schemas.microsoft.com/office/powerpoint/2010/main" val="232128476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87</a:t>
            </a:fld>
            <a:endParaRPr lang="en-US" dirty="0"/>
          </a:p>
        </p:txBody>
      </p:sp>
    </p:spTree>
    <p:extLst>
      <p:ext uri="{BB962C8B-B14F-4D97-AF65-F5344CB8AC3E}">
        <p14:creationId xmlns:p14="http://schemas.microsoft.com/office/powerpoint/2010/main" val="89681657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88</a:t>
            </a:fld>
            <a:endParaRPr lang="en-US" dirty="0"/>
          </a:p>
        </p:txBody>
      </p:sp>
    </p:spTree>
    <p:extLst>
      <p:ext uri="{BB962C8B-B14F-4D97-AF65-F5344CB8AC3E}">
        <p14:creationId xmlns:p14="http://schemas.microsoft.com/office/powerpoint/2010/main" val="29771931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89</a:t>
            </a:fld>
            <a:endParaRPr lang="en-US" dirty="0"/>
          </a:p>
        </p:txBody>
      </p:sp>
    </p:spTree>
    <p:extLst>
      <p:ext uri="{BB962C8B-B14F-4D97-AF65-F5344CB8AC3E}">
        <p14:creationId xmlns:p14="http://schemas.microsoft.com/office/powerpoint/2010/main" val="349978135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90</a:t>
            </a:fld>
            <a:endParaRPr lang="en-US" dirty="0"/>
          </a:p>
        </p:txBody>
      </p:sp>
    </p:spTree>
    <p:extLst>
      <p:ext uri="{BB962C8B-B14F-4D97-AF65-F5344CB8AC3E}">
        <p14:creationId xmlns:p14="http://schemas.microsoft.com/office/powerpoint/2010/main" val="346879664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91</a:t>
            </a:fld>
            <a:endParaRPr lang="en-US" dirty="0"/>
          </a:p>
        </p:txBody>
      </p:sp>
    </p:spTree>
    <p:extLst>
      <p:ext uri="{BB962C8B-B14F-4D97-AF65-F5344CB8AC3E}">
        <p14:creationId xmlns:p14="http://schemas.microsoft.com/office/powerpoint/2010/main" val="85887429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92</a:t>
            </a:fld>
            <a:endParaRPr lang="en-US" dirty="0"/>
          </a:p>
        </p:txBody>
      </p:sp>
    </p:spTree>
    <p:extLst>
      <p:ext uri="{BB962C8B-B14F-4D97-AF65-F5344CB8AC3E}">
        <p14:creationId xmlns:p14="http://schemas.microsoft.com/office/powerpoint/2010/main" val="233278916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93</a:t>
            </a:fld>
            <a:endParaRPr lang="en-US" dirty="0"/>
          </a:p>
        </p:txBody>
      </p:sp>
    </p:spTree>
    <p:extLst>
      <p:ext uri="{BB962C8B-B14F-4D97-AF65-F5344CB8AC3E}">
        <p14:creationId xmlns:p14="http://schemas.microsoft.com/office/powerpoint/2010/main" val="45084389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94</a:t>
            </a:fld>
            <a:endParaRPr lang="en-US" dirty="0"/>
          </a:p>
        </p:txBody>
      </p:sp>
    </p:spTree>
    <p:extLst>
      <p:ext uri="{BB962C8B-B14F-4D97-AF65-F5344CB8AC3E}">
        <p14:creationId xmlns:p14="http://schemas.microsoft.com/office/powerpoint/2010/main" val="87779379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95</a:t>
            </a:fld>
            <a:endParaRPr lang="en-US" dirty="0"/>
          </a:p>
        </p:txBody>
      </p:sp>
    </p:spTree>
    <p:extLst>
      <p:ext uri="{BB962C8B-B14F-4D97-AF65-F5344CB8AC3E}">
        <p14:creationId xmlns:p14="http://schemas.microsoft.com/office/powerpoint/2010/main" val="386264454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96</a:t>
            </a:fld>
            <a:endParaRPr lang="en-US" dirty="0"/>
          </a:p>
        </p:txBody>
      </p:sp>
    </p:spTree>
    <p:extLst>
      <p:ext uri="{BB962C8B-B14F-4D97-AF65-F5344CB8AC3E}">
        <p14:creationId xmlns:p14="http://schemas.microsoft.com/office/powerpoint/2010/main" val="1891525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97</a:t>
            </a:fld>
            <a:endParaRPr lang="en-US" dirty="0"/>
          </a:p>
        </p:txBody>
      </p:sp>
    </p:spTree>
    <p:extLst>
      <p:ext uri="{BB962C8B-B14F-4D97-AF65-F5344CB8AC3E}">
        <p14:creationId xmlns:p14="http://schemas.microsoft.com/office/powerpoint/2010/main" val="421170117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98</a:t>
            </a:fld>
            <a:endParaRPr lang="en-US" dirty="0"/>
          </a:p>
        </p:txBody>
      </p:sp>
    </p:spTree>
    <p:extLst>
      <p:ext uri="{BB962C8B-B14F-4D97-AF65-F5344CB8AC3E}">
        <p14:creationId xmlns:p14="http://schemas.microsoft.com/office/powerpoint/2010/main" val="177879347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99</a:t>
            </a:fld>
            <a:endParaRPr lang="en-US" dirty="0"/>
          </a:p>
        </p:txBody>
      </p:sp>
    </p:spTree>
    <p:extLst>
      <p:ext uri="{BB962C8B-B14F-4D97-AF65-F5344CB8AC3E}">
        <p14:creationId xmlns:p14="http://schemas.microsoft.com/office/powerpoint/2010/main" val="42757493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100</a:t>
            </a:fld>
            <a:endParaRPr lang="en-US" dirty="0"/>
          </a:p>
        </p:txBody>
      </p:sp>
    </p:spTree>
    <p:extLst>
      <p:ext uri="{BB962C8B-B14F-4D97-AF65-F5344CB8AC3E}">
        <p14:creationId xmlns:p14="http://schemas.microsoft.com/office/powerpoint/2010/main" val="284581840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101</a:t>
            </a:fld>
            <a:endParaRPr lang="en-US" dirty="0"/>
          </a:p>
        </p:txBody>
      </p:sp>
    </p:spTree>
    <p:extLst>
      <p:ext uri="{BB962C8B-B14F-4D97-AF65-F5344CB8AC3E}">
        <p14:creationId xmlns:p14="http://schemas.microsoft.com/office/powerpoint/2010/main" val="365581794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102</a:t>
            </a:fld>
            <a:endParaRPr lang="en-US" dirty="0"/>
          </a:p>
        </p:txBody>
      </p:sp>
    </p:spTree>
    <p:extLst>
      <p:ext uri="{BB962C8B-B14F-4D97-AF65-F5344CB8AC3E}">
        <p14:creationId xmlns:p14="http://schemas.microsoft.com/office/powerpoint/2010/main" val="72776720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103</a:t>
            </a:fld>
            <a:endParaRPr lang="en-US" dirty="0"/>
          </a:p>
        </p:txBody>
      </p:sp>
    </p:spTree>
    <p:extLst>
      <p:ext uri="{BB962C8B-B14F-4D97-AF65-F5344CB8AC3E}">
        <p14:creationId xmlns:p14="http://schemas.microsoft.com/office/powerpoint/2010/main" val="407461713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104</a:t>
            </a:fld>
            <a:endParaRPr lang="en-US" dirty="0"/>
          </a:p>
        </p:txBody>
      </p:sp>
    </p:spTree>
    <p:extLst>
      <p:ext uri="{BB962C8B-B14F-4D97-AF65-F5344CB8AC3E}">
        <p14:creationId xmlns:p14="http://schemas.microsoft.com/office/powerpoint/2010/main" val="8989350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105</a:t>
            </a:fld>
            <a:endParaRPr lang="en-US" dirty="0"/>
          </a:p>
        </p:txBody>
      </p:sp>
    </p:spTree>
    <p:extLst>
      <p:ext uri="{BB962C8B-B14F-4D97-AF65-F5344CB8AC3E}">
        <p14:creationId xmlns:p14="http://schemas.microsoft.com/office/powerpoint/2010/main" val="110955205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106</a:t>
            </a:fld>
            <a:endParaRPr lang="en-US" dirty="0"/>
          </a:p>
        </p:txBody>
      </p:sp>
    </p:spTree>
    <p:extLst>
      <p:ext uri="{BB962C8B-B14F-4D97-AF65-F5344CB8AC3E}">
        <p14:creationId xmlns:p14="http://schemas.microsoft.com/office/powerpoint/2010/main" val="45785673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107</a:t>
            </a:fld>
            <a:endParaRPr lang="en-US" dirty="0"/>
          </a:p>
        </p:txBody>
      </p:sp>
    </p:spTree>
    <p:extLst>
      <p:ext uri="{BB962C8B-B14F-4D97-AF65-F5344CB8AC3E}">
        <p14:creationId xmlns:p14="http://schemas.microsoft.com/office/powerpoint/2010/main" val="212689487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108</a:t>
            </a:fld>
            <a:endParaRPr lang="en-US" dirty="0"/>
          </a:p>
        </p:txBody>
      </p:sp>
    </p:spTree>
    <p:extLst>
      <p:ext uri="{BB962C8B-B14F-4D97-AF65-F5344CB8AC3E}">
        <p14:creationId xmlns:p14="http://schemas.microsoft.com/office/powerpoint/2010/main" val="253863014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109</a:t>
            </a:fld>
            <a:endParaRPr lang="en-US" dirty="0"/>
          </a:p>
        </p:txBody>
      </p:sp>
    </p:spTree>
    <p:extLst>
      <p:ext uri="{BB962C8B-B14F-4D97-AF65-F5344CB8AC3E}">
        <p14:creationId xmlns:p14="http://schemas.microsoft.com/office/powerpoint/2010/main" val="400990871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endParaRPr lang="en-US" dirty="0"/>
          </a:p>
        </p:txBody>
      </p:sp>
      <p:sp>
        <p:nvSpPr>
          <p:cNvPr id="6" name="Slide Number Placeholder 5"/>
          <p:cNvSpPr>
            <a:spLocks noGrp="1"/>
          </p:cNvSpPr>
          <p:nvPr>
            <p:ph type="sldNum" sz="quarter" idx="5"/>
          </p:nvPr>
        </p:nvSpPr>
        <p:spPr/>
        <p:txBody>
          <a:bodyPr/>
          <a:lstStyle/>
          <a:p>
            <a:fld id="{1E003C43-1C0C-47D7-96F1-DE4B1C87DAE9}" type="slidenum">
              <a:rPr lang="en-US" smtClean="0"/>
              <a:t>110</a:t>
            </a:fld>
            <a:endParaRPr lang="en-US" dirty="0"/>
          </a:p>
        </p:txBody>
      </p:sp>
    </p:spTree>
    <p:extLst>
      <p:ext uri="{BB962C8B-B14F-4D97-AF65-F5344CB8AC3E}">
        <p14:creationId xmlns:p14="http://schemas.microsoft.com/office/powerpoint/2010/main" val="28476149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rgbClr val="006600">
              <a:alpha val="70588"/>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3"/>
          <p:cNvSpPr>
            <a:spLocks noGrp="1"/>
          </p:cNvSpPr>
          <p:nvPr>
            <p:ph type="dt" sz="half" idx="10"/>
          </p:nvPr>
        </p:nvSpPr>
        <p:spPr/>
        <p:txBody>
          <a:bodyPr/>
          <a:lstStyle>
            <a:lvl1pPr>
              <a:defRPr sz="1600">
                <a:solidFill>
                  <a:schemeClr val="bg1"/>
                </a:solidFill>
              </a:defRPr>
            </a:lvl1pPr>
          </a:lstStyle>
          <a:p>
            <a:fld id="{FE2A166E-37E4-4E28-AB8D-45D141AE77EB}" type="datetime1">
              <a:rPr lang="en-US" smtClean="0"/>
              <a:t>10/16/2022</a:t>
            </a:fld>
            <a:endParaRPr lang="en-US" dirty="0"/>
          </a:p>
        </p:txBody>
      </p:sp>
      <p:sp>
        <p:nvSpPr>
          <p:cNvPr id="5" name="Footer Placeholder 4"/>
          <p:cNvSpPr>
            <a:spLocks noGrp="1"/>
          </p:cNvSpPr>
          <p:nvPr>
            <p:ph type="ftr" sz="quarter" idx="11"/>
          </p:nvPr>
        </p:nvSpPr>
        <p:spPr/>
        <p:txBody>
          <a:bodyPr/>
          <a:lstStyle>
            <a:lvl1pPr>
              <a:defRPr sz="1600">
                <a:solidFill>
                  <a:schemeClr val="bg1"/>
                </a:solidFill>
              </a:defRPr>
            </a:lvl1pPr>
          </a:lstStyle>
          <a:p>
            <a:r>
              <a:rPr lang="en-US" dirty="0"/>
              <a:t>Introduction to AI</a:t>
            </a:r>
          </a:p>
        </p:txBody>
      </p:sp>
      <p:sp>
        <p:nvSpPr>
          <p:cNvPr id="6" name="Slide Number Placeholder 5"/>
          <p:cNvSpPr>
            <a:spLocks noGrp="1"/>
          </p:cNvSpPr>
          <p:nvPr>
            <p:ph type="sldNum" sz="quarter" idx="12"/>
          </p:nvPr>
        </p:nvSpPr>
        <p:spPr/>
        <p:txBody>
          <a:bodyPr/>
          <a:lstStyle>
            <a:lvl1pPr>
              <a:defRPr sz="1600">
                <a:solidFill>
                  <a:schemeClr val="bg1"/>
                </a:solidFill>
              </a:defRPr>
            </a:lvl1pPr>
          </a:lstStyle>
          <a:p>
            <a:fld id="{B7884E68-CE57-44C0-BE0F-84C629DF22D5}" type="slidenum">
              <a:rPr lang="en-US" smtClean="0"/>
              <a:t>‹#›</a:t>
            </a:fld>
            <a:endParaRPr lang="en-US" dirty="0"/>
          </a:p>
        </p:txBody>
      </p:sp>
      <p:sp>
        <p:nvSpPr>
          <p:cNvPr id="15" name="Text Placeholder 14"/>
          <p:cNvSpPr>
            <a:spLocks noGrp="1"/>
          </p:cNvSpPr>
          <p:nvPr>
            <p:ph type="body" sz="quarter" idx="13"/>
          </p:nvPr>
        </p:nvSpPr>
        <p:spPr>
          <a:xfrm>
            <a:off x="624572" y="4984578"/>
            <a:ext cx="11277600" cy="914400"/>
          </a:xfrm>
        </p:spPr>
        <p:txBody>
          <a:bodyPr>
            <a:noAutofit/>
          </a:bodyPr>
          <a:lstStyle>
            <a:lvl4pPr marL="156629" indent="0" algn="ctr">
              <a:buNone/>
              <a:defRPr sz="4267" baseline="0"/>
            </a:lvl4pPr>
          </a:lstStyle>
          <a:p>
            <a:pPr lvl="0"/>
            <a:r>
              <a:rPr lang="en-US"/>
              <a:t>Edit Master text styles</a:t>
            </a:r>
          </a:p>
        </p:txBody>
      </p:sp>
      <p:sp>
        <p:nvSpPr>
          <p:cNvPr id="17" name="TextBox 16"/>
          <p:cNvSpPr txBox="1"/>
          <p:nvPr/>
        </p:nvSpPr>
        <p:spPr>
          <a:xfrm>
            <a:off x="609600" y="548799"/>
            <a:ext cx="11277600" cy="1528752"/>
          </a:xfrm>
          <a:prstGeom prst="rect">
            <a:avLst/>
          </a:prstGeom>
          <a:noFill/>
        </p:spPr>
        <p:txBody>
          <a:bodyPr wrap="square" lIns="0" rIns="0" rtlCol="0">
            <a:spAutoFit/>
          </a:bodyPr>
          <a:lstStyle/>
          <a:p>
            <a:pPr algn="ctr"/>
            <a:r>
              <a:rPr lang="en-US" sz="4667" dirty="0">
                <a:solidFill>
                  <a:srgbClr val="008000"/>
                </a:solidFill>
              </a:rPr>
              <a:t>COE 292</a:t>
            </a:r>
          </a:p>
          <a:p>
            <a:pPr algn="ctr"/>
            <a:r>
              <a:rPr lang="en-US" sz="4667" dirty="0">
                <a:solidFill>
                  <a:srgbClr val="008000"/>
                </a:solidFill>
              </a:rPr>
              <a:t> Introduction to Artificial Intelligence</a:t>
            </a:r>
          </a:p>
        </p:txBody>
      </p:sp>
      <p:grpSp>
        <p:nvGrpSpPr>
          <p:cNvPr id="13" name="Group 12">
            <a:extLst>
              <a:ext uri="{FF2B5EF4-FFF2-40B4-BE49-F238E27FC236}">
                <a16:creationId xmlns:a16="http://schemas.microsoft.com/office/drawing/2014/main" id="{FBBAFCE8-2EF7-4D77-AE15-DC2F91554DC0}"/>
              </a:ext>
            </a:extLst>
          </p:cNvPr>
          <p:cNvGrpSpPr/>
          <p:nvPr/>
        </p:nvGrpSpPr>
        <p:grpSpPr>
          <a:xfrm>
            <a:off x="4106513" y="2173992"/>
            <a:ext cx="4313719" cy="2474208"/>
            <a:chOff x="1" y="1"/>
            <a:chExt cx="9155896" cy="5173261"/>
          </a:xfrm>
        </p:grpSpPr>
        <p:sp>
          <p:nvSpPr>
            <p:cNvPr id="14" name="Rectangle 13">
              <a:extLst>
                <a:ext uri="{FF2B5EF4-FFF2-40B4-BE49-F238E27FC236}">
                  <a16:creationId xmlns:a16="http://schemas.microsoft.com/office/drawing/2014/main" id="{965C01A5-4EF1-4D2D-931F-790FAC34A3DC}"/>
                </a:ext>
              </a:extLst>
            </p:cNvPr>
            <p:cNvSpPr>
              <a:spLocks noChangeArrowheads="1"/>
            </p:cNvSpPr>
            <p:nvPr/>
          </p:nvSpPr>
          <p:spPr bwMode="auto">
            <a:xfrm>
              <a:off x="2756297" y="1479947"/>
              <a:ext cx="3649266" cy="2215754"/>
            </a:xfrm>
            <a:prstGeom prst="rect">
              <a:avLst/>
            </a:prstGeom>
            <a:noFill/>
            <a:ln w="60325" cap="flat">
              <a:solidFill>
                <a:srgbClr val="00A64E"/>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grpSp>
          <p:nvGrpSpPr>
            <p:cNvPr id="18" name="Group 17"/>
            <p:cNvGrpSpPr/>
            <p:nvPr/>
          </p:nvGrpSpPr>
          <p:grpSpPr>
            <a:xfrm>
              <a:off x="1" y="1"/>
              <a:ext cx="9155896" cy="5173261"/>
              <a:chOff x="0" y="0"/>
              <a:chExt cx="12207875" cy="6897688"/>
            </a:xfrm>
          </p:grpSpPr>
          <p:sp>
            <p:nvSpPr>
              <p:cNvPr id="21" name="Freeform 20">
                <a:extLst>
                  <a:ext uri="{FF2B5EF4-FFF2-40B4-BE49-F238E27FC236}">
                    <a16:creationId xmlns:a16="http://schemas.microsoft.com/office/drawing/2014/main" id="{B0E1781B-2A28-4946-82E3-F0738AF0F2DA}"/>
                  </a:ext>
                </a:extLst>
              </p:cNvPr>
              <p:cNvSpPr>
                <a:spLocks noEditPoints="1"/>
              </p:cNvSpPr>
              <p:nvPr/>
            </p:nvSpPr>
            <p:spPr bwMode="auto">
              <a:xfrm>
                <a:off x="330200" y="234473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22" name="Freeform 21">
                <a:extLst>
                  <a:ext uri="{FF2B5EF4-FFF2-40B4-BE49-F238E27FC236}">
                    <a16:creationId xmlns:a16="http://schemas.microsoft.com/office/drawing/2014/main" id="{FF33298A-962D-4868-9F85-4F813DCFD817}"/>
                  </a:ext>
                </a:extLst>
              </p:cNvPr>
              <p:cNvSpPr>
                <a:spLocks/>
              </p:cNvSpPr>
              <p:nvPr/>
            </p:nvSpPr>
            <p:spPr bwMode="auto">
              <a:xfrm>
                <a:off x="5611813" y="5299075"/>
                <a:ext cx="514350" cy="461963"/>
              </a:xfrm>
              <a:custGeom>
                <a:avLst/>
                <a:gdLst>
                  <a:gd name="T0" fmla="*/ 324 w 324"/>
                  <a:gd name="T1" fmla="*/ 291 h 291"/>
                  <a:gd name="T2" fmla="*/ 0 w 324"/>
                  <a:gd name="T3" fmla="*/ 291 h 291"/>
                  <a:gd name="T4" fmla="*/ 0 w 324"/>
                  <a:gd name="T5" fmla="*/ 0 h 291"/>
                  <a:gd name="T6" fmla="*/ 57 w 324"/>
                  <a:gd name="T7" fmla="*/ 0 h 291"/>
                  <a:gd name="T8" fmla="*/ 57 w 324"/>
                  <a:gd name="T9" fmla="*/ 233 h 291"/>
                  <a:gd name="T10" fmla="*/ 267 w 324"/>
                  <a:gd name="T11" fmla="*/ 233 h 291"/>
                  <a:gd name="T12" fmla="*/ 267 w 324"/>
                  <a:gd name="T13" fmla="*/ 0 h 291"/>
                  <a:gd name="T14" fmla="*/ 324 w 324"/>
                  <a:gd name="T15" fmla="*/ 0 h 291"/>
                  <a:gd name="T16" fmla="*/ 324 w 324"/>
                  <a:gd name="T17" fmla="*/ 291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4" h="291">
                    <a:moveTo>
                      <a:pt x="324" y="291"/>
                    </a:moveTo>
                    <a:lnTo>
                      <a:pt x="0" y="291"/>
                    </a:lnTo>
                    <a:lnTo>
                      <a:pt x="0" y="0"/>
                    </a:lnTo>
                    <a:lnTo>
                      <a:pt x="57" y="0"/>
                    </a:lnTo>
                    <a:lnTo>
                      <a:pt x="57" y="233"/>
                    </a:lnTo>
                    <a:lnTo>
                      <a:pt x="267" y="233"/>
                    </a:lnTo>
                    <a:lnTo>
                      <a:pt x="267" y="0"/>
                    </a:lnTo>
                    <a:lnTo>
                      <a:pt x="324" y="0"/>
                    </a:lnTo>
                    <a:lnTo>
                      <a:pt x="324" y="291"/>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23" name="Freeform 22">
                <a:extLst>
                  <a:ext uri="{FF2B5EF4-FFF2-40B4-BE49-F238E27FC236}">
                    <a16:creationId xmlns:a16="http://schemas.microsoft.com/office/drawing/2014/main" id="{60D3C279-BB5B-4DAC-A416-F7E9D5EFD71F}"/>
                  </a:ext>
                </a:extLst>
              </p:cNvPr>
              <p:cNvSpPr>
                <a:spLocks/>
              </p:cNvSpPr>
              <p:nvPr/>
            </p:nvSpPr>
            <p:spPr bwMode="auto">
              <a:xfrm>
                <a:off x="3890963" y="5299074"/>
                <a:ext cx="1395413" cy="1558925"/>
              </a:xfrm>
              <a:custGeom>
                <a:avLst/>
                <a:gdLst>
                  <a:gd name="T0" fmla="*/ 58 w 879"/>
                  <a:gd name="T1" fmla="*/ 877 h 877"/>
                  <a:gd name="T2" fmla="*/ 0 w 879"/>
                  <a:gd name="T3" fmla="*/ 877 h 877"/>
                  <a:gd name="T4" fmla="*/ 0 w 879"/>
                  <a:gd name="T5" fmla="*/ 615 h 877"/>
                  <a:gd name="T6" fmla="*/ 821 w 879"/>
                  <a:gd name="T7" fmla="*/ 615 h 877"/>
                  <a:gd name="T8" fmla="*/ 821 w 879"/>
                  <a:gd name="T9" fmla="*/ 0 h 877"/>
                  <a:gd name="T10" fmla="*/ 879 w 879"/>
                  <a:gd name="T11" fmla="*/ 0 h 877"/>
                  <a:gd name="T12" fmla="*/ 879 w 879"/>
                  <a:gd name="T13" fmla="*/ 672 h 877"/>
                  <a:gd name="T14" fmla="*/ 58 w 879"/>
                  <a:gd name="T15" fmla="*/ 672 h 877"/>
                  <a:gd name="T16" fmla="*/ 58 w 879"/>
                  <a:gd name="T17" fmla="*/ 877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9" h="877">
                    <a:moveTo>
                      <a:pt x="58" y="877"/>
                    </a:moveTo>
                    <a:lnTo>
                      <a:pt x="0" y="877"/>
                    </a:lnTo>
                    <a:lnTo>
                      <a:pt x="0" y="615"/>
                    </a:lnTo>
                    <a:lnTo>
                      <a:pt x="821" y="615"/>
                    </a:lnTo>
                    <a:lnTo>
                      <a:pt x="821" y="0"/>
                    </a:lnTo>
                    <a:lnTo>
                      <a:pt x="879" y="0"/>
                    </a:lnTo>
                    <a:lnTo>
                      <a:pt x="879" y="672"/>
                    </a:lnTo>
                    <a:lnTo>
                      <a:pt x="58" y="672"/>
                    </a:lnTo>
                    <a:lnTo>
                      <a:pt x="58" y="877"/>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24" name="Freeform 23">
                <a:extLst>
                  <a:ext uri="{FF2B5EF4-FFF2-40B4-BE49-F238E27FC236}">
                    <a16:creationId xmlns:a16="http://schemas.microsoft.com/office/drawing/2014/main" id="{9ABD3A90-6B58-459F-9E4F-9BF49BDA97CA}"/>
                  </a:ext>
                </a:extLst>
              </p:cNvPr>
              <p:cNvSpPr>
                <a:spLocks/>
              </p:cNvSpPr>
              <p:nvPr/>
            </p:nvSpPr>
            <p:spPr bwMode="auto">
              <a:xfrm>
                <a:off x="1363663" y="5253038"/>
                <a:ext cx="3057525" cy="803275"/>
              </a:xfrm>
              <a:custGeom>
                <a:avLst/>
                <a:gdLst>
                  <a:gd name="T0" fmla="*/ 1270 w 1926"/>
                  <a:gd name="T1" fmla="*/ 506 h 506"/>
                  <a:gd name="T2" fmla="*/ 0 w 1926"/>
                  <a:gd name="T3" fmla="*/ 506 h 506"/>
                  <a:gd name="T4" fmla="*/ 0 w 1926"/>
                  <a:gd name="T5" fmla="*/ 448 h 506"/>
                  <a:gd name="T6" fmla="*/ 1251 w 1926"/>
                  <a:gd name="T7" fmla="*/ 448 h 506"/>
                  <a:gd name="T8" fmla="*/ 1893 w 1926"/>
                  <a:gd name="T9" fmla="*/ 0 h 506"/>
                  <a:gd name="T10" fmla="*/ 1926 w 1926"/>
                  <a:gd name="T11" fmla="*/ 45 h 506"/>
                  <a:gd name="T12" fmla="*/ 1270 w 1926"/>
                  <a:gd name="T13" fmla="*/ 506 h 506"/>
                </a:gdLst>
                <a:ahLst/>
                <a:cxnLst>
                  <a:cxn ang="0">
                    <a:pos x="T0" y="T1"/>
                  </a:cxn>
                  <a:cxn ang="0">
                    <a:pos x="T2" y="T3"/>
                  </a:cxn>
                  <a:cxn ang="0">
                    <a:pos x="T4" y="T5"/>
                  </a:cxn>
                  <a:cxn ang="0">
                    <a:pos x="T6" y="T7"/>
                  </a:cxn>
                  <a:cxn ang="0">
                    <a:pos x="T8" y="T9"/>
                  </a:cxn>
                  <a:cxn ang="0">
                    <a:pos x="T10" y="T11"/>
                  </a:cxn>
                  <a:cxn ang="0">
                    <a:pos x="T12" y="T13"/>
                  </a:cxn>
                </a:cxnLst>
                <a:rect l="0" t="0" r="r" b="b"/>
                <a:pathLst>
                  <a:path w="1926" h="506">
                    <a:moveTo>
                      <a:pt x="1270" y="506"/>
                    </a:moveTo>
                    <a:lnTo>
                      <a:pt x="0" y="506"/>
                    </a:lnTo>
                    <a:lnTo>
                      <a:pt x="0" y="448"/>
                    </a:lnTo>
                    <a:lnTo>
                      <a:pt x="1251" y="448"/>
                    </a:lnTo>
                    <a:lnTo>
                      <a:pt x="1893" y="0"/>
                    </a:lnTo>
                    <a:lnTo>
                      <a:pt x="1926" y="45"/>
                    </a:lnTo>
                    <a:lnTo>
                      <a:pt x="1270" y="506"/>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25" name="Freeform 24">
                <a:extLst>
                  <a:ext uri="{FF2B5EF4-FFF2-40B4-BE49-F238E27FC236}">
                    <a16:creationId xmlns:a16="http://schemas.microsoft.com/office/drawing/2014/main" id="{49882A93-2455-4BE3-A203-B5A7C2A1C477}"/>
                  </a:ext>
                </a:extLst>
              </p:cNvPr>
              <p:cNvSpPr>
                <a:spLocks noEditPoints="1"/>
              </p:cNvSpPr>
              <p:nvPr/>
            </p:nvSpPr>
            <p:spPr bwMode="auto">
              <a:xfrm>
                <a:off x="947738" y="53101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26" name="Freeform 25">
                <a:extLst>
                  <a:ext uri="{FF2B5EF4-FFF2-40B4-BE49-F238E27FC236}">
                    <a16:creationId xmlns:a16="http://schemas.microsoft.com/office/drawing/2014/main" id="{35DFB328-1E5F-418E-A936-CB01C3AA709B}"/>
                  </a:ext>
                </a:extLst>
              </p:cNvPr>
              <p:cNvSpPr>
                <a:spLocks noEditPoints="1"/>
              </p:cNvSpPr>
              <p:nvPr/>
            </p:nvSpPr>
            <p:spPr bwMode="auto">
              <a:xfrm>
                <a:off x="1106488" y="58435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27" name="Freeform 26">
                <a:extLst>
                  <a:ext uri="{FF2B5EF4-FFF2-40B4-BE49-F238E27FC236}">
                    <a16:creationId xmlns:a16="http://schemas.microsoft.com/office/drawing/2014/main" id="{95D8B28B-BCAA-44F1-AD44-3672123F35E0}"/>
                  </a:ext>
                </a:extLst>
              </p:cNvPr>
              <p:cNvSpPr>
                <a:spLocks noEditPoints="1"/>
              </p:cNvSpPr>
              <p:nvPr/>
            </p:nvSpPr>
            <p:spPr bwMode="auto">
              <a:xfrm>
                <a:off x="488950" y="58435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28" name="Freeform 27">
                <a:extLst>
                  <a:ext uri="{FF2B5EF4-FFF2-40B4-BE49-F238E27FC236}">
                    <a16:creationId xmlns:a16="http://schemas.microsoft.com/office/drawing/2014/main" id="{1F6A1139-BE1A-4B03-AA8C-7F2B97B761A2}"/>
                  </a:ext>
                </a:extLst>
              </p:cNvPr>
              <p:cNvSpPr>
                <a:spLocks noEditPoints="1"/>
              </p:cNvSpPr>
              <p:nvPr/>
            </p:nvSpPr>
            <p:spPr bwMode="auto">
              <a:xfrm>
                <a:off x="207963" y="53101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29" name="Freeform 28">
                <a:extLst>
                  <a:ext uri="{FF2B5EF4-FFF2-40B4-BE49-F238E27FC236}">
                    <a16:creationId xmlns:a16="http://schemas.microsoft.com/office/drawing/2014/main" id="{4E287759-C4C4-4DEE-98A8-665AF5456666}"/>
                  </a:ext>
                </a:extLst>
              </p:cNvPr>
              <p:cNvSpPr>
                <a:spLocks noEditPoints="1"/>
              </p:cNvSpPr>
              <p:nvPr/>
            </p:nvSpPr>
            <p:spPr bwMode="auto">
              <a:xfrm>
                <a:off x="795338" y="4060825"/>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30" name="Freeform 29">
                <a:extLst>
                  <a:ext uri="{FF2B5EF4-FFF2-40B4-BE49-F238E27FC236}">
                    <a16:creationId xmlns:a16="http://schemas.microsoft.com/office/drawing/2014/main" id="{2A155A82-29DD-449B-AD04-F49B115E905C}"/>
                  </a:ext>
                </a:extLst>
              </p:cNvPr>
              <p:cNvSpPr>
                <a:spLocks noEditPoints="1"/>
              </p:cNvSpPr>
              <p:nvPr/>
            </p:nvSpPr>
            <p:spPr bwMode="auto">
              <a:xfrm>
                <a:off x="215900" y="37084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2"/>
                      <a:pt x="24" y="44"/>
                    </a:cubicBezTo>
                    <a:cubicBezTo>
                      <a:pt x="24" y="55"/>
                      <a:pt x="33" y="64"/>
                      <a:pt x="44" y="64"/>
                    </a:cubicBezTo>
                    <a:cubicBezTo>
                      <a:pt x="55" y="64"/>
                      <a:pt x="64" y="55"/>
                      <a:pt x="64" y="44"/>
                    </a:cubicBezTo>
                    <a:cubicBezTo>
                      <a:pt x="64" y="32"/>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31" name="Freeform 30">
                <a:extLst>
                  <a:ext uri="{FF2B5EF4-FFF2-40B4-BE49-F238E27FC236}">
                    <a16:creationId xmlns:a16="http://schemas.microsoft.com/office/drawing/2014/main" id="{F2D8B5A2-0D89-4949-97BC-3DE1F189530B}"/>
                  </a:ext>
                </a:extLst>
              </p:cNvPr>
              <p:cNvSpPr>
                <a:spLocks noEditPoints="1"/>
              </p:cNvSpPr>
              <p:nvPr/>
            </p:nvSpPr>
            <p:spPr bwMode="auto">
              <a:xfrm>
                <a:off x="5702300" y="588486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32" name="Freeform 31">
                <a:extLst>
                  <a:ext uri="{FF2B5EF4-FFF2-40B4-BE49-F238E27FC236}">
                    <a16:creationId xmlns:a16="http://schemas.microsoft.com/office/drawing/2014/main" id="{2CBAABB5-83DD-4C08-B1E9-A2BB23824662}"/>
                  </a:ext>
                </a:extLst>
              </p:cNvPr>
              <p:cNvSpPr>
                <a:spLocks noEditPoints="1"/>
              </p:cNvSpPr>
              <p:nvPr/>
            </p:nvSpPr>
            <p:spPr bwMode="auto">
              <a:xfrm>
                <a:off x="4641850" y="576421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9" y="0"/>
                      <a:pt x="88" y="20"/>
                      <a:pt x="88" y="44"/>
                    </a:cubicBezTo>
                    <a:cubicBezTo>
                      <a:pt x="88" y="68"/>
                      <a:pt x="69"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33" name="Rectangle 32">
                <a:extLst>
                  <a:ext uri="{FF2B5EF4-FFF2-40B4-BE49-F238E27FC236}">
                    <a16:creationId xmlns:a16="http://schemas.microsoft.com/office/drawing/2014/main" id="{43FF8BDC-3425-4474-AFB3-B276B1798C37}"/>
                  </a:ext>
                </a:extLst>
              </p:cNvPr>
              <p:cNvSpPr>
                <a:spLocks noChangeArrowheads="1"/>
              </p:cNvSpPr>
              <p:nvPr/>
            </p:nvSpPr>
            <p:spPr bwMode="auto">
              <a:xfrm>
                <a:off x="6461125" y="5299074"/>
                <a:ext cx="90488" cy="155892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34" name="Freeform 33">
                <a:extLst>
                  <a:ext uri="{FF2B5EF4-FFF2-40B4-BE49-F238E27FC236}">
                    <a16:creationId xmlns:a16="http://schemas.microsoft.com/office/drawing/2014/main" id="{C2E6FEB6-D1EE-4D9E-B90D-68B902C4B803}"/>
                  </a:ext>
                </a:extLst>
              </p:cNvPr>
              <p:cNvSpPr>
                <a:spLocks/>
              </p:cNvSpPr>
              <p:nvPr/>
            </p:nvSpPr>
            <p:spPr bwMode="auto">
              <a:xfrm>
                <a:off x="6884988" y="5299074"/>
                <a:ext cx="1481138" cy="1558925"/>
              </a:xfrm>
              <a:custGeom>
                <a:avLst/>
                <a:gdLst>
                  <a:gd name="T0" fmla="*/ 933 w 933"/>
                  <a:gd name="T1" fmla="*/ 877 h 877"/>
                  <a:gd name="T2" fmla="*/ 876 w 933"/>
                  <a:gd name="T3" fmla="*/ 877 h 877"/>
                  <a:gd name="T4" fmla="*/ 876 w 933"/>
                  <a:gd name="T5" fmla="*/ 467 h 877"/>
                  <a:gd name="T6" fmla="*/ 0 w 933"/>
                  <a:gd name="T7" fmla="*/ 467 h 877"/>
                  <a:gd name="T8" fmla="*/ 0 w 933"/>
                  <a:gd name="T9" fmla="*/ 0 h 877"/>
                  <a:gd name="T10" fmla="*/ 57 w 933"/>
                  <a:gd name="T11" fmla="*/ 0 h 877"/>
                  <a:gd name="T12" fmla="*/ 57 w 933"/>
                  <a:gd name="T13" fmla="*/ 410 h 877"/>
                  <a:gd name="T14" fmla="*/ 933 w 933"/>
                  <a:gd name="T15" fmla="*/ 410 h 877"/>
                  <a:gd name="T16" fmla="*/ 933 w 933"/>
                  <a:gd name="T17" fmla="*/ 877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877">
                    <a:moveTo>
                      <a:pt x="933" y="877"/>
                    </a:moveTo>
                    <a:lnTo>
                      <a:pt x="876" y="877"/>
                    </a:lnTo>
                    <a:lnTo>
                      <a:pt x="876" y="467"/>
                    </a:lnTo>
                    <a:lnTo>
                      <a:pt x="0" y="467"/>
                    </a:lnTo>
                    <a:lnTo>
                      <a:pt x="0" y="0"/>
                    </a:lnTo>
                    <a:lnTo>
                      <a:pt x="57" y="0"/>
                    </a:lnTo>
                    <a:lnTo>
                      <a:pt x="57" y="410"/>
                    </a:lnTo>
                    <a:lnTo>
                      <a:pt x="933" y="410"/>
                    </a:lnTo>
                    <a:lnTo>
                      <a:pt x="933" y="877"/>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35" name="Freeform 34">
                <a:extLst>
                  <a:ext uri="{FF2B5EF4-FFF2-40B4-BE49-F238E27FC236}">
                    <a16:creationId xmlns:a16="http://schemas.microsoft.com/office/drawing/2014/main" id="{7E7AFE70-76AA-46DB-A091-97BB05C35744}"/>
                  </a:ext>
                </a:extLst>
              </p:cNvPr>
              <p:cNvSpPr>
                <a:spLocks/>
              </p:cNvSpPr>
              <p:nvPr/>
            </p:nvSpPr>
            <p:spPr bwMode="auto">
              <a:xfrm>
                <a:off x="7308850" y="5299074"/>
                <a:ext cx="1481138" cy="1558925"/>
              </a:xfrm>
              <a:custGeom>
                <a:avLst/>
                <a:gdLst>
                  <a:gd name="T0" fmla="*/ 933 w 933"/>
                  <a:gd name="T1" fmla="*/ 877 h 877"/>
                  <a:gd name="T2" fmla="*/ 876 w 933"/>
                  <a:gd name="T3" fmla="*/ 877 h 877"/>
                  <a:gd name="T4" fmla="*/ 876 w 933"/>
                  <a:gd name="T5" fmla="*/ 314 h 877"/>
                  <a:gd name="T6" fmla="*/ 0 w 933"/>
                  <a:gd name="T7" fmla="*/ 314 h 877"/>
                  <a:gd name="T8" fmla="*/ 0 w 933"/>
                  <a:gd name="T9" fmla="*/ 0 h 877"/>
                  <a:gd name="T10" fmla="*/ 57 w 933"/>
                  <a:gd name="T11" fmla="*/ 0 h 877"/>
                  <a:gd name="T12" fmla="*/ 57 w 933"/>
                  <a:gd name="T13" fmla="*/ 257 h 877"/>
                  <a:gd name="T14" fmla="*/ 933 w 933"/>
                  <a:gd name="T15" fmla="*/ 257 h 877"/>
                  <a:gd name="T16" fmla="*/ 933 w 933"/>
                  <a:gd name="T17" fmla="*/ 877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877">
                    <a:moveTo>
                      <a:pt x="933" y="877"/>
                    </a:moveTo>
                    <a:lnTo>
                      <a:pt x="876" y="877"/>
                    </a:lnTo>
                    <a:lnTo>
                      <a:pt x="876" y="314"/>
                    </a:lnTo>
                    <a:lnTo>
                      <a:pt x="0" y="314"/>
                    </a:lnTo>
                    <a:lnTo>
                      <a:pt x="0" y="0"/>
                    </a:lnTo>
                    <a:lnTo>
                      <a:pt x="57" y="0"/>
                    </a:lnTo>
                    <a:lnTo>
                      <a:pt x="57" y="257"/>
                    </a:lnTo>
                    <a:lnTo>
                      <a:pt x="933" y="257"/>
                    </a:lnTo>
                    <a:lnTo>
                      <a:pt x="933" y="877"/>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36" name="Rectangle 35">
                <a:extLst>
                  <a:ext uri="{FF2B5EF4-FFF2-40B4-BE49-F238E27FC236}">
                    <a16:creationId xmlns:a16="http://schemas.microsoft.com/office/drawing/2014/main" id="{EF39BA17-4B01-4639-9BCF-7638759CA2C9}"/>
                  </a:ext>
                </a:extLst>
              </p:cNvPr>
              <p:cNvSpPr>
                <a:spLocks noChangeArrowheads="1"/>
              </p:cNvSpPr>
              <p:nvPr/>
            </p:nvSpPr>
            <p:spPr bwMode="auto">
              <a:xfrm>
                <a:off x="5824538" y="6173788"/>
                <a:ext cx="90488" cy="684212"/>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37" name="Freeform 36">
                <a:extLst>
                  <a:ext uri="{FF2B5EF4-FFF2-40B4-BE49-F238E27FC236}">
                    <a16:creationId xmlns:a16="http://schemas.microsoft.com/office/drawing/2014/main" id="{E1BAEDAA-B346-4E93-859E-74FEDB940F9C}"/>
                  </a:ext>
                </a:extLst>
              </p:cNvPr>
              <p:cNvSpPr>
                <a:spLocks noEditPoints="1"/>
              </p:cNvSpPr>
              <p:nvPr/>
            </p:nvSpPr>
            <p:spPr bwMode="auto">
              <a:xfrm>
                <a:off x="10150475" y="6049963"/>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38" name="Freeform 37">
                <a:extLst>
                  <a:ext uri="{FF2B5EF4-FFF2-40B4-BE49-F238E27FC236}">
                    <a16:creationId xmlns:a16="http://schemas.microsoft.com/office/drawing/2014/main" id="{4496FB95-FF48-44C5-8A84-EA25F0DE2BAE}"/>
                  </a:ext>
                </a:extLst>
              </p:cNvPr>
              <p:cNvSpPr>
                <a:spLocks noEditPoints="1"/>
              </p:cNvSpPr>
              <p:nvPr/>
            </p:nvSpPr>
            <p:spPr bwMode="auto">
              <a:xfrm>
                <a:off x="10150475" y="42195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39" name="Freeform 38">
                <a:extLst>
                  <a:ext uri="{FF2B5EF4-FFF2-40B4-BE49-F238E27FC236}">
                    <a16:creationId xmlns:a16="http://schemas.microsoft.com/office/drawing/2014/main" id="{276B9B64-9131-4AAE-B9FF-E412E55817B0}"/>
                  </a:ext>
                </a:extLst>
              </p:cNvPr>
              <p:cNvSpPr>
                <a:spLocks noEditPoints="1"/>
              </p:cNvSpPr>
              <p:nvPr/>
            </p:nvSpPr>
            <p:spPr bwMode="auto">
              <a:xfrm>
                <a:off x="10150475" y="4886325"/>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40" name="Freeform 39">
                <a:extLst>
                  <a:ext uri="{FF2B5EF4-FFF2-40B4-BE49-F238E27FC236}">
                    <a16:creationId xmlns:a16="http://schemas.microsoft.com/office/drawing/2014/main" id="{7581C431-7708-454E-A880-F28093B6CF47}"/>
                  </a:ext>
                </a:extLst>
              </p:cNvPr>
              <p:cNvSpPr>
                <a:spLocks noEditPoints="1"/>
              </p:cNvSpPr>
              <p:nvPr/>
            </p:nvSpPr>
            <p:spPr bwMode="auto">
              <a:xfrm>
                <a:off x="10150475" y="314801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41" name="Rectangle 40">
                <a:extLst>
                  <a:ext uri="{FF2B5EF4-FFF2-40B4-BE49-F238E27FC236}">
                    <a16:creationId xmlns:a16="http://schemas.microsoft.com/office/drawing/2014/main" id="{D2E8318B-BB50-4792-855D-70AAF9E01B88}"/>
                  </a:ext>
                </a:extLst>
              </p:cNvPr>
              <p:cNvSpPr>
                <a:spLocks noChangeArrowheads="1"/>
              </p:cNvSpPr>
              <p:nvPr/>
            </p:nvSpPr>
            <p:spPr bwMode="auto">
              <a:xfrm>
                <a:off x="10272713" y="6337300"/>
                <a:ext cx="90488" cy="520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42" name="Freeform 41">
                <a:extLst>
                  <a:ext uri="{FF2B5EF4-FFF2-40B4-BE49-F238E27FC236}">
                    <a16:creationId xmlns:a16="http://schemas.microsoft.com/office/drawing/2014/main" id="{A6E29741-B7FB-4378-9F65-6B22B6393FD8}"/>
                  </a:ext>
                </a:extLst>
              </p:cNvPr>
              <p:cNvSpPr>
                <a:spLocks noEditPoints="1"/>
              </p:cNvSpPr>
              <p:nvPr/>
            </p:nvSpPr>
            <p:spPr bwMode="auto">
              <a:xfrm>
                <a:off x="10533063" y="656431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9"/>
                      <a:pt x="0" y="44"/>
                    </a:cubicBezTo>
                    <a:cubicBezTo>
                      <a:pt x="0" y="20"/>
                      <a:pt x="20" y="0"/>
                      <a:pt x="44" y="0"/>
                    </a:cubicBezTo>
                    <a:cubicBezTo>
                      <a:pt x="68" y="0"/>
                      <a:pt x="88" y="20"/>
                      <a:pt x="88" y="44"/>
                    </a:cubicBezTo>
                    <a:cubicBezTo>
                      <a:pt x="88" y="69"/>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43" name="Rectangle 42">
                <a:extLst>
                  <a:ext uri="{FF2B5EF4-FFF2-40B4-BE49-F238E27FC236}">
                    <a16:creationId xmlns:a16="http://schemas.microsoft.com/office/drawing/2014/main" id="{C5CF7F24-F480-4687-9E3F-9F527758D8AD}"/>
                  </a:ext>
                </a:extLst>
              </p:cNvPr>
              <p:cNvSpPr>
                <a:spLocks noChangeArrowheads="1"/>
              </p:cNvSpPr>
              <p:nvPr/>
            </p:nvSpPr>
            <p:spPr bwMode="auto">
              <a:xfrm>
                <a:off x="10655300" y="5784850"/>
                <a:ext cx="90488" cy="8255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44" name="Rectangle 43">
                <a:extLst>
                  <a:ext uri="{FF2B5EF4-FFF2-40B4-BE49-F238E27FC236}">
                    <a16:creationId xmlns:a16="http://schemas.microsoft.com/office/drawing/2014/main" id="{5301977F-C754-47C5-AA24-960811674C8A}"/>
                  </a:ext>
                </a:extLst>
              </p:cNvPr>
              <p:cNvSpPr>
                <a:spLocks noChangeArrowheads="1"/>
              </p:cNvSpPr>
              <p:nvPr/>
            </p:nvSpPr>
            <p:spPr bwMode="auto">
              <a:xfrm>
                <a:off x="4762500" y="5299075"/>
                <a:ext cx="90488" cy="53657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45" name="Rectangle 44">
                <a:extLst>
                  <a:ext uri="{FF2B5EF4-FFF2-40B4-BE49-F238E27FC236}">
                    <a16:creationId xmlns:a16="http://schemas.microsoft.com/office/drawing/2014/main" id="{D00554FD-DAB0-46D1-A428-30427AF02EEE}"/>
                  </a:ext>
                </a:extLst>
              </p:cNvPr>
              <p:cNvSpPr>
                <a:spLocks noChangeArrowheads="1"/>
              </p:cNvSpPr>
              <p:nvPr/>
            </p:nvSpPr>
            <p:spPr bwMode="auto">
              <a:xfrm>
                <a:off x="10272713" y="3386138"/>
                <a:ext cx="90488" cy="877888"/>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46" name="Freeform 45">
                <a:extLst>
                  <a:ext uri="{FF2B5EF4-FFF2-40B4-BE49-F238E27FC236}">
                    <a16:creationId xmlns:a16="http://schemas.microsoft.com/office/drawing/2014/main" id="{ED93F65E-E922-4B58-9CCF-C7BABEDDAEA9}"/>
                  </a:ext>
                </a:extLst>
              </p:cNvPr>
              <p:cNvSpPr>
                <a:spLocks noEditPoints="1"/>
              </p:cNvSpPr>
              <p:nvPr/>
            </p:nvSpPr>
            <p:spPr bwMode="auto">
              <a:xfrm>
                <a:off x="10150475" y="25717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9"/>
                      <a:pt x="0" y="44"/>
                    </a:cubicBezTo>
                    <a:cubicBezTo>
                      <a:pt x="0" y="20"/>
                      <a:pt x="20" y="0"/>
                      <a:pt x="44" y="0"/>
                    </a:cubicBezTo>
                    <a:cubicBezTo>
                      <a:pt x="68" y="0"/>
                      <a:pt x="88" y="20"/>
                      <a:pt x="88" y="44"/>
                    </a:cubicBezTo>
                    <a:cubicBezTo>
                      <a:pt x="88" y="69"/>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47" name="Freeform 46">
                <a:extLst>
                  <a:ext uri="{FF2B5EF4-FFF2-40B4-BE49-F238E27FC236}">
                    <a16:creationId xmlns:a16="http://schemas.microsoft.com/office/drawing/2014/main" id="{8D7DC1AB-0DE0-4711-88EB-94F03254755D}"/>
                  </a:ext>
                </a:extLst>
              </p:cNvPr>
              <p:cNvSpPr>
                <a:spLocks noEditPoints="1"/>
              </p:cNvSpPr>
              <p:nvPr/>
            </p:nvSpPr>
            <p:spPr bwMode="auto">
              <a:xfrm>
                <a:off x="10150475" y="15001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48" name="Freeform 47">
                <a:extLst>
                  <a:ext uri="{FF2B5EF4-FFF2-40B4-BE49-F238E27FC236}">
                    <a16:creationId xmlns:a16="http://schemas.microsoft.com/office/drawing/2014/main" id="{059E3498-692E-4B0D-A35B-ACFF56981E00}"/>
                  </a:ext>
                </a:extLst>
              </p:cNvPr>
              <p:cNvSpPr>
                <a:spLocks noEditPoints="1"/>
              </p:cNvSpPr>
              <p:nvPr/>
            </p:nvSpPr>
            <p:spPr bwMode="auto">
              <a:xfrm>
                <a:off x="4217988" y="49371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9" y="0"/>
                      <a:pt x="88" y="19"/>
                      <a:pt x="88" y="44"/>
                    </a:cubicBezTo>
                    <a:cubicBezTo>
                      <a:pt x="88" y="68"/>
                      <a:pt x="69"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49" name="Freeform 48">
                <a:extLst>
                  <a:ext uri="{FF2B5EF4-FFF2-40B4-BE49-F238E27FC236}">
                    <a16:creationId xmlns:a16="http://schemas.microsoft.com/office/drawing/2014/main" id="{78E17970-4FF5-4BF7-8202-CAFF63919C45}"/>
                  </a:ext>
                </a:extLst>
              </p:cNvPr>
              <p:cNvSpPr>
                <a:spLocks noEditPoints="1"/>
              </p:cNvSpPr>
              <p:nvPr/>
            </p:nvSpPr>
            <p:spPr bwMode="auto">
              <a:xfrm>
                <a:off x="1489075" y="192881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20"/>
                      <a:pt x="19" y="0"/>
                      <a:pt x="44" y="0"/>
                    </a:cubicBezTo>
                    <a:cubicBezTo>
                      <a:pt x="68" y="0"/>
                      <a:pt x="88" y="20"/>
                      <a:pt x="88" y="44"/>
                    </a:cubicBezTo>
                    <a:cubicBezTo>
                      <a:pt x="88" y="68"/>
                      <a:pt x="68" y="88"/>
                      <a:pt x="44" y="88"/>
                    </a:cubicBezTo>
                    <a:close/>
                    <a:moveTo>
                      <a:pt x="44" y="24"/>
                    </a:moveTo>
                    <a:cubicBezTo>
                      <a:pt x="32" y="24"/>
                      <a:pt x="24" y="33"/>
                      <a:pt x="24" y="44"/>
                    </a:cubicBezTo>
                    <a:cubicBezTo>
                      <a:pt x="24" y="55"/>
                      <a:pt x="32"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50" name="Freeform 49">
                <a:extLst>
                  <a:ext uri="{FF2B5EF4-FFF2-40B4-BE49-F238E27FC236}">
                    <a16:creationId xmlns:a16="http://schemas.microsoft.com/office/drawing/2014/main" id="{249D29B8-38D6-4376-B97F-22469EB14898}"/>
                  </a:ext>
                </a:extLst>
              </p:cNvPr>
              <p:cNvSpPr>
                <a:spLocks noEditPoints="1"/>
              </p:cNvSpPr>
              <p:nvPr/>
            </p:nvSpPr>
            <p:spPr bwMode="auto">
              <a:xfrm>
                <a:off x="10393363" y="5080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51" name="Rectangle 50">
                <a:extLst>
                  <a:ext uri="{FF2B5EF4-FFF2-40B4-BE49-F238E27FC236}">
                    <a16:creationId xmlns:a16="http://schemas.microsoft.com/office/drawing/2014/main" id="{08DA4A68-B020-46A0-9DAC-0026F78A529F}"/>
                  </a:ext>
                </a:extLst>
              </p:cNvPr>
              <p:cNvSpPr>
                <a:spLocks noChangeArrowheads="1"/>
              </p:cNvSpPr>
              <p:nvPr/>
            </p:nvSpPr>
            <p:spPr bwMode="auto">
              <a:xfrm>
                <a:off x="10272713" y="1743075"/>
                <a:ext cx="90488" cy="8747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52" name="Freeform 51">
                <a:extLst>
                  <a:ext uri="{FF2B5EF4-FFF2-40B4-BE49-F238E27FC236}">
                    <a16:creationId xmlns:a16="http://schemas.microsoft.com/office/drawing/2014/main" id="{D38154DF-11ED-44D4-97EC-5F1C2DE7876D}"/>
                  </a:ext>
                </a:extLst>
              </p:cNvPr>
              <p:cNvSpPr>
                <a:spLocks noEditPoints="1"/>
              </p:cNvSpPr>
              <p:nvPr/>
            </p:nvSpPr>
            <p:spPr bwMode="auto">
              <a:xfrm>
                <a:off x="3508375" y="7810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53" name="Rectangle 52">
                <a:extLst>
                  <a:ext uri="{FF2B5EF4-FFF2-40B4-BE49-F238E27FC236}">
                    <a16:creationId xmlns:a16="http://schemas.microsoft.com/office/drawing/2014/main" id="{15B6BD74-0BD5-463F-B5FA-E61B17F97C3C}"/>
                  </a:ext>
                </a:extLst>
              </p:cNvPr>
              <p:cNvSpPr>
                <a:spLocks noChangeArrowheads="1"/>
              </p:cNvSpPr>
              <p:nvPr/>
            </p:nvSpPr>
            <p:spPr bwMode="auto">
              <a:xfrm>
                <a:off x="3630613" y="0"/>
                <a:ext cx="90488" cy="827087"/>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54" name="Freeform 53">
                <a:extLst>
                  <a:ext uri="{FF2B5EF4-FFF2-40B4-BE49-F238E27FC236}">
                    <a16:creationId xmlns:a16="http://schemas.microsoft.com/office/drawing/2014/main" id="{C8347EAE-1694-4A39-947E-57064CC46AB2}"/>
                  </a:ext>
                </a:extLst>
              </p:cNvPr>
              <p:cNvSpPr>
                <a:spLocks noEditPoints="1"/>
              </p:cNvSpPr>
              <p:nvPr/>
            </p:nvSpPr>
            <p:spPr bwMode="auto">
              <a:xfrm>
                <a:off x="330200" y="234473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55" name="Freeform 54">
                <a:extLst>
                  <a:ext uri="{FF2B5EF4-FFF2-40B4-BE49-F238E27FC236}">
                    <a16:creationId xmlns:a16="http://schemas.microsoft.com/office/drawing/2014/main" id="{175C7674-BCFC-4CEA-928B-19E69913E7A0}"/>
                  </a:ext>
                </a:extLst>
              </p:cNvPr>
              <p:cNvSpPr>
                <a:spLocks noEditPoints="1"/>
              </p:cNvSpPr>
              <p:nvPr/>
            </p:nvSpPr>
            <p:spPr bwMode="auto">
              <a:xfrm>
                <a:off x="330200" y="12700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56" name="Rectangle 55">
                <a:extLst>
                  <a:ext uri="{FF2B5EF4-FFF2-40B4-BE49-F238E27FC236}">
                    <a16:creationId xmlns:a16="http://schemas.microsoft.com/office/drawing/2014/main" id="{62024AD6-50A7-4F40-AEEB-08E26FBE666A}"/>
                  </a:ext>
                </a:extLst>
              </p:cNvPr>
              <p:cNvSpPr>
                <a:spLocks noChangeArrowheads="1"/>
              </p:cNvSpPr>
              <p:nvPr/>
            </p:nvSpPr>
            <p:spPr bwMode="auto">
              <a:xfrm>
                <a:off x="450850" y="1511300"/>
                <a:ext cx="90488" cy="87947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57" name="Freeform 56">
                <a:extLst>
                  <a:ext uri="{FF2B5EF4-FFF2-40B4-BE49-F238E27FC236}">
                    <a16:creationId xmlns:a16="http://schemas.microsoft.com/office/drawing/2014/main" id="{DB4EF13E-DBD0-4744-9529-B52EBFCF454A}"/>
                  </a:ext>
                </a:extLst>
              </p:cNvPr>
              <p:cNvSpPr>
                <a:spLocks noEditPoints="1"/>
              </p:cNvSpPr>
              <p:nvPr/>
            </p:nvSpPr>
            <p:spPr bwMode="auto">
              <a:xfrm>
                <a:off x="330200" y="57626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9"/>
                      <a:pt x="0" y="44"/>
                    </a:cubicBezTo>
                    <a:cubicBezTo>
                      <a:pt x="0" y="20"/>
                      <a:pt x="20" y="0"/>
                      <a:pt x="44" y="0"/>
                    </a:cubicBezTo>
                    <a:cubicBezTo>
                      <a:pt x="68" y="0"/>
                      <a:pt x="88" y="20"/>
                      <a:pt x="88" y="44"/>
                    </a:cubicBezTo>
                    <a:cubicBezTo>
                      <a:pt x="88" y="69"/>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58" name="Rectangle 57">
                <a:extLst>
                  <a:ext uri="{FF2B5EF4-FFF2-40B4-BE49-F238E27FC236}">
                    <a16:creationId xmlns:a16="http://schemas.microsoft.com/office/drawing/2014/main" id="{696600C0-B38A-45E4-87AA-35E515E14E26}"/>
                  </a:ext>
                </a:extLst>
              </p:cNvPr>
              <p:cNvSpPr>
                <a:spLocks noChangeArrowheads="1"/>
              </p:cNvSpPr>
              <p:nvPr/>
            </p:nvSpPr>
            <p:spPr bwMode="auto">
              <a:xfrm>
                <a:off x="450850" y="0"/>
                <a:ext cx="90488" cy="6223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59" name="Freeform 58">
                <a:extLst>
                  <a:ext uri="{FF2B5EF4-FFF2-40B4-BE49-F238E27FC236}">
                    <a16:creationId xmlns:a16="http://schemas.microsoft.com/office/drawing/2014/main" id="{D1363D1B-4325-437A-9EA4-AD21040F329A}"/>
                  </a:ext>
                </a:extLst>
              </p:cNvPr>
              <p:cNvSpPr>
                <a:spLocks noEditPoints="1"/>
              </p:cNvSpPr>
              <p:nvPr/>
            </p:nvSpPr>
            <p:spPr bwMode="auto">
              <a:xfrm>
                <a:off x="11199813" y="251936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60" name="Rectangle 59">
                <a:extLst>
                  <a:ext uri="{FF2B5EF4-FFF2-40B4-BE49-F238E27FC236}">
                    <a16:creationId xmlns:a16="http://schemas.microsoft.com/office/drawing/2014/main" id="{EA069C20-9137-45BC-8E8B-76DE88571DAD}"/>
                  </a:ext>
                </a:extLst>
              </p:cNvPr>
              <p:cNvSpPr>
                <a:spLocks noChangeArrowheads="1"/>
              </p:cNvSpPr>
              <p:nvPr/>
            </p:nvSpPr>
            <p:spPr bwMode="auto">
              <a:xfrm>
                <a:off x="11322050" y="2806700"/>
                <a:ext cx="90488" cy="18669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61" name="Freeform 60">
                <a:extLst>
                  <a:ext uri="{FF2B5EF4-FFF2-40B4-BE49-F238E27FC236}">
                    <a16:creationId xmlns:a16="http://schemas.microsoft.com/office/drawing/2014/main" id="{0BD43229-65BD-4B2F-A95A-558BA028993B}"/>
                  </a:ext>
                </a:extLst>
              </p:cNvPr>
              <p:cNvSpPr>
                <a:spLocks/>
              </p:cNvSpPr>
              <p:nvPr/>
            </p:nvSpPr>
            <p:spPr bwMode="auto">
              <a:xfrm>
                <a:off x="10612438" y="679450"/>
                <a:ext cx="1579562" cy="415925"/>
              </a:xfrm>
              <a:custGeom>
                <a:avLst/>
                <a:gdLst>
                  <a:gd name="T0" fmla="*/ 934 w 934"/>
                  <a:gd name="T1" fmla="*/ 262 h 262"/>
                  <a:gd name="T2" fmla="*/ 308 w 934"/>
                  <a:gd name="T3" fmla="*/ 262 h 262"/>
                  <a:gd name="T4" fmla="*/ 0 w 934"/>
                  <a:gd name="T5" fmla="*/ 47 h 262"/>
                  <a:gd name="T6" fmla="*/ 34 w 934"/>
                  <a:gd name="T7" fmla="*/ 0 h 262"/>
                  <a:gd name="T8" fmla="*/ 325 w 934"/>
                  <a:gd name="T9" fmla="*/ 205 h 262"/>
                  <a:gd name="T10" fmla="*/ 934 w 934"/>
                  <a:gd name="T11" fmla="*/ 205 h 262"/>
                  <a:gd name="T12" fmla="*/ 934 w 934"/>
                  <a:gd name="T13" fmla="*/ 262 h 262"/>
                </a:gdLst>
                <a:ahLst/>
                <a:cxnLst>
                  <a:cxn ang="0">
                    <a:pos x="T0" y="T1"/>
                  </a:cxn>
                  <a:cxn ang="0">
                    <a:pos x="T2" y="T3"/>
                  </a:cxn>
                  <a:cxn ang="0">
                    <a:pos x="T4" y="T5"/>
                  </a:cxn>
                  <a:cxn ang="0">
                    <a:pos x="T6" y="T7"/>
                  </a:cxn>
                  <a:cxn ang="0">
                    <a:pos x="T8" y="T9"/>
                  </a:cxn>
                  <a:cxn ang="0">
                    <a:pos x="T10" y="T11"/>
                  </a:cxn>
                  <a:cxn ang="0">
                    <a:pos x="T12" y="T13"/>
                  </a:cxn>
                </a:cxnLst>
                <a:rect l="0" t="0" r="r" b="b"/>
                <a:pathLst>
                  <a:path w="934" h="262">
                    <a:moveTo>
                      <a:pt x="934" y="262"/>
                    </a:moveTo>
                    <a:lnTo>
                      <a:pt x="308" y="262"/>
                    </a:lnTo>
                    <a:lnTo>
                      <a:pt x="0" y="47"/>
                    </a:lnTo>
                    <a:lnTo>
                      <a:pt x="34" y="0"/>
                    </a:lnTo>
                    <a:lnTo>
                      <a:pt x="325" y="205"/>
                    </a:lnTo>
                    <a:lnTo>
                      <a:pt x="934" y="205"/>
                    </a:lnTo>
                    <a:lnTo>
                      <a:pt x="934" y="262"/>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62" name="Freeform 61">
                <a:extLst>
                  <a:ext uri="{FF2B5EF4-FFF2-40B4-BE49-F238E27FC236}">
                    <a16:creationId xmlns:a16="http://schemas.microsoft.com/office/drawing/2014/main" id="{95146E0B-94B0-4131-99A1-E3B0B1C70388}"/>
                  </a:ext>
                </a:extLst>
              </p:cNvPr>
              <p:cNvSpPr>
                <a:spLocks noEditPoints="1"/>
              </p:cNvSpPr>
              <p:nvPr/>
            </p:nvSpPr>
            <p:spPr bwMode="auto">
              <a:xfrm>
                <a:off x="10988675" y="18859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63" name="Freeform 62">
                <a:extLst>
                  <a:ext uri="{FF2B5EF4-FFF2-40B4-BE49-F238E27FC236}">
                    <a16:creationId xmlns:a16="http://schemas.microsoft.com/office/drawing/2014/main" id="{3948B8C7-6DAE-4078-AF75-A61FB92A022F}"/>
                  </a:ext>
                </a:extLst>
              </p:cNvPr>
              <p:cNvSpPr>
                <a:spLocks/>
              </p:cNvSpPr>
              <p:nvPr/>
            </p:nvSpPr>
            <p:spPr bwMode="auto">
              <a:xfrm>
                <a:off x="11207750" y="2057400"/>
                <a:ext cx="1000125" cy="2082800"/>
              </a:xfrm>
              <a:custGeom>
                <a:avLst/>
                <a:gdLst>
                  <a:gd name="T0" fmla="*/ 599 w 630"/>
                  <a:gd name="T1" fmla="*/ 1312 h 1312"/>
                  <a:gd name="T2" fmla="*/ 287 w 630"/>
                  <a:gd name="T3" fmla="*/ 1092 h 1312"/>
                  <a:gd name="T4" fmla="*/ 287 w 630"/>
                  <a:gd name="T5" fmla="*/ 627 h 1312"/>
                  <a:gd name="T6" fmla="*/ 289 w 630"/>
                  <a:gd name="T7" fmla="*/ 627 h 1312"/>
                  <a:gd name="T8" fmla="*/ 289 w 630"/>
                  <a:gd name="T9" fmla="*/ 248 h 1312"/>
                  <a:gd name="T10" fmla="*/ 0 w 630"/>
                  <a:gd name="T11" fmla="*/ 47 h 1312"/>
                  <a:gd name="T12" fmla="*/ 34 w 630"/>
                  <a:gd name="T13" fmla="*/ 0 h 1312"/>
                  <a:gd name="T14" fmla="*/ 346 w 630"/>
                  <a:gd name="T15" fmla="*/ 219 h 1312"/>
                  <a:gd name="T16" fmla="*/ 346 w 630"/>
                  <a:gd name="T17" fmla="*/ 684 h 1312"/>
                  <a:gd name="T18" fmla="*/ 344 w 630"/>
                  <a:gd name="T19" fmla="*/ 684 h 1312"/>
                  <a:gd name="T20" fmla="*/ 344 w 630"/>
                  <a:gd name="T21" fmla="*/ 1064 h 1312"/>
                  <a:gd name="T22" fmla="*/ 630 w 630"/>
                  <a:gd name="T23" fmla="*/ 1264 h 1312"/>
                  <a:gd name="T24" fmla="*/ 599 w 630"/>
                  <a:gd name="T25" fmla="*/ 1312 h 1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30" h="1312">
                    <a:moveTo>
                      <a:pt x="599" y="1312"/>
                    </a:moveTo>
                    <a:lnTo>
                      <a:pt x="287" y="1092"/>
                    </a:lnTo>
                    <a:lnTo>
                      <a:pt x="287" y="627"/>
                    </a:lnTo>
                    <a:lnTo>
                      <a:pt x="289" y="627"/>
                    </a:lnTo>
                    <a:lnTo>
                      <a:pt x="289" y="248"/>
                    </a:lnTo>
                    <a:lnTo>
                      <a:pt x="0" y="47"/>
                    </a:lnTo>
                    <a:lnTo>
                      <a:pt x="34" y="0"/>
                    </a:lnTo>
                    <a:lnTo>
                      <a:pt x="346" y="219"/>
                    </a:lnTo>
                    <a:lnTo>
                      <a:pt x="346" y="684"/>
                    </a:lnTo>
                    <a:lnTo>
                      <a:pt x="344" y="684"/>
                    </a:lnTo>
                    <a:lnTo>
                      <a:pt x="344" y="1064"/>
                    </a:lnTo>
                    <a:lnTo>
                      <a:pt x="630" y="1264"/>
                    </a:lnTo>
                    <a:lnTo>
                      <a:pt x="599" y="1312"/>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64" name="Freeform 63">
                <a:extLst>
                  <a:ext uri="{FF2B5EF4-FFF2-40B4-BE49-F238E27FC236}">
                    <a16:creationId xmlns:a16="http://schemas.microsoft.com/office/drawing/2014/main" id="{C37C1290-C35E-4FF3-8738-2A5095FBE7FF}"/>
                  </a:ext>
                </a:extLst>
              </p:cNvPr>
              <p:cNvSpPr>
                <a:spLocks noEditPoints="1"/>
              </p:cNvSpPr>
              <p:nvPr/>
            </p:nvSpPr>
            <p:spPr bwMode="auto">
              <a:xfrm>
                <a:off x="11322050" y="4886325"/>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65" name="Freeform 64">
                <a:extLst>
                  <a:ext uri="{FF2B5EF4-FFF2-40B4-BE49-F238E27FC236}">
                    <a16:creationId xmlns:a16="http://schemas.microsoft.com/office/drawing/2014/main" id="{7129FBFD-E0AF-47A6-A6AC-4E4EC37889DA}"/>
                  </a:ext>
                </a:extLst>
              </p:cNvPr>
              <p:cNvSpPr>
                <a:spLocks noEditPoints="1"/>
              </p:cNvSpPr>
              <p:nvPr/>
            </p:nvSpPr>
            <p:spPr bwMode="auto">
              <a:xfrm>
                <a:off x="10814050" y="41656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66" name="Freeform 65">
                <a:extLst>
                  <a:ext uri="{FF2B5EF4-FFF2-40B4-BE49-F238E27FC236}">
                    <a16:creationId xmlns:a16="http://schemas.microsoft.com/office/drawing/2014/main" id="{98139BEA-E093-4187-9E74-ED925AA442BA}"/>
                  </a:ext>
                </a:extLst>
              </p:cNvPr>
              <p:cNvSpPr>
                <a:spLocks/>
              </p:cNvSpPr>
              <p:nvPr/>
            </p:nvSpPr>
            <p:spPr bwMode="auto">
              <a:xfrm>
                <a:off x="10674350" y="4102100"/>
                <a:ext cx="265113" cy="223838"/>
              </a:xfrm>
              <a:custGeom>
                <a:avLst/>
                <a:gdLst>
                  <a:gd name="T0" fmla="*/ 133 w 167"/>
                  <a:gd name="T1" fmla="*/ 141 h 141"/>
                  <a:gd name="T2" fmla="*/ 0 w 167"/>
                  <a:gd name="T3" fmla="*/ 47 h 141"/>
                  <a:gd name="T4" fmla="*/ 33 w 167"/>
                  <a:gd name="T5" fmla="*/ 0 h 141"/>
                  <a:gd name="T6" fmla="*/ 167 w 167"/>
                  <a:gd name="T7" fmla="*/ 93 h 141"/>
                  <a:gd name="T8" fmla="*/ 133 w 167"/>
                  <a:gd name="T9" fmla="*/ 141 h 141"/>
                </a:gdLst>
                <a:ahLst/>
                <a:cxnLst>
                  <a:cxn ang="0">
                    <a:pos x="T0" y="T1"/>
                  </a:cxn>
                  <a:cxn ang="0">
                    <a:pos x="T2" y="T3"/>
                  </a:cxn>
                  <a:cxn ang="0">
                    <a:pos x="T4" y="T5"/>
                  </a:cxn>
                  <a:cxn ang="0">
                    <a:pos x="T6" y="T7"/>
                  </a:cxn>
                  <a:cxn ang="0">
                    <a:pos x="T8" y="T9"/>
                  </a:cxn>
                </a:cxnLst>
                <a:rect l="0" t="0" r="r" b="b"/>
                <a:pathLst>
                  <a:path w="167" h="141">
                    <a:moveTo>
                      <a:pt x="133" y="141"/>
                    </a:moveTo>
                    <a:lnTo>
                      <a:pt x="0" y="47"/>
                    </a:lnTo>
                    <a:lnTo>
                      <a:pt x="33" y="0"/>
                    </a:lnTo>
                    <a:lnTo>
                      <a:pt x="167" y="93"/>
                    </a:lnTo>
                    <a:lnTo>
                      <a:pt x="133" y="141"/>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67" name="Freeform 66">
                <a:extLst>
                  <a:ext uri="{FF2B5EF4-FFF2-40B4-BE49-F238E27FC236}">
                    <a16:creationId xmlns:a16="http://schemas.microsoft.com/office/drawing/2014/main" id="{CAB512FA-1838-4739-840F-40D14B9B5790}"/>
                  </a:ext>
                </a:extLst>
              </p:cNvPr>
              <p:cNvSpPr>
                <a:spLocks noEditPoints="1"/>
              </p:cNvSpPr>
              <p:nvPr/>
            </p:nvSpPr>
            <p:spPr bwMode="auto">
              <a:xfrm>
                <a:off x="10814050" y="3648075"/>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68" name="Freeform 67">
                <a:extLst>
                  <a:ext uri="{FF2B5EF4-FFF2-40B4-BE49-F238E27FC236}">
                    <a16:creationId xmlns:a16="http://schemas.microsoft.com/office/drawing/2014/main" id="{1130BD22-E335-4968-8533-6D3BF3CB6D35}"/>
                  </a:ext>
                </a:extLst>
              </p:cNvPr>
              <p:cNvSpPr>
                <a:spLocks/>
              </p:cNvSpPr>
              <p:nvPr/>
            </p:nvSpPr>
            <p:spPr bwMode="auto">
              <a:xfrm>
                <a:off x="10674350" y="3582988"/>
                <a:ext cx="265113" cy="223838"/>
              </a:xfrm>
              <a:custGeom>
                <a:avLst/>
                <a:gdLst>
                  <a:gd name="T0" fmla="*/ 133 w 167"/>
                  <a:gd name="T1" fmla="*/ 141 h 141"/>
                  <a:gd name="T2" fmla="*/ 0 w 167"/>
                  <a:gd name="T3" fmla="*/ 45 h 141"/>
                  <a:gd name="T4" fmla="*/ 33 w 167"/>
                  <a:gd name="T5" fmla="*/ 0 h 141"/>
                  <a:gd name="T6" fmla="*/ 167 w 167"/>
                  <a:gd name="T7" fmla="*/ 93 h 141"/>
                  <a:gd name="T8" fmla="*/ 133 w 167"/>
                  <a:gd name="T9" fmla="*/ 141 h 141"/>
                </a:gdLst>
                <a:ahLst/>
                <a:cxnLst>
                  <a:cxn ang="0">
                    <a:pos x="T0" y="T1"/>
                  </a:cxn>
                  <a:cxn ang="0">
                    <a:pos x="T2" y="T3"/>
                  </a:cxn>
                  <a:cxn ang="0">
                    <a:pos x="T4" y="T5"/>
                  </a:cxn>
                  <a:cxn ang="0">
                    <a:pos x="T6" y="T7"/>
                  </a:cxn>
                  <a:cxn ang="0">
                    <a:pos x="T8" y="T9"/>
                  </a:cxn>
                </a:cxnLst>
                <a:rect l="0" t="0" r="r" b="b"/>
                <a:pathLst>
                  <a:path w="167" h="141">
                    <a:moveTo>
                      <a:pt x="133" y="141"/>
                    </a:moveTo>
                    <a:lnTo>
                      <a:pt x="0" y="45"/>
                    </a:lnTo>
                    <a:lnTo>
                      <a:pt x="33" y="0"/>
                    </a:lnTo>
                    <a:lnTo>
                      <a:pt x="167" y="93"/>
                    </a:lnTo>
                    <a:lnTo>
                      <a:pt x="133" y="141"/>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69" name="Freeform 68">
                <a:extLst>
                  <a:ext uri="{FF2B5EF4-FFF2-40B4-BE49-F238E27FC236}">
                    <a16:creationId xmlns:a16="http://schemas.microsoft.com/office/drawing/2014/main" id="{9F96E7DA-7B79-473D-BDC5-E43145ECF4B1}"/>
                  </a:ext>
                </a:extLst>
              </p:cNvPr>
              <p:cNvSpPr>
                <a:spLocks noEditPoints="1"/>
              </p:cNvSpPr>
              <p:nvPr/>
            </p:nvSpPr>
            <p:spPr bwMode="auto">
              <a:xfrm>
                <a:off x="10814050" y="31242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9"/>
                      <a:pt x="0" y="44"/>
                    </a:cubicBezTo>
                    <a:cubicBezTo>
                      <a:pt x="0" y="20"/>
                      <a:pt x="20" y="0"/>
                      <a:pt x="44" y="0"/>
                    </a:cubicBezTo>
                    <a:cubicBezTo>
                      <a:pt x="68" y="0"/>
                      <a:pt x="88" y="20"/>
                      <a:pt x="88" y="44"/>
                    </a:cubicBezTo>
                    <a:cubicBezTo>
                      <a:pt x="88" y="69"/>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70" name="Freeform 69">
                <a:extLst>
                  <a:ext uri="{FF2B5EF4-FFF2-40B4-BE49-F238E27FC236}">
                    <a16:creationId xmlns:a16="http://schemas.microsoft.com/office/drawing/2014/main" id="{2D9491AE-5070-4E5C-91CF-8A07DAB1D84B}"/>
                  </a:ext>
                </a:extLst>
              </p:cNvPr>
              <p:cNvSpPr>
                <a:spLocks/>
              </p:cNvSpPr>
              <p:nvPr/>
            </p:nvSpPr>
            <p:spPr bwMode="auto">
              <a:xfrm>
                <a:off x="10674350" y="3060700"/>
                <a:ext cx="265113" cy="223838"/>
              </a:xfrm>
              <a:custGeom>
                <a:avLst/>
                <a:gdLst>
                  <a:gd name="T0" fmla="*/ 133 w 167"/>
                  <a:gd name="T1" fmla="*/ 141 h 141"/>
                  <a:gd name="T2" fmla="*/ 0 w 167"/>
                  <a:gd name="T3" fmla="*/ 48 h 141"/>
                  <a:gd name="T4" fmla="*/ 33 w 167"/>
                  <a:gd name="T5" fmla="*/ 0 h 141"/>
                  <a:gd name="T6" fmla="*/ 167 w 167"/>
                  <a:gd name="T7" fmla="*/ 95 h 141"/>
                  <a:gd name="T8" fmla="*/ 133 w 167"/>
                  <a:gd name="T9" fmla="*/ 141 h 141"/>
                </a:gdLst>
                <a:ahLst/>
                <a:cxnLst>
                  <a:cxn ang="0">
                    <a:pos x="T0" y="T1"/>
                  </a:cxn>
                  <a:cxn ang="0">
                    <a:pos x="T2" y="T3"/>
                  </a:cxn>
                  <a:cxn ang="0">
                    <a:pos x="T4" y="T5"/>
                  </a:cxn>
                  <a:cxn ang="0">
                    <a:pos x="T6" y="T7"/>
                  </a:cxn>
                  <a:cxn ang="0">
                    <a:pos x="T8" y="T9"/>
                  </a:cxn>
                </a:cxnLst>
                <a:rect l="0" t="0" r="r" b="b"/>
                <a:pathLst>
                  <a:path w="167" h="141">
                    <a:moveTo>
                      <a:pt x="133" y="141"/>
                    </a:moveTo>
                    <a:lnTo>
                      <a:pt x="0" y="48"/>
                    </a:lnTo>
                    <a:lnTo>
                      <a:pt x="33" y="0"/>
                    </a:lnTo>
                    <a:lnTo>
                      <a:pt x="167" y="95"/>
                    </a:lnTo>
                    <a:lnTo>
                      <a:pt x="133" y="141"/>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71" name="Rectangle 70">
                <a:extLst>
                  <a:ext uri="{FF2B5EF4-FFF2-40B4-BE49-F238E27FC236}">
                    <a16:creationId xmlns:a16="http://schemas.microsoft.com/office/drawing/2014/main" id="{FC01A0C4-7879-49F5-B60C-13671494649D}"/>
                  </a:ext>
                </a:extLst>
              </p:cNvPr>
              <p:cNvSpPr>
                <a:spLocks noChangeArrowheads="1"/>
              </p:cNvSpPr>
              <p:nvPr/>
            </p:nvSpPr>
            <p:spPr bwMode="auto">
              <a:xfrm>
                <a:off x="10680700" y="1620838"/>
                <a:ext cx="1511300" cy="9207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72" name="Freeform 71">
                <a:extLst>
                  <a:ext uri="{FF2B5EF4-FFF2-40B4-BE49-F238E27FC236}">
                    <a16:creationId xmlns:a16="http://schemas.microsoft.com/office/drawing/2014/main" id="{64729636-3E26-4AB5-90A6-184E2D5D9FB4}"/>
                  </a:ext>
                </a:extLst>
              </p:cNvPr>
              <p:cNvSpPr>
                <a:spLocks/>
              </p:cNvSpPr>
              <p:nvPr/>
            </p:nvSpPr>
            <p:spPr bwMode="auto">
              <a:xfrm>
                <a:off x="1273175" y="4249738"/>
                <a:ext cx="2024063" cy="1271588"/>
              </a:xfrm>
              <a:custGeom>
                <a:avLst/>
                <a:gdLst>
                  <a:gd name="T0" fmla="*/ 850 w 1275"/>
                  <a:gd name="T1" fmla="*/ 801 h 801"/>
                  <a:gd name="T2" fmla="*/ 0 w 1275"/>
                  <a:gd name="T3" fmla="*/ 801 h 801"/>
                  <a:gd name="T4" fmla="*/ 0 w 1275"/>
                  <a:gd name="T5" fmla="*/ 744 h 801"/>
                  <a:gd name="T6" fmla="*/ 792 w 1275"/>
                  <a:gd name="T7" fmla="*/ 744 h 801"/>
                  <a:gd name="T8" fmla="*/ 792 w 1275"/>
                  <a:gd name="T9" fmla="*/ 0 h 801"/>
                  <a:gd name="T10" fmla="*/ 1275 w 1275"/>
                  <a:gd name="T11" fmla="*/ 0 h 801"/>
                  <a:gd name="T12" fmla="*/ 1275 w 1275"/>
                  <a:gd name="T13" fmla="*/ 57 h 801"/>
                  <a:gd name="T14" fmla="*/ 850 w 1275"/>
                  <a:gd name="T15" fmla="*/ 57 h 801"/>
                  <a:gd name="T16" fmla="*/ 850 w 1275"/>
                  <a:gd name="T17" fmla="*/ 801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5" h="801">
                    <a:moveTo>
                      <a:pt x="850" y="801"/>
                    </a:moveTo>
                    <a:lnTo>
                      <a:pt x="0" y="801"/>
                    </a:lnTo>
                    <a:lnTo>
                      <a:pt x="0" y="744"/>
                    </a:lnTo>
                    <a:lnTo>
                      <a:pt x="792" y="744"/>
                    </a:lnTo>
                    <a:lnTo>
                      <a:pt x="792" y="0"/>
                    </a:lnTo>
                    <a:lnTo>
                      <a:pt x="1275" y="0"/>
                    </a:lnTo>
                    <a:lnTo>
                      <a:pt x="1275" y="57"/>
                    </a:lnTo>
                    <a:lnTo>
                      <a:pt x="850" y="57"/>
                    </a:lnTo>
                    <a:lnTo>
                      <a:pt x="850" y="801"/>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73" name="Freeform 72">
                <a:extLst>
                  <a:ext uri="{FF2B5EF4-FFF2-40B4-BE49-F238E27FC236}">
                    <a16:creationId xmlns:a16="http://schemas.microsoft.com/office/drawing/2014/main" id="{ED6BF77E-38FC-44B3-B9ED-55E9BBAB2324}"/>
                  </a:ext>
                </a:extLst>
              </p:cNvPr>
              <p:cNvSpPr>
                <a:spLocks/>
              </p:cNvSpPr>
              <p:nvPr/>
            </p:nvSpPr>
            <p:spPr bwMode="auto">
              <a:xfrm>
                <a:off x="2724150" y="0"/>
                <a:ext cx="573088" cy="2647950"/>
              </a:xfrm>
              <a:custGeom>
                <a:avLst/>
                <a:gdLst>
                  <a:gd name="T0" fmla="*/ 0 w 361"/>
                  <a:gd name="T1" fmla="*/ 1689 h 1689"/>
                  <a:gd name="T2" fmla="*/ 0 w 361"/>
                  <a:gd name="T3" fmla="*/ 0 h 1689"/>
                  <a:gd name="T4" fmla="*/ 57 w 361"/>
                  <a:gd name="T5" fmla="*/ 0 h 1689"/>
                  <a:gd name="T6" fmla="*/ 57 w 361"/>
                  <a:gd name="T7" fmla="*/ 1632 h 1689"/>
                  <a:gd name="T8" fmla="*/ 361 w 361"/>
                  <a:gd name="T9" fmla="*/ 1632 h 1689"/>
                  <a:gd name="T10" fmla="*/ 361 w 361"/>
                  <a:gd name="T11" fmla="*/ 1689 h 1689"/>
                  <a:gd name="T12" fmla="*/ 0 w 361"/>
                  <a:gd name="T13" fmla="*/ 1689 h 1689"/>
                </a:gdLst>
                <a:ahLst/>
                <a:cxnLst>
                  <a:cxn ang="0">
                    <a:pos x="T0" y="T1"/>
                  </a:cxn>
                  <a:cxn ang="0">
                    <a:pos x="T2" y="T3"/>
                  </a:cxn>
                  <a:cxn ang="0">
                    <a:pos x="T4" y="T5"/>
                  </a:cxn>
                  <a:cxn ang="0">
                    <a:pos x="T6" y="T7"/>
                  </a:cxn>
                  <a:cxn ang="0">
                    <a:pos x="T8" y="T9"/>
                  </a:cxn>
                  <a:cxn ang="0">
                    <a:pos x="T10" y="T11"/>
                  </a:cxn>
                  <a:cxn ang="0">
                    <a:pos x="T12" y="T13"/>
                  </a:cxn>
                </a:cxnLst>
                <a:rect l="0" t="0" r="r" b="b"/>
                <a:pathLst>
                  <a:path w="361" h="1689">
                    <a:moveTo>
                      <a:pt x="0" y="1689"/>
                    </a:moveTo>
                    <a:lnTo>
                      <a:pt x="0" y="0"/>
                    </a:lnTo>
                    <a:lnTo>
                      <a:pt x="57" y="0"/>
                    </a:lnTo>
                    <a:lnTo>
                      <a:pt x="57" y="1632"/>
                    </a:lnTo>
                    <a:lnTo>
                      <a:pt x="361" y="1632"/>
                    </a:lnTo>
                    <a:lnTo>
                      <a:pt x="361" y="1689"/>
                    </a:lnTo>
                    <a:lnTo>
                      <a:pt x="0" y="1689"/>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74" name="Freeform 73">
                <a:extLst>
                  <a:ext uri="{FF2B5EF4-FFF2-40B4-BE49-F238E27FC236}">
                    <a16:creationId xmlns:a16="http://schemas.microsoft.com/office/drawing/2014/main" id="{B473B3F3-47F1-4AB3-8017-BCBA74E03F81}"/>
                  </a:ext>
                </a:extLst>
              </p:cNvPr>
              <p:cNvSpPr>
                <a:spLocks/>
              </p:cNvSpPr>
              <p:nvPr/>
            </p:nvSpPr>
            <p:spPr bwMode="auto">
              <a:xfrm>
                <a:off x="0" y="3829050"/>
                <a:ext cx="3297238" cy="1273175"/>
              </a:xfrm>
              <a:custGeom>
                <a:avLst/>
                <a:gdLst>
                  <a:gd name="T0" fmla="*/ 1387 w 1996"/>
                  <a:gd name="T1" fmla="*/ 802 h 802"/>
                  <a:gd name="T2" fmla="*/ 0 w 1996"/>
                  <a:gd name="T3" fmla="*/ 802 h 802"/>
                  <a:gd name="T4" fmla="*/ 0 w 1996"/>
                  <a:gd name="T5" fmla="*/ 744 h 802"/>
                  <a:gd name="T6" fmla="*/ 1330 w 1996"/>
                  <a:gd name="T7" fmla="*/ 744 h 802"/>
                  <a:gd name="T8" fmla="*/ 1330 w 1996"/>
                  <a:gd name="T9" fmla="*/ 0 h 802"/>
                  <a:gd name="T10" fmla="*/ 1996 w 1996"/>
                  <a:gd name="T11" fmla="*/ 0 h 802"/>
                  <a:gd name="T12" fmla="*/ 1996 w 1996"/>
                  <a:gd name="T13" fmla="*/ 57 h 802"/>
                  <a:gd name="T14" fmla="*/ 1387 w 1996"/>
                  <a:gd name="T15" fmla="*/ 57 h 802"/>
                  <a:gd name="T16" fmla="*/ 1387 w 1996"/>
                  <a:gd name="T17" fmla="*/ 802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96" h="802">
                    <a:moveTo>
                      <a:pt x="1387" y="802"/>
                    </a:moveTo>
                    <a:lnTo>
                      <a:pt x="0" y="802"/>
                    </a:lnTo>
                    <a:lnTo>
                      <a:pt x="0" y="744"/>
                    </a:lnTo>
                    <a:lnTo>
                      <a:pt x="1330" y="744"/>
                    </a:lnTo>
                    <a:lnTo>
                      <a:pt x="1330" y="0"/>
                    </a:lnTo>
                    <a:lnTo>
                      <a:pt x="1996" y="0"/>
                    </a:lnTo>
                    <a:lnTo>
                      <a:pt x="1996" y="57"/>
                    </a:lnTo>
                    <a:lnTo>
                      <a:pt x="1387" y="57"/>
                    </a:lnTo>
                    <a:lnTo>
                      <a:pt x="1387" y="802"/>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75" name="Freeform 74">
                <a:extLst>
                  <a:ext uri="{FF2B5EF4-FFF2-40B4-BE49-F238E27FC236}">
                    <a16:creationId xmlns:a16="http://schemas.microsoft.com/office/drawing/2014/main" id="{7CE66EF3-289C-4950-9DB0-9219D54E8205}"/>
                  </a:ext>
                </a:extLst>
              </p:cNvPr>
              <p:cNvSpPr>
                <a:spLocks/>
              </p:cNvSpPr>
              <p:nvPr/>
            </p:nvSpPr>
            <p:spPr bwMode="auto">
              <a:xfrm>
                <a:off x="457200" y="3905250"/>
                <a:ext cx="417513" cy="309563"/>
              </a:xfrm>
              <a:custGeom>
                <a:avLst/>
                <a:gdLst>
                  <a:gd name="T0" fmla="*/ 234 w 263"/>
                  <a:gd name="T1" fmla="*/ 195 h 195"/>
                  <a:gd name="T2" fmla="*/ 0 w 263"/>
                  <a:gd name="T3" fmla="*/ 47 h 195"/>
                  <a:gd name="T4" fmla="*/ 29 w 263"/>
                  <a:gd name="T5" fmla="*/ 0 h 195"/>
                  <a:gd name="T6" fmla="*/ 263 w 263"/>
                  <a:gd name="T7" fmla="*/ 145 h 195"/>
                  <a:gd name="T8" fmla="*/ 234 w 263"/>
                  <a:gd name="T9" fmla="*/ 195 h 195"/>
                </a:gdLst>
                <a:ahLst/>
                <a:cxnLst>
                  <a:cxn ang="0">
                    <a:pos x="T0" y="T1"/>
                  </a:cxn>
                  <a:cxn ang="0">
                    <a:pos x="T2" y="T3"/>
                  </a:cxn>
                  <a:cxn ang="0">
                    <a:pos x="T4" y="T5"/>
                  </a:cxn>
                  <a:cxn ang="0">
                    <a:pos x="T6" y="T7"/>
                  </a:cxn>
                  <a:cxn ang="0">
                    <a:pos x="T8" y="T9"/>
                  </a:cxn>
                </a:cxnLst>
                <a:rect l="0" t="0" r="r" b="b"/>
                <a:pathLst>
                  <a:path w="263" h="195">
                    <a:moveTo>
                      <a:pt x="234" y="195"/>
                    </a:moveTo>
                    <a:lnTo>
                      <a:pt x="0" y="47"/>
                    </a:lnTo>
                    <a:lnTo>
                      <a:pt x="29" y="0"/>
                    </a:lnTo>
                    <a:lnTo>
                      <a:pt x="263" y="145"/>
                    </a:lnTo>
                    <a:lnTo>
                      <a:pt x="234" y="195"/>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76" name="Freeform 75">
                <a:extLst>
                  <a:ext uri="{FF2B5EF4-FFF2-40B4-BE49-F238E27FC236}">
                    <a16:creationId xmlns:a16="http://schemas.microsoft.com/office/drawing/2014/main" id="{317682EF-F710-44C2-BF31-73747B56BA7A}"/>
                  </a:ext>
                </a:extLst>
              </p:cNvPr>
              <p:cNvSpPr>
                <a:spLocks/>
              </p:cNvSpPr>
              <p:nvPr/>
            </p:nvSpPr>
            <p:spPr bwMode="auto">
              <a:xfrm>
                <a:off x="1227138" y="2692400"/>
                <a:ext cx="2070100" cy="803275"/>
              </a:xfrm>
              <a:custGeom>
                <a:avLst/>
                <a:gdLst>
                  <a:gd name="T0" fmla="*/ 1304 w 1304"/>
                  <a:gd name="T1" fmla="*/ 506 h 506"/>
                  <a:gd name="T2" fmla="*/ 275 w 1304"/>
                  <a:gd name="T3" fmla="*/ 506 h 506"/>
                  <a:gd name="T4" fmla="*/ 0 w 1304"/>
                  <a:gd name="T5" fmla="*/ 353 h 506"/>
                  <a:gd name="T6" fmla="*/ 0 w 1304"/>
                  <a:gd name="T7" fmla="*/ 0 h 506"/>
                  <a:gd name="T8" fmla="*/ 58 w 1304"/>
                  <a:gd name="T9" fmla="*/ 0 h 506"/>
                  <a:gd name="T10" fmla="*/ 58 w 1304"/>
                  <a:gd name="T11" fmla="*/ 320 h 506"/>
                  <a:gd name="T12" fmla="*/ 289 w 1304"/>
                  <a:gd name="T13" fmla="*/ 449 h 506"/>
                  <a:gd name="T14" fmla="*/ 1304 w 1304"/>
                  <a:gd name="T15" fmla="*/ 449 h 506"/>
                  <a:gd name="T16" fmla="*/ 1304 w 1304"/>
                  <a:gd name="T17" fmla="*/ 506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4" h="506">
                    <a:moveTo>
                      <a:pt x="1304" y="506"/>
                    </a:moveTo>
                    <a:lnTo>
                      <a:pt x="275" y="506"/>
                    </a:lnTo>
                    <a:lnTo>
                      <a:pt x="0" y="353"/>
                    </a:lnTo>
                    <a:lnTo>
                      <a:pt x="0" y="0"/>
                    </a:lnTo>
                    <a:lnTo>
                      <a:pt x="58" y="0"/>
                    </a:lnTo>
                    <a:lnTo>
                      <a:pt x="58" y="320"/>
                    </a:lnTo>
                    <a:lnTo>
                      <a:pt x="289" y="449"/>
                    </a:lnTo>
                    <a:lnTo>
                      <a:pt x="1304" y="449"/>
                    </a:lnTo>
                    <a:lnTo>
                      <a:pt x="1304" y="506"/>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77" name="Rectangle 76">
                <a:extLst>
                  <a:ext uri="{FF2B5EF4-FFF2-40B4-BE49-F238E27FC236}">
                    <a16:creationId xmlns:a16="http://schemas.microsoft.com/office/drawing/2014/main" id="{84A00AF0-E731-446B-8322-61A5AE0FF6AE}"/>
                  </a:ext>
                </a:extLst>
              </p:cNvPr>
              <p:cNvSpPr>
                <a:spLocks noChangeArrowheads="1"/>
              </p:cNvSpPr>
              <p:nvPr/>
            </p:nvSpPr>
            <p:spPr bwMode="auto">
              <a:xfrm>
                <a:off x="4338638" y="781050"/>
                <a:ext cx="90488" cy="82867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78" name="Rectangle 77">
                <a:extLst>
                  <a:ext uri="{FF2B5EF4-FFF2-40B4-BE49-F238E27FC236}">
                    <a16:creationId xmlns:a16="http://schemas.microsoft.com/office/drawing/2014/main" id="{52EC7BA4-1633-4F98-A2A3-AE097EAE157E}"/>
                  </a:ext>
                </a:extLst>
              </p:cNvPr>
              <p:cNvSpPr>
                <a:spLocks noChangeArrowheads="1"/>
              </p:cNvSpPr>
              <p:nvPr/>
            </p:nvSpPr>
            <p:spPr bwMode="auto">
              <a:xfrm>
                <a:off x="4762500" y="0"/>
                <a:ext cx="90488" cy="160972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79" name="Rectangle 78">
                <a:extLst>
                  <a:ext uri="{FF2B5EF4-FFF2-40B4-BE49-F238E27FC236}">
                    <a16:creationId xmlns:a16="http://schemas.microsoft.com/office/drawing/2014/main" id="{F61A0D3A-8CB9-42A7-89E3-BCE78260260E}"/>
                  </a:ext>
                </a:extLst>
              </p:cNvPr>
              <p:cNvSpPr>
                <a:spLocks noChangeArrowheads="1"/>
              </p:cNvSpPr>
              <p:nvPr/>
            </p:nvSpPr>
            <p:spPr bwMode="auto">
              <a:xfrm>
                <a:off x="5187950" y="1"/>
                <a:ext cx="90488" cy="1609726"/>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80" name="Freeform 79">
                <a:extLst>
                  <a:ext uri="{FF2B5EF4-FFF2-40B4-BE49-F238E27FC236}">
                    <a16:creationId xmlns:a16="http://schemas.microsoft.com/office/drawing/2014/main" id="{19411E09-7A62-4C1A-AD96-6A81A55090B8}"/>
                  </a:ext>
                </a:extLst>
              </p:cNvPr>
              <p:cNvSpPr>
                <a:spLocks/>
              </p:cNvSpPr>
              <p:nvPr/>
            </p:nvSpPr>
            <p:spPr bwMode="auto">
              <a:xfrm>
                <a:off x="6461125" y="0"/>
                <a:ext cx="284163" cy="1609725"/>
              </a:xfrm>
              <a:custGeom>
                <a:avLst/>
                <a:gdLst>
                  <a:gd name="T0" fmla="*/ 57 w 179"/>
                  <a:gd name="T1" fmla="*/ 1035 h 1035"/>
                  <a:gd name="T2" fmla="*/ 0 w 179"/>
                  <a:gd name="T3" fmla="*/ 1035 h 1035"/>
                  <a:gd name="T4" fmla="*/ 0 w 179"/>
                  <a:gd name="T5" fmla="*/ 725 h 1035"/>
                  <a:gd name="T6" fmla="*/ 121 w 179"/>
                  <a:gd name="T7" fmla="*/ 506 h 1035"/>
                  <a:gd name="T8" fmla="*/ 121 w 179"/>
                  <a:gd name="T9" fmla="*/ 0 h 1035"/>
                  <a:gd name="T10" fmla="*/ 179 w 179"/>
                  <a:gd name="T11" fmla="*/ 0 h 1035"/>
                  <a:gd name="T12" fmla="*/ 179 w 179"/>
                  <a:gd name="T13" fmla="*/ 520 h 1035"/>
                  <a:gd name="T14" fmla="*/ 57 w 179"/>
                  <a:gd name="T15" fmla="*/ 740 h 1035"/>
                  <a:gd name="T16" fmla="*/ 57 w 179"/>
                  <a:gd name="T17" fmla="*/ 1035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1035">
                    <a:moveTo>
                      <a:pt x="57" y="1035"/>
                    </a:moveTo>
                    <a:lnTo>
                      <a:pt x="0" y="1035"/>
                    </a:lnTo>
                    <a:lnTo>
                      <a:pt x="0" y="725"/>
                    </a:lnTo>
                    <a:lnTo>
                      <a:pt x="121" y="506"/>
                    </a:lnTo>
                    <a:lnTo>
                      <a:pt x="121" y="0"/>
                    </a:lnTo>
                    <a:lnTo>
                      <a:pt x="179" y="0"/>
                    </a:lnTo>
                    <a:lnTo>
                      <a:pt x="179" y="520"/>
                    </a:lnTo>
                    <a:lnTo>
                      <a:pt x="57" y="740"/>
                    </a:lnTo>
                    <a:lnTo>
                      <a:pt x="57" y="1035"/>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81" name="Freeform 80">
                <a:extLst>
                  <a:ext uri="{FF2B5EF4-FFF2-40B4-BE49-F238E27FC236}">
                    <a16:creationId xmlns:a16="http://schemas.microsoft.com/office/drawing/2014/main" id="{F1BC7555-0A88-4B84-AB35-D78FAFC66220}"/>
                  </a:ext>
                </a:extLst>
              </p:cNvPr>
              <p:cNvSpPr>
                <a:spLocks/>
              </p:cNvSpPr>
              <p:nvPr/>
            </p:nvSpPr>
            <p:spPr bwMode="auto">
              <a:xfrm>
                <a:off x="5842000" y="0"/>
                <a:ext cx="284163" cy="1609725"/>
              </a:xfrm>
              <a:custGeom>
                <a:avLst/>
                <a:gdLst>
                  <a:gd name="T0" fmla="*/ 179 w 179"/>
                  <a:gd name="T1" fmla="*/ 1035 h 1035"/>
                  <a:gd name="T2" fmla="*/ 122 w 179"/>
                  <a:gd name="T3" fmla="*/ 1035 h 1035"/>
                  <a:gd name="T4" fmla="*/ 122 w 179"/>
                  <a:gd name="T5" fmla="*/ 740 h 1035"/>
                  <a:gd name="T6" fmla="*/ 0 w 179"/>
                  <a:gd name="T7" fmla="*/ 520 h 1035"/>
                  <a:gd name="T8" fmla="*/ 0 w 179"/>
                  <a:gd name="T9" fmla="*/ 0 h 1035"/>
                  <a:gd name="T10" fmla="*/ 58 w 179"/>
                  <a:gd name="T11" fmla="*/ 0 h 1035"/>
                  <a:gd name="T12" fmla="*/ 58 w 179"/>
                  <a:gd name="T13" fmla="*/ 506 h 1035"/>
                  <a:gd name="T14" fmla="*/ 179 w 179"/>
                  <a:gd name="T15" fmla="*/ 725 h 1035"/>
                  <a:gd name="T16" fmla="*/ 179 w 179"/>
                  <a:gd name="T17" fmla="*/ 1035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1035">
                    <a:moveTo>
                      <a:pt x="179" y="1035"/>
                    </a:moveTo>
                    <a:lnTo>
                      <a:pt x="122" y="1035"/>
                    </a:lnTo>
                    <a:lnTo>
                      <a:pt x="122" y="740"/>
                    </a:lnTo>
                    <a:lnTo>
                      <a:pt x="0" y="520"/>
                    </a:lnTo>
                    <a:lnTo>
                      <a:pt x="0" y="0"/>
                    </a:lnTo>
                    <a:lnTo>
                      <a:pt x="58" y="0"/>
                    </a:lnTo>
                    <a:lnTo>
                      <a:pt x="58" y="506"/>
                    </a:lnTo>
                    <a:lnTo>
                      <a:pt x="179" y="725"/>
                    </a:lnTo>
                    <a:lnTo>
                      <a:pt x="179" y="1035"/>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82" name="Freeform 81">
                <a:extLst>
                  <a:ext uri="{FF2B5EF4-FFF2-40B4-BE49-F238E27FC236}">
                    <a16:creationId xmlns:a16="http://schemas.microsoft.com/office/drawing/2014/main" id="{DBA56DF2-9C0C-48DA-A2C8-C1973B265D36}"/>
                  </a:ext>
                </a:extLst>
              </p:cNvPr>
              <p:cNvSpPr>
                <a:spLocks/>
              </p:cNvSpPr>
              <p:nvPr/>
            </p:nvSpPr>
            <p:spPr bwMode="auto">
              <a:xfrm>
                <a:off x="5418138" y="0"/>
                <a:ext cx="284163" cy="1609725"/>
              </a:xfrm>
              <a:custGeom>
                <a:avLst/>
                <a:gdLst>
                  <a:gd name="T0" fmla="*/ 179 w 179"/>
                  <a:gd name="T1" fmla="*/ 1035 h 1035"/>
                  <a:gd name="T2" fmla="*/ 122 w 179"/>
                  <a:gd name="T3" fmla="*/ 1035 h 1035"/>
                  <a:gd name="T4" fmla="*/ 122 w 179"/>
                  <a:gd name="T5" fmla="*/ 740 h 1035"/>
                  <a:gd name="T6" fmla="*/ 0 w 179"/>
                  <a:gd name="T7" fmla="*/ 520 h 1035"/>
                  <a:gd name="T8" fmla="*/ 0 w 179"/>
                  <a:gd name="T9" fmla="*/ 0 h 1035"/>
                  <a:gd name="T10" fmla="*/ 57 w 179"/>
                  <a:gd name="T11" fmla="*/ 0 h 1035"/>
                  <a:gd name="T12" fmla="*/ 57 w 179"/>
                  <a:gd name="T13" fmla="*/ 506 h 1035"/>
                  <a:gd name="T14" fmla="*/ 179 w 179"/>
                  <a:gd name="T15" fmla="*/ 725 h 1035"/>
                  <a:gd name="T16" fmla="*/ 179 w 179"/>
                  <a:gd name="T17" fmla="*/ 1035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1035">
                    <a:moveTo>
                      <a:pt x="179" y="1035"/>
                    </a:moveTo>
                    <a:lnTo>
                      <a:pt x="122" y="1035"/>
                    </a:lnTo>
                    <a:lnTo>
                      <a:pt x="122" y="740"/>
                    </a:lnTo>
                    <a:lnTo>
                      <a:pt x="0" y="520"/>
                    </a:lnTo>
                    <a:lnTo>
                      <a:pt x="0" y="0"/>
                    </a:lnTo>
                    <a:lnTo>
                      <a:pt x="57" y="0"/>
                    </a:lnTo>
                    <a:lnTo>
                      <a:pt x="57" y="506"/>
                    </a:lnTo>
                    <a:lnTo>
                      <a:pt x="179" y="725"/>
                    </a:lnTo>
                    <a:lnTo>
                      <a:pt x="179" y="1035"/>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83" name="Freeform 82">
                <a:extLst>
                  <a:ext uri="{FF2B5EF4-FFF2-40B4-BE49-F238E27FC236}">
                    <a16:creationId xmlns:a16="http://schemas.microsoft.com/office/drawing/2014/main" id="{61897DC2-F356-407A-8F30-C047E7DA8621}"/>
                  </a:ext>
                </a:extLst>
              </p:cNvPr>
              <p:cNvSpPr>
                <a:spLocks/>
              </p:cNvSpPr>
              <p:nvPr/>
            </p:nvSpPr>
            <p:spPr bwMode="auto">
              <a:xfrm>
                <a:off x="6884988" y="0"/>
                <a:ext cx="284163" cy="1609725"/>
              </a:xfrm>
              <a:custGeom>
                <a:avLst/>
                <a:gdLst>
                  <a:gd name="T0" fmla="*/ 57 w 179"/>
                  <a:gd name="T1" fmla="*/ 1035 h 1035"/>
                  <a:gd name="T2" fmla="*/ 0 w 179"/>
                  <a:gd name="T3" fmla="*/ 1035 h 1035"/>
                  <a:gd name="T4" fmla="*/ 0 w 179"/>
                  <a:gd name="T5" fmla="*/ 725 h 1035"/>
                  <a:gd name="T6" fmla="*/ 122 w 179"/>
                  <a:gd name="T7" fmla="*/ 506 h 1035"/>
                  <a:gd name="T8" fmla="*/ 122 w 179"/>
                  <a:gd name="T9" fmla="*/ 0 h 1035"/>
                  <a:gd name="T10" fmla="*/ 179 w 179"/>
                  <a:gd name="T11" fmla="*/ 0 h 1035"/>
                  <a:gd name="T12" fmla="*/ 179 w 179"/>
                  <a:gd name="T13" fmla="*/ 520 h 1035"/>
                  <a:gd name="T14" fmla="*/ 57 w 179"/>
                  <a:gd name="T15" fmla="*/ 740 h 1035"/>
                  <a:gd name="T16" fmla="*/ 57 w 179"/>
                  <a:gd name="T17" fmla="*/ 1035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1035">
                    <a:moveTo>
                      <a:pt x="57" y="1035"/>
                    </a:moveTo>
                    <a:lnTo>
                      <a:pt x="0" y="1035"/>
                    </a:lnTo>
                    <a:lnTo>
                      <a:pt x="0" y="725"/>
                    </a:lnTo>
                    <a:lnTo>
                      <a:pt x="122" y="506"/>
                    </a:lnTo>
                    <a:lnTo>
                      <a:pt x="122" y="0"/>
                    </a:lnTo>
                    <a:lnTo>
                      <a:pt x="179" y="0"/>
                    </a:lnTo>
                    <a:lnTo>
                      <a:pt x="179" y="520"/>
                    </a:lnTo>
                    <a:lnTo>
                      <a:pt x="57" y="740"/>
                    </a:lnTo>
                    <a:lnTo>
                      <a:pt x="57" y="1035"/>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84" name="Freeform 83">
                <a:extLst>
                  <a:ext uri="{FF2B5EF4-FFF2-40B4-BE49-F238E27FC236}">
                    <a16:creationId xmlns:a16="http://schemas.microsoft.com/office/drawing/2014/main" id="{5FDBBE59-ED6B-409D-B74A-71A9BB19DE79}"/>
                  </a:ext>
                </a:extLst>
              </p:cNvPr>
              <p:cNvSpPr>
                <a:spLocks/>
              </p:cNvSpPr>
              <p:nvPr/>
            </p:nvSpPr>
            <p:spPr bwMode="auto">
              <a:xfrm>
                <a:off x="7308850" y="0"/>
                <a:ext cx="284163" cy="1609725"/>
              </a:xfrm>
              <a:custGeom>
                <a:avLst/>
                <a:gdLst>
                  <a:gd name="T0" fmla="*/ 57 w 179"/>
                  <a:gd name="T1" fmla="*/ 1035 h 1035"/>
                  <a:gd name="T2" fmla="*/ 0 w 179"/>
                  <a:gd name="T3" fmla="*/ 1035 h 1035"/>
                  <a:gd name="T4" fmla="*/ 0 w 179"/>
                  <a:gd name="T5" fmla="*/ 725 h 1035"/>
                  <a:gd name="T6" fmla="*/ 122 w 179"/>
                  <a:gd name="T7" fmla="*/ 506 h 1035"/>
                  <a:gd name="T8" fmla="*/ 122 w 179"/>
                  <a:gd name="T9" fmla="*/ 0 h 1035"/>
                  <a:gd name="T10" fmla="*/ 179 w 179"/>
                  <a:gd name="T11" fmla="*/ 0 h 1035"/>
                  <a:gd name="T12" fmla="*/ 179 w 179"/>
                  <a:gd name="T13" fmla="*/ 520 h 1035"/>
                  <a:gd name="T14" fmla="*/ 57 w 179"/>
                  <a:gd name="T15" fmla="*/ 740 h 1035"/>
                  <a:gd name="T16" fmla="*/ 57 w 179"/>
                  <a:gd name="T17" fmla="*/ 1035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1035">
                    <a:moveTo>
                      <a:pt x="57" y="1035"/>
                    </a:moveTo>
                    <a:lnTo>
                      <a:pt x="0" y="1035"/>
                    </a:lnTo>
                    <a:lnTo>
                      <a:pt x="0" y="725"/>
                    </a:lnTo>
                    <a:lnTo>
                      <a:pt x="122" y="506"/>
                    </a:lnTo>
                    <a:lnTo>
                      <a:pt x="122" y="0"/>
                    </a:lnTo>
                    <a:lnTo>
                      <a:pt x="179" y="0"/>
                    </a:lnTo>
                    <a:lnTo>
                      <a:pt x="179" y="520"/>
                    </a:lnTo>
                    <a:lnTo>
                      <a:pt x="57" y="740"/>
                    </a:lnTo>
                    <a:lnTo>
                      <a:pt x="57" y="1035"/>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85" name="Freeform 84">
                <a:extLst>
                  <a:ext uri="{FF2B5EF4-FFF2-40B4-BE49-F238E27FC236}">
                    <a16:creationId xmlns:a16="http://schemas.microsoft.com/office/drawing/2014/main" id="{0EE0B35A-A3D0-4C9B-B565-8CD90AE9A2E5}"/>
                  </a:ext>
                </a:extLst>
              </p:cNvPr>
              <p:cNvSpPr>
                <a:spLocks/>
              </p:cNvSpPr>
              <p:nvPr/>
            </p:nvSpPr>
            <p:spPr bwMode="auto">
              <a:xfrm>
                <a:off x="7732713" y="76200"/>
                <a:ext cx="2854325" cy="1544638"/>
              </a:xfrm>
              <a:custGeom>
                <a:avLst/>
                <a:gdLst>
                  <a:gd name="T0" fmla="*/ 55 w 1798"/>
                  <a:gd name="T1" fmla="*/ 973 h 973"/>
                  <a:gd name="T2" fmla="*/ 0 w 1798"/>
                  <a:gd name="T3" fmla="*/ 959 h 973"/>
                  <a:gd name="T4" fmla="*/ 134 w 1798"/>
                  <a:gd name="T5" fmla="*/ 415 h 973"/>
                  <a:gd name="T6" fmla="*/ 1132 w 1798"/>
                  <a:gd name="T7" fmla="*/ 415 h 973"/>
                  <a:gd name="T8" fmla="*/ 1767 w 1798"/>
                  <a:gd name="T9" fmla="*/ 0 h 973"/>
                  <a:gd name="T10" fmla="*/ 1798 w 1798"/>
                  <a:gd name="T11" fmla="*/ 48 h 973"/>
                  <a:gd name="T12" fmla="*/ 1149 w 1798"/>
                  <a:gd name="T13" fmla="*/ 473 h 973"/>
                  <a:gd name="T14" fmla="*/ 177 w 1798"/>
                  <a:gd name="T15" fmla="*/ 473 h 973"/>
                  <a:gd name="T16" fmla="*/ 55 w 1798"/>
                  <a:gd name="T17" fmla="*/ 973 h 9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8" h="973">
                    <a:moveTo>
                      <a:pt x="55" y="973"/>
                    </a:moveTo>
                    <a:lnTo>
                      <a:pt x="0" y="959"/>
                    </a:lnTo>
                    <a:lnTo>
                      <a:pt x="134" y="415"/>
                    </a:lnTo>
                    <a:lnTo>
                      <a:pt x="1132" y="415"/>
                    </a:lnTo>
                    <a:lnTo>
                      <a:pt x="1767" y="0"/>
                    </a:lnTo>
                    <a:lnTo>
                      <a:pt x="1798" y="48"/>
                    </a:lnTo>
                    <a:lnTo>
                      <a:pt x="1149" y="473"/>
                    </a:lnTo>
                    <a:lnTo>
                      <a:pt x="177" y="473"/>
                    </a:lnTo>
                    <a:lnTo>
                      <a:pt x="55" y="973"/>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86" name="Freeform 85">
                <a:extLst>
                  <a:ext uri="{FF2B5EF4-FFF2-40B4-BE49-F238E27FC236}">
                    <a16:creationId xmlns:a16="http://schemas.microsoft.com/office/drawing/2014/main" id="{E8A56942-BBA2-4937-B475-87644034E554}"/>
                  </a:ext>
                </a:extLst>
              </p:cNvPr>
              <p:cNvSpPr>
                <a:spLocks/>
              </p:cNvSpPr>
              <p:nvPr/>
            </p:nvSpPr>
            <p:spPr bwMode="auto">
              <a:xfrm>
                <a:off x="1281113" y="280988"/>
                <a:ext cx="704850" cy="1768475"/>
              </a:xfrm>
              <a:custGeom>
                <a:avLst/>
                <a:gdLst>
                  <a:gd name="T0" fmla="*/ 174 w 444"/>
                  <a:gd name="T1" fmla="*/ 1114 h 1114"/>
                  <a:gd name="T2" fmla="*/ 0 w 444"/>
                  <a:gd name="T3" fmla="*/ 895 h 1114"/>
                  <a:gd name="T4" fmla="*/ 0 w 444"/>
                  <a:gd name="T5" fmla="*/ 432 h 1114"/>
                  <a:gd name="T6" fmla="*/ 401 w 444"/>
                  <a:gd name="T7" fmla="*/ 0 h 1114"/>
                  <a:gd name="T8" fmla="*/ 444 w 444"/>
                  <a:gd name="T9" fmla="*/ 38 h 1114"/>
                  <a:gd name="T10" fmla="*/ 57 w 444"/>
                  <a:gd name="T11" fmla="*/ 456 h 1114"/>
                  <a:gd name="T12" fmla="*/ 57 w 444"/>
                  <a:gd name="T13" fmla="*/ 875 h 1114"/>
                  <a:gd name="T14" fmla="*/ 219 w 444"/>
                  <a:gd name="T15" fmla="*/ 1078 h 1114"/>
                  <a:gd name="T16" fmla="*/ 174 w 444"/>
                  <a:gd name="T17" fmla="*/ 1114 h 1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4" h="1114">
                    <a:moveTo>
                      <a:pt x="174" y="1114"/>
                    </a:moveTo>
                    <a:lnTo>
                      <a:pt x="0" y="895"/>
                    </a:lnTo>
                    <a:lnTo>
                      <a:pt x="0" y="432"/>
                    </a:lnTo>
                    <a:lnTo>
                      <a:pt x="401" y="0"/>
                    </a:lnTo>
                    <a:lnTo>
                      <a:pt x="444" y="38"/>
                    </a:lnTo>
                    <a:lnTo>
                      <a:pt x="57" y="456"/>
                    </a:lnTo>
                    <a:lnTo>
                      <a:pt x="57" y="875"/>
                    </a:lnTo>
                    <a:lnTo>
                      <a:pt x="219" y="1078"/>
                    </a:lnTo>
                    <a:lnTo>
                      <a:pt x="174" y="1114"/>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87" name="Freeform 86">
                <a:extLst>
                  <a:ext uri="{FF2B5EF4-FFF2-40B4-BE49-F238E27FC236}">
                    <a16:creationId xmlns:a16="http://schemas.microsoft.com/office/drawing/2014/main" id="{F0513F09-28E8-4A3F-BECB-5757BE2D8065}"/>
                  </a:ext>
                </a:extLst>
              </p:cNvPr>
              <p:cNvSpPr>
                <a:spLocks noEditPoints="1"/>
              </p:cNvSpPr>
              <p:nvPr/>
            </p:nvSpPr>
            <p:spPr bwMode="auto">
              <a:xfrm>
                <a:off x="2109788" y="192881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88" name="Freeform 87">
                <a:extLst>
                  <a:ext uri="{FF2B5EF4-FFF2-40B4-BE49-F238E27FC236}">
                    <a16:creationId xmlns:a16="http://schemas.microsoft.com/office/drawing/2014/main" id="{A6A31E92-08B8-420C-9187-E022BA8D1FFF}"/>
                  </a:ext>
                </a:extLst>
              </p:cNvPr>
              <p:cNvSpPr>
                <a:spLocks/>
              </p:cNvSpPr>
              <p:nvPr/>
            </p:nvSpPr>
            <p:spPr bwMode="auto">
              <a:xfrm>
                <a:off x="1906588" y="114300"/>
                <a:ext cx="347663" cy="1935163"/>
              </a:xfrm>
              <a:custGeom>
                <a:avLst/>
                <a:gdLst>
                  <a:gd name="T0" fmla="*/ 174 w 219"/>
                  <a:gd name="T1" fmla="*/ 1219 h 1219"/>
                  <a:gd name="T2" fmla="*/ 0 w 219"/>
                  <a:gd name="T3" fmla="*/ 1000 h 1219"/>
                  <a:gd name="T4" fmla="*/ 0 w 219"/>
                  <a:gd name="T5" fmla="*/ 0 h 1219"/>
                  <a:gd name="T6" fmla="*/ 57 w 219"/>
                  <a:gd name="T7" fmla="*/ 0 h 1219"/>
                  <a:gd name="T8" fmla="*/ 57 w 219"/>
                  <a:gd name="T9" fmla="*/ 980 h 1219"/>
                  <a:gd name="T10" fmla="*/ 219 w 219"/>
                  <a:gd name="T11" fmla="*/ 1183 h 1219"/>
                  <a:gd name="T12" fmla="*/ 174 w 219"/>
                  <a:gd name="T13" fmla="*/ 1219 h 1219"/>
                </a:gdLst>
                <a:ahLst/>
                <a:cxnLst>
                  <a:cxn ang="0">
                    <a:pos x="T0" y="T1"/>
                  </a:cxn>
                  <a:cxn ang="0">
                    <a:pos x="T2" y="T3"/>
                  </a:cxn>
                  <a:cxn ang="0">
                    <a:pos x="T4" y="T5"/>
                  </a:cxn>
                  <a:cxn ang="0">
                    <a:pos x="T6" y="T7"/>
                  </a:cxn>
                  <a:cxn ang="0">
                    <a:pos x="T8" y="T9"/>
                  </a:cxn>
                  <a:cxn ang="0">
                    <a:pos x="T10" y="T11"/>
                  </a:cxn>
                  <a:cxn ang="0">
                    <a:pos x="T12" y="T13"/>
                  </a:cxn>
                </a:cxnLst>
                <a:rect l="0" t="0" r="r" b="b"/>
                <a:pathLst>
                  <a:path w="219" h="1219">
                    <a:moveTo>
                      <a:pt x="174" y="1219"/>
                    </a:moveTo>
                    <a:lnTo>
                      <a:pt x="0" y="1000"/>
                    </a:lnTo>
                    <a:lnTo>
                      <a:pt x="0" y="0"/>
                    </a:lnTo>
                    <a:lnTo>
                      <a:pt x="57" y="0"/>
                    </a:lnTo>
                    <a:lnTo>
                      <a:pt x="57" y="980"/>
                    </a:lnTo>
                    <a:lnTo>
                      <a:pt x="219" y="1183"/>
                    </a:lnTo>
                    <a:lnTo>
                      <a:pt x="174" y="1219"/>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89" name="Rectangle 88">
                <a:extLst>
                  <a:ext uri="{FF2B5EF4-FFF2-40B4-BE49-F238E27FC236}">
                    <a16:creationId xmlns:a16="http://schemas.microsoft.com/office/drawing/2014/main" id="{CF2EC49A-C36C-41E7-B26C-315C78D77761}"/>
                  </a:ext>
                </a:extLst>
              </p:cNvPr>
              <p:cNvSpPr>
                <a:spLocks noChangeArrowheads="1"/>
              </p:cNvSpPr>
              <p:nvPr/>
            </p:nvSpPr>
            <p:spPr bwMode="auto">
              <a:xfrm>
                <a:off x="609600" y="6130925"/>
                <a:ext cx="92075" cy="72707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90" name="Freeform 89">
                <a:extLst>
                  <a:ext uri="{FF2B5EF4-FFF2-40B4-BE49-F238E27FC236}">
                    <a16:creationId xmlns:a16="http://schemas.microsoft.com/office/drawing/2014/main" id="{85F30256-9B8F-4F7A-832E-90CF2AF7E3C4}"/>
                  </a:ext>
                </a:extLst>
              </p:cNvPr>
              <p:cNvSpPr>
                <a:spLocks/>
              </p:cNvSpPr>
              <p:nvPr/>
            </p:nvSpPr>
            <p:spPr bwMode="auto">
              <a:xfrm>
                <a:off x="1106488" y="6354763"/>
                <a:ext cx="1693863" cy="503237"/>
              </a:xfrm>
              <a:custGeom>
                <a:avLst/>
                <a:gdLst>
                  <a:gd name="T0" fmla="*/ 1067 w 1067"/>
                  <a:gd name="T1" fmla="*/ 250 h 250"/>
                  <a:gd name="T2" fmla="*/ 1010 w 1067"/>
                  <a:gd name="T3" fmla="*/ 250 h 250"/>
                  <a:gd name="T4" fmla="*/ 1010 w 1067"/>
                  <a:gd name="T5" fmla="*/ 57 h 250"/>
                  <a:gd name="T6" fmla="*/ 57 w 1067"/>
                  <a:gd name="T7" fmla="*/ 57 h 250"/>
                  <a:gd name="T8" fmla="*/ 57 w 1067"/>
                  <a:gd name="T9" fmla="*/ 250 h 250"/>
                  <a:gd name="T10" fmla="*/ 0 w 1067"/>
                  <a:gd name="T11" fmla="*/ 250 h 250"/>
                  <a:gd name="T12" fmla="*/ 0 w 1067"/>
                  <a:gd name="T13" fmla="*/ 0 h 250"/>
                  <a:gd name="T14" fmla="*/ 1067 w 1067"/>
                  <a:gd name="T15" fmla="*/ 0 h 250"/>
                  <a:gd name="T16" fmla="*/ 1067 w 1067"/>
                  <a:gd name="T17" fmla="*/ 25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7" h="250">
                    <a:moveTo>
                      <a:pt x="1067" y="250"/>
                    </a:moveTo>
                    <a:lnTo>
                      <a:pt x="1010" y="250"/>
                    </a:lnTo>
                    <a:lnTo>
                      <a:pt x="1010" y="57"/>
                    </a:lnTo>
                    <a:lnTo>
                      <a:pt x="57" y="57"/>
                    </a:lnTo>
                    <a:lnTo>
                      <a:pt x="57" y="250"/>
                    </a:lnTo>
                    <a:lnTo>
                      <a:pt x="0" y="250"/>
                    </a:lnTo>
                    <a:lnTo>
                      <a:pt x="0" y="0"/>
                    </a:lnTo>
                    <a:lnTo>
                      <a:pt x="1067" y="0"/>
                    </a:lnTo>
                    <a:lnTo>
                      <a:pt x="1067" y="250"/>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91" name="Freeform 90">
                <a:extLst>
                  <a:ext uri="{FF2B5EF4-FFF2-40B4-BE49-F238E27FC236}">
                    <a16:creationId xmlns:a16="http://schemas.microsoft.com/office/drawing/2014/main" id="{56238CC1-186F-4F1B-9AEB-EDE4654E00FB}"/>
                  </a:ext>
                </a:extLst>
              </p:cNvPr>
              <p:cNvSpPr>
                <a:spLocks/>
              </p:cNvSpPr>
              <p:nvPr/>
            </p:nvSpPr>
            <p:spPr bwMode="auto">
              <a:xfrm>
                <a:off x="8961438" y="1193800"/>
                <a:ext cx="1401763" cy="1454150"/>
              </a:xfrm>
              <a:custGeom>
                <a:avLst/>
                <a:gdLst>
                  <a:gd name="T0" fmla="*/ 258 w 883"/>
                  <a:gd name="T1" fmla="*/ 916 h 916"/>
                  <a:gd name="T2" fmla="*/ 0 w 883"/>
                  <a:gd name="T3" fmla="*/ 916 h 916"/>
                  <a:gd name="T4" fmla="*/ 0 w 883"/>
                  <a:gd name="T5" fmla="*/ 859 h 916"/>
                  <a:gd name="T6" fmla="*/ 200 w 883"/>
                  <a:gd name="T7" fmla="*/ 859 h 916"/>
                  <a:gd name="T8" fmla="*/ 200 w 883"/>
                  <a:gd name="T9" fmla="*/ 0 h 916"/>
                  <a:gd name="T10" fmla="*/ 883 w 883"/>
                  <a:gd name="T11" fmla="*/ 0 h 916"/>
                  <a:gd name="T12" fmla="*/ 883 w 883"/>
                  <a:gd name="T13" fmla="*/ 222 h 916"/>
                  <a:gd name="T14" fmla="*/ 826 w 883"/>
                  <a:gd name="T15" fmla="*/ 222 h 916"/>
                  <a:gd name="T16" fmla="*/ 826 w 883"/>
                  <a:gd name="T17" fmla="*/ 57 h 916"/>
                  <a:gd name="T18" fmla="*/ 258 w 883"/>
                  <a:gd name="T19" fmla="*/ 57 h 916"/>
                  <a:gd name="T20" fmla="*/ 258 w 883"/>
                  <a:gd name="T21" fmla="*/ 916 h 9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3" h="916">
                    <a:moveTo>
                      <a:pt x="258" y="916"/>
                    </a:moveTo>
                    <a:lnTo>
                      <a:pt x="0" y="916"/>
                    </a:lnTo>
                    <a:lnTo>
                      <a:pt x="0" y="859"/>
                    </a:lnTo>
                    <a:lnTo>
                      <a:pt x="200" y="859"/>
                    </a:lnTo>
                    <a:lnTo>
                      <a:pt x="200" y="0"/>
                    </a:lnTo>
                    <a:lnTo>
                      <a:pt x="883" y="0"/>
                    </a:lnTo>
                    <a:lnTo>
                      <a:pt x="883" y="222"/>
                    </a:lnTo>
                    <a:lnTo>
                      <a:pt x="826" y="222"/>
                    </a:lnTo>
                    <a:lnTo>
                      <a:pt x="826" y="57"/>
                    </a:lnTo>
                    <a:lnTo>
                      <a:pt x="258" y="57"/>
                    </a:lnTo>
                    <a:lnTo>
                      <a:pt x="258" y="916"/>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92" name="Freeform 91">
                <a:extLst>
                  <a:ext uri="{FF2B5EF4-FFF2-40B4-BE49-F238E27FC236}">
                    <a16:creationId xmlns:a16="http://schemas.microsoft.com/office/drawing/2014/main" id="{B55ACEAB-87BD-4173-BFFE-3149F1A900C0}"/>
                  </a:ext>
                </a:extLst>
              </p:cNvPr>
              <p:cNvSpPr>
                <a:spLocks/>
              </p:cNvSpPr>
              <p:nvPr/>
            </p:nvSpPr>
            <p:spPr bwMode="auto">
              <a:xfrm>
                <a:off x="8961438" y="2344738"/>
                <a:ext cx="1284288" cy="727075"/>
              </a:xfrm>
              <a:custGeom>
                <a:avLst/>
                <a:gdLst>
                  <a:gd name="T0" fmla="*/ 406 w 809"/>
                  <a:gd name="T1" fmla="*/ 458 h 458"/>
                  <a:gd name="T2" fmla="*/ 0 w 809"/>
                  <a:gd name="T3" fmla="*/ 458 h 458"/>
                  <a:gd name="T4" fmla="*/ 0 w 809"/>
                  <a:gd name="T5" fmla="*/ 401 h 458"/>
                  <a:gd name="T6" fmla="*/ 348 w 809"/>
                  <a:gd name="T7" fmla="*/ 401 h 458"/>
                  <a:gd name="T8" fmla="*/ 348 w 809"/>
                  <a:gd name="T9" fmla="*/ 0 h 458"/>
                  <a:gd name="T10" fmla="*/ 577 w 809"/>
                  <a:gd name="T11" fmla="*/ 0 h 458"/>
                  <a:gd name="T12" fmla="*/ 809 w 809"/>
                  <a:gd name="T13" fmla="*/ 184 h 458"/>
                  <a:gd name="T14" fmla="*/ 773 w 809"/>
                  <a:gd name="T15" fmla="*/ 229 h 458"/>
                  <a:gd name="T16" fmla="*/ 556 w 809"/>
                  <a:gd name="T17" fmla="*/ 57 h 458"/>
                  <a:gd name="T18" fmla="*/ 406 w 809"/>
                  <a:gd name="T19" fmla="*/ 57 h 458"/>
                  <a:gd name="T20" fmla="*/ 406 w 809"/>
                  <a:gd name="T21" fmla="*/ 458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458">
                    <a:moveTo>
                      <a:pt x="406" y="458"/>
                    </a:moveTo>
                    <a:lnTo>
                      <a:pt x="0" y="458"/>
                    </a:lnTo>
                    <a:lnTo>
                      <a:pt x="0" y="401"/>
                    </a:lnTo>
                    <a:lnTo>
                      <a:pt x="348" y="401"/>
                    </a:lnTo>
                    <a:lnTo>
                      <a:pt x="348" y="0"/>
                    </a:lnTo>
                    <a:lnTo>
                      <a:pt x="577" y="0"/>
                    </a:lnTo>
                    <a:lnTo>
                      <a:pt x="809" y="184"/>
                    </a:lnTo>
                    <a:lnTo>
                      <a:pt x="773" y="229"/>
                    </a:lnTo>
                    <a:lnTo>
                      <a:pt x="556" y="57"/>
                    </a:lnTo>
                    <a:lnTo>
                      <a:pt x="406" y="57"/>
                    </a:lnTo>
                    <a:lnTo>
                      <a:pt x="406" y="458"/>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93" name="Freeform 92">
                <a:extLst>
                  <a:ext uri="{FF2B5EF4-FFF2-40B4-BE49-F238E27FC236}">
                    <a16:creationId xmlns:a16="http://schemas.microsoft.com/office/drawing/2014/main" id="{ED91C094-261C-422A-A2E9-F20835E9D782}"/>
                  </a:ext>
                </a:extLst>
              </p:cNvPr>
              <p:cNvSpPr>
                <a:spLocks/>
              </p:cNvSpPr>
              <p:nvPr/>
            </p:nvSpPr>
            <p:spPr bwMode="auto">
              <a:xfrm>
                <a:off x="8961438" y="3405188"/>
                <a:ext cx="631825" cy="514350"/>
              </a:xfrm>
              <a:custGeom>
                <a:avLst/>
                <a:gdLst>
                  <a:gd name="T0" fmla="*/ 398 w 398"/>
                  <a:gd name="T1" fmla="*/ 324 h 324"/>
                  <a:gd name="T2" fmla="*/ 0 w 398"/>
                  <a:gd name="T3" fmla="*/ 324 h 324"/>
                  <a:gd name="T4" fmla="*/ 0 w 398"/>
                  <a:gd name="T5" fmla="*/ 267 h 324"/>
                  <a:gd name="T6" fmla="*/ 341 w 398"/>
                  <a:gd name="T7" fmla="*/ 267 h 324"/>
                  <a:gd name="T8" fmla="*/ 341 w 398"/>
                  <a:gd name="T9" fmla="*/ 57 h 324"/>
                  <a:gd name="T10" fmla="*/ 0 w 398"/>
                  <a:gd name="T11" fmla="*/ 57 h 324"/>
                  <a:gd name="T12" fmla="*/ 0 w 398"/>
                  <a:gd name="T13" fmla="*/ 0 h 324"/>
                  <a:gd name="T14" fmla="*/ 398 w 398"/>
                  <a:gd name="T15" fmla="*/ 0 h 324"/>
                  <a:gd name="T16" fmla="*/ 398 w 398"/>
                  <a:gd name="T17" fmla="*/ 32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8" h="324">
                    <a:moveTo>
                      <a:pt x="398" y="324"/>
                    </a:moveTo>
                    <a:lnTo>
                      <a:pt x="0" y="324"/>
                    </a:lnTo>
                    <a:lnTo>
                      <a:pt x="0" y="267"/>
                    </a:lnTo>
                    <a:lnTo>
                      <a:pt x="341" y="267"/>
                    </a:lnTo>
                    <a:lnTo>
                      <a:pt x="341" y="57"/>
                    </a:lnTo>
                    <a:lnTo>
                      <a:pt x="0" y="57"/>
                    </a:lnTo>
                    <a:lnTo>
                      <a:pt x="0" y="0"/>
                    </a:lnTo>
                    <a:lnTo>
                      <a:pt x="398" y="0"/>
                    </a:lnTo>
                    <a:lnTo>
                      <a:pt x="398" y="324"/>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94" name="Freeform 93">
                <a:extLst>
                  <a:ext uri="{FF2B5EF4-FFF2-40B4-BE49-F238E27FC236}">
                    <a16:creationId xmlns:a16="http://schemas.microsoft.com/office/drawing/2014/main" id="{993BE429-C939-4562-83C0-C1C34996BB13}"/>
                  </a:ext>
                </a:extLst>
              </p:cNvPr>
              <p:cNvSpPr>
                <a:spLocks/>
              </p:cNvSpPr>
              <p:nvPr/>
            </p:nvSpPr>
            <p:spPr bwMode="auto">
              <a:xfrm>
                <a:off x="9737725" y="4340225"/>
                <a:ext cx="458788" cy="757238"/>
              </a:xfrm>
              <a:custGeom>
                <a:avLst/>
                <a:gdLst>
                  <a:gd name="T0" fmla="*/ 289 w 289"/>
                  <a:gd name="T1" fmla="*/ 477 h 477"/>
                  <a:gd name="T2" fmla="*/ 0 w 289"/>
                  <a:gd name="T3" fmla="*/ 477 h 477"/>
                  <a:gd name="T4" fmla="*/ 0 w 289"/>
                  <a:gd name="T5" fmla="*/ 0 h 477"/>
                  <a:gd name="T6" fmla="*/ 289 w 289"/>
                  <a:gd name="T7" fmla="*/ 0 h 477"/>
                  <a:gd name="T8" fmla="*/ 289 w 289"/>
                  <a:gd name="T9" fmla="*/ 57 h 477"/>
                  <a:gd name="T10" fmla="*/ 57 w 289"/>
                  <a:gd name="T11" fmla="*/ 57 h 477"/>
                  <a:gd name="T12" fmla="*/ 57 w 289"/>
                  <a:gd name="T13" fmla="*/ 420 h 477"/>
                  <a:gd name="T14" fmla="*/ 289 w 289"/>
                  <a:gd name="T15" fmla="*/ 420 h 477"/>
                  <a:gd name="T16" fmla="*/ 289 w 289"/>
                  <a:gd name="T17" fmla="*/ 477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9" h="477">
                    <a:moveTo>
                      <a:pt x="289" y="477"/>
                    </a:moveTo>
                    <a:lnTo>
                      <a:pt x="0" y="477"/>
                    </a:lnTo>
                    <a:lnTo>
                      <a:pt x="0" y="0"/>
                    </a:lnTo>
                    <a:lnTo>
                      <a:pt x="289" y="0"/>
                    </a:lnTo>
                    <a:lnTo>
                      <a:pt x="289" y="57"/>
                    </a:lnTo>
                    <a:lnTo>
                      <a:pt x="57" y="57"/>
                    </a:lnTo>
                    <a:lnTo>
                      <a:pt x="57" y="420"/>
                    </a:lnTo>
                    <a:lnTo>
                      <a:pt x="289" y="420"/>
                    </a:lnTo>
                    <a:lnTo>
                      <a:pt x="289" y="477"/>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grpSp>
            <p:nvGrpSpPr>
              <p:cNvPr id="95" name="Group 94">
                <a:extLst>
                  <a:ext uri="{FF2B5EF4-FFF2-40B4-BE49-F238E27FC236}">
                    <a16:creationId xmlns:a16="http://schemas.microsoft.com/office/drawing/2014/main" id="{38CED6A1-0675-433A-9689-BA0027F0031F}"/>
                  </a:ext>
                </a:extLst>
              </p:cNvPr>
              <p:cNvGrpSpPr/>
              <p:nvPr/>
            </p:nvGrpSpPr>
            <p:grpSpPr>
              <a:xfrm>
                <a:off x="4217988" y="4643438"/>
                <a:ext cx="3727450" cy="700087"/>
                <a:chOff x="4217988" y="4643438"/>
                <a:chExt cx="3727450" cy="700087"/>
              </a:xfrm>
            </p:grpSpPr>
            <p:sp>
              <p:nvSpPr>
                <p:cNvPr id="149" name="Freeform 148">
                  <a:extLst>
                    <a:ext uri="{FF2B5EF4-FFF2-40B4-BE49-F238E27FC236}">
                      <a16:creationId xmlns:a16="http://schemas.microsoft.com/office/drawing/2014/main" id="{F6E7FA45-567C-437F-8FAF-2829058B0E0B}"/>
                    </a:ext>
                  </a:extLst>
                </p:cNvPr>
                <p:cNvSpPr>
                  <a:spLocks noEditPoints="1"/>
                </p:cNvSpPr>
                <p:nvPr/>
              </p:nvSpPr>
              <p:spPr bwMode="auto">
                <a:xfrm>
                  <a:off x="4217988"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9" y="0"/>
                        <a:pt x="88" y="20"/>
                        <a:pt x="88" y="44"/>
                      </a:cubicBezTo>
                      <a:cubicBezTo>
                        <a:pt x="88" y="68"/>
                        <a:pt x="69"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50" name="Freeform 149">
                  <a:extLst>
                    <a:ext uri="{FF2B5EF4-FFF2-40B4-BE49-F238E27FC236}">
                      <a16:creationId xmlns:a16="http://schemas.microsoft.com/office/drawing/2014/main" id="{F9C509A5-F4D0-4A3E-8F1D-042DDF2C09C7}"/>
                    </a:ext>
                  </a:extLst>
                </p:cNvPr>
                <p:cNvSpPr>
                  <a:spLocks noEditPoints="1"/>
                </p:cNvSpPr>
                <p:nvPr/>
              </p:nvSpPr>
              <p:spPr bwMode="auto">
                <a:xfrm>
                  <a:off x="4641850"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9" y="0"/>
                        <a:pt x="88" y="20"/>
                        <a:pt x="88" y="44"/>
                      </a:cubicBezTo>
                      <a:cubicBezTo>
                        <a:pt x="88" y="68"/>
                        <a:pt x="69"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51" name="Freeform 150">
                  <a:extLst>
                    <a:ext uri="{FF2B5EF4-FFF2-40B4-BE49-F238E27FC236}">
                      <a16:creationId xmlns:a16="http://schemas.microsoft.com/office/drawing/2014/main" id="{65C54CAE-6857-41CF-88C7-83DAE75EB9BF}"/>
                    </a:ext>
                  </a:extLst>
                </p:cNvPr>
                <p:cNvSpPr>
                  <a:spLocks noEditPoints="1"/>
                </p:cNvSpPr>
                <p:nvPr/>
              </p:nvSpPr>
              <p:spPr bwMode="auto">
                <a:xfrm>
                  <a:off x="5065713"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52" name="Freeform 151">
                  <a:extLst>
                    <a:ext uri="{FF2B5EF4-FFF2-40B4-BE49-F238E27FC236}">
                      <a16:creationId xmlns:a16="http://schemas.microsoft.com/office/drawing/2014/main" id="{8C158AC3-E81B-4519-9C37-E1551467AE5B}"/>
                    </a:ext>
                  </a:extLst>
                </p:cNvPr>
                <p:cNvSpPr>
                  <a:spLocks noEditPoints="1"/>
                </p:cNvSpPr>
                <p:nvPr/>
              </p:nvSpPr>
              <p:spPr bwMode="auto">
                <a:xfrm>
                  <a:off x="5489575" y="5010150"/>
                  <a:ext cx="334963"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53" name="Freeform 152">
                  <a:extLst>
                    <a:ext uri="{FF2B5EF4-FFF2-40B4-BE49-F238E27FC236}">
                      <a16:creationId xmlns:a16="http://schemas.microsoft.com/office/drawing/2014/main" id="{9AFE2B00-9DF8-44C9-9A5A-E5381B74F1D0}"/>
                    </a:ext>
                  </a:extLst>
                </p:cNvPr>
                <p:cNvSpPr>
                  <a:spLocks noEditPoints="1"/>
                </p:cNvSpPr>
                <p:nvPr/>
              </p:nvSpPr>
              <p:spPr bwMode="auto">
                <a:xfrm>
                  <a:off x="5915025"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54" name="Freeform 153">
                  <a:extLst>
                    <a:ext uri="{FF2B5EF4-FFF2-40B4-BE49-F238E27FC236}">
                      <a16:creationId xmlns:a16="http://schemas.microsoft.com/office/drawing/2014/main" id="{552EB0B6-E588-4BA4-B734-E56C7E056C0E}"/>
                    </a:ext>
                  </a:extLst>
                </p:cNvPr>
                <p:cNvSpPr>
                  <a:spLocks noEditPoints="1"/>
                </p:cNvSpPr>
                <p:nvPr/>
              </p:nvSpPr>
              <p:spPr bwMode="auto">
                <a:xfrm>
                  <a:off x="6338888"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55" name="Freeform 154">
                  <a:extLst>
                    <a:ext uri="{FF2B5EF4-FFF2-40B4-BE49-F238E27FC236}">
                      <a16:creationId xmlns:a16="http://schemas.microsoft.com/office/drawing/2014/main" id="{FB8E7050-3451-4C50-AC5C-4C00099F6FD2}"/>
                    </a:ext>
                  </a:extLst>
                </p:cNvPr>
                <p:cNvSpPr>
                  <a:spLocks noEditPoints="1"/>
                </p:cNvSpPr>
                <p:nvPr/>
              </p:nvSpPr>
              <p:spPr bwMode="auto">
                <a:xfrm>
                  <a:off x="6762750"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56" name="Freeform 155">
                  <a:extLst>
                    <a:ext uri="{FF2B5EF4-FFF2-40B4-BE49-F238E27FC236}">
                      <a16:creationId xmlns:a16="http://schemas.microsoft.com/office/drawing/2014/main" id="{56E62FD7-056D-4230-BB8E-69DEDC7BC095}"/>
                    </a:ext>
                  </a:extLst>
                </p:cNvPr>
                <p:cNvSpPr>
                  <a:spLocks noEditPoints="1"/>
                </p:cNvSpPr>
                <p:nvPr/>
              </p:nvSpPr>
              <p:spPr bwMode="auto">
                <a:xfrm>
                  <a:off x="7188200"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57" name="Freeform 156">
                  <a:extLst>
                    <a:ext uri="{FF2B5EF4-FFF2-40B4-BE49-F238E27FC236}">
                      <a16:creationId xmlns:a16="http://schemas.microsoft.com/office/drawing/2014/main" id="{A62DAE04-03BF-4D54-9446-7E59E0ACF485}"/>
                    </a:ext>
                  </a:extLst>
                </p:cNvPr>
                <p:cNvSpPr>
                  <a:spLocks noEditPoints="1"/>
                </p:cNvSpPr>
                <p:nvPr/>
              </p:nvSpPr>
              <p:spPr bwMode="auto">
                <a:xfrm>
                  <a:off x="7612063"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20"/>
                        <a:pt x="19"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58" name="Rectangle 157">
                  <a:extLst>
                    <a:ext uri="{FF2B5EF4-FFF2-40B4-BE49-F238E27FC236}">
                      <a16:creationId xmlns:a16="http://schemas.microsoft.com/office/drawing/2014/main" id="{0F8D02A5-90AF-40EC-B347-087C88945F6C}"/>
                    </a:ext>
                  </a:extLst>
                </p:cNvPr>
                <p:cNvSpPr>
                  <a:spLocks noChangeArrowheads="1"/>
                </p:cNvSpPr>
                <p:nvPr/>
              </p:nvSpPr>
              <p:spPr bwMode="auto">
                <a:xfrm>
                  <a:off x="4316413" y="4643438"/>
                  <a:ext cx="139700"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59" name="Rectangle 158">
                  <a:extLst>
                    <a:ext uri="{FF2B5EF4-FFF2-40B4-BE49-F238E27FC236}">
                      <a16:creationId xmlns:a16="http://schemas.microsoft.com/office/drawing/2014/main" id="{321568E7-1933-436E-A68D-969507CE5CA5}"/>
                    </a:ext>
                  </a:extLst>
                </p:cNvPr>
                <p:cNvSpPr>
                  <a:spLocks noChangeArrowheads="1"/>
                </p:cNvSpPr>
                <p:nvPr/>
              </p:nvSpPr>
              <p:spPr bwMode="auto">
                <a:xfrm>
                  <a:off x="4740275" y="4643438"/>
                  <a:ext cx="139700"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60" name="Rectangle 159">
                  <a:extLst>
                    <a:ext uri="{FF2B5EF4-FFF2-40B4-BE49-F238E27FC236}">
                      <a16:creationId xmlns:a16="http://schemas.microsoft.com/office/drawing/2014/main" id="{87000D23-4E17-4329-89D0-D7327C20DDD5}"/>
                    </a:ext>
                  </a:extLst>
                </p:cNvPr>
                <p:cNvSpPr>
                  <a:spLocks noChangeArrowheads="1"/>
                </p:cNvSpPr>
                <p:nvPr/>
              </p:nvSpPr>
              <p:spPr bwMode="auto">
                <a:xfrm>
                  <a:off x="5164138" y="4643438"/>
                  <a:ext cx="141288"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61" name="Rectangle 160">
                  <a:extLst>
                    <a:ext uri="{FF2B5EF4-FFF2-40B4-BE49-F238E27FC236}">
                      <a16:creationId xmlns:a16="http://schemas.microsoft.com/office/drawing/2014/main" id="{3C269EC3-17D5-4EA7-BEE2-99AD3D835B8A}"/>
                    </a:ext>
                  </a:extLst>
                </p:cNvPr>
                <p:cNvSpPr>
                  <a:spLocks noChangeArrowheads="1"/>
                </p:cNvSpPr>
                <p:nvPr/>
              </p:nvSpPr>
              <p:spPr bwMode="auto">
                <a:xfrm>
                  <a:off x="5584825" y="46434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62" name="Rectangle 161">
                  <a:extLst>
                    <a:ext uri="{FF2B5EF4-FFF2-40B4-BE49-F238E27FC236}">
                      <a16:creationId xmlns:a16="http://schemas.microsoft.com/office/drawing/2014/main" id="{E7D73C06-0641-4CF6-AF01-537389BBC2D8}"/>
                    </a:ext>
                  </a:extLst>
                </p:cNvPr>
                <p:cNvSpPr>
                  <a:spLocks noChangeArrowheads="1"/>
                </p:cNvSpPr>
                <p:nvPr/>
              </p:nvSpPr>
              <p:spPr bwMode="auto">
                <a:xfrm>
                  <a:off x="6008688" y="46434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63" name="Rectangle 162">
                  <a:extLst>
                    <a:ext uri="{FF2B5EF4-FFF2-40B4-BE49-F238E27FC236}">
                      <a16:creationId xmlns:a16="http://schemas.microsoft.com/office/drawing/2014/main" id="{852EFEBC-3A9F-465A-AC3E-73494E51F04D}"/>
                    </a:ext>
                  </a:extLst>
                </p:cNvPr>
                <p:cNvSpPr>
                  <a:spLocks noChangeArrowheads="1"/>
                </p:cNvSpPr>
                <p:nvPr/>
              </p:nvSpPr>
              <p:spPr bwMode="auto">
                <a:xfrm>
                  <a:off x="6434138" y="46434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64" name="Rectangle 163">
                  <a:extLst>
                    <a:ext uri="{FF2B5EF4-FFF2-40B4-BE49-F238E27FC236}">
                      <a16:creationId xmlns:a16="http://schemas.microsoft.com/office/drawing/2014/main" id="{1F49F056-B74C-4A91-8943-81A10033325C}"/>
                    </a:ext>
                  </a:extLst>
                </p:cNvPr>
                <p:cNvSpPr>
                  <a:spLocks noChangeArrowheads="1"/>
                </p:cNvSpPr>
                <p:nvPr/>
              </p:nvSpPr>
              <p:spPr bwMode="auto">
                <a:xfrm>
                  <a:off x="6858000" y="46434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65" name="Rectangle 164">
                  <a:extLst>
                    <a:ext uri="{FF2B5EF4-FFF2-40B4-BE49-F238E27FC236}">
                      <a16:creationId xmlns:a16="http://schemas.microsoft.com/office/drawing/2014/main" id="{2190DCC4-1E89-4CE5-AECA-EAA6040DA648}"/>
                    </a:ext>
                  </a:extLst>
                </p:cNvPr>
                <p:cNvSpPr>
                  <a:spLocks noChangeArrowheads="1"/>
                </p:cNvSpPr>
                <p:nvPr/>
              </p:nvSpPr>
              <p:spPr bwMode="auto">
                <a:xfrm>
                  <a:off x="7281863" y="4643438"/>
                  <a:ext cx="141288"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66" name="Rectangle 165">
                  <a:extLst>
                    <a:ext uri="{FF2B5EF4-FFF2-40B4-BE49-F238E27FC236}">
                      <a16:creationId xmlns:a16="http://schemas.microsoft.com/office/drawing/2014/main" id="{5537C76E-6841-49F7-BBD7-5267C80F6B62}"/>
                    </a:ext>
                  </a:extLst>
                </p:cNvPr>
                <p:cNvSpPr>
                  <a:spLocks noChangeArrowheads="1"/>
                </p:cNvSpPr>
                <p:nvPr/>
              </p:nvSpPr>
              <p:spPr bwMode="auto">
                <a:xfrm>
                  <a:off x="7707313" y="4643438"/>
                  <a:ext cx="139700"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grpSp>
          <p:grpSp>
            <p:nvGrpSpPr>
              <p:cNvPr id="96" name="Group 95">
                <a:extLst>
                  <a:ext uri="{FF2B5EF4-FFF2-40B4-BE49-F238E27FC236}">
                    <a16:creationId xmlns:a16="http://schemas.microsoft.com/office/drawing/2014/main" id="{DC4058D5-7616-4381-A43A-14911909D865}"/>
                  </a:ext>
                </a:extLst>
              </p:cNvPr>
              <p:cNvGrpSpPr/>
              <p:nvPr/>
            </p:nvGrpSpPr>
            <p:grpSpPr>
              <a:xfrm>
                <a:off x="4217988" y="1565275"/>
                <a:ext cx="3727450" cy="688976"/>
                <a:chOff x="4217988" y="1565275"/>
                <a:chExt cx="3727450" cy="688976"/>
              </a:xfrm>
            </p:grpSpPr>
            <p:sp>
              <p:nvSpPr>
                <p:cNvPr id="131" name="Freeform 130">
                  <a:extLst>
                    <a:ext uri="{FF2B5EF4-FFF2-40B4-BE49-F238E27FC236}">
                      <a16:creationId xmlns:a16="http://schemas.microsoft.com/office/drawing/2014/main" id="{4F3F766C-42DB-4307-BE61-953F4884E45E}"/>
                    </a:ext>
                  </a:extLst>
                </p:cNvPr>
                <p:cNvSpPr>
                  <a:spLocks noEditPoints="1"/>
                </p:cNvSpPr>
                <p:nvPr/>
              </p:nvSpPr>
              <p:spPr bwMode="auto">
                <a:xfrm>
                  <a:off x="4217988"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9" y="0"/>
                        <a:pt x="88" y="20"/>
                        <a:pt x="88" y="44"/>
                      </a:cubicBezTo>
                      <a:cubicBezTo>
                        <a:pt x="88" y="68"/>
                        <a:pt x="69"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32" name="Freeform 131">
                  <a:extLst>
                    <a:ext uri="{FF2B5EF4-FFF2-40B4-BE49-F238E27FC236}">
                      <a16:creationId xmlns:a16="http://schemas.microsoft.com/office/drawing/2014/main" id="{C2FF1C07-39F5-4BBB-8862-FFB5503C30B9}"/>
                    </a:ext>
                  </a:extLst>
                </p:cNvPr>
                <p:cNvSpPr>
                  <a:spLocks noEditPoints="1"/>
                </p:cNvSpPr>
                <p:nvPr/>
              </p:nvSpPr>
              <p:spPr bwMode="auto">
                <a:xfrm>
                  <a:off x="4641850"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9" y="0"/>
                        <a:pt x="88" y="20"/>
                        <a:pt x="88" y="44"/>
                      </a:cubicBezTo>
                      <a:cubicBezTo>
                        <a:pt x="88" y="68"/>
                        <a:pt x="69"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33" name="Freeform 132">
                  <a:extLst>
                    <a:ext uri="{FF2B5EF4-FFF2-40B4-BE49-F238E27FC236}">
                      <a16:creationId xmlns:a16="http://schemas.microsoft.com/office/drawing/2014/main" id="{E9E26525-54DD-4D64-B4C7-FC98FFC71C7B}"/>
                    </a:ext>
                  </a:extLst>
                </p:cNvPr>
                <p:cNvSpPr>
                  <a:spLocks noEditPoints="1"/>
                </p:cNvSpPr>
                <p:nvPr/>
              </p:nvSpPr>
              <p:spPr bwMode="auto">
                <a:xfrm>
                  <a:off x="5065713"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34" name="Freeform 133">
                  <a:extLst>
                    <a:ext uri="{FF2B5EF4-FFF2-40B4-BE49-F238E27FC236}">
                      <a16:creationId xmlns:a16="http://schemas.microsoft.com/office/drawing/2014/main" id="{1344F054-3FE1-42DC-A691-74A27AF2EF4A}"/>
                    </a:ext>
                  </a:extLst>
                </p:cNvPr>
                <p:cNvSpPr>
                  <a:spLocks noEditPoints="1"/>
                </p:cNvSpPr>
                <p:nvPr/>
              </p:nvSpPr>
              <p:spPr bwMode="auto">
                <a:xfrm>
                  <a:off x="5489575" y="1565275"/>
                  <a:ext cx="334963"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35" name="Freeform 134">
                  <a:extLst>
                    <a:ext uri="{FF2B5EF4-FFF2-40B4-BE49-F238E27FC236}">
                      <a16:creationId xmlns:a16="http://schemas.microsoft.com/office/drawing/2014/main" id="{C2A5FF86-9866-4A73-A3C6-F0F04DEA4119}"/>
                    </a:ext>
                  </a:extLst>
                </p:cNvPr>
                <p:cNvSpPr>
                  <a:spLocks noEditPoints="1"/>
                </p:cNvSpPr>
                <p:nvPr/>
              </p:nvSpPr>
              <p:spPr bwMode="auto">
                <a:xfrm>
                  <a:off x="5915025"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36" name="Freeform 135">
                  <a:extLst>
                    <a:ext uri="{FF2B5EF4-FFF2-40B4-BE49-F238E27FC236}">
                      <a16:creationId xmlns:a16="http://schemas.microsoft.com/office/drawing/2014/main" id="{6F36219A-9465-403C-A12D-21076E2A71D8}"/>
                    </a:ext>
                  </a:extLst>
                </p:cNvPr>
                <p:cNvSpPr>
                  <a:spLocks noEditPoints="1"/>
                </p:cNvSpPr>
                <p:nvPr/>
              </p:nvSpPr>
              <p:spPr bwMode="auto">
                <a:xfrm>
                  <a:off x="6338888"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37" name="Freeform 136">
                  <a:extLst>
                    <a:ext uri="{FF2B5EF4-FFF2-40B4-BE49-F238E27FC236}">
                      <a16:creationId xmlns:a16="http://schemas.microsoft.com/office/drawing/2014/main" id="{E8ED73CD-E83F-4E84-9596-DBF09A61B527}"/>
                    </a:ext>
                  </a:extLst>
                </p:cNvPr>
                <p:cNvSpPr>
                  <a:spLocks noEditPoints="1"/>
                </p:cNvSpPr>
                <p:nvPr/>
              </p:nvSpPr>
              <p:spPr bwMode="auto">
                <a:xfrm>
                  <a:off x="6762750"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38" name="Freeform 137">
                  <a:extLst>
                    <a:ext uri="{FF2B5EF4-FFF2-40B4-BE49-F238E27FC236}">
                      <a16:creationId xmlns:a16="http://schemas.microsoft.com/office/drawing/2014/main" id="{D7C331D8-380C-4454-8F2C-0553A04452D1}"/>
                    </a:ext>
                  </a:extLst>
                </p:cNvPr>
                <p:cNvSpPr>
                  <a:spLocks noEditPoints="1"/>
                </p:cNvSpPr>
                <p:nvPr/>
              </p:nvSpPr>
              <p:spPr bwMode="auto">
                <a:xfrm>
                  <a:off x="7188200"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39" name="Freeform 138">
                  <a:extLst>
                    <a:ext uri="{FF2B5EF4-FFF2-40B4-BE49-F238E27FC236}">
                      <a16:creationId xmlns:a16="http://schemas.microsoft.com/office/drawing/2014/main" id="{0C615597-AD50-4410-991B-B17D05034E2C}"/>
                    </a:ext>
                  </a:extLst>
                </p:cNvPr>
                <p:cNvSpPr>
                  <a:spLocks noEditPoints="1"/>
                </p:cNvSpPr>
                <p:nvPr/>
              </p:nvSpPr>
              <p:spPr bwMode="auto">
                <a:xfrm>
                  <a:off x="7612063"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20"/>
                        <a:pt x="19"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40" name="Rectangle 139">
                  <a:extLst>
                    <a:ext uri="{FF2B5EF4-FFF2-40B4-BE49-F238E27FC236}">
                      <a16:creationId xmlns:a16="http://schemas.microsoft.com/office/drawing/2014/main" id="{E72F5153-F280-4B7B-B59B-E672787B2D03}"/>
                    </a:ext>
                  </a:extLst>
                </p:cNvPr>
                <p:cNvSpPr>
                  <a:spLocks noChangeArrowheads="1"/>
                </p:cNvSpPr>
                <p:nvPr/>
              </p:nvSpPr>
              <p:spPr bwMode="auto">
                <a:xfrm>
                  <a:off x="4316413" y="1811338"/>
                  <a:ext cx="139700"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41" name="Rectangle 140">
                  <a:extLst>
                    <a:ext uri="{FF2B5EF4-FFF2-40B4-BE49-F238E27FC236}">
                      <a16:creationId xmlns:a16="http://schemas.microsoft.com/office/drawing/2014/main" id="{F67256C4-20B1-4E87-A8ED-6350778F917B}"/>
                    </a:ext>
                  </a:extLst>
                </p:cNvPr>
                <p:cNvSpPr>
                  <a:spLocks noChangeArrowheads="1"/>
                </p:cNvSpPr>
                <p:nvPr/>
              </p:nvSpPr>
              <p:spPr bwMode="auto">
                <a:xfrm>
                  <a:off x="4740275" y="1811338"/>
                  <a:ext cx="139700"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42" name="Rectangle 141">
                  <a:extLst>
                    <a:ext uri="{FF2B5EF4-FFF2-40B4-BE49-F238E27FC236}">
                      <a16:creationId xmlns:a16="http://schemas.microsoft.com/office/drawing/2014/main" id="{9548F5DF-FDE6-4F5C-BDB4-373137F789AE}"/>
                    </a:ext>
                  </a:extLst>
                </p:cNvPr>
                <p:cNvSpPr>
                  <a:spLocks noChangeArrowheads="1"/>
                </p:cNvSpPr>
                <p:nvPr/>
              </p:nvSpPr>
              <p:spPr bwMode="auto">
                <a:xfrm>
                  <a:off x="5164138" y="1811338"/>
                  <a:ext cx="141288"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43" name="Rectangle 142">
                  <a:extLst>
                    <a:ext uri="{FF2B5EF4-FFF2-40B4-BE49-F238E27FC236}">
                      <a16:creationId xmlns:a16="http://schemas.microsoft.com/office/drawing/2014/main" id="{F8EC5AA6-5978-44AF-A05C-ABDC964F6614}"/>
                    </a:ext>
                  </a:extLst>
                </p:cNvPr>
                <p:cNvSpPr>
                  <a:spLocks noChangeArrowheads="1"/>
                </p:cNvSpPr>
                <p:nvPr/>
              </p:nvSpPr>
              <p:spPr bwMode="auto">
                <a:xfrm>
                  <a:off x="5584825" y="18113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44" name="Rectangle 143">
                  <a:extLst>
                    <a:ext uri="{FF2B5EF4-FFF2-40B4-BE49-F238E27FC236}">
                      <a16:creationId xmlns:a16="http://schemas.microsoft.com/office/drawing/2014/main" id="{8D6CAC31-A3F6-49B2-831B-0B4323A76512}"/>
                    </a:ext>
                  </a:extLst>
                </p:cNvPr>
                <p:cNvSpPr>
                  <a:spLocks noChangeArrowheads="1"/>
                </p:cNvSpPr>
                <p:nvPr/>
              </p:nvSpPr>
              <p:spPr bwMode="auto">
                <a:xfrm>
                  <a:off x="6008688" y="18113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45" name="Rectangle 144">
                  <a:extLst>
                    <a:ext uri="{FF2B5EF4-FFF2-40B4-BE49-F238E27FC236}">
                      <a16:creationId xmlns:a16="http://schemas.microsoft.com/office/drawing/2014/main" id="{47DF79A9-ABC2-491E-A085-88ABB92D1F7C}"/>
                    </a:ext>
                  </a:extLst>
                </p:cNvPr>
                <p:cNvSpPr>
                  <a:spLocks noChangeArrowheads="1"/>
                </p:cNvSpPr>
                <p:nvPr/>
              </p:nvSpPr>
              <p:spPr bwMode="auto">
                <a:xfrm>
                  <a:off x="6434138" y="18113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46" name="Rectangle 145">
                  <a:extLst>
                    <a:ext uri="{FF2B5EF4-FFF2-40B4-BE49-F238E27FC236}">
                      <a16:creationId xmlns:a16="http://schemas.microsoft.com/office/drawing/2014/main" id="{FAABB74F-B4F5-4FF6-ACB5-E3B70205F1C3}"/>
                    </a:ext>
                  </a:extLst>
                </p:cNvPr>
                <p:cNvSpPr>
                  <a:spLocks noChangeArrowheads="1"/>
                </p:cNvSpPr>
                <p:nvPr/>
              </p:nvSpPr>
              <p:spPr bwMode="auto">
                <a:xfrm>
                  <a:off x="6858000" y="18113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47" name="Rectangle 146">
                  <a:extLst>
                    <a:ext uri="{FF2B5EF4-FFF2-40B4-BE49-F238E27FC236}">
                      <a16:creationId xmlns:a16="http://schemas.microsoft.com/office/drawing/2014/main" id="{BD00DECD-5778-43C9-A048-38E6558F35EE}"/>
                    </a:ext>
                  </a:extLst>
                </p:cNvPr>
                <p:cNvSpPr>
                  <a:spLocks noChangeArrowheads="1"/>
                </p:cNvSpPr>
                <p:nvPr/>
              </p:nvSpPr>
              <p:spPr bwMode="auto">
                <a:xfrm>
                  <a:off x="7281863" y="1811338"/>
                  <a:ext cx="141288"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48" name="Rectangle 147">
                  <a:extLst>
                    <a:ext uri="{FF2B5EF4-FFF2-40B4-BE49-F238E27FC236}">
                      <a16:creationId xmlns:a16="http://schemas.microsoft.com/office/drawing/2014/main" id="{D864C5E3-B9B4-4FB4-BCA6-4A18456609F0}"/>
                    </a:ext>
                  </a:extLst>
                </p:cNvPr>
                <p:cNvSpPr>
                  <a:spLocks noChangeArrowheads="1"/>
                </p:cNvSpPr>
                <p:nvPr/>
              </p:nvSpPr>
              <p:spPr bwMode="auto">
                <a:xfrm>
                  <a:off x="7707313" y="1811338"/>
                  <a:ext cx="139700"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grpSp>
          <p:grpSp>
            <p:nvGrpSpPr>
              <p:cNvPr id="97" name="Group 96">
                <a:extLst>
                  <a:ext uri="{FF2B5EF4-FFF2-40B4-BE49-F238E27FC236}">
                    <a16:creationId xmlns:a16="http://schemas.microsoft.com/office/drawing/2014/main" id="{1154766D-6818-438A-BBD2-8BAC29B64000}"/>
                  </a:ext>
                </a:extLst>
              </p:cNvPr>
              <p:cNvGrpSpPr/>
              <p:nvPr/>
            </p:nvGrpSpPr>
            <p:grpSpPr>
              <a:xfrm>
                <a:off x="3251200" y="2435225"/>
                <a:ext cx="704851" cy="2025650"/>
                <a:chOff x="3251200" y="2435225"/>
                <a:chExt cx="704851" cy="2025650"/>
              </a:xfrm>
            </p:grpSpPr>
            <p:sp>
              <p:nvSpPr>
                <p:cNvPr id="121" name="Freeform 120">
                  <a:extLst>
                    <a:ext uri="{FF2B5EF4-FFF2-40B4-BE49-F238E27FC236}">
                      <a16:creationId xmlns:a16="http://schemas.microsoft.com/office/drawing/2014/main" id="{50423E5F-4A0C-4458-B11F-149A5A757B6A}"/>
                    </a:ext>
                  </a:extLst>
                </p:cNvPr>
                <p:cNvSpPr>
                  <a:spLocks noEditPoints="1"/>
                </p:cNvSpPr>
                <p:nvPr/>
              </p:nvSpPr>
              <p:spPr bwMode="auto">
                <a:xfrm>
                  <a:off x="3251200" y="41275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9"/>
                        <a:pt x="0" y="44"/>
                      </a:cubicBezTo>
                      <a:cubicBezTo>
                        <a:pt x="0" y="20"/>
                        <a:pt x="19" y="0"/>
                        <a:pt x="44" y="0"/>
                      </a:cubicBezTo>
                      <a:cubicBezTo>
                        <a:pt x="68" y="0"/>
                        <a:pt x="88" y="20"/>
                        <a:pt x="88" y="44"/>
                      </a:cubicBezTo>
                      <a:cubicBezTo>
                        <a:pt x="88" y="69"/>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22" name="Freeform 121">
                  <a:extLst>
                    <a:ext uri="{FF2B5EF4-FFF2-40B4-BE49-F238E27FC236}">
                      <a16:creationId xmlns:a16="http://schemas.microsoft.com/office/drawing/2014/main" id="{EA918874-72BD-4D3F-9BB1-8954DC5581B6}"/>
                    </a:ext>
                  </a:extLst>
                </p:cNvPr>
                <p:cNvSpPr>
                  <a:spLocks noEditPoints="1"/>
                </p:cNvSpPr>
                <p:nvPr/>
              </p:nvSpPr>
              <p:spPr bwMode="auto">
                <a:xfrm>
                  <a:off x="3251200" y="37084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2"/>
                        <a:pt x="24" y="44"/>
                      </a:cubicBezTo>
                      <a:cubicBezTo>
                        <a:pt x="24" y="55"/>
                        <a:pt x="33" y="64"/>
                        <a:pt x="44" y="64"/>
                      </a:cubicBezTo>
                      <a:cubicBezTo>
                        <a:pt x="55" y="64"/>
                        <a:pt x="64" y="55"/>
                        <a:pt x="64" y="44"/>
                      </a:cubicBezTo>
                      <a:cubicBezTo>
                        <a:pt x="64" y="32"/>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23" name="Freeform 122">
                  <a:extLst>
                    <a:ext uri="{FF2B5EF4-FFF2-40B4-BE49-F238E27FC236}">
                      <a16:creationId xmlns:a16="http://schemas.microsoft.com/office/drawing/2014/main" id="{55940E9E-6408-4D50-9DD5-72BB899906FF}"/>
                    </a:ext>
                  </a:extLst>
                </p:cNvPr>
                <p:cNvSpPr>
                  <a:spLocks noEditPoints="1"/>
                </p:cNvSpPr>
                <p:nvPr/>
              </p:nvSpPr>
              <p:spPr bwMode="auto">
                <a:xfrm>
                  <a:off x="3251200" y="3284538"/>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24" name="Freeform 123">
                  <a:extLst>
                    <a:ext uri="{FF2B5EF4-FFF2-40B4-BE49-F238E27FC236}">
                      <a16:creationId xmlns:a16="http://schemas.microsoft.com/office/drawing/2014/main" id="{911E3705-D245-4B56-983C-B42B49993A4E}"/>
                    </a:ext>
                  </a:extLst>
                </p:cNvPr>
                <p:cNvSpPr>
                  <a:spLocks noEditPoints="1"/>
                </p:cNvSpPr>
                <p:nvPr/>
              </p:nvSpPr>
              <p:spPr bwMode="auto">
                <a:xfrm>
                  <a:off x="3251200" y="28590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25" name="Freeform 124">
                  <a:extLst>
                    <a:ext uri="{FF2B5EF4-FFF2-40B4-BE49-F238E27FC236}">
                      <a16:creationId xmlns:a16="http://schemas.microsoft.com/office/drawing/2014/main" id="{1E278F16-2941-4838-A419-2DFF354BD704}"/>
                    </a:ext>
                  </a:extLst>
                </p:cNvPr>
                <p:cNvSpPr>
                  <a:spLocks noEditPoints="1"/>
                </p:cNvSpPr>
                <p:nvPr/>
              </p:nvSpPr>
              <p:spPr bwMode="auto">
                <a:xfrm>
                  <a:off x="3251200" y="243522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26" name="Rectangle 125">
                  <a:extLst>
                    <a:ext uri="{FF2B5EF4-FFF2-40B4-BE49-F238E27FC236}">
                      <a16:creationId xmlns:a16="http://schemas.microsoft.com/office/drawing/2014/main" id="{1C72D454-B6FC-4AE4-9E2B-7387C8B1742D}"/>
                    </a:ext>
                  </a:extLst>
                </p:cNvPr>
                <p:cNvSpPr>
                  <a:spLocks noChangeArrowheads="1"/>
                </p:cNvSpPr>
                <p:nvPr/>
              </p:nvSpPr>
              <p:spPr bwMode="auto">
                <a:xfrm>
                  <a:off x="3513138" y="4227513"/>
                  <a:ext cx="442913"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27" name="Rectangle 126">
                  <a:extLst>
                    <a:ext uri="{FF2B5EF4-FFF2-40B4-BE49-F238E27FC236}">
                      <a16:creationId xmlns:a16="http://schemas.microsoft.com/office/drawing/2014/main" id="{13B23638-FDD1-41BD-9DFB-64D76BF47C20}"/>
                    </a:ext>
                  </a:extLst>
                </p:cNvPr>
                <p:cNvSpPr>
                  <a:spLocks noChangeArrowheads="1"/>
                </p:cNvSpPr>
                <p:nvPr/>
              </p:nvSpPr>
              <p:spPr bwMode="auto">
                <a:xfrm>
                  <a:off x="3513138" y="3802063"/>
                  <a:ext cx="442913" cy="141288"/>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28" name="Rectangle 127">
                  <a:extLst>
                    <a:ext uri="{FF2B5EF4-FFF2-40B4-BE49-F238E27FC236}">
                      <a16:creationId xmlns:a16="http://schemas.microsoft.com/office/drawing/2014/main" id="{899FAA37-CAFC-4FCC-BF72-5EFB05737A84}"/>
                    </a:ext>
                  </a:extLst>
                </p:cNvPr>
                <p:cNvSpPr>
                  <a:spLocks noChangeArrowheads="1"/>
                </p:cNvSpPr>
                <p:nvPr/>
              </p:nvSpPr>
              <p:spPr bwMode="auto">
                <a:xfrm>
                  <a:off x="3513138" y="3378200"/>
                  <a:ext cx="442913"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29" name="Rectangle 128">
                  <a:extLst>
                    <a:ext uri="{FF2B5EF4-FFF2-40B4-BE49-F238E27FC236}">
                      <a16:creationId xmlns:a16="http://schemas.microsoft.com/office/drawing/2014/main" id="{4B17F3A6-209B-4489-9C8C-3D751A38E9A3}"/>
                    </a:ext>
                  </a:extLst>
                </p:cNvPr>
                <p:cNvSpPr>
                  <a:spLocks noChangeArrowheads="1"/>
                </p:cNvSpPr>
                <p:nvPr/>
              </p:nvSpPr>
              <p:spPr bwMode="auto">
                <a:xfrm>
                  <a:off x="3513138" y="2954338"/>
                  <a:ext cx="442913"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30" name="Rectangle 129">
                  <a:extLst>
                    <a:ext uri="{FF2B5EF4-FFF2-40B4-BE49-F238E27FC236}">
                      <a16:creationId xmlns:a16="http://schemas.microsoft.com/office/drawing/2014/main" id="{98B92010-5D2C-4909-AAE3-5DEA967CEE83}"/>
                    </a:ext>
                  </a:extLst>
                </p:cNvPr>
                <p:cNvSpPr>
                  <a:spLocks noChangeArrowheads="1"/>
                </p:cNvSpPr>
                <p:nvPr/>
              </p:nvSpPr>
              <p:spPr bwMode="auto">
                <a:xfrm>
                  <a:off x="3513138" y="2530475"/>
                  <a:ext cx="442913"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grpSp>
          <p:grpSp>
            <p:nvGrpSpPr>
              <p:cNvPr id="98" name="Group 97">
                <a:extLst>
                  <a:ext uri="{FF2B5EF4-FFF2-40B4-BE49-F238E27FC236}">
                    <a16:creationId xmlns:a16="http://schemas.microsoft.com/office/drawing/2014/main" id="{10BE09FA-6863-4755-9C96-C0224510CD52}"/>
                  </a:ext>
                </a:extLst>
              </p:cNvPr>
              <p:cNvGrpSpPr/>
              <p:nvPr/>
            </p:nvGrpSpPr>
            <p:grpSpPr>
              <a:xfrm>
                <a:off x="8270875" y="2435225"/>
                <a:ext cx="735013" cy="2025650"/>
                <a:chOff x="8270875" y="2435225"/>
                <a:chExt cx="735013" cy="2025650"/>
              </a:xfrm>
            </p:grpSpPr>
            <p:sp>
              <p:nvSpPr>
                <p:cNvPr id="111" name="Freeform 110">
                  <a:extLst>
                    <a:ext uri="{FF2B5EF4-FFF2-40B4-BE49-F238E27FC236}">
                      <a16:creationId xmlns:a16="http://schemas.microsoft.com/office/drawing/2014/main" id="{AEBAB066-1891-4426-BBC3-3A1C1FE929FD}"/>
                    </a:ext>
                  </a:extLst>
                </p:cNvPr>
                <p:cNvSpPr>
                  <a:spLocks noEditPoints="1"/>
                </p:cNvSpPr>
                <p:nvPr/>
              </p:nvSpPr>
              <p:spPr bwMode="auto">
                <a:xfrm>
                  <a:off x="8672513" y="41275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9"/>
                        <a:pt x="0" y="44"/>
                      </a:cubicBezTo>
                      <a:cubicBezTo>
                        <a:pt x="0" y="20"/>
                        <a:pt x="19" y="0"/>
                        <a:pt x="44" y="0"/>
                      </a:cubicBezTo>
                      <a:cubicBezTo>
                        <a:pt x="68" y="0"/>
                        <a:pt x="88" y="20"/>
                        <a:pt x="88" y="44"/>
                      </a:cubicBezTo>
                      <a:cubicBezTo>
                        <a:pt x="88" y="69"/>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12" name="Freeform 111">
                  <a:extLst>
                    <a:ext uri="{FF2B5EF4-FFF2-40B4-BE49-F238E27FC236}">
                      <a16:creationId xmlns:a16="http://schemas.microsoft.com/office/drawing/2014/main" id="{96D2A1DD-DA65-4505-8649-179EA279064D}"/>
                    </a:ext>
                  </a:extLst>
                </p:cNvPr>
                <p:cNvSpPr>
                  <a:spLocks noEditPoints="1"/>
                </p:cNvSpPr>
                <p:nvPr/>
              </p:nvSpPr>
              <p:spPr bwMode="auto">
                <a:xfrm>
                  <a:off x="8672513" y="37084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2"/>
                        <a:pt x="24" y="44"/>
                      </a:cubicBezTo>
                      <a:cubicBezTo>
                        <a:pt x="24" y="55"/>
                        <a:pt x="33" y="64"/>
                        <a:pt x="44" y="64"/>
                      </a:cubicBezTo>
                      <a:cubicBezTo>
                        <a:pt x="55" y="64"/>
                        <a:pt x="64" y="55"/>
                        <a:pt x="64" y="44"/>
                      </a:cubicBezTo>
                      <a:cubicBezTo>
                        <a:pt x="64" y="32"/>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13" name="Freeform 112">
                  <a:extLst>
                    <a:ext uri="{FF2B5EF4-FFF2-40B4-BE49-F238E27FC236}">
                      <a16:creationId xmlns:a16="http://schemas.microsoft.com/office/drawing/2014/main" id="{1EA4B09B-557B-43FE-9B0F-058683FBFF03}"/>
                    </a:ext>
                  </a:extLst>
                </p:cNvPr>
                <p:cNvSpPr>
                  <a:spLocks noEditPoints="1"/>
                </p:cNvSpPr>
                <p:nvPr/>
              </p:nvSpPr>
              <p:spPr bwMode="auto">
                <a:xfrm>
                  <a:off x="8672513" y="3284538"/>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14" name="Freeform 113">
                  <a:extLst>
                    <a:ext uri="{FF2B5EF4-FFF2-40B4-BE49-F238E27FC236}">
                      <a16:creationId xmlns:a16="http://schemas.microsoft.com/office/drawing/2014/main" id="{E451B60A-221E-4EF4-A06F-FEE5339CC4D7}"/>
                    </a:ext>
                  </a:extLst>
                </p:cNvPr>
                <p:cNvSpPr>
                  <a:spLocks noEditPoints="1"/>
                </p:cNvSpPr>
                <p:nvPr/>
              </p:nvSpPr>
              <p:spPr bwMode="auto">
                <a:xfrm>
                  <a:off x="8672513" y="28590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15" name="Freeform 114">
                  <a:extLst>
                    <a:ext uri="{FF2B5EF4-FFF2-40B4-BE49-F238E27FC236}">
                      <a16:creationId xmlns:a16="http://schemas.microsoft.com/office/drawing/2014/main" id="{58505C88-6DD4-4B30-808D-E0B8AB78E15D}"/>
                    </a:ext>
                  </a:extLst>
                </p:cNvPr>
                <p:cNvSpPr>
                  <a:spLocks noEditPoints="1"/>
                </p:cNvSpPr>
                <p:nvPr/>
              </p:nvSpPr>
              <p:spPr bwMode="auto">
                <a:xfrm>
                  <a:off x="8672513" y="243522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16" name="Rectangle 115">
                  <a:extLst>
                    <a:ext uri="{FF2B5EF4-FFF2-40B4-BE49-F238E27FC236}">
                      <a16:creationId xmlns:a16="http://schemas.microsoft.com/office/drawing/2014/main" id="{B6B51175-6D6A-4360-89C2-D64610D5E31F}"/>
                    </a:ext>
                  </a:extLst>
                </p:cNvPr>
                <p:cNvSpPr>
                  <a:spLocks noChangeArrowheads="1"/>
                </p:cNvSpPr>
                <p:nvPr/>
              </p:nvSpPr>
              <p:spPr bwMode="auto">
                <a:xfrm>
                  <a:off x="8270875" y="4227513"/>
                  <a:ext cx="447675"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17" name="Rectangle 116">
                  <a:extLst>
                    <a:ext uri="{FF2B5EF4-FFF2-40B4-BE49-F238E27FC236}">
                      <a16:creationId xmlns:a16="http://schemas.microsoft.com/office/drawing/2014/main" id="{96A69C26-D617-439D-8ECC-E7F152F6C537}"/>
                    </a:ext>
                  </a:extLst>
                </p:cNvPr>
                <p:cNvSpPr>
                  <a:spLocks noChangeArrowheads="1"/>
                </p:cNvSpPr>
                <p:nvPr/>
              </p:nvSpPr>
              <p:spPr bwMode="auto">
                <a:xfrm>
                  <a:off x="8270875" y="3802063"/>
                  <a:ext cx="447675" cy="141288"/>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18" name="Rectangle 117">
                  <a:extLst>
                    <a:ext uri="{FF2B5EF4-FFF2-40B4-BE49-F238E27FC236}">
                      <a16:creationId xmlns:a16="http://schemas.microsoft.com/office/drawing/2014/main" id="{FEFDE5B5-98C7-4C9A-B537-B350B7C251E2}"/>
                    </a:ext>
                  </a:extLst>
                </p:cNvPr>
                <p:cNvSpPr>
                  <a:spLocks noChangeArrowheads="1"/>
                </p:cNvSpPr>
                <p:nvPr/>
              </p:nvSpPr>
              <p:spPr bwMode="auto">
                <a:xfrm>
                  <a:off x="8270875" y="3378200"/>
                  <a:ext cx="447675"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19" name="Rectangle 118">
                  <a:extLst>
                    <a:ext uri="{FF2B5EF4-FFF2-40B4-BE49-F238E27FC236}">
                      <a16:creationId xmlns:a16="http://schemas.microsoft.com/office/drawing/2014/main" id="{43DEFC10-8C34-4436-A3BD-72604C289858}"/>
                    </a:ext>
                  </a:extLst>
                </p:cNvPr>
                <p:cNvSpPr>
                  <a:spLocks noChangeArrowheads="1"/>
                </p:cNvSpPr>
                <p:nvPr/>
              </p:nvSpPr>
              <p:spPr bwMode="auto">
                <a:xfrm>
                  <a:off x="8270875" y="2954338"/>
                  <a:ext cx="447675"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20" name="Rectangle 119">
                  <a:extLst>
                    <a:ext uri="{FF2B5EF4-FFF2-40B4-BE49-F238E27FC236}">
                      <a16:creationId xmlns:a16="http://schemas.microsoft.com/office/drawing/2014/main" id="{D31871AA-9A93-4332-8428-90D3AEDFAB01}"/>
                    </a:ext>
                  </a:extLst>
                </p:cNvPr>
                <p:cNvSpPr>
                  <a:spLocks noChangeArrowheads="1"/>
                </p:cNvSpPr>
                <p:nvPr/>
              </p:nvSpPr>
              <p:spPr bwMode="auto">
                <a:xfrm>
                  <a:off x="8270875" y="2530475"/>
                  <a:ext cx="447675"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grpSp>
          <p:sp>
            <p:nvSpPr>
              <p:cNvPr id="99" name="Freeform 98">
                <a:extLst>
                  <a:ext uri="{FF2B5EF4-FFF2-40B4-BE49-F238E27FC236}">
                    <a16:creationId xmlns:a16="http://schemas.microsoft.com/office/drawing/2014/main" id="{2998CDA8-96E0-4B34-9F20-3B54EA60B5B6}"/>
                  </a:ext>
                </a:extLst>
              </p:cNvPr>
              <p:cNvSpPr>
                <a:spLocks/>
              </p:cNvSpPr>
              <p:nvPr/>
            </p:nvSpPr>
            <p:spPr bwMode="auto">
              <a:xfrm>
                <a:off x="863600" y="0"/>
                <a:ext cx="2439988" cy="3071813"/>
              </a:xfrm>
              <a:custGeom>
                <a:avLst/>
                <a:gdLst>
                  <a:gd name="T0" fmla="*/ 1537 w 1537"/>
                  <a:gd name="T1" fmla="*/ 1803 h 1803"/>
                  <a:gd name="T2" fmla="*/ 910 w 1537"/>
                  <a:gd name="T3" fmla="*/ 1803 h 1803"/>
                  <a:gd name="T4" fmla="*/ 611 w 1537"/>
                  <a:gd name="T5" fmla="*/ 1593 h 1803"/>
                  <a:gd name="T6" fmla="*/ 0 w 1537"/>
                  <a:gd name="T7" fmla="*/ 1593 h 1803"/>
                  <a:gd name="T8" fmla="*/ 0 w 1537"/>
                  <a:gd name="T9" fmla="*/ 0 h 1803"/>
                  <a:gd name="T10" fmla="*/ 57 w 1537"/>
                  <a:gd name="T11" fmla="*/ 0 h 1803"/>
                  <a:gd name="T12" fmla="*/ 57 w 1537"/>
                  <a:gd name="T13" fmla="*/ 1536 h 1803"/>
                  <a:gd name="T14" fmla="*/ 628 w 1537"/>
                  <a:gd name="T15" fmla="*/ 1536 h 1803"/>
                  <a:gd name="T16" fmla="*/ 929 w 1537"/>
                  <a:gd name="T17" fmla="*/ 1746 h 1803"/>
                  <a:gd name="T18" fmla="*/ 1537 w 1537"/>
                  <a:gd name="T19" fmla="*/ 1746 h 1803"/>
                  <a:gd name="T20" fmla="*/ 1537 w 1537"/>
                  <a:gd name="T21" fmla="*/ 1803 h 1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37" h="1803">
                    <a:moveTo>
                      <a:pt x="1537" y="1803"/>
                    </a:moveTo>
                    <a:lnTo>
                      <a:pt x="910" y="1803"/>
                    </a:lnTo>
                    <a:lnTo>
                      <a:pt x="611" y="1593"/>
                    </a:lnTo>
                    <a:lnTo>
                      <a:pt x="0" y="1593"/>
                    </a:lnTo>
                    <a:lnTo>
                      <a:pt x="0" y="0"/>
                    </a:lnTo>
                    <a:lnTo>
                      <a:pt x="57" y="0"/>
                    </a:lnTo>
                    <a:lnTo>
                      <a:pt x="57" y="1536"/>
                    </a:lnTo>
                    <a:lnTo>
                      <a:pt x="628" y="1536"/>
                    </a:lnTo>
                    <a:lnTo>
                      <a:pt x="929" y="1746"/>
                    </a:lnTo>
                    <a:lnTo>
                      <a:pt x="1537" y="1746"/>
                    </a:lnTo>
                    <a:lnTo>
                      <a:pt x="1537" y="1803"/>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grpSp>
            <p:nvGrpSpPr>
              <p:cNvPr id="100" name="Group 99">
                <a:extLst>
                  <a:ext uri="{FF2B5EF4-FFF2-40B4-BE49-F238E27FC236}">
                    <a16:creationId xmlns:a16="http://schemas.microsoft.com/office/drawing/2014/main" id="{C63AA9E8-1120-443A-9CE6-A0A5EC088A98}"/>
                  </a:ext>
                </a:extLst>
              </p:cNvPr>
              <p:cNvGrpSpPr/>
              <p:nvPr/>
            </p:nvGrpSpPr>
            <p:grpSpPr>
              <a:xfrm>
                <a:off x="8166100" y="0"/>
                <a:ext cx="1779588" cy="431800"/>
                <a:chOff x="8166100" y="0"/>
                <a:chExt cx="1779588" cy="431800"/>
              </a:xfrm>
              <a:solidFill>
                <a:schemeClr val="bg1">
                  <a:lumMod val="65000"/>
                </a:schemeClr>
              </a:solidFill>
            </p:grpSpPr>
            <p:sp>
              <p:nvSpPr>
                <p:cNvPr id="109" name="Freeform 108">
                  <a:extLst>
                    <a:ext uri="{FF2B5EF4-FFF2-40B4-BE49-F238E27FC236}">
                      <a16:creationId xmlns:a16="http://schemas.microsoft.com/office/drawing/2014/main" id="{CB929412-D31F-41DD-A832-7D3D7F8BE7B2}"/>
                    </a:ext>
                  </a:extLst>
                </p:cNvPr>
                <p:cNvSpPr>
                  <a:spLocks/>
                </p:cNvSpPr>
                <p:nvPr/>
              </p:nvSpPr>
              <p:spPr bwMode="auto">
                <a:xfrm>
                  <a:off x="8166100" y="76200"/>
                  <a:ext cx="1779588" cy="355600"/>
                </a:xfrm>
                <a:custGeom>
                  <a:avLst/>
                  <a:gdLst>
                    <a:gd name="T0" fmla="*/ 861 w 1121"/>
                    <a:gd name="T1" fmla="*/ 224 h 224"/>
                    <a:gd name="T2" fmla="*/ 0 w 1121"/>
                    <a:gd name="T3" fmla="*/ 224 h 224"/>
                    <a:gd name="T4" fmla="*/ 0 w 1121"/>
                    <a:gd name="T5" fmla="*/ 24 h 224"/>
                    <a:gd name="T6" fmla="*/ 57 w 1121"/>
                    <a:gd name="T7" fmla="*/ 24 h 224"/>
                    <a:gd name="T8" fmla="*/ 57 w 1121"/>
                    <a:gd name="T9" fmla="*/ 167 h 224"/>
                    <a:gd name="T10" fmla="*/ 842 w 1121"/>
                    <a:gd name="T11" fmla="*/ 167 h 224"/>
                    <a:gd name="T12" fmla="*/ 1090 w 1121"/>
                    <a:gd name="T13" fmla="*/ 0 h 224"/>
                    <a:gd name="T14" fmla="*/ 1121 w 1121"/>
                    <a:gd name="T15" fmla="*/ 48 h 224"/>
                    <a:gd name="T16" fmla="*/ 861 w 1121"/>
                    <a:gd name="T17" fmla="*/ 22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21" h="224">
                      <a:moveTo>
                        <a:pt x="861" y="224"/>
                      </a:moveTo>
                      <a:lnTo>
                        <a:pt x="0" y="224"/>
                      </a:lnTo>
                      <a:lnTo>
                        <a:pt x="0" y="24"/>
                      </a:lnTo>
                      <a:lnTo>
                        <a:pt x="57" y="24"/>
                      </a:lnTo>
                      <a:lnTo>
                        <a:pt x="57" y="167"/>
                      </a:lnTo>
                      <a:lnTo>
                        <a:pt x="842" y="167"/>
                      </a:lnTo>
                      <a:lnTo>
                        <a:pt x="1090" y="0"/>
                      </a:lnTo>
                      <a:lnTo>
                        <a:pt x="1121" y="48"/>
                      </a:lnTo>
                      <a:lnTo>
                        <a:pt x="861"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dirty="0"/>
                </a:p>
              </p:txBody>
            </p:sp>
            <p:sp>
              <p:nvSpPr>
                <p:cNvPr id="110" name="Rectangle 109">
                  <a:extLst>
                    <a:ext uri="{FF2B5EF4-FFF2-40B4-BE49-F238E27FC236}">
                      <a16:creationId xmlns:a16="http://schemas.microsoft.com/office/drawing/2014/main" id="{5C8460CB-3AC1-44C1-9EB5-145A90A57682}"/>
                    </a:ext>
                  </a:extLst>
                </p:cNvPr>
                <p:cNvSpPr/>
                <p:nvPr/>
              </p:nvSpPr>
              <p:spPr>
                <a:xfrm>
                  <a:off x="8166100" y="0"/>
                  <a:ext cx="88900" cy="2127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dirty="0"/>
                </a:p>
              </p:txBody>
            </p:sp>
          </p:grpSp>
          <p:sp>
            <p:nvSpPr>
              <p:cNvPr id="101" name="Freeform: Shape 170">
                <a:extLst>
                  <a:ext uri="{FF2B5EF4-FFF2-40B4-BE49-F238E27FC236}">
                    <a16:creationId xmlns:a16="http://schemas.microsoft.com/office/drawing/2014/main" id="{1EE7338C-4BB5-4FC8-AE66-F5503EB74554}"/>
                  </a:ext>
                </a:extLst>
              </p:cNvPr>
              <p:cNvSpPr/>
              <p:nvPr/>
            </p:nvSpPr>
            <p:spPr>
              <a:xfrm>
                <a:off x="0" y="3106036"/>
                <a:ext cx="1325563" cy="1772353"/>
              </a:xfrm>
              <a:custGeom>
                <a:avLst/>
                <a:gdLst>
                  <a:gd name="connsiteX0" fmla="*/ 0 w 1325563"/>
                  <a:gd name="connsiteY0" fmla="*/ 0 h 1772353"/>
                  <a:gd name="connsiteX1" fmla="*/ 1325563 w 1325563"/>
                  <a:gd name="connsiteY1" fmla="*/ 738890 h 1772353"/>
                  <a:gd name="connsiteX2" fmla="*/ 1325563 w 1325563"/>
                  <a:gd name="connsiteY2" fmla="*/ 1772353 h 1772353"/>
                  <a:gd name="connsiteX3" fmla="*/ 0 w 1325563"/>
                  <a:gd name="connsiteY3" fmla="*/ 1772353 h 1772353"/>
                  <a:gd name="connsiteX4" fmla="*/ 0 w 1325563"/>
                  <a:gd name="connsiteY4" fmla="*/ 1681866 h 1772353"/>
                  <a:gd name="connsiteX5" fmla="*/ 1235076 w 1325563"/>
                  <a:gd name="connsiteY5" fmla="*/ 1681866 h 1772353"/>
                  <a:gd name="connsiteX6" fmla="*/ 1235076 w 1325563"/>
                  <a:gd name="connsiteY6" fmla="*/ 794453 h 1772353"/>
                  <a:gd name="connsiteX7" fmla="*/ 0 w 1325563"/>
                  <a:gd name="connsiteY7" fmla="*/ 105749 h 1772353"/>
                  <a:gd name="connsiteX8" fmla="*/ 0 w 1325563"/>
                  <a:gd name="connsiteY8" fmla="*/ 0 h 177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5563" h="1772353">
                    <a:moveTo>
                      <a:pt x="0" y="0"/>
                    </a:moveTo>
                    <a:lnTo>
                      <a:pt x="1325563" y="738890"/>
                    </a:lnTo>
                    <a:lnTo>
                      <a:pt x="1325563" y="1772353"/>
                    </a:lnTo>
                    <a:lnTo>
                      <a:pt x="0" y="1772353"/>
                    </a:lnTo>
                    <a:lnTo>
                      <a:pt x="0" y="1681866"/>
                    </a:lnTo>
                    <a:lnTo>
                      <a:pt x="1235076" y="1681866"/>
                    </a:lnTo>
                    <a:lnTo>
                      <a:pt x="1235076" y="794453"/>
                    </a:lnTo>
                    <a:lnTo>
                      <a:pt x="0" y="105749"/>
                    </a:ln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dirty="0"/>
              </a:p>
            </p:txBody>
          </p:sp>
          <p:sp>
            <p:nvSpPr>
              <p:cNvPr id="102" name="Freeform: Shape 178">
                <a:extLst>
                  <a:ext uri="{FF2B5EF4-FFF2-40B4-BE49-F238E27FC236}">
                    <a16:creationId xmlns:a16="http://schemas.microsoft.com/office/drawing/2014/main" id="{4BFB81BB-C1D9-485F-93EE-698488FC9D14}"/>
                  </a:ext>
                </a:extLst>
              </p:cNvPr>
              <p:cNvSpPr/>
              <p:nvPr/>
            </p:nvSpPr>
            <p:spPr>
              <a:xfrm>
                <a:off x="1" y="4235994"/>
                <a:ext cx="620713" cy="596356"/>
              </a:xfrm>
              <a:custGeom>
                <a:avLst/>
                <a:gdLst>
                  <a:gd name="connsiteX0" fmla="*/ 0 w 620713"/>
                  <a:gd name="connsiteY0" fmla="*/ 0 h 596356"/>
                  <a:gd name="connsiteX1" fmla="*/ 620713 w 620713"/>
                  <a:gd name="connsiteY1" fmla="*/ 286794 h 596356"/>
                  <a:gd name="connsiteX2" fmla="*/ 620713 w 620713"/>
                  <a:gd name="connsiteY2" fmla="*/ 596356 h 596356"/>
                  <a:gd name="connsiteX3" fmla="*/ 530225 w 620713"/>
                  <a:gd name="connsiteY3" fmla="*/ 596356 h 596356"/>
                  <a:gd name="connsiteX4" fmla="*/ 530225 w 620713"/>
                  <a:gd name="connsiteY4" fmla="*/ 347119 h 596356"/>
                  <a:gd name="connsiteX5" fmla="*/ 0 w 620713"/>
                  <a:gd name="connsiteY5" fmla="*/ 101828 h 596356"/>
                  <a:gd name="connsiteX6" fmla="*/ 0 w 620713"/>
                  <a:gd name="connsiteY6" fmla="*/ 0 h 5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713" h="596356">
                    <a:moveTo>
                      <a:pt x="0" y="0"/>
                    </a:moveTo>
                    <a:lnTo>
                      <a:pt x="620713" y="286794"/>
                    </a:lnTo>
                    <a:lnTo>
                      <a:pt x="620713" y="596356"/>
                    </a:lnTo>
                    <a:lnTo>
                      <a:pt x="530225" y="596356"/>
                    </a:lnTo>
                    <a:lnTo>
                      <a:pt x="530225" y="347119"/>
                    </a:lnTo>
                    <a:lnTo>
                      <a:pt x="0" y="101828"/>
                    </a:ln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dirty="0"/>
              </a:p>
            </p:txBody>
          </p:sp>
          <p:sp>
            <p:nvSpPr>
              <p:cNvPr id="103" name="Freeform: Shape 187">
                <a:extLst>
                  <a:ext uri="{FF2B5EF4-FFF2-40B4-BE49-F238E27FC236}">
                    <a16:creationId xmlns:a16="http://schemas.microsoft.com/office/drawing/2014/main" id="{2F475784-9EDC-4F26-A2EC-FEB9E78CA452}"/>
                  </a:ext>
                </a:extLst>
              </p:cNvPr>
              <p:cNvSpPr/>
              <p:nvPr/>
            </p:nvSpPr>
            <p:spPr>
              <a:xfrm flipH="1">
                <a:off x="11541126" y="5056188"/>
                <a:ext cx="647699" cy="415925"/>
              </a:xfrm>
              <a:custGeom>
                <a:avLst/>
                <a:gdLst>
                  <a:gd name="connsiteX0" fmla="*/ 593724 w 647699"/>
                  <a:gd name="connsiteY0" fmla="*/ 0 h 415925"/>
                  <a:gd name="connsiteX1" fmla="*/ 131761 w 647699"/>
                  <a:gd name="connsiteY1" fmla="*/ 325438 h 415925"/>
                  <a:gd name="connsiteX2" fmla="*/ 0 w 647699"/>
                  <a:gd name="connsiteY2" fmla="*/ 325438 h 415925"/>
                  <a:gd name="connsiteX3" fmla="*/ 0 w 647699"/>
                  <a:gd name="connsiteY3" fmla="*/ 415925 h 415925"/>
                  <a:gd name="connsiteX4" fmla="*/ 158749 w 647699"/>
                  <a:gd name="connsiteY4" fmla="*/ 415925 h 415925"/>
                  <a:gd name="connsiteX5" fmla="*/ 647699 w 647699"/>
                  <a:gd name="connsiteY5" fmla="*/ 76200 h 415925"/>
                  <a:gd name="connsiteX6" fmla="*/ 593724 w 647699"/>
                  <a:gd name="connsiteY6" fmla="*/ 0 h 415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7699" h="415925">
                    <a:moveTo>
                      <a:pt x="593724" y="0"/>
                    </a:moveTo>
                    <a:lnTo>
                      <a:pt x="131761" y="325438"/>
                    </a:lnTo>
                    <a:lnTo>
                      <a:pt x="0" y="325438"/>
                    </a:lnTo>
                    <a:lnTo>
                      <a:pt x="0" y="415925"/>
                    </a:lnTo>
                    <a:lnTo>
                      <a:pt x="158749" y="415925"/>
                    </a:lnTo>
                    <a:lnTo>
                      <a:pt x="647699" y="76200"/>
                    </a:lnTo>
                    <a:lnTo>
                      <a:pt x="593724"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dirty="0"/>
              </a:p>
            </p:txBody>
          </p:sp>
          <p:sp>
            <p:nvSpPr>
              <p:cNvPr id="104" name="Freeform: Shape 183">
                <a:extLst>
                  <a:ext uri="{FF2B5EF4-FFF2-40B4-BE49-F238E27FC236}">
                    <a16:creationId xmlns:a16="http://schemas.microsoft.com/office/drawing/2014/main" id="{4614F863-2BEF-49AD-88A9-6619AB9B5C62}"/>
                  </a:ext>
                </a:extLst>
              </p:cNvPr>
              <p:cNvSpPr/>
              <p:nvPr/>
            </p:nvSpPr>
            <p:spPr>
              <a:xfrm>
                <a:off x="10636250" y="1341438"/>
                <a:ext cx="1556543" cy="3378200"/>
              </a:xfrm>
              <a:custGeom>
                <a:avLst/>
                <a:gdLst>
                  <a:gd name="connsiteX0" fmla="*/ 0 w 1556543"/>
                  <a:gd name="connsiteY0" fmla="*/ 0 h 3378200"/>
                  <a:gd name="connsiteX1" fmla="*/ 1547742 w 1556543"/>
                  <a:gd name="connsiteY1" fmla="*/ 0 h 3378200"/>
                  <a:gd name="connsiteX2" fmla="*/ 1547742 w 1556543"/>
                  <a:gd name="connsiteY2" fmla="*/ 90488 h 3378200"/>
                  <a:gd name="connsiteX3" fmla="*/ 95997 w 1556543"/>
                  <a:gd name="connsiteY3" fmla="*/ 90488 h 3378200"/>
                  <a:gd name="connsiteX4" fmla="*/ 95997 w 1556543"/>
                  <a:gd name="connsiteY4" fmla="*/ 3286125 h 3378200"/>
                  <a:gd name="connsiteX5" fmla="*/ 1556543 w 1556543"/>
                  <a:gd name="connsiteY5" fmla="*/ 3286125 h 3378200"/>
                  <a:gd name="connsiteX6" fmla="*/ 1556543 w 1556543"/>
                  <a:gd name="connsiteY6" fmla="*/ 3378200 h 3378200"/>
                  <a:gd name="connsiteX7" fmla="*/ 0 w 1556543"/>
                  <a:gd name="connsiteY7" fmla="*/ 3378200 h 3378200"/>
                  <a:gd name="connsiteX8" fmla="*/ 0 w 1556543"/>
                  <a:gd name="connsiteY8" fmla="*/ 0 h 337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6543" h="3378200">
                    <a:moveTo>
                      <a:pt x="0" y="0"/>
                    </a:moveTo>
                    <a:lnTo>
                      <a:pt x="1547742" y="0"/>
                    </a:lnTo>
                    <a:lnTo>
                      <a:pt x="1547742" y="90488"/>
                    </a:lnTo>
                    <a:lnTo>
                      <a:pt x="95997" y="90488"/>
                    </a:lnTo>
                    <a:lnTo>
                      <a:pt x="95997" y="3286125"/>
                    </a:lnTo>
                    <a:lnTo>
                      <a:pt x="1556543" y="3286125"/>
                    </a:lnTo>
                    <a:lnTo>
                      <a:pt x="1556543" y="3378200"/>
                    </a:lnTo>
                    <a:lnTo>
                      <a:pt x="0" y="3378200"/>
                    </a:ln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dirty="0"/>
              </a:p>
            </p:txBody>
          </p:sp>
          <p:sp>
            <p:nvSpPr>
              <p:cNvPr id="105" name="Freeform: Shape 194">
                <a:extLst>
                  <a:ext uri="{FF2B5EF4-FFF2-40B4-BE49-F238E27FC236}">
                    <a16:creationId xmlns:a16="http://schemas.microsoft.com/office/drawing/2014/main" id="{6EE82D75-7D96-4AE5-870E-117E8AE9A987}"/>
                  </a:ext>
                </a:extLst>
              </p:cNvPr>
              <p:cNvSpPr/>
              <p:nvPr/>
            </p:nvSpPr>
            <p:spPr>
              <a:xfrm>
                <a:off x="7732712" y="5299075"/>
                <a:ext cx="4456113" cy="698848"/>
              </a:xfrm>
              <a:custGeom>
                <a:avLst/>
                <a:gdLst>
                  <a:gd name="connsiteX0" fmla="*/ 0 w 4456113"/>
                  <a:gd name="connsiteY0" fmla="*/ 0 h 698848"/>
                  <a:gd name="connsiteX1" fmla="*/ 93549 w 4456113"/>
                  <a:gd name="connsiteY1" fmla="*/ 0 h 698848"/>
                  <a:gd name="connsiteX2" fmla="*/ 93549 w 4456113"/>
                  <a:gd name="connsiteY2" fmla="*/ 131763 h 698848"/>
                  <a:gd name="connsiteX3" fmla="*/ 3791938 w 4456113"/>
                  <a:gd name="connsiteY3" fmla="*/ 131763 h 698848"/>
                  <a:gd name="connsiteX4" fmla="*/ 4456113 w 4456113"/>
                  <a:gd name="connsiteY4" fmla="*/ 588370 h 698848"/>
                  <a:gd name="connsiteX5" fmla="*/ 4456113 w 4456113"/>
                  <a:gd name="connsiteY5" fmla="*/ 698848 h 698848"/>
                  <a:gd name="connsiteX6" fmla="*/ 3766132 w 4456113"/>
                  <a:gd name="connsiteY6" fmla="*/ 222250 h 698848"/>
                  <a:gd name="connsiteX7" fmla="*/ 0 w 4456113"/>
                  <a:gd name="connsiteY7" fmla="*/ 222250 h 698848"/>
                  <a:gd name="connsiteX8" fmla="*/ 0 w 4456113"/>
                  <a:gd name="connsiteY8" fmla="*/ 0 h 698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56113" h="698848">
                    <a:moveTo>
                      <a:pt x="0" y="0"/>
                    </a:moveTo>
                    <a:lnTo>
                      <a:pt x="93549" y="0"/>
                    </a:lnTo>
                    <a:lnTo>
                      <a:pt x="93549" y="131763"/>
                    </a:lnTo>
                    <a:lnTo>
                      <a:pt x="3791938" y="131763"/>
                    </a:lnTo>
                    <a:lnTo>
                      <a:pt x="4456113" y="588370"/>
                    </a:lnTo>
                    <a:lnTo>
                      <a:pt x="4456113" y="698848"/>
                    </a:lnTo>
                    <a:lnTo>
                      <a:pt x="3766132" y="222250"/>
                    </a:lnTo>
                    <a:lnTo>
                      <a:pt x="0" y="222250"/>
                    </a:ln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dirty="0"/>
              </a:p>
            </p:txBody>
          </p:sp>
          <p:sp>
            <p:nvSpPr>
              <p:cNvPr id="106" name="Rectangle 105">
                <a:extLst>
                  <a:ext uri="{FF2B5EF4-FFF2-40B4-BE49-F238E27FC236}">
                    <a16:creationId xmlns:a16="http://schemas.microsoft.com/office/drawing/2014/main" id="{C9A8D692-12C2-42F2-88B4-5A9EA114D347}"/>
                  </a:ext>
                </a:extLst>
              </p:cNvPr>
              <p:cNvSpPr/>
              <p:nvPr/>
            </p:nvSpPr>
            <p:spPr>
              <a:xfrm>
                <a:off x="9931400" y="5738813"/>
                <a:ext cx="88900" cy="11191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dirty="0"/>
              </a:p>
            </p:txBody>
          </p:sp>
          <p:sp>
            <p:nvSpPr>
              <p:cNvPr id="107" name="Rectangle 106">
                <a:extLst>
                  <a:ext uri="{FF2B5EF4-FFF2-40B4-BE49-F238E27FC236}">
                    <a16:creationId xmlns:a16="http://schemas.microsoft.com/office/drawing/2014/main" id="{D12B4C6B-1ABF-4A08-B4CA-D38322BBF54D}"/>
                  </a:ext>
                </a:extLst>
              </p:cNvPr>
              <p:cNvSpPr/>
              <p:nvPr/>
            </p:nvSpPr>
            <p:spPr>
              <a:xfrm>
                <a:off x="10990263" y="5738813"/>
                <a:ext cx="88900" cy="11191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dirty="0"/>
              </a:p>
            </p:txBody>
          </p:sp>
          <p:sp>
            <p:nvSpPr>
              <p:cNvPr id="108" name="Rectangle 107">
                <a:extLst>
                  <a:ext uri="{FF2B5EF4-FFF2-40B4-BE49-F238E27FC236}">
                    <a16:creationId xmlns:a16="http://schemas.microsoft.com/office/drawing/2014/main" id="{8D959865-100C-44A1-8F18-F5A72A703100}"/>
                  </a:ext>
                </a:extLst>
              </p:cNvPr>
              <p:cNvSpPr/>
              <p:nvPr/>
            </p:nvSpPr>
            <p:spPr>
              <a:xfrm rot="5400000">
                <a:off x="10475119" y="5223670"/>
                <a:ext cx="88900" cy="11191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dirty="0"/>
              </a:p>
            </p:txBody>
          </p:sp>
        </p:grpSp>
        <p:sp>
          <p:nvSpPr>
            <p:cNvPr id="19" name="Rectangle 18">
              <a:extLst>
                <a:ext uri="{FF2B5EF4-FFF2-40B4-BE49-F238E27FC236}">
                  <a16:creationId xmlns:a16="http://schemas.microsoft.com/office/drawing/2014/main" id="{D0708BEF-D6C0-4BD1-8412-877B4DBAF504}"/>
                </a:ext>
              </a:extLst>
            </p:cNvPr>
            <p:cNvSpPr>
              <a:spLocks noChangeArrowheads="1"/>
            </p:cNvSpPr>
            <p:nvPr/>
          </p:nvSpPr>
          <p:spPr bwMode="auto">
            <a:xfrm>
              <a:off x="2981325" y="1704975"/>
              <a:ext cx="3199210" cy="1763316"/>
            </a:xfrm>
            <a:prstGeom prst="rect">
              <a:avLst/>
            </a:prstGeom>
            <a:noFill/>
            <a:ln w="60325" cap="flat">
              <a:solidFill>
                <a:srgbClr val="00A64E"/>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ctr" anchorCtr="0" compatLnSpc="1">
              <a:prstTxWarp prst="textNoShape">
                <a:avLst/>
              </a:prstTxWarp>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ID" sz="1351" dirty="0">
                <a:solidFill>
                  <a:schemeClr val="tx1">
                    <a:lumMod val="65000"/>
                    <a:lumOff val="35000"/>
                  </a:schemeClr>
                </a:solidFill>
              </a:endParaRPr>
            </a:p>
          </p:txBody>
        </p:sp>
        <p:pic>
          <p:nvPicPr>
            <p:cNvPr id="20" name="Picture 19" descr="A picture containing monitor, computer, keyboard, table&#10;&#10;Description automatically generated">
              <a:extLst>
                <a:ext uri="{FF2B5EF4-FFF2-40B4-BE49-F238E27FC236}">
                  <a16:creationId xmlns:a16="http://schemas.microsoft.com/office/drawing/2014/main" id="{DC46C932-19EF-4690-AB35-D49ED58E47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85223" y="1796707"/>
              <a:ext cx="2332431" cy="1826585"/>
            </a:xfrm>
            <a:prstGeom prst="rect">
              <a:avLst/>
            </a:prstGeom>
          </p:spPr>
        </p:pic>
      </p:grpSp>
    </p:spTree>
    <p:extLst>
      <p:ext uri="{BB962C8B-B14F-4D97-AF65-F5344CB8AC3E}">
        <p14:creationId xmlns:p14="http://schemas.microsoft.com/office/powerpoint/2010/main" val="787955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effectLst/>
        </p:spPr>
        <p:txBody>
          <a:bodyPr/>
          <a:lstStyle>
            <a:lvl1pPr>
              <a:defRPr>
                <a:solidFill>
                  <a:schemeClr val="accent6">
                    <a:lumMod val="50000"/>
                  </a:schemeClr>
                </a:solidFill>
                <a:latin typeface="Corbel" panose="020B0503020204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04800" y="1228153"/>
            <a:ext cx="11582400" cy="5021979"/>
          </a:xfrm>
        </p:spPr>
        <p:txBody>
          <a:bodyPr/>
          <a:lstStyle>
            <a:lvl1pPr marL="304792" indent="-228594">
              <a:buSzPct val="110000"/>
              <a:buFont typeface="Arial" panose="020B0604020202020204" pitchFamily="34" charset="0"/>
              <a:buChar char="•"/>
              <a:defRPr sz="3200">
                <a:solidFill>
                  <a:schemeClr val="tx1"/>
                </a:solidFill>
              </a:defRPr>
            </a:lvl1pPr>
            <a:lvl2pPr marL="609585" indent="-304792">
              <a:defRPr sz="3200">
                <a:solidFill>
                  <a:schemeClr val="tx1"/>
                </a:solidFill>
              </a:defRPr>
            </a:lvl2pPr>
            <a:lvl3pPr marL="836063" indent="-226478">
              <a:defRPr sz="2667">
                <a:solidFill>
                  <a:schemeClr val="tx1"/>
                </a:solidFill>
              </a:defRPr>
            </a:lvl3pPr>
            <a:lvl4pPr marL="1071007" indent="-234945">
              <a:defRPr sz="2400">
                <a:solidFill>
                  <a:schemeClr val="tx1"/>
                </a:solidFill>
              </a:defRPr>
            </a:lvl4pPr>
            <a:lvl5pPr marL="1297485" indent="-226478">
              <a:defRPr sz="2133">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04801" y="6448468"/>
            <a:ext cx="2472271" cy="365125"/>
          </a:xfrm>
        </p:spPr>
        <p:txBody>
          <a:bodyPr/>
          <a:lstStyle>
            <a:lvl1pPr>
              <a:defRPr sz="1600"/>
            </a:lvl1pPr>
          </a:lstStyle>
          <a:p>
            <a:fld id="{C2EBCB3B-0D71-481E-A68B-9B57A6B53C51}" type="datetime1">
              <a:rPr lang="en-US" smtClean="0"/>
              <a:t>10/16/2022</a:t>
            </a:fld>
            <a:endParaRPr lang="en-US" dirty="0"/>
          </a:p>
        </p:txBody>
      </p:sp>
      <p:sp>
        <p:nvSpPr>
          <p:cNvPr id="5" name="Footer Placeholder 4"/>
          <p:cNvSpPr>
            <a:spLocks noGrp="1"/>
          </p:cNvSpPr>
          <p:nvPr>
            <p:ph type="ftr" sz="quarter" idx="11"/>
          </p:nvPr>
        </p:nvSpPr>
        <p:spPr/>
        <p:txBody>
          <a:bodyPr/>
          <a:lstStyle>
            <a:lvl1pPr>
              <a:defRPr sz="1600"/>
            </a:lvl1pPr>
          </a:lstStyle>
          <a:p>
            <a:r>
              <a:rPr lang="en-US" dirty="0"/>
              <a:t>Introduction to AI</a:t>
            </a:r>
          </a:p>
        </p:txBody>
      </p:sp>
      <p:sp>
        <p:nvSpPr>
          <p:cNvPr id="6" name="Slide Number Placeholder 5"/>
          <p:cNvSpPr>
            <a:spLocks noGrp="1"/>
          </p:cNvSpPr>
          <p:nvPr>
            <p:ph type="sldNum" sz="quarter" idx="12"/>
          </p:nvPr>
        </p:nvSpPr>
        <p:spPr/>
        <p:txBody>
          <a:bodyPr/>
          <a:lstStyle>
            <a:lvl1pPr>
              <a:defRPr sz="1600"/>
            </a:lvl1pPr>
          </a:lstStyle>
          <a:p>
            <a:fld id="{B7884E68-CE57-44C0-BE0F-84C629DF22D5}" type="slidenum">
              <a:rPr lang="en-US" smtClean="0"/>
              <a:t>‹#›</a:t>
            </a:fld>
            <a:endParaRPr lang="en-US" dirty="0"/>
          </a:p>
        </p:txBody>
      </p:sp>
    </p:spTree>
    <p:extLst>
      <p:ext uri="{BB962C8B-B14F-4D97-AF65-F5344CB8AC3E}">
        <p14:creationId xmlns:p14="http://schemas.microsoft.com/office/powerpoint/2010/main" val="2384500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sz="1600"/>
            </a:lvl1pPr>
          </a:lstStyle>
          <a:p>
            <a:fld id="{45F74C52-2F28-4A39-9981-912DE8BFC2A8}" type="datetime1">
              <a:rPr lang="en-US" smtClean="0"/>
              <a:t>10/16/2022</a:t>
            </a:fld>
            <a:endParaRPr lang="en-US" dirty="0"/>
          </a:p>
        </p:txBody>
      </p:sp>
      <p:sp>
        <p:nvSpPr>
          <p:cNvPr id="5" name="Footer Placeholder 4"/>
          <p:cNvSpPr>
            <a:spLocks noGrp="1"/>
          </p:cNvSpPr>
          <p:nvPr>
            <p:ph type="ftr" sz="quarter" idx="11"/>
          </p:nvPr>
        </p:nvSpPr>
        <p:spPr/>
        <p:txBody>
          <a:bodyPr/>
          <a:lstStyle>
            <a:lvl1pPr>
              <a:defRPr sz="1600"/>
            </a:lvl1pPr>
          </a:lstStyle>
          <a:p>
            <a:r>
              <a:rPr lang="en-US" dirty="0"/>
              <a:t>Introduction to AI</a:t>
            </a:r>
          </a:p>
        </p:txBody>
      </p:sp>
      <p:sp>
        <p:nvSpPr>
          <p:cNvPr id="6" name="Slide Number Placeholder 5"/>
          <p:cNvSpPr>
            <a:spLocks noGrp="1"/>
          </p:cNvSpPr>
          <p:nvPr>
            <p:ph type="sldNum" sz="quarter" idx="12"/>
          </p:nvPr>
        </p:nvSpPr>
        <p:spPr/>
        <p:txBody>
          <a:bodyPr/>
          <a:lstStyle>
            <a:lvl1pPr>
              <a:defRPr sz="1600"/>
            </a:lvl1pPr>
          </a:lstStyle>
          <a:p>
            <a:fld id="{B7884E68-CE57-44C0-BE0F-84C629DF22D5}" type="slidenum">
              <a:rPr lang="en-US" smtClean="0"/>
              <a:t>‹#›</a:t>
            </a:fld>
            <a:endParaRPr lang="en-US" dirty="0"/>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6360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304800" y="286605"/>
            <a:ext cx="11582400" cy="703996"/>
          </a:xfrm>
        </p:spPr>
        <p:txBody>
          <a:bodyPr/>
          <a:lstStyle>
            <a:lvl1pPr>
              <a:defRPr>
                <a:solidFill>
                  <a:schemeClr val="accent6">
                    <a:lumMod val="50000"/>
                  </a:schemeClr>
                </a:solidFill>
              </a:defRPr>
            </a:lvl1pPr>
          </a:lstStyle>
          <a:p>
            <a:r>
              <a:rPr lang="en-US"/>
              <a:t>Click to edit Master title style</a:t>
            </a:r>
            <a:endParaRPr lang="en-US" dirty="0"/>
          </a:p>
        </p:txBody>
      </p:sp>
      <p:sp>
        <p:nvSpPr>
          <p:cNvPr id="3" name="Content Placeholder 2"/>
          <p:cNvSpPr>
            <a:spLocks noGrp="1"/>
          </p:cNvSpPr>
          <p:nvPr>
            <p:ph sz="half" idx="1"/>
          </p:nvPr>
        </p:nvSpPr>
        <p:spPr>
          <a:xfrm>
            <a:off x="304800" y="1193800"/>
            <a:ext cx="5689600" cy="5080000"/>
          </a:xfrm>
        </p:spPr>
        <p:txBody>
          <a:bodyPr/>
          <a:lstStyle>
            <a:lvl1pPr>
              <a:defRPr sz="3200">
                <a:solidFill>
                  <a:schemeClr val="tx1"/>
                </a:solidFill>
              </a:defRPr>
            </a:lvl1pPr>
            <a:lvl2pPr>
              <a:defRPr sz="2667">
                <a:solidFill>
                  <a:schemeClr val="tx1"/>
                </a:solidFill>
              </a:defRPr>
            </a:lvl2pPr>
            <a:lvl3pPr>
              <a:defRPr sz="2400">
                <a:solidFill>
                  <a:schemeClr val="tx1"/>
                </a:solidFill>
              </a:defRPr>
            </a:lvl3pPr>
            <a:lvl4pPr>
              <a:defRPr sz="2133">
                <a:solidFill>
                  <a:schemeClr val="tx1"/>
                </a:solidFill>
              </a:defRPr>
            </a:lvl4pPr>
            <a:lvl5pPr>
              <a:defRPr sz="2133">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96000" y="1193800"/>
            <a:ext cx="5791200" cy="5080000"/>
          </a:xfrm>
        </p:spPr>
        <p:txBody>
          <a:bodyPr/>
          <a:lstStyle>
            <a:lvl1pPr>
              <a:defRPr sz="3200">
                <a:solidFill>
                  <a:schemeClr val="tx1"/>
                </a:solidFill>
              </a:defRPr>
            </a:lvl1pPr>
            <a:lvl2pPr>
              <a:defRPr sz="2667">
                <a:solidFill>
                  <a:schemeClr val="tx1"/>
                </a:solidFill>
              </a:defRPr>
            </a:lvl2pPr>
            <a:lvl3pPr>
              <a:defRPr sz="2400">
                <a:solidFill>
                  <a:schemeClr val="tx1"/>
                </a:solidFill>
              </a:defRPr>
            </a:lvl3pPr>
            <a:lvl4pPr>
              <a:defRPr sz="2133">
                <a:solidFill>
                  <a:schemeClr val="tx1"/>
                </a:solidFill>
              </a:defRPr>
            </a:lvl4pPr>
            <a:lvl5pPr>
              <a:defRPr sz="2133">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5F7C3A-9B95-4FF3-BE1B-74724EF89AE5}" type="datetime1">
              <a:rPr lang="en-US" smtClean="0"/>
              <a:t>10/16/2022</a:t>
            </a:fld>
            <a:endParaRPr lang="en-US" dirty="0"/>
          </a:p>
        </p:txBody>
      </p:sp>
      <p:sp>
        <p:nvSpPr>
          <p:cNvPr id="6" name="Footer Placeholder 5"/>
          <p:cNvSpPr>
            <a:spLocks noGrp="1"/>
          </p:cNvSpPr>
          <p:nvPr>
            <p:ph type="ftr" sz="quarter" idx="11"/>
          </p:nvPr>
        </p:nvSpPr>
        <p:spPr/>
        <p:txBody>
          <a:bodyPr/>
          <a:lstStyle/>
          <a:p>
            <a:r>
              <a:rPr lang="en-US" dirty="0"/>
              <a:t>Introduction to AI</a:t>
            </a:r>
          </a:p>
        </p:txBody>
      </p:sp>
      <p:sp>
        <p:nvSpPr>
          <p:cNvPr id="7" name="Slide Number Placeholder 6"/>
          <p:cNvSpPr>
            <a:spLocks noGrp="1"/>
          </p:cNvSpPr>
          <p:nvPr>
            <p:ph type="sldNum" sz="quarter" idx="12"/>
          </p:nvPr>
        </p:nvSpPr>
        <p:spPr/>
        <p:txBody>
          <a:bodyPr/>
          <a:lstStyle/>
          <a:p>
            <a:fld id="{B7884E68-CE57-44C0-BE0F-84C629DF22D5}" type="slidenum">
              <a:rPr lang="en-US" smtClean="0"/>
              <a:t>‹#›</a:t>
            </a:fld>
            <a:endParaRPr lang="en-US" dirty="0"/>
          </a:p>
        </p:txBody>
      </p:sp>
    </p:spTree>
    <p:extLst>
      <p:ext uri="{BB962C8B-B14F-4D97-AF65-F5344CB8AC3E}">
        <p14:creationId xmlns:p14="http://schemas.microsoft.com/office/powerpoint/2010/main" val="533230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304800" y="279400"/>
            <a:ext cx="11582400" cy="7112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4800" y="1201995"/>
            <a:ext cx="5683795" cy="736283"/>
          </a:xfrm>
        </p:spPr>
        <p:txBody>
          <a:bodyPr lIns="91440" rIns="91440" anchor="ctr">
            <a:normAutofit/>
          </a:bodyPr>
          <a:lstStyle>
            <a:lvl1pPr marL="0" indent="0">
              <a:buNone/>
              <a:defRPr sz="2000" b="0" cap="all" baseline="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p:cNvSpPr>
            <a:spLocks noGrp="1"/>
          </p:cNvSpPr>
          <p:nvPr>
            <p:ph sz="half" idx="2"/>
          </p:nvPr>
        </p:nvSpPr>
        <p:spPr>
          <a:xfrm>
            <a:off x="310605" y="2094962"/>
            <a:ext cx="5683795" cy="417883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7601" y="1201995"/>
            <a:ext cx="5651863" cy="736283"/>
          </a:xfrm>
        </p:spPr>
        <p:txBody>
          <a:bodyPr lIns="91440" rIns="91440" anchor="ctr">
            <a:normAutofit/>
          </a:bodyPr>
          <a:lstStyle>
            <a:lvl1pPr marL="0" indent="0">
              <a:buNone/>
              <a:defRPr sz="2000" b="0" cap="all" baseline="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p:cNvSpPr>
            <a:spLocks noGrp="1"/>
          </p:cNvSpPr>
          <p:nvPr>
            <p:ph sz="quarter" idx="4"/>
          </p:nvPr>
        </p:nvSpPr>
        <p:spPr>
          <a:xfrm>
            <a:off x="6197601" y="2133907"/>
            <a:ext cx="5651863" cy="413989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7540167-62AA-472B-B26A-7C55512F2A43}" type="datetime1">
              <a:rPr lang="en-US" smtClean="0"/>
              <a:t>10/16/2022</a:t>
            </a:fld>
            <a:endParaRPr lang="en-US" dirty="0"/>
          </a:p>
        </p:txBody>
      </p:sp>
      <p:sp>
        <p:nvSpPr>
          <p:cNvPr id="8" name="Footer Placeholder 7"/>
          <p:cNvSpPr>
            <a:spLocks noGrp="1"/>
          </p:cNvSpPr>
          <p:nvPr>
            <p:ph type="ftr" sz="quarter" idx="11"/>
          </p:nvPr>
        </p:nvSpPr>
        <p:spPr/>
        <p:txBody>
          <a:bodyPr/>
          <a:lstStyle/>
          <a:p>
            <a:r>
              <a:rPr lang="en-US" dirty="0"/>
              <a:t>Introduction to AI</a:t>
            </a:r>
          </a:p>
        </p:txBody>
      </p:sp>
      <p:sp>
        <p:nvSpPr>
          <p:cNvPr id="9" name="Slide Number Placeholder 8"/>
          <p:cNvSpPr>
            <a:spLocks noGrp="1"/>
          </p:cNvSpPr>
          <p:nvPr>
            <p:ph type="sldNum" sz="quarter" idx="12"/>
          </p:nvPr>
        </p:nvSpPr>
        <p:spPr/>
        <p:txBody>
          <a:bodyPr/>
          <a:lstStyle/>
          <a:p>
            <a:fld id="{B7884E68-CE57-44C0-BE0F-84C629DF22D5}" type="slidenum">
              <a:rPr lang="en-US" smtClean="0"/>
              <a:t>‹#›</a:t>
            </a:fld>
            <a:endParaRPr lang="en-US" dirty="0"/>
          </a:p>
        </p:txBody>
      </p:sp>
    </p:spTree>
    <p:extLst>
      <p:ext uri="{BB962C8B-B14F-4D97-AF65-F5344CB8AC3E}">
        <p14:creationId xmlns:p14="http://schemas.microsoft.com/office/powerpoint/2010/main" val="578388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6">
                    <a:lumMod val="50000"/>
                  </a:schemeClr>
                </a:solidFill>
                <a:latin typeface="Corbel" panose="020B0503020204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0C9E7F3-3781-4B87-9BA9-67346277068C}" type="datetime1">
              <a:rPr lang="en-US" smtClean="0"/>
              <a:t>10/16/2022</a:t>
            </a:fld>
            <a:endParaRPr lang="en-US" dirty="0"/>
          </a:p>
        </p:txBody>
      </p:sp>
      <p:sp>
        <p:nvSpPr>
          <p:cNvPr id="4" name="Footer Placeholder 3"/>
          <p:cNvSpPr>
            <a:spLocks noGrp="1"/>
          </p:cNvSpPr>
          <p:nvPr>
            <p:ph type="ftr" sz="quarter" idx="11"/>
          </p:nvPr>
        </p:nvSpPr>
        <p:spPr/>
        <p:txBody>
          <a:bodyPr/>
          <a:lstStyle/>
          <a:p>
            <a:r>
              <a:rPr lang="en-US" dirty="0"/>
              <a:t>Introduction to AI</a:t>
            </a:r>
          </a:p>
        </p:txBody>
      </p:sp>
      <p:sp>
        <p:nvSpPr>
          <p:cNvPr id="5" name="Slide Number Placeholder 4"/>
          <p:cNvSpPr>
            <a:spLocks noGrp="1"/>
          </p:cNvSpPr>
          <p:nvPr>
            <p:ph type="sldNum" sz="quarter" idx="12"/>
          </p:nvPr>
        </p:nvSpPr>
        <p:spPr/>
        <p:txBody>
          <a:bodyPr/>
          <a:lstStyle/>
          <a:p>
            <a:fld id="{B7884E68-CE57-44C0-BE0F-84C629DF22D5}" type="slidenum">
              <a:rPr lang="en-US" smtClean="0"/>
              <a:t>‹#›</a:t>
            </a:fld>
            <a:endParaRPr lang="en-US" dirty="0"/>
          </a:p>
        </p:txBody>
      </p:sp>
    </p:spTree>
    <p:extLst>
      <p:ext uri="{BB962C8B-B14F-4D97-AF65-F5344CB8AC3E}">
        <p14:creationId xmlns:p14="http://schemas.microsoft.com/office/powerpoint/2010/main" val="1151660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4DCE0D4-EEE4-464A-B14E-668498A1786C}" type="datetime1">
              <a:rPr lang="en-US" smtClean="0"/>
              <a:t>10/16/2022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dirty="0"/>
              <a:t>Introduction to AI</a:t>
            </a:r>
          </a:p>
        </p:txBody>
      </p:sp>
      <p:sp>
        <p:nvSpPr>
          <p:cNvPr id="9" name="Slide Number Placeholder 8"/>
          <p:cNvSpPr>
            <a:spLocks noGrp="1"/>
          </p:cNvSpPr>
          <p:nvPr>
            <p:ph type="sldNum" sz="quarter" idx="12"/>
          </p:nvPr>
        </p:nvSpPr>
        <p:spPr/>
        <p:txBody>
          <a:bodyPr/>
          <a:lstStyle/>
          <a:p>
            <a:fld id="{B7884E68-CE57-44C0-BE0F-84C629DF22D5}" type="slidenum">
              <a:rPr lang="en-US" smtClean="0"/>
              <a:t>‹#›</a:t>
            </a:fld>
            <a:endParaRPr lang="en-US" dirty="0"/>
          </a:p>
        </p:txBody>
      </p:sp>
    </p:spTree>
    <p:extLst>
      <p:ext uri="{BB962C8B-B14F-4D97-AF65-F5344CB8AC3E}">
        <p14:creationId xmlns:p14="http://schemas.microsoft.com/office/powerpoint/2010/main" val="1993320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8"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1"/>
            <a:ext cx="3200400" cy="3379124"/>
          </a:xfrm>
        </p:spPr>
        <p:txBody>
          <a:bodyPr lIns="91440" rIns="91440">
            <a:normAutofit/>
          </a:bodyPr>
          <a:lstStyle>
            <a:lvl1pPr marL="0" indent="0">
              <a:buNone/>
              <a:defRPr sz="1500">
                <a:solidFill>
                  <a:srgbClr val="FFFFFF"/>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Edit Master text styles</a:t>
            </a:r>
          </a:p>
        </p:txBody>
      </p:sp>
      <p:sp>
        <p:nvSpPr>
          <p:cNvPr id="5" name="Date Placeholder 4"/>
          <p:cNvSpPr>
            <a:spLocks noGrp="1"/>
          </p:cNvSpPr>
          <p:nvPr>
            <p:ph type="dt" sz="half" idx="10"/>
          </p:nvPr>
        </p:nvSpPr>
        <p:spPr>
          <a:xfrm>
            <a:off x="465513" y="6459786"/>
            <a:ext cx="2618511" cy="365125"/>
          </a:xfrm>
        </p:spPr>
        <p:txBody>
          <a:bodyPr/>
          <a:lstStyle>
            <a:lvl1pPr algn="l">
              <a:defRPr/>
            </a:lvl1pPr>
          </a:lstStyle>
          <a:p>
            <a:fld id="{9F01490A-52FA-4D5F-8FC4-BF0949CFD9FE}" type="datetime1">
              <a:rPr lang="en-US" smtClean="0"/>
              <a:t>10/16/2022</a:t>
            </a:fld>
            <a:endParaRPr lang="en-US" dirty="0"/>
          </a:p>
        </p:txBody>
      </p:sp>
      <p:sp>
        <p:nvSpPr>
          <p:cNvPr id="6" name="Footer Placeholder 5"/>
          <p:cNvSpPr>
            <a:spLocks noGrp="1"/>
          </p:cNvSpPr>
          <p:nvPr>
            <p:ph type="ftr" sz="quarter" idx="11"/>
          </p:nvPr>
        </p:nvSpPr>
        <p:spPr>
          <a:xfrm>
            <a:off x="4800600" y="6459786"/>
            <a:ext cx="4648200" cy="365125"/>
          </a:xfrm>
        </p:spPr>
        <p:txBody>
          <a:bodyPr/>
          <a:lstStyle>
            <a:lvl1pPr algn="l">
              <a:defRPr>
                <a:solidFill>
                  <a:schemeClr val="tx2"/>
                </a:solidFill>
              </a:defRPr>
            </a:lvl1pPr>
          </a:lstStyle>
          <a:p>
            <a:r>
              <a:rPr lang="en-US" dirty="0"/>
              <a:t>Introduction to AI</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7884E68-CE57-44C0-BE0F-84C629DF22D5}" type="slidenum">
              <a:rPr lang="en-US" smtClean="0"/>
              <a:t>‹#›</a:t>
            </a:fld>
            <a:endParaRPr lang="en-US" dirty="0"/>
          </a:p>
        </p:txBody>
      </p:sp>
    </p:spTree>
    <p:extLst>
      <p:ext uri="{BB962C8B-B14F-4D97-AF65-F5344CB8AC3E}">
        <p14:creationId xmlns:p14="http://schemas.microsoft.com/office/powerpoint/2010/main" val="1367558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 y="1"/>
            <a:ext cx="12191985" cy="4915076"/>
          </a:xfrm>
          <a:solidFill>
            <a:schemeClr val="bg2">
              <a:lumMod val="90000"/>
            </a:schemeClr>
          </a:solidFill>
        </p:spPr>
        <p:txBody>
          <a:bodyPr lIns="457200" tIns="457200"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B12F2A6-6D52-4597-AE80-18A37809C64D}" type="datetime1">
              <a:rPr lang="en-US" smtClean="0"/>
              <a:t>10/16/2022</a:t>
            </a:fld>
            <a:endParaRPr lang="en-US" dirty="0"/>
          </a:p>
        </p:txBody>
      </p:sp>
      <p:sp>
        <p:nvSpPr>
          <p:cNvPr id="6" name="Footer Placeholder 5"/>
          <p:cNvSpPr>
            <a:spLocks noGrp="1"/>
          </p:cNvSpPr>
          <p:nvPr>
            <p:ph type="ftr" sz="quarter" idx="11"/>
          </p:nvPr>
        </p:nvSpPr>
        <p:spPr/>
        <p:txBody>
          <a:bodyPr/>
          <a:lstStyle/>
          <a:p>
            <a:r>
              <a:rPr lang="en-US" dirty="0"/>
              <a:t>Introduction to AI</a:t>
            </a:r>
          </a:p>
        </p:txBody>
      </p:sp>
      <p:sp>
        <p:nvSpPr>
          <p:cNvPr id="7" name="Slide Number Placeholder 6"/>
          <p:cNvSpPr>
            <a:spLocks noGrp="1"/>
          </p:cNvSpPr>
          <p:nvPr>
            <p:ph type="sldNum" sz="quarter" idx="12"/>
          </p:nvPr>
        </p:nvSpPr>
        <p:spPr/>
        <p:txBody>
          <a:bodyPr/>
          <a:lstStyle/>
          <a:p>
            <a:fld id="{B7884E68-CE57-44C0-BE0F-84C629DF22D5}" type="slidenum">
              <a:rPr lang="en-US" smtClean="0"/>
              <a:t>‹#›</a:t>
            </a:fld>
            <a:endParaRPr lang="en-US" dirty="0"/>
          </a:p>
        </p:txBody>
      </p:sp>
    </p:spTree>
    <p:extLst>
      <p:ext uri="{BB962C8B-B14F-4D97-AF65-F5344CB8AC3E}">
        <p14:creationId xmlns:p14="http://schemas.microsoft.com/office/powerpoint/2010/main" val="4113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orbel" panose="020B0503020204020204" pitchFamily="34" charset="0"/>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773F6-2C60-4E86-B914-ED9EFA9E21E4}"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a:t>
            </a:fld>
            <a:endParaRPr lang="en-US" dirty="0"/>
          </a:p>
        </p:txBody>
      </p:sp>
    </p:spTree>
    <p:extLst>
      <p:ext uri="{BB962C8B-B14F-4D97-AF65-F5344CB8AC3E}">
        <p14:creationId xmlns:p14="http://schemas.microsoft.com/office/powerpoint/2010/main" val="2657399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1" y="412301"/>
            <a:ext cx="2628900" cy="575989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12301"/>
            <a:ext cx="7734300" cy="5759899"/>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267D44-88BD-4AB9-A69F-DCABA3A0A344}"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a:t>
            </a:fld>
            <a:endParaRPr lang="en-US" dirty="0"/>
          </a:p>
        </p:txBody>
      </p:sp>
    </p:spTree>
    <p:extLst>
      <p:ext uri="{BB962C8B-B14F-4D97-AF65-F5344CB8AC3E}">
        <p14:creationId xmlns:p14="http://schemas.microsoft.com/office/powerpoint/2010/main" val="2459050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6334317"/>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304800" y="286605"/>
            <a:ext cx="11582400" cy="70399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04800" y="1210736"/>
            <a:ext cx="11582400" cy="5021979"/>
          </a:xfrm>
          <a:prstGeom prst="rect">
            <a:avLst/>
          </a:prstGeom>
        </p:spPr>
        <p:txBody>
          <a:bodyPr vert="horz" lIns="0" tIns="45720" rIns="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04801" y="6442483"/>
            <a:ext cx="2472271" cy="365125"/>
          </a:xfrm>
          <a:prstGeom prst="rect">
            <a:avLst/>
          </a:prstGeom>
        </p:spPr>
        <p:txBody>
          <a:bodyPr vert="horz" lIns="91440" tIns="45720" rIns="91440" bIns="45720" rtlCol="0" anchor="ctr"/>
          <a:lstStyle>
            <a:lvl1pPr algn="l">
              <a:defRPr sz="1333">
                <a:solidFill>
                  <a:schemeClr val="bg1"/>
                </a:solidFill>
              </a:defRPr>
            </a:lvl1pPr>
          </a:lstStyle>
          <a:p>
            <a:fld id="{724CCDCF-C946-4B5F-8533-074F9C2F4839}" type="datetime1">
              <a:rPr lang="en-US" smtClean="0"/>
              <a:t>10/16/2022</a:t>
            </a:fld>
            <a:endParaRPr lang="en-US" dirty="0"/>
          </a:p>
        </p:txBody>
      </p:sp>
      <p:sp>
        <p:nvSpPr>
          <p:cNvPr id="5" name="Footer Placeholder 4"/>
          <p:cNvSpPr>
            <a:spLocks noGrp="1"/>
          </p:cNvSpPr>
          <p:nvPr>
            <p:ph type="ftr" sz="quarter" idx="3"/>
          </p:nvPr>
        </p:nvSpPr>
        <p:spPr>
          <a:xfrm>
            <a:off x="3686186" y="6459786"/>
            <a:ext cx="4822804" cy="365125"/>
          </a:xfrm>
          <a:prstGeom prst="rect">
            <a:avLst/>
          </a:prstGeom>
        </p:spPr>
        <p:txBody>
          <a:bodyPr vert="horz" lIns="91440" tIns="45720" rIns="91440" bIns="45720" rtlCol="0" anchor="ctr"/>
          <a:lstStyle>
            <a:lvl1pPr algn="ctr">
              <a:defRPr sz="1333" cap="all" baseline="0">
                <a:solidFill>
                  <a:schemeClr val="bg1"/>
                </a:solidFill>
              </a:defRPr>
            </a:lvl1pPr>
          </a:lstStyle>
          <a:p>
            <a:r>
              <a:rPr lang="en-US" dirty="0"/>
              <a:t>Introduction to AI</a:t>
            </a:r>
          </a:p>
        </p:txBody>
      </p:sp>
      <p:sp>
        <p:nvSpPr>
          <p:cNvPr id="6" name="Slide Number Placeholder 5"/>
          <p:cNvSpPr>
            <a:spLocks noGrp="1"/>
          </p:cNvSpPr>
          <p:nvPr>
            <p:ph type="sldNum" sz="quarter" idx="4"/>
          </p:nvPr>
        </p:nvSpPr>
        <p:spPr>
          <a:xfrm>
            <a:off x="10575176" y="6448468"/>
            <a:ext cx="1312025" cy="365125"/>
          </a:xfrm>
          <a:prstGeom prst="rect">
            <a:avLst/>
          </a:prstGeom>
        </p:spPr>
        <p:txBody>
          <a:bodyPr vert="horz" lIns="91440" tIns="45720" rIns="91440" bIns="45720" rtlCol="0" anchor="ctr"/>
          <a:lstStyle>
            <a:lvl1pPr algn="r">
              <a:defRPr sz="1333">
                <a:solidFill>
                  <a:schemeClr val="bg1"/>
                </a:solidFill>
              </a:defRPr>
            </a:lvl1pPr>
          </a:lstStyle>
          <a:p>
            <a:fld id="{B7884E68-CE57-44C0-BE0F-84C629DF22D5}" type="slidenum">
              <a:rPr lang="en-US" smtClean="0"/>
              <a:t>‹#›</a:t>
            </a:fld>
            <a:endParaRPr lang="en-US" dirty="0"/>
          </a:p>
        </p:txBody>
      </p:sp>
      <p:cxnSp>
        <p:nvCxnSpPr>
          <p:cNvPr id="10" name="Straight Connector 9"/>
          <p:cNvCxnSpPr/>
          <p:nvPr/>
        </p:nvCxnSpPr>
        <p:spPr>
          <a:xfrm>
            <a:off x="304800" y="1092200"/>
            <a:ext cx="115824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182980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377" rtl="0" eaLnBrk="1" latinLnBrk="0" hangingPunct="1">
        <a:lnSpc>
          <a:spcPct val="85000"/>
        </a:lnSpc>
        <a:spcBef>
          <a:spcPct val="0"/>
        </a:spcBef>
        <a:buNone/>
        <a:defRPr sz="4800" kern="1200" spc="-51" baseline="0">
          <a:solidFill>
            <a:schemeClr val="accent6">
              <a:lumMod val="50000"/>
            </a:schemeClr>
          </a:solidFill>
          <a:latin typeface="+mj-lt"/>
          <a:ea typeface="+mj-ea"/>
          <a:cs typeface="+mj-cs"/>
        </a:defRPr>
      </a:lvl1pPr>
    </p:titleStyle>
    <p:bodyStyle>
      <a:lvl1pPr marL="91438" indent="-91438" algn="l" defTabSz="914377"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kern="1200">
          <a:solidFill>
            <a:schemeClr val="tx1"/>
          </a:solidFill>
          <a:latin typeface="+mn-lt"/>
          <a:ea typeface="+mn-ea"/>
          <a:cs typeface="+mn-cs"/>
        </a:defRPr>
      </a:lvl1pPr>
      <a:lvl2pPr marL="384038" indent="-182875"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566914" indent="-18287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3pPr>
      <a:lvl4pPr marL="749789" indent="-182875"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4pPr>
      <a:lvl5pPr marL="932665" indent="-182875"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4.emf"/></Relationships>
</file>

<file path=ppt/slides/_rels/slide2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4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2.xml"/><Relationship Id="rId5" Type="http://schemas.openxmlformats.org/officeDocument/2006/relationships/image" Target="../media/image46.emf"/><Relationship Id="rId4" Type="http://schemas.openxmlformats.org/officeDocument/2006/relationships/image" Target="../media/image45.emf"/></Relationships>
</file>

<file path=ppt/slides/_rels/slide81.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2.xml"/><Relationship Id="rId4" Type="http://schemas.openxmlformats.org/officeDocument/2006/relationships/image" Target="../media/image49.emf"/></Relationships>
</file>

<file path=ppt/slides/_rels/slide82.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slideLayout" Target="../slideLayouts/slideLayout2.xml"/><Relationship Id="rId5" Type="http://schemas.openxmlformats.org/officeDocument/2006/relationships/image" Target="../media/image53.emf"/><Relationship Id="rId4" Type="http://schemas.openxmlformats.org/officeDocument/2006/relationships/image" Target="../media/image52.emf"/></Relationships>
</file>

<file path=ppt/slides/_rels/slide83.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emf"/><Relationship Id="rId1" Type="http://schemas.openxmlformats.org/officeDocument/2006/relationships/slideLayout" Target="../slideLayouts/slideLayout2.xml"/><Relationship Id="rId5" Type="http://schemas.openxmlformats.org/officeDocument/2006/relationships/image" Target="../media/image57.emf"/><Relationship Id="rId4" Type="http://schemas.openxmlformats.org/officeDocument/2006/relationships/image" Target="../media/image56.emf"/></Relationships>
</file>

<file path=ppt/slides/_rels/slide8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8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9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hyperlink" Target="https://sandipanweb.wordpress.com/2017/03/17/solving-sudoku-as-a-constraint-satisfaction-problem-using-constraint-propagation-with-arc-consistency-checking-and-then-backtracking-with-minimum-remaning-value-heuristic-and-forward-checking/" TargetMode="External"/></Relationships>
</file>

<file path=ppt/slides/_rels/slide9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0" y="5013470"/>
            <a:ext cx="12192000" cy="914400"/>
          </a:xfrm>
        </p:spPr>
        <p:txBody>
          <a:bodyPr anchor="ctr"/>
          <a:lstStyle/>
          <a:p>
            <a:pPr algn="ctr"/>
            <a:r>
              <a:rPr lang="en-US" dirty="0"/>
              <a:t>Constraint Satisfaction Problems</a:t>
            </a:r>
          </a:p>
        </p:txBody>
      </p:sp>
    </p:spTree>
    <p:extLst>
      <p:ext uri="{BB962C8B-B14F-4D97-AF65-F5344CB8AC3E}">
        <p14:creationId xmlns:p14="http://schemas.microsoft.com/office/powerpoint/2010/main" val="2031480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Outline</a:t>
            </a:r>
          </a:p>
        </p:txBody>
      </p:sp>
      <p:sp>
        <p:nvSpPr>
          <p:cNvPr id="3" name="Content Placeholder 2"/>
          <p:cNvSpPr>
            <a:spLocks noGrp="1"/>
          </p:cNvSpPr>
          <p:nvPr>
            <p:ph idx="1"/>
          </p:nvPr>
        </p:nvSpPr>
        <p:spPr/>
        <p:txBody>
          <a:bodyPr>
            <a:normAutofit/>
          </a:bodyPr>
          <a:lstStyle/>
          <a:p>
            <a:r>
              <a:rPr lang="en-US" dirty="0"/>
              <a:t>Introduction </a:t>
            </a:r>
          </a:p>
          <a:p>
            <a:r>
              <a:rPr lang="en-US" dirty="0"/>
              <a:t>Defining Constraint Satisfaction Problems</a:t>
            </a:r>
          </a:p>
          <a:p>
            <a:r>
              <a:rPr lang="en-US" dirty="0"/>
              <a:t>Real-World Examples of CSPs</a:t>
            </a:r>
          </a:p>
          <a:p>
            <a:r>
              <a:rPr lang="en-US" dirty="0"/>
              <a:t>Backtracking Search</a:t>
            </a:r>
          </a:p>
          <a:p>
            <a:r>
              <a:rPr lang="en-US" dirty="0"/>
              <a:t>Improving Backtracking Search</a:t>
            </a:r>
          </a:p>
          <a:p>
            <a:r>
              <a:rPr lang="en-US" dirty="0"/>
              <a:t>CSP Examples</a:t>
            </a:r>
          </a:p>
          <a:p>
            <a:r>
              <a:rPr lang="en-US" dirty="0"/>
              <a:t>Conclusion</a:t>
            </a:r>
          </a:p>
          <a:p>
            <a:endParaRPr lang="en-US" dirty="0"/>
          </a:p>
        </p:txBody>
      </p:sp>
      <p:sp>
        <p:nvSpPr>
          <p:cNvPr id="4" name="Date Placeholder 3"/>
          <p:cNvSpPr>
            <a:spLocks noGrp="1"/>
          </p:cNvSpPr>
          <p:nvPr>
            <p:ph type="dt" sz="half" idx="10"/>
          </p:nvPr>
        </p:nvSpPr>
        <p:spPr/>
        <p:txBody>
          <a:bodyPr/>
          <a:lstStyle/>
          <a:p>
            <a:fld id="{ABB5B966-3E44-4641-8FD7-7C826FE147F2}"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a:t>
            </a:fld>
            <a:endParaRPr lang="en-US" dirty="0"/>
          </a:p>
        </p:txBody>
      </p:sp>
    </p:spTree>
    <p:extLst>
      <p:ext uri="{BB962C8B-B14F-4D97-AF65-F5344CB8AC3E}">
        <p14:creationId xmlns:p14="http://schemas.microsoft.com/office/powerpoint/2010/main" val="3508507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Introduction</a:t>
            </a:r>
          </a:p>
        </p:txBody>
      </p:sp>
      <p:sp>
        <p:nvSpPr>
          <p:cNvPr id="3" name="Content Placeholder 2"/>
          <p:cNvSpPr>
            <a:spLocks noGrp="1"/>
          </p:cNvSpPr>
          <p:nvPr>
            <p:ph idx="1"/>
          </p:nvPr>
        </p:nvSpPr>
        <p:spPr>
          <a:xfrm>
            <a:off x="304800" y="1228153"/>
            <a:ext cx="11582400" cy="5082495"/>
          </a:xfrm>
        </p:spPr>
        <p:txBody>
          <a:bodyPr>
            <a:normAutofit/>
          </a:bodyPr>
          <a:lstStyle/>
          <a:p>
            <a:pPr>
              <a:spcAft>
                <a:spcPts val="600"/>
              </a:spcAft>
            </a:pPr>
            <a:r>
              <a:rPr lang="en-US" dirty="0"/>
              <a:t>The search algorithms we discussed so far had no knowledge of the state representation (black box with no internal structure).</a:t>
            </a:r>
          </a:p>
          <a:p>
            <a:pPr lvl="1">
              <a:spcAft>
                <a:spcPts val="600"/>
              </a:spcAft>
            </a:pPr>
            <a:r>
              <a:rPr lang="en-US" sz="2800" dirty="0"/>
              <a:t>For each problem we had to design a new state representation.</a:t>
            </a:r>
          </a:p>
          <a:p>
            <a:pPr>
              <a:spcAft>
                <a:spcPts val="600"/>
              </a:spcAft>
            </a:pPr>
            <a:r>
              <a:rPr lang="en-US" dirty="0">
                <a:solidFill>
                  <a:schemeClr val="accent6">
                    <a:lumMod val="75000"/>
                  </a:schemeClr>
                </a:solidFill>
              </a:rPr>
              <a:t>In Constraint Satisfaction Problem </a:t>
            </a:r>
            <a:r>
              <a:rPr lang="en-US" dirty="0"/>
              <a:t>(CSP) we use an internal </a:t>
            </a:r>
            <a:r>
              <a:rPr lang="en-US" dirty="0">
                <a:solidFill>
                  <a:srgbClr val="C00000"/>
                </a:solidFill>
              </a:rPr>
              <a:t>representation</a:t>
            </a:r>
            <a:r>
              <a:rPr lang="en-US" dirty="0"/>
              <a:t> for each state: a set of variables represent these states, each of which has a value.</a:t>
            </a:r>
          </a:p>
          <a:p>
            <a:pPr>
              <a:spcAft>
                <a:spcPts val="600"/>
              </a:spcAft>
            </a:pPr>
            <a:r>
              <a:rPr lang="en-US" dirty="0"/>
              <a:t>We can build </a:t>
            </a:r>
            <a:r>
              <a:rPr lang="en-US" dirty="0">
                <a:solidFill>
                  <a:srgbClr val="C00000"/>
                </a:solidFill>
              </a:rPr>
              <a:t>specialized search algorithms </a:t>
            </a:r>
            <a:r>
              <a:rPr lang="en-US" dirty="0"/>
              <a:t>that operate efficiently on this general state representation.</a:t>
            </a:r>
          </a:p>
        </p:txBody>
      </p:sp>
      <p:sp>
        <p:nvSpPr>
          <p:cNvPr id="4" name="Date Placeholder 3"/>
          <p:cNvSpPr>
            <a:spLocks noGrp="1"/>
          </p:cNvSpPr>
          <p:nvPr>
            <p:ph type="dt" sz="half" idx="10"/>
          </p:nvPr>
        </p:nvSpPr>
        <p:spPr/>
        <p:txBody>
          <a:bodyPr/>
          <a:lstStyle/>
          <a:p>
            <a:fld id="{7A738250-6077-4E75-9CCA-5F22EA4DBA2E}"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3</a:t>
            </a:fld>
            <a:endParaRPr lang="en-US" dirty="0"/>
          </a:p>
        </p:txBody>
      </p:sp>
    </p:spTree>
    <p:extLst>
      <p:ext uri="{BB962C8B-B14F-4D97-AF65-F5344CB8AC3E}">
        <p14:creationId xmlns:p14="http://schemas.microsoft.com/office/powerpoint/2010/main" val="898370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Defining Constraint Satisfaction Problems</a:t>
            </a:r>
          </a:p>
        </p:txBody>
      </p:sp>
      <p:sp>
        <p:nvSpPr>
          <p:cNvPr id="3" name="Content Placeholder 2"/>
          <p:cNvSpPr>
            <a:spLocks noGrp="1"/>
          </p:cNvSpPr>
          <p:nvPr>
            <p:ph idx="1"/>
          </p:nvPr>
        </p:nvSpPr>
        <p:spPr>
          <a:xfrm>
            <a:off x="304800" y="1228153"/>
            <a:ext cx="11582400" cy="5021979"/>
          </a:xfrm>
        </p:spPr>
        <p:txBody>
          <a:bodyPr>
            <a:normAutofit/>
          </a:bodyPr>
          <a:lstStyle/>
          <a:p>
            <a:r>
              <a:rPr lang="en-US" dirty="0"/>
              <a:t>A </a:t>
            </a:r>
            <a:r>
              <a:rPr lang="en-US" dirty="0">
                <a:solidFill>
                  <a:schemeClr val="accent6">
                    <a:lumMod val="75000"/>
                  </a:schemeClr>
                </a:solidFill>
              </a:rPr>
              <a:t>Constraint Satisfaction Problem </a:t>
            </a:r>
            <a:r>
              <a:rPr lang="en-US" dirty="0"/>
              <a:t>(</a:t>
            </a:r>
            <a:r>
              <a:rPr lang="en-US" dirty="0">
                <a:solidFill>
                  <a:schemeClr val="accent6">
                    <a:lumMod val="75000"/>
                  </a:schemeClr>
                </a:solidFill>
              </a:rPr>
              <a:t>CSP</a:t>
            </a:r>
            <a:r>
              <a:rPr lang="en-US" dirty="0"/>
              <a:t>) consists of three components:</a:t>
            </a:r>
          </a:p>
          <a:p>
            <a:pPr lvl="1"/>
            <a:r>
              <a:rPr lang="en-US" sz="2933" dirty="0"/>
              <a:t>A set of </a:t>
            </a:r>
            <a:r>
              <a:rPr lang="en-US" sz="2933" dirty="0">
                <a:solidFill>
                  <a:srgbClr val="C00000"/>
                </a:solidFill>
              </a:rPr>
              <a:t>variables </a:t>
            </a:r>
            <a:r>
              <a:rPr lang="en-US" sz="2933" dirty="0"/>
              <a:t>that can take a finite value; </a:t>
            </a:r>
            <a:r>
              <a:rPr lang="en-US" sz="2933" b="1" dirty="0">
                <a:solidFill>
                  <a:schemeClr val="accent6">
                    <a:lumMod val="75000"/>
                  </a:schemeClr>
                </a:solidFill>
              </a:rPr>
              <a:t>𝑉</a:t>
            </a:r>
            <a:r>
              <a:rPr lang="en-US" sz="2933" dirty="0"/>
              <a:t>={𝑉</a:t>
            </a:r>
            <a:r>
              <a:rPr lang="en-US" sz="2933" baseline="-25000" dirty="0"/>
              <a:t>1</a:t>
            </a:r>
            <a:r>
              <a:rPr lang="en-US" sz="2933" dirty="0"/>
              <a:t>, 𝑉</a:t>
            </a:r>
            <a:r>
              <a:rPr lang="en-US" sz="2933" baseline="-25000" dirty="0"/>
              <a:t>2</a:t>
            </a:r>
            <a:r>
              <a:rPr lang="en-US" sz="2933" dirty="0"/>
              <a:t>, 𝑉</a:t>
            </a:r>
            <a:r>
              <a:rPr lang="en-US" sz="2933" baseline="-25000" dirty="0"/>
              <a:t>3</a:t>
            </a:r>
            <a:r>
              <a:rPr lang="en-US" sz="2933" dirty="0"/>
              <a:t>,…, 𝑉</a:t>
            </a:r>
            <a:r>
              <a:rPr lang="en-US" sz="2933" baseline="-25000" dirty="0"/>
              <a:t>n</a:t>
            </a:r>
            <a:r>
              <a:rPr lang="en-US" sz="2933" dirty="0"/>
              <a:t>}</a:t>
            </a:r>
          </a:p>
          <a:p>
            <a:pPr lvl="1"/>
            <a:r>
              <a:rPr lang="en-US" sz="2933" dirty="0"/>
              <a:t>A set of </a:t>
            </a:r>
            <a:r>
              <a:rPr lang="en-US" sz="2933" dirty="0">
                <a:solidFill>
                  <a:srgbClr val="C00000"/>
                </a:solidFill>
              </a:rPr>
              <a:t>domains</a:t>
            </a:r>
            <a:r>
              <a:rPr lang="en-US" sz="2933" dirty="0"/>
              <a:t>, one for each variable from which a value is picked </a:t>
            </a:r>
            <a:r>
              <a:rPr lang="en-US" sz="2933" b="1" dirty="0">
                <a:solidFill>
                  <a:schemeClr val="accent6">
                    <a:lumMod val="75000"/>
                  </a:schemeClr>
                </a:solidFill>
              </a:rPr>
              <a:t>𝐷</a:t>
            </a:r>
            <a:r>
              <a:rPr lang="en-US" sz="2933" dirty="0"/>
              <a:t>={</a:t>
            </a:r>
            <a:r>
              <a:rPr lang="en-US" sz="2933" i="1" dirty="0"/>
              <a:t>D</a:t>
            </a:r>
            <a:r>
              <a:rPr lang="en-US" sz="2933" i="1" baseline="-25000" dirty="0"/>
              <a:t>v</a:t>
            </a:r>
            <a:r>
              <a:rPr lang="en-US" sz="2933" baseline="-25000" dirty="0"/>
              <a:t>1</a:t>
            </a:r>
            <a:r>
              <a:rPr lang="en-US" sz="2933" dirty="0"/>
              <a:t>, </a:t>
            </a:r>
            <a:r>
              <a:rPr lang="en-US" sz="2933" i="1" dirty="0"/>
              <a:t>D</a:t>
            </a:r>
            <a:r>
              <a:rPr lang="en-US" sz="2933" i="1" baseline="-25000" dirty="0"/>
              <a:t>v</a:t>
            </a:r>
            <a:r>
              <a:rPr lang="en-US" sz="2933" baseline="-25000" dirty="0"/>
              <a:t>2</a:t>
            </a:r>
            <a:r>
              <a:rPr lang="en-US" sz="2933" dirty="0"/>
              <a:t>, </a:t>
            </a:r>
            <a:r>
              <a:rPr lang="en-US" sz="2933" i="1" dirty="0"/>
              <a:t>D</a:t>
            </a:r>
            <a:r>
              <a:rPr lang="en-US" sz="2933" i="1" baseline="-25000" dirty="0"/>
              <a:t>v</a:t>
            </a:r>
            <a:r>
              <a:rPr lang="en-US" sz="2933" baseline="-25000" dirty="0"/>
              <a:t>3</a:t>
            </a:r>
            <a:r>
              <a:rPr lang="en-US" sz="2933" dirty="0"/>
              <a:t>,…, </a:t>
            </a:r>
            <a:r>
              <a:rPr lang="en-US" sz="2933" i="1" dirty="0" err="1"/>
              <a:t>D</a:t>
            </a:r>
            <a:r>
              <a:rPr lang="en-US" sz="2933" i="1" baseline="-25000" dirty="0" err="1"/>
              <a:t>vn</a:t>
            </a:r>
            <a:r>
              <a:rPr lang="en-US" sz="2933" dirty="0"/>
              <a:t>}.</a:t>
            </a:r>
          </a:p>
          <a:p>
            <a:pPr lvl="1"/>
            <a:r>
              <a:rPr lang="en-US" sz="2933" dirty="0"/>
              <a:t>A set of </a:t>
            </a:r>
            <a:r>
              <a:rPr lang="en-US" sz="2933" dirty="0">
                <a:solidFill>
                  <a:srgbClr val="C00000"/>
                </a:solidFill>
              </a:rPr>
              <a:t>constraints</a:t>
            </a:r>
            <a:r>
              <a:rPr lang="en-US" sz="2933" dirty="0"/>
              <a:t> </a:t>
            </a:r>
            <a:r>
              <a:rPr lang="en-US" sz="2933" b="1" dirty="0">
                <a:solidFill>
                  <a:schemeClr val="accent6">
                    <a:lumMod val="75000"/>
                  </a:schemeClr>
                </a:solidFill>
              </a:rPr>
              <a:t>𝐶</a:t>
            </a:r>
            <a:r>
              <a:rPr lang="en-US" sz="2933" dirty="0"/>
              <a:t>={</a:t>
            </a:r>
            <a:r>
              <a:rPr lang="en-US" sz="2933" i="1" dirty="0"/>
              <a:t>C</a:t>
            </a:r>
            <a:r>
              <a:rPr lang="en-US" sz="2933" baseline="-25000" dirty="0"/>
              <a:t>1</a:t>
            </a:r>
            <a:r>
              <a:rPr lang="en-US" sz="2933" dirty="0"/>
              <a:t>, </a:t>
            </a:r>
            <a:r>
              <a:rPr lang="en-US" sz="2933" i="1" dirty="0"/>
              <a:t>C</a:t>
            </a:r>
            <a:r>
              <a:rPr lang="en-US" sz="2933" baseline="-25000" dirty="0"/>
              <a:t>2</a:t>
            </a:r>
            <a:r>
              <a:rPr lang="en-US" sz="2933" dirty="0"/>
              <a:t>, </a:t>
            </a:r>
            <a:r>
              <a:rPr lang="en-US" sz="2933" i="1" dirty="0"/>
              <a:t>C</a:t>
            </a:r>
            <a:r>
              <a:rPr lang="en-US" sz="2933" baseline="-25000" dirty="0"/>
              <a:t>3</a:t>
            </a:r>
            <a:r>
              <a:rPr lang="en-US" sz="2933" dirty="0"/>
              <a:t>,…,</a:t>
            </a:r>
            <a:r>
              <a:rPr lang="en-US" sz="2933" i="1" dirty="0"/>
              <a:t> C</a:t>
            </a:r>
            <a:r>
              <a:rPr lang="en-US" sz="2933" baseline="-25000" dirty="0"/>
              <a:t>m</a:t>
            </a:r>
            <a:r>
              <a:rPr lang="en-US" sz="2933" dirty="0"/>
              <a:t>} that specify allowable combination of values </a:t>
            </a:r>
          </a:p>
          <a:p>
            <a:r>
              <a:rPr lang="en-US" dirty="0"/>
              <a:t>A solution to a CSP is an </a:t>
            </a:r>
            <a:r>
              <a:rPr lang="en-US" dirty="0">
                <a:solidFill>
                  <a:srgbClr val="C00000"/>
                </a:solidFill>
              </a:rPr>
              <a:t>assignment</a:t>
            </a:r>
            <a:r>
              <a:rPr lang="en-US" dirty="0"/>
              <a:t> </a:t>
            </a:r>
            <a:r>
              <a:rPr lang="en-US" dirty="0">
                <a:solidFill>
                  <a:srgbClr val="C00000"/>
                </a:solidFill>
              </a:rPr>
              <a:t>of values </a:t>
            </a:r>
            <a:r>
              <a:rPr lang="en-US" dirty="0"/>
              <a:t>to all variables such that </a:t>
            </a:r>
            <a:r>
              <a:rPr lang="en-US" dirty="0">
                <a:solidFill>
                  <a:srgbClr val="C00000"/>
                </a:solidFill>
              </a:rPr>
              <a:t>all constraints are satisfied</a:t>
            </a:r>
            <a:r>
              <a:rPr lang="en-US" dirty="0"/>
              <a:t>.</a:t>
            </a:r>
          </a:p>
          <a:p>
            <a:endParaRPr lang="en-US" dirty="0"/>
          </a:p>
        </p:txBody>
      </p:sp>
      <p:sp>
        <p:nvSpPr>
          <p:cNvPr id="4" name="Date Placeholder 3"/>
          <p:cNvSpPr>
            <a:spLocks noGrp="1"/>
          </p:cNvSpPr>
          <p:nvPr>
            <p:ph type="dt" sz="half" idx="10"/>
          </p:nvPr>
        </p:nvSpPr>
        <p:spPr/>
        <p:txBody>
          <a:bodyPr/>
          <a:lstStyle/>
          <a:p>
            <a:fld id="{2FD5A308-DDAC-424D-A7CA-9CAA839A72C1}"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4</a:t>
            </a:fld>
            <a:endParaRPr lang="en-US" dirty="0"/>
          </a:p>
        </p:txBody>
      </p:sp>
    </p:spTree>
    <p:extLst>
      <p:ext uri="{BB962C8B-B14F-4D97-AF65-F5344CB8AC3E}">
        <p14:creationId xmlns:p14="http://schemas.microsoft.com/office/powerpoint/2010/main" val="1329627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2E227-91D2-4B9A-8973-80EB9F7CFC2E}"/>
              </a:ext>
            </a:extLst>
          </p:cNvPr>
          <p:cNvSpPr>
            <a:spLocks noGrp="1"/>
          </p:cNvSpPr>
          <p:nvPr>
            <p:ph type="title"/>
          </p:nvPr>
        </p:nvSpPr>
        <p:spPr/>
        <p:txBody>
          <a:bodyPr>
            <a:normAutofit fontScale="90000"/>
          </a:bodyPr>
          <a:lstStyle/>
          <a:p>
            <a:r>
              <a:rPr lang="en-US" dirty="0"/>
              <a:t>Defining Constraint Satisfaction Problems</a:t>
            </a:r>
          </a:p>
        </p:txBody>
      </p:sp>
      <p:sp>
        <p:nvSpPr>
          <p:cNvPr id="3" name="Content Placeholder 2">
            <a:extLst>
              <a:ext uri="{FF2B5EF4-FFF2-40B4-BE49-F238E27FC236}">
                <a16:creationId xmlns:a16="http://schemas.microsoft.com/office/drawing/2014/main" id="{73283C12-F415-45C4-9B43-E533EFCBAD1F}"/>
              </a:ext>
            </a:extLst>
          </p:cNvPr>
          <p:cNvSpPr>
            <a:spLocks noGrp="1"/>
          </p:cNvSpPr>
          <p:nvPr>
            <p:ph idx="1"/>
          </p:nvPr>
        </p:nvSpPr>
        <p:spPr/>
        <p:txBody>
          <a:bodyPr>
            <a:normAutofit lnSpcReduction="10000"/>
          </a:bodyPr>
          <a:lstStyle/>
          <a:p>
            <a:r>
              <a:rPr lang="en-US" dirty="0"/>
              <a:t>Each variable in the variable set can belong to different domains.</a:t>
            </a:r>
          </a:p>
          <a:p>
            <a:r>
              <a:rPr lang="en-US" dirty="0"/>
              <a:t>The elements in the domain can be both continuous and discrete. </a:t>
            </a:r>
          </a:p>
          <a:p>
            <a:r>
              <a:rPr lang="en-US" dirty="0"/>
              <a:t>All sets should be finite except for the domain set. </a:t>
            </a:r>
          </a:p>
          <a:p>
            <a:r>
              <a:rPr lang="en-US" dirty="0"/>
              <a:t>Each constraint 𝐶:</a:t>
            </a:r>
          </a:p>
          <a:p>
            <a:pPr lvl="1"/>
            <a:r>
              <a:rPr lang="en-US" sz="2800" dirty="0"/>
              <a:t>Has a set of variables it is over, called </a:t>
            </a:r>
            <a:r>
              <a:rPr lang="en-US" sz="2800" dirty="0">
                <a:solidFill>
                  <a:srgbClr val="C00000"/>
                </a:solidFill>
              </a:rPr>
              <a:t>scope </a:t>
            </a:r>
            <a:r>
              <a:rPr lang="en-US" sz="2800" dirty="0"/>
              <a:t>of the constraint</a:t>
            </a:r>
            <a:endParaRPr lang="en-US" sz="2800" dirty="0">
              <a:solidFill>
                <a:srgbClr val="C00000"/>
              </a:solidFill>
            </a:endParaRPr>
          </a:p>
          <a:p>
            <a:pPr lvl="2"/>
            <a:r>
              <a:rPr lang="en-US" sz="2400" dirty="0"/>
              <a:t>e.g., the constraint V</a:t>
            </a:r>
            <a:r>
              <a:rPr lang="en-US" sz="2400" baseline="-25000" dirty="0"/>
              <a:t>2</a:t>
            </a:r>
            <a:r>
              <a:rPr lang="en-US" sz="2400" dirty="0"/>
              <a:t> ≠ 2 has a scope {</a:t>
            </a:r>
            <a:r>
              <a:rPr lang="en-US" sz="2400" dirty="0">
                <a:solidFill>
                  <a:srgbClr val="008000"/>
                </a:solidFill>
              </a:rPr>
              <a:t>V</a:t>
            </a:r>
            <a:r>
              <a:rPr lang="en-US" sz="2400" baseline="-25000" dirty="0">
                <a:solidFill>
                  <a:srgbClr val="008000"/>
                </a:solidFill>
              </a:rPr>
              <a:t>2</a:t>
            </a:r>
            <a:r>
              <a:rPr lang="en-US" sz="2400" dirty="0"/>
              <a:t>}; while V</a:t>
            </a:r>
            <a:r>
              <a:rPr lang="en-US" sz="2400" baseline="-25000" dirty="0"/>
              <a:t>1</a:t>
            </a:r>
            <a:r>
              <a:rPr lang="en-US" sz="2400" dirty="0"/>
              <a:t> ≥ V</a:t>
            </a:r>
            <a:r>
              <a:rPr lang="en-US" sz="2400" baseline="-25000" dirty="0"/>
              <a:t>2</a:t>
            </a:r>
            <a:r>
              <a:rPr lang="en-US" sz="2400" dirty="0"/>
              <a:t> has scope {</a:t>
            </a:r>
            <a:r>
              <a:rPr lang="en-US" sz="2400" dirty="0">
                <a:solidFill>
                  <a:srgbClr val="008000"/>
                </a:solidFill>
              </a:rPr>
              <a:t>V</a:t>
            </a:r>
            <a:r>
              <a:rPr lang="en-US" sz="2400" baseline="-25000" dirty="0">
                <a:solidFill>
                  <a:srgbClr val="008000"/>
                </a:solidFill>
              </a:rPr>
              <a:t>1</a:t>
            </a:r>
            <a:r>
              <a:rPr lang="en-US" sz="2400" dirty="0">
                <a:solidFill>
                  <a:srgbClr val="008000"/>
                </a:solidFill>
              </a:rPr>
              <a:t>, V</a:t>
            </a:r>
            <a:r>
              <a:rPr lang="en-US" sz="2400" baseline="-25000" dirty="0">
                <a:solidFill>
                  <a:srgbClr val="008000"/>
                </a:solidFill>
              </a:rPr>
              <a:t>2</a:t>
            </a:r>
            <a:r>
              <a:rPr lang="en-US" sz="2400" dirty="0"/>
              <a:t>} </a:t>
            </a:r>
          </a:p>
          <a:p>
            <a:pPr lvl="1"/>
            <a:r>
              <a:rPr lang="en-US" sz="2800" dirty="0"/>
              <a:t>Has a </a:t>
            </a:r>
            <a:r>
              <a:rPr lang="en-US" sz="2800" dirty="0">
                <a:solidFill>
                  <a:srgbClr val="C00000"/>
                </a:solidFill>
              </a:rPr>
              <a:t>restriction</a:t>
            </a:r>
            <a:r>
              <a:rPr lang="en-US" sz="2800" dirty="0"/>
              <a:t> on the values of the variables in the scope</a:t>
            </a:r>
          </a:p>
          <a:p>
            <a:pPr lvl="2"/>
            <a:r>
              <a:rPr lang="en-US" sz="2400" dirty="0"/>
              <a:t>e.g., the constraint V</a:t>
            </a:r>
            <a:r>
              <a:rPr lang="en-US" sz="2400" baseline="-25000" dirty="0"/>
              <a:t>2</a:t>
            </a:r>
            <a:r>
              <a:rPr lang="en-US" sz="2400" dirty="0"/>
              <a:t> ≠ 2 and V</a:t>
            </a:r>
            <a:r>
              <a:rPr lang="en-US" sz="2400" baseline="-25000" dirty="0"/>
              <a:t>1</a:t>
            </a:r>
            <a:r>
              <a:rPr lang="en-US" sz="2400" dirty="0"/>
              <a:t> ≥ V</a:t>
            </a:r>
            <a:r>
              <a:rPr lang="en-US" sz="2400" baseline="-25000" dirty="0"/>
              <a:t>2</a:t>
            </a:r>
            <a:r>
              <a:rPr lang="en-US" sz="2400" dirty="0"/>
              <a:t> is </a:t>
            </a:r>
            <a:r>
              <a:rPr lang="en-US" sz="2400" dirty="0">
                <a:solidFill>
                  <a:srgbClr val="FF0000"/>
                </a:solidFill>
              </a:rPr>
              <a:t>restricting </a:t>
            </a:r>
            <a:r>
              <a:rPr lang="en-US" sz="2400" dirty="0"/>
              <a:t>the values of V</a:t>
            </a:r>
            <a:r>
              <a:rPr lang="en-US" sz="2400" baseline="-25000" dirty="0"/>
              <a:t>1</a:t>
            </a:r>
            <a:r>
              <a:rPr lang="en-US" sz="2400" dirty="0"/>
              <a:t> and V</a:t>
            </a:r>
            <a:r>
              <a:rPr lang="en-US" sz="2400" baseline="-25000" dirty="0"/>
              <a:t>2 </a:t>
            </a:r>
          </a:p>
          <a:p>
            <a:pPr lvl="1"/>
            <a:r>
              <a:rPr lang="en-US" sz="2600" dirty="0"/>
              <a:t>Is a Boolean function that maps assignments to the variables in its scope to true/false.</a:t>
            </a:r>
          </a:p>
          <a:p>
            <a:pPr lvl="2"/>
            <a:r>
              <a:rPr lang="en-US" sz="2400" dirty="0"/>
              <a:t>e.g., 𝐶(𝑉</a:t>
            </a:r>
            <a:r>
              <a:rPr lang="en-US" sz="2400" baseline="-25000" dirty="0"/>
              <a:t>1 </a:t>
            </a:r>
            <a:r>
              <a:rPr lang="en-US" sz="2400" dirty="0"/>
              <a:t>=𝑎, 𝑉</a:t>
            </a:r>
            <a:r>
              <a:rPr lang="en-US" sz="2400" baseline="-25000" dirty="0"/>
              <a:t>2 </a:t>
            </a:r>
            <a:r>
              <a:rPr lang="en-US" sz="2400" dirty="0"/>
              <a:t>=𝑏, 𝑉</a:t>
            </a:r>
            <a:r>
              <a:rPr lang="en-US" sz="2400" baseline="-25000" dirty="0"/>
              <a:t>3 </a:t>
            </a:r>
            <a:r>
              <a:rPr lang="en-US" sz="2400" dirty="0"/>
              <a:t>=𝑐) = 𝑇𝑟𝑢𝑒</a:t>
            </a:r>
          </a:p>
          <a:p>
            <a:endParaRPr lang="en-US" dirty="0"/>
          </a:p>
        </p:txBody>
      </p:sp>
      <p:sp>
        <p:nvSpPr>
          <p:cNvPr id="4" name="Date Placeholder 3">
            <a:extLst>
              <a:ext uri="{FF2B5EF4-FFF2-40B4-BE49-F238E27FC236}">
                <a16:creationId xmlns:a16="http://schemas.microsoft.com/office/drawing/2014/main" id="{1A0C7687-7C2D-4704-96E4-B6A00DBF57E3}"/>
              </a:ext>
            </a:extLst>
          </p:cNvPr>
          <p:cNvSpPr>
            <a:spLocks noGrp="1"/>
          </p:cNvSpPr>
          <p:nvPr>
            <p:ph type="dt" sz="half" idx="10"/>
          </p:nvPr>
        </p:nvSpPr>
        <p:spPr/>
        <p:txBody>
          <a:bodyPr/>
          <a:lstStyle/>
          <a:p>
            <a:fld id="{C2EBCB3B-0D71-481E-A68B-9B57A6B53C51}" type="datetime1">
              <a:rPr lang="en-US" smtClean="0"/>
              <a:t>10/16/2022</a:t>
            </a:fld>
            <a:endParaRPr lang="en-US" dirty="0"/>
          </a:p>
        </p:txBody>
      </p:sp>
      <p:sp>
        <p:nvSpPr>
          <p:cNvPr id="5" name="Footer Placeholder 4">
            <a:extLst>
              <a:ext uri="{FF2B5EF4-FFF2-40B4-BE49-F238E27FC236}">
                <a16:creationId xmlns:a16="http://schemas.microsoft.com/office/drawing/2014/main" id="{A62199AE-1ED4-4213-8073-9B79C11F9764}"/>
              </a:ext>
            </a:extLst>
          </p:cNvPr>
          <p:cNvSpPr>
            <a:spLocks noGrp="1"/>
          </p:cNvSpPr>
          <p:nvPr>
            <p:ph type="ftr" sz="quarter" idx="11"/>
          </p:nvPr>
        </p:nvSpPr>
        <p:spPr/>
        <p:txBody>
          <a:bodyPr/>
          <a:lstStyle/>
          <a:p>
            <a:r>
              <a:rPr lang="en-US"/>
              <a:t>Introduction to AI</a:t>
            </a:r>
            <a:endParaRPr lang="en-US" dirty="0"/>
          </a:p>
        </p:txBody>
      </p:sp>
      <p:sp>
        <p:nvSpPr>
          <p:cNvPr id="6" name="Slide Number Placeholder 5">
            <a:extLst>
              <a:ext uri="{FF2B5EF4-FFF2-40B4-BE49-F238E27FC236}">
                <a16:creationId xmlns:a16="http://schemas.microsoft.com/office/drawing/2014/main" id="{864DC553-FBE4-46F1-BA5E-68CDBB804D71}"/>
              </a:ext>
            </a:extLst>
          </p:cNvPr>
          <p:cNvSpPr>
            <a:spLocks noGrp="1"/>
          </p:cNvSpPr>
          <p:nvPr>
            <p:ph type="sldNum" sz="quarter" idx="12"/>
          </p:nvPr>
        </p:nvSpPr>
        <p:spPr/>
        <p:txBody>
          <a:bodyPr/>
          <a:lstStyle/>
          <a:p>
            <a:fld id="{B7884E68-CE57-44C0-BE0F-84C629DF22D5}" type="slidenum">
              <a:rPr lang="en-US" smtClean="0"/>
              <a:t>5</a:t>
            </a:fld>
            <a:endParaRPr lang="en-US" dirty="0"/>
          </a:p>
        </p:txBody>
      </p:sp>
    </p:spTree>
    <p:extLst>
      <p:ext uri="{BB962C8B-B14F-4D97-AF65-F5344CB8AC3E}">
        <p14:creationId xmlns:p14="http://schemas.microsoft.com/office/powerpoint/2010/main" val="591686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Defining Constraint Satisfaction Problems</a:t>
            </a:r>
          </a:p>
        </p:txBody>
      </p:sp>
      <p:sp>
        <p:nvSpPr>
          <p:cNvPr id="3" name="Content Placeholder 2"/>
          <p:cNvSpPr>
            <a:spLocks noGrp="1"/>
          </p:cNvSpPr>
          <p:nvPr>
            <p:ph idx="1"/>
          </p:nvPr>
        </p:nvSpPr>
        <p:spPr/>
        <p:txBody>
          <a:bodyPr>
            <a:normAutofit lnSpcReduction="10000"/>
          </a:bodyPr>
          <a:lstStyle/>
          <a:p>
            <a:r>
              <a:rPr lang="en-US" dirty="0">
                <a:solidFill>
                  <a:schemeClr val="accent6">
                    <a:lumMod val="75000"/>
                  </a:schemeClr>
                </a:solidFill>
              </a:rPr>
              <a:t>Unary Constraints </a:t>
            </a:r>
            <a:r>
              <a:rPr lang="en-US" dirty="0"/>
              <a:t>(over single variable)</a:t>
            </a:r>
          </a:p>
          <a:p>
            <a:pPr lvl="1"/>
            <a:r>
              <a:rPr lang="en-US" sz="2800" dirty="0"/>
              <a:t>e.g. C</a:t>
            </a:r>
            <a:r>
              <a:rPr lang="en-US" sz="2800" baseline="-25000" dirty="0"/>
              <a:t>1</a:t>
            </a:r>
            <a:r>
              <a:rPr lang="en-US" sz="2800" dirty="0"/>
              <a:t>(X): X=2; C</a:t>
            </a:r>
            <a:r>
              <a:rPr lang="en-US" sz="2800" baseline="-25000" dirty="0"/>
              <a:t>2</a:t>
            </a:r>
            <a:r>
              <a:rPr lang="en-US" sz="2800" dirty="0"/>
              <a:t>(Y): Y&gt;5</a:t>
            </a:r>
          </a:p>
          <a:p>
            <a:r>
              <a:rPr lang="en-US" dirty="0">
                <a:solidFill>
                  <a:schemeClr val="accent6">
                    <a:lumMod val="75000"/>
                  </a:schemeClr>
                </a:solidFill>
              </a:rPr>
              <a:t>Binary Constraints </a:t>
            </a:r>
            <a:r>
              <a:rPr lang="en-US" dirty="0"/>
              <a:t>(over two variables)</a:t>
            </a:r>
          </a:p>
          <a:p>
            <a:pPr lvl="1"/>
            <a:r>
              <a:rPr lang="en-US" sz="2800" dirty="0"/>
              <a:t>e.g. C</a:t>
            </a:r>
            <a:r>
              <a:rPr lang="en-US" sz="2800" baseline="-25000" dirty="0"/>
              <a:t>3</a:t>
            </a:r>
            <a:r>
              <a:rPr lang="en-US" sz="2800" dirty="0"/>
              <a:t>(X,Y): X+Y&lt;6</a:t>
            </a:r>
          </a:p>
          <a:p>
            <a:r>
              <a:rPr lang="en-US" dirty="0">
                <a:solidFill>
                  <a:schemeClr val="accent6">
                    <a:lumMod val="75000"/>
                  </a:schemeClr>
                </a:solidFill>
              </a:rPr>
              <a:t>Higher-order constraints</a:t>
            </a:r>
            <a:r>
              <a:rPr lang="en-US" dirty="0"/>
              <a:t> (over 3 or more variables) </a:t>
            </a:r>
          </a:p>
          <a:p>
            <a:pPr lvl="1"/>
            <a:r>
              <a:rPr lang="en-US" sz="2800" dirty="0"/>
              <a:t>We can convert any constraint into a set of binary constraints (may need some auxiliary variables).</a:t>
            </a:r>
          </a:p>
          <a:p>
            <a:r>
              <a:rPr lang="en-US" dirty="0"/>
              <a:t>Can be represented by </a:t>
            </a:r>
            <a:r>
              <a:rPr lang="en-US" dirty="0">
                <a:solidFill>
                  <a:schemeClr val="accent6">
                    <a:lumMod val="75000"/>
                  </a:schemeClr>
                </a:solidFill>
              </a:rPr>
              <a:t>Constraint Graph </a:t>
            </a:r>
            <a:r>
              <a:rPr lang="en-US" dirty="0"/>
              <a:t>that represents the relationship between the variables</a:t>
            </a:r>
          </a:p>
          <a:p>
            <a:pPr lvl="1"/>
            <a:r>
              <a:rPr lang="en-US" sz="2800" dirty="0"/>
              <a:t>Nodes are variables, edges show constraints.</a:t>
            </a:r>
          </a:p>
          <a:p>
            <a:endParaRPr lang="en-US" dirty="0"/>
          </a:p>
        </p:txBody>
      </p:sp>
      <p:sp>
        <p:nvSpPr>
          <p:cNvPr id="4" name="Date Placeholder 3"/>
          <p:cNvSpPr>
            <a:spLocks noGrp="1"/>
          </p:cNvSpPr>
          <p:nvPr>
            <p:ph type="dt" sz="half" idx="10"/>
          </p:nvPr>
        </p:nvSpPr>
        <p:spPr/>
        <p:txBody>
          <a:bodyPr/>
          <a:lstStyle/>
          <a:p>
            <a:fld id="{FEA84C35-277F-421D-9940-0ED8744CECDC}"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6</a:t>
            </a:fld>
            <a:endParaRPr lang="en-US" dirty="0"/>
          </a:p>
        </p:txBody>
      </p:sp>
    </p:spTree>
    <p:extLst>
      <p:ext uri="{BB962C8B-B14F-4D97-AF65-F5344CB8AC3E}">
        <p14:creationId xmlns:p14="http://schemas.microsoft.com/office/powerpoint/2010/main" val="744799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Real-World Examples of CSPs</a:t>
            </a:r>
          </a:p>
        </p:txBody>
      </p:sp>
      <p:sp>
        <p:nvSpPr>
          <p:cNvPr id="3" name="Content Placeholder 2"/>
          <p:cNvSpPr>
            <a:spLocks noGrp="1"/>
          </p:cNvSpPr>
          <p:nvPr>
            <p:ph idx="1"/>
          </p:nvPr>
        </p:nvSpPr>
        <p:spPr/>
        <p:txBody>
          <a:bodyPr/>
          <a:lstStyle/>
          <a:p>
            <a:r>
              <a:rPr lang="en-US" dirty="0"/>
              <a:t>Assignment problems: e.g., who teaches what class</a:t>
            </a:r>
          </a:p>
          <a:p>
            <a:r>
              <a:rPr lang="en-US" dirty="0"/>
              <a:t>Timetabling problems: e.g., which class is offered when and where?</a:t>
            </a:r>
          </a:p>
          <a:p>
            <a:r>
              <a:rPr lang="en-US" dirty="0"/>
              <a:t>Transportation scheduling</a:t>
            </a:r>
          </a:p>
          <a:p>
            <a:r>
              <a:rPr lang="en-US" dirty="0"/>
              <a:t>Factory scheduling</a:t>
            </a:r>
          </a:p>
          <a:p>
            <a:r>
              <a:rPr lang="en-US" dirty="0"/>
              <a:t>Fault diagnosis</a:t>
            </a:r>
          </a:p>
          <a:p>
            <a:r>
              <a:rPr lang="en-US" dirty="0"/>
              <a:t>… and many more</a:t>
            </a:r>
          </a:p>
          <a:p>
            <a:endParaRPr lang="en-US" dirty="0"/>
          </a:p>
        </p:txBody>
      </p:sp>
      <p:sp>
        <p:nvSpPr>
          <p:cNvPr id="4" name="Date Placeholder 3"/>
          <p:cNvSpPr>
            <a:spLocks noGrp="1"/>
          </p:cNvSpPr>
          <p:nvPr>
            <p:ph type="dt" sz="half" idx="10"/>
          </p:nvPr>
        </p:nvSpPr>
        <p:spPr/>
        <p:txBody>
          <a:bodyPr/>
          <a:lstStyle/>
          <a:p>
            <a:fld id="{E9868F6D-EE28-4DA1-8795-3B70217B28F8}"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7</a:t>
            </a:fld>
            <a:endParaRPr lang="en-US" dirty="0"/>
          </a:p>
        </p:txBody>
      </p:sp>
    </p:spTree>
    <p:extLst>
      <p:ext uri="{BB962C8B-B14F-4D97-AF65-F5344CB8AC3E}">
        <p14:creationId xmlns:p14="http://schemas.microsoft.com/office/powerpoint/2010/main" val="341930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1F808-E97E-44C2-964D-3874706D4D9F}"/>
              </a:ext>
            </a:extLst>
          </p:cNvPr>
          <p:cNvSpPr>
            <a:spLocks noGrp="1"/>
          </p:cNvSpPr>
          <p:nvPr>
            <p:ph type="title"/>
          </p:nvPr>
        </p:nvSpPr>
        <p:spPr/>
        <p:txBody>
          <a:bodyPr>
            <a:normAutofit fontScale="90000"/>
          </a:bodyPr>
          <a:lstStyle/>
          <a:p>
            <a:r>
              <a:rPr lang="en-US" dirty="0"/>
              <a:t>CSPs as Search Problems</a:t>
            </a:r>
          </a:p>
        </p:txBody>
      </p:sp>
      <p:sp>
        <p:nvSpPr>
          <p:cNvPr id="3" name="Content Placeholder 2">
            <a:extLst>
              <a:ext uri="{FF2B5EF4-FFF2-40B4-BE49-F238E27FC236}">
                <a16:creationId xmlns:a16="http://schemas.microsoft.com/office/drawing/2014/main" id="{8725AE71-2B03-4B26-BF4A-DD855F96F1C8}"/>
              </a:ext>
            </a:extLst>
          </p:cNvPr>
          <p:cNvSpPr>
            <a:spLocks noGrp="1"/>
          </p:cNvSpPr>
          <p:nvPr>
            <p:ph idx="1"/>
          </p:nvPr>
        </p:nvSpPr>
        <p:spPr/>
        <p:txBody>
          <a:bodyPr>
            <a:normAutofit/>
          </a:bodyPr>
          <a:lstStyle/>
          <a:p>
            <a:r>
              <a:rPr lang="en-US" dirty="0"/>
              <a:t>CSPs are a special subset of search problems in which:</a:t>
            </a:r>
          </a:p>
          <a:p>
            <a:pPr lvl="1"/>
            <a:r>
              <a:rPr lang="en-US" dirty="0">
                <a:solidFill>
                  <a:schemeClr val="accent6">
                    <a:lumMod val="75000"/>
                  </a:schemeClr>
                </a:solidFill>
              </a:rPr>
              <a:t>States</a:t>
            </a:r>
            <a:r>
              <a:rPr lang="en-US" dirty="0"/>
              <a:t>: assignments of values to a subset of the variables</a:t>
            </a:r>
          </a:p>
          <a:p>
            <a:pPr lvl="1"/>
            <a:r>
              <a:rPr lang="en-US" dirty="0">
                <a:solidFill>
                  <a:schemeClr val="accent6">
                    <a:lumMod val="75000"/>
                  </a:schemeClr>
                </a:solidFill>
              </a:rPr>
              <a:t>Initial state</a:t>
            </a:r>
            <a:r>
              <a:rPr lang="en-US" dirty="0"/>
              <a:t>: the empty assignment (no variables assigned values)</a:t>
            </a:r>
          </a:p>
          <a:p>
            <a:pPr lvl="1"/>
            <a:r>
              <a:rPr lang="en-US" dirty="0">
                <a:solidFill>
                  <a:schemeClr val="accent6">
                    <a:lumMod val="75000"/>
                  </a:schemeClr>
                </a:solidFill>
              </a:rPr>
              <a:t>Goal state</a:t>
            </a:r>
            <a:r>
              <a:rPr lang="en-US" dirty="0"/>
              <a:t>: complete assignment of values to all variables that satisfies all the constraints.</a:t>
            </a:r>
          </a:p>
          <a:p>
            <a:pPr lvl="1"/>
            <a:r>
              <a:rPr lang="en-US" dirty="0">
                <a:solidFill>
                  <a:schemeClr val="accent6">
                    <a:lumMod val="75000"/>
                  </a:schemeClr>
                </a:solidFill>
              </a:rPr>
              <a:t>Actions</a:t>
            </a:r>
            <a:r>
              <a:rPr lang="en-US" dirty="0"/>
              <a:t>:  Assign a value to an unassigned variable.</a:t>
            </a:r>
          </a:p>
          <a:p>
            <a:pPr lvl="1"/>
            <a:r>
              <a:rPr lang="en-US" dirty="0">
                <a:solidFill>
                  <a:schemeClr val="accent6">
                    <a:lumMod val="75000"/>
                  </a:schemeClr>
                </a:solidFill>
              </a:rPr>
              <a:t>Solution: </a:t>
            </a:r>
            <a:r>
              <a:rPr lang="en-US" dirty="0"/>
              <a:t>The solution of a CSP is an assignment of a value to each variable such that all constraints are satisfied. </a:t>
            </a:r>
          </a:p>
          <a:p>
            <a:pPr lvl="2"/>
            <a:r>
              <a:rPr lang="en-US" dirty="0"/>
              <a:t>Unlike previous search problems, </a:t>
            </a:r>
            <a:r>
              <a:rPr lang="en-US" dirty="0">
                <a:solidFill>
                  <a:srgbClr val="C00000"/>
                </a:solidFill>
              </a:rPr>
              <a:t>knowing the path from the initial state to the goal state is not important</a:t>
            </a:r>
            <a:r>
              <a:rPr lang="en-US" dirty="0"/>
              <a:t>.</a:t>
            </a:r>
          </a:p>
          <a:p>
            <a:pPr lvl="1"/>
            <a:endParaRPr lang="en-US" dirty="0">
              <a:solidFill>
                <a:schemeClr val="accent6">
                  <a:lumMod val="75000"/>
                </a:schemeClr>
              </a:solidFill>
            </a:endParaRPr>
          </a:p>
          <a:p>
            <a:pPr lvl="1"/>
            <a:endParaRPr lang="en-US" dirty="0"/>
          </a:p>
        </p:txBody>
      </p:sp>
      <p:sp>
        <p:nvSpPr>
          <p:cNvPr id="4" name="Date Placeholder 3">
            <a:extLst>
              <a:ext uri="{FF2B5EF4-FFF2-40B4-BE49-F238E27FC236}">
                <a16:creationId xmlns:a16="http://schemas.microsoft.com/office/drawing/2014/main" id="{9F1D006B-95C7-4309-856E-D412386EC820}"/>
              </a:ext>
            </a:extLst>
          </p:cNvPr>
          <p:cNvSpPr>
            <a:spLocks noGrp="1"/>
          </p:cNvSpPr>
          <p:nvPr>
            <p:ph type="dt" sz="half" idx="10"/>
          </p:nvPr>
        </p:nvSpPr>
        <p:spPr/>
        <p:txBody>
          <a:bodyPr/>
          <a:lstStyle/>
          <a:p>
            <a:fld id="{75F2234D-41A1-40D3-AE5C-7E3D9A657397}" type="datetime1">
              <a:rPr lang="en-US" smtClean="0"/>
              <a:t>10/16/2022</a:t>
            </a:fld>
            <a:endParaRPr lang="en-US" dirty="0"/>
          </a:p>
        </p:txBody>
      </p:sp>
      <p:sp>
        <p:nvSpPr>
          <p:cNvPr id="5" name="Footer Placeholder 4">
            <a:extLst>
              <a:ext uri="{FF2B5EF4-FFF2-40B4-BE49-F238E27FC236}">
                <a16:creationId xmlns:a16="http://schemas.microsoft.com/office/drawing/2014/main" id="{0AF420BA-E2E6-49FF-9F11-649596CA8BC9}"/>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211AE3EE-CEDB-4FF8-9791-4B2A646AC99F}"/>
              </a:ext>
            </a:extLst>
          </p:cNvPr>
          <p:cNvSpPr>
            <a:spLocks noGrp="1"/>
          </p:cNvSpPr>
          <p:nvPr>
            <p:ph type="sldNum" sz="quarter" idx="12"/>
          </p:nvPr>
        </p:nvSpPr>
        <p:spPr/>
        <p:txBody>
          <a:bodyPr/>
          <a:lstStyle/>
          <a:p>
            <a:fld id="{B7884E68-CE57-44C0-BE0F-84C629DF22D5}" type="slidenum">
              <a:rPr lang="en-US" dirty="0" smtClean="0"/>
              <a:t>8</a:t>
            </a:fld>
            <a:endParaRPr lang="en-US" dirty="0"/>
          </a:p>
        </p:txBody>
      </p:sp>
    </p:spTree>
    <p:extLst>
      <p:ext uri="{BB962C8B-B14F-4D97-AF65-F5344CB8AC3E}">
        <p14:creationId xmlns:p14="http://schemas.microsoft.com/office/powerpoint/2010/main" val="265743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Backtracking Search</a:t>
            </a:r>
          </a:p>
        </p:txBody>
      </p:sp>
      <p:sp>
        <p:nvSpPr>
          <p:cNvPr id="3" name="Content Placeholder 2"/>
          <p:cNvSpPr>
            <a:spLocks noGrp="1"/>
          </p:cNvSpPr>
          <p:nvPr>
            <p:ph idx="1"/>
          </p:nvPr>
        </p:nvSpPr>
        <p:spPr/>
        <p:txBody>
          <a:bodyPr>
            <a:normAutofit/>
          </a:bodyPr>
          <a:lstStyle/>
          <a:p>
            <a:r>
              <a:rPr lang="en-US" dirty="0">
                <a:solidFill>
                  <a:schemeClr val="accent6">
                    <a:lumMod val="75000"/>
                  </a:schemeClr>
                </a:solidFill>
              </a:rPr>
              <a:t>Backtracking search </a:t>
            </a:r>
            <a:r>
              <a:rPr lang="en-US" dirty="0"/>
              <a:t>with single-variable assignments for a CSP is the basic uninformed search for solving CSPs</a:t>
            </a:r>
          </a:p>
          <a:p>
            <a:r>
              <a:rPr lang="en-US" dirty="0">
                <a:solidFill>
                  <a:schemeClr val="accent6">
                    <a:lumMod val="75000"/>
                  </a:schemeClr>
                </a:solidFill>
              </a:rPr>
              <a:t>Backtracking search </a:t>
            </a:r>
            <a:r>
              <a:rPr lang="en-US" dirty="0"/>
              <a:t>is a </a:t>
            </a:r>
            <a:r>
              <a:rPr lang="en-US" dirty="0">
                <a:solidFill>
                  <a:srgbClr val="C00000"/>
                </a:solidFill>
              </a:rPr>
              <a:t>Depth-First Search </a:t>
            </a:r>
            <a:r>
              <a:rPr lang="en-US" dirty="0"/>
              <a:t>(DFS) with two improvements:</a:t>
            </a:r>
          </a:p>
          <a:p>
            <a:pPr lvl="1"/>
            <a:r>
              <a:rPr lang="en-US" dirty="0"/>
              <a:t>Consider assignments to a single variable at each step</a:t>
            </a:r>
          </a:p>
          <a:p>
            <a:pPr lvl="1"/>
            <a:r>
              <a:rPr lang="en-US" dirty="0"/>
              <a:t>Check constraints as you go</a:t>
            </a:r>
          </a:p>
          <a:p>
            <a:pPr lvl="2">
              <a:buFont typeface="Wingdings" panose="05000000000000000000" pitchFamily="2" charset="2"/>
              <a:buChar char="§"/>
            </a:pPr>
            <a:r>
              <a:rPr lang="en-US" sz="2400" dirty="0"/>
              <a:t>consider only </a:t>
            </a:r>
            <a:r>
              <a:rPr lang="en-US" dirty="0"/>
              <a:t>new assignments</a:t>
            </a:r>
            <a:r>
              <a:rPr lang="en-US" sz="2400" dirty="0"/>
              <a:t> which do not conflict previous assignments</a:t>
            </a:r>
          </a:p>
          <a:p>
            <a:r>
              <a:rPr lang="en-US" dirty="0"/>
              <a:t>Backtracking search </a:t>
            </a:r>
            <a:r>
              <a:rPr lang="en-US" dirty="0">
                <a:solidFill>
                  <a:srgbClr val="C00000"/>
                </a:solidFill>
              </a:rPr>
              <a:t>incrementally</a:t>
            </a:r>
            <a:r>
              <a:rPr lang="en-US" dirty="0"/>
              <a:t> builds candidates to the solutions and abandons a candidate ("backtracks") as soon as it determines that the candidate cannot possibly be completed to a valid solution.</a:t>
            </a:r>
          </a:p>
          <a:p>
            <a:endParaRPr lang="en-US" dirty="0"/>
          </a:p>
        </p:txBody>
      </p:sp>
      <p:sp>
        <p:nvSpPr>
          <p:cNvPr id="4" name="Date Placeholder 3"/>
          <p:cNvSpPr>
            <a:spLocks noGrp="1"/>
          </p:cNvSpPr>
          <p:nvPr>
            <p:ph type="dt" sz="half" idx="10"/>
          </p:nvPr>
        </p:nvSpPr>
        <p:spPr/>
        <p:txBody>
          <a:bodyPr/>
          <a:lstStyle/>
          <a:p>
            <a:fld id="{DE6D5C9B-7932-4E5F-B5C5-F7895A7FDE22}"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9</a:t>
            </a:fld>
            <a:endParaRPr lang="en-US" dirty="0"/>
          </a:p>
        </p:txBody>
      </p:sp>
    </p:spTree>
    <p:extLst>
      <p:ext uri="{BB962C8B-B14F-4D97-AF65-F5344CB8AC3E}">
        <p14:creationId xmlns:p14="http://schemas.microsoft.com/office/powerpoint/2010/main" val="1768137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Backtracking Search algorithm</a:t>
            </a:r>
          </a:p>
        </p:txBody>
      </p:sp>
      <p:sp>
        <p:nvSpPr>
          <p:cNvPr id="4" name="Date Placeholder 3"/>
          <p:cNvSpPr>
            <a:spLocks noGrp="1"/>
          </p:cNvSpPr>
          <p:nvPr>
            <p:ph type="dt" sz="half" idx="10"/>
          </p:nvPr>
        </p:nvSpPr>
        <p:spPr/>
        <p:txBody>
          <a:bodyPr/>
          <a:lstStyle/>
          <a:p>
            <a:fld id="{0F861A29-1760-41F6-A8FE-0881D7332544}"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10</a:t>
            </a:fld>
            <a:endParaRPr lang="en-US" dirty="0"/>
          </a:p>
        </p:txBody>
      </p:sp>
      <p:graphicFrame>
        <p:nvGraphicFramePr>
          <p:cNvPr id="7" name="Table 7">
            <a:extLst>
              <a:ext uri="{FF2B5EF4-FFF2-40B4-BE49-F238E27FC236}">
                <a16:creationId xmlns:a16="http://schemas.microsoft.com/office/drawing/2014/main" id="{D09E134C-B1FA-41F7-8FBE-33FE8A40DD25}"/>
              </a:ext>
            </a:extLst>
          </p:cNvPr>
          <p:cNvGraphicFramePr>
            <a:graphicFrameLocks/>
          </p:cNvGraphicFramePr>
          <p:nvPr>
            <p:extLst>
              <p:ext uri="{D42A27DB-BD31-4B8C-83A1-F6EECF244321}">
                <p14:modId xmlns:p14="http://schemas.microsoft.com/office/powerpoint/2010/main" val="3764769639"/>
              </p:ext>
            </p:extLst>
          </p:nvPr>
        </p:nvGraphicFramePr>
        <p:xfrm>
          <a:off x="304800" y="1179803"/>
          <a:ext cx="9127958" cy="4839848"/>
        </p:xfrm>
        <a:graphic>
          <a:graphicData uri="http://schemas.openxmlformats.org/drawingml/2006/table">
            <a:tbl>
              <a:tblPr firstRow="1" bandRow="1">
                <a:tableStyleId>{6E25E649-3F16-4E02-A733-19D2CDBF48F0}</a:tableStyleId>
              </a:tblPr>
              <a:tblGrid>
                <a:gridCol w="9127958">
                  <a:extLst>
                    <a:ext uri="{9D8B030D-6E8A-4147-A177-3AD203B41FA5}">
                      <a16:colId xmlns:a16="http://schemas.microsoft.com/office/drawing/2014/main" val="1078770622"/>
                    </a:ext>
                  </a:extLst>
                </a:gridCol>
              </a:tblGrid>
              <a:tr h="374476">
                <a:tc>
                  <a:txBody>
                    <a:bodyPr/>
                    <a:lstStyle/>
                    <a:p>
                      <a:r>
                        <a:rPr lang="en-US" sz="1900" b="1" kern="1200" dirty="0">
                          <a:solidFill>
                            <a:schemeClr val="lt1"/>
                          </a:solidFill>
                          <a:effectLst/>
                        </a:rPr>
                        <a:t>Algorithm: Backtracking-Search(assignment)</a:t>
                      </a:r>
                      <a:endParaRPr lang="en-US" sz="1900" dirty="0"/>
                    </a:p>
                  </a:txBody>
                  <a:tcPr/>
                </a:tc>
                <a:extLst>
                  <a:ext uri="{0D108BD9-81ED-4DB2-BD59-A6C34878D82A}">
                    <a16:rowId xmlns:a16="http://schemas.microsoft.com/office/drawing/2014/main" val="3786916785"/>
                  </a:ext>
                </a:extLst>
              </a:tr>
              <a:tr h="359497">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1:  </a:t>
                      </a:r>
                      <a:r>
                        <a:rPr lang="en-US" sz="1800" b="1" i="0" u="none" strike="noStrike" kern="1200" baseline="0" dirty="0">
                          <a:solidFill>
                            <a:schemeClr val="dk1"/>
                          </a:solidFill>
                          <a:latin typeface="+mn-lt"/>
                          <a:ea typeface="+mn-ea"/>
                          <a:cs typeface="+mn-cs"/>
                        </a:rPr>
                        <a:t>if </a:t>
                      </a:r>
                      <a:r>
                        <a:rPr lang="en-US" sz="1800" b="0" i="0" u="none" strike="noStrike" kern="1200" baseline="0" dirty="0">
                          <a:solidFill>
                            <a:schemeClr val="dk1"/>
                          </a:solidFill>
                          <a:latin typeface="+mn-lt"/>
                          <a:ea typeface="+mn-ea"/>
                          <a:cs typeface="+mn-cs"/>
                        </a:rPr>
                        <a:t>assignment</a:t>
                      </a:r>
                      <a:r>
                        <a:rPr lang="en-US" sz="1800" b="1" i="0" u="none" strike="noStrike" kern="1200" baseline="0" dirty="0">
                          <a:solidFill>
                            <a:schemeClr val="dk1"/>
                          </a:solidFill>
                          <a:latin typeface="+mn-lt"/>
                          <a:ea typeface="+mn-ea"/>
                          <a:cs typeface="+mn-cs"/>
                        </a:rPr>
                        <a:t> </a:t>
                      </a:r>
                      <a:r>
                        <a:rPr lang="en-US" sz="1800" b="0" i="0" u="none" strike="noStrike" kern="1200" baseline="0" dirty="0">
                          <a:solidFill>
                            <a:schemeClr val="dk1"/>
                          </a:solidFill>
                          <a:latin typeface="+mn-lt"/>
                          <a:ea typeface="+mn-ea"/>
                          <a:cs typeface="+mn-cs"/>
                        </a:rPr>
                        <a:t>is complete </a:t>
                      </a:r>
                      <a:r>
                        <a:rPr lang="en-US" sz="1800" b="1" i="0" u="none" strike="noStrike" kern="1200" baseline="0" dirty="0">
                          <a:solidFill>
                            <a:schemeClr val="dk1"/>
                          </a:solidFill>
                          <a:latin typeface="+mn-lt"/>
                          <a:ea typeface="+mn-ea"/>
                          <a:cs typeface="+mn-cs"/>
                        </a:rPr>
                        <a:t>then</a:t>
                      </a:r>
                      <a:endParaRPr lang="en-US" sz="1800" dirty="0"/>
                    </a:p>
                  </a:txBody>
                  <a:tcPr/>
                </a:tc>
                <a:extLst>
                  <a:ext uri="{0D108BD9-81ED-4DB2-BD59-A6C34878D82A}">
                    <a16:rowId xmlns:a16="http://schemas.microsoft.com/office/drawing/2014/main" val="3208792192"/>
                  </a:ext>
                </a:extLst>
              </a:tr>
              <a:tr h="374476">
                <a:tc>
                  <a:txBody>
                    <a:bodyPr/>
                    <a:lstStyle/>
                    <a:p>
                      <a:r>
                        <a:rPr lang="en-US" sz="1800" kern="1200" dirty="0">
                          <a:solidFill>
                            <a:schemeClr val="dk1"/>
                          </a:solidFill>
                          <a:effectLst/>
                        </a:rPr>
                        <a:t>2:       </a:t>
                      </a:r>
                      <a:r>
                        <a:rPr lang="en-US" sz="1800" b="1" i="0" u="none" strike="noStrike" kern="1200" baseline="0" dirty="0">
                          <a:solidFill>
                            <a:schemeClr val="dk1"/>
                          </a:solidFill>
                          <a:latin typeface="+mn-lt"/>
                          <a:ea typeface="+mn-ea"/>
                          <a:cs typeface="+mn-cs"/>
                        </a:rPr>
                        <a:t>return </a:t>
                      </a:r>
                      <a:r>
                        <a:rPr lang="en-US" sz="1800" b="0" i="0" u="none" strike="noStrike" kern="1200" baseline="0" dirty="0">
                          <a:solidFill>
                            <a:schemeClr val="accent6"/>
                          </a:solidFill>
                          <a:latin typeface="+mn-lt"/>
                          <a:ea typeface="+mn-ea"/>
                          <a:cs typeface="+mn-cs"/>
                        </a:rPr>
                        <a:t>assignment</a:t>
                      </a:r>
                      <a:endParaRPr lang="en-US" sz="1800" b="0" dirty="0">
                        <a:solidFill>
                          <a:schemeClr val="accent6"/>
                        </a:solidFill>
                      </a:endParaRPr>
                    </a:p>
                  </a:txBody>
                  <a:tcPr/>
                </a:tc>
                <a:extLst>
                  <a:ext uri="{0D108BD9-81ED-4DB2-BD59-A6C34878D82A}">
                    <a16:rowId xmlns:a16="http://schemas.microsoft.com/office/drawing/2014/main" val="1194598669"/>
                  </a:ext>
                </a:extLst>
              </a:tr>
              <a:tr h="374476">
                <a:tc>
                  <a:txBody>
                    <a:bodyPr/>
                    <a:lstStyle/>
                    <a:p>
                      <a:r>
                        <a:rPr lang="en-US" sz="1800" kern="1200" dirty="0">
                          <a:solidFill>
                            <a:schemeClr val="dk1"/>
                          </a:solidFill>
                          <a:effectLst/>
                        </a:rPr>
                        <a:t>3:  V = Select the next </a:t>
                      </a:r>
                      <a:r>
                        <a:rPr lang="en-US" sz="1800" b="1" i="0" u="none" strike="noStrike" kern="1200" baseline="0" dirty="0">
                          <a:solidFill>
                            <a:schemeClr val="tx1"/>
                          </a:solidFill>
                          <a:latin typeface="+mn-lt"/>
                          <a:ea typeface="+mn-ea"/>
                          <a:cs typeface="+mn-cs"/>
                        </a:rPr>
                        <a:t>unassigned-variable(</a:t>
                      </a:r>
                      <a:r>
                        <a:rPr lang="en-US" sz="1800" b="0" i="0" u="none" strike="noStrike" kern="1200" baseline="0" dirty="0">
                          <a:solidFill>
                            <a:schemeClr val="accent6"/>
                          </a:solidFill>
                          <a:latin typeface="+mn-lt"/>
                          <a:ea typeface="+mn-ea"/>
                          <a:cs typeface="+mn-cs"/>
                        </a:rPr>
                        <a:t>variables</a:t>
                      </a:r>
                      <a:r>
                        <a:rPr lang="en-US" sz="1800" b="1" i="0" u="none" strike="noStrike" kern="1200" baseline="0" dirty="0">
                          <a:solidFill>
                            <a:schemeClr val="tx1"/>
                          </a:solidFill>
                          <a:latin typeface="+mn-lt"/>
                          <a:ea typeface="+mn-ea"/>
                          <a:cs typeface="+mn-cs"/>
                        </a:rPr>
                        <a:t>)</a:t>
                      </a:r>
                      <a:endParaRPr lang="en-US" sz="1800" b="1" i="0" dirty="0"/>
                    </a:p>
                  </a:txBody>
                  <a:tcPr/>
                </a:tc>
                <a:extLst>
                  <a:ext uri="{0D108BD9-81ED-4DB2-BD59-A6C34878D82A}">
                    <a16:rowId xmlns:a16="http://schemas.microsoft.com/office/drawing/2014/main" val="2483839918"/>
                  </a:ext>
                </a:extLst>
              </a:tr>
              <a:tr h="374476">
                <a:tc>
                  <a:txBody>
                    <a:bodyPr/>
                    <a:lstStyle/>
                    <a:p>
                      <a:r>
                        <a:rPr lang="en-US" sz="1800" kern="1200" dirty="0">
                          <a:solidFill>
                            <a:schemeClr val="dk1"/>
                          </a:solidFill>
                          <a:effectLst/>
                        </a:rPr>
                        <a:t>4:  </a:t>
                      </a:r>
                      <a:r>
                        <a:rPr lang="en-US" sz="1800" b="1" i="0" u="none" strike="noStrike" kern="1200" baseline="0" dirty="0">
                          <a:solidFill>
                            <a:schemeClr val="dk1"/>
                          </a:solidFill>
                          <a:latin typeface="+mn-lt"/>
                          <a:ea typeface="+mn-ea"/>
                          <a:cs typeface="+mn-cs"/>
                        </a:rPr>
                        <a:t>for each </a:t>
                      </a:r>
                      <a:r>
                        <a:rPr lang="en-US" sz="1800" b="0" i="0" u="none" strike="noStrike" kern="1200" baseline="0" dirty="0">
                          <a:solidFill>
                            <a:schemeClr val="tx1"/>
                          </a:solidFill>
                          <a:latin typeface="+mn-lt"/>
                          <a:ea typeface="+mn-ea"/>
                          <a:cs typeface="+mn-cs"/>
                        </a:rPr>
                        <a:t>value</a:t>
                      </a:r>
                      <a:r>
                        <a:rPr lang="en-US" sz="1800" b="0" i="0" u="none" strike="noStrike" kern="1200" baseline="0" dirty="0">
                          <a:solidFill>
                            <a:schemeClr val="dk1"/>
                          </a:solidFill>
                          <a:latin typeface="+mn-lt"/>
                          <a:ea typeface="+mn-ea"/>
                          <a:cs typeface="+mn-cs"/>
                        </a:rPr>
                        <a:t> </a:t>
                      </a:r>
                      <a:r>
                        <a:rPr lang="en-US" sz="1800" b="1" i="0" u="none" strike="noStrike" kern="1200" baseline="0" dirty="0">
                          <a:solidFill>
                            <a:schemeClr val="dk1"/>
                          </a:solidFill>
                          <a:latin typeface="+mn-lt"/>
                          <a:ea typeface="+mn-ea"/>
                          <a:cs typeface="+mn-cs"/>
                        </a:rPr>
                        <a:t>in </a:t>
                      </a:r>
                      <a:r>
                        <a:rPr lang="en-US" sz="1800" b="1" i="0" u="none" strike="noStrike" kern="1200" baseline="0" dirty="0">
                          <a:solidFill>
                            <a:schemeClr val="tx1"/>
                          </a:solidFill>
                          <a:latin typeface="+mn-lt"/>
                          <a:ea typeface="+mn-ea"/>
                          <a:cs typeface="+mn-cs"/>
                        </a:rPr>
                        <a:t>Domain</a:t>
                      </a:r>
                      <a:r>
                        <a:rPr lang="en-US" sz="1800" b="0" i="0" u="none" strike="noStrike" kern="1200" baseline="0" dirty="0">
                          <a:solidFill>
                            <a:schemeClr val="dk1"/>
                          </a:solidFill>
                          <a:latin typeface="+mn-lt"/>
                          <a:ea typeface="+mn-ea"/>
                          <a:cs typeface="+mn-cs"/>
                        </a:rPr>
                        <a:t>(V) </a:t>
                      </a:r>
                      <a:r>
                        <a:rPr lang="en-US" sz="1800" b="1" i="0" u="none" strike="noStrike" kern="1200" baseline="0" dirty="0">
                          <a:solidFill>
                            <a:schemeClr val="dk1"/>
                          </a:solidFill>
                          <a:latin typeface="+mn-lt"/>
                          <a:ea typeface="+mn-ea"/>
                          <a:cs typeface="+mn-cs"/>
                        </a:rPr>
                        <a:t>do</a:t>
                      </a:r>
                      <a:endParaRPr lang="en-US" sz="1800" i="1" dirty="0"/>
                    </a:p>
                  </a:txBody>
                  <a:tcPr/>
                </a:tc>
                <a:extLst>
                  <a:ext uri="{0D108BD9-81ED-4DB2-BD59-A6C34878D82A}">
                    <a16:rowId xmlns:a16="http://schemas.microsoft.com/office/drawing/2014/main" val="3955823526"/>
                  </a:ext>
                </a:extLst>
              </a:tr>
              <a:tr h="374476">
                <a:tc>
                  <a:txBody>
                    <a:bodyPr/>
                    <a:lstStyle/>
                    <a:p>
                      <a:r>
                        <a:rPr lang="en-US" sz="1800" kern="1200" dirty="0">
                          <a:solidFill>
                            <a:schemeClr val="dk1"/>
                          </a:solidFill>
                          <a:effectLst/>
                        </a:rPr>
                        <a:t>5:        </a:t>
                      </a:r>
                      <a:r>
                        <a:rPr lang="en-US" sz="1800" b="1" i="0" u="none" strike="noStrike" kern="1200" baseline="0" dirty="0">
                          <a:solidFill>
                            <a:schemeClr val="dk1"/>
                          </a:solidFill>
                          <a:latin typeface="+mn-lt"/>
                          <a:ea typeface="+mn-ea"/>
                          <a:cs typeface="+mn-cs"/>
                        </a:rPr>
                        <a:t>if </a:t>
                      </a:r>
                      <a:r>
                        <a:rPr lang="en-US" sz="1800" b="0" i="0" u="none" strike="noStrike" kern="1200" baseline="0" dirty="0">
                          <a:solidFill>
                            <a:schemeClr val="dk1"/>
                          </a:solidFill>
                          <a:latin typeface="+mn-lt"/>
                          <a:ea typeface="+mn-ea"/>
                          <a:cs typeface="+mn-cs"/>
                        </a:rPr>
                        <a:t>{V = value} is consistent with all constraints </a:t>
                      </a:r>
                      <a:r>
                        <a:rPr lang="en-US" sz="1800" b="1" i="0" u="none" strike="noStrike" kern="1200" baseline="0" dirty="0">
                          <a:solidFill>
                            <a:schemeClr val="dk1"/>
                          </a:solidFill>
                          <a:latin typeface="+mn-lt"/>
                          <a:ea typeface="+mn-ea"/>
                          <a:cs typeface="+mn-cs"/>
                        </a:rPr>
                        <a:t>then</a:t>
                      </a:r>
                      <a:endParaRPr lang="en-US" sz="1800" b="1" dirty="0"/>
                    </a:p>
                  </a:txBody>
                  <a:tcPr/>
                </a:tc>
                <a:extLst>
                  <a:ext uri="{0D108BD9-81ED-4DB2-BD59-A6C34878D82A}">
                    <a16:rowId xmlns:a16="http://schemas.microsoft.com/office/drawing/2014/main" val="1145083490"/>
                  </a:ext>
                </a:extLst>
              </a:tr>
              <a:tr h="374476">
                <a:tc>
                  <a:txBody>
                    <a:bodyPr/>
                    <a:lstStyle/>
                    <a:p>
                      <a:pPr marL="1035050" indent="-1035050"/>
                      <a:r>
                        <a:rPr lang="en-US" sz="1800" kern="1200" dirty="0">
                          <a:solidFill>
                            <a:schemeClr val="dk1"/>
                          </a:solidFill>
                          <a:effectLst/>
                        </a:rPr>
                        <a:t>6:               </a:t>
                      </a:r>
                      <a:r>
                        <a:rPr lang="en-US" sz="1800" b="0" i="0" u="none" strike="noStrike" kern="1200" baseline="0" dirty="0">
                          <a:solidFill>
                            <a:schemeClr val="dk1"/>
                          </a:solidFill>
                          <a:latin typeface="+mn-lt"/>
                          <a:ea typeface="+mn-ea"/>
                          <a:cs typeface="+mn-cs"/>
                        </a:rPr>
                        <a:t>add {V = value} to </a:t>
                      </a:r>
                      <a:r>
                        <a:rPr lang="en-US" sz="1800" b="0" i="0" u="none" strike="noStrike" kern="1200" baseline="0" dirty="0">
                          <a:solidFill>
                            <a:schemeClr val="accent6"/>
                          </a:solidFill>
                          <a:latin typeface="+mn-lt"/>
                          <a:ea typeface="+mn-ea"/>
                          <a:cs typeface="+mn-cs"/>
                        </a:rPr>
                        <a:t>assignment</a:t>
                      </a:r>
                      <a:endParaRPr lang="en-US" sz="1800" b="0" i="1" dirty="0">
                        <a:solidFill>
                          <a:schemeClr val="accent6"/>
                        </a:solidFill>
                      </a:endParaRPr>
                    </a:p>
                  </a:txBody>
                  <a:tcPr/>
                </a:tc>
                <a:extLst>
                  <a:ext uri="{0D108BD9-81ED-4DB2-BD59-A6C34878D82A}">
                    <a16:rowId xmlns:a16="http://schemas.microsoft.com/office/drawing/2014/main" val="4292651953"/>
                  </a:ext>
                </a:extLst>
              </a:tr>
              <a:tr h="374476">
                <a:tc>
                  <a:txBody>
                    <a:bodyPr/>
                    <a:lstStyle/>
                    <a:p>
                      <a:r>
                        <a:rPr lang="en-US" sz="1800" kern="1200" dirty="0">
                          <a:solidFill>
                            <a:schemeClr val="dk1"/>
                          </a:solidFill>
                          <a:effectLst/>
                        </a:rPr>
                        <a:t>7:               </a:t>
                      </a:r>
                      <a:r>
                        <a:rPr lang="en-US" sz="1800" b="0" i="0" u="none" strike="noStrike" kern="1200" baseline="0" dirty="0">
                          <a:solidFill>
                            <a:schemeClr val="dk1"/>
                          </a:solidFill>
                          <a:latin typeface="+mn-lt"/>
                          <a:ea typeface="+mn-ea"/>
                          <a:cs typeface="+mn-cs"/>
                        </a:rPr>
                        <a:t>result = </a:t>
                      </a:r>
                      <a:r>
                        <a:rPr lang="en-US" sz="1800" b="1" i="0" u="none" strike="noStrike" kern="1200" baseline="0" dirty="0">
                          <a:solidFill>
                            <a:schemeClr val="tx1"/>
                          </a:solidFill>
                          <a:latin typeface="+mn-lt"/>
                          <a:ea typeface="+mn-ea"/>
                          <a:cs typeface="+mn-cs"/>
                        </a:rPr>
                        <a:t>Backtracking-Search</a:t>
                      </a:r>
                      <a:r>
                        <a:rPr lang="en-US" sz="1800" b="0" i="0" u="none" strike="noStrike" kern="1200" baseline="0" dirty="0">
                          <a:solidFill>
                            <a:schemeClr val="tx1"/>
                          </a:solidFill>
                          <a:latin typeface="+mn-lt"/>
                          <a:ea typeface="+mn-ea"/>
                          <a:cs typeface="+mn-cs"/>
                        </a:rPr>
                        <a:t>(</a:t>
                      </a:r>
                      <a:r>
                        <a:rPr lang="en-US" sz="1800" b="0" i="0" u="none" strike="noStrike" kern="1200" baseline="0" dirty="0">
                          <a:solidFill>
                            <a:schemeClr val="accent6"/>
                          </a:solidFill>
                          <a:latin typeface="+mn-lt"/>
                          <a:ea typeface="+mn-ea"/>
                          <a:cs typeface="+mn-cs"/>
                        </a:rPr>
                        <a:t>assignment</a:t>
                      </a:r>
                      <a:r>
                        <a:rPr lang="en-US" sz="1800" b="0" i="0" u="none" strike="noStrike" kern="1200" baseline="0" dirty="0">
                          <a:solidFill>
                            <a:schemeClr val="dk1"/>
                          </a:solidFill>
                          <a:latin typeface="+mn-lt"/>
                          <a:ea typeface="+mn-ea"/>
                          <a:cs typeface="+mn-cs"/>
                        </a:rPr>
                        <a:t>)</a:t>
                      </a:r>
                      <a:endParaRPr lang="en-US" sz="1800" i="1" dirty="0"/>
                    </a:p>
                  </a:txBody>
                  <a:tcPr/>
                </a:tc>
                <a:extLst>
                  <a:ext uri="{0D108BD9-81ED-4DB2-BD59-A6C34878D82A}">
                    <a16:rowId xmlns:a16="http://schemas.microsoft.com/office/drawing/2014/main" val="2803804344"/>
                  </a:ext>
                </a:extLst>
              </a:tr>
              <a:tr h="374476">
                <a:tc>
                  <a:txBody>
                    <a:bodyPr/>
                    <a:lstStyle/>
                    <a:p>
                      <a:pPr marL="568325" indent="-568325"/>
                      <a:r>
                        <a:rPr lang="en-US" sz="1800" kern="1200" dirty="0">
                          <a:solidFill>
                            <a:schemeClr val="dk1"/>
                          </a:solidFill>
                          <a:effectLst/>
                        </a:rPr>
                        <a:t>8:               </a:t>
                      </a:r>
                      <a:r>
                        <a:rPr lang="en-US" sz="1800" b="1" i="0" u="none" strike="noStrike" kern="1200" baseline="0" dirty="0">
                          <a:solidFill>
                            <a:schemeClr val="dk1"/>
                          </a:solidFill>
                          <a:latin typeface="+mn-lt"/>
                          <a:ea typeface="+mn-ea"/>
                          <a:cs typeface="+mn-cs"/>
                        </a:rPr>
                        <a:t>if </a:t>
                      </a:r>
                      <a:r>
                        <a:rPr lang="en-US" sz="1800" b="0" i="0" u="none" strike="noStrike" kern="1200" baseline="0" dirty="0">
                          <a:solidFill>
                            <a:schemeClr val="dk1"/>
                          </a:solidFill>
                          <a:latin typeface="+mn-lt"/>
                          <a:ea typeface="+mn-ea"/>
                          <a:cs typeface="+mn-cs"/>
                        </a:rPr>
                        <a:t>result ≠ failure </a:t>
                      </a:r>
                      <a:r>
                        <a:rPr lang="en-US" sz="1800" b="1" i="0" u="none" strike="noStrike" kern="1200" baseline="0" dirty="0">
                          <a:solidFill>
                            <a:schemeClr val="dk1"/>
                          </a:solidFill>
                          <a:latin typeface="+mn-lt"/>
                          <a:ea typeface="+mn-ea"/>
                          <a:cs typeface="+mn-cs"/>
                        </a:rPr>
                        <a:t>then</a:t>
                      </a:r>
                      <a:r>
                        <a:rPr lang="en-US" sz="1800" b="0" kern="1200" dirty="0">
                          <a:solidFill>
                            <a:schemeClr val="dk1"/>
                          </a:solidFill>
                          <a:effectLst/>
                        </a:rPr>
                        <a:t> </a:t>
                      </a:r>
                      <a:endParaRPr lang="en-US" sz="1800" b="0" dirty="0"/>
                    </a:p>
                  </a:txBody>
                  <a:tcPr/>
                </a:tc>
                <a:extLst>
                  <a:ext uri="{0D108BD9-81ED-4DB2-BD59-A6C34878D82A}">
                    <a16:rowId xmlns:a16="http://schemas.microsoft.com/office/drawing/2014/main" val="1518851760"/>
                  </a:ext>
                </a:extLst>
              </a:tr>
              <a:tr h="374476">
                <a:tc>
                  <a:txBody>
                    <a:bodyPr/>
                    <a:lstStyle/>
                    <a:p>
                      <a:r>
                        <a:rPr lang="en-US" sz="1800" kern="1200" dirty="0">
                          <a:solidFill>
                            <a:schemeClr val="dk1"/>
                          </a:solidFill>
                          <a:effectLst/>
                        </a:rPr>
                        <a:t>9:   </a:t>
                      </a:r>
                      <a:r>
                        <a:rPr lang="en-US" sz="1800" b="1" kern="1200" dirty="0">
                          <a:solidFill>
                            <a:schemeClr val="dk1"/>
                          </a:solidFill>
                          <a:effectLst/>
                        </a:rPr>
                        <a:t>                 </a:t>
                      </a:r>
                      <a:r>
                        <a:rPr lang="en-US" sz="1800" b="1" i="0" u="none" strike="noStrike" kern="1200" baseline="0" dirty="0">
                          <a:solidFill>
                            <a:schemeClr val="dk1"/>
                          </a:solidFill>
                          <a:latin typeface="+mn-lt"/>
                          <a:ea typeface="+mn-ea"/>
                          <a:cs typeface="+mn-cs"/>
                        </a:rPr>
                        <a:t>return </a:t>
                      </a:r>
                      <a:r>
                        <a:rPr lang="en-US" sz="1800" b="0" i="0" u="none" strike="noStrike" kern="1200" baseline="0" dirty="0">
                          <a:solidFill>
                            <a:schemeClr val="dk1"/>
                          </a:solidFill>
                          <a:latin typeface="+mn-lt"/>
                          <a:ea typeface="+mn-ea"/>
                          <a:cs typeface="+mn-cs"/>
                        </a:rPr>
                        <a:t>result</a:t>
                      </a:r>
                      <a:endParaRPr lang="en-US" sz="1800" dirty="0"/>
                    </a:p>
                  </a:txBody>
                  <a:tcPr/>
                </a:tc>
                <a:extLst>
                  <a:ext uri="{0D108BD9-81ED-4DB2-BD59-A6C34878D82A}">
                    <a16:rowId xmlns:a16="http://schemas.microsoft.com/office/drawing/2014/main" val="2740270543"/>
                  </a:ext>
                </a:extLst>
              </a:tr>
              <a:tr h="359497">
                <a:tc>
                  <a:txBody>
                    <a:bodyPr/>
                    <a:lstStyle/>
                    <a:p>
                      <a:r>
                        <a:rPr lang="en-US" sz="1800" kern="1200" dirty="0">
                          <a:solidFill>
                            <a:schemeClr val="dk1"/>
                          </a:solidFill>
                          <a:effectLst/>
                        </a:rPr>
                        <a:t>10:             </a:t>
                      </a:r>
                      <a:r>
                        <a:rPr lang="en-US" sz="1800" b="1" i="0" u="none" strike="noStrike" kern="1200" baseline="0" dirty="0">
                          <a:solidFill>
                            <a:schemeClr val="dk1"/>
                          </a:solidFill>
                          <a:latin typeface="+mn-lt"/>
                          <a:ea typeface="+mn-ea"/>
                          <a:cs typeface="+mn-cs"/>
                        </a:rPr>
                        <a:t>remove</a:t>
                      </a:r>
                      <a:r>
                        <a:rPr lang="en-US" sz="1800" b="0" i="0" u="none" strike="noStrike" kern="1200" baseline="0" dirty="0">
                          <a:solidFill>
                            <a:schemeClr val="dk1"/>
                          </a:solidFill>
                          <a:latin typeface="+mn-lt"/>
                          <a:ea typeface="+mn-ea"/>
                          <a:cs typeface="+mn-cs"/>
                        </a:rPr>
                        <a:t> {V = value} from </a:t>
                      </a:r>
                      <a:r>
                        <a:rPr lang="en-US" sz="1800" b="0" i="0" u="none" strike="noStrike" kern="1200" baseline="0" dirty="0">
                          <a:solidFill>
                            <a:schemeClr val="accent6"/>
                          </a:solidFill>
                          <a:latin typeface="+mn-lt"/>
                          <a:ea typeface="+mn-ea"/>
                          <a:cs typeface="+mn-cs"/>
                        </a:rPr>
                        <a:t>assignment</a:t>
                      </a:r>
                      <a:endParaRPr lang="en-US" sz="1800" b="0" dirty="0">
                        <a:solidFill>
                          <a:schemeClr val="accent6"/>
                        </a:solidFill>
                      </a:endParaRPr>
                    </a:p>
                  </a:txBody>
                  <a:tcPr/>
                </a:tc>
                <a:extLst>
                  <a:ext uri="{0D108BD9-81ED-4DB2-BD59-A6C34878D82A}">
                    <a16:rowId xmlns:a16="http://schemas.microsoft.com/office/drawing/2014/main" val="1888299871"/>
                  </a:ext>
                </a:extLst>
              </a:tr>
              <a:tr h="359497">
                <a:tc>
                  <a:txBody>
                    <a:bodyPr/>
                    <a:lstStyle/>
                    <a:p>
                      <a:r>
                        <a:rPr lang="en-US" sz="1800" b="0" dirty="0"/>
                        <a:t>11:  </a:t>
                      </a:r>
                      <a:r>
                        <a:rPr lang="en-US" sz="1800" b="1" dirty="0"/>
                        <a:t>end for</a:t>
                      </a:r>
                    </a:p>
                  </a:txBody>
                  <a:tcPr/>
                </a:tc>
                <a:extLst>
                  <a:ext uri="{0D108BD9-81ED-4DB2-BD59-A6C34878D82A}">
                    <a16:rowId xmlns:a16="http://schemas.microsoft.com/office/drawing/2014/main" val="3291136334"/>
                  </a:ext>
                </a:extLst>
              </a:tr>
              <a:tr h="359497">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12: </a:t>
                      </a:r>
                      <a:r>
                        <a:rPr lang="en-US" sz="1800" b="0" i="0" u="none" strike="noStrike" kern="1200" baseline="0" dirty="0">
                          <a:solidFill>
                            <a:schemeClr val="dk1"/>
                          </a:solidFill>
                          <a:latin typeface="+mn-lt"/>
                          <a:ea typeface="+mn-ea"/>
                          <a:cs typeface="+mn-cs"/>
                        </a:rPr>
                        <a:t>return </a:t>
                      </a:r>
                      <a:r>
                        <a:rPr lang="en-US" sz="1800" b="0" i="0" u="none" strike="noStrike" kern="1200" baseline="0" dirty="0">
                          <a:solidFill>
                            <a:srgbClr val="FF0000"/>
                          </a:solidFill>
                          <a:latin typeface="+mn-lt"/>
                          <a:ea typeface="+mn-ea"/>
                          <a:cs typeface="+mn-cs"/>
                        </a:rPr>
                        <a:t>failure</a:t>
                      </a:r>
                      <a:endParaRPr lang="en-US" sz="1800" dirty="0">
                        <a:solidFill>
                          <a:srgbClr val="FF0000"/>
                        </a:solidFill>
                      </a:endParaRPr>
                    </a:p>
                  </a:txBody>
                  <a:tcPr/>
                </a:tc>
                <a:extLst>
                  <a:ext uri="{0D108BD9-81ED-4DB2-BD59-A6C34878D82A}">
                    <a16:rowId xmlns:a16="http://schemas.microsoft.com/office/drawing/2014/main" val="157834468"/>
                  </a:ext>
                </a:extLst>
              </a:tr>
            </a:tbl>
          </a:graphicData>
        </a:graphic>
      </p:graphicFrame>
    </p:spTree>
    <p:extLst>
      <p:ext uri="{BB962C8B-B14F-4D97-AF65-F5344CB8AC3E}">
        <p14:creationId xmlns:p14="http://schemas.microsoft.com/office/powerpoint/2010/main" val="1510000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Solving CSPs using Backtracking Search</a:t>
            </a:r>
          </a:p>
        </p:txBody>
      </p:sp>
      <p:sp>
        <p:nvSpPr>
          <p:cNvPr id="3" name="Content Placeholder 2"/>
          <p:cNvSpPr>
            <a:spLocks noGrp="1"/>
          </p:cNvSpPr>
          <p:nvPr>
            <p:ph idx="1"/>
          </p:nvPr>
        </p:nvSpPr>
        <p:spPr/>
        <p:txBody>
          <a:bodyPr>
            <a:normAutofit/>
          </a:bodyPr>
          <a:lstStyle/>
          <a:p>
            <a:r>
              <a:rPr lang="en-US" dirty="0"/>
              <a:t>To solve a CSP, we require the following steps:</a:t>
            </a:r>
          </a:p>
          <a:p>
            <a:pPr lvl="1"/>
            <a:r>
              <a:rPr lang="en-US" dirty="0">
                <a:solidFill>
                  <a:schemeClr val="accent6">
                    <a:lumMod val="75000"/>
                  </a:schemeClr>
                </a:solidFill>
              </a:rPr>
              <a:t>Step 1</a:t>
            </a:r>
            <a:r>
              <a:rPr lang="en-US" dirty="0"/>
              <a:t>: Create a variable set.</a:t>
            </a:r>
          </a:p>
          <a:p>
            <a:pPr lvl="1"/>
            <a:r>
              <a:rPr lang="en-US" dirty="0">
                <a:solidFill>
                  <a:schemeClr val="accent6">
                    <a:lumMod val="75000"/>
                  </a:schemeClr>
                </a:solidFill>
              </a:rPr>
              <a:t>Step 2</a:t>
            </a:r>
            <a:r>
              <a:rPr lang="en-US" dirty="0"/>
              <a:t>: Create a domain set.</a:t>
            </a:r>
          </a:p>
          <a:p>
            <a:pPr lvl="1"/>
            <a:r>
              <a:rPr lang="en-US" dirty="0">
                <a:solidFill>
                  <a:schemeClr val="accent6">
                    <a:lumMod val="75000"/>
                  </a:schemeClr>
                </a:solidFill>
              </a:rPr>
              <a:t>Step 3</a:t>
            </a:r>
            <a:r>
              <a:rPr lang="en-US" dirty="0"/>
              <a:t>: Create a constraint set with variables and domains (if possible) after considering the constraints.</a:t>
            </a:r>
          </a:p>
          <a:p>
            <a:pPr lvl="1"/>
            <a:r>
              <a:rPr lang="en-US" dirty="0">
                <a:solidFill>
                  <a:schemeClr val="accent6">
                    <a:lumMod val="75000"/>
                  </a:schemeClr>
                </a:solidFill>
              </a:rPr>
              <a:t>Step 4:</a:t>
            </a:r>
            <a:r>
              <a:rPr lang="en-US" dirty="0"/>
              <a:t> Set the order of variable and domain sets.</a:t>
            </a:r>
          </a:p>
          <a:p>
            <a:pPr lvl="1"/>
            <a:r>
              <a:rPr lang="en-US" dirty="0">
                <a:solidFill>
                  <a:schemeClr val="accent6">
                    <a:lumMod val="75000"/>
                  </a:schemeClr>
                </a:solidFill>
              </a:rPr>
              <a:t>Step 5</a:t>
            </a:r>
            <a:r>
              <a:rPr lang="en-US" dirty="0"/>
              <a:t>: Set the initial state with empty assignments for all variables.</a:t>
            </a:r>
          </a:p>
          <a:p>
            <a:pPr lvl="1"/>
            <a:r>
              <a:rPr lang="en-US" dirty="0">
                <a:solidFill>
                  <a:schemeClr val="accent6">
                    <a:lumMod val="75000"/>
                  </a:schemeClr>
                </a:solidFill>
              </a:rPr>
              <a:t>Step 6</a:t>
            </a:r>
            <a:r>
              <a:rPr lang="en-US" dirty="0"/>
              <a:t>: Use backtracking search to assign values to all variables. A solution is found if variables assignments satisfy all constraints.</a:t>
            </a:r>
          </a:p>
          <a:p>
            <a:endParaRPr lang="en-US" dirty="0"/>
          </a:p>
        </p:txBody>
      </p:sp>
      <p:sp>
        <p:nvSpPr>
          <p:cNvPr id="4" name="Date Placeholder 3"/>
          <p:cNvSpPr>
            <a:spLocks noGrp="1"/>
          </p:cNvSpPr>
          <p:nvPr>
            <p:ph type="dt" sz="half" idx="10"/>
          </p:nvPr>
        </p:nvSpPr>
        <p:spPr/>
        <p:txBody>
          <a:bodyPr/>
          <a:lstStyle/>
          <a:p>
            <a:fld id="{6D6A1EB8-BB4A-44F8-96EE-7CB35A2EDDD6}"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11</a:t>
            </a:fld>
            <a:endParaRPr lang="en-US" dirty="0"/>
          </a:p>
        </p:txBody>
      </p:sp>
    </p:spTree>
    <p:extLst>
      <p:ext uri="{BB962C8B-B14F-4D97-AF65-F5344CB8AC3E}">
        <p14:creationId xmlns:p14="http://schemas.microsoft.com/office/powerpoint/2010/main" val="2623921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1 </a:t>
            </a:r>
          </a:p>
        </p:txBody>
      </p:sp>
      <p:sp>
        <p:nvSpPr>
          <p:cNvPr id="3" name="Content Placeholder 2"/>
          <p:cNvSpPr>
            <a:spLocks noGrp="1"/>
          </p:cNvSpPr>
          <p:nvPr>
            <p:ph idx="1"/>
          </p:nvPr>
        </p:nvSpPr>
        <p:spPr/>
        <p:txBody>
          <a:bodyPr>
            <a:normAutofit/>
          </a:bodyPr>
          <a:lstStyle/>
          <a:p>
            <a:r>
              <a:rPr lang="en-US" dirty="0">
                <a:solidFill>
                  <a:schemeClr val="accent6">
                    <a:lumMod val="75000"/>
                  </a:schemeClr>
                </a:solidFill>
              </a:rPr>
              <a:t>Example 1: </a:t>
            </a:r>
          </a:p>
          <a:p>
            <a:pPr lvl="1"/>
            <a:r>
              <a:rPr lang="en-US" dirty="0"/>
              <a:t>Suppose you have a set of variables 𝑉1, 𝑉2, 𝑉3. Each variable in the set 𝑉, has a non-empty domain of possible values, particularly </a:t>
            </a:r>
            <a:r>
              <a:rPr lang="en-US" i="1" dirty="0"/>
              <a:t>D</a:t>
            </a:r>
            <a:r>
              <a:rPr lang="en-US" baseline="-25000" dirty="0"/>
              <a:t>𝑉1 </a:t>
            </a:r>
            <a:r>
              <a:rPr lang="en-US" dirty="0"/>
              <a:t>= {1,2,3}, </a:t>
            </a:r>
            <a:r>
              <a:rPr lang="en-US" i="1" dirty="0"/>
              <a:t>D</a:t>
            </a:r>
            <a:r>
              <a:rPr lang="en-US" baseline="-25000" dirty="0"/>
              <a:t>𝑉2 </a:t>
            </a:r>
            <a:r>
              <a:rPr lang="en-US" dirty="0"/>
              <a:t>= {1,2}, and </a:t>
            </a:r>
            <a:r>
              <a:rPr lang="en-US" i="1" dirty="0"/>
              <a:t>D</a:t>
            </a:r>
            <a:r>
              <a:rPr lang="en-US" baseline="-25000" dirty="0"/>
              <a:t>𝑉3 </a:t>
            </a:r>
            <a:r>
              <a:rPr lang="en-US" dirty="0"/>
              <a:t>= {2,3}. A set of constraints             𝐶 = {𝑉1&gt;𝑉2, 𝑉2≠𝑉3, 𝑉1≠𝑉3}. Find the values that satisfy the constraints.</a:t>
            </a:r>
          </a:p>
          <a:p>
            <a:r>
              <a:rPr lang="en-US" dirty="0">
                <a:solidFill>
                  <a:schemeClr val="accent6">
                    <a:lumMod val="75000"/>
                  </a:schemeClr>
                </a:solidFill>
              </a:rPr>
              <a:t>Solution: </a:t>
            </a:r>
          </a:p>
          <a:p>
            <a:pPr lvl="1"/>
            <a:r>
              <a:rPr lang="en-US" dirty="0"/>
              <a:t>The goal is to assign a value to each variable </a:t>
            </a:r>
            <a:r>
              <a:rPr lang="en-US" dirty="0">
                <a:solidFill>
                  <a:srgbClr val="00B050"/>
                </a:solidFill>
              </a:rPr>
              <a:t>such that none of the constraints are violated</a:t>
            </a:r>
            <a:r>
              <a:rPr lang="en-US" dirty="0"/>
              <a:t>.</a:t>
            </a:r>
          </a:p>
          <a:p>
            <a:pPr lvl="1"/>
            <a:r>
              <a:rPr lang="en-US" dirty="0"/>
              <a:t>We will use </a:t>
            </a:r>
            <a:r>
              <a:rPr lang="en-US" dirty="0">
                <a:solidFill>
                  <a:srgbClr val="C00000"/>
                </a:solidFill>
              </a:rPr>
              <a:t>backtracking search </a:t>
            </a:r>
            <a:r>
              <a:rPr lang="en-US" dirty="0"/>
              <a:t>to solve the problem. </a:t>
            </a:r>
          </a:p>
          <a:p>
            <a:endParaRPr lang="en-US" dirty="0"/>
          </a:p>
          <a:p>
            <a:endParaRPr lang="en-US" dirty="0"/>
          </a:p>
        </p:txBody>
      </p:sp>
      <p:sp>
        <p:nvSpPr>
          <p:cNvPr id="4" name="Date Placeholder 3"/>
          <p:cNvSpPr>
            <a:spLocks noGrp="1"/>
          </p:cNvSpPr>
          <p:nvPr>
            <p:ph type="dt" sz="half" idx="10"/>
          </p:nvPr>
        </p:nvSpPr>
        <p:spPr/>
        <p:txBody>
          <a:bodyPr/>
          <a:lstStyle/>
          <a:p>
            <a:fld id="{95D94184-93F0-4421-9439-8CCF626029CF}"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12</a:t>
            </a:fld>
            <a:endParaRPr lang="en-US" dirty="0"/>
          </a:p>
        </p:txBody>
      </p:sp>
    </p:spTree>
    <p:extLst>
      <p:ext uri="{BB962C8B-B14F-4D97-AF65-F5344CB8AC3E}">
        <p14:creationId xmlns:p14="http://schemas.microsoft.com/office/powerpoint/2010/main" val="1157856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1 - Solution </a:t>
            </a:r>
          </a:p>
        </p:txBody>
      </p:sp>
      <p:sp>
        <p:nvSpPr>
          <p:cNvPr id="3" name="Content Placeholder 2"/>
          <p:cNvSpPr>
            <a:spLocks noGrp="1"/>
          </p:cNvSpPr>
          <p:nvPr>
            <p:ph idx="1"/>
          </p:nvPr>
        </p:nvSpPr>
        <p:spPr>
          <a:xfrm>
            <a:off x="304800" y="1228153"/>
            <a:ext cx="11582400" cy="5124521"/>
          </a:xfrm>
        </p:spPr>
        <p:txBody>
          <a:bodyPr>
            <a:normAutofit/>
          </a:bodyPr>
          <a:lstStyle/>
          <a:p>
            <a:r>
              <a:rPr lang="en-US" sz="3000" dirty="0">
                <a:solidFill>
                  <a:schemeClr val="accent6">
                    <a:lumMod val="75000"/>
                  </a:schemeClr>
                </a:solidFill>
              </a:rPr>
              <a:t>Step 1</a:t>
            </a:r>
            <a:r>
              <a:rPr lang="en-US" sz="3000" b="1" dirty="0"/>
              <a:t>:</a:t>
            </a:r>
            <a:r>
              <a:rPr lang="en-US" sz="3000" dirty="0"/>
              <a:t> We need to create the </a:t>
            </a:r>
            <a:r>
              <a:rPr lang="en-US" sz="3000" dirty="0">
                <a:solidFill>
                  <a:srgbClr val="C00000"/>
                </a:solidFill>
              </a:rPr>
              <a:t>variable</a:t>
            </a:r>
            <a:r>
              <a:rPr lang="en-US" sz="3000" dirty="0"/>
              <a:t> </a:t>
            </a:r>
            <a:r>
              <a:rPr lang="en-US" sz="3000" dirty="0">
                <a:solidFill>
                  <a:srgbClr val="C00000"/>
                </a:solidFill>
              </a:rPr>
              <a:t>set</a:t>
            </a:r>
            <a:r>
              <a:rPr lang="en-US" sz="3000" dirty="0"/>
              <a:t>, from the problem</a:t>
            </a:r>
          </a:p>
          <a:p>
            <a:pPr lvl="1"/>
            <a:r>
              <a:rPr lang="en-US" sz="2800" dirty="0"/>
              <a:t>𝑉={𝑉1,𝑉2,𝑉3} is the variable set.</a:t>
            </a:r>
          </a:p>
          <a:p>
            <a:r>
              <a:rPr lang="en-US" sz="3000" dirty="0">
                <a:solidFill>
                  <a:schemeClr val="accent6">
                    <a:lumMod val="75000"/>
                  </a:schemeClr>
                </a:solidFill>
              </a:rPr>
              <a:t>Step 2</a:t>
            </a:r>
            <a:r>
              <a:rPr lang="en-US" sz="3000" b="1" dirty="0"/>
              <a:t>: </a:t>
            </a:r>
            <a:r>
              <a:rPr lang="en-US" sz="3000" dirty="0"/>
              <a:t>We need to define the </a:t>
            </a:r>
            <a:r>
              <a:rPr lang="en-US" sz="3000" dirty="0">
                <a:solidFill>
                  <a:srgbClr val="C00000"/>
                </a:solidFill>
              </a:rPr>
              <a:t>domain set</a:t>
            </a:r>
            <a:r>
              <a:rPr lang="en-US" sz="3000" dirty="0"/>
              <a:t>; the domain is as follows:</a:t>
            </a:r>
          </a:p>
          <a:p>
            <a:pPr lvl="1"/>
            <a:r>
              <a:rPr lang="en-US" sz="2800" i="1" dirty="0"/>
              <a:t>D</a:t>
            </a:r>
            <a:r>
              <a:rPr lang="en-US" sz="2800" baseline="-25000" dirty="0"/>
              <a:t>𝑉1 </a:t>
            </a:r>
            <a:r>
              <a:rPr lang="en-US" sz="2800" dirty="0"/>
              <a:t>= {1,2,3}</a:t>
            </a:r>
          </a:p>
          <a:p>
            <a:pPr lvl="1"/>
            <a:r>
              <a:rPr lang="en-US" sz="2800" i="1" dirty="0"/>
              <a:t>D</a:t>
            </a:r>
            <a:r>
              <a:rPr lang="en-US" sz="2800" baseline="-25000" dirty="0"/>
              <a:t>𝑉2 </a:t>
            </a:r>
            <a:r>
              <a:rPr lang="en-US" sz="2800" dirty="0"/>
              <a:t>= {1,2}</a:t>
            </a:r>
          </a:p>
          <a:p>
            <a:pPr lvl="1"/>
            <a:r>
              <a:rPr lang="en-US" sz="2800" i="1" dirty="0"/>
              <a:t>D</a:t>
            </a:r>
            <a:r>
              <a:rPr lang="en-US" sz="2800" baseline="-25000" dirty="0"/>
              <a:t>𝑉3 </a:t>
            </a:r>
            <a:r>
              <a:rPr lang="en-US" sz="2800" dirty="0"/>
              <a:t>= {2,3}</a:t>
            </a:r>
          </a:p>
          <a:p>
            <a:r>
              <a:rPr lang="en-US" sz="3000" dirty="0">
                <a:solidFill>
                  <a:schemeClr val="accent6">
                    <a:lumMod val="75000"/>
                  </a:schemeClr>
                </a:solidFill>
              </a:rPr>
              <a:t>Step 3</a:t>
            </a:r>
            <a:r>
              <a:rPr lang="en-US" sz="3000" dirty="0"/>
              <a:t>: </a:t>
            </a:r>
            <a:r>
              <a:rPr lang="en-US" sz="3000" dirty="0">
                <a:solidFill>
                  <a:srgbClr val="C00000"/>
                </a:solidFill>
              </a:rPr>
              <a:t>Constraints</a:t>
            </a:r>
            <a:r>
              <a:rPr lang="en-US" sz="3000" dirty="0"/>
              <a:t> are:</a:t>
            </a:r>
          </a:p>
          <a:p>
            <a:pPr lvl="1"/>
            <a:r>
              <a:rPr lang="en-US" sz="2800" dirty="0"/>
              <a:t> 𝐶1 = 𝑉1 &gt; 𝑉2</a:t>
            </a:r>
          </a:p>
          <a:p>
            <a:pPr lvl="1"/>
            <a:r>
              <a:rPr lang="en-US" sz="2800" dirty="0"/>
              <a:t> 𝐶2 = 𝑉2 ≠ 𝑉3</a:t>
            </a:r>
          </a:p>
          <a:p>
            <a:pPr lvl="1"/>
            <a:r>
              <a:rPr lang="en-US" sz="2800" dirty="0"/>
              <a:t> 𝐶3 = 𝑉1 ≠ 𝑉3</a:t>
            </a:r>
          </a:p>
        </p:txBody>
      </p:sp>
      <p:sp>
        <p:nvSpPr>
          <p:cNvPr id="4" name="Date Placeholder 3"/>
          <p:cNvSpPr>
            <a:spLocks noGrp="1"/>
          </p:cNvSpPr>
          <p:nvPr>
            <p:ph type="dt" sz="half" idx="10"/>
          </p:nvPr>
        </p:nvSpPr>
        <p:spPr/>
        <p:txBody>
          <a:bodyPr/>
          <a:lstStyle/>
          <a:p>
            <a:fld id="{87EFF844-21AC-443B-A8D8-04835E407A5F}"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13</a:t>
            </a:fld>
            <a:endParaRPr lang="en-US" dirty="0"/>
          </a:p>
        </p:txBody>
      </p:sp>
    </p:spTree>
    <p:extLst>
      <p:ext uri="{BB962C8B-B14F-4D97-AF65-F5344CB8AC3E}">
        <p14:creationId xmlns:p14="http://schemas.microsoft.com/office/powerpoint/2010/main" val="3579911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1 - Solution </a:t>
            </a:r>
          </a:p>
        </p:txBody>
      </p:sp>
      <p:sp>
        <p:nvSpPr>
          <p:cNvPr id="3" name="Content Placeholder 2"/>
          <p:cNvSpPr>
            <a:spLocks noGrp="1"/>
          </p:cNvSpPr>
          <p:nvPr>
            <p:ph idx="1"/>
          </p:nvPr>
        </p:nvSpPr>
        <p:spPr>
          <a:xfrm>
            <a:off x="304800" y="1228153"/>
            <a:ext cx="11582400" cy="5124521"/>
          </a:xfrm>
        </p:spPr>
        <p:txBody>
          <a:bodyPr>
            <a:normAutofit/>
          </a:bodyPr>
          <a:lstStyle/>
          <a:p>
            <a:r>
              <a:rPr lang="en-US" dirty="0">
                <a:solidFill>
                  <a:schemeClr val="accent6">
                    <a:lumMod val="75000"/>
                  </a:schemeClr>
                </a:solidFill>
              </a:rPr>
              <a:t>Step 4</a:t>
            </a:r>
            <a:r>
              <a:rPr lang="en-US" dirty="0"/>
              <a:t>: The order of selecting variables and values:</a:t>
            </a:r>
          </a:p>
          <a:p>
            <a:pPr lvl="1"/>
            <a:r>
              <a:rPr lang="en-US" sz="2800" dirty="0"/>
              <a:t>The same order they appear in the variables and domain sets. </a:t>
            </a:r>
          </a:p>
          <a:p>
            <a:r>
              <a:rPr lang="en-US" dirty="0">
                <a:solidFill>
                  <a:schemeClr val="accent6">
                    <a:lumMod val="75000"/>
                  </a:schemeClr>
                </a:solidFill>
              </a:rPr>
              <a:t>Step 5</a:t>
            </a:r>
            <a:r>
              <a:rPr lang="en-US" dirty="0"/>
              <a:t>: Set the initial assignment of variables:</a:t>
            </a:r>
          </a:p>
          <a:p>
            <a:pPr lvl="1"/>
            <a:r>
              <a:rPr lang="en-US" sz="2800" dirty="0"/>
              <a:t>𝑉1 = {}, 𝑉2 = {}, 𝑉3 = {}.</a:t>
            </a:r>
          </a:p>
          <a:p>
            <a:r>
              <a:rPr lang="en-US" dirty="0">
                <a:solidFill>
                  <a:schemeClr val="accent6">
                    <a:lumMod val="75000"/>
                  </a:schemeClr>
                </a:solidFill>
              </a:rPr>
              <a:t>Step 6</a:t>
            </a:r>
            <a:r>
              <a:rPr lang="en-US" b="1" dirty="0"/>
              <a:t>: </a:t>
            </a:r>
            <a:r>
              <a:rPr lang="en-US" dirty="0"/>
              <a:t>Use backtracking search to find the solution by going over  all possible values (one at a time) and make sure that all constraints are satisfied. If you reach an assignment of values that breaks the constraints, backtrack to the last decision made and change the value. </a:t>
            </a:r>
          </a:p>
          <a:p>
            <a:pPr lvl="1"/>
            <a:r>
              <a:rPr lang="en-US" sz="2800" dirty="0"/>
              <a:t>Detailed steps are given in next slides.</a:t>
            </a:r>
          </a:p>
          <a:p>
            <a:endParaRPr lang="en-US" dirty="0"/>
          </a:p>
          <a:p>
            <a:pPr lvl="1"/>
            <a:endParaRPr lang="en-US" dirty="0"/>
          </a:p>
        </p:txBody>
      </p:sp>
      <p:sp>
        <p:nvSpPr>
          <p:cNvPr id="4" name="Date Placeholder 3"/>
          <p:cNvSpPr>
            <a:spLocks noGrp="1"/>
          </p:cNvSpPr>
          <p:nvPr>
            <p:ph type="dt" sz="half" idx="10"/>
          </p:nvPr>
        </p:nvSpPr>
        <p:spPr/>
        <p:txBody>
          <a:bodyPr/>
          <a:lstStyle/>
          <a:p>
            <a:fld id="{87EFF844-21AC-443B-A8D8-04835E407A5F}"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14</a:t>
            </a:fld>
            <a:endParaRPr lang="en-US" dirty="0"/>
          </a:p>
        </p:txBody>
      </p:sp>
    </p:spTree>
    <p:extLst>
      <p:ext uri="{BB962C8B-B14F-4D97-AF65-F5344CB8AC3E}">
        <p14:creationId xmlns:p14="http://schemas.microsoft.com/office/powerpoint/2010/main" val="443537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1 - Solution </a:t>
            </a:r>
          </a:p>
        </p:txBody>
      </p:sp>
      <p:sp>
        <p:nvSpPr>
          <p:cNvPr id="4" name="Date Placeholder 3"/>
          <p:cNvSpPr>
            <a:spLocks noGrp="1"/>
          </p:cNvSpPr>
          <p:nvPr>
            <p:ph type="dt" sz="half" idx="10"/>
          </p:nvPr>
        </p:nvSpPr>
        <p:spPr/>
        <p:txBody>
          <a:bodyPr/>
          <a:lstStyle/>
          <a:p>
            <a:fld id="{53D7D523-2267-4378-A184-317B2002E2E0}"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15</a:t>
            </a:fld>
            <a:endParaRPr lang="en-US" dirty="0"/>
          </a:p>
        </p:txBody>
      </p:sp>
      <p:sp>
        <p:nvSpPr>
          <p:cNvPr id="7" name="Content Placeholder 2"/>
          <p:cNvSpPr txBox="1">
            <a:spLocks/>
          </p:cNvSpPr>
          <p:nvPr/>
        </p:nvSpPr>
        <p:spPr>
          <a:xfrm>
            <a:off x="304800" y="1304925"/>
            <a:ext cx="9144000" cy="4945208"/>
          </a:xfrm>
          <a:prstGeom prst="rect">
            <a:avLst/>
          </a:prstGeom>
        </p:spPr>
        <p:txBody>
          <a:bodyPr vert="horz" lIns="0" tIns="45720" rIns="0" bIns="45720" rtlCol="0">
            <a:normAutofit/>
          </a:bodyPr>
          <a:lstStyle>
            <a:lvl1pPr marL="304792" indent="-228594" algn="l" defTabSz="914377" rtl="0" eaLnBrk="1" latinLnBrk="0" hangingPunct="1">
              <a:lnSpc>
                <a:spcPct val="90000"/>
              </a:lnSpc>
              <a:spcBef>
                <a:spcPts val="1200"/>
              </a:spcBef>
              <a:spcAft>
                <a:spcPts val="200"/>
              </a:spcAft>
              <a:buClr>
                <a:schemeClr val="accent1"/>
              </a:buClr>
              <a:buSzPct val="110000"/>
              <a:buFont typeface="Arial" panose="020B0604020202020204" pitchFamily="34" charset="0"/>
              <a:buChar char="•"/>
              <a:defRPr sz="3200" kern="1200">
                <a:solidFill>
                  <a:schemeClr val="tx1"/>
                </a:solidFill>
                <a:latin typeface="+mn-lt"/>
                <a:ea typeface="+mn-ea"/>
                <a:cs typeface="+mn-cs"/>
              </a:defRPr>
            </a:lvl1pPr>
            <a:lvl2pPr marL="609585" indent="-304792"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836063" indent="-226478" algn="l" defTabSz="914377" rtl="0" eaLnBrk="1" latinLnBrk="0" hangingPunct="1">
              <a:lnSpc>
                <a:spcPct val="90000"/>
              </a:lnSpc>
              <a:spcBef>
                <a:spcPts val="200"/>
              </a:spcBef>
              <a:spcAft>
                <a:spcPts val="400"/>
              </a:spcAft>
              <a:buClr>
                <a:schemeClr val="accent1"/>
              </a:buClr>
              <a:buFont typeface="Calibri" pitchFamily="34" charset="0"/>
              <a:buChar char="◦"/>
              <a:defRPr sz="2667" kern="1200">
                <a:solidFill>
                  <a:schemeClr val="tx1"/>
                </a:solidFill>
                <a:latin typeface="+mn-lt"/>
                <a:ea typeface="+mn-ea"/>
                <a:cs typeface="+mn-cs"/>
              </a:defRPr>
            </a:lvl3pPr>
            <a:lvl4pPr marL="1071007" indent="-23494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4pPr>
            <a:lvl5pPr marL="1297485" indent="-226478"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71500" lvl="2" indent="-457200">
              <a:buFont typeface="Arial" panose="020B0604020202020204" pitchFamily="34" charset="0"/>
              <a:buChar char="•"/>
            </a:pPr>
            <a:r>
              <a:rPr lang="en-US" sz="3200" dirty="0"/>
              <a:t>Backtracking search steps:</a:t>
            </a:r>
          </a:p>
          <a:p>
            <a:pPr marL="914400" lvl="2" indent="-457200">
              <a:buFont typeface="+mj-lt"/>
              <a:buAutoNum type="arabicPeriod"/>
            </a:pPr>
            <a:r>
              <a:rPr lang="en-US" sz="2800" dirty="0"/>
              <a:t>Start with 𝑉1=1 (the first value in its domain). Since no values are assigned to  𝑉2 and 𝑉3, </a:t>
            </a:r>
            <a:r>
              <a:rPr lang="en-US" sz="2800" dirty="0">
                <a:solidFill>
                  <a:srgbClr val="FF0000"/>
                </a:solidFill>
              </a:rPr>
              <a:t>no constraints are dissatisfied</a:t>
            </a:r>
            <a:r>
              <a:rPr lang="en-US" sz="2800" dirty="0"/>
              <a:t> </a:t>
            </a:r>
            <a:r>
              <a:rPr lang="en-US" sz="2800" dirty="0">
                <a:sym typeface="Wingdings" panose="05000000000000000000" pitchFamily="2" charset="2"/>
              </a:rPr>
              <a:t></a:t>
            </a:r>
            <a:r>
              <a:rPr lang="en-US" sz="2800" dirty="0"/>
              <a:t> move to the next assignment.</a:t>
            </a:r>
          </a:p>
          <a:p>
            <a:pPr marL="914400" lvl="2" indent="-457200">
              <a:buFont typeface="+mj-lt"/>
              <a:buAutoNum type="arabicPeriod"/>
            </a:pPr>
            <a:r>
              <a:rPr lang="en-US" sz="2800" dirty="0"/>
              <a:t>Assign 𝑉2=1 (the first value in its domain). Check if 𝐶1=𝑉1&gt;𝑉2 is satisfied. Since 1&gt;1 is </a:t>
            </a:r>
            <a:r>
              <a:rPr lang="en-US" sz="2800" dirty="0">
                <a:solidFill>
                  <a:srgbClr val="FF0000"/>
                </a:solidFill>
              </a:rPr>
              <a:t>not satisfied</a:t>
            </a:r>
            <a:r>
              <a:rPr lang="en-US" sz="2800" dirty="0"/>
              <a:t>, then the pair of values 𝑉1=1,𝑉2=1 is not a possible assignment </a:t>
            </a:r>
            <a:r>
              <a:rPr lang="en-US" sz="2800" dirty="0">
                <a:sym typeface="Wingdings" panose="05000000000000000000" pitchFamily="2" charset="2"/>
              </a:rPr>
              <a:t></a:t>
            </a:r>
            <a:r>
              <a:rPr lang="en-US" sz="2800" dirty="0"/>
              <a:t> </a:t>
            </a:r>
            <a:r>
              <a:rPr lang="en-US" sz="2800" dirty="0">
                <a:solidFill>
                  <a:srgbClr val="C00000"/>
                </a:solidFill>
              </a:rPr>
              <a:t>backtrack</a:t>
            </a:r>
            <a:r>
              <a:rPr lang="en-US" sz="2800" dirty="0"/>
              <a:t>. </a:t>
            </a:r>
          </a:p>
          <a:p>
            <a:endParaRPr lang="en-US" dirty="0"/>
          </a:p>
        </p:txBody>
      </p:sp>
      <p:sp>
        <p:nvSpPr>
          <p:cNvPr id="8" name="TextBox 7">
            <a:extLst>
              <a:ext uri="{FF2B5EF4-FFF2-40B4-BE49-F238E27FC236}">
                <a16:creationId xmlns:a16="http://schemas.microsoft.com/office/drawing/2014/main" id="{9396B114-847B-49A9-A3F7-96B535B0D9EC}"/>
              </a:ext>
            </a:extLst>
          </p:cNvPr>
          <p:cNvSpPr txBox="1"/>
          <p:nvPr/>
        </p:nvSpPr>
        <p:spPr>
          <a:xfrm>
            <a:off x="9667467" y="3094226"/>
            <a:ext cx="2219733" cy="3046988"/>
          </a:xfrm>
          <a:prstGeom prst="rect">
            <a:avLst/>
          </a:prstGeom>
          <a:solidFill>
            <a:srgbClr val="FFCC99">
              <a:alpha val="50000"/>
            </a:srgbClr>
          </a:solidFill>
          <a:ln>
            <a:solidFill>
              <a:schemeClr val="tx1"/>
            </a:solidFill>
          </a:ln>
        </p:spPr>
        <p:txBody>
          <a:bodyPr wrap="square">
            <a:spAutoFit/>
          </a:bodyPr>
          <a:lstStyle/>
          <a:p>
            <a:pPr marL="115888" lvl="1"/>
            <a:r>
              <a:rPr lang="en-US" sz="2400" b="1" dirty="0">
                <a:solidFill>
                  <a:schemeClr val="accent6">
                    <a:lumMod val="75000"/>
                  </a:schemeClr>
                </a:solidFill>
              </a:rPr>
              <a:t>Domain</a:t>
            </a:r>
            <a:r>
              <a:rPr lang="en-US" sz="2400" b="1" dirty="0"/>
              <a:t>:</a:t>
            </a:r>
          </a:p>
          <a:p>
            <a:pPr lvl="1"/>
            <a:r>
              <a:rPr lang="en-US" sz="2400" b="1" dirty="0">
                <a:solidFill>
                  <a:srgbClr val="0000FF"/>
                </a:solidFill>
              </a:rPr>
              <a:t>𝑉1 = {1,2,3}</a:t>
            </a:r>
          </a:p>
          <a:p>
            <a:pPr lvl="1"/>
            <a:r>
              <a:rPr lang="en-US" sz="2400" b="1" dirty="0">
                <a:solidFill>
                  <a:srgbClr val="0000FF"/>
                </a:solidFill>
              </a:rPr>
              <a:t>𝑉2 = {1,2}</a:t>
            </a:r>
          </a:p>
          <a:p>
            <a:pPr lvl="1"/>
            <a:r>
              <a:rPr lang="en-US" sz="2400" b="1" dirty="0">
                <a:solidFill>
                  <a:srgbClr val="0000FF"/>
                </a:solidFill>
              </a:rPr>
              <a:t>𝑉3 = {2,3}</a:t>
            </a:r>
          </a:p>
          <a:p>
            <a:pPr marL="115888" lvl="1"/>
            <a:r>
              <a:rPr lang="en-US" sz="2400" b="1" dirty="0">
                <a:solidFill>
                  <a:schemeClr val="accent6">
                    <a:lumMod val="75000"/>
                  </a:schemeClr>
                </a:solidFill>
              </a:rPr>
              <a:t>Constraints:</a:t>
            </a:r>
          </a:p>
          <a:p>
            <a:pPr lvl="1"/>
            <a:r>
              <a:rPr lang="en-US" sz="2400" b="1" dirty="0">
                <a:solidFill>
                  <a:srgbClr val="C00000"/>
                </a:solidFill>
              </a:rPr>
              <a:t>𝐶1 = 𝑉1&gt;𝑉2</a:t>
            </a:r>
          </a:p>
          <a:p>
            <a:pPr lvl="1"/>
            <a:r>
              <a:rPr lang="en-US" sz="2400" b="1" dirty="0">
                <a:solidFill>
                  <a:srgbClr val="C00000"/>
                </a:solidFill>
              </a:rPr>
              <a:t>𝐶2 = 𝑉2≠𝑉3</a:t>
            </a:r>
          </a:p>
          <a:p>
            <a:pPr lvl="1"/>
            <a:r>
              <a:rPr lang="en-US" sz="2400" b="1" dirty="0">
                <a:solidFill>
                  <a:srgbClr val="C00000"/>
                </a:solidFill>
              </a:rPr>
              <a:t>𝐶3 = 𝑉1≠𝑉3</a:t>
            </a:r>
          </a:p>
        </p:txBody>
      </p:sp>
    </p:spTree>
    <p:extLst>
      <p:ext uri="{BB962C8B-B14F-4D97-AF65-F5344CB8AC3E}">
        <p14:creationId xmlns:p14="http://schemas.microsoft.com/office/powerpoint/2010/main" val="28987874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1 - Solution </a:t>
            </a:r>
          </a:p>
        </p:txBody>
      </p:sp>
      <p:sp>
        <p:nvSpPr>
          <p:cNvPr id="3" name="Content Placeholder 2"/>
          <p:cNvSpPr>
            <a:spLocks noGrp="1"/>
          </p:cNvSpPr>
          <p:nvPr>
            <p:ph idx="1"/>
          </p:nvPr>
        </p:nvSpPr>
        <p:spPr>
          <a:xfrm>
            <a:off x="304800" y="1228153"/>
            <a:ext cx="11582400" cy="1866073"/>
          </a:xfrm>
        </p:spPr>
        <p:txBody>
          <a:bodyPr>
            <a:normAutofit/>
          </a:bodyPr>
          <a:lstStyle/>
          <a:p>
            <a:pPr marL="590548" indent="-514350">
              <a:buFont typeface="+mj-lt"/>
              <a:buAutoNum type="arabicPeriod" startAt="3"/>
            </a:pPr>
            <a:r>
              <a:rPr lang="en-US" sz="2800" dirty="0">
                <a:solidFill>
                  <a:srgbClr val="C00000"/>
                </a:solidFill>
              </a:rPr>
              <a:t>Backtrack</a:t>
            </a:r>
            <a:r>
              <a:rPr lang="en-US" sz="2800" dirty="0"/>
              <a:t>:</a:t>
            </a:r>
          </a:p>
          <a:p>
            <a:pPr marL="800100" lvl="2" indent="-347663"/>
            <a:r>
              <a:rPr lang="en-US" sz="2800" dirty="0"/>
              <a:t>Change the value of 𝑉2 by selecting the next possible value in the domain of 𝑉2, i.e. set 𝑉2=2 . </a:t>
            </a:r>
          </a:p>
          <a:p>
            <a:pPr marL="800100" lvl="2" indent="-347663"/>
            <a:r>
              <a:rPr lang="en-US" sz="2800" dirty="0"/>
              <a:t>However, </a:t>
            </a:r>
            <a:r>
              <a:rPr lang="en-US" sz="2800" dirty="0">
                <a:solidFill>
                  <a:srgbClr val="FF0000"/>
                </a:solidFill>
              </a:rPr>
              <a:t>𝐶1 is not satisfied again</a:t>
            </a:r>
            <a:r>
              <a:rPr lang="en-US" sz="2800" dirty="0"/>
              <a:t>, so I stop and </a:t>
            </a:r>
            <a:r>
              <a:rPr lang="en-US" sz="2800" dirty="0">
                <a:solidFill>
                  <a:srgbClr val="C00000"/>
                </a:solidFill>
              </a:rPr>
              <a:t>backtrack</a:t>
            </a:r>
            <a:r>
              <a:rPr lang="en-US" sz="2800" dirty="0"/>
              <a:t>. </a:t>
            </a:r>
          </a:p>
          <a:p>
            <a:endParaRPr lang="en-US" dirty="0"/>
          </a:p>
        </p:txBody>
      </p:sp>
      <p:sp>
        <p:nvSpPr>
          <p:cNvPr id="4" name="Date Placeholder 3"/>
          <p:cNvSpPr>
            <a:spLocks noGrp="1"/>
          </p:cNvSpPr>
          <p:nvPr>
            <p:ph type="dt" sz="half" idx="10"/>
          </p:nvPr>
        </p:nvSpPr>
        <p:spPr/>
        <p:txBody>
          <a:bodyPr/>
          <a:lstStyle/>
          <a:p>
            <a:fld id="{BCEC19F5-EC6B-467F-8B8F-C4D24770C8D7}"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16</a:t>
            </a:fld>
            <a:endParaRPr lang="en-US" dirty="0"/>
          </a:p>
        </p:txBody>
      </p:sp>
      <p:sp>
        <p:nvSpPr>
          <p:cNvPr id="8" name="Content Placeholder 2"/>
          <p:cNvSpPr txBox="1">
            <a:spLocks/>
          </p:cNvSpPr>
          <p:nvPr/>
        </p:nvSpPr>
        <p:spPr>
          <a:xfrm>
            <a:off x="304800" y="3094227"/>
            <a:ext cx="9199808" cy="2696974"/>
          </a:xfrm>
          <a:prstGeom prst="rect">
            <a:avLst/>
          </a:prstGeom>
        </p:spPr>
        <p:txBody>
          <a:bodyPr vert="horz" lIns="0" tIns="45720" rIns="0" bIns="45720" rtlCol="0">
            <a:normAutofit/>
          </a:bodyPr>
          <a:lstStyle>
            <a:lvl1pPr marL="304792" indent="-228594" algn="l" defTabSz="914377" rtl="0" eaLnBrk="1" latinLnBrk="0" hangingPunct="1">
              <a:lnSpc>
                <a:spcPct val="90000"/>
              </a:lnSpc>
              <a:spcBef>
                <a:spcPts val="1200"/>
              </a:spcBef>
              <a:spcAft>
                <a:spcPts val="200"/>
              </a:spcAft>
              <a:buClr>
                <a:schemeClr val="accent1"/>
              </a:buClr>
              <a:buSzPct val="110000"/>
              <a:buFont typeface="Arial" panose="020B0604020202020204" pitchFamily="34" charset="0"/>
              <a:buChar char="•"/>
              <a:defRPr sz="3200" kern="1200">
                <a:solidFill>
                  <a:schemeClr val="tx1"/>
                </a:solidFill>
                <a:latin typeface="+mn-lt"/>
                <a:ea typeface="+mn-ea"/>
                <a:cs typeface="+mn-cs"/>
              </a:defRPr>
            </a:lvl1pPr>
            <a:lvl2pPr marL="609585" indent="-304792"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836063" indent="-226478" algn="l" defTabSz="914377" rtl="0" eaLnBrk="1" latinLnBrk="0" hangingPunct="1">
              <a:lnSpc>
                <a:spcPct val="90000"/>
              </a:lnSpc>
              <a:spcBef>
                <a:spcPts val="200"/>
              </a:spcBef>
              <a:spcAft>
                <a:spcPts val="400"/>
              </a:spcAft>
              <a:buClr>
                <a:schemeClr val="accent1"/>
              </a:buClr>
              <a:buFont typeface="Calibri" pitchFamily="34" charset="0"/>
              <a:buChar char="◦"/>
              <a:defRPr sz="2667" kern="1200">
                <a:solidFill>
                  <a:schemeClr val="tx1"/>
                </a:solidFill>
                <a:latin typeface="+mn-lt"/>
                <a:ea typeface="+mn-ea"/>
                <a:cs typeface="+mn-cs"/>
              </a:defRPr>
            </a:lvl3pPr>
            <a:lvl4pPr marL="1071007" indent="-23494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4pPr>
            <a:lvl5pPr marL="1297485" indent="-226478"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2" indent="-342900"/>
            <a:r>
              <a:rPr lang="en-US" sz="2800" dirty="0"/>
              <a:t>Since we have exhausted the domain of 𝑉2, backtrack and change the value of 𝑉1, i.e., set 𝑉1=2 then move over to 𝑉2 and assign 𝑉2=1.</a:t>
            </a:r>
          </a:p>
          <a:p>
            <a:pPr marL="800100" lvl="2" indent="-342900"/>
            <a:r>
              <a:rPr lang="en-US" sz="2800" dirty="0"/>
              <a:t>Now constraint 𝐶1=𝑉1&gt;𝑉2 </a:t>
            </a:r>
            <a:r>
              <a:rPr lang="en-US" sz="2800" dirty="0">
                <a:solidFill>
                  <a:srgbClr val="00B050"/>
                </a:solidFill>
              </a:rPr>
              <a:t>is satisfied (i.e., 2&gt;1)</a:t>
            </a:r>
            <a:r>
              <a:rPr lang="en-US" sz="2800" dirty="0"/>
              <a:t>.</a:t>
            </a:r>
          </a:p>
          <a:p>
            <a:pPr marL="800100" lvl="2" indent="-342900"/>
            <a:r>
              <a:rPr lang="en-US" sz="2800" dirty="0"/>
              <a:t>Since no value is assigned for 𝑉3 (i.e., condition cannot be checked), </a:t>
            </a:r>
            <a:r>
              <a:rPr lang="en-US" sz="2800" dirty="0">
                <a:solidFill>
                  <a:srgbClr val="FF0000"/>
                </a:solidFill>
              </a:rPr>
              <a:t>no constraints are dissatisfied</a:t>
            </a:r>
            <a:r>
              <a:rPr lang="en-US" sz="2800" dirty="0"/>
              <a:t>.</a:t>
            </a:r>
          </a:p>
        </p:txBody>
      </p:sp>
      <p:sp>
        <p:nvSpPr>
          <p:cNvPr id="9" name="TextBox 8">
            <a:extLst>
              <a:ext uri="{FF2B5EF4-FFF2-40B4-BE49-F238E27FC236}">
                <a16:creationId xmlns:a16="http://schemas.microsoft.com/office/drawing/2014/main" id="{9396B114-847B-49A9-A3F7-96B535B0D9EC}"/>
              </a:ext>
            </a:extLst>
          </p:cNvPr>
          <p:cNvSpPr txBox="1"/>
          <p:nvPr/>
        </p:nvSpPr>
        <p:spPr>
          <a:xfrm>
            <a:off x="9667467" y="3094226"/>
            <a:ext cx="2219733" cy="3046988"/>
          </a:xfrm>
          <a:prstGeom prst="rect">
            <a:avLst/>
          </a:prstGeom>
          <a:solidFill>
            <a:srgbClr val="FFCC99">
              <a:alpha val="50000"/>
            </a:srgbClr>
          </a:solidFill>
          <a:ln>
            <a:solidFill>
              <a:schemeClr val="tx1"/>
            </a:solidFill>
          </a:ln>
        </p:spPr>
        <p:txBody>
          <a:bodyPr wrap="square">
            <a:spAutoFit/>
          </a:bodyPr>
          <a:lstStyle/>
          <a:p>
            <a:pPr marL="115888" lvl="1"/>
            <a:r>
              <a:rPr lang="en-US" sz="2400" b="1" dirty="0">
                <a:solidFill>
                  <a:schemeClr val="accent6">
                    <a:lumMod val="75000"/>
                  </a:schemeClr>
                </a:solidFill>
              </a:rPr>
              <a:t>Domain</a:t>
            </a:r>
            <a:r>
              <a:rPr lang="en-US" sz="2400" b="1" dirty="0"/>
              <a:t>:</a:t>
            </a:r>
          </a:p>
          <a:p>
            <a:pPr lvl="1"/>
            <a:r>
              <a:rPr lang="en-US" sz="2400" b="1" dirty="0">
                <a:solidFill>
                  <a:srgbClr val="0000FF"/>
                </a:solidFill>
              </a:rPr>
              <a:t>𝑉1 = {1,2,3}</a:t>
            </a:r>
          </a:p>
          <a:p>
            <a:pPr lvl="1"/>
            <a:r>
              <a:rPr lang="en-US" sz="2400" b="1" dirty="0">
                <a:solidFill>
                  <a:srgbClr val="0000FF"/>
                </a:solidFill>
              </a:rPr>
              <a:t>𝑉2 = {1,2}</a:t>
            </a:r>
          </a:p>
          <a:p>
            <a:pPr lvl="1"/>
            <a:r>
              <a:rPr lang="en-US" sz="2400" b="1" dirty="0">
                <a:solidFill>
                  <a:srgbClr val="0000FF"/>
                </a:solidFill>
              </a:rPr>
              <a:t>𝑉3 = {2,3}</a:t>
            </a:r>
          </a:p>
          <a:p>
            <a:pPr marL="115888" lvl="1"/>
            <a:r>
              <a:rPr lang="en-US" sz="2400" b="1" dirty="0">
                <a:solidFill>
                  <a:schemeClr val="accent6">
                    <a:lumMod val="75000"/>
                  </a:schemeClr>
                </a:solidFill>
              </a:rPr>
              <a:t>Constraints:</a:t>
            </a:r>
          </a:p>
          <a:p>
            <a:pPr lvl="1"/>
            <a:r>
              <a:rPr lang="en-US" sz="2400" b="1" dirty="0">
                <a:solidFill>
                  <a:srgbClr val="C00000"/>
                </a:solidFill>
              </a:rPr>
              <a:t>𝐶1 = 𝑉1&gt;𝑉2</a:t>
            </a:r>
          </a:p>
          <a:p>
            <a:pPr lvl="1"/>
            <a:r>
              <a:rPr lang="en-US" sz="2400" b="1" dirty="0">
                <a:solidFill>
                  <a:srgbClr val="C00000"/>
                </a:solidFill>
              </a:rPr>
              <a:t>𝐶2 = 𝑉2≠𝑉3</a:t>
            </a:r>
          </a:p>
          <a:p>
            <a:pPr lvl="1"/>
            <a:r>
              <a:rPr lang="en-US" sz="2400" b="1" dirty="0">
                <a:solidFill>
                  <a:srgbClr val="C00000"/>
                </a:solidFill>
              </a:rPr>
              <a:t>𝐶3 = 𝑉1≠𝑉3</a:t>
            </a:r>
          </a:p>
        </p:txBody>
      </p:sp>
    </p:spTree>
    <p:extLst>
      <p:ext uri="{BB962C8B-B14F-4D97-AF65-F5344CB8AC3E}">
        <p14:creationId xmlns:p14="http://schemas.microsoft.com/office/powerpoint/2010/main" val="2003357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1 - Solution </a:t>
            </a:r>
          </a:p>
        </p:txBody>
      </p:sp>
      <p:sp>
        <p:nvSpPr>
          <p:cNvPr id="3" name="Content Placeholder 2"/>
          <p:cNvSpPr>
            <a:spLocks noGrp="1"/>
          </p:cNvSpPr>
          <p:nvPr>
            <p:ph idx="1"/>
          </p:nvPr>
        </p:nvSpPr>
        <p:spPr>
          <a:xfrm>
            <a:off x="304800" y="1228153"/>
            <a:ext cx="9135414" cy="5021979"/>
          </a:xfrm>
        </p:spPr>
        <p:txBody>
          <a:bodyPr>
            <a:normAutofit lnSpcReduction="10000"/>
          </a:bodyPr>
          <a:lstStyle/>
          <a:p>
            <a:pPr marL="590548" indent="-514350">
              <a:buFont typeface="+mj-lt"/>
              <a:buAutoNum type="arabicPeriod" startAt="4"/>
            </a:pPr>
            <a:r>
              <a:rPr lang="en-US" sz="2800" dirty="0"/>
              <a:t>Assign 𝑉3=2 (</a:t>
            </a:r>
            <a:r>
              <a:rPr lang="en-US" sz="2800" dirty="0">
                <a:solidFill>
                  <a:srgbClr val="C00000"/>
                </a:solidFill>
              </a:rPr>
              <a:t>the first value in its domain</a:t>
            </a:r>
            <a:r>
              <a:rPr lang="en-US" sz="2800" dirty="0"/>
              <a:t>), so we get the tuple {𝑉1=2,𝑉2=1,𝑉3=2}. </a:t>
            </a:r>
          </a:p>
          <a:p>
            <a:pPr lvl="1"/>
            <a:r>
              <a:rPr lang="en-US" sz="2800" dirty="0"/>
              <a:t>Check the constraints</a:t>
            </a:r>
          </a:p>
          <a:p>
            <a:pPr lvl="2">
              <a:buFont typeface="Wingdings" panose="05000000000000000000" pitchFamily="2" charset="2"/>
              <a:buChar char="§"/>
            </a:pPr>
            <a:r>
              <a:rPr lang="en-US" sz="2800" dirty="0"/>
              <a:t>𝐶1 is </a:t>
            </a:r>
            <a:r>
              <a:rPr lang="en-US" sz="2800" dirty="0">
                <a:solidFill>
                  <a:srgbClr val="00B050"/>
                </a:solidFill>
              </a:rPr>
              <a:t>satisfied</a:t>
            </a:r>
            <a:r>
              <a:rPr lang="en-US" sz="2800" dirty="0"/>
              <a:t>, </a:t>
            </a:r>
          </a:p>
          <a:p>
            <a:pPr lvl="2">
              <a:buFont typeface="Wingdings" panose="05000000000000000000" pitchFamily="2" charset="2"/>
              <a:buChar char="§"/>
            </a:pPr>
            <a:r>
              <a:rPr lang="en-US" sz="2800" dirty="0"/>
              <a:t>𝐶2 is </a:t>
            </a:r>
            <a:r>
              <a:rPr lang="en-US" sz="2800" dirty="0">
                <a:solidFill>
                  <a:srgbClr val="00B050"/>
                </a:solidFill>
              </a:rPr>
              <a:t>satisfied</a:t>
            </a:r>
            <a:r>
              <a:rPr lang="en-US" sz="2800" dirty="0"/>
              <a:t>,</a:t>
            </a:r>
          </a:p>
          <a:p>
            <a:pPr lvl="2">
              <a:buFont typeface="Wingdings" panose="05000000000000000000" pitchFamily="2" charset="2"/>
              <a:buChar char="§"/>
            </a:pPr>
            <a:r>
              <a:rPr lang="en-US" sz="2800" dirty="0"/>
              <a:t>𝐶3 is </a:t>
            </a:r>
            <a:r>
              <a:rPr lang="en-US" sz="2800" dirty="0">
                <a:solidFill>
                  <a:srgbClr val="FF0000"/>
                </a:solidFill>
              </a:rPr>
              <a:t>not satisfied </a:t>
            </a:r>
            <a:r>
              <a:rPr lang="en-US" sz="2800" dirty="0"/>
              <a:t>due to  C(𝑉1≠𝑉3), so we backtrack.</a:t>
            </a:r>
          </a:p>
          <a:p>
            <a:pPr marL="590548" indent="-514350">
              <a:buFont typeface="+mj-lt"/>
              <a:buAutoNum type="arabicPeriod" startAt="5"/>
            </a:pPr>
            <a:r>
              <a:rPr lang="en-US" sz="2800" dirty="0"/>
              <a:t>Assign 𝑉3=3 (the next value in the domain) so we get the tuple {𝑉1=2,𝑉2=1,𝑉3=3}. </a:t>
            </a:r>
          </a:p>
          <a:p>
            <a:pPr lvl="1"/>
            <a:r>
              <a:rPr lang="en-US" sz="2800" dirty="0"/>
              <a:t> 𝐶1, 𝐶2 and 𝐶3 are </a:t>
            </a:r>
            <a:r>
              <a:rPr lang="en-US" sz="2800" dirty="0">
                <a:solidFill>
                  <a:srgbClr val="00B050"/>
                </a:solidFill>
              </a:rPr>
              <a:t>all satisfied</a:t>
            </a:r>
            <a:r>
              <a:rPr lang="en-US" sz="2800" dirty="0"/>
              <a:t>. </a:t>
            </a:r>
          </a:p>
          <a:p>
            <a:r>
              <a:rPr lang="en-US" dirty="0"/>
              <a:t>Since we have satisfied all constrains 𝐶={𝐶1,𝐶2,𝐶3} we stop as we </a:t>
            </a:r>
            <a:r>
              <a:rPr lang="en-US" b="1" dirty="0"/>
              <a:t>found a solution to the CSP</a:t>
            </a:r>
            <a:r>
              <a:rPr lang="en-US" dirty="0"/>
              <a:t>.</a:t>
            </a:r>
          </a:p>
          <a:p>
            <a:endParaRPr lang="en-US" dirty="0"/>
          </a:p>
        </p:txBody>
      </p:sp>
      <p:sp>
        <p:nvSpPr>
          <p:cNvPr id="4" name="Date Placeholder 3"/>
          <p:cNvSpPr>
            <a:spLocks noGrp="1"/>
          </p:cNvSpPr>
          <p:nvPr>
            <p:ph type="dt" sz="half" idx="10"/>
          </p:nvPr>
        </p:nvSpPr>
        <p:spPr/>
        <p:txBody>
          <a:bodyPr/>
          <a:lstStyle/>
          <a:p>
            <a:fld id="{53C02439-3478-446E-9469-E5A8833471E1}"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17</a:t>
            </a:fld>
            <a:endParaRPr lang="en-US" dirty="0"/>
          </a:p>
        </p:txBody>
      </p:sp>
      <p:sp>
        <p:nvSpPr>
          <p:cNvPr id="8" name="TextBox 7">
            <a:extLst>
              <a:ext uri="{FF2B5EF4-FFF2-40B4-BE49-F238E27FC236}">
                <a16:creationId xmlns:a16="http://schemas.microsoft.com/office/drawing/2014/main" id="{9396B114-847B-49A9-A3F7-96B535B0D9EC}"/>
              </a:ext>
            </a:extLst>
          </p:cNvPr>
          <p:cNvSpPr txBox="1"/>
          <p:nvPr/>
        </p:nvSpPr>
        <p:spPr>
          <a:xfrm>
            <a:off x="9667467" y="3094226"/>
            <a:ext cx="2219733" cy="3046988"/>
          </a:xfrm>
          <a:prstGeom prst="rect">
            <a:avLst/>
          </a:prstGeom>
          <a:solidFill>
            <a:srgbClr val="FFCC99">
              <a:alpha val="50000"/>
            </a:srgbClr>
          </a:solidFill>
          <a:ln>
            <a:solidFill>
              <a:schemeClr val="tx1"/>
            </a:solidFill>
          </a:ln>
        </p:spPr>
        <p:txBody>
          <a:bodyPr wrap="square">
            <a:spAutoFit/>
          </a:bodyPr>
          <a:lstStyle/>
          <a:p>
            <a:pPr marL="115888" lvl="1"/>
            <a:r>
              <a:rPr lang="en-US" sz="2400" b="1" dirty="0">
                <a:solidFill>
                  <a:schemeClr val="accent6">
                    <a:lumMod val="75000"/>
                  </a:schemeClr>
                </a:solidFill>
              </a:rPr>
              <a:t>Domain</a:t>
            </a:r>
            <a:r>
              <a:rPr lang="en-US" sz="2400" b="1" dirty="0"/>
              <a:t>:</a:t>
            </a:r>
          </a:p>
          <a:p>
            <a:pPr lvl="1"/>
            <a:r>
              <a:rPr lang="en-US" sz="2400" b="1" dirty="0">
                <a:solidFill>
                  <a:srgbClr val="0000FF"/>
                </a:solidFill>
              </a:rPr>
              <a:t>𝑉1 = {1,2,3}</a:t>
            </a:r>
          </a:p>
          <a:p>
            <a:pPr lvl="1"/>
            <a:r>
              <a:rPr lang="en-US" sz="2400" b="1" dirty="0">
                <a:solidFill>
                  <a:srgbClr val="0000FF"/>
                </a:solidFill>
              </a:rPr>
              <a:t>𝑉2 = {1,2}</a:t>
            </a:r>
          </a:p>
          <a:p>
            <a:pPr lvl="1"/>
            <a:r>
              <a:rPr lang="en-US" sz="2400" b="1" dirty="0">
                <a:solidFill>
                  <a:srgbClr val="0000FF"/>
                </a:solidFill>
              </a:rPr>
              <a:t>𝑉3 = {2,3}</a:t>
            </a:r>
          </a:p>
          <a:p>
            <a:pPr marL="115888" lvl="1"/>
            <a:r>
              <a:rPr lang="en-US" sz="2400" b="1" dirty="0">
                <a:solidFill>
                  <a:schemeClr val="accent6">
                    <a:lumMod val="75000"/>
                  </a:schemeClr>
                </a:solidFill>
              </a:rPr>
              <a:t>Constraints:</a:t>
            </a:r>
          </a:p>
          <a:p>
            <a:pPr lvl="1"/>
            <a:r>
              <a:rPr lang="en-US" sz="2400" b="1" dirty="0">
                <a:solidFill>
                  <a:srgbClr val="C00000"/>
                </a:solidFill>
              </a:rPr>
              <a:t>𝐶1 = 𝑉1&gt;𝑉2</a:t>
            </a:r>
          </a:p>
          <a:p>
            <a:pPr lvl="1"/>
            <a:r>
              <a:rPr lang="en-US" sz="2400" b="1" dirty="0">
                <a:solidFill>
                  <a:srgbClr val="C00000"/>
                </a:solidFill>
              </a:rPr>
              <a:t>𝐶2 = 𝑉2≠𝑉3</a:t>
            </a:r>
          </a:p>
          <a:p>
            <a:pPr lvl="1"/>
            <a:r>
              <a:rPr lang="en-US" sz="2400" b="1" dirty="0">
                <a:solidFill>
                  <a:srgbClr val="C00000"/>
                </a:solidFill>
              </a:rPr>
              <a:t>𝐶3 = 𝑉1≠𝑉3</a:t>
            </a:r>
          </a:p>
        </p:txBody>
      </p:sp>
    </p:spTree>
    <p:extLst>
      <p:ext uri="{BB962C8B-B14F-4D97-AF65-F5344CB8AC3E}">
        <p14:creationId xmlns:p14="http://schemas.microsoft.com/office/powerpoint/2010/main" val="1646184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Examples 1: Solution’s search tree </a:t>
            </a:r>
          </a:p>
        </p:txBody>
      </p:sp>
      <p:sp>
        <p:nvSpPr>
          <p:cNvPr id="6" name="Slide Number Placeholder 5"/>
          <p:cNvSpPr>
            <a:spLocks noGrp="1"/>
          </p:cNvSpPr>
          <p:nvPr>
            <p:ph type="sldNum" sz="quarter" idx="12"/>
          </p:nvPr>
        </p:nvSpPr>
        <p:spPr/>
        <p:txBody>
          <a:bodyPr/>
          <a:lstStyle/>
          <a:p>
            <a:fld id="{B7884E68-CE57-44C0-BE0F-84C629DF22D5}" type="slidenum">
              <a:rPr lang="en-US" smtClean="0"/>
              <a:t>18</a:t>
            </a:fld>
            <a:endParaRPr lang="en-US" dirty="0"/>
          </a:p>
        </p:txBody>
      </p:sp>
      <p:sp>
        <p:nvSpPr>
          <p:cNvPr id="9" name="Oval 8"/>
          <p:cNvSpPr/>
          <p:nvPr/>
        </p:nvSpPr>
        <p:spPr>
          <a:xfrm>
            <a:off x="3535387" y="1257791"/>
            <a:ext cx="457200" cy="457200"/>
          </a:xfrm>
          <a:prstGeom prst="ellipse">
            <a:avLst/>
          </a:prstGeom>
          <a:ln w="28575"/>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200" b="1" dirty="0"/>
              <a:t>{ }</a:t>
            </a:r>
          </a:p>
        </p:txBody>
      </p:sp>
      <p:cxnSp>
        <p:nvCxnSpPr>
          <p:cNvPr id="10" name="Straight Connector 9"/>
          <p:cNvCxnSpPr>
            <a:stCxn id="9" idx="3"/>
            <a:endCxn id="13" idx="0"/>
          </p:cNvCxnSpPr>
          <p:nvPr/>
        </p:nvCxnSpPr>
        <p:spPr>
          <a:xfrm flipH="1">
            <a:off x="1647163" y="1648036"/>
            <a:ext cx="1955179" cy="91228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9" idx="4"/>
            <a:endCxn id="14" idx="0"/>
          </p:cNvCxnSpPr>
          <p:nvPr/>
        </p:nvCxnSpPr>
        <p:spPr>
          <a:xfrm>
            <a:off x="3763987" y="1714991"/>
            <a:ext cx="0" cy="84532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1418563" y="2560320"/>
            <a:ext cx="457200" cy="457200"/>
          </a:xfrm>
          <a:prstGeom prst="ellipse">
            <a:avLst/>
          </a:prstGeom>
          <a:ln w="28575"/>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200" b="1" dirty="0"/>
              <a:t>V1=1</a:t>
            </a:r>
          </a:p>
        </p:txBody>
      </p:sp>
      <p:sp>
        <p:nvSpPr>
          <p:cNvPr id="14" name="Oval 13"/>
          <p:cNvSpPr/>
          <p:nvPr/>
        </p:nvSpPr>
        <p:spPr>
          <a:xfrm>
            <a:off x="3535387" y="2560320"/>
            <a:ext cx="457200" cy="457200"/>
          </a:xfrm>
          <a:prstGeom prst="ellipse">
            <a:avLst/>
          </a:prstGeom>
          <a:ln w="28575"/>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200" b="1" dirty="0">
                <a:solidFill>
                  <a:schemeClr val="tx1"/>
                </a:solidFill>
              </a:rPr>
              <a:t>V1=2</a:t>
            </a:r>
          </a:p>
        </p:txBody>
      </p:sp>
      <p:sp>
        <p:nvSpPr>
          <p:cNvPr id="16" name="Oval 15"/>
          <p:cNvSpPr/>
          <p:nvPr/>
        </p:nvSpPr>
        <p:spPr>
          <a:xfrm>
            <a:off x="385159" y="3657600"/>
            <a:ext cx="457200" cy="457200"/>
          </a:xfrm>
          <a:prstGeom prst="ellipse">
            <a:avLst/>
          </a:prstGeom>
          <a:ln w="28575"/>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200" b="1" dirty="0">
                <a:solidFill>
                  <a:srgbClr val="FF0000"/>
                </a:solidFill>
              </a:rPr>
              <a:t>V2=1</a:t>
            </a:r>
          </a:p>
        </p:txBody>
      </p:sp>
      <p:sp>
        <p:nvSpPr>
          <p:cNvPr id="17" name="Oval 16"/>
          <p:cNvSpPr/>
          <p:nvPr/>
        </p:nvSpPr>
        <p:spPr>
          <a:xfrm>
            <a:off x="1418563" y="3657600"/>
            <a:ext cx="457200" cy="457200"/>
          </a:xfrm>
          <a:prstGeom prst="ellipse">
            <a:avLst/>
          </a:prstGeom>
          <a:ln w="28575"/>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200" b="1" dirty="0">
                <a:solidFill>
                  <a:srgbClr val="FF0000"/>
                </a:solidFill>
              </a:rPr>
              <a:t>V2=2</a:t>
            </a:r>
          </a:p>
        </p:txBody>
      </p:sp>
      <p:cxnSp>
        <p:nvCxnSpPr>
          <p:cNvPr id="18" name="Straight Connector 17"/>
          <p:cNvCxnSpPr>
            <a:stCxn id="13" idx="3"/>
            <a:endCxn id="16" idx="0"/>
          </p:cNvCxnSpPr>
          <p:nvPr/>
        </p:nvCxnSpPr>
        <p:spPr>
          <a:xfrm flipH="1">
            <a:off x="613759" y="2950565"/>
            <a:ext cx="871759" cy="70703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3" idx="4"/>
            <a:endCxn id="17" idx="0"/>
          </p:cNvCxnSpPr>
          <p:nvPr/>
        </p:nvCxnSpPr>
        <p:spPr>
          <a:xfrm>
            <a:off x="1647163" y="3017520"/>
            <a:ext cx="0" cy="64008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3048099" y="4663440"/>
            <a:ext cx="457200" cy="457200"/>
          </a:xfrm>
          <a:prstGeom prst="ellipse">
            <a:avLst/>
          </a:prstGeom>
          <a:ln w="28575"/>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200" b="1" dirty="0">
                <a:solidFill>
                  <a:srgbClr val="00B050"/>
                </a:solidFill>
              </a:rPr>
              <a:t>V3=3</a:t>
            </a:r>
          </a:p>
        </p:txBody>
      </p:sp>
      <p:cxnSp>
        <p:nvCxnSpPr>
          <p:cNvPr id="22" name="Straight Connector 21"/>
          <p:cNvCxnSpPr>
            <a:stCxn id="23" idx="5"/>
            <a:endCxn id="20" idx="0"/>
          </p:cNvCxnSpPr>
          <p:nvPr/>
        </p:nvCxnSpPr>
        <p:spPr>
          <a:xfrm>
            <a:off x="2980117" y="4047845"/>
            <a:ext cx="296582" cy="61559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2589872" y="3657600"/>
            <a:ext cx="457200" cy="457200"/>
          </a:xfrm>
          <a:prstGeom prst="ellipse">
            <a:avLst/>
          </a:prstGeom>
          <a:ln w="28575"/>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200" b="1" dirty="0">
                <a:solidFill>
                  <a:schemeClr val="tx1"/>
                </a:solidFill>
              </a:rPr>
              <a:t>V2=1</a:t>
            </a:r>
          </a:p>
        </p:txBody>
      </p:sp>
      <p:sp>
        <p:nvSpPr>
          <p:cNvPr id="24" name="Oval 23"/>
          <p:cNvSpPr/>
          <p:nvPr/>
        </p:nvSpPr>
        <p:spPr>
          <a:xfrm>
            <a:off x="2136336" y="4663440"/>
            <a:ext cx="457200" cy="457200"/>
          </a:xfrm>
          <a:prstGeom prst="ellipse">
            <a:avLst/>
          </a:prstGeom>
          <a:ln w="28575"/>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200" b="1" dirty="0">
                <a:solidFill>
                  <a:srgbClr val="FF0000"/>
                </a:solidFill>
              </a:rPr>
              <a:t>V3=2</a:t>
            </a:r>
          </a:p>
        </p:txBody>
      </p:sp>
      <p:cxnSp>
        <p:nvCxnSpPr>
          <p:cNvPr id="25" name="Straight Connector 24"/>
          <p:cNvCxnSpPr>
            <a:stCxn id="14" idx="3"/>
            <a:endCxn id="23" idx="0"/>
          </p:cNvCxnSpPr>
          <p:nvPr/>
        </p:nvCxnSpPr>
        <p:spPr>
          <a:xfrm flipH="1">
            <a:off x="2818472" y="2950565"/>
            <a:ext cx="783870" cy="70703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23" idx="3"/>
            <a:endCxn id="24" idx="0"/>
          </p:cNvCxnSpPr>
          <p:nvPr/>
        </p:nvCxnSpPr>
        <p:spPr>
          <a:xfrm flipH="1">
            <a:off x="2364936" y="4047845"/>
            <a:ext cx="291891" cy="61559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396B114-847B-49A9-A3F7-96B535B0D9EC}"/>
              </a:ext>
            </a:extLst>
          </p:cNvPr>
          <p:cNvSpPr txBox="1"/>
          <p:nvPr/>
        </p:nvSpPr>
        <p:spPr>
          <a:xfrm>
            <a:off x="9667467" y="1396338"/>
            <a:ext cx="2219733" cy="3046988"/>
          </a:xfrm>
          <a:prstGeom prst="rect">
            <a:avLst/>
          </a:prstGeom>
          <a:solidFill>
            <a:srgbClr val="FFCC99">
              <a:alpha val="50000"/>
            </a:srgbClr>
          </a:solidFill>
          <a:ln>
            <a:solidFill>
              <a:schemeClr val="tx1"/>
            </a:solidFill>
          </a:ln>
        </p:spPr>
        <p:txBody>
          <a:bodyPr wrap="square">
            <a:spAutoFit/>
          </a:bodyPr>
          <a:lstStyle/>
          <a:p>
            <a:pPr marL="115888" lvl="1"/>
            <a:r>
              <a:rPr lang="en-US" sz="2400" b="1" dirty="0">
                <a:solidFill>
                  <a:schemeClr val="accent6">
                    <a:lumMod val="75000"/>
                  </a:schemeClr>
                </a:solidFill>
              </a:rPr>
              <a:t>Domain</a:t>
            </a:r>
            <a:r>
              <a:rPr lang="en-US" sz="2400" b="1" dirty="0"/>
              <a:t>:</a:t>
            </a:r>
          </a:p>
          <a:p>
            <a:pPr lvl="1"/>
            <a:r>
              <a:rPr lang="en-US" sz="2400" b="1" dirty="0">
                <a:solidFill>
                  <a:srgbClr val="0000FF"/>
                </a:solidFill>
              </a:rPr>
              <a:t>𝑉1 = {1,2,3}</a:t>
            </a:r>
          </a:p>
          <a:p>
            <a:pPr lvl="1"/>
            <a:r>
              <a:rPr lang="en-US" sz="2400" b="1" dirty="0">
                <a:solidFill>
                  <a:srgbClr val="0000FF"/>
                </a:solidFill>
              </a:rPr>
              <a:t>𝑉2 = {1,2}</a:t>
            </a:r>
          </a:p>
          <a:p>
            <a:pPr lvl="1"/>
            <a:r>
              <a:rPr lang="en-US" sz="2400" b="1" dirty="0">
                <a:solidFill>
                  <a:srgbClr val="0000FF"/>
                </a:solidFill>
              </a:rPr>
              <a:t>𝑉3 = {2,3}</a:t>
            </a:r>
          </a:p>
          <a:p>
            <a:pPr marL="115888" lvl="1"/>
            <a:r>
              <a:rPr lang="en-US" sz="2400" b="1" dirty="0">
                <a:solidFill>
                  <a:schemeClr val="accent6">
                    <a:lumMod val="75000"/>
                  </a:schemeClr>
                </a:solidFill>
              </a:rPr>
              <a:t>Constraints:</a:t>
            </a:r>
          </a:p>
          <a:p>
            <a:pPr lvl="1"/>
            <a:r>
              <a:rPr lang="en-US" sz="2400" b="1" dirty="0">
                <a:solidFill>
                  <a:srgbClr val="C00000"/>
                </a:solidFill>
              </a:rPr>
              <a:t>𝐶1 = 𝑉1&gt;𝑉2</a:t>
            </a:r>
          </a:p>
          <a:p>
            <a:pPr lvl="1"/>
            <a:r>
              <a:rPr lang="en-US" sz="2400" b="1" dirty="0">
                <a:solidFill>
                  <a:srgbClr val="C00000"/>
                </a:solidFill>
              </a:rPr>
              <a:t>𝐶2 = 𝑉2≠𝑉3</a:t>
            </a:r>
          </a:p>
          <a:p>
            <a:pPr lvl="1"/>
            <a:r>
              <a:rPr lang="en-US" sz="2400" b="1" dirty="0">
                <a:solidFill>
                  <a:srgbClr val="C00000"/>
                </a:solidFill>
              </a:rPr>
              <a:t>𝐶3 = 𝑉1≠𝑉3</a:t>
            </a:r>
          </a:p>
        </p:txBody>
      </p:sp>
      <p:sp>
        <p:nvSpPr>
          <p:cNvPr id="27" name="Oval 26">
            <a:extLst>
              <a:ext uri="{FF2B5EF4-FFF2-40B4-BE49-F238E27FC236}">
                <a16:creationId xmlns:a16="http://schemas.microsoft.com/office/drawing/2014/main" id="{7BAFB973-1E1A-47F7-BC05-732975C6EF10}"/>
              </a:ext>
            </a:extLst>
          </p:cNvPr>
          <p:cNvSpPr/>
          <p:nvPr/>
        </p:nvSpPr>
        <p:spPr>
          <a:xfrm>
            <a:off x="4121860" y="3657600"/>
            <a:ext cx="457200" cy="457200"/>
          </a:xfrm>
          <a:prstGeom prst="ellipse">
            <a:avLst/>
          </a:prstGeom>
          <a:ln w="28575"/>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200" b="1" dirty="0">
                <a:solidFill>
                  <a:srgbClr val="FF0000"/>
                </a:solidFill>
              </a:rPr>
              <a:t>V2=2</a:t>
            </a:r>
          </a:p>
        </p:txBody>
      </p:sp>
      <p:cxnSp>
        <p:nvCxnSpPr>
          <p:cNvPr id="15" name="Straight Connector 14">
            <a:extLst>
              <a:ext uri="{FF2B5EF4-FFF2-40B4-BE49-F238E27FC236}">
                <a16:creationId xmlns:a16="http://schemas.microsoft.com/office/drawing/2014/main" id="{FBE08CB9-D193-4251-AA70-08EB43BF6826}"/>
              </a:ext>
            </a:extLst>
          </p:cNvPr>
          <p:cNvCxnSpPr>
            <a:stCxn id="14" idx="5"/>
            <a:endCxn id="27" idx="0"/>
          </p:cNvCxnSpPr>
          <p:nvPr/>
        </p:nvCxnSpPr>
        <p:spPr>
          <a:xfrm>
            <a:off x="3925632" y="2950565"/>
            <a:ext cx="424828" cy="70703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3BEAEE5D-AAFD-4FCC-B068-06E1A9C7C455}"/>
              </a:ext>
            </a:extLst>
          </p:cNvPr>
          <p:cNvSpPr/>
          <p:nvPr/>
        </p:nvSpPr>
        <p:spPr>
          <a:xfrm>
            <a:off x="6391819" y="2560320"/>
            <a:ext cx="457200" cy="457200"/>
          </a:xfrm>
          <a:prstGeom prst="ellipse">
            <a:avLst/>
          </a:prstGeom>
          <a:ln w="28575"/>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200" b="1" dirty="0">
                <a:solidFill>
                  <a:schemeClr val="tx1"/>
                </a:solidFill>
              </a:rPr>
              <a:t>V1=3</a:t>
            </a:r>
          </a:p>
        </p:txBody>
      </p:sp>
      <p:sp>
        <p:nvSpPr>
          <p:cNvPr id="51" name="Oval 50">
            <a:extLst>
              <a:ext uri="{FF2B5EF4-FFF2-40B4-BE49-F238E27FC236}">
                <a16:creationId xmlns:a16="http://schemas.microsoft.com/office/drawing/2014/main" id="{4DDBE44A-0B31-403D-9DF5-852557B324FB}"/>
              </a:ext>
            </a:extLst>
          </p:cNvPr>
          <p:cNvSpPr/>
          <p:nvPr/>
        </p:nvSpPr>
        <p:spPr>
          <a:xfrm>
            <a:off x="7397936" y="3657600"/>
            <a:ext cx="457200" cy="457200"/>
          </a:xfrm>
          <a:prstGeom prst="ellipse">
            <a:avLst/>
          </a:prstGeom>
          <a:ln w="28575"/>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200" b="1" dirty="0">
                <a:solidFill>
                  <a:schemeClr val="tx1"/>
                </a:solidFill>
              </a:rPr>
              <a:t>V2=2</a:t>
            </a:r>
          </a:p>
        </p:txBody>
      </p:sp>
      <p:cxnSp>
        <p:nvCxnSpPr>
          <p:cNvPr id="52" name="Straight Connector 51">
            <a:extLst>
              <a:ext uri="{FF2B5EF4-FFF2-40B4-BE49-F238E27FC236}">
                <a16:creationId xmlns:a16="http://schemas.microsoft.com/office/drawing/2014/main" id="{5E37C657-F020-492B-929E-FC82F6A55670}"/>
              </a:ext>
            </a:extLst>
          </p:cNvPr>
          <p:cNvCxnSpPr>
            <a:cxnSpLocks/>
            <a:stCxn id="49" idx="3"/>
            <a:endCxn id="65" idx="0"/>
          </p:cNvCxnSpPr>
          <p:nvPr/>
        </p:nvCxnSpPr>
        <p:spPr>
          <a:xfrm flipH="1">
            <a:off x="5670730" y="2950565"/>
            <a:ext cx="788044" cy="70703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F041E54-4127-49D6-9F5E-82FB63D08A6A}"/>
              </a:ext>
            </a:extLst>
          </p:cNvPr>
          <p:cNvCxnSpPr>
            <a:cxnSpLocks/>
            <a:stCxn id="49" idx="5"/>
            <a:endCxn id="51" idx="0"/>
          </p:cNvCxnSpPr>
          <p:nvPr/>
        </p:nvCxnSpPr>
        <p:spPr>
          <a:xfrm>
            <a:off x="6782064" y="2950565"/>
            <a:ext cx="844472" cy="70703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EA8774C3-5D62-4CCE-A6A8-C433FC9AA4C8}"/>
              </a:ext>
            </a:extLst>
          </p:cNvPr>
          <p:cNvSpPr/>
          <p:nvPr/>
        </p:nvSpPr>
        <p:spPr>
          <a:xfrm>
            <a:off x="5930243" y="4663440"/>
            <a:ext cx="457200" cy="457200"/>
          </a:xfrm>
          <a:prstGeom prst="ellipse">
            <a:avLst/>
          </a:prstGeom>
          <a:ln w="28575"/>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200" b="1" dirty="0">
                <a:solidFill>
                  <a:srgbClr val="FF0000"/>
                </a:solidFill>
              </a:rPr>
              <a:t>V3=3</a:t>
            </a:r>
          </a:p>
        </p:txBody>
      </p:sp>
      <p:cxnSp>
        <p:nvCxnSpPr>
          <p:cNvPr id="64" name="Straight Connector 63">
            <a:extLst>
              <a:ext uri="{FF2B5EF4-FFF2-40B4-BE49-F238E27FC236}">
                <a16:creationId xmlns:a16="http://schemas.microsoft.com/office/drawing/2014/main" id="{AA03542D-1042-41F6-B703-6FECD70BD824}"/>
              </a:ext>
            </a:extLst>
          </p:cNvPr>
          <p:cNvCxnSpPr>
            <a:stCxn id="65" idx="5"/>
            <a:endCxn id="63" idx="0"/>
          </p:cNvCxnSpPr>
          <p:nvPr/>
        </p:nvCxnSpPr>
        <p:spPr>
          <a:xfrm>
            <a:off x="5832375" y="4047845"/>
            <a:ext cx="326468" cy="61559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E92D35D7-410B-4892-88E7-E81A1C11BF76}"/>
              </a:ext>
            </a:extLst>
          </p:cNvPr>
          <p:cNvSpPr/>
          <p:nvPr/>
        </p:nvSpPr>
        <p:spPr>
          <a:xfrm>
            <a:off x="5442130" y="3657600"/>
            <a:ext cx="457200" cy="457200"/>
          </a:xfrm>
          <a:prstGeom prst="ellipse">
            <a:avLst/>
          </a:prstGeom>
          <a:ln w="28575"/>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200" b="1" dirty="0">
                <a:solidFill>
                  <a:schemeClr val="tx1"/>
                </a:solidFill>
              </a:rPr>
              <a:t>V2=1</a:t>
            </a:r>
          </a:p>
        </p:txBody>
      </p:sp>
      <p:sp>
        <p:nvSpPr>
          <p:cNvPr id="66" name="Oval 65">
            <a:extLst>
              <a:ext uri="{FF2B5EF4-FFF2-40B4-BE49-F238E27FC236}">
                <a16:creationId xmlns:a16="http://schemas.microsoft.com/office/drawing/2014/main" id="{24A22C3B-E184-4FD5-B150-8B9571B24FE1}"/>
              </a:ext>
            </a:extLst>
          </p:cNvPr>
          <p:cNvSpPr/>
          <p:nvPr/>
        </p:nvSpPr>
        <p:spPr>
          <a:xfrm>
            <a:off x="5014745" y="4663440"/>
            <a:ext cx="457200" cy="457200"/>
          </a:xfrm>
          <a:prstGeom prst="ellipse">
            <a:avLst/>
          </a:prstGeom>
          <a:ln w="28575"/>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200" b="1" dirty="0">
                <a:solidFill>
                  <a:srgbClr val="00B050"/>
                </a:solidFill>
              </a:rPr>
              <a:t>V3=2</a:t>
            </a:r>
          </a:p>
        </p:txBody>
      </p:sp>
      <p:cxnSp>
        <p:nvCxnSpPr>
          <p:cNvPr id="67" name="Straight Connector 66">
            <a:extLst>
              <a:ext uri="{FF2B5EF4-FFF2-40B4-BE49-F238E27FC236}">
                <a16:creationId xmlns:a16="http://schemas.microsoft.com/office/drawing/2014/main" id="{F937633B-3D67-4D09-9395-25561E54C501}"/>
              </a:ext>
            </a:extLst>
          </p:cNvPr>
          <p:cNvCxnSpPr>
            <a:stCxn id="65" idx="3"/>
            <a:endCxn id="66" idx="0"/>
          </p:cNvCxnSpPr>
          <p:nvPr/>
        </p:nvCxnSpPr>
        <p:spPr>
          <a:xfrm flipH="1">
            <a:off x="5243345" y="4047845"/>
            <a:ext cx="265740" cy="61559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074D4DEE-95B0-4AC7-8146-14633859DB55}"/>
              </a:ext>
            </a:extLst>
          </p:cNvPr>
          <p:cNvSpPr/>
          <p:nvPr/>
        </p:nvSpPr>
        <p:spPr>
          <a:xfrm>
            <a:off x="7854079" y="4663440"/>
            <a:ext cx="457200" cy="457200"/>
          </a:xfrm>
          <a:prstGeom prst="ellipse">
            <a:avLst/>
          </a:prstGeom>
          <a:ln w="28575"/>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200" b="1" dirty="0">
                <a:solidFill>
                  <a:srgbClr val="FF0000"/>
                </a:solidFill>
              </a:rPr>
              <a:t>V3=3</a:t>
            </a:r>
          </a:p>
        </p:txBody>
      </p:sp>
      <p:cxnSp>
        <p:nvCxnSpPr>
          <p:cNvPr id="72" name="Straight Connector 71">
            <a:extLst>
              <a:ext uri="{FF2B5EF4-FFF2-40B4-BE49-F238E27FC236}">
                <a16:creationId xmlns:a16="http://schemas.microsoft.com/office/drawing/2014/main" id="{FF3727E4-15C2-45E2-92EC-4235A3B7D551}"/>
              </a:ext>
            </a:extLst>
          </p:cNvPr>
          <p:cNvCxnSpPr>
            <a:cxnSpLocks/>
            <a:stCxn id="51" idx="5"/>
            <a:endCxn id="71" idx="0"/>
          </p:cNvCxnSpPr>
          <p:nvPr/>
        </p:nvCxnSpPr>
        <p:spPr>
          <a:xfrm>
            <a:off x="7788181" y="4047845"/>
            <a:ext cx="294498" cy="61559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F7AD12D5-34D8-4366-926A-915C5242A832}"/>
              </a:ext>
            </a:extLst>
          </p:cNvPr>
          <p:cNvSpPr/>
          <p:nvPr/>
        </p:nvSpPr>
        <p:spPr>
          <a:xfrm>
            <a:off x="6981391" y="4663440"/>
            <a:ext cx="457200" cy="457200"/>
          </a:xfrm>
          <a:prstGeom prst="ellipse">
            <a:avLst/>
          </a:prstGeom>
          <a:ln w="28575"/>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200" b="1" dirty="0">
                <a:solidFill>
                  <a:srgbClr val="FF0000"/>
                </a:solidFill>
              </a:rPr>
              <a:t>V3=2</a:t>
            </a:r>
          </a:p>
        </p:txBody>
      </p:sp>
      <p:cxnSp>
        <p:nvCxnSpPr>
          <p:cNvPr id="74" name="Straight Connector 73">
            <a:extLst>
              <a:ext uri="{FF2B5EF4-FFF2-40B4-BE49-F238E27FC236}">
                <a16:creationId xmlns:a16="http://schemas.microsoft.com/office/drawing/2014/main" id="{978CD331-5E56-485F-AAA0-98288691897F}"/>
              </a:ext>
            </a:extLst>
          </p:cNvPr>
          <p:cNvCxnSpPr>
            <a:cxnSpLocks/>
            <a:stCxn id="51" idx="3"/>
            <a:endCxn id="73" idx="0"/>
          </p:cNvCxnSpPr>
          <p:nvPr/>
        </p:nvCxnSpPr>
        <p:spPr>
          <a:xfrm flipH="1">
            <a:off x="7209991" y="4047845"/>
            <a:ext cx="254900" cy="61559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879FC82-18A3-4659-93BC-D042A28B9C2C}"/>
              </a:ext>
            </a:extLst>
          </p:cNvPr>
          <p:cNvCxnSpPr>
            <a:stCxn id="9" idx="5"/>
            <a:endCxn id="49" idx="0"/>
          </p:cNvCxnSpPr>
          <p:nvPr/>
        </p:nvCxnSpPr>
        <p:spPr>
          <a:xfrm>
            <a:off x="3925632" y="1648036"/>
            <a:ext cx="2694787" cy="91228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8" name="TextBox 147">
            <a:extLst>
              <a:ext uri="{FF2B5EF4-FFF2-40B4-BE49-F238E27FC236}">
                <a16:creationId xmlns:a16="http://schemas.microsoft.com/office/drawing/2014/main" id="{9CF9D520-9091-4F57-8D49-E589F8678817}"/>
              </a:ext>
            </a:extLst>
          </p:cNvPr>
          <p:cNvSpPr txBox="1"/>
          <p:nvPr/>
        </p:nvSpPr>
        <p:spPr>
          <a:xfrm>
            <a:off x="3186129" y="5195402"/>
            <a:ext cx="181140" cy="369332"/>
          </a:xfrm>
          <a:prstGeom prst="rect">
            <a:avLst/>
          </a:prstGeom>
          <a:noFill/>
        </p:spPr>
        <p:txBody>
          <a:bodyPr wrap="none" lIns="0" rIns="0" rtlCol="0">
            <a:spAutoFit/>
          </a:bodyPr>
          <a:lstStyle/>
          <a:p>
            <a:r>
              <a:rPr lang="en-US" b="1" dirty="0">
                <a:solidFill>
                  <a:srgbClr val="008000"/>
                </a:solidFill>
                <a:sym typeface="Wingdings" panose="05000000000000000000" pitchFamily="2" charset="2"/>
              </a:rPr>
              <a:t></a:t>
            </a:r>
            <a:endParaRPr lang="en-US" b="1" dirty="0">
              <a:solidFill>
                <a:srgbClr val="008000"/>
              </a:solidFill>
            </a:endParaRPr>
          </a:p>
        </p:txBody>
      </p:sp>
      <p:sp>
        <p:nvSpPr>
          <p:cNvPr id="150" name="TextBox 149">
            <a:extLst>
              <a:ext uri="{FF2B5EF4-FFF2-40B4-BE49-F238E27FC236}">
                <a16:creationId xmlns:a16="http://schemas.microsoft.com/office/drawing/2014/main" id="{A634AAA5-D4E8-40D2-8CBD-2243D4A3D701}"/>
              </a:ext>
            </a:extLst>
          </p:cNvPr>
          <p:cNvSpPr txBox="1"/>
          <p:nvPr/>
        </p:nvSpPr>
        <p:spPr>
          <a:xfrm>
            <a:off x="5152775" y="5174786"/>
            <a:ext cx="181140" cy="369332"/>
          </a:xfrm>
          <a:prstGeom prst="rect">
            <a:avLst/>
          </a:prstGeom>
          <a:noFill/>
        </p:spPr>
        <p:txBody>
          <a:bodyPr wrap="none" lIns="0" rIns="0" rtlCol="0">
            <a:spAutoFit/>
          </a:bodyPr>
          <a:lstStyle/>
          <a:p>
            <a:r>
              <a:rPr lang="en-US" b="1" dirty="0">
                <a:solidFill>
                  <a:srgbClr val="008000"/>
                </a:solidFill>
                <a:sym typeface="Wingdings" panose="05000000000000000000" pitchFamily="2" charset="2"/>
              </a:rPr>
              <a:t></a:t>
            </a:r>
            <a:endParaRPr lang="en-US" b="1" dirty="0">
              <a:solidFill>
                <a:srgbClr val="008000"/>
              </a:solidFill>
            </a:endParaRPr>
          </a:p>
        </p:txBody>
      </p:sp>
      <p:sp>
        <p:nvSpPr>
          <p:cNvPr id="151" name="TextBox 150">
            <a:extLst>
              <a:ext uri="{FF2B5EF4-FFF2-40B4-BE49-F238E27FC236}">
                <a16:creationId xmlns:a16="http://schemas.microsoft.com/office/drawing/2014/main" id="{E91C8D05-ECC2-4879-B6A7-1D974C7FD7AB}"/>
              </a:ext>
            </a:extLst>
          </p:cNvPr>
          <p:cNvSpPr txBox="1"/>
          <p:nvPr/>
        </p:nvSpPr>
        <p:spPr>
          <a:xfrm>
            <a:off x="523314" y="4104929"/>
            <a:ext cx="147476" cy="369332"/>
          </a:xfrm>
          <a:prstGeom prst="rect">
            <a:avLst/>
          </a:prstGeom>
          <a:noFill/>
        </p:spPr>
        <p:txBody>
          <a:bodyPr wrap="none" lIns="0" rIns="0" rtlCol="0">
            <a:spAutoFit/>
          </a:bodyPr>
          <a:lstStyle/>
          <a:p>
            <a:r>
              <a:rPr lang="en-US" b="1" dirty="0">
                <a:solidFill>
                  <a:srgbClr val="FF0000"/>
                </a:solidFill>
                <a:sym typeface="Wingdings" panose="05000000000000000000" pitchFamily="2" charset="2"/>
              </a:rPr>
              <a:t></a:t>
            </a:r>
            <a:endParaRPr lang="en-US" b="1" dirty="0">
              <a:solidFill>
                <a:srgbClr val="FF0000"/>
              </a:solidFill>
            </a:endParaRPr>
          </a:p>
        </p:txBody>
      </p:sp>
      <p:sp>
        <p:nvSpPr>
          <p:cNvPr id="152" name="TextBox 151">
            <a:extLst>
              <a:ext uri="{FF2B5EF4-FFF2-40B4-BE49-F238E27FC236}">
                <a16:creationId xmlns:a16="http://schemas.microsoft.com/office/drawing/2014/main" id="{1364FDC7-FDBC-471F-8319-0A89FD6202E3}"/>
              </a:ext>
            </a:extLst>
          </p:cNvPr>
          <p:cNvSpPr txBox="1"/>
          <p:nvPr/>
        </p:nvSpPr>
        <p:spPr>
          <a:xfrm>
            <a:off x="1560173" y="4096647"/>
            <a:ext cx="147476" cy="369332"/>
          </a:xfrm>
          <a:prstGeom prst="rect">
            <a:avLst/>
          </a:prstGeom>
          <a:noFill/>
        </p:spPr>
        <p:txBody>
          <a:bodyPr wrap="none" lIns="0" rIns="0" rtlCol="0">
            <a:spAutoFit/>
          </a:bodyPr>
          <a:lstStyle/>
          <a:p>
            <a:r>
              <a:rPr lang="en-US" b="1" dirty="0">
                <a:solidFill>
                  <a:srgbClr val="FF0000"/>
                </a:solidFill>
                <a:sym typeface="Wingdings" panose="05000000000000000000" pitchFamily="2" charset="2"/>
              </a:rPr>
              <a:t></a:t>
            </a:r>
            <a:endParaRPr lang="en-US" b="1" dirty="0">
              <a:solidFill>
                <a:srgbClr val="FF0000"/>
              </a:solidFill>
            </a:endParaRPr>
          </a:p>
        </p:txBody>
      </p:sp>
      <p:sp>
        <p:nvSpPr>
          <p:cNvPr id="153" name="TextBox 152">
            <a:extLst>
              <a:ext uri="{FF2B5EF4-FFF2-40B4-BE49-F238E27FC236}">
                <a16:creationId xmlns:a16="http://schemas.microsoft.com/office/drawing/2014/main" id="{445505A3-B434-4147-8A60-8A16878C542D}"/>
              </a:ext>
            </a:extLst>
          </p:cNvPr>
          <p:cNvSpPr txBox="1"/>
          <p:nvPr/>
        </p:nvSpPr>
        <p:spPr>
          <a:xfrm>
            <a:off x="2274366" y="5172213"/>
            <a:ext cx="147476" cy="369332"/>
          </a:xfrm>
          <a:prstGeom prst="rect">
            <a:avLst/>
          </a:prstGeom>
          <a:noFill/>
        </p:spPr>
        <p:txBody>
          <a:bodyPr wrap="none" lIns="0" rIns="0" rtlCol="0">
            <a:spAutoFit/>
          </a:bodyPr>
          <a:lstStyle/>
          <a:p>
            <a:r>
              <a:rPr lang="en-US" b="1" dirty="0">
                <a:solidFill>
                  <a:srgbClr val="FF0000"/>
                </a:solidFill>
                <a:sym typeface="Wingdings" panose="05000000000000000000" pitchFamily="2" charset="2"/>
              </a:rPr>
              <a:t></a:t>
            </a:r>
            <a:endParaRPr lang="en-US" b="1" dirty="0">
              <a:solidFill>
                <a:srgbClr val="FF0000"/>
              </a:solidFill>
            </a:endParaRPr>
          </a:p>
        </p:txBody>
      </p:sp>
      <p:sp>
        <p:nvSpPr>
          <p:cNvPr id="154" name="TextBox 153">
            <a:extLst>
              <a:ext uri="{FF2B5EF4-FFF2-40B4-BE49-F238E27FC236}">
                <a16:creationId xmlns:a16="http://schemas.microsoft.com/office/drawing/2014/main" id="{9E5C5DB1-EB31-4DCF-82AE-64D709812CB0}"/>
              </a:ext>
            </a:extLst>
          </p:cNvPr>
          <p:cNvSpPr txBox="1"/>
          <p:nvPr/>
        </p:nvSpPr>
        <p:spPr>
          <a:xfrm>
            <a:off x="4256032" y="4073994"/>
            <a:ext cx="147476" cy="369332"/>
          </a:xfrm>
          <a:prstGeom prst="rect">
            <a:avLst/>
          </a:prstGeom>
          <a:noFill/>
        </p:spPr>
        <p:txBody>
          <a:bodyPr wrap="none" lIns="0" rIns="0" rtlCol="0">
            <a:spAutoFit/>
          </a:bodyPr>
          <a:lstStyle/>
          <a:p>
            <a:r>
              <a:rPr lang="en-US" b="1" dirty="0">
                <a:solidFill>
                  <a:srgbClr val="FF0000"/>
                </a:solidFill>
                <a:sym typeface="Wingdings" panose="05000000000000000000" pitchFamily="2" charset="2"/>
              </a:rPr>
              <a:t></a:t>
            </a:r>
            <a:endParaRPr lang="en-US" b="1" dirty="0">
              <a:solidFill>
                <a:srgbClr val="FF0000"/>
              </a:solidFill>
            </a:endParaRPr>
          </a:p>
        </p:txBody>
      </p:sp>
      <p:sp>
        <p:nvSpPr>
          <p:cNvPr id="155" name="TextBox 154">
            <a:extLst>
              <a:ext uri="{FF2B5EF4-FFF2-40B4-BE49-F238E27FC236}">
                <a16:creationId xmlns:a16="http://schemas.microsoft.com/office/drawing/2014/main" id="{C98A58E2-FDCC-4DAA-B682-1C8056E1AE19}"/>
              </a:ext>
            </a:extLst>
          </p:cNvPr>
          <p:cNvSpPr txBox="1"/>
          <p:nvPr/>
        </p:nvSpPr>
        <p:spPr>
          <a:xfrm>
            <a:off x="6045528" y="5187676"/>
            <a:ext cx="147476" cy="369332"/>
          </a:xfrm>
          <a:prstGeom prst="rect">
            <a:avLst/>
          </a:prstGeom>
          <a:noFill/>
        </p:spPr>
        <p:txBody>
          <a:bodyPr wrap="none" lIns="0" rIns="0" rtlCol="0">
            <a:spAutoFit/>
          </a:bodyPr>
          <a:lstStyle/>
          <a:p>
            <a:r>
              <a:rPr lang="en-US" b="1" dirty="0">
                <a:solidFill>
                  <a:srgbClr val="FF0000"/>
                </a:solidFill>
                <a:sym typeface="Wingdings" panose="05000000000000000000" pitchFamily="2" charset="2"/>
              </a:rPr>
              <a:t></a:t>
            </a:r>
            <a:endParaRPr lang="en-US" b="1" dirty="0">
              <a:solidFill>
                <a:srgbClr val="FF0000"/>
              </a:solidFill>
            </a:endParaRPr>
          </a:p>
        </p:txBody>
      </p:sp>
      <p:sp>
        <p:nvSpPr>
          <p:cNvPr id="156" name="TextBox 155">
            <a:extLst>
              <a:ext uri="{FF2B5EF4-FFF2-40B4-BE49-F238E27FC236}">
                <a16:creationId xmlns:a16="http://schemas.microsoft.com/office/drawing/2014/main" id="{25D40D40-A9F8-4C33-8584-D348CD46DB5D}"/>
              </a:ext>
            </a:extLst>
          </p:cNvPr>
          <p:cNvSpPr txBox="1"/>
          <p:nvPr/>
        </p:nvSpPr>
        <p:spPr>
          <a:xfrm>
            <a:off x="7119421" y="5195402"/>
            <a:ext cx="147476" cy="369332"/>
          </a:xfrm>
          <a:prstGeom prst="rect">
            <a:avLst/>
          </a:prstGeom>
          <a:noFill/>
        </p:spPr>
        <p:txBody>
          <a:bodyPr wrap="none" lIns="0" rIns="0" rtlCol="0">
            <a:spAutoFit/>
          </a:bodyPr>
          <a:lstStyle/>
          <a:p>
            <a:r>
              <a:rPr lang="en-US" b="1" dirty="0">
                <a:solidFill>
                  <a:srgbClr val="FF0000"/>
                </a:solidFill>
                <a:sym typeface="Wingdings" panose="05000000000000000000" pitchFamily="2" charset="2"/>
              </a:rPr>
              <a:t></a:t>
            </a:r>
            <a:endParaRPr lang="en-US" b="1" dirty="0">
              <a:solidFill>
                <a:srgbClr val="FF0000"/>
              </a:solidFill>
            </a:endParaRPr>
          </a:p>
        </p:txBody>
      </p:sp>
      <p:sp>
        <p:nvSpPr>
          <p:cNvPr id="157" name="TextBox 156">
            <a:extLst>
              <a:ext uri="{FF2B5EF4-FFF2-40B4-BE49-F238E27FC236}">
                <a16:creationId xmlns:a16="http://schemas.microsoft.com/office/drawing/2014/main" id="{5471F893-4FFA-44E4-A4D6-486D92952A24}"/>
              </a:ext>
            </a:extLst>
          </p:cNvPr>
          <p:cNvSpPr txBox="1"/>
          <p:nvPr/>
        </p:nvSpPr>
        <p:spPr>
          <a:xfrm>
            <a:off x="7992109" y="5195402"/>
            <a:ext cx="147476" cy="369332"/>
          </a:xfrm>
          <a:prstGeom prst="rect">
            <a:avLst/>
          </a:prstGeom>
          <a:noFill/>
        </p:spPr>
        <p:txBody>
          <a:bodyPr wrap="none" lIns="0" rIns="0" rtlCol="0">
            <a:spAutoFit/>
          </a:bodyPr>
          <a:lstStyle/>
          <a:p>
            <a:r>
              <a:rPr lang="en-US" b="1" dirty="0">
                <a:solidFill>
                  <a:srgbClr val="FF0000"/>
                </a:solidFill>
                <a:sym typeface="Wingdings" panose="05000000000000000000" pitchFamily="2" charset="2"/>
              </a:rPr>
              <a:t></a:t>
            </a:r>
            <a:endParaRPr lang="en-US" b="1" dirty="0">
              <a:solidFill>
                <a:srgbClr val="FF0000"/>
              </a:solidFill>
            </a:endParaRPr>
          </a:p>
        </p:txBody>
      </p:sp>
      <p:sp>
        <p:nvSpPr>
          <p:cNvPr id="3" name="Date Placeholder 2"/>
          <p:cNvSpPr>
            <a:spLocks noGrp="1"/>
          </p:cNvSpPr>
          <p:nvPr>
            <p:ph type="dt" sz="half" idx="10"/>
          </p:nvPr>
        </p:nvSpPr>
        <p:spPr/>
        <p:txBody>
          <a:bodyPr/>
          <a:lstStyle/>
          <a:p>
            <a:fld id="{96929A77-B629-4614-9B74-730F81D0390B}" type="datetime1">
              <a:rPr lang="en-US" smtClean="0"/>
              <a:t>10/16/2022</a:t>
            </a:fld>
            <a:endParaRPr lang="en-US" dirty="0"/>
          </a:p>
        </p:txBody>
      </p:sp>
      <p:sp>
        <p:nvSpPr>
          <p:cNvPr id="7" name="Footer Placeholder 6"/>
          <p:cNvSpPr>
            <a:spLocks noGrp="1"/>
          </p:cNvSpPr>
          <p:nvPr>
            <p:ph type="ftr" sz="quarter" idx="11"/>
          </p:nvPr>
        </p:nvSpPr>
        <p:spPr/>
        <p:txBody>
          <a:bodyPr/>
          <a:lstStyle/>
          <a:p>
            <a:r>
              <a:rPr lang="en-US" dirty="0"/>
              <a:t>Introduction to AI</a:t>
            </a:r>
          </a:p>
        </p:txBody>
      </p:sp>
      <p:sp>
        <p:nvSpPr>
          <p:cNvPr id="4" name="TextBox 3">
            <a:extLst>
              <a:ext uri="{FF2B5EF4-FFF2-40B4-BE49-F238E27FC236}">
                <a16:creationId xmlns:a16="http://schemas.microsoft.com/office/drawing/2014/main" id="{C334E0D7-EB47-33E3-71D9-1480B93A7E5D}"/>
              </a:ext>
            </a:extLst>
          </p:cNvPr>
          <p:cNvSpPr txBox="1"/>
          <p:nvPr/>
        </p:nvSpPr>
        <p:spPr>
          <a:xfrm>
            <a:off x="181501" y="5838752"/>
            <a:ext cx="10607647" cy="369332"/>
          </a:xfrm>
          <a:prstGeom prst="rect">
            <a:avLst/>
          </a:prstGeom>
          <a:noFill/>
        </p:spPr>
        <p:txBody>
          <a:bodyPr wrap="none" rtlCol="0">
            <a:spAutoFit/>
          </a:bodyPr>
          <a:lstStyle/>
          <a:p>
            <a:r>
              <a:rPr lang="en-US" dirty="0"/>
              <a:t>The search tree shows that </a:t>
            </a:r>
            <a:r>
              <a:rPr lang="en-US"/>
              <a:t>two solutions </a:t>
            </a:r>
            <a:r>
              <a:rPr lang="en-US" dirty="0"/>
              <a:t>to this CSP are possible depending on the order of selecting variables </a:t>
            </a:r>
          </a:p>
        </p:txBody>
      </p:sp>
    </p:spTree>
    <p:extLst>
      <p:ext uri="{BB962C8B-B14F-4D97-AF65-F5344CB8AC3E}">
        <p14:creationId xmlns:p14="http://schemas.microsoft.com/office/powerpoint/2010/main" val="2932935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6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7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7" grpId="0" animBg="1"/>
      <p:bldP spid="20" grpId="0" animBg="1"/>
      <p:bldP spid="23" grpId="0" animBg="1"/>
      <p:bldP spid="24" grpId="0" animBg="1"/>
      <p:bldP spid="27" grpId="0" animBg="1"/>
      <p:bldP spid="49" grpId="0" animBg="1"/>
      <p:bldP spid="51" grpId="0" animBg="1"/>
      <p:bldP spid="63" grpId="0" animBg="1"/>
      <p:bldP spid="65" grpId="0" animBg="1"/>
      <p:bldP spid="66" grpId="0" animBg="1"/>
      <p:bldP spid="71" grpId="0" animBg="1"/>
      <p:bldP spid="7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6D831-433A-D7B7-F6C4-27E2E8CB7593}"/>
              </a:ext>
            </a:extLst>
          </p:cNvPr>
          <p:cNvSpPr>
            <a:spLocks noGrp="1"/>
          </p:cNvSpPr>
          <p:nvPr>
            <p:ph type="title"/>
          </p:nvPr>
        </p:nvSpPr>
        <p:spPr/>
        <p:txBody>
          <a:bodyPr>
            <a:normAutofit fontScale="90000"/>
          </a:bodyPr>
          <a:lstStyle/>
          <a:p>
            <a:r>
              <a:rPr lang="en-US" dirty="0"/>
              <a:t>Map Coloring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E08A02-1C86-4EA1-1196-1F22C5583F5C}"/>
                  </a:ext>
                </a:extLst>
              </p:cNvPr>
              <p:cNvSpPr>
                <a:spLocks noGrp="1"/>
              </p:cNvSpPr>
              <p:nvPr>
                <p:ph idx="1"/>
              </p:nvPr>
            </p:nvSpPr>
            <p:spPr>
              <a:xfrm>
                <a:off x="304800" y="1228153"/>
                <a:ext cx="6300952" cy="5021979"/>
              </a:xfrm>
            </p:spPr>
            <p:txBody>
              <a:bodyPr>
                <a:normAutofit fontScale="92500"/>
              </a:bodyPr>
              <a:lstStyle/>
              <a:p>
                <a:r>
                  <a:rPr lang="en-US" dirty="0"/>
                  <a:t>The </a:t>
                </a:r>
                <a:r>
                  <a:rPr lang="en-US" sz="3500" b="1" dirty="0">
                    <a:solidFill>
                      <a:schemeClr val="accent6">
                        <a:lumMod val="75000"/>
                      </a:schemeClr>
                    </a:solidFill>
                  </a:rPr>
                  <a:t>map-coloring</a:t>
                </a:r>
                <a:r>
                  <a:rPr lang="en-US" dirty="0"/>
                  <a:t> CSP requires that you assign a color to each region of a map such that any two regions sharing a border have different colors.</a:t>
                </a:r>
              </a:p>
              <a:p>
                <a:r>
                  <a:rPr lang="en-US" dirty="0"/>
                  <a:t>The constraints for the </a:t>
                </a:r>
                <a:r>
                  <a:rPr lang="en-US" sz="3500" b="1" dirty="0">
                    <a:solidFill>
                      <a:schemeClr val="accent6">
                        <a:lumMod val="75000"/>
                      </a:schemeClr>
                    </a:solidFill>
                  </a:rPr>
                  <a:t>map-coloring</a:t>
                </a:r>
                <a:r>
                  <a:rPr lang="en-US" dirty="0"/>
                  <a:t> problem are :</a:t>
                </a:r>
              </a:p>
              <a:p>
                <a:pPr marL="819143" lvl="1" indent="-514350">
                  <a:buFont typeface="+mj-lt"/>
                  <a:buAutoNum type="arabicPeriod"/>
                </a:pPr>
                <a:r>
                  <a:rPr lang="en-US" dirty="0"/>
                  <a:t>Each region is assigned one color only, of </a:t>
                </a:r>
                <a14:m>
                  <m:oMath xmlns:m="http://schemas.openxmlformats.org/officeDocument/2006/math">
                    <m:r>
                      <a:rPr lang="en-US" i="1" dirty="0" smtClean="0">
                        <a:latin typeface="Cambria Math" panose="02040503050406030204" pitchFamily="18" charset="0"/>
                      </a:rPr>
                      <m:t>𝐶</m:t>
                    </m:r>
                  </m:oMath>
                </a14:m>
                <a:r>
                  <a:rPr lang="en-US" dirty="0"/>
                  <a:t> possible colors.</a:t>
                </a:r>
              </a:p>
              <a:p>
                <a:pPr marL="819143" lvl="1" indent="-514350">
                  <a:buFont typeface="+mj-lt"/>
                  <a:buAutoNum type="arabicPeriod"/>
                </a:pPr>
                <a:r>
                  <a:rPr lang="en-US" dirty="0"/>
                  <a:t>The color assigned to one region cannot be assigned to adjacent regions.</a:t>
                </a:r>
              </a:p>
            </p:txBody>
          </p:sp>
        </mc:Choice>
        <mc:Fallback xmlns="">
          <p:sp>
            <p:nvSpPr>
              <p:cNvPr id="3" name="Content Placeholder 2">
                <a:extLst>
                  <a:ext uri="{FF2B5EF4-FFF2-40B4-BE49-F238E27FC236}">
                    <a16:creationId xmlns:a16="http://schemas.microsoft.com/office/drawing/2014/main" id="{DAE08A02-1C86-4EA1-1196-1F22C5583F5C}"/>
                  </a:ext>
                </a:extLst>
              </p:cNvPr>
              <p:cNvSpPr>
                <a:spLocks noGrp="1" noRot="1" noChangeAspect="1" noMove="1" noResize="1" noEditPoints="1" noAdjustHandles="1" noChangeArrowheads="1" noChangeShapeType="1" noTextEdit="1"/>
              </p:cNvSpPr>
              <p:nvPr>
                <p:ph idx="1"/>
              </p:nvPr>
            </p:nvSpPr>
            <p:spPr>
              <a:xfrm>
                <a:off x="304800" y="1228153"/>
                <a:ext cx="6300952" cy="5021979"/>
              </a:xfrm>
              <a:blipFill>
                <a:blip r:embed="rId3"/>
                <a:stretch>
                  <a:fillRect l="-2515" t="-2549" r="-4352" b="-2913"/>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F1A4B69A-EC5A-BFCD-6DBC-041E2B275D65}"/>
              </a:ext>
            </a:extLst>
          </p:cNvPr>
          <p:cNvSpPr>
            <a:spLocks noGrp="1"/>
          </p:cNvSpPr>
          <p:nvPr>
            <p:ph type="dt" sz="half" idx="10"/>
          </p:nvPr>
        </p:nvSpPr>
        <p:spPr/>
        <p:txBody>
          <a:bodyPr/>
          <a:lstStyle/>
          <a:p>
            <a:fld id="{C2EBCB3B-0D71-481E-A68B-9B57A6B53C51}" type="datetime1">
              <a:rPr lang="en-US" smtClean="0"/>
              <a:t>10/16/2022</a:t>
            </a:fld>
            <a:endParaRPr lang="en-US" dirty="0"/>
          </a:p>
        </p:txBody>
      </p:sp>
      <p:sp>
        <p:nvSpPr>
          <p:cNvPr id="5" name="Footer Placeholder 4">
            <a:extLst>
              <a:ext uri="{FF2B5EF4-FFF2-40B4-BE49-F238E27FC236}">
                <a16:creationId xmlns:a16="http://schemas.microsoft.com/office/drawing/2014/main" id="{CFF58E6D-AEE1-5EB0-BE63-8D1CE52C366C}"/>
              </a:ext>
            </a:extLst>
          </p:cNvPr>
          <p:cNvSpPr>
            <a:spLocks noGrp="1"/>
          </p:cNvSpPr>
          <p:nvPr>
            <p:ph type="ftr" sz="quarter" idx="11"/>
          </p:nvPr>
        </p:nvSpPr>
        <p:spPr/>
        <p:txBody>
          <a:bodyPr/>
          <a:lstStyle/>
          <a:p>
            <a:r>
              <a:rPr lang="en-US"/>
              <a:t>Introduction to AI</a:t>
            </a:r>
            <a:endParaRPr lang="en-US" dirty="0"/>
          </a:p>
        </p:txBody>
      </p:sp>
      <p:sp>
        <p:nvSpPr>
          <p:cNvPr id="6" name="Slide Number Placeholder 5">
            <a:extLst>
              <a:ext uri="{FF2B5EF4-FFF2-40B4-BE49-F238E27FC236}">
                <a16:creationId xmlns:a16="http://schemas.microsoft.com/office/drawing/2014/main" id="{E8F3C31E-E3EA-2396-37BF-4EEAC5BD36DA}"/>
              </a:ext>
            </a:extLst>
          </p:cNvPr>
          <p:cNvSpPr>
            <a:spLocks noGrp="1"/>
          </p:cNvSpPr>
          <p:nvPr>
            <p:ph type="sldNum" sz="quarter" idx="12"/>
          </p:nvPr>
        </p:nvSpPr>
        <p:spPr/>
        <p:txBody>
          <a:bodyPr/>
          <a:lstStyle/>
          <a:p>
            <a:fld id="{B7884E68-CE57-44C0-BE0F-84C629DF22D5}" type="slidenum">
              <a:rPr lang="en-US" smtClean="0"/>
              <a:t>19</a:t>
            </a:fld>
            <a:endParaRPr lang="en-US" dirty="0"/>
          </a:p>
        </p:txBody>
      </p:sp>
      <p:pic>
        <p:nvPicPr>
          <p:cNvPr id="7" name="Picture 6" descr="Map&#10;&#10;Description automatically generated">
            <a:extLst>
              <a:ext uri="{FF2B5EF4-FFF2-40B4-BE49-F238E27FC236}">
                <a16:creationId xmlns:a16="http://schemas.microsoft.com/office/drawing/2014/main" id="{488D4BAA-0AE0-D3FE-D63A-16D18D0FE6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0261" y="1374648"/>
            <a:ext cx="5341641" cy="4451367"/>
          </a:xfrm>
          <a:prstGeom prst="rect">
            <a:avLst/>
          </a:prstGeom>
        </p:spPr>
      </p:pic>
    </p:spTree>
    <p:extLst>
      <p:ext uri="{BB962C8B-B14F-4D97-AF65-F5344CB8AC3E}">
        <p14:creationId xmlns:p14="http://schemas.microsoft.com/office/powerpoint/2010/main" val="14112580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2: Map Coloring</a:t>
            </a:r>
          </a:p>
        </p:txBody>
      </p:sp>
      <p:sp>
        <p:nvSpPr>
          <p:cNvPr id="3" name="Content Placeholder 2"/>
          <p:cNvSpPr>
            <a:spLocks noGrp="1"/>
          </p:cNvSpPr>
          <p:nvPr>
            <p:ph idx="1"/>
          </p:nvPr>
        </p:nvSpPr>
        <p:spPr>
          <a:xfrm>
            <a:off x="304800" y="1228153"/>
            <a:ext cx="6199031" cy="5021979"/>
          </a:xfrm>
        </p:spPr>
        <p:txBody>
          <a:bodyPr/>
          <a:lstStyle/>
          <a:p>
            <a:pPr marL="457200" lvl="0" indent="-457200" defTabSz="914400">
              <a:lnSpc>
                <a:spcPct val="100000"/>
              </a:lnSpc>
              <a:spcAft>
                <a:spcPts val="600"/>
              </a:spcAft>
              <a:buClr>
                <a:srgbClr val="3494BA"/>
              </a:buClr>
              <a:buSzTx/>
              <a:buFont typeface="Wingdings" panose="05000000000000000000" pitchFamily="2" charset="2"/>
              <a:buChar char="v"/>
            </a:pPr>
            <a:r>
              <a:rPr lang="en-US" dirty="0">
                <a:solidFill>
                  <a:prstClr val="black"/>
                </a:solidFill>
                <a:latin typeface="Calibri (Body)"/>
                <a:cs typeface="Times New Roman" panose="02020603050405020304" pitchFamily="18" charset="0"/>
              </a:rPr>
              <a:t>Given four colors, </a:t>
            </a:r>
            <a:r>
              <a:rPr lang="en-US" dirty="0">
                <a:solidFill>
                  <a:srgbClr val="FF3300"/>
                </a:solidFill>
                <a:latin typeface="Calibri (Body)"/>
                <a:cs typeface="Times New Roman" panose="02020603050405020304" pitchFamily="18" charset="0"/>
              </a:rPr>
              <a:t>Red</a:t>
            </a:r>
            <a:r>
              <a:rPr lang="en-US" dirty="0">
                <a:solidFill>
                  <a:prstClr val="black"/>
                </a:solidFill>
                <a:latin typeface="Calibri (Body)"/>
                <a:cs typeface="Times New Roman" panose="02020603050405020304" pitchFamily="18" charset="0"/>
              </a:rPr>
              <a:t>, </a:t>
            </a:r>
            <a:r>
              <a:rPr lang="en-US" dirty="0">
                <a:solidFill>
                  <a:srgbClr val="00B050"/>
                </a:solidFill>
                <a:latin typeface="Calibri (Body)"/>
                <a:cs typeface="Times New Roman" panose="02020603050405020304" pitchFamily="18" charset="0"/>
              </a:rPr>
              <a:t>Green</a:t>
            </a:r>
            <a:r>
              <a:rPr lang="en-US" dirty="0">
                <a:solidFill>
                  <a:prstClr val="black"/>
                </a:solidFill>
                <a:latin typeface="Calibri (Body)"/>
                <a:cs typeface="Times New Roman" panose="02020603050405020304" pitchFamily="18" charset="0"/>
              </a:rPr>
              <a:t>, </a:t>
            </a:r>
            <a:r>
              <a:rPr lang="en-US" dirty="0">
                <a:solidFill>
                  <a:srgbClr val="FFCC00"/>
                </a:solidFill>
                <a:latin typeface="Calibri (Body)"/>
                <a:cs typeface="Times New Roman" panose="02020603050405020304" pitchFamily="18" charset="0"/>
              </a:rPr>
              <a:t>Yellow</a:t>
            </a:r>
            <a:r>
              <a:rPr lang="en-US" dirty="0">
                <a:solidFill>
                  <a:prstClr val="black"/>
                </a:solidFill>
                <a:latin typeface="Calibri (Body)"/>
                <a:cs typeface="Times New Roman" panose="02020603050405020304" pitchFamily="18" charset="0"/>
              </a:rPr>
              <a:t> , </a:t>
            </a:r>
            <a:r>
              <a:rPr lang="en-US" dirty="0">
                <a:solidFill>
                  <a:srgbClr val="0000CC"/>
                </a:solidFill>
                <a:latin typeface="Calibri (Body)"/>
                <a:cs typeface="Times New Roman" panose="02020603050405020304" pitchFamily="18" charset="0"/>
              </a:rPr>
              <a:t>Blue</a:t>
            </a:r>
            <a:r>
              <a:rPr lang="en-US" dirty="0">
                <a:solidFill>
                  <a:prstClr val="black"/>
                </a:solidFill>
                <a:latin typeface="Calibri (Body)"/>
                <a:cs typeface="Times New Roman" panose="02020603050405020304" pitchFamily="18" charset="0"/>
              </a:rPr>
              <a:t> denoted by</a:t>
            </a:r>
            <a:r>
              <a:rPr lang="en-US" dirty="0">
                <a:solidFill>
                  <a:srgbClr val="0000CC"/>
                </a:solidFill>
                <a:latin typeface="Calibri (Body)"/>
                <a:cs typeface="Times New Roman" panose="02020603050405020304" pitchFamily="18" charset="0"/>
              </a:rPr>
              <a:t> </a:t>
            </a:r>
            <a:r>
              <a:rPr lang="en-US" dirty="0">
                <a:solidFill>
                  <a:srgbClr val="FF0000"/>
                </a:solidFill>
                <a:latin typeface="Calibri (Body)"/>
                <a:cs typeface="Times New Roman" panose="02020603050405020304" pitchFamily="18" charset="0"/>
              </a:rPr>
              <a:t>R</a:t>
            </a:r>
            <a:r>
              <a:rPr lang="en-US" dirty="0">
                <a:solidFill>
                  <a:prstClr val="black"/>
                </a:solidFill>
                <a:latin typeface="Calibri (Body)"/>
                <a:cs typeface="Times New Roman" panose="02020603050405020304" pitchFamily="18" charset="0"/>
              </a:rPr>
              <a:t>,</a:t>
            </a:r>
            <a:r>
              <a:rPr lang="en-US" dirty="0">
                <a:solidFill>
                  <a:srgbClr val="0000CC"/>
                </a:solidFill>
                <a:latin typeface="Calibri (Body)"/>
                <a:cs typeface="Times New Roman" panose="02020603050405020304" pitchFamily="18" charset="0"/>
              </a:rPr>
              <a:t> </a:t>
            </a:r>
            <a:r>
              <a:rPr lang="en-US" dirty="0">
                <a:solidFill>
                  <a:srgbClr val="00B050"/>
                </a:solidFill>
                <a:latin typeface="Calibri (Body)"/>
                <a:cs typeface="Times New Roman" panose="02020603050405020304" pitchFamily="18" charset="0"/>
              </a:rPr>
              <a:t>G</a:t>
            </a:r>
            <a:r>
              <a:rPr lang="en-US" dirty="0">
                <a:solidFill>
                  <a:prstClr val="black"/>
                </a:solidFill>
                <a:latin typeface="Calibri (Body)"/>
                <a:cs typeface="Times New Roman" panose="02020603050405020304" pitchFamily="18" charset="0"/>
              </a:rPr>
              <a:t>,</a:t>
            </a:r>
            <a:r>
              <a:rPr lang="en-US" dirty="0">
                <a:solidFill>
                  <a:srgbClr val="0000CC"/>
                </a:solidFill>
                <a:latin typeface="Calibri (Body)"/>
                <a:cs typeface="Times New Roman" panose="02020603050405020304" pitchFamily="18" charset="0"/>
              </a:rPr>
              <a:t> </a:t>
            </a:r>
            <a:r>
              <a:rPr lang="en-US" dirty="0">
                <a:solidFill>
                  <a:srgbClr val="FFFF00"/>
                </a:solidFill>
                <a:latin typeface="Calibri (Body)"/>
                <a:cs typeface="Times New Roman" panose="02020603050405020304" pitchFamily="18" charset="0"/>
              </a:rPr>
              <a:t>Y</a:t>
            </a:r>
            <a:r>
              <a:rPr lang="en-US" dirty="0">
                <a:solidFill>
                  <a:prstClr val="black"/>
                </a:solidFill>
                <a:latin typeface="Calibri (Body)"/>
                <a:cs typeface="Times New Roman" panose="02020603050405020304" pitchFamily="18" charset="0"/>
              </a:rPr>
              <a:t>,</a:t>
            </a:r>
            <a:r>
              <a:rPr lang="en-US" dirty="0">
                <a:solidFill>
                  <a:srgbClr val="0000CC"/>
                </a:solidFill>
                <a:latin typeface="Calibri (Body)"/>
                <a:cs typeface="Times New Roman" panose="02020603050405020304" pitchFamily="18" charset="0"/>
              </a:rPr>
              <a:t> B, </a:t>
            </a:r>
            <a:endParaRPr lang="en-US" dirty="0">
              <a:solidFill>
                <a:srgbClr val="0000FF"/>
              </a:solidFill>
              <a:latin typeface="Calibri (Body)"/>
              <a:cs typeface="Times New Roman" panose="02020603050405020304" pitchFamily="18" charset="0"/>
            </a:endParaRPr>
          </a:p>
          <a:p>
            <a:r>
              <a:rPr lang="en-US" dirty="0"/>
              <a:t>A computer program must Color the regions </a:t>
            </a:r>
            <a:r>
              <a:rPr lang="en-US" sz="2800" i="1" dirty="0">
                <a:latin typeface="Segoe Print" panose="02000600000000000000" pitchFamily="2" charset="0"/>
              </a:rPr>
              <a:t>Tabuk</a:t>
            </a:r>
            <a:r>
              <a:rPr lang="en-US" sz="2800" dirty="0"/>
              <a:t>, </a:t>
            </a:r>
            <a:r>
              <a:rPr lang="en-US" sz="2800" i="1" dirty="0">
                <a:latin typeface="Segoe Print" panose="02000600000000000000" pitchFamily="2" charset="0"/>
              </a:rPr>
              <a:t>Hail</a:t>
            </a:r>
            <a:r>
              <a:rPr lang="en-US" sz="2800" dirty="0"/>
              <a:t>, </a:t>
            </a:r>
            <a:r>
              <a:rPr lang="en-US" sz="2800" i="1" dirty="0" err="1">
                <a:latin typeface="Segoe Print" panose="02000600000000000000" pitchFamily="2" charset="0"/>
              </a:rPr>
              <a:t>Madina</a:t>
            </a:r>
            <a:r>
              <a:rPr lang="en-US" sz="2800" dirty="0"/>
              <a:t>, </a:t>
            </a:r>
            <a:r>
              <a:rPr lang="en-US" sz="2800" i="1" dirty="0">
                <a:latin typeface="Segoe Print" panose="02000600000000000000" pitchFamily="2" charset="0"/>
              </a:rPr>
              <a:t>Al-</a:t>
            </a:r>
            <a:r>
              <a:rPr lang="en-US" sz="2800" i="1" dirty="0" err="1">
                <a:latin typeface="Segoe Print" panose="02000600000000000000" pitchFamily="2" charset="0"/>
              </a:rPr>
              <a:t>Qasim</a:t>
            </a:r>
            <a:r>
              <a:rPr lang="en-US" sz="2800" dirty="0"/>
              <a:t>, </a:t>
            </a:r>
            <a:r>
              <a:rPr lang="en-US" sz="2800" i="1" dirty="0">
                <a:latin typeface="Segoe Print" panose="02000600000000000000" pitchFamily="2" charset="0"/>
              </a:rPr>
              <a:t>Makkah</a:t>
            </a:r>
            <a:r>
              <a:rPr lang="en-US" sz="2800" dirty="0"/>
              <a:t> </a:t>
            </a:r>
            <a:r>
              <a:rPr lang="en-US" dirty="0"/>
              <a:t>and </a:t>
            </a:r>
            <a:r>
              <a:rPr lang="en-US" sz="2800" i="1" dirty="0">
                <a:latin typeface="Segoe Print" panose="02000600000000000000" pitchFamily="2" charset="0"/>
              </a:rPr>
              <a:t>Riyadh</a:t>
            </a:r>
            <a:r>
              <a:rPr lang="en-US" dirty="0"/>
              <a:t> such that no adjacent regions have the same color.  </a:t>
            </a:r>
          </a:p>
        </p:txBody>
      </p:sp>
      <p:sp>
        <p:nvSpPr>
          <p:cNvPr id="4" name="Date Placeholder 3"/>
          <p:cNvSpPr>
            <a:spLocks noGrp="1"/>
          </p:cNvSpPr>
          <p:nvPr>
            <p:ph type="dt" sz="half" idx="10"/>
          </p:nvPr>
        </p:nvSpPr>
        <p:spPr/>
        <p:txBody>
          <a:bodyPr/>
          <a:lstStyle/>
          <a:p>
            <a:fld id="{C19C35C2-5253-4D95-86FB-8F288A9375E7}"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20</a:t>
            </a:fld>
            <a:endParaRPr lang="en-US" dirty="0"/>
          </a:p>
        </p:txBody>
      </p:sp>
      <p:pic>
        <p:nvPicPr>
          <p:cNvPr id="7" name="Picture 6" descr="Map&#10;&#10;Description automatically generated">
            <a:extLst>
              <a:ext uri="{FF2B5EF4-FFF2-40B4-BE49-F238E27FC236}">
                <a16:creationId xmlns:a16="http://schemas.microsoft.com/office/drawing/2014/main" id="{6A5D8B42-2AE6-4985-AC98-C48E8499B8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4495" y="1358883"/>
            <a:ext cx="5341641" cy="4451367"/>
          </a:xfrm>
          <a:prstGeom prst="rect">
            <a:avLst/>
          </a:prstGeom>
        </p:spPr>
      </p:pic>
    </p:spTree>
    <p:extLst>
      <p:ext uri="{BB962C8B-B14F-4D97-AF65-F5344CB8AC3E}">
        <p14:creationId xmlns:p14="http://schemas.microsoft.com/office/powerpoint/2010/main" val="1139703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228153"/>
            <a:ext cx="11473218" cy="5220315"/>
          </a:xfrm>
        </p:spPr>
        <p:txBody>
          <a:bodyPr>
            <a:normAutofit fontScale="92500" lnSpcReduction="10000"/>
          </a:bodyPr>
          <a:lstStyle/>
          <a:p>
            <a:r>
              <a:rPr lang="en-US" dirty="0"/>
              <a:t>Convert the problem to CSP </a:t>
            </a:r>
          </a:p>
          <a:p>
            <a:pPr lvl="1"/>
            <a:r>
              <a:rPr lang="en-US" dirty="0">
                <a:solidFill>
                  <a:srgbClr val="C00000"/>
                </a:solidFill>
              </a:rPr>
              <a:t>Variables</a:t>
            </a:r>
            <a:r>
              <a:rPr lang="en-US" dirty="0"/>
              <a:t>: </a:t>
            </a:r>
          </a:p>
          <a:p>
            <a:pPr lvl="2"/>
            <a:r>
              <a:rPr lang="en-US" dirty="0"/>
              <a:t>Regions	  V={V1,V2,V3,V4,V5,V6}</a:t>
            </a:r>
          </a:p>
          <a:p>
            <a:pPr marL="304793" lvl="1" indent="0">
              <a:buNone/>
            </a:pPr>
            <a:endParaRPr lang="en-US" sz="2400" dirty="0"/>
          </a:p>
          <a:p>
            <a:pPr marL="304793" lvl="1" indent="0">
              <a:buNone/>
            </a:pPr>
            <a:endParaRPr lang="en-US" sz="2400" dirty="0"/>
          </a:p>
          <a:p>
            <a:pPr marL="304793" lvl="1" indent="0">
              <a:buNone/>
            </a:pPr>
            <a:endParaRPr lang="en-US" sz="2400" dirty="0"/>
          </a:p>
          <a:p>
            <a:pPr lvl="1"/>
            <a:r>
              <a:rPr lang="en-US" dirty="0">
                <a:solidFill>
                  <a:srgbClr val="C00000"/>
                </a:solidFill>
              </a:rPr>
              <a:t>Domains and order:</a:t>
            </a:r>
          </a:p>
          <a:p>
            <a:pPr lvl="2"/>
            <a:r>
              <a:rPr lang="en-US" dirty="0"/>
              <a:t>Colors allowed</a:t>
            </a:r>
          </a:p>
          <a:p>
            <a:pPr marL="304793" lvl="1" indent="0">
              <a:buNone/>
            </a:pPr>
            <a:r>
              <a:rPr lang="en-US" sz="3200" dirty="0"/>
              <a:t>	</a:t>
            </a:r>
          </a:p>
          <a:p>
            <a:pPr marL="304793" lvl="1" indent="0">
              <a:buNone/>
            </a:pPr>
            <a:endParaRPr lang="en-US" b="1" dirty="0"/>
          </a:p>
          <a:p>
            <a:pPr lvl="1"/>
            <a:r>
              <a:rPr lang="en-US" dirty="0">
                <a:solidFill>
                  <a:srgbClr val="C00000"/>
                </a:solidFill>
              </a:rPr>
              <a:t>Constraints</a:t>
            </a:r>
            <a:r>
              <a:rPr lang="en-US" dirty="0"/>
              <a:t>: </a:t>
            </a:r>
          </a:p>
          <a:p>
            <a:pPr lvl="1"/>
            <a:r>
              <a:rPr lang="en-US" dirty="0"/>
              <a:t>No two regions sharing a boundary have the same color</a:t>
            </a:r>
          </a:p>
        </p:txBody>
      </p:sp>
      <p:sp>
        <p:nvSpPr>
          <p:cNvPr id="4" name="Date Placeholder 3"/>
          <p:cNvSpPr>
            <a:spLocks noGrp="1"/>
          </p:cNvSpPr>
          <p:nvPr>
            <p:ph type="dt" sz="half" idx="10"/>
          </p:nvPr>
        </p:nvSpPr>
        <p:spPr/>
        <p:txBody>
          <a:bodyPr/>
          <a:lstStyle/>
          <a:p>
            <a:fld id="{0979D303-68EA-44DC-92F3-18A7A1E92428}"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21</a:t>
            </a:fld>
            <a:endParaRPr lang="en-US" dirty="0"/>
          </a:p>
        </p:txBody>
      </p:sp>
      <p:graphicFrame>
        <p:nvGraphicFramePr>
          <p:cNvPr id="8" name="Table 7">
            <a:extLst>
              <a:ext uri="{FF2B5EF4-FFF2-40B4-BE49-F238E27FC236}">
                <a16:creationId xmlns:a16="http://schemas.microsoft.com/office/drawing/2014/main" id="{D2D526EF-E175-4489-8986-BDB04DCECB94}"/>
              </a:ext>
            </a:extLst>
          </p:cNvPr>
          <p:cNvGraphicFramePr>
            <a:graphicFrameLocks noGrp="1"/>
          </p:cNvGraphicFramePr>
          <p:nvPr/>
        </p:nvGraphicFramePr>
        <p:xfrm>
          <a:off x="1029288" y="2624488"/>
          <a:ext cx="6051614" cy="792480"/>
        </p:xfrm>
        <a:graphic>
          <a:graphicData uri="http://schemas.openxmlformats.org/drawingml/2006/table">
            <a:tbl>
              <a:tblPr firstRow="1" bandRow="1">
                <a:tableStyleId>{8A107856-5554-42FB-B03E-39F5DBC370BA}</a:tableStyleId>
              </a:tblPr>
              <a:tblGrid>
                <a:gridCol w="2203516">
                  <a:extLst>
                    <a:ext uri="{9D8B030D-6E8A-4147-A177-3AD203B41FA5}">
                      <a16:colId xmlns:a16="http://schemas.microsoft.com/office/drawing/2014/main" val="2347060612"/>
                    </a:ext>
                  </a:extLst>
                </a:gridCol>
                <a:gridCol w="1981200">
                  <a:extLst>
                    <a:ext uri="{9D8B030D-6E8A-4147-A177-3AD203B41FA5}">
                      <a16:colId xmlns:a16="http://schemas.microsoft.com/office/drawing/2014/main" val="2419663802"/>
                    </a:ext>
                  </a:extLst>
                </a:gridCol>
                <a:gridCol w="1866898">
                  <a:extLst>
                    <a:ext uri="{9D8B030D-6E8A-4147-A177-3AD203B41FA5}">
                      <a16:colId xmlns:a16="http://schemas.microsoft.com/office/drawing/2014/main" val="2396525568"/>
                    </a:ext>
                  </a:extLst>
                </a:gridCol>
              </a:tblGrid>
              <a:tr h="370840">
                <a:tc>
                  <a:txBody>
                    <a:bodyPr/>
                    <a:lstStyle/>
                    <a:p>
                      <a:r>
                        <a:rPr lang="en-US" sz="2000" b="0" dirty="0">
                          <a:solidFill>
                            <a:schemeClr val="tx1"/>
                          </a:solidFill>
                        </a:rPr>
                        <a:t>V1 = </a:t>
                      </a:r>
                      <a:r>
                        <a:rPr lang="en-US" sz="2000" i="1" kern="1200" dirty="0">
                          <a:solidFill>
                            <a:schemeClr val="tx1"/>
                          </a:solidFill>
                          <a:latin typeface="Segoe Print" panose="02000600000000000000" pitchFamily="2" charset="0"/>
                          <a:ea typeface="+mn-ea"/>
                          <a:cs typeface="+mn-cs"/>
                        </a:rPr>
                        <a:t>Tabuk</a:t>
                      </a:r>
                      <a:endParaRPr lang="en-US" sz="2800" i="1" kern="1200" dirty="0">
                        <a:solidFill>
                          <a:schemeClr val="tx1"/>
                        </a:solidFill>
                        <a:latin typeface="Segoe Print" panose="02000600000000000000" pitchFamily="2" charset="0"/>
                        <a:ea typeface="+mn-ea"/>
                        <a:cs typeface="+mn-cs"/>
                      </a:endParaRPr>
                    </a:p>
                  </a:txBody>
                  <a:tcPr/>
                </a:tc>
                <a:tc>
                  <a:txBody>
                    <a:bodyPr/>
                    <a:lstStyle/>
                    <a:p>
                      <a:r>
                        <a:rPr lang="en-US" sz="2000" b="0" dirty="0">
                          <a:solidFill>
                            <a:schemeClr val="tx1"/>
                          </a:solidFill>
                        </a:rPr>
                        <a:t>V2 = </a:t>
                      </a:r>
                      <a:r>
                        <a:rPr lang="en-US" sz="2000" b="1" i="1" kern="1200" dirty="0">
                          <a:solidFill>
                            <a:schemeClr val="tx1"/>
                          </a:solidFill>
                          <a:latin typeface="Segoe Print" panose="02000600000000000000" pitchFamily="2" charset="0"/>
                          <a:ea typeface="+mn-ea"/>
                          <a:cs typeface="+mn-cs"/>
                        </a:rPr>
                        <a:t>Ha’il</a:t>
                      </a:r>
                      <a:endParaRPr lang="en-US" sz="2400" b="1" i="1" kern="1200" dirty="0">
                        <a:solidFill>
                          <a:schemeClr val="tx1"/>
                        </a:solidFill>
                        <a:latin typeface="Segoe Print" panose="02000600000000000000" pitchFamily="2" charset="0"/>
                        <a:ea typeface="+mn-ea"/>
                        <a:cs typeface="+mn-cs"/>
                      </a:endParaRPr>
                    </a:p>
                  </a:txBody>
                  <a:tcPr/>
                </a:tc>
                <a:tc>
                  <a:txBody>
                    <a:bodyPr/>
                    <a:lstStyle/>
                    <a:p>
                      <a:r>
                        <a:rPr lang="en-US" sz="2000" b="0" dirty="0">
                          <a:solidFill>
                            <a:schemeClr val="tx1"/>
                          </a:solidFill>
                        </a:rPr>
                        <a:t>V3 = </a:t>
                      </a:r>
                      <a:r>
                        <a:rPr lang="en-US" sz="2000" b="1" i="1" kern="1200" dirty="0">
                          <a:solidFill>
                            <a:schemeClr val="tx1"/>
                          </a:solidFill>
                          <a:latin typeface="Segoe Print" panose="02000600000000000000" pitchFamily="2" charset="0"/>
                          <a:ea typeface="+mn-ea"/>
                          <a:cs typeface="+mn-cs"/>
                        </a:rPr>
                        <a:t>Qassim</a:t>
                      </a:r>
                      <a:endParaRPr lang="en-US" sz="24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2000" b="0" dirty="0">
                          <a:solidFill>
                            <a:schemeClr val="tx1"/>
                          </a:solidFill>
                        </a:rPr>
                        <a:t>V4 = </a:t>
                      </a:r>
                      <a:r>
                        <a:rPr lang="en-US" sz="2000" b="1" i="1" kern="1200" dirty="0">
                          <a:solidFill>
                            <a:schemeClr val="tx1"/>
                          </a:solidFill>
                          <a:latin typeface="Segoe Print" panose="02000600000000000000" pitchFamily="2" charset="0"/>
                          <a:ea typeface="+mn-ea"/>
                          <a:cs typeface="+mn-cs"/>
                        </a:rPr>
                        <a:t>Riyadh</a:t>
                      </a:r>
                      <a:endParaRPr lang="en-US" sz="2400" b="1" i="1" kern="1200" dirty="0">
                        <a:solidFill>
                          <a:schemeClr val="tx1"/>
                        </a:solidFill>
                        <a:latin typeface="Segoe Print" panose="02000600000000000000" pitchFamily="2" charset="0"/>
                        <a:ea typeface="+mn-ea"/>
                        <a:cs typeface="+mn-cs"/>
                      </a:endParaRPr>
                    </a:p>
                  </a:txBody>
                  <a:tcPr/>
                </a:tc>
                <a:tc>
                  <a:txBody>
                    <a:bodyPr/>
                    <a:lstStyle/>
                    <a:p>
                      <a:r>
                        <a:rPr lang="en-US" sz="2000" b="0" dirty="0">
                          <a:solidFill>
                            <a:schemeClr val="tx1"/>
                          </a:solidFill>
                        </a:rPr>
                        <a:t>V5 = </a:t>
                      </a:r>
                      <a:r>
                        <a:rPr lang="en-US" sz="2000" b="1" i="1" kern="1200" dirty="0">
                          <a:solidFill>
                            <a:schemeClr val="tx1"/>
                          </a:solidFill>
                          <a:latin typeface="Segoe Print" panose="02000600000000000000" pitchFamily="2" charset="0"/>
                          <a:ea typeface="+mn-ea"/>
                          <a:cs typeface="+mn-cs"/>
                        </a:rPr>
                        <a:t>Makkah</a:t>
                      </a:r>
                      <a:endParaRPr lang="en-US" sz="2400" b="1" i="1" kern="1200" dirty="0">
                        <a:solidFill>
                          <a:schemeClr val="tx1"/>
                        </a:solidFill>
                        <a:latin typeface="Segoe Print" panose="02000600000000000000" pitchFamily="2" charset="0"/>
                        <a:ea typeface="+mn-ea"/>
                        <a:cs typeface="+mn-cs"/>
                      </a:endParaRPr>
                    </a:p>
                  </a:txBody>
                  <a:tcPr/>
                </a:tc>
                <a:tc>
                  <a:txBody>
                    <a:bodyPr/>
                    <a:lstStyle/>
                    <a:p>
                      <a:r>
                        <a:rPr lang="en-US" sz="2000" b="0" dirty="0">
                          <a:solidFill>
                            <a:schemeClr val="tx1"/>
                          </a:solidFill>
                        </a:rPr>
                        <a:t>V6 = </a:t>
                      </a:r>
                      <a:r>
                        <a:rPr lang="en-US" sz="2000" b="1" i="1" kern="1200" dirty="0">
                          <a:solidFill>
                            <a:schemeClr val="tx1"/>
                          </a:solidFill>
                          <a:latin typeface="Segoe Print" panose="02000600000000000000" pitchFamily="2" charset="0"/>
                          <a:ea typeface="+mn-ea"/>
                          <a:cs typeface="+mn-cs"/>
                        </a:rPr>
                        <a:t>Medina</a:t>
                      </a:r>
                      <a:endParaRPr lang="en-US" sz="24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
        <p:nvSpPr>
          <p:cNvPr id="12" name="Title 11">
            <a:extLst>
              <a:ext uri="{FF2B5EF4-FFF2-40B4-BE49-F238E27FC236}">
                <a16:creationId xmlns:a16="http://schemas.microsoft.com/office/drawing/2014/main" id="{F4B4C55C-43A4-150A-D499-BEF1FD42A43D}"/>
              </a:ext>
            </a:extLst>
          </p:cNvPr>
          <p:cNvSpPr>
            <a:spLocks noGrp="1"/>
          </p:cNvSpPr>
          <p:nvPr>
            <p:ph type="title"/>
          </p:nvPr>
        </p:nvSpPr>
        <p:spPr/>
        <p:txBody>
          <a:bodyPr>
            <a:normAutofit fontScale="90000"/>
          </a:bodyPr>
          <a:lstStyle/>
          <a:p>
            <a:r>
              <a:rPr lang="en-US" dirty="0"/>
              <a:t>CSP Example 2: Map Coloring</a:t>
            </a:r>
          </a:p>
        </p:txBody>
      </p:sp>
      <p:graphicFrame>
        <p:nvGraphicFramePr>
          <p:cNvPr id="14" name="Table 13">
            <a:extLst>
              <a:ext uri="{FF2B5EF4-FFF2-40B4-BE49-F238E27FC236}">
                <a16:creationId xmlns:a16="http://schemas.microsoft.com/office/drawing/2014/main" id="{E0278BA8-C63B-1B89-6899-6263D7A9E92E}"/>
              </a:ext>
            </a:extLst>
          </p:cNvPr>
          <p:cNvGraphicFramePr>
            <a:graphicFrameLocks noGrp="1"/>
          </p:cNvGraphicFramePr>
          <p:nvPr/>
        </p:nvGraphicFramePr>
        <p:xfrm>
          <a:off x="1029288" y="4441127"/>
          <a:ext cx="6051614" cy="792480"/>
        </p:xfrm>
        <a:graphic>
          <a:graphicData uri="http://schemas.openxmlformats.org/drawingml/2006/table">
            <a:tbl>
              <a:tblPr firstRow="1" bandRow="1">
                <a:tableStyleId>{8A107856-5554-42FB-B03E-39F5DBC370BA}</a:tableStyleId>
              </a:tblPr>
              <a:tblGrid>
                <a:gridCol w="2184430">
                  <a:extLst>
                    <a:ext uri="{9D8B030D-6E8A-4147-A177-3AD203B41FA5}">
                      <a16:colId xmlns:a16="http://schemas.microsoft.com/office/drawing/2014/main" val="2347060612"/>
                    </a:ext>
                  </a:extLst>
                </a:gridCol>
                <a:gridCol w="1992985">
                  <a:extLst>
                    <a:ext uri="{9D8B030D-6E8A-4147-A177-3AD203B41FA5}">
                      <a16:colId xmlns:a16="http://schemas.microsoft.com/office/drawing/2014/main" val="2419663802"/>
                    </a:ext>
                  </a:extLst>
                </a:gridCol>
                <a:gridCol w="1874199">
                  <a:extLst>
                    <a:ext uri="{9D8B030D-6E8A-4147-A177-3AD203B41FA5}">
                      <a16:colId xmlns:a16="http://schemas.microsoft.com/office/drawing/2014/main" val="2396525568"/>
                    </a:ext>
                  </a:extLst>
                </a:gridCol>
              </a:tblGrid>
              <a:tr h="370840">
                <a:tc>
                  <a:txBody>
                    <a:bodyPr/>
                    <a:lstStyle/>
                    <a:p>
                      <a:pPr marL="0" lvl="2" indent="0"/>
                      <a:r>
                        <a:rPr lang="en-US" sz="2000" b="0" kern="1200" dirty="0">
                          <a:solidFill>
                            <a:schemeClr val="tx1"/>
                          </a:solidFill>
                        </a:rPr>
                        <a:t>D1= {</a:t>
                      </a:r>
                      <a:r>
                        <a:rPr lang="en-US" sz="2000" b="1" kern="1200" dirty="0">
                          <a:solidFill>
                            <a:srgbClr val="FF0000"/>
                          </a:solidFill>
                        </a:rPr>
                        <a:t>R</a:t>
                      </a:r>
                      <a:r>
                        <a:rPr lang="en-US" sz="2000" b="0" kern="1200" dirty="0">
                          <a:solidFill>
                            <a:schemeClr val="tx1"/>
                          </a:solidFill>
                        </a:rPr>
                        <a:t>, </a:t>
                      </a:r>
                      <a:r>
                        <a:rPr lang="en-US" sz="2000" b="1" kern="1200" dirty="0">
                          <a:solidFill>
                            <a:srgbClr val="00B050"/>
                          </a:solidFill>
                        </a:rPr>
                        <a:t>G</a:t>
                      </a:r>
                      <a:r>
                        <a:rPr lang="en-US" sz="2000" b="0" kern="1200" dirty="0">
                          <a:solidFill>
                            <a:schemeClr val="tx1"/>
                          </a:solidFill>
                        </a:rPr>
                        <a:t> , </a:t>
                      </a:r>
                      <a:r>
                        <a:rPr lang="en-US" sz="2000" b="1" kern="1200" dirty="0">
                          <a:solidFill>
                            <a:srgbClr val="FFCC00"/>
                          </a:solidFill>
                        </a:rPr>
                        <a:t>Y</a:t>
                      </a:r>
                      <a:r>
                        <a:rPr lang="en-US" sz="2000" b="0" kern="1200" dirty="0">
                          <a:solidFill>
                            <a:schemeClr val="tx1"/>
                          </a:solidFill>
                        </a:rPr>
                        <a:t> , </a:t>
                      </a:r>
                      <a:r>
                        <a:rPr lang="en-US" sz="2000" b="1" kern="1200" dirty="0">
                          <a:solidFill>
                            <a:srgbClr val="0000CC"/>
                          </a:solidFill>
                        </a:rPr>
                        <a:t>B</a:t>
                      </a:r>
                      <a:r>
                        <a:rPr lang="en-US" sz="2000" b="0" kern="1200" dirty="0">
                          <a:solidFill>
                            <a:schemeClr val="tx1"/>
                          </a:solidFill>
                        </a:rPr>
                        <a:t>}</a:t>
                      </a:r>
                      <a:endParaRPr lang="en-US" sz="2000" b="0" kern="1200" dirty="0">
                        <a:solidFill>
                          <a:schemeClr val="tx1"/>
                        </a:solidFill>
                        <a:latin typeface="+mn-lt"/>
                        <a:ea typeface="+mn-ea"/>
                        <a:cs typeface="+mn-cs"/>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rPr>
                        <a:t>D2= {</a:t>
                      </a:r>
                      <a:r>
                        <a:rPr lang="en-US" sz="2000" b="1" kern="1200" dirty="0">
                          <a:solidFill>
                            <a:srgbClr val="FF0000"/>
                          </a:solidFill>
                        </a:rPr>
                        <a:t>R</a:t>
                      </a:r>
                      <a:r>
                        <a:rPr lang="en-US" sz="2000" b="0" kern="1200" dirty="0">
                          <a:solidFill>
                            <a:schemeClr val="tx1"/>
                          </a:solidFill>
                        </a:rPr>
                        <a:t>, </a:t>
                      </a:r>
                      <a:r>
                        <a:rPr lang="en-US" sz="2000" b="1" kern="1200" dirty="0">
                          <a:solidFill>
                            <a:srgbClr val="00B050"/>
                          </a:solidFill>
                        </a:rPr>
                        <a:t>G</a:t>
                      </a:r>
                      <a:r>
                        <a:rPr lang="en-US" sz="2000" b="0" kern="1200" dirty="0">
                          <a:solidFill>
                            <a:schemeClr val="tx1"/>
                          </a:solidFill>
                        </a:rPr>
                        <a:t> , </a:t>
                      </a:r>
                      <a:r>
                        <a:rPr lang="en-US" sz="2000" b="1" kern="1200" dirty="0">
                          <a:solidFill>
                            <a:srgbClr val="FFCC00"/>
                          </a:solidFill>
                        </a:rPr>
                        <a:t>Y</a:t>
                      </a:r>
                      <a:r>
                        <a:rPr lang="en-US" sz="2000" b="0" kern="1200" dirty="0">
                          <a:solidFill>
                            <a:schemeClr val="tx1"/>
                          </a:solidFill>
                        </a:rPr>
                        <a:t> , </a:t>
                      </a:r>
                      <a:r>
                        <a:rPr lang="en-US" sz="2000" b="1" kern="1200" dirty="0">
                          <a:solidFill>
                            <a:srgbClr val="0000CC"/>
                          </a:solidFill>
                        </a:rPr>
                        <a:t>B</a:t>
                      </a:r>
                      <a:r>
                        <a:rPr lang="en-US" sz="2000" b="0" kern="1200" dirty="0">
                          <a:solidFill>
                            <a:schemeClr val="tx1"/>
                          </a:solidFill>
                        </a:rPr>
                        <a:t>}</a:t>
                      </a:r>
                      <a:endParaRPr lang="en-US" sz="2000" b="0" kern="1200" dirty="0">
                        <a:solidFill>
                          <a:schemeClr val="tx1"/>
                        </a:solidFill>
                        <a:latin typeface="+mn-lt"/>
                        <a:ea typeface="+mn-ea"/>
                        <a:cs typeface="+mn-cs"/>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rPr>
                        <a:t>D3= {</a:t>
                      </a:r>
                      <a:r>
                        <a:rPr lang="en-US" sz="2000" b="1" kern="1200" dirty="0">
                          <a:solidFill>
                            <a:srgbClr val="0000CC"/>
                          </a:solidFill>
                        </a:rPr>
                        <a:t>B</a:t>
                      </a:r>
                      <a:r>
                        <a:rPr lang="en-US" sz="2000" b="0" kern="1200" dirty="0">
                          <a:solidFill>
                            <a:schemeClr val="tx1"/>
                          </a:solidFill>
                        </a:rPr>
                        <a:t>, </a:t>
                      </a:r>
                      <a:r>
                        <a:rPr lang="en-US" sz="2000" b="1" kern="1200" dirty="0">
                          <a:solidFill>
                            <a:srgbClr val="00B050"/>
                          </a:solidFill>
                        </a:rPr>
                        <a:t>G</a:t>
                      </a:r>
                      <a:r>
                        <a:rPr lang="en-US" sz="2000" b="0" kern="1200" dirty="0">
                          <a:solidFill>
                            <a:schemeClr val="tx1"/>
                          </a:solidFill>
                        </a:rPr>
                        <a:t>, </a:t>
                      </a:r>
                      <a:r>
                        <a:rPr lang="en-US" sz="2000" b="1" kern="1200" dirty="0">
                          <a:solidFill>
                            <a:srgbClr val="FFCC00"/>
                          </a:solidFill>
                        </a:rPr>
                        <a:t>Y, </a:t>
                      </a:r>
                      <a:r>
                        <a:rPr lang="en-US" sz="2000" b="1" kern="1200" dirty="0">
                          <a:solidFill>
                            <a:srgbClr val="FF0000"/>
                          </a:solidFill>
                        </a:rPr>
                        <a:t>R</a:t>
                      </a:r>
                      <a:r>
                        <a:rPr lang="en-US" sz="2000" b="0" kern="1200" dirty="0">
                          <a:solidFill>
                            <a:schemeClr val="tx1"/>
                          </a:solidFill>
                        </a:rPr>
                        <a:t>}</a:t>
                      </a:r>
                      <a:endParaRPr lang="en-US" sz="2000" b="0" kern="1200" dirty="0">
                        <a:solidFill>
                          <a:schemeClr val="tx1"/>
                        </a:solidFill>
                        <a:latin typeface="+mn-lt"/>
                        <a:ea typeface="+mn-ea"/>
                        <a:cs typeface="+mn-cs"/>
                      </a:endParaRPr>
                    </a:p>
                  </a:txBody>
                  <a:tcPr/>
                </a:tc>
                <a:extLst>
                  <a:ext uri="{0D108BD9-81ED-4DB2-BD59-A6C34878D82A}">
                    <a16:rowId xmlns:a16="http://schemas.microsoft.com/office/drawing/2014/main" val="4114288595"/>
                  </a:ext>
                </a:extLst>
              </a:tr>
              <a:tr h="370840">
                <a:tc>
                  <a:txBody>
                    <a:bodyPr/>
                    <a:lstStyle/>
                    <a:p>
                      <a:r>
                        <a:rPr lang="en-US" sz="2000" b="0" kern="1200" dirty="0">
                          <a:solidFill>
                            <a:schemeClr val="tx1"/>
                          </a:solidFill>
                        </a:rPr>
                        <a:t>D4= {</a:t>
                      </a:r>
                      <a:r>
                        <a:rPr lang="en-US" sz="2000" b="1" kern="1200" dirty="0">
                          <a:solidFill>
                            <a:srgbClr val="FF0000"/>
                          </a:solidFill>
                        </a:rPr>
                        <a:t>R</a:t>
                      </a:r>
                      <a:r>
                        <a:rPr lang="en-US" sz="2000" b="0" kern="1200" dirty="0">
                          <a:solidFill>
                            <a:schemeClr val="tx1"/>
                          </a:solidFill>
                        </a:rPr>
                        <a:t>, </a:t>
                      </a:r>
                      <a:r>
                        <a:rPr lang="en-US" sz="2000" b="1" kern="1200" dirty="0">
                          <a:solidFill>
                            <a:srgbClr val="00B050"/>
                          </a:solidFill>
                        </a:rPr>
                        <a:t>G</a:t>
                      </a:r>
                      <a:r>
                        <a:rPr lang="en-US" sz="2000" b="0" kern="1200" dirty="0">
                          <a:solidFill>
                            <a:schemeClr val="tx1"/>
                          </a:solidFill>
                        </a:rPr>
                        <a:t> , </a:t>
                      </a:r>
                      <a:r>
                        <a:rPr lang="en-US" sz="2000" b="1" kern="1200" dirty="0">
                          <a:solidFill>
                            <a:srgbClr val="FFCC00"/>
                          </a:solidFill>
                        </a:rPr>
                        <a:t>Y</a:t>
                      </a:r>
                      <a:r>
                        <a:rPr lang="en-US" sz="2000" b="0" kern="1200" dirty="0">
                          <a:solidFill>
                            <a:schemeClr val="tx1"/>
                          </a:solidFill>
                        </a:rPr>
                        <a:t> , </a:t>
                      </a:r>
                      <a:r>
                        <a:rPr lang="en-US" sz="2000" b="1" kern="1200" dirty="0">
                          <a:solidFill>
                            <a:srgbClr val="0000CC"/>
                          </a:solidFill>
                        </a:rPr>
                        <a:t>B</a:t>
                      </a:r>
                      <a:r>
                        <a:rPr lang="en-US" sz="2000" b="0" kern="1200" dirty="0">
                          <a:solidFill>
                            <a:schemeClr val="tx1"/>
                          </a:solidFill>
                        </a:rPr>
                        <a:t>}</a:t>
                      </a:r>
                      <a:endParaRPr lang="en-US" sz="2000" b="0" dirty="0">
                        <a:solidFill>
                          <a:schemeClr val="tx1"/>
                        </a:solidFill>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rPr>
                        <a:t>D5= {</a:t>
                      </a:r>
                      <a:r>
                        <a:rPr lang="en-US" sz="2000" b="1" kern="1200" dirty="0">
                          <a:solidFill>
                            <a:srgbClr val="FFCC00"/>
                          </a:solidFill>
                        </a:rPr>
                        <a:t>Y</a:t>
                      </a:r>
                      <a:r>
                        <a:rPr lang="en-US" sz="2000" b="0" kern="1200" dirty="0">
                          <a:solidFill>
                            <a:schemeClr val="tx1"/>
                          </a:solidFill>
                        </a:rPr>
                        <a:t> , </a:t>
                      </a:r>
                      <a:r>
                        <a:rPr lang="en-US" sz="2000" b="1" kern="1200" dirty="0">
                          <a:solidFill>
                            <a:srgbClr val="00B050"/>
                          </a:solidFill>
                        </a:rPr>
                        <a:t>G,</a:t>
                      </a:r>
                      <a:r>
                        <a:rPr lang="en-US" sz="2000" b="1" kern="1200" dirty="0">
                          <a:solidFill>
                            <a:srgbClr val="0000CC"/>
                          </a:solidFill>
                        </a:rPr>
                        <a:t> </a:t>
                      </a:r>
                      <a:r>
                        <a:rPr lang="en-US" sz="2000" b="1" kern="1200" dirty="0">
                          <a:solidFill>
                            <a:srgbClr val="FF0000"/>
                          </a:solidFill>
                        </a:rPr>
                        <a:t>R</a:t>
                      </a:r>
                      <a:r>
                        <a:rPr lang="en-US" sz="2000" b="0" kern="1200" dirty="0">
                          <a:solidFill>
                            <a:schemeClr val="tx1"/>
                          </a:solidFill>
                        </a:rPr>
                        <a:t>,</a:t>
                      </a:r>
                      <a:r>
                        <a:rPr lang="en-US" sz="2000" b="1" kern="1200" dirty="0">
                          <a:solidFill>
                            <a:srgbClr val="0000CC"/>
                          </a:solidFill>
                        </a:rPr>
                        <a:t> B</a:t>
                      </a:r>
                      <a:r>
                        <a:rPr lang="en-US" sz="2000" b="0" kern="1200" dirty="0">
                          <a:solidFill>
                            <a:schemeClr val="tx1"/>
                          </a:solidFill>
                        </a:rPr>
                        <a:t>} </a:t>
                      </a:r>
                      <a:endParaRPr lang="en-US" sz="2000" b="0" dirty="0">
                        <a:solidFill>
                          <a:schemeClr val="tx1"/>
                        </a:solidFill>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rPr>
                        <a:t>D6= {</a:t>
                      </a:r>
                      <a:r>
                        <a:rPr lang="en-US" sz="2000" b="1" kern="1200" dirty="0">
                          <a:solidFill>
                            <a:srgbClr val="FF0000"/>
                          </a:solidFill>
                        </a:rPr>
                        <a:t>R</a:t>
                      </a:r>
                      <a:r>
                        <a:rPr lang="en-US" sz="2000" b="0" kern="1200" dirty="0">
                          <a:solidFill>
                            <a:schemeClr val="tx1"/>
                          </a:solidFill>
                        </a:rPr>
                        <a:t>, </a:t>
                      </a:r>
                      <a:r>
                        <a:rPr lang="en-US" sz="2000" b="1" kern="1200" dirty="0">
                          <a:solidFill>
                            <a:srgbClr val="00B050"/>
                          </a:solidFill>
                        </a:rPr>
                        <a:t>G</a:t>
                      </a:r>
                      <a:r>
                        <a:rPr lang="en-US" sz="2000" b="0" kern="1200" dirty="0">
                          <a:solidFill>
                            <a:schemeClr val="tx1"/>
                          </a:solidFill>
                        </a:rPr>
                        <a:t> , </a:t>
                      </a:r>
                      <a:r>
                        <a:rPr lang="en-US" sz="2000" b="1" kern="1200" dirty="0">
                          <a:solidFill>
                            <a:srgbClr val="FFCC00"/>
                          </a:solidFill>
                        </a:rPr>
                        <a:t>Y</a:t>
                      </a:r>
                      <a:r>
                        <a:rPr lang="en-US" sz="2000" b="0" kern="1200" dirty="0">
                          <a:solidFill>
                            <a:schemeClr val="tx1"/>
                          </a:solidFill>
                        </a:rPr>
                        <a:t> , </a:t>
                      </a:r>
                      <a:r>
                        <a:rPr lang="en-US" sz="2000" b="1" kern="1200" dirty="0">
                          <a:solidFill>
                            <a:srgbClr val="0000CC"/>
                          </a:solidFill>
                        </a:rPr>
                        <a:t>B</a:t>
                      </a:r>
                      <a:r>
                        <a:rPr lang="en-US" sz="2000" b="0" kern="1200" dirty="0">
                          <a:solidFill>
                            <a:schemeClr val="tx1"/>
                          </a:solidFill>
                        </a:rPr>
                        <a:t>}</a:t>
                      </a:r>
                      <a:endParaRPr lang="en-US" sz="2000" b="0" dirty="0">
                        <a:solidFill>
                          <a:schemeClr val="tx1"/>
                        </a:solidFill>
                      </a:endParaRPr>
                    </a:p>
                  </a:txBody>
                  <a:tcPr/>
                </a:tc>
                <a:extLst>
                  <a:ext uri="{0D108BD9-81ED-4DB2-BD59-A6C34878D82A}">
                    <a16:rowId xmlns:a16="http://schemas.microsoft.com/office/drawing/2014/main" val="662398969"/>
                  </a:ext>
                </a:extLst>
              </a:tr>
            </a:tbl>
          </a:graphicData>
        </a:graphic>
      </p:graphicFrame>
      <p:pic>
        <p:nvPicPr>
          <p:cNvPr id="16" name="Picture 15">
            <a:extLst>
              <a:ext uri="{FF2B5EF4-FFF2-40B4-BE49-F238E27FC236}">
                <a16:creationId xmlns:a16="http://schemas.microsoft.com/office/drawing/2014/main" id="{1B83CCAF-DAE0-9DF2-783E-9A27D12F0739}"/>
              </a:ext>
            </a:extLst>
          </p:cNvPr>
          <p:cNvPicPr>
            <a:picLocks noChangeAspect="1"/>
          </p:cNvPicPr>
          <p:nvPr/>
        </p:nvPicPr>
        <p:blipFill>
          <a:blip r:embed="rId3"/>
          <a:stretch>
            <a:fillRect/>
          </a:stretch>
        </p:blipFill>
        <p:spPr>
          <a:xfrm>
            <a:off x="7349038" y="1152843"/>
            <a:ext cx="4553928" cy="3794940"/>
          </a:xfrm>
          <a:prstGeom prst="rect">
            <a:avLst/>
          </a:prstGeom>
        </p:spPr>
      </p:pic>
    </p:spTree>
    <p:extLst>
      <p:ext uri="{BB962C8B-B14F-4D97-AF65-F5344CB8AC3E}">
        <p14:creationId xmlns:p14="http://schemas.microsoft.com/office/powerpoint/2010/main" val="20613376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1B01C-E180-3A93-AEC7-9F2689C5EDD5}"/>
              </a:ext>
            </a:extLst>
          </p:cNvPr>
          <p:cNvSpPr>
            <a:spLocks noGrp="1"/>
          </p:cNvSpPr>
          <p:nvPr>
            <p:ph type="title"/>
          </p:nvPr>
        </p:nvSpPr>
        <p:spPr/>
        <p:txBody>
          <a:bodyPr>
            <a:normAutofit fontScale="90000"/>
          </a:bodyPr>
          <a:lstStyle/>
          <a:p>
            <a:r>
              <a:rPr lang="en-US" dirty="0"/>
              <a:t>CSP Examples 2: Map-coloring – Backtracking </a:t>
            </a:r>
          </a:p>
        </p:txBody>
      </p:sp>
      <p:sp>
        <p:nvSpPr>
          <p:cNvPr id="3" name="Content Placeholder 2">
            <a:extLst>
              <a:ext uri="{FF2B5EF4-FFF2-40B4-BE49-F238E27FC236}">
                <a16:creationId xmlns:a16="http://schemas.microsoft.com/office/drawing/2014/main" id="{CB65FCAA-279D-7AF8-32CF-69293CA96886}"/>
              </a:ext>
            </a:extLst>
          </p:cNvPr>
          <p:cNvSpPr>
            <a:spLocks noGrp="1"/>
          </p:cNvSpPr>
          <p:nvPr>
            <p:ph idx="1"/>
          </p:nvPr>
        </p:nvSpPr>
        <p:spPr/>
        <p:txBody>
          <a:bodyPr/>
          <a:lstStyle/>
          <a:p>
            <a:r>
              <a:rPr lang="en-US" dirty="0"/>
              <a:t>Convert the map into a graph:</a:t>
            </a:r>
          </a:p>
          <a:p>
            <a:pPr marL="76198" indent="0">
              <a:buNone/>
            </a:pPr>
            <a:endParaRPr lang="en-US" dirty="0"/>
          </a:p>
        </p:txBody>
      </p:sp>
      <p:sp>
        <p:nvSpPr>
          <p:cNvPr id="4" name="Date Placeholder 3">
            <a:extLst>
              <a:ext uri="{FF2B5EF4-FFF2-40B4-BE49-F238E27FC236}">
                <a16:creationId xmlns:a16="http://schemas.microsoft.com/office/drawing/2014/main" id="{8000B33D-59EE-4990-586F-01394C0EBDE4}"/>
              </a:ext>
            </a:extLst>
          </p:cNvPr>
          <p:cNvSpPr>
            <a:spLocks noGrp="1"/>
          </p:cNvSpPr>
          <p:nvPr>
            <p:ph type="dt" sz="half" idx="10"/>
          </p:nvPr>
        </p:nvSpPr>
        <p:spPr/>
        <p:txBody>
          <a:bodyPr/>
          <a:lstStyle/>
          <a:p>
            <a:fld id="{C2EBCB3B-0D71-481E-A68B-9B57A6B53C51}" type="datetime1">
              <a:rPr lang="en-US" smtClean="0"/>
              <a:t>10/16/2022</a:t>
            </a:fld>
            <a:endParaRPr lang="en-US" dirty="0"/>
          </a:p>
        </p:txBody>
      </p:sp>
      <p:sp>
        <p:nvSpPr>
          <p:cNvPr id="5" name="Footer Placeholder 4">
            <a:extLst>
              <a:ext uri="{FF2B5EF4-FFF2-40B4-BE49-F238E27FC236}">
                <a16:creationId xmlns:a16="http://schemas.microsoft.com/office/drawing/2014/main" id="{858146C9-2D8E-54DD-1F88-4DAE315661C7}"/>
              </a:ext>
            </a:extLst>
          </p:cNvPr>
          <p:cNvSpPr>
            <a:spLocks noGrp="1"/>
          </p:cNvSpPr>
          <p:nvPr>
            <p:ph type="ftr" sz="quarter" idx="11"/>
          </p:nvPr>
        </p:nvSpPr>
        <p:spPr/>
        <p:txBody>
          <a:bodyPr/>
          <a:lstStyle/>
          <a:p>
            <a:r>
              <a:rPr lang="en-US"/>
              <a:t>Introduction to AI</a:t>
            </a:r>
            <a:endParaRPr lang="en-US" dirty="0"/>
          </a:p>
        </p:txBody>
      </p:sp>
      <p:sp>
        <p:nvSpPr>
          <p:cNvPr id="6" name="Slide Number Placeholder 5">
            <a:extLst>
              <a:ext uri="{FF2B5EF4-FFF2-40B4-BE49-F238E27FC236}">
                <a16:creationId xmlns:a16="http://schemas.microsoft.com/office/drawing/2014/main" id="{B21C5F34-7989-C5B1-62E7-E98B2E0F2C82}"/>
              </a:ext>
            </a:extLst>
          </p:cNvPr>
          <p:cNvSpPr>
            <a:spLocks noGrp="1"/>
          </p:cNvSpPr>
          <p:nvPr>
            <p:ph type="sldNum" sz="quarter" idx="12"/>
          </p:nvPr>
        </p:nvSpPr>
        <p:spPr/>
        <p:txBody>
          <a:bodyPr/>
          <a:lstStyle/>
          <a:p>
            <a:fld id="{B7884E68-CE57-44C0-BE0F-84C629DF22D5}" type="slidenum">
              <a:rPr lang="en-US" smtClean="0"/>
              <a:t>22</a:t>
            </a:fld>
            <a:endParaRPr lang="en-US" dirty="0"/>
          </a:p>
        </p:txBody>
      </p:sp>
      <p:pic>
        <p:nvPicPr>
          <p:cNvPr id="7" name="Picture 6" descr="Map&#10;&#10;Description automatically generated">
            <a:extLst>
              <a:ext uri="{FF2B5EF4-FFF2-40B4-BE49-F238E27FC236}">
                <a16:creationId xmlns:a16="http://schemas.microsoft.com/office/drawing/2014/main" id="{77172C27-A9D6-7184-1914-FF2CFBE2B2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537" y="2026177"/>
            <a:ext cx="3840480" cy="3200400"/>
          </a:xfrm>
          <a:prstGeom prst="rect">
            <a:avLst/>
          </a:prstGeom>
        </p:spPr>
      </p:pic>
      <p:sp>
        <p:nvSpPr>
          <p:cNvPr id="10" name="Arrow: Right 6">
            <a:extLst>
              <a:ext uri="{FF2B5EF4-FFF2-40B4-BE49-F238E27FC236}">
                <a16:creationId xmlns:a16="http://schemas.microsoft.com/office/drawing/2014/main" id="{A1432B47-F6AB-3696-00AE-18E70881A0CF}"/>
              </a:ext>
            </a:extLst>
          </p:cNvPr>
          <p:cNvSpPr/>
          <p:nvPr/>
        </p:nvSpPr>
        <p:spPr>
          <a:xfrm>
            <a:off x="5162991" y="3583600"/>
            <a:ext cx="511207" cy="3110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8954A2B3-94A9-00B6-3943-A3119A993DD1}"/>
              </a:ext>
            </a:extLst>
          </p:cNvPr>
          <p:cNvPicPr>
            <a:picLocks noChangeAspect="1"/>
          </p:cNvPicPr>
          <p:nvPr/>
        </p:nvPicPr>
        <p:blipFill>
          <a:blip r:embed="rId4"/>
          <a:stretch>
            <a:fillRect/>
          </a:stretch>
        </p:blipFill>
        <p:spPr>
          <a:xfrm>
            <a:off x="5854619" y="1844684"/>
            <a:ext cx="2926080" cy="3487972"/>
          </a:xfrm>
          <a:prstGeom prst="rect">
            <a:avLst/>
          </a:prstGeom>
        </p:spPr>
      </p:pic>
      <p:pic>
        <p:nvPicPr>
          <p:cNvPr id="20" name="Picture 19">
            <a:extLst>
              <a:ext uri="{FF2B5EF4-FFF2-40B4-BE49-F238E27FC236}">
                <a16:creationId xmlns:a16="http://schemas.microsoft.com/office/drawing/2014/main" id="{268B61D7-8B58-739F-B5E0-E954AF278A38}"/>
              </a:ext>
            </a:extLst>
          </p:cNvPr>
          <p:cNvPicPr>
            <a:picLocks noChangeAspect="1"/>
          </p:cNvPicPr>
          <p:nvPr/>
        </p:nvPicPr>
        <p:blipFill>
          <a:blip r:embed="rId5"/>
          <a:stretch>
            <a:fillRect/>
          </a:stretch>
        </p:blipFill>
        <p:spPr>
          <a:xfrm>
            <a:off x="660537" y="2032000"/>
            <a:ext cx="3840480" cy="3200400"/>
          </a:xfrm>
          <a:prstGeom prst="rect">
            <a:avLst/>
          </a:prstGeom>
        </p:spPr>
      </p:pic>
      <p:sp>
        <p:nvSpPr>
          <p:cNvPr id="21" name="TextBox 20">
            <a:extLst>
              <a:ext uri="{FF2B5EF4-FFF2-40B4-BE49-F238E27FC236}">
                <a16:creationId xmlns:a16="http://schemas.microsoft.com/office/drawing/2014/main" id="{B5A462CA-FF03-63C1-F123-CB6FC49799A7}"/>
              </a:ext>
            </a:extLst>
          </p:cNvPr>
          <p:cNvSpPr txBox="1"/>
          <p:nvPr/>
        </p:nvSpPr>
        <p:spPr>
          <a:xfrm>
            <a:off x="10714785" y="3346071"/>
            <a:ext cx="779765" cy="369332"/>
          </a:xfrm>
          <a:prstGeom prst="rect">
            <a:avLst/>
          </a:prstGeom>
          <a:noFill/>
        </p:spPr>
        <p:txBody>
          <a:bodyPr wrap="none" rtlCol="0">
            <a:spAutoFit/>
          </a:bodyPr>
          <a:lstStyle/>
          <a:p>
            <a:r>
              <a:rPr lang="en-US" b="1" dirty="0"/>
              <a:t>Step 0</a:t>
            </a:r>
          </a:p>
        </p:txBody>
      </p:sp>
      <p:graphicFrame>
        <p:nvGraphicFramePr>
          <p:cNvPr id="13" name="Table 12">
            <a:extLst>
              <a:ext uri="{FF2B5EF4-FFF2-40B4-BE49-F238E27FC236}">
                <a16:creationId xmlns:a16="http://schemas.microsoft.com/office/drawing/2014/main" id="{7AF44FEB-BD62-4AB5-BB6E-B83008983439}"/>
              </a:ext>
            </a:extLst>
          </p:cNvPr>
          <p:cNvGraphicFramePr>
            <a:graphicFrameLocks noGrp="1"/>
          </p:cNvGraphicFramePr>
          <p:nvPr/>
        </p:nvGraphicFramePr>
        <p:xfrm>
          <a:off x="7559040" y="1228153"/>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
        <p:nvSpPr>
          <p:cNvPr id="8" name="Rectangle 7">
            <a:extLst>
              <a:ext uri="{FF2B5EF4-FFF2-40B4-BE49-F238E27FC236}">
                <a16:creationId xmlns:a16="http://schemas.microsoft.com/office/drawing/2014/main" id="{2078B07D-33FB-4263-91B8-A4A06FBA02ED}"/>
              </a:ext>
            </a:extLst>
          </p:cNvPr>
          <p:cNvSpPr/>
          <p:nvPr/>
        </p:nvSpPr>
        <p:spPr>
          <a:xfrm>
            <a:off x="347453" y="5512700"/>
            <a:ext cx="7958798" cy="757130"/>
          </a:xfrm>
          <a:prstGeom prst="rect">
            <a:avLst/>
          </a:prstGeom>
        </p:spPr>
        <p:txBody>
          <a:bodyPr wrap="square">
            <a:spAutoFit/>
          </a:bodyPr>
          <a:lstStyle/>
          <a:p>
            <a:pPr algn="ctr" defTabSz="914377">
              <a:lnSpc>
                <a:spcPct val="90000"/>
              </a:lnSpc>
              <a:spcBef>
                <a:spcPts val="200"/>
              </a:spcBef>
              <a:spcAft>
                <a:spcPts val="400"/>
              </a:spcAft>
              <a:buClr>
                <a:srgbClr val="3494BA"/>
              </a:buClr>
            </a:pPr>
            <a:r>
              <a:rPr lang="en-US" sz="2400" dirty="0">
                <a:solidFill>
                  <a:prstClr val="black"/>
                </a:solidFill>
              </a:rPr>
              <a:t>A constraint is represented as an edge connecting two nodes in a graph</a:t>
            </a:r>
          </a:p>
        </p:txBody>
      </p:sp>
      <p:sp>
        <p:nvSpPr>
          <p:cNvPr id="14" name="Rectangle 13">
            <a:extLst>
              <a:ext uri="{FF2B5EF4-FFF2-40B4-BE49-F238E27FC236}">
                <a16:creationId xmlns:a16="http://schemas.microsoft.com/office/drawing/2014/main" id="{F517F1DA-8BB6-4F71-BDAD-4EE31DFFCE0C}"/>
              </a:ext>
            </a:extLst>
          </p:cNvPr>
          <p:cNvSpPr/>
          <p:nvPr/>
        </p:nvSpPr>
        <p:spPr>
          <a:xfrm>
            <a:off x="8306251" y="5212310"/>
            <a:ext cx="3761370" cy="1077218"/>
          </a:xfrm>
          <a:prstGeom prst="rect">
            <a:avLst/>
          </a:prstGeom>
        </p:spPr>
        <p:txBody>
          <a:bodyPr wrap="square" numCol="3">
            <a:spAutoFit/>
          </a:bodyPr>
          <a:lstStyle/>
          <a:p>
            <a:pPr algn="ctr">
              <a:spcBef>
                <a:spcPts val="600"/>
              </a:spcBef>
            </a:pPr>
            <a:r>
              <a:rPr lang="en-US" dirty="0">
                <a:cs typeface="+mj-cs"/>
              </a:rPr>
              <a:t>V1!=V2</a:t>
            </a:r>
          </a:p>
          <a:p>
            <a:pPr algn="ctr">
              <a:spcBef>
                <a:spcPts val="600"/>
              </a:spcBef>
            </a:pPr>
            <a:r>
              <a:rPr lang="en-US" dirty="0">
                <a:cs typeface="+mj-cs"/>
              </a:rPr>
              <a:t>V2!=V6</a:t>
            </a:r>
          </a:p>
          <a:p>
            <a:pPr algn="ctr">
              <a:spcBef>
                <a:spcPts val="600"/>
              </a:spcBef>
            </a:pPr>
            <a:r>
              <a:rPr lang="en-US" dirty="0">
                <a:cs typeface="+mj-cs"/>
              </a:rPr>
              <a:t>V4!=V5</a:t>
            </a:r>
          </a:p>
          <a:p>
            <a:pPr algn="ctr">
              <a:spcBef>
                <a:spcPts val="600"/>
              </a:spcBef>
            </a:pPr>
            <a:r>
              <a:rPr lang="en-US" dirty="0">
                <a:cs typeface="+mj-cs"/>
              </a:rPr>
              <a:t>V1!=V6</a:t>
            </a:r>
            <a:endParaRPr lang="ar-SA" dirty="0">
              <a:cs typeface="+mj-cs"/>
            </a:endParaRPr>
          </a:p>
          <a:p>
            <a:pPr algn="ctr">
              <a:spcBef>
                <a:spcPts val="600"/>
              </a:spcBef>
            </a:pPr>
            <a:r>
              <a:rPr lang="en-US" dirty="0">
                <a:cs typeface="+mj-cs"/>
              </a:rPr>
              <a:t>V3!=V4</a:t>
            </a:r>
            <a:endParaRPr lang="ar-SA" dirty="0">
              <a:cs typeface="+mj-cs"/>
            </a:endParaRPr>
          </a:p>
          <a:p>
            <a:pPr algn="ctr">
              <a:spcBef>
                <a:spcPts val="600"/>
              </a:spcBef>
            </a:pPr>
            <a:r>
              <a:rPr lang="en-US" dirty="0">
                <a:cs typeface="+mj-cs"/>
              </a:rPr>
              <a:t>V4!=V6</a:t>
            </a:r>
            <a:endParaRPr lang="ar-SA" dirty="0">
              <a:cs typeface="+mj-cs"/>
            </a:endParaRPr>
          </a:p>
          <a:p>
            <a:pPr algn="ctr">
              <a:spcBef>
                <a:spcPts val="600"/>
              </a:spcBef>
            </a:pPr>
            <a:r>
              <a:rPr lang="en-US" dirty="0">
                <a:cs typeface="+mj-cs"/>
              </a:rPr>
              <a:t>V2!=V3</a:t>
            </a:r>
            <a:endParaRPr lang="ar-SA" dirty="0">
              <a:cs typeface="+mj-cs"/>
            </a:endParaRPr>
          </a:p>
          <a:p>
            <a:pPr algn="ctr">
              <a:spcBef>
                <a:spcPts val="600"/>
              </a:spcBef>
            </a:pPr>
            <a:r>
              <a:rPr lang="en-US" dirty="0">
                <a:cs typeface="+mj-cs"/>
              </a:rPr>
              <a:t>V3!=V6</a:t>
            </a:r>
            <a:endParaRPr lang="ar-SA" dirty="0">
              <a:cs typeface="+mj-cs"/>
            </a:endParaRPr>
          </a:p>
          <a:p>
            <a:pPr algn="ctr">
              <a:spcBef>
                <a:spcPts val="600"/>
              </a:spcBef>
            </a:pPr>
            <a:r>
              <a:rPr lang="en-US" dirty="0">
                <a:cs typeface="+mj-cs"/>
              </a:rPr>
              <a:t>V5!=V6</a:t>
            </a:r>
          </a:p>
        </p:txBody>
      </p:sp>
    </p:spTree>
    <p:extLst>
      <p:ext uri="{BB962C8B-B14F-4D97-AF65-F5344CB8AC3E}">
        <p14:creationId xmlns:p14="http://schemas.microsoft.com/office/powerpoint/2010/main" val="91167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down)">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Examples 2: Map-coloring – Backtracking</a:t>
            </a:r>
          </a:p>
        </p:txBody>
      </p:sp>
      <p:sp>
        <p:nvSpPr>
          <p:cNvPr id="3" name="Content Placeholder 2"/>
          <p:cNvSpPr>
            <a:spLocks noGrp="1"/>
          </p:cNvSpPr>
          <p:nvPr>
            <p:ph idx="1"/>
          </p:nvPr>
        </p:nvSpPr>
        <p:spPr>
          <a:xfrm>
            <a:off x="304800" y="1228153"/>
            <a:ext cx="7734300" cy="5021979"/>
          </a:xfrm>
        </p:spPr>
        <p:txBody>
          <a:bodyPr>
            <a:normAutofit/>
          </a:bodyPr>
          <a:lstStyle/>
          <a:p>
            <a:r>
              <a:rPr lang="en-US" dirty="0">
                <a:solidFill>
                  <a:schemeClr val="accent6">
                    <a:lumMod val="75000"/>
                  </a:schemeClr>
                </a:solidFill>
              </a:rPr>
              <a:t>Step 1</a:t>
            </a:r>
            <a:r>
              <a:rPr lang="en-US" b="1" dirty="0"/>
              <a:t>:</a:t>
            </a:r>
            <a:r>
              <a:rPr lang="en-US" dirty="0"/>
              <a:t> Select next unassigned </a:t>
            </a:r>
            <a:r>
              <a:rPr lang="en-US" dirty="0">
                <a:solidFill>
                  <a:srgbClr val="0033CC"/>
                </a:solidFill>
              </a:rPr>
              <a:t>variable in order </a:t>
            </a:r>
            <a:r>
              <a:rPr lang="en-US" dirty="0"/>
              <a:t>from the variable set V={V1, V2, V3, V4, V5, V6}</a:t>
            </a:r>
          </a:p>
          <a:p>
            <a:pPr lvl="2"/>
            <a:r>
              <a:rPr lang="en-US" dirty="0"/>
              <a:t>V1 = </a:t>
            </a:r>
            <a:r>
              <a:rPr lang="en-US" sz="2400" b="1" i="1" dirty="0">
                <a:latin typeface="Segoe Print" panose="02000600000000000000" pitchFamily="2" charset="0"/>
              </a:rPr>
              <a:t>Tabuk</a:t>
            </a:r>
            <a:r>
              <a:rPr lang="en-US" dirty="0"/>
              <a:t> </a:t>
            </a:r>
          </a:p>
          <a:p>
            <a:r>
              <a:rPr lang="en-US" dirty="0">
                <a:solidFill>
                  <a:schemeClr val="accent6">
                    <a:lumMod val="75000"/>
                  </a:schemeClr>
                </a:solidFill>
              </a:rPr>
              <a:t>Step 2</a:t>
            </a:r>
            <a:r>
              <a:rPr lang="en-US" b="1" dirty="0"/>
              <a:t>:</a:t>
            </a:r>
            <a:r>
              <a:rPr lang="en-US" dirty="0"/>
              <a:t> Color the selected variable (region) with the </a:t>
            </a:r>
            <a:r>
              <a:rPr lang="en-US" dirty="0">
                <a:solidFill>
                  <a:srgbClr val="0033CC"/>
                </a:solidFill>
              </a:rPr>
              <a:t>first value </a:t>
            </a:r>
            <a:r>
              <a:rPr lang="en-US" dirty="0"/>
              <a:t>in the domain;</a:t>
            </a:r>
            <a:r>
              <a:rPr lang="en-US" b="1" dirty="0"/>
              <a:t> </a:t>
            </a:r>
            <a:r>
              <a:rPr lang="en-US" b="1" dirty="0">
                <a:solidFill>
                  <a:srgbClr val="FF0000"/>
                </a:solidFill>
              </a:rPr>
              <a:t>R</a:t>
            </a:r>
            <a:r>
              <a:rPr lang="en-US" dirty="0"/>
              <a:t>.</a:t>
            </a:r>
          </a:p>
          <a:p>
            <a:r>
              <a:rPr lang="en-US" dirty="0">
                <a:solidFill>
                  <a:schemeClr val="accent6">
                    <a:lumMod val="75000"/>
                  </a:schemeClr>
                </a:solidFill>
              </a:rPr>
              <a:t>Step 3:</a:t>
            </a:r>
            <a:r>
              <a:rPr lang="en-US" dirty="0"/>
              <a:t> Check all constraints</a:t>
            </a:r>
          </a:p>
          <a:p>
            <a:pPr lvl="1"/>
            <a:r>
              <a:rPr lang="en-US" dirty="0"/>
              <a:t>All constraints are OK.</a:t>
            </a:r>
          </a:p>
        </p:txBody>
      </p:sp>
      <p:sp>
        <p:nvSpPr>
          <p:cNvPr id="4" name="Date Placeholder 3"/>
          <p:cNvSpPr>
            <a:spLocks noGrp="1"/>
          </p:cNvSpPr>
          <p:nvPr>
            <p:ph type="dt" sz="half" idx="10"/>
          </p:nvPr>
        </p:nvSpPr>
        <p:spPr/>
        <p:txBody>
          <a:bodyPr/>
          <a:lstStyle/>
          <a:p>
            <a:fld id="{8CBC46F7-05CD-433B-8160-42F8ECC93F98}"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23</a:t>
            </a:fld>
            <a:endParaRPr lang="en-US" dirty="0"/>
          </a:p>
        </p:txBody>
      </p:sp>
      <p:pic>
        <p:nvPicPr>
          <p:cNvPr id="12" name="Picture 11">
            <a:extLst>
              <a:ext uri="{FF2B5EF4-FFF2-40B4-BE49-F238E27FC236}">
                <a16:creationId xmlns:a16="http://schemas.microsoft.com/office/drawing/2014/main" id="{08EBD770-C241-0872-DD54-AF8AC920245A}"/>
              </a:ext>
            </a:extLst>
          </p:cNvPr>
          <p:cNvPicPr>
            <a:picLocks noChangeAspect="1"/>
          </p:cNvPicPr>
          <p:nvPr/>
        </p:nvPicPr>
        <p:blipFill>
          <a:blip r:embed="rId3"/>
          <a:stretch>
            <a:fillRect/>
          </a:stretch>
        </p:blipFill>
        <p:spPr>
          <a:xfrm>
            <a:off x="7953310" y="1197491"/>
            <a:ext cx="4238690" cy="5052641"/>
          </a:xfrm>
          <a:prstGeom prst="rect">
            <a:avLst/>
          </a:prstGeom>
        </p:spPr>
      </p:pic>
      <p:sp>
        <p:nvSpPr>
          <p:cNvPr id="13" name="TextBox 12">
            <a:extLst>
              <a:ext uri="{FF2B5EF4-FFF2-40B4-BE49-F238E27FC236}">
                <a16:creationId xmlns:a16="http://schemas.microsoft.com/office/drawing/2014/main" id="{9DDDA09A-01E2-FF65-75E3-BDF6ED28A0E8}"/>
              </a:ext>
            </a:extLst>
          </p:cNvPr>
          <p:cNvSpPr txBox="1"/>
          <p:nvPr/>
        </p:nvSpPr>
        <p:spPr>
          <a:xfrm>
            <a:off x="11163300" y="5879292"/>
            <a:ext cx="779765" cy="369332"/>
          </a:xfrm>
          <a:prstGeom prst="rect">
            <a:avLst/>
          </a:prstGeom>
          <a:noFill/>
        </p:spPr>
        <p:txBody>
          <a:bodyPr wrap="none" rtlCol="0">
            <a:spAutoFit/>
          </a:bodyPr>
          <a:lstStyle/>
          <a:p>
            <a:r>
              <a:rPr lang="en-US" b="1" dirty="0"/>
              <a:t>Step 1</a:t>
            </a:r>
          </a:p>
        </p:txBody>
      </p:sp>
      <p:graphicFrame>
        <p:nvGraphicFramePr>
          <p:cNvPr id="10" name="Table 9">
            <a:extLst>
              <a:ext uri="{FF2B5EF4-FFF2-40B4-BE49-F238E27FC236}">
                <a16:creationId xmlns:a16="http://schemas.microsoft.com/office/drawing/2014/main" id="{69040DC6-D28E-4691-AFD1-13427EAC3EFD}"/>
              </a:ext>
            </a:extLst>
          </p:cNvPr>
          <p:cNvGraphicFramePr>
            <a:graphicFrameLocks noGrp="1"/>
          </p:cNvGraphicFramePr>
          <p:nvPr>
            <p:extLst>
              <p:ext uri="{D42A27DB-BD31-4B8C-83A1-F6EECF244321}">
                <p14:modId xmlns:p14="http://schemas.microsoft.com/office/powerpoint/2010/main" val="205978977"/>
              </p:ext>
            </p:extLst>
          </p:nvPr>
        </p:nvGraphicFramePr>
        <p:xfrm>
          <a:off x="5219701" y="5506944"/>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666710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Examples 2: Map-coloring – Backtracking</a:t>
            </a:r>
          </a:p>
        </p:txBody>
      </p:sp>
      <p:sp>
        <p:nvSpPr>
          <p:cNvPr id="3" name="Content Placeholder 2"/>
          <p:cNvSpPr>
            <a:spLocks noGrp="1"/>
          </p:cNvSpPr>
          <p:nvPr>
            <p:ph idx="1"/>
          </p:nvPr>
        </p:nvSpPr>
        <p:spPr>
          <a:xfrm>
            <a:off x="304800" y="1228153"/>
            <a:ext cx="8035159" cy="5021979"/>
          </a:xfrm>
        </p:spPr>
        <p:txBody>
          <a:bodyPr>
            <a:normAutofit lnSpcReduction="10000"/>
          </a:bodyPr>
          <a:lstStyle/>
          <a:p>
            <a:r>
              <a:rPr lang="en-US" dirty="0">
                <a:solidFill>
                  <a:schemeClr val="accent6">
                    <a:lumMod val="75000"/>
                  </a:schemeClr>
                </a:solidFill>
              </a:rPr>
              <a:t>Step 4</a:t>
            </a:r>
            <a:r>
              <a:rPr lang="en-US" b="1" dirty="0"/>
              <a:t>:</a:t>
            </a:r>
            <a:r>
              <a:rPr lang="en-US" dirty="0"/>
              <a:t> Select next unassigned </a:t>
            </a:r>
            <a:r>
              <a:rPr lang="en-US" dirty="0">
                <a:solidFill>
                  <a:srgbClr val="0033CC"/>
                </a:solidFill>
              </a:rPr>
              <a:t>variable in order</a:t>
            </a:r>
            <a:endParaRPr lang="en-US" dirty="0"/>
          </a:p>
          <a:p>
            <a:pPr lvl="2"/>
            <a:r>
              <a:rPr lang="en-US" dirty="0"/>
              <a:t>V2 = </a:t>
            </a:r>
            <a:r>
              <a:rPr lang="en-US" sz="2400" b="1" i="1" dirty="0" err="1">
                <a:latin typeface="Segoe Print" panose="02000600000000000000" pitchFamily="2" charset="0"/>
              </a:rPr>
              <a:t>Ha’il</a:t>
            </a:r>
            <a:r>
              <a:rPr lang="en-US" dirty="0"/>
              <a:t> </a:t>
            </a:r>
          </a:p>
          <a:p>
            <a:r>
              <a:rPr lang="en-US" dirty="0">
                <a:solidFill>
                  <a:schemeClr val="accent6">
                    <a:lumMod val="75000"/>
                  </a:schemeClr>
                </a:solidFill>
              </a:rPr>
              <a:t>Step 5</a:t>
            </a:r>
            <a:r>
              <a:rPr lang="en-US" b="1" dirty="0"/>
              <a:t>:</a:t>
            </a:r>
            <a:r>
              <a:rPr lang="en-US" dirty="0"/>
              <a:t> Color the selected variable (region) with the </a:t>
            </a:r>
            <a:r>
              <a:rPr lang="en-US" dirty="0">
                <a:solidFill>
                  <a:srgbClr val="0033CC"/>
                </a:solidFill>
              </a:rPr>
              <a:t>first value </a:t>
            </a:r>
            <a:r>
              <a:rPr lang="en-US" dirty="0"/>
              <a:t>in the domain; </a:t>
            </a:r>
            <a:r>
              <a:rPr lang="en-US" b="1" dirty="0">
                <a:solidFill>
                  <a:srgbClr val="FF0000"/>
                </a:solidFill>
              </a:rPr>
              <a:t>R</a:t>
            </a:r>
            <a:r>
              <a:rPr lang="en-US" dirty="0"/>
              <a:t>.</a:t>
            </a:r>
          </a:p>
          <a:p>
            <a:r>
              <a:rPr lang="en-US" dirty="0">
                <a:solidFill>
                  <a:schemeClr val="accent6">
                    <a:lumMod val="75000"/>
                  </a:schemeClr>
                </a:solidFill>
              </a:rPr>
              <a:t>Step 6:</a:t>
            </a:r>
            <a:r>
              <a:rPr lang="en-US" dirty="0"/>
              <a:t> Check constraints:</a:t>
            </a:r>
          </a:p>
          <a:p>
            <a:pPr lvl="1"/>
            <a:r>
              <a:rPr lang="en-US" dirty="0"/>
              <a:t>V1 = </a:t>
            </a:r>
            <a:r>
              <a:rPr lang="en-US" b="1" dirty="0">
                <a:solidFill>
                  <a:srgbClr val="FF0000"/>
                </a:solidFill>
              </a:rPr>
              <a:t>R</a:t>
            </a:r>
            <a:r>
              <a:rPr lang="en-US" dirty="0"/>
              <a:t> and V2= </a:t>
            </a:r>
            <a:r>
              <a:rPr lang="en-US" b="1" dirty="0">
                <a:solidFill>
                  <a:srgbClr val="FF0000"/>
                </a:solidFill>
              </a:rPr>
              <a:t>R</a:t>
            </a:r>
            <a:r>
              <a:rPr lang="en-US" b="1" dirty="0"/>
              <a:t>,</a:t>
            </a:r>
            <a:r>
              <a:rPr lang="en-US" b="1" dirty="0">
                <a:solidFill>
                  <a:srgbClr val="FF0000"/>
                </a:solidFill>
              </a:rPr>
              <a:t> </a:t>
            </a:r>
            <a:r>
              <a:rPr lang="en-US" dirty="0"/>
              <a:t>constraint is not met </a:t>
            </a:r>
            <a:r>
              <a:rPr lang="en-US" dirty="0">
                <a:sym typeface="Wingdings" panose="05000000000000000000" pitchFamily="2" charset="2"/>
              </a:rPr>
              <a:t></a:t>
            </a:r>
            <a:r>
              <a:rPr lang="en-US" dirty="0"/>
              <a:t> </a:t>
            </a:r>
            <a:r>
              <a:rPr lang="en-US" dirty="0">
                <a:solidFill>
                  <a:srgbClr val="0033CC"/>
                </a:solidFill>
              </a:rPr>
              <a:t>backtrack </a:t>
            </a:r>
          </a:p>
          <a:p>
            <a:pPr lvl="1"/>
            <a:r>
              <a:rPr lang="en-US" dirty="0"/>
              <a:t>Assign </a:t>
            </a:r>
            <a:r>
              <a:rPr lang="en-US" dirty="0">
                <a:solidFill>
                  <a:srgbClr val="0033CC"/>
                </a:solidFill>
              </a:rPr>
              <a:t>next</a:t>
            </a:r>
            <a:r>
              <a:rPr lang="en-US" dirty="0"/>
              <a:t> color in the domain</a:t>
            </a:r>
            <a:r>
              <a:rPr lang="en-US" dirty="0">
                <a:solidFill>
                  <a:srgbClr val="0033CC"/>
                </a:solidFill>
              </a:rPr>
              <a:t> </a:t>
            </a:r>
            <a:r>
              <a:rPr lang="en-US" b="1" dirty="0">
                <a:solidFill>
                  <a:srgbClr val="00B050"/>
                </a:solidFill>
              </a:rPr>
              <a:t>G</a:t>
            </a:r>
            <a:r>
              <a:rPr lang="en-US" dirty="0">
                <a:solidFill>
                  <a:srgbClr val="00B050"/>
                </a:solidFill>
              </a:rPr>
              <a:t> </a:t>
            </a:r>
          </a:p>
          <a:p>
            <a:pPr lvl="1"/>
            <a:r>
              <a:rPr lang="en-US" dirty="0"/>
              <a:t>all constraints are met.</a:t>
            </a:r>
          </a:p>
        </p:txBody>
      </p:sp>
      <p:sp>
        <p:nvSpPr>
          <p:cNvPr id="4" name="Date Placeholder 3"/>
          <p:cNvSpPr>
            <a:spLocks noGrp="1"/>
          </p:cNvSpPr>
          <p:nvPr>
            <p:ph type="dt" sz="half" idx="10"/>
          </p:nvPr>
        </p:nvSpPr>
        <p:spPr/>
        <p:txBody>
          <a:bodyPr/>
          <a:lstStyle/>
          <a:p>
            <a:fld id="{8CBC46F7-05CD-433B-8160-42F8ECC93F98}"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24</a:t>
            </a:fld>
            <a:endParaRPr lang="en-US" dirty="0"/>
          </a:p>
        </p:txBody>
      </p:sp>
      <p:pic>
        <p:nvPicPr>
          <p:cNvPr id="13" name="Picture 12">
            <a:extLst>
              <a:ext uri="{FF2B5EF4-FFF2-40B4-BE49-F238E27FC236}">
                <a16:creationId xmlns:a16="http://schemas.microsoft.com/office/drawing/2014/main" id="{99F75D7E-DF9D-63D4-C14F-05E9C236D204}"/>
              </a:ext>
            </a:extLst>
          </p:cNvPr>
          <p:cNvPicPr>
            <a:picLocks noChangeAspect="1"/>
          </p:cNvPicPr>
          <p:nvPr/>
        </p:nvPicPr>
        <p:blipFill>
          <a:blip r:embed="rId3"/>
          <a:stretch>
            <a:fillRect/>
          </a:stretch>
        </p:blipFill>
        <p:spPr>
          <a:xfrm>
            <a:off x="7953310" y="1197491"/>
            <a:ext cx="4238690" cy="5052641"/>
          </a:xfrm>
          <a:prstGeom prst="rect">
            <a:avLst/>
          </a:prstGeom>
        </p:spPr>
      </p:pic>
      <p:sp>
        <p:nvSpPr>
          <p:cNvPr id="14" name="TextBox 13">
            <a:extLst>
              <a:ext uri="{FF2B5EF4-FFF2-40B4-BE49-F238E27FC236}">
                <a16:creationId xmlns:a16="http://schemas.microsoft.com/office/drawing/2014/main" id="{BA2E081B-D401-A4A4-4473-37A62F441343}"/>
              </a:ext>
            </a:extLst>
          </p:cNvPr>
          <p:cNvSpPr txBox="1"/>
          <p:nvPr/>
        </p:nvSpPr>
        <p:spPr>
          <a:xfrm>
            <a:off x="11163300" y="5879292"/>
            <a:ext cx="779765" cy="369332"/>
          </a:xfrm>
          <a:prstGeom prst="rect">
            <a:avLst/>
          </a:prstGeom>
          <a:noFill/>
        </p:spPr>
        <p:txBody>
          <a:bodyPr wrap="none" rtlCol="0">
            <a:spAutoFit/>
          </a:bodyPr>
          <a:lstStyle/>
          <a:p>
            <a:r>
              <a:rPr lang="en-US" b="1" dirty="0"/>
              <a:t>Step 2</a:t>
            </a:r>
          </a:p>
        </p:txBody>
      </p:sp>
      <p:graphicFrame>
        <p:nvGraphicFramePr>
          <p:cNvPr id="10" name="Table 9">
            <a:extLst>
              <a:ext uri="{FF2B5EF4-FFF2-40B4-BE49-F238E27FC236}">
                <a16:creationId xmlns:a16="http://schemas.microsoft.com/office/drawing/2014/main" id="{2C9B69FB-875E-4FF4-B1A8-E09243BCBF47}"/>
              </a:ext>
            </a:extLst>
          </p:cNvPr>
          <p:cNvGraphicFramePr>
            <a:graphicFrameLocks noGrp="1"/>
          </p:cNvGraphicFramePr>
          <p:nvPr>
            <p:extLst>
              <p:ext uri="{D42A27DB-BD31-4B8C-83A1-F6EECF244321}">
                <p14:modId xmlns:p14="http://schemas.microsoft.com/office/powerpoint/2010/main" val="3084274356"/>
              </p:ext>
            </p:extLst>
          </p:nvPr>
        </p:nvGraphicFramePr>
        <p:xfrm>
          <a:off x="5219701" y="5506944"/>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3690777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Examples 2: Map-coloring – Backtracking</a:t>
            </a:r>
          </a:p>
        </p:txBody>
      </p:sp>
      <p:sp>
        <p:nvSpPr>
          <p:cNvPr id="3" name="Content Placeholder 2"/>
          <p:cNvSpPr>
            <a:spLocks noGrp="1"/>
          </p:cNvSpPr>
          <p:nvPr>
            <p:ph idx="1"/>
          </p:nvPr>
        </p:nvSpPr>
        <p:spPr>
          <a:xfrm>
            <a:off x="304800" y="1228153"/>
            <a:ext cx="7551313" cy="5021979"/>
          </a:xfrm>
        </p:spPr>
        <p:txBody>
          <a:bodyPr>
            <a:normAutofit/>
          </a:bodyPr>
          <a:lstStyle/>
          <a:p>
            <a:r>
              <a:rPr lang="en-US" dirty="0">
                <a:solidFill>
                  <a:schemeClr val="accent6">
                    <a:lumMod val="75000"/>
                  </a:schemeClr>
                </a:solidFill>
              </a:rPr>
              <a:t>Step 7</a:t>
            </a:r>
            <a:r>
              <a:rPr lang="en-US" b="1" dirty="0"/>
              <a:t>:</a:t>
            </a:r>
            <a:r>
              <a:rPr lang="en-US" dirty="0"/>
              <a:t> Select next unassigned </a:t>
            </a:r>
            <a:r>
              <a:rPr lang="en-US" dirty="0">
                <a:solidFill>
                  <a:srgbClr val="0033CC"/>
                </a:solidFill>
              </a:rPr>
              <a:t>variable in order</a:t>
            </a:r>
          </a:p>
          <a:p>
            <a:pPr lvl="1"/>
            <a:r>
              <a:rPr lang="en-US" dirty="0"/>
              <a:t>V3 = </a:t>
            </a:r>
            <a:r>
              <a:rPr lang="en-US" sz="2400" b="1" i="1" dirty="0">
                <a:latin typeface="Segoe Print" panose="02000600000000000000" pitchFamily="2" charset="0"/>
              </a:rPr>
              <a:t>Qassim</a:t>
            </a:r>
            <a:r>
              <a:rPr lang="en-US" dirty="0"/>
              <a:t> </a:t>
            </a:r>
          </a:p>
          <a:p>
            <a:r>
              <a:rPr lang="en-US" dirty="0">
                <a:solidFill>
                  <a:schemeClr val="accent6">
                    <a:lumMod val="75000"/>
                  </a:schemeClr>
                </a:solidFill>
              </a:rPr>
              <a:t>Step 8</a:t>
            </a:r>
            <a:r>
              <a:rPr lang="en-US" b="1" dirty="0"/>
              <a:t>:</a:t>
            </a:r>
            <a:r>
              <a:rPr lang="en-US" dirty="0"/>
              <a:t> Color the selected variable (region) with the </a:t>
            </a:r>
            <a:r>
              <a:rPr lang="en-US" dirty="0">
                <a:solidFill>
                  <a:srgbClr val="0033CC"/>
                </a:solidFill>
              </a:rPr>
              <a:t>first value </a:t>
            </a:r>
            <a:r>
              <a:rPr lang="en-US" dirty="0"/>
              <a:t>in the domain; </a:t>
            </a:r>
            <a:r>
              <a:rPr lang="en-US" b="1" dirty="0">
                <a:solidFill>
                  <a:srgbClr val="0000CC"/>
                </a:solidFill>
              </a:rPr>
              <a:t>B</a:t>
            </a:r>
            <a:r>
              <a:rPr lang="en-US" dirty="0"/>
              <a:t>.</a:t>
            </a:r>
          </a:p>
          <a:p>
            <a:r>
              <a:rPr lang="en-US" dirty="0">
                <a:solidFill>
                  <a:schemeClr val="accent6">
                    <a:lumMod val="75000"/>
                  </a:schemeClr>
                </a:solidFill>
              </a:rPr>
              <a:t>Step 9:</a:t>
            </a:r>
            <a:r>
              <a:rPr lang="en-US" dirty="0"/>
              <a:t> Check constraints:</a:t>
            </a:r>
          </a:p>
          <a:p>
            <a:pPr lvl="1"/>
            <a:r>
              <a:rPr lang="en-US" dirty="0"/>
              <a:t>All constraints are OK.</a:t>
            </a:r>
          </a:p>
          <a:p>
            <a:endParaRPr lang="en-US" dirty="0"/>
          </a:p>
        </p:txBody>
      </p:sp>
      <p:sp>
        <p:nvSpPr>
          <p:cNvPr id="4" name="Date Placeholder 3"/>
          <p:cNvSpPr>
            <a:spLocks noGrp="1"/>
          </p:cNvSpPr>
          <p:nvPr>
            <p:ph type="dt" sz="half" idx="10"/>
          </p:nvPr>
        </p:nvSpPr>
        <p:spPr/>
        <p:txBody>
          <a:bodyPr/>
          <a:lstStyle/>
          <a:p>
            <a:fld id="{8CBC46F7-05CD-433B-8160-42F8ECC93F98}"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25</a:t>
            </a:fld>
            <a:endParaRPr lang="en-US" dirty="0"/>
          </a:p>
        </p:txBody>
      </p:sp>
      <p:sp>
        <p:nvSpPr>
          <p:cNvPr id="14" name="TextBox 13">
            <a:extLst>
              <a:ext uri="{FF2B5EF4-FFF2-40B4-BE49-F238E27FC236}">
                <a16:creationId xmlns:a16="http://schemas.microsoft.com/office/drawing/2014/main" id="{BA2E081B-D401-A4A4-4473-37A62F441343}"/>
              </a:ext>
            </a:extLst>
          </p:cNvPr>
          <p:cNvSpPr txBox="1"/>
          <p:nvPr/>
        </p:nvSpPr>
        <p:spPr>
          <a:xfrm>
            <a:off x="11163300" y="5879292"/>
            <a:ext cx="779765" cy="369332"/>
          </a:xfrm>
          <a:prstGeom prst="rect">
            <a:avLst/>
          </a:prstGeom>
          <a:noFill/>
        </p:spPr>
        <p:txBody>
          <a:bodyPr wrap="none" rtlCol="0">
            <a:spAutoFit/>
          </a:bodyPr>
          <a:lstStyle/>
          <a:p>
            <a:r>
              <a:rPr lang="en-US" b="1" dirty="0"/>
              <a:t>Step 3</a:t>
            </a:r>
          </a:p>
        </p:txBody>
      </p:sp>
      <p:pic>
        <p:nvPicPr>
          <p:cNvPr id="8" name="Picture 7">
            <a:extLst>
              <a:ext uri="{FF2B5EF4-FFF2-40B4-BE49-F238E27FC236}">
                <a16:creationId xmlns:a16="http://schemas.microsoft.com/office/drawing/2014/main" id="{0ED20711-E868-5332-8A77-87B5B23CAC49}"/>
              </a:ext>
            </a:extLst>
          </p:cNvPr>
          <p:cNvPicPr>
            <a:picLocks noChangeAspect="1"/>
          </p:cNvPicPr>
          <p:nvPr/>
        </p:nvPicPr>
        <p:blipFill>
          <a:blip r:embed="rId3"/>
          <a:stretch>
            <a:fillRect/>
          </a:stretch>
        </p:blipFill>
        <p:spPr>
          <a:xfrm>
            <a:off x="7856113" y="990601"/>
            <a:ext cx="4118584" cy="4909472"/>
          </a:xfrm>
          <a:prstGeom prst="rect">
            <a:avLst/>
          </a:prstGeom>
        </p:spPr>
      </p:pic>
      <p:graphicFrame>
        <p:nvGraphicFramePr>
          <p:cNvPr id="10" name="Table 9">
            <a:extLst>
              <a:ext uri="{FF2B5EF4-FFF2-40B4-BE49-F238E27FC236}">
                <a16:creationId xmlns:a16="http://schemas.microsoft.com/office/drawing/2014/main" id="{87CDFCEB-FD33-4645-B1CB-5703F23D8152}"/>
              </a:ext>
            </a:extLst>
          </p:cNvPr>
          <p:cNvGraphicFramePr>
            <a:graphicFrameLocks noGrp="1"/>
          </p:cNvGraphicFramePr>
          <p:nvPr>
            <p:extLst>
              <p:ext uri="{D42A27DB-BD31-4B8C-83A1-F6EECF244321}">
                <p14:modId xmlns:p14="http://schemas.microsoft.com/office/powerpoint/2010/main" val="3084274356"/>
              </p:ext>
            </p:extLst>
          </p:nvPr>
        </p:nvGraphicFramePr>
        <p:xfrm>
          <a:off x="5219701" y="5506944"/>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924692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Examples 2: Map-coloring – Backtracking</a:t>
            </a:r>
          </a:p>
        </p:txBody>
      </p:sp>
      <p:sp>
        <p:nvSpPr>
          <p:cNvPr id="3" name="Content Placeholder 2"/>
          <p:cNvSpPr>
            <a:spLocks noGrp="1"/>
          </p:cNvSpPr>
          <p:nvPr>
            <p:ph idx="1"/>
          </p:nvPr>
        </p:nvSpPr>
        <p:spPr>
          <a:xfrm>
            <a:off x="304800" y="1228153"/>
            <a:ext cx="7551313" cy="5021979"/>
          </a:xfrm>
        </p:spPr>
        <p:txBody>
          <a:bodyPr>
            <a:normAutofit/>
          </a:bodyPr>
          <a:lstStyle/>
          <a:p>
            <a:r>
              <a:rPr lang="en-US" dirty="0">
                <a:solidFill>
                  <a:schemeClr val="accent6">
                    <a:lumMod val="75000"/>
                  </a:schemeClr>
                </a:solidFill>
              </a:rPr>
              <a:t>Step 10</a:t>
            </a:r>
            <a:r>
              <a:rPr lang="en-US" b="1" dirty="0"/>
              <a:t>:</a:t>
            </a:r>
            <a:r>
              <a:rPr lang="en-US" dirty="0"/>
              <a:t> Select next unassigned </a:t>
            </a:r>
            <a:r>
              <a:rPr lang="en-US" dirty="0">
                <a:solidFill>
                  <a:srgbClr val="0033CC"/>
                </a:solidFill>
              </a:rPr>
              <a:t>variable in order </a:t>
            </a:r>
          </a:p>
          <a:p>
            <a:pPr lvl="1"/>
            <a:r>
              <a:rPr lang="en-US" dirty="0"/>
              <a:t>V4 = </a:t>
            </a:r>
            <a:r>
              <a:rPr lang="en-US" sz="2400" b="1" i="1" dirty="0">
                <a:latin typeface="Segoe Print" panose="02000600000000000000" pitchFamily="2" charset="0"/>
              </a:rPr>
              <a:t>Riyadh</a:t>
            </a:r>
            <a:r>
              <a:rPr lang="en-US" dirty="0"/>
              <a:t> </a:t>
            </a:r>
          </a:p>
          <a:p>
            <a:r>
              <a:rPr lang="en-US" dirty="0">
                <a:solidFill>
                  <a:schemeClr val="accent6">
                    <a:lumMod val="75000"/>
                  </a:schemeClr>
                </a:solidFill>
              </a:rPr>
              <a:t>Step 11</a:t>
            </a:r>
            <a:r>
              <a:rPr lang="en-US" b="1" dirty="0"/>
              <a:t>:</a:t>
            </a:r>
            <a:r>
              <a:rPr lang="en-US" dirty="0"/>
              <a:t> Color the selected variable (region) with the </a:t>
            </a:r>
            <a:r>
              <a:rPr lang="en-US" dirty="0">
                <a:solidFill>
                  <a:srgbClr val="0033CC"/>
                </a:solidFill>
              </a:rPr>
              <a:t>first value </a:t>
            </a:r>
            <a:r>
              <a:rPr lang="en-US" dirty="0"/>
              <a:t>in the domain; </a:t>
            </a:r>
            <a:r>
              <a:rPr lang="en-US" b="1" dirty="0">
                <a:solidFill>
                  <a:srgbClr val="FF0000"/>
                </a:solidFill>
              </a:rPr>
              <a:t>R</a:t>
            </a:r>
            <a:r>
              <a:rPr lang="en-US" dirty="0"/>
              <a:t>.</a:t>
            </a:r>
          </a:p>
          <a:p>
            <a:r>
              <a:rPr lang="en-US" dirty="0">
                <a:solidFill>
                  <a:schemeClr val="accent6">
                    <a:lumMod val="75000"/>
                  </a:schemeClr>
                </a:solidFill>
              </a:rPr>
              <a:t>Step 12:</a:t>
            </a:r>
            <a:r>
              <a:rPr lang="en-US" dirty="0"/>
              <a:t> Check constraints:</a:t>
            </a:r>
          </a:p>
          <a:p>
            <a:pPr lvl="1"/>
            <a:r>
              <a:rPr lang="en-US" dirty="0"/>
              <a:t>All constraints are OK.</a:t>
            </a:r>
          </a:p>
          <a:p>
            <a:endParaRPr lang="en-US" dirty="0"/>
          </a:p>
        </p:txBody>
      </p:sp>
      <p:sp>
        <p:nvSpPr>
          <p:cNvPr id="4" name="Date Placeholder 3"/>
          <p:cNvSpPr>
            <a:spLocks noGrp="1"/>
          </p:cNvSpPr>
          <p:nvPr>
            <p:ph type="dt" sz="half" idx="10"/>
          </p:nvPr>
        </p:nvSpPr>
        <p:spPr/>
        <p:txBody>
          <a:bodyPr/>
          <a:lstStyle/>
          <a:p>
            <a:fld id="{8CBC46F7-05CD-433B-8160-42F8ECC93F98}"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26</a:t>
            </a:fld>
            <a:endParaRPr lang="en-US" dirty="0"/>
          </a:p>
        </p:txBody>
      </p:sp>
      <p:sp>
        <p:nvSpPr>
          <p:cNvPr id="14" name="TextBox 13">
            <a:extLst>
              <a:ext uri="{FF2B5EF4-FFF2-40B4-BE49-F238E27FC236}">
                <a16:creationId xmlns:a16="http://schemas.microsoft.com/office/drawing/2014/main" id="{BA2E081B-D401-A4A4-4473-37A62F441343}"/>
              </a:ext>
            </a:extLst>
          </p:cNvPr>
          <p:cNvSpPr txBox="1"/>
          <p:nvPr/>
        </p:nvSpPr>
        <p:spPr>
          <a:xfrm>
            <a:off x="11163300" y="5879292"/>
            <a:ext cx="779765" cy="369332"/>
          </a:xfrm>
          <a:prstGeom prst="rect">
            <a:avLst/>
          </a:prstGeom>
          <a:noFill/>
        </p:spPr>
        <p:txBody>
          <a:bodyPr wrap="none" rtlCol="0">
            <a:spAutoFit/>
          </a:bodyPr>
          <a:lstStyle/>
          <a:p>
            <a:r>
              <a:rPr lang="en-US" b="1" dirty="0"/>
              <a:t>Step 4</a:t>
            </a:r>
          </a:p>
        </p:txBody>
      </p:sp>
      <p:pic>
        <p:nvPicPr>
          <p:cNvPr id="8" name="Picture 7">
            <a:extLst>
              <a:ext uri="{FF2B5EF4-FFF2-40B4-BE49-F238E27FC236}">
                <a16:creationId xmlns:a16="http://schemas.microsoft.com/office/drawing/2014/main" id="{4E6C5944-C287-1D78-3A69-D7FE4323EE98}"/>
              </a:ext>
            </a:extLst>
          </p:cNvPr>
          <p:cNvPicPr>
            <a:picLocks noChangeAspect="1"/>
          </p:cNvPicPr>
          <p:nvPr/>
        </p:nvPicPr>
        <p:blipFill>
          <a:blip r:embed="rId3"/>
          <a:stretch>
            <a:fillRect/>
          </a:stretch>
        </p:blipFill>
        <p:spPr>
          <a:xfrm>
            <a:off x="8249964" y="1212656"/>
            <a:ext cx="3738988" cy="4456982"/>
          </a:xfrm>
          <a:prstGeom prst="rect">
            <a:avLst/>
          </a:prstGeom>
        </p:spPr>
      </p:pic>
      <p:graphicFrame>
        <p:nvGraphicFramePr>
          <p:cNvPr id="10" name="Table 9">
            <a:extLst>
              <a:ext uri="{FF2B5EF4-FFF2-40B4-BE49-F238E27FC236}">
                <a16:creationId xmlns:a16="http://schemas.microsoft.com/office/drawing/2014/main" id="{BCC69E97-9AD2-41C7-896A-B0A32E00EAB6}"/>
              </a:ext>
            </a:extLst>
          </p:cNvPr>
          <p:cNvGraphicFramePr>
            <a:graphicFrameLocks noGrp="1"/>
          </p:cNvGraphicFramePr>
          <p:nvPr>
            <p:extLst>
              <p:ext uri="{D42A27DB-BD31-4B8C-83A1-F6EECF244321}">
                <p14:modId xmlns:p14="http://schemas.microsoft.com/office/powerpoint/2010/main" val="3084274356"/>
              </p:ext>
            </p:extLst>
          </p:nvPr>
        </p:nvGraphicFramePr>
        <p:xfrm>
          <a:off x="5219701" y="5506944"/>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8589741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Examples 2: Map-coloring – Backtracking</a:t>
            </a:r>
          </a:p>
        </p:txBody>
      </p:sp>
      <p:sp>
        <p:nvSpPr>
          <p:cNvPr id="3" name="Content Placeholder 2"/>
          <p:cNvSpPr>
            <a:spLocks noGrp="1"/>
          </p:cNvSpPr>
          <p:nvPr>
            <p:ph idx="1"/>
          </p:nvPr>
        </p:nvSpPr>
        <p:spPr>
          <a:xfrm>
            <a:off x="304800" y="1228153"/>
            <a:ext cx="7551313" cy="5021979"/>
          </a:xfrm>
        </p:spPr>
        <p:txBody>
          <a:bodyPr>
            <a:normAutofit/>
          </a:bodyPr>
          <a:lstStyle/>
          <a:p>
            <a:r>
              <a:rPr lang="en-US" dirty="0">
                <a:solidFill>
                  <a:schemeClr val="accent6">
                    <a:lumMod val="75000"/>
                  </a:schemeClr>
                </a:solidFill>
              </a:rPr>
              <a:t>Step 13</a:t>
            </a:r>
            <a:r>
              <a:rPr lang="en-US" b="1" dirty="0"/>
              <a:t>:</a:t>
            </a:r>
            <a:r>
              <a:rPr lang="en-US" dirty="0"/>
              <a:t> Select next unassigned </a:t>
            </a:r>
            <a:r>
              <a:rPr lang="en-US" dirty="0">
                <a:solidFill>
                  <a:srgbClr val="0033CC"/>
                </a:solidFill>
              </a:rPr>
              <a:t>variable in order</a:t>
            </a:r>
            <a:endParaRPr lang="en-US" dirty="0"/>
          </a:p>
          <a:p>
            <a:pPr lvl="2"/>
            <a:r>
              <a:rPr lang="en-US" dirty="0"/>
              <a:t>V5 = </a:t>
            </a:r>
            <a:r>
              <a:rPr lang="en-US" sz="2400" b="1" i="1" dirty="0">
                <a:latin typeface="Segoe Print" panose="02000600000000000000" pitchFamily="2" charset="0"/>
              </a:rPr>
              <a:t>Makkah</a:t>
            </a:r>
            <a:r>
              <a:rPr lang="en-US" dirty="0"/>
              <a:t> </a:t>
            </a:r>
          </a:p>
          <a:p>
            <a:r>
              <a:rPr lang="en-US" dirty="0">
                <a:solidFill>
                  <a:schemeClr val="accent6">
                    <a:lumMod val="75000"/>
                  </a:schemeClr>
                </a:solidFill>
              </a:rPr>
              <a:t>Step 14</a:t>
            </a:r>
            <a:r>
              <a:rPr lang="en-US" b="1" dirty="0"/>
              <a:t>:</a:t>
            </a:r>
            <a:r>
              <a:rPr lang="en-US" dirty="0"/>
              <a:t> Color the selected variable (region) with the </a:t>
            </a:r>
            <a:r>
              <a:rPr lang="en-US" dirty="0">
                <a:solidFill>
                  <a:srgbClr val="0033CC"/>
                </a:solidFill>
              </a:rPr>
              <a:t>first value </a:t>
            </a:r>
            <a:r>
              <a:rPr lang="en-US" dirty="0"/>
              <a:t>in the domain; </a:t>
            </a:r>
            <a:r>
              <a:rPr lang="en-US" b="1" dirty="0">
                <a:solidFill>
                  <a:srgbClr val="FFC000"/>
                </a:solidFill>
              </a:rPr>
              <a:t>Y</a:t>
            </a:r>
            <a:r>
              <a:rPr lang="en-US" dirty="0"/>
              <a:t>.</a:t>
            </a:r>
          </a:p>
          <a:p>
            <a:r>
              <a:rPr lang="en-US" dirty="0">
                <a:solidFill>
                  <a:schemeClr val="accent6">
                    <a:lumMod val="75000"/>
                  </a:schemeClr>
                </a:solidFill>
              </a:rPr>
              <a:t>Step 15:</a:t>
            </a:r>
            <a:r>
              <a:rPr lang="en-US" dirty="0"/>
              <a:t> Check constraints:</a:t>
            </a:r>
          </a:p>
          <a:p>
            <a:pPr lvl="1"/>
            <a:r>
              <a:rPr lang="en-US" dirty="0"/>
              <a:t>All constraints are OK.</a:t>
            </a:r>
          </a:p>
          <a:p>
            <a:endParaRPr lang="en-US" dirty="0"/>
          </a:p>
        </p:txBody>
      </p:sp>
      <p:sp>
        <p:nvSpPr>
          <p:cNvPr id="4" name="Date Placeholder 3"/>
          <p:cNvSpPr>
            <a:spLocks noGrp="1"/>
          </p:cNvSpPr>
          <p:nvPr>
            <p:ph type="dt" sz="half" idx="10"/>
          </p:nvPr>
        </p:nvSpPr>
        <p:spPr/>
        <p:txBody>
          <a:bodyPr/>
          <a:lstStyle/>
          <a:p>
            <a:fld id="{8CBC46F7-05CD-433B-8160-42F8ECC93F98}"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27</a:t>
            </a:fld>
            <a:endParaRPr lang="en-US" dirty="0"/>
          </a:p>
        </p:txBody>
      </p:sp>
      <p:sp>
        <p:nvSpPr>
          <p:cNvPr id="14" name="TextBox 13">
            <a:extLst>
              <a:ext uri="{FF2B5EF4-FFF2-40B4-BE49-F238E27FC236}">
                <a16:creationId xmlns:a16="http://schemas.microsoft.com/office/drawing/2014/main" id="{BA2E081B-D401-A4A4-4473-37A62F441343}"/>
              </a:ext>
            </a:extLst>
          </p:cNvPr>
          <p:cNvSpPr txBox="1"/>
          <p:nvPr/>
        </p:nvSpPr>
        <p:spPr>
          <a:xfrm>
            <a:off x="11163300" y="5879292"/>
            <a:ext cx="779765" cy="369332"/>
          </a:xfrm>
          <a:prstGeom prst="rect">
            <a:avLst/>
          </a:prstGeom>
          <a:noFill/>
        </p:spPr>
        <p:txBody>
          <a:bodyPr wrap="none" rtlCol="0">
            <a:spAutoFit/>
          </a:bodyPr>
          <a:lstStyle/>
          <a:p>
            <a:r>
              <a:rPr lang="en-US" b="1" dirty="0"/>
              <a:t>Step 5</a:t>
            </a:r>
          </a:p>
        </p:txBody>
      </p:sp>
      <p:pic>
        <p:nvPicPr>
          <p:cNvPr id="10" name="Picture 9">
            <a:extLst>
              <a:ext uri="{FF2B5EF4-FFF2-40B4-BE49-F238E27FC236}">
                <a16:creationId xmlns:a16="http://schemas.microsoft.com/office/drawing/2014/main" id="{807EB29B-0E5E-4029-816A-508BD23DB4C6}"/>
              </a:ext>
            </a:extLst>
          </p:cNvPr>
          <p:cNvPicPr>
            <a:picLocks noChangeAspect="1"/>
          </p:cNvPicPr>
          <p:nvPr/>
        </p:nvPicPr>
        <p:blipFill>
          <a:blip r:embed="rId3"/>
          <a:stretch>
            <a:fillRect/>
          </a:stretch>
        </p:blipFill>
        <p:spPr>
          <a:xfrm>
            <a:off x="7946275" y="1190445"/>
            <a:ext cx="3996789" cy="4764288"/>
          </a:xfrm>
          <a:prstGeom prst="rect">
            <a:avLst/>
          </a:prstGeom>
        </p:spPr>
      </p:pic>
      <p:graphicFrame>
        <p:nvGraphicFramePr>
          <p:cNvPr id="11" name="Table 10">
            <a:extLst>
              <a:ext uri="{FF2B5EF4-FFF2-40B4-BE49-F238E27FC236}">
                <a16:creationId xmlns:a16="http://schemas.microsoft.com/office/drawing/2014/main" id="{8CD4A5FF-2E6B-44E1-AC4F-97207F4BC5EC}"/>
              </a:ext>
            </a:extLst>
          </p:cNvPr>
          <p:cNvGraphicFramePr>
            <a:graphicFrameLocks noGrp="1"/>
          </p:cNvGraphicFramePr>
          <p:nvPr>
            <p:extLst>
              <p:ext uri="{D42A27DB-BD31-4B8C-83A1-F6EECF244321}">
                <p14:modId xmlns:p14="http://schemas.microsoft.com/office/powerpoint/2010/main" val="3084274356"/>
              </p:ext>
            </p:extLst>
          </p:nvPr>
        </p:nvGraphicFramePr>
        <p:xfrm>
          <a:off x="5219701" y="5506944"/>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14482041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Examples 2: Map-coloring – Backtracking</a:t>
            </a:r>
          </a:p>
        </p:txBody>
      </p:sp>
      <p:sp>
        <p:nvSpPr>
          <p:cNvPr id="3" name="Content Placeholder 2"/>
          <p:cNvSpPr>
            <a:spLocks noGrp="1"/>
          </p:cNvSpPr>
          <p:nvPr>
            <p:ph idx="1"/>
          </p:nvPr>
        </p:nvSpPr>
        <p:spPr>
          <a:xfrm>
            <a:off x="304800" y="1228153"/>
            <a:ext cx="7794171" cy="5021979"/>
          </a:xfrm>
        </p:spPr>
        <p:txBody>
          <a:bodyPr>
            <a:normAutofit fontScale="92500" lnSpcReduction="10000"/>
          </a:bodyPr>
          <a:lstStyle/>
          <a:p>
            <a:r>
              <a:rPr lang="en-US" sz="3500" dirty="0">
                <a:solidFill>
                  <a:schemeClr val="accent6">
                    <a:lumMod val="75000"/>
                  </a:schemeClr>
                </a:solidFill>
              </a:rPr>
              <a:t>Step 16</a:t>
            </a:r>
            <a:r>
              <a:rPr lang="en-US" sz="3500" b="1" dirty="0"/>
              <a:t>:</a:t>
            </a:r>
            <a:r>
              <a:rPr lang="en-US" sz="3500" dirty="0"/>
              <a:t> Select next unassigned </a:t>
            </a:r>
            <a:r>
              <a:rPr lang="en-US" sz="3500" dirty="0">
                <a:solidFill>
                  <a:srgbClr val="0033CC"/>
                </a:solidFill>
              </a:rPr>
              <a:t>variable in order </a:t>
            </a:r>
          </a:p>
          <a:p>
            <a:pPr lvl="1"/>
            <a:r>
              <a:rPr lang="en-US" dirty="0"/>
              <a:t>V6 = </a:t>
            </a:r>
            <a:r>
              <a:rPr lang="en-US" sz="2400" b="1" i="1" dirty="0" err="1">
                <a:latin typeface="Segoe Print" panose="02000600000000000000" pitchFamily="2" charset="0"/>
              </a:rPr>
              <a:t>Madina</a:t>
            </a:r>
            <a:r>
              <a:rPr lang="en-US" dirty="0"/>
              <a:t> </a:t>
            </a:r>
          </a:p>
          <a:p>
            <a:r>
              <a:rPr lang="en-US" sz="3500" dirty="0">
                <a:solidFill>
                  <a:schemeClr val="accent6">
                    <a:lumMod val="75000"/>
                  </a:schemeClr>
                </a:solidFill>
              </a:rPr>
              <a:t>Step 17</a:t>
            </a:r>
            <a:r>
              <a:rPr lang="en-US" sz="3500" b="1" dirty="0"/>
              <a:t>:</a:t>
            </a:r>
            <a:r>
              <a:rPr lang="en-US" sz="3500" dirty="0"/>
              <a:t> Color the selected variable (region) with the </a:t>
            </a:r>
            <a:r>
              <a:rPr lang="en-US" sz="3500" dirty="0">
                <a:solidFill>
                  <a:srgbClr val="0033CC"/>
                </a:solidFill>
              </a:rPr>
              <a:t>first value </a:t>
            </a:r>
            <a:r>
              <a:rPr lang="en-US" sz="3500" dirty="0"/>
              <a:t>in the domain; </a:t>
            </a:r>
            <a:r>
              <a:rPr lang="en-US" sz="3500" b="1" dirty="0">
                <a:solidFill>
                  <a:srgbClr val="FF3300"/>
                </a:solidFill>
              </a:rPr>
              <a:t>R</a:t>
            </a:r>
            <a:r>
              <a:rPr lang="en-US" sz="3500" dirty="0"/>
              <a:t>.</a:t>
            </a:r>
          </a:p>
          <a:p>
            <a:r>
              <a:rPr lang="en-US" sz="3500" dirty="0">
                <a:solidFill>
                  <a:schemeClr val="accent6">
                    <a:lumMod val="75000"/>
                  </a:schemeClr>
                </a:solidFill>
              </a:rPr>
              <a:t>Step 18:</a:t>
            </a:r>
            <a:r>
              <a:rPr lang="en-US" sz="3500" dirty="0"/>
              <a:t> Check constraints:</a:t>
            </a:r>
          </a:p>
          <a:p>
            <a:pPr lvl="1"/>
            <a:r>
              <a:rPr lang="en-US" sz="3000" dirty="0"/>
              <a:t>V6 = </a:t>
            </a:r>
            <a:r>
              <a:rPr lang="en-US" sz="3000" b="1" dirty="0">
                <a:solidFill>
                  <a:srgbClr val="FF0000"/>
                </a:solidFill>
              </a:rPr>
              <a:t>R</a:t>
            </a:r>
            <a:r>
              <a:rPr lang="en-US" sz="3000" dirty="0"/>
              <a:t> constraint is not met </a:t>
            </a:r>
            <a:r>
              <a:rPr lang="en-US" sz="3000" dirty="0">
                <a:sym typeface="Wingdings" panose="05000000000000000000" pitchFamily="2" charset="2"/>
              </a:rPr>
              <a:t></a:t>
            </a:r>
            <a:r>
              <a:rPr lang="en-US" sz="3000" dirty="0"/>
              <a:t> </a:t>
            </a:r>
            <a:r>
              <a:rPr lang="en-US" sz="3000" dirty="0">
                <a:solidFill>
                  <a:srgbClr val="0033CC"/>
                </a:solidFill>
              </a:rPr>
              <a:t>backtrack</a:t>
            </a:r>
          </a:p>
          <a:p>
            <a:pPr lvl="1"/>
            <a:r>
              <a:rPr lang="en-US" sz="3000" dirty="0"/>
              <a:t>V6 = </a:t>
            </a:r>
            <a:r>
              <a:rPr lang="en-US" sz="3000" b="1" dirty="0">
                <a:solidFill>
                  <a:srgbClr val="00B050"/>
                </a:solidFill>
              </a:rPr>
              <a:t>G</a:t>
            </a:r>
            <a:r>
              <a:rPr lang="en-US" sz="3000" dirty="0"/>
              <a:t> constraint is not met </a:t>
            </a:r>
            <a:r>
              <a:rPr lang="en-US" sz="3000" dirty="0">
                <a:sym typeface="Wingdings" panose="05000000000000000000" pitchFamily="2" charset="2"/>
              </a:rPr>
              <a:t></a:t>
            </a:r>
            <a:r>
              <a:rPr lang="en-US" sz="3000" dirty="0"/>
              <a:t> </a:t>
            </a:r>
            <a:r>
              <a:rPr lang="en-US" sz="3000" dirty="0">
                <a:solidFill>
                  <a:srgbClr val="0033CC"/>
                </a:solidFill>
              </a:rPr>
              <a:t>backtrack</a:t>
            </a:r>
          </a:p>
          <a:p>
            <a:pPr lvl="1"/>
            <a:r>
              <a:rPr lang="en-US" sz="3000" dirty="0"/>
              <a:t>V6 = </a:t>
            </a:r>
            <a:r>
              <a:rPr lang="en-US" sz="3000" b="1" dirty="0">
                <a:solidFill>
                  <a:srgbClr val="FFC000"/>
                </a:solidFill>
              </a:rPr>
              <a:t>Y</a:t>
            </a:r>
            <a:r>
              <a:rPr lang="en-US" sz="3000" dirty="0"/>
              <a:t> constraint is not met </a:t>
            </a:r>
            <a:r>
              <a:rPr lang="en-US" sz="3000" dirty="0">
                <a:sym typeface="Wingdings" panose="05000000000000000000" pitchFamily="2" charset="2"/>
              </a:rPr>
              <a:t></a:t>
            </a:r>
            <a:r>
              <a:rPr lang="en-US" sz="3000" dirty="0"/>
              <a:t> </a:t>
            </a:r>
            <a:r>
              <a:rPr lang="en-US" sz="3000" dirty="0">
                <a:solidFill>
                  <a:srgbClr val="0033CC"/>
                </a:solidFill>
              </a:rPr>
              <a:t>backtrack</a:t>
            </a:r>
          </a:p>
          <a:p>
            <a:pPr lvl="1"/>
            <a:r>
              <a:rPr lang="en-US" sz="3000" dirty="0"/>
              <a:t>V6 = </a:t>
            </a:r>
            <a:r>
              <a:rPr lang="en-US" sz="3000" b="1" dirty="0">
                <a:solidFill>
                  <a:srgbClr val="0000CC"/>
                </a:solidFill>
              </a:rPr>
              <a:t>B</a:t>
            </a:r>
            <a:r>
              <a:rPr lang="en-US" sz="3000" dirty="0"/>
              <a:t> constraint is not met </a:t>
            </a:r>
            <a:r>
              <a:rPr lang="en-US" sz="3000" dirty="0">
                <a:sym typeface="Wingdings" panose="05000000000000000000" pitchFamily="2" charset="2"/>
              </a:rPr>
              <a:t></a:t>
            </a:r>
            <a:r>
              <a:rPr lang="en-US" sz="3000" dirty="0"/>
              <a:t> </a:t>
            </a:r>
            <a:r>
              <a:rPr lang="en-US" sz="3000" dirty="0">
                <a:solidFill>
                  <a:srgbClr val="0033CC"/>
                </a:solidFill>
              </a:rPr>
              <a:t>backtrack</a:t>
            </a:r>
          </a:p>
          <a:p>
            <a:pPr lvl="1"/>
            <a:r>
              <a:rPr lang="en-US" sz="3000" b="1" i="1" dirty="0"/>
              <a:t>V5</a:t>
            </a:r>
            <a:r>
              <a:rPr lang="en-US" sz="3000" dirty="0"/>
              <a:t> = </a:t>
            </a:r>
            <a:r>
              <a:rPr lang="en-US" sz="3000" b="1" dirty="0">
                <a:solidFill>
                  <a:srgbClr val="00B050"/>
                </a:solidFill>
              </a:rPr>
              <a:t>G</a:t>
            </a:r>
            <a:r>
              <a:rPr lang="en-US" sz="3000" dirty="0"/>
              <a:t> all constraints are met</a:t>
            </a:r>
            <a:endParaRPr lang="en-US" sz="3000" dirty="0">
              <a:solidFill>
                <a:srgbClr val="0033CC"/>
              </a:solidFill>
            </a:endParaRPr>
          </a:p>
          <a:p>
            <a:pPr marL="304793" lvl="1" indent="0">
              <a:buNone/>
            </a:pPr>
            <a:endParaRPr lang="en-US" dirty="0">
              <a:solidFill>
                <a:srgbClr val="0033CC"/>
              </a:solidFill>
            </a:endParaRPr>
          </a:p>
          <a:p>
            <a:pPr lvl="1"/>
            <a:endParaRPr lang="en-US" dirty="0">
              <a:solidFill>
                <a:srgbClr val="0033CC"/>
              </a:solidFill>
            </a:endParaRPr>
          </a:p>
          <a:p>
            <a:pPr lvl="1"/>
            <a:endParaRPr lang="en-US" dirty="0">
              <a:solidFill>
                <a:srgbClr val="0033CC"/>
              </a:solidFill>
            </a:endParaRPr>
          </a:p>
          <a:p>
            <a:endParaRPr lang="en-US" dirty="0"/>
          </a:p>
        </p:txBody>
      </p:sp>
      <p:sp>
        <p:nvSpPr>
          <p:cNvPr id="4" name="Date Placeholder 3"/>
          <p:cNvSpPr>
            <a:spLocks noGrp="1"/>
          </p:cNvSpPr>
          <p:nvPr>
            <p:ph type="dt" sz="half" idx="10"/>
          </p:nvPr>
        </p:nvSpPr>
        <p:spPr/>
        <p:txBody>
          <a:bodyPr/>
          <a:lstStyle/>
          <a:p>
            <a:fld id="{8CBC46F7-05CD-433B-8160-42F8ECC93F98}"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28</a:t>
            </a:fld>
            <a:endParaRPr lang="en-US" dirty="0"/>
          </a:p>
        </p:txBody>
      </p:sp>
      <p:sp>
        <p:nvSpPr>
          <p:cNvPr id="14" name="TextBox 13">
            <a:extLst>
              <a:ext uri="{FF2B5EF4-FFF2-40B4-BE49-F238E27FC236}">
                <a16:creationId xmlns:a16="http://schemas.microsoft.com/office/drawing/2014/main" id="{BA2E081B-D401-A4A4-4473-37A62F441343}"/>
              </a:ext>
            </a:extLst>
          </p:cNvPr>
          <p:cNvSpPr txBox="1"/>
          <p:nvPr/>
        </p:nvSpPr>
        <p:spPr>
          <a:xfrm>
            <a:off x="11163300" y="5879292"/>
            <a:ext cx="779765" cy="369332"/>
          </a:xfrm>
          <a:prstGeom prst="rect">
            <a:avLst/>
          </a:prstGeom>
          <a:noFill/>
        </p:spPr>
        <p:txBody>
          <a:bodyPr wrap="none" rtlCol="0">
            <a:spAutoFit/>
          </a:bodyPr>
          <a:lstStyle/>
          <a:p>
            <a:r>
              <a:rPr lang="en-US" b="1" dirty="0"/>
              <a:t>Step 6</a:t>
            </a:r>
          </a:p>
        </p:txBody>
      </p:sp>
      <p:pic>
        <p:nvPicPr>
          <p:cNvPr id="9" name="Picture 8">
            <a:extLst>
              <a:ext uri="{FF2B5EF4-FFF2-40B4-BE49-F238E27FC236}">
                <a16:creationId xmlns:a16="http://schemas.microsoft.com/office/drawing/2014/main" id="{CF3CF307-0933-3787-EFCE-38ABD975375D}"/>
              </a:ext>
            </a:extLst>
          </p:cNvPr>
          <p:cNvPicPr>
            <a:picLocks noChangeAspect="1"/>
          </p:cNvPicPr>
          <p:nvPr/>
        </p:nvPicPr>
        <p:blipFill>
          <a:blip r:embed="rId3"/>
          <a:stretch>
            <a:fillRect/>
          </a:stretch>
        </p:blipFill>
        <p:spPr>
          <a:xfrm>
            <a:off x="7946276" y="990601"/>
            <a:ext cx="4130110" cy="4923211"/>
          </a:xfrm>
          <a:prstGeom prst="rect">
            <a:avLst/>
          </a:prstGeom>
        </p:spPr>
      </p:pic>
    </p:spTree>
    <p:extLst>
      <p:ext uri="{BB962C8B-B14F-4D97-AF65-F5344CB8AC3E}">
        <p14:creationId xmlns:p14="http://schemas.microsoft.com/office/powerpoint/2010/main" val="8811718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Examples 2: Map-coloring – Backtracking</a:t>
            </a:r>
          </a:p>
        </p:txBody>
      </p:sp>
      <p:sp>
        <p:nvSpPr>
          <p:cNvPr id="3" name="Content Placeholder 2"/>
          <p:cNvSpPr>
            <a:spLocks noGrp="1"/>
          </p:cNvSpPr>
          <p:nvPr>
            <p:ph idx="1"/>
          </p:nvPr>
        </p:nvSpPr>
        <p:spPr>
          <a:xfrm>
            <a:off x="304800" y="1228153"/>
            <a:ext cx="7551313" cy="5021979"/>
          </a:xfrm>
        </p:spPr>
        <p:txBody>
          <a:bodyPr>
            <a:normAutofit/>
          </a:bodyPr>
          <a:lstStyle/>
          <a:p>
            <a:r>
              <a:rPr lang="en-US" dirty="0">
                <a:solidFill>
                  <a:schemeClr val="accent6">
                    <a:lumMod val="75000"/>
                  </a:schemeClr>
                </a:solidFill>
              </a:rPr>
              <a:t>Step 19:</a:t>
            </a:r>
            <a:r>
              <a:rPr lang="en-US" dirty="0"/>
              <a:t> Color V6:</a:t>
            </a:r>
          </a:p>
          <a:p>
            <a:pPr lvl="1"/>
            <a:r>
              <a:rPr lang="en-US" dirty="0"/>
              <a:t>V6 = </a:t>
            </a:r>
            <a:r>
              <a:rPr lang="en-US" b="1" dirty="0">
                <a:solidFill>
                  <a:srgbClr val="FF0000"/>
                </a:solidFill>
              </a:rPr>
              <a:t>R</a:t>
            </a:r>
            <a:r>
              <a:rPr lang="en-US" dirty="0"/>
              <a:t> constraint is not met </a:t>
            </a:r>
            <a:r>
              <a:rPr lang="en-US" dirty="0">
                <a:sym typeface="Wingdings" panose="05000000000000000000" pitchFamily="2" charset="2"/>
              </a:rPr>
              <a:t></a:t>
            </a:r>
            <a:r>
              <a:rPr lang="en-US" dirty="0"/>
              <a:t> </a:t>
            </a:r>
            <a:r>
              <a:rPr lang="en-US" dirty="0">
                <a:solidFill>
                  <a:srgbClr val="0033CC"/>
                </a:solidFill>
              </a:rPr>
              <a:t>backtrack</a:t>
            </a:r>
          </a:p>
          <a:p>
            <a:pPr lvl="1"/>
            <a:r>
              <a:rPr lang="en-US" dirty="0"/>
              <a:t>V6 = </a:t>
            </a:r>
            <a:r>
              <a:rPr lang="en-US" b="1" dirty="0">
                <a:solidFill>
                  <a:srgbClr val="00B050"/>
                </a:solidFill>
              </a:rPr>
              <a:t>G</a:t>
            </a:r>
            <a:r>
              <a:rPr lang="en-US" dirty="0"/>
              <a:t> constraint is not met </a:t>
            </a:r>
            <a:r>
              <a:rPr lang="en-US" dirty="0">
                <a:sym typeface="Wingdings" panose="05000000000000000000" pitchFamily="2" charset="2"/>
              </a:rPr>
              <a:t></a:t>
            </a:r>
            <a:r>
              <a:rPr lang="en-US" dirty="0"/>
              <a:t> </a:t>
            </a:r>
            <a:r>
              <a:rPr lang="en-US" dirty="0">
                <a:solidFill>
                  <a:srgbClr val="0033CC"/>
                </a:solidFill>
              </a:rPr>
              <a:t>backtrack</a:t>
            </a:r>
          </a:p>
          <a:p>
            <a:pPr lvl="1"/>
            <a:r>
              <a:rPr lang="en-US" dirty="0"/>
              <a:t>V6 = </a:t>
            </a:r>
            <a:r>
              <a:rPr lang="en-US" b="1" dirty="0">
                <a:solidFill>
                  <a:srgbClr val="FFC000"/>
                </a:solidFill>
              </a:rPr>
              <a:t>Y</a:t>
            </a:r>
            <a:r>
              <a:rPr lang="en-US" dirty="0"/>
              <a:t> constraint is met</a:t>
            </a:r>
          </a:p>
          <a:p>
            <a:r>
              <a:rPr lang="en-US" dirty="0">
                <a:solidFill>
                  <a:schemeClr val="accent6">
                    <a:lumMod val="75000"/>
                  </a:schemeClr>
                </a:solidFill>
              </a:rPr>
              <a:t>Step 20: </a:t>
            </a:r>
            <a:r>
              <a:rPr lang="en-US" dirty="0"/>
              <a:t>All variables are assigned </a:t>
            </a:r>
            <a:r>
              <a:rPr lang="en-US" dirty="0">
                <a:sym typeface="Wingdings" panose="05000000000000000000" pitchFamily="2" charset="2"/>
              </a:rPr>
              <a:t> End</a:t>
            </a:r>
            <a:endParaRPr lang="en-US" dirty="0"/>
          </a:p>
          <a:p>
            <a:pPr lvl="1"/>
            <a:endParaRPr lang="en-US" dirty="0">
              <a:solidFill>
                <a:srgbClr val="0033CC"/>
              </a:solidFill>
            </a:endParaRPr>
          </a:p>
          <a:p>
            <a:pPr lvl="1"/>
            <a:endParaRPr lang="en-US" dirty="0">
              <a:solidFill>
                <a:srgbClr val="0033CC"/>
              </a:solidFill>
            </a:endParaRPr>
          </a:p>
          <a:p>
            <a:pPr lvl="1"/>
            <a:endParaRPr lang="en-US" dirty="0">
              <a:solidFill>
                <a:srgbClr val="0033CC"/>
              </a:solidFill>
            </a:endParaRPr>
          </a:p>
          <a:p>
            <a:endParaRPr lang="en-US" dirty="0"/>
          </a:p>
        </p:txBody>
      </p:sp>
      <p:sp>
        <p:nvSpPr>
          <p:cNvPr id="4" name="Date Placeholder 3"/>
          <p:cNvSpPr>
            <a:spLocks noGrp="1"/>
          </p:cNvSpPr>
          <p:nvPr>
            <p:ph type="dt" sz="half" idx="10"/>
          </p:nvPr>
        </p:nvSpPr>
        <p:spPr/>
        <p:txBody>
          <a:bodyPr/>
          <a:lstStyle/>
          <a:p>
            <a:fld id="{8CBC46F7-05CD-433B-8160-42F8ECC93F98}"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smtClean="0"/>
              <a:t>29</a:t>
            </a:fld>
            <a:endParaRPr lang="en-US" dirty="0"/>
          </a:p>
        </p:txBody>
      </p:sp>
      <p:sp>
        <p:nvSpPr>
          <p:cNvPr id="14" name="TextBox 13">
            <a:extLst>
              <a:ext uri="{FF2B5EF4-FFF2-40B4-BE49-F238E27FC236}">
                <a16:creationId xmlns:a16="http://schemas.microsoft.com/office/drawing/2014/main" id="{BA2E081B-D401-A4A4-4473-37A62F441343}"/>
              </a:ext>
            </a:extLst>
          </p:cNvPr>
          <p:cNvSpPr txBox="1"/>
          <p:nvPr/>
        </p:nvSpPr>
        <p:spPr>
          <a:xfrm>
            <a:off x="11163300" y="5879292"/>
            <a:ext cx="779765" cy="369332"/>
          </a:xfrm>
          <a:prstGeom prst="rect">
            <a:avLst/>
          </a:prstGeom>
          <a:noFill/>
        </p:spPr>
        <p:txBody>
          <a:bodyPr wrap="none" rtlCol="0">
            <a:spAutoFit/>
          </a:bodyPr>
          <a:lstStyle/>
          <a:p>
            <a:r>
              <a:rPr lang="en-US" b="1" dirty="0"/>
              <a:t>Step 7</a:t>
            </a:r>
          </a:p>
        </p:txBody>
      </p:sp>
      <p:pic>
        <p:nvPicPr>
          <p:cNvPr id="12" name="Picture 11">
            <a:extLst>
              <a:ext uri="{FF2B5EF4-FFF2-40B4-BE49-F238E27FC236}">
                <a16:creationId xmlns:a16="http://schemas.microsoft.com/office/drawing/2014/main" id="{87215CC6-6CFD-A27F-C6CC-D29CD4A74B61}"/>
              </a:ext>
            </a:extLst>
          </p:cNvPr>
          <p:cNvPicPr>
            <a:picLocks noChangeAspect="1"/>
          </p:cNvPicPr>
          <p:nvPr/>
        </p:nvPicPr>
        <p:blipFill>
          <a:blip r:embed="rId3"/>
          <a:stretch>
            <a:fillRect/>
          </a:stretch>
        </p:blipFill>
        <p:spPr>
          <a:xfrm>
            <a:off x="8195255" y="990601"/>
            <a:ext cx="3933501" cy="4688847"/>
          </a:xfrm>
          <a:prstGeom prst="rect">
            <a:avLst/>
          </a:prstGeom>
        </p:spPr>
      </p:pic>
      <p:graphicFrame>
        <p:nvGraphicFramePr>
          <p:cNvPr id="10" name="Table 9">
            <a:extLst>
              <a:ext uri="{FF2B5EF4-FFF2-40B4-BE49-F238E27FC236}">
                <a16:creationId xmlns:a16="http://schemas.microsoft.com/office/drawing/2014/main" id="{70C69C5B-D104-4337-B961-24702DCEEA9E}"/>
              </a:ext>
            </a:extLst>
          </p:cNvPr>
          <p:cNvGraphicFramePr>
            <a:graphicFrameLocks noGrp="1"/>
          </p:cNvGraphicFramePr>
          <p:nvPr>
            <p:extLst>
              <p:ext uri="{D42A27DB-BD31-4B8C-83A1-F6EECF244321}">
                <p14:modId xmlns:p14="http://schemas.microsoft.com/office/powerpoint/2010/main" val="3084274356"/>
              </p:ext>
            </p:extLst>
          </p:nvPr>
        </p:nvGraphicFramePr>
        <p:xfrm>
          <a:off x="5219701" y="5506944"/>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42245478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2DB52-1051-3DFC-2946-A6FB386327BB}"/>
              </a:ext>
            </a:extLst>
          </p:cNvPr>
          <p:cNvSpPr>
            <a:spLocks noGrp="1"/>
          </p:cNvSpPr>
          <p:nvPr>
            <p:ph type="title"/>
          </p:nvPr>
        </p:nvSpPr>
        <p:spPr/>
        <p:txBody>
          <a:bodyPr>
            <a:normAutofit fontScale="90000"/>
          </a:bodyPr>
          <a:lstStyle/>
          <a:p>
            <a:r>
              <a:rPr lang="en-US" dirty="0"/>
              <a:t>CSP Example 2: Backtracking Algorithm Summary</a:t>
            </a:r>
          </a:p>
        </p:txBody>
      </p:sp>
      <p:sp>
        <p:nvSpPr>
          <p:cNvPr id="6" name="Slide Number Placeholder 5">
            <a:extLst>
              <a:ext uri="{FF2B5EF4-FFF2-40B4-BE49-F238E27FC236}">
                <a16:creationId xmlns:a16="http://schemas.microsoft.com/office/drawing/2014/main" id="{B9CC22F3-1353-6099-370F-DCAD6FA58C85}"/>
              </a:ext>
            </a:extLst>
          </p:cNvPr>
          <p:cNvSpPr>
            <a:spLocks noGrp="1"/>
          </p:cNvSpPr>
          <p:nvPr>
            <p:ph type="sldNum" sz="quarter" idx="12"/>
          </p:nvPr>
        </p:nvSpPr>
        <p:spPr/>
        <p:txBody>
          <a:bodyPr/>
          <a:lstStyle/>
          <a:p>
            <a:fld id="{B7884E68-CE57-44C0-BE0F-84C629DF22D5}" type="slidenum">
              <a:rPr lang="en-US" smtClean="0"/>
              <a:t>30</a:t>
            </a:fld>
            <a:endParaRPr lang="en-US" dirty="0"/>
          </a:p>
        </p:txBody>
      </p:sp>
      <p:pic>
        <p:nvPicPr>
          <p:cNvPr id="17" name="Picture 16">
            <a:extLst>
              <a:ext uri="{FF2B5EF4-FFF2-40B4-BE49-F238E27FC236}">
                <a16:creationId xmlns:a16="http://schemas.microsoft.com/office/drawing/2014/main" id="{CFDB15C1-AE6A-D98C-60D3-AC0AED98A3C0}"/>
              </a:ext>
            </a:extLst>
          </p:cNvPr>
          <p:cNvPicPr>
            <a:picLocks noChangeAspect="1"/>
          </p:cNvPicPr>
          <p:nvPr/>
        </p:nvPicPr>
        <p:blipFill>
          <a:blip r:embed="rId3"/>
          <a:stretch>
            <a:fillRect/>
          </a:stretch>
        </p:blipFill>
        <p:spPr>
          <a:xfrm>
            <a:off x="19689" y="1026326"/>
            <a:ext cx="12146184" cy="4008119"/>
          </a:xfrm>
          <a:prstGeom prst="rect">
            <a:avLst/>
          </a:prstGeom>
        </p:spPr>
      </p:pic>
      <p:sp>
        <p:nvSpPr>
          <p:cNvPr id="18" name="TextBox 17">
            <a:extLst>
              <a:ext uri="{FF2B5EF4-FFF2-40B4-BE49-F238E27FC236}">
                <a16:creationId xmlns:a16="http://schemas.microsoft.com/office/drawing/2014/main" id="{5A27F035-43BD-7FF5-4692-B207EA24004E}"/>
              </a:ext>
            </a:extLst>
          </p:cNvPr>
          <p:cNvSpPr txBox="1"/>
          <p:nvPr/>
        </p:nvSpPr>
        <p:spPr>
          <a:xfrm>
            <a:off x="1577936" y="4964544"/>
            <a:ext cx="779765" cy="369332"/>
          </a:xfrm>
          <a:prstGeom prst="rect">
            <a:avLst/>
          </a:prstGeom>
          <a:noFill/>
        </p:spPr>
        <p:txBody>
          <a:bodyPr wrap="none" rtlCol="0">
            <a:spAutoFit/>
          </a:bodyPr>
          <a:lstStyle/>
          <a:p>
            <a:r>
              <a:rPr lang="en-US" b="1" dirty="0"/>
              <a:t>Step 0</a:t>
            </a:r>
          </a:p>
        </p:txBody>
      </p:sp>
      <p:sp>
        <p:nvSpPr>
          <p:cNvPr id="19" name="TextBox 18">
            <a:extLst>
              <a:ext uri="{FF2B5EF4-FFF2-40B4-BE49-F238E27FC236}">
                <a16:creationId xmlns:a16="http://schemas.microsoft.com/office/drawing/2014/main" id="{FF51310F-51D4-36D6-A14D-2879E9766A2F}"/>
              </a:ext>
            </a:extLst>
          </p:cNvPr>
          <p:cNvSpPr txBox="1"/>
          <p:nvPr/>
        </p:nvSpPr>
        <p:spPr>
          <a:xfrm>
            <a:off x="6092781" y="4964544"/>
            <a:ext cx="779765" cy="369332"/>
          </a:xfrm>
          <a:prstGeom prst="rect">
            <a:avLst/>
          </a:prstGeom>
          <a:noFill/>
        </p:spPr>
        <p:txBody>
          <a:bodyPr wrap="none" rtlCol="0">
            <a:spAutoFit/>
          </a:bodyPr>
          <a:lstStyle/>
          <a:p>
            <a:r>
              <a:rPr lang="en-US" b="1" dirty="0"/>
              <a:t>Step 1</a:t>
            </a:r>
          </a:p>
        </p:txBody>
      </p:sp>
      <p:sp>
        <p:nvSpPr>
          <p:cNvPr id="20" name="TextBox 19">
            <a:extLst>
              <a:ext uri="{FF2B5EF4-FFF2-40B4-BE49-F238E27FC236}">
                <a16:creationId xmlns:a16="http://schemas.microsoft.com/office/drawing/2014/main" id="{E994A360-EC26-D3F0-09EA-45B6A1F30270}"/>
              </a:ext>
            </a:extLst>
          </p:cNvPr>
          <p:cNvSpPr txBox="1"/>
          <p:nvPr/>
        </p:nvSpPr>
        <p:spPr>
          <a:xfrm>
            <a:off x="10451423" y="4964544"/>
            <a:ext cx="779765" cy="369332"/>
          </a:xfrm>
          <a:prstGeom prst="rect">
            <a:avLst/>
          </a:prstGeom>
          <a:noFill/>
        </p:spPr>
        <p:txBody>
          <a:bodyPr wrap="none" rtlCol="0">
            <a:spAutoFit/>
          </a:bodyPr>
          <a:lstStyle/>
          <a:p>
            <a:r>
              <a:rPr lang="en-US" b="1" dirty="0"/>
              <a:t>Step 2</a:t>
            </a:r>
          </a:p>
        </p:txBody>
      </p:sp>
      <p:sp>
        <p:nvSpPr>
          <p:cNvPr id="21" name="TextBox 20">
            <a:extLst>
              <a:ext uri="{FF2B5EF4-FFF2-40B4-BE49-F238E27FC236}">
                <a16:creationId xmlns:a16="http://schemas.microsoft.com/office/drawing/2014/main" id="{29024F56-6973-F384-7A5B-5D9275152B15}"/>
              </a:ext>
            </a:extLst>
          </p:cNvPr>
          <p:cNvSpPr txBox="1"/>
          <p:nvPr/>
        </p:nvSpPr>
        <p:spPr>
          <a:xfrm>
            <a:off x="9680029" y="5268501"/>
            <a:ext cx="2017986" cy="646331"/>
          </a:xfrm>
          <a:prstGeom prst="rect">
            <a:avLst/>
          </a:prstGeom>
          <a:noFill/>
        </p:spPr>
        <p:txBody>
          <a:bodyPr wrap="square" rtlCol="0">
            <a:spAutoFit/>
          </a:bodyPr>
          <a:lstStyle/>
          <a:p>
            <a:pPr algn="ctr"/>
            <a:r>
              <a:rPr lang="en-US" dirty="0"/>
              <a:t>Backtrack V2 once to Select V2 = </a:t>
            </a:r>
            <a:r>
              <a:rPr lang="en-US" b="1" dirty="0">
                <a:solidFill>
                  <a:srgbClr val="00B050"/>
                </a:solidFill>
              </a:rPr>
              <a:t>G</a:t>
            </a:r>
          </a:p>
        </p:txBody>
      </p:sp>
      <p:sp>
        <p:nvSpPr>
          <p:cNvPr id="22" name="TextBox 21">
            <a:extLst>
              <a:ext uri="{FF2B5EF4-FFF2-40B4-BE49-F238E27FC236}">
                <a16:creationId xmlns:a16="http://schemas.microsoft.com/office/drawing/2014/main" id="{DE92C763-FE2F-4283-0001-15A90ABE71D6}"/>
              </a:ext>
            </a:extLst>
          </p:cNvPr>
          <p:cNvSpPr txBox="1"/>
          <p:nvPr/>
        </p:nvSpPr>
        <p:spPr>
          <a:xfrm>
            <a:off x="5562140" y="5280271"/>
            <a:ext cx="1841046" cy="646331"/>
          </a:xfrm>
          <a:prstGeom prst="rect">
            <a:avLst/>
          </a:prstGeom>
          <a:noFill/>
        </p:spPr>
        <p:txBody>
          <a:bodyPr wrap="square" rtlCol="0">
            <a:spAutoFit/>
          </a:bodyPr>
          <a:lstStyle/>
          <a:p>
            <a:pPr algn="ctr"/>
            <a:r>
              <a:rPr lang="en-US" dirty="0"/>
              <a:t>Select first color in Domain, V1 = </a:t>
            </a:r>
            <a:r>
              <a:rPr lang="en-US" b="1" dirty="0">
                <a:solidFill>
                  <a:srgbClr val="FF3300"/>
                </a:solidFill>
              </a:rPr>
              <a:t>R</a:t>
            </a:r>
          </a:p>
        </p:txBody>
      </p:sp>
      <p:sp>
        <p:nvSpPr>
          <p:cNvPr id="23" name="TextBox 22">
            <a:extLst>
              <a:ext uri="{FF2B5EF4-FFF2-40B4-BE49-F238E27FC236}">
                <a16:creationId xmlns:a16="http://schemas.microsoft.com/office/drawing/2014/main" id="{FE3A4E45-7C5D-C328-94D3-BA55A5FE001E}"/>
              </a:ext>
            </a:extLst>
          </p:cNvPr>
          <p:cNvSpPr txBox="1"/>
          <p:nvPr/>
        </p:nvSpPr>
        <p:spPr>
          <a:xfrm>
            <a:off x="2710668" y="5967593"/>
            <a:ext cx="7094699" cy="369332"/>
          </a:xfrm>
          <a:prstGeom prst="rect">
            <a:avLst/>
          </a:prstGeom>
          <a:solidFill>
            <a:schemeClr val="accent3">
              <a:lumMod val="60000"/>
              <a:lumOff val="40000"/>
              <a:alpha val="50000"/>
            </a:schemeClr>
          </a:solidFill>
        </p:spPr>
        <p:txBody>
          <a:bodyPr wrap="none" rtlCol="0">
            <a:spAutoFit/>
          </a:bodyPr>
          <a:lstStyle/>
          <a:p>
            <a:r>
              <a:rPr lang="en-US" dirty="0"/>
              <a:t>Note: Backtracking steps are not shown and are embedded into each step</a:t>
            </a:r>
          </a:p>
        </p:txBody>
      </p:sp>
    </p:spTree>
    <p:extLst>
      <p:ext uri="{BB962C8B-B14F-4D97-AF65-F5344CB8AC3E}">
        <p14:creationId xmlns:p14="http://schemas.microsoft.com/office/powerpoint/2010/main" val="35815008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2DB52-1051-3DFC-2946-A6FB386327BB}"/>
              </a:ext>
            </a:extLst>
          </p:cNvPr>
          <p:cNvSpPr>
            <a:spLocks noGrp="1"/>
          </p:cNvSpPr>
          <p:nvPr>
            <p:ph type="title"/>
          </p:nvPr>
        </p:nvSpPr>
        <p:spPr/>
        <p:txBody>
          <a:bodyPr>
            <a:normAutofit fontScale="90000"/>
          </a:bodyPr>
          <a:lstStyle/>
          <a:p>
            <a:r>
              <a:rPr lang="en-US" dirty="0"/>
              <a:t>CSP Example 2: Backtracking Algorithm Summary</a:t>
            </a:r>
          </a:p>
        </p:txBody>
      </p:sp>
      <p:sp>
        <p:nvSpPr>
          <p:cNvPr id="6" name="Slide Number Placeholder 5">
            <a:extLst>
              <a:ext uri="{FF2B5EF4-FFF2-40B4-BE49-F238E27FC236}">
                <a16:creationId xmlns:a16="http://schemas.microsoft.com/office/drawing/2014/main" id="{B9CC22F3-1353-6099-370F-DCAD6FA58C85}"/>
              </a:ext>
            </a:extLst>
          </p:cNvPr>
          <p:cNvSpPr>
            <a:spLocks noGrp="1"/>
          </p:cNvSpPr>
          <p:nvPr>
            <p:ph type="sldNum" sz="quarter" idx="12"/>
          </p:nvPr>
        </p:nvSpPr>
        <p:spPr/>
        <p:txBody>
          <a:bodyPr/>
          <a:lstStyle/>
          <a:p>
            <a:fld id="{B7884E68-CE57-44C0-BE0F-84C629DF22D5}" type="slidenum">
              <a:rPr lang="en-US" smtClean="0"/>
              <a:t>31</a:t>
            </a:fld>
            <a:endParaRPr lang="en-US" dirty="0"/>
          </a:p>
        </p:txBody>
      </p:sp>
      <p:pic>
        <p:nvPicPr>
          <p:cNvPr id="7" name="Picture 6">
            <a:extLst>
              <a:ext uri="{FF2B5EF4-FFF2-40B4-BE49-F238E27FC236}">
                <a16:creationId xmlns:a16="http://schemas.microsoft.com/office/drawing/2014/main" id="{FA9E09F2-78FF-D45F-1C4B-5A70724EC951}"/>
              </a:ext>
            </a:extLst>
          </p:cNvPr>
          <p:cNvPicPr>
            <a:picLocks noChangeAspect="1"/>
          </p:cNvPicPr>
          <p:nvPr/>
        </p:nvPicPr>
        <p:blipFill>
          <a:blip r:embed="rId3"/>
          <a:stretch>
            <a:fillRect/>
          </a:stretch>
        </p:blipFill>
        <p:spPr>
          <a:xfrm>
            <a:off x="-17353" y="977448"/>
            <a:ext cx="12078207" cy="3846786"/>
          </a:xfrm>
          <a:prstGeom prst="rect">
            <a:avLst/>
          </a:prstGeom>
        </p:spPr>
      </p:pic>
      <p:sp>
        <p:nvSpPr>
          <p:cNvPr id="9" name="TextBox 8">
            <a:extLst>
              <a:ext uri="{FF2B5EF4-FFF2-40B4-BE49-F238E27FC236}">
                <a16:creationId xmlns:a16="http://schemas.microsoft.com/office/drawing/2014/main" id="{9CA0DC68-6B42-7588-F6B8-AA9117657656}"/>
              </a:ext>
            </a:extLst>
          </p:cNvPr>
          <p:cNvSpPr txBox="1"/>
          <p:nvPr/>
        </p:nvSpPr>
        <p:spPr>
          <a:xfrm>
            <a:off x="2177026" y="4901481"/>
            <a:ext cx="779765" cy="369332"/>
          </a:xfrm>
          <a:prstGeom prst="rect">
            <a:avLst/>
          </a:prstGeom>
          <a:noFill/>
        </p:spPr>
        <p:txBody>
          <a:bodyPr wrap="none" rtlCol="0">
            <a:spAutoFit/>
          </a:bodyPr>
          <a:lstStyle/>
          <a:p>
            <a:r>
              <a:rPr lang="en-US" b="1" dirty="0"/>
              <a:t>Step 3</a:t>
            </a:r>
          </a:p>
        </p:txBody>
      </p:sp>
      <p:sp>
        <p:nvSpPr>
          <p:cNvPr id="10" name="TextBox 9">
            <a:extLst>
              <a:ext uri="{FF2B5EF4-FFF2-40B4-BE49-F238E27FC236}">
                <a16:creationId xmlns:a16="http://schemas.microsoft.com/office/drawing/2014/main" id="{A4301236-7EB1-B0DF-1D3E-CE1323ADD295}"/>
              </a:ext>
            </a:extLst>
          </p:cNvPr>
          <p:cNvSpPr txBox="1"/>
          <p:nvPr/>
        </p:nvSpPr>
        <p:spPr>
          <a:xfrm>
            <a:off x="6644574" y="4901481"/>
            <a:ext cx="779765" cy="369332"/>
          </a:xfrm>
          <a:prstGeom prst="rect">
            <a:avLst/>
          </a:prstGeom>
          <a:noFill/>
        </p:spPr>
        <p:txBody>
          <a:bodyPr wrap="none" rtlCol="0">
            <a:spAutoFit/>
          </a:bodyPr>
          <a:lstStyle/>
          <a:p>
            <a:r>
              <a:rPr lang="en-US" b="1" dirty="0"/>
              <a:t>Step 4</a:t>
            </a:r>
          </a:p>
        </p:txBody>
      </p:sp>
      <p:sp>
        <p:nvSpPr>
          <p:cNvPr id="11" name="TextBox 10">
            <a:extLst>
              <a:ext uri="{FF2B5EF4-FFF2-40B4-BE49-F238E27FC236}">
                <a16:creationId xmlns:a16="http://schemas.microsoft.com/office/drawing/2014/main" id="{A26FCB78-CDED-4B02-DD18-1C8F1FE0A8D5}"/>
              </a:ext>
            </a:extLst>
          </p:cNvPr>
          <p:cNvSpPr txBox="1"/>
          <p:nvPr/>
        </p:nvSpPr>
        <p:spPr>
          <a:xfrm>
            <a:off x="10451423" y="4901481"/>
            <a:ext cx="779765" cy="369332"/>
          </a:xfrm>
          <a:prstGeom prst="rect">
            <a:avLst/>
          </a:prstGeom>
          <a:noFill/>
        </p:spPr>
        <p:txBody>
          <a:bodyPr wrap="none" rtlCol="0">
            <a:spAutoFit/>
          </a:bodyPr>
          <a:lstStyle/>
          <a:p>
            <a:r>
              <a:rPr lang="en-US" b="1" dirty="0"/>
              <a:t>Step 5</a:t>
            </a:r>
          </a:p>
        </p:txBody>
      </p:sp>
      <p:sp>
        <p:nvSpPr>
          <p:cNvPr id="12" name="TextBox 11">
            <a:extLst>
              <a:ext uri="{FF2B5EF4-FFF2-40B4-BE49-F238E27FC236}">
                <a16:creationId xmlns:a16="http://schemas.microsoft.com/office/drawing/2014/main" id="{9B45140F-6191-0CF7-FEDF-DA244E04405F}"/>
              </a:ext>
            </a:extLst>
          </p:cNvPr>
          <p:cNvSpPr txBox="1"/>
          <p:nvPr/>
        </p:nvSpPr>
        <p:spPr>
          <a:xfrm>
            <a:off x="1560787" y="5270813"/>
            <a:ext cx="1841046" cy="646331"/>
          </a:xfrm>
          <a:prstGeom prst="rect">
            <a:avLst/>
          </a:prstGeom>
          <a:noFill/>
        </p:spPr>
        <p:txBody>
          <a:bodyPr wrap="square" rtlCol="0">
            <a:spAutoFit/>
          </a:bodyPr>
          <a:lstStyle/>
          <a:p>
            <a:pPr algn="ctr"/>
            <a:r>
              <a:rPr lang="en-US" dirty="0"/>
              <a:t>Select first color in Domain, V3 = </a:t>
            </a:r>
            <a:r>
              <a:rPr lang="en-US" b="1" dirty="0">
                <a:solidFill>
                  <a:srgbClr val="0000CC"/>
                </a:solidFill>
              </a:rPr>
              <a:t>B</a:t>
            </a:r>
          </a:p>
        </p:txBody>
      </p:sp>
      <p:sp>
        <p:nvSpPr>
          <p:cNvPr id="14" name="TextBox 13">
            <a:extLst>
              <a:ext uri="{FF2B5EF4-FFF2-40B4-BE49-F238E27FC236}">
                <a16:creationId xmlns:a16="http://schemas.microsoft.com/office/drawing/2014/main" id="{7FB2B830-D267-A917-3668-08CDD0B458AB}"/>
              </a:ext>
            </a:extLst>
          </p:cNvPr>
          <p:cNvSpPr txBox="1"/>
          <p:nvPr/>
        </p:nvSpPr>
        <p:spPr>
          <a:xfrm>
            <a:off x="5876830" y="5270811"/>
            <a:ext cx="1841045" cy="646331"/>
          </a:xfrm>
          <a:prstGeom prst="rect">
            <a:avLst/>
          </a:prstGeom>
          <a:noFill/>
        </p:spPr>
        <p:txBody>
          <a:bodyPr wrap="square" rtlCol="0">
            <a:spAutoFit/>
          </a:bodyPr>
          <a:lstStyle/>
          <a:p>
            <a:pPr algn="ctr"/>
            <a:r>
              <a:rPr lang="en-US" dirty="0"/>
              <a:t>Select first color in Domain, V4 = </a:t>
            </a:r>
            <a:r>
              <a:rPr lang="en-US" b="1" dirty="0">
                <a:solidFill>
                  <a:srgbClr val="FF0000"/>
                </a:solidFill>
              </a:rPr>
              <a:t>R</a:t>
            </a:r>
            <a:r>
              <a:rPr lang="en-US" dirty="0"/>
              <a:t> </a:t>
            </a:r>
            <a:endParaRPr lang="en-US" b="1" dirty="0">
              <a:solidFill>
                <a:srgbClr val="00B050"/>
              </a:solidFill>
            </a:endParaRPr>
          </a:p>
        </p:txBody>
      </p:sp>
      <p:sp>
        <p:nvSpPr>
          <p:cNvPr id="15" name="TextBox 14">
            <a:extLst>
              <a:ext uri="{FF2B5EF4-FFF2-40B4-BE49-F238E27FC236}">
                <a16:creationId xmlns:a16="http://schemas.microsoft.com/office/drawing/2014/main" id="{093524CE-EEFF-792E-8287-E97045387F06}"/>
              </a:ext>
            </a:extLst>
          </p:cNvPr>
          <p:cNvSpPr txBox="1"/>
          <p:nvPr/>
        </p:nvSpPr>
        <p:spPr>
          <a:xfrm>
            <a:off x="9680028" y="5270811"/>
            <a:ext cx="1996201" cy="646331"/>
          </a:xfrm>
          <a:prstGeom prst="rect">
            <a:avLst/>
          </a:prstGeom>
          <a:noFill/>
        </p:spPr>
        <p:txBody>
          <a:bodyPr wrap="square" rtlCol="0">
            <a:spAutoFit/>
          </a:bodyPr>
          <a:lstStyle/>
          <a:p>
            <a:pPr algn="ctr"/>
            <a:r>
              <a:rPr lang="en-US" dirty="0"/>
              <a:t>Select first color in Domain, V5 = </a:t>
            </a:r>
            <a:r>
              <a:rPr lang="en-US" b="1" dirty="0">
                <a:solidFill>
                  <a:srgbClr val="FFCC00"/>
                </a:solidFill>
              </a:rPr>
              <a:t>Y</a:t>
            </a:r>
          </a:p>
        </p:txBody>
      </p:sp>
      <p:sp>
        <p:nvSpPr>
          <p:cNvPr id="16" name="TextBox 15">
            <a:extLst>
              <a:ext uri="{FF2B5EF4-FFF2-40B4-BE49-F238E27FC236}">
                <a16:creationId xmlns:a16="http://schemas.microsoft.com/office/drawing/2014/main" id="{6D9B5B05-4B08-4FFD-831A-E6CE6848A6A5}"/>
              </a:ext>
            </a:extLst>
          </p:cNvPr>
          <p:cNvSpPr txBox="1"/>
          <p:nvPr/>
        </p:nvSpPr>
        <p:spPr>
          <a:xfrm>
            <a:off x="2710668" y="5967593"/>
            <a:ext cx="7094699" cy="369332"/>
          </a:xfrm>
          <a:prstGeom prst="rect">
            <a:avLst/>
          </a:prstGeom>
          <a:solidFill>
            <a:schemeClr val="accent3">
              <a:lumMod val="60000"/>
              <a:lumOff val="40000"/>
              <a:alpha val="50000"/>
            </a:schemeClr>
          </a:solidFill>
        </p:spPr>
        <p:txBody>
          <a:bodyPr wrap="none" rtlCol="0">
            <a:spAutoFit/>
          </a:bodyPr>
          <a:lstStyle/>
          <a:p>
            <a:r>
              <a:rPr lang="en-US" dirty="0"/>
              <a:t>Note: Backtracking steps are not shown and are embedded into each step</a:t>
            </a:r>
          </a:p>
        </p:txBody>
      </p:sp>
    </p:spTree>
    <p:extLst>
      <p:ext uri="{BB962C8B-B14F-4D97-AF65-F5344CB8AC3E}">
        <p14:creationId xmlns:p14="http://schemas.microsoft.com/office/powerpoint/2010/main" val="20885660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2DB52-1051-3DFC-2946-A6FB386327BB}"/>
              </a:ext>
            </a:extLst>
          </p:cNvPr>
          <p:cNvSpPr>
            <a:spLocks noGrp="1"/>
          </p:cNvSpPr>
          <p:nvPr>
            <p:ph type="title"/>
          </p:nvPr>
        </p:nvSpPr>
        <p:spPr/>
        <p:txBody>
          <a:bodyPr>
            <a:normAutofit fontScale="90000"/>
          </a:bodyPr>
          <a:lstStyle/>
          <a:p>
            <a:r>
              <a:rPr lang="en-US" dirty="0"/>
              <a:t>CSP Example 2: Backtracking Algorithm Summary</a:t>
            </a:r>
          </a:p>
        </p:txBody>
      </p:sp>
      <p:sp>
        <p:nvSpPr>
          <p:cNvPr id="6" name="Slide Number Placeholder 5">
            <a:extLst>
              <a:ext uri="{FF2B5EF4-FFF2-40B4-BE49-F238E27FC236}">
                <a16:creationId xmlns:a16="http://schemas.microsoft.com/office/drawing/2014/main" id="{B9CC22F3-1353-6099-370F-DCAD6FA58C85}"/>
              </a:ext>
            </a:extLst>
          </p:cNvPr>
          <p:cNvSpPr>
            <a:spLocks noGrp="1"/>
          </p:cNvSpPr>
          <p:nvPr>
            <p:ph type="sldNum" sz="quarter" idx="12"/>
          </p:nvPr>
        </p:nvSpPr>
        <p:spPr/>
        <p:txBody>
          <a:bodyPr/>
          <a:lstStyle/>
          <a:p>
            <a:fld id="{B7884E68-CE57-44C0-BE0F-84C629DF22D5}" type="slidenum">
              <a:rPr lang="en-US" dirty="0" smtClean="0"/>
              <a:t>32</a:t>
            </a:fld>
            <a:endParaRPr lang="en-US" dirty="0"/>
          </a:p>
        </p:txBody>
      </p:sp>
      <p:pic>
        <p:nvPicPr>
          <p:cNvPr id="4" name="Picture 3">
            <a:extLst>
              <a:ext uri="{FF2B5EF4-FFF2-40B4-BE49-F238E27FC236}">
                <a16:creationId xmlns:a16="http://schemas.microsoft.com/office/drawing/2014/main" id="{18731EA7-5792-644C-2F59-B624081EDAE5}"/>
              </a:ext>
            </a:extLst>
          </p:cNvPr>
          <p:cNvPicPr>
            <a:picLocks noChangeAspect="1"/>
          </p:cNvPicPr>
          <p:nvPr/>
        </p:nvPicPr>
        <p:blipFill>
          <a:blip r:embed="rId3"/>
          <a:stretch>
            <a:fillRect/>
          </a:stretch>
        </p:blipFill>
        <p:spPr>
          <a:xfrm>
            <a:off x="126126" y="987570"/>
            <a:ext cx="7853690" cy="3873859"/>
          </a:xfrm>
          <a:prstGeom prst="rect">
            <a:avLst/>
          </a:prstGeom>
        </p:spPr>
      </p:pic>
      <p:sp>
        <p:nvSpPr>
          <p:cNvPr id="5" name="TextBox 4">
            <a:extLst>
              <a:ext uri="{FF2B5EF4-FFF2-40B4-BE49-F238E27FC236}">
                <a16:creationId xmlns:a16="http://schemas.microsoft.com/office/drawing/2014/main" id="{5B21E0D6-066F-CF2D-3E80-24354B657916}"/>
              </a:ext>
            </a:extLst>
          </p:cNvPr>
          <p:cNvSpPr txBox="1"/>
          <p:nvPr/>
        </p:nvSpPr>
        <p:spPr>
          <a:xfrm>
            <a:off x="2381978" y="5001238"/>
            <a:ext cx="779765" cy="369332"/>
          </a:xfrm>
          <a:prstGeom prst="rect">
            <a:avLst/>
          </a:prstGeom>
          <a:noFill/>
        </p:spPr>
        <p:txBody>
          <a:bodyPr wrap="none" rtlCol="0">
            <a:spAutoFit/>
          </a:bodyPr>
          <a:lstStyle/>
          <a:p>
            <a:r>
              <a:rPr lang="en-US" b="1" dirty="0"/>
              <a:t>Step 6</a:t>
            </a:r>
          </a:p>
        </p:txBody>
      </p:sp>
      <p:sp>
        <p:nvSpPr>
          <p:cNvPr id="8" name="TextBox 7">
            <a:extLst>
              <a:ext uri="{FF2B5EF4-FFF2-40B4-BE49-F238E27FC236}">
                <a16:creationId xmlns:a16="http://schemas.microsoft.com/office/drawing/2014/main" id="{C22882A8-8C09-3056-7829-C7DB5EEC9562}"/>
              </a:ext>
            </a:extLst>
          </p:cNvPr>
          <p:cNvSpPr txBox="1"/>
          <p:nvPr/>
        </p:nvSpPr>
        <p:spPr>
          <a:xfrm>
            <a:off x="6297733" y="5001238"/>
            <a:ext cx="779765" cy="369332"/>
          </a:xfrm>
          <a:prstGeom prst="rect">
            <a:avLst/>
          </a:prstGeom>
          <a:noFill/>
        </p:spPr>
        <p:txBody>
          <a:bodyPr wrap="none" rtlCol="0">
            <a:spAutoFit/>
          </a:bodyPr>
          <a:lstStyle/>
          <a:p>
            <a:r>
              <a:rPr lang="en-US" b="1" dirty="0"/>
              <a:t>Step 7</a:t>
            </a:r>
          </a:p>
        </p:txBody>
      </p:sp>
      <p:sp>
        <p:nvSpPr>
          <p:cNvPr id="10" name="TextBox 9">
            <a:extLst>
              <a:ext uri="{FF2B5EF4-FFF2-40B4-BE49-F238E27FC236}">
                <a16:creationId xmlns:a16="http://schemas.microsoft.com/office/drawing/2014/main" id="{82DFEAA6-95B5-411B-569D-54119D870BDA}"/>
              </a:ext>
            </a:extLst>
          </p:cNvPr>
          <p:cNvSpPr txBox="1"/>
          <p:nvPr/>
        </p:nvSpPr>
        <p:spPr>
          <a:xfrm>
            <a:off x="725214" y="5360457"/>
            <a:ext cx="3867563" cy="646331"/>
          </a:xfrm>
          <a:prstGeom prst="rect">
            <a:avLst/>
          </a:prstGeom>
          <a:noFill/>
        </p:spPr>
        <p:txBody>
          <a:bodyPr wrap="square" rtlCol="0">
            <a:spAutoFit/>
          </a:bodyPr>
          <a:lstStyle/>
          <a:p>
            <a:pPr algn="ctr"/>
            <a:r>
              <a:rPr lang="en-US" dirty="0"/>
              <a:t>Backtrack 4 times for V6 then backtrack once for V5 and select V5 = </a:t>
            </a:r>
            <a:r>
              <a:rPr lang="en-US" b="1" dirty="0">
                <a:solidFill>
                  <a:srgbClr val="00B050"/>
                </a:solidFill>
              </a:rPr>
              <a:t>G</a:t>
            </a:r>
          </a:p>
        </p:txBody>
      </p:sp>
      <p:sp>
        <p:nvSpPr>
          <p:cNvPr id="11" name="TextBox 10">
            <a:extLst>
              <a:ext uri="{FF2B5EF4-FFF2-40B4-BE49-F238E27FC236}">
                <a16:creationId xmlns:a16="http://schemas.microsoft.com/office/drawing/2014/main" id="{90BA56E0-4D9B-479A-A8BB-EFC6556F88EA}"/>
              </a:ext>
            </a:extLst>
          </p:cNvPr>
          <p:cNvSpPr txBox="1"/>
          <p:nvPr/>
        </p:nvSpPr>
        <p:spPr>
          <a:xfrm>
            <a:off x="5013191" y="5307506"/>
            <a:ext cx="3641834" cy="646331"/>
          </a:xfrm>
          <a:prstGeom prst="rect">
            <a:avLst/>
          </a:prstGeom>
          <a:noFill/>
        </p:spPr>
        <p:txBody>
          <a:bodyPr wrap="square" rtlCol="0">
            <a:spAutoFit/>
          </a:bodyPr>
          <a:lstStyle/>
          <a:p>
            <a:pPr algn="ctr"/>
            <a:r>
              <a:rPr lang="en-US" dirty="0"/>
              <a:t>Backtrack 2 times for V6 and select V6 = </a:t>
            </a:r>
            <a:r>
              <a:rPr lang="en-US" b="1" dirty="0">
                <a:solidFill>
                  <a:srgbClr val="FFCC00"/>
                </a:solidFill>
              </a:rPr>
              <a:t>Y</a:t>
            </a:r>
          </a:p>
        </p:txBody>
      </p:sp>
      <p:sp>
        <p:nvSpPr>
          <p:cNvPr id="12" name="TextBox 11">
            <a:extLst>
              <a:ext uri="{FF2B5EF4-FFF2-40B4-BE49-F238E27FC236}">
                <a16:creationId xmlns:a16="http://schemas.microsoft.com/office/drawing/2014/main" id="{BE1AB2F5-E607-F78B-2D17-12F32017C061}"/>
              </a:ext>
            </a:extLst>
          </p:cNvPr>
          <p:cNvSpPr txBox="1"/>
          <p:nvPr/>
        </p:nvSpPr>
        <p:spPr>
          <a:xfrm>
            <a:off x="2710668" y="5967593"/>
            <a:ext cx="7094699" cy="369332"/>
          </a:xfrm>
          <a:prstGeom prst="rect">
            <a:avLst/>
          </a:prstGeom>
          <a:solidFill>
            <a:schemeClr val="accent3">
              <a:lumMod val="60000"/>
              <a:lumOff val="40000"/>
              <a:alpha val="50000"/>
            </a:schemeClr>
          </a:solidFill>
        </p:spPr>
        <p:txBody>
          <a:bodyPr wrap="none" rtlCol="0">
            <a:spAutoFit/>
          </a:bodyPr>
          <a:lstStyle/>
          <a:p>
            <a:r>
              <a:rPr lang="en-US" dirty="0"/>
              <a:t>Note: Backtracking steps are not shown and are embedded into each step</a:t>
            </a:r>
          </a:p>
        </p:txBody>
      </p:sp>
    </p:spTree>
    <p:extLst>
      <p:ext uri="{BB962C8B-B14F-4D97-AF65-F5344CB8AC3E}">
        <p14:creationId xmlns:p14="http://schemas.microsoft.com/office/powerpoint/2010/main" val="34470281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D1A64-6EAD-49B1-A1B0-C69D53852D5E}"/>
              </a:ext>
            </a:extLst>
          </p:cNvPr>
          <p:cNvSpPr>
            <a:spLocks noGrp="1"/>
          </p:cNvSpPr>
          <p:nvPr>
            <p:ph type="title"/>
          </p:nvPr>
        </p:nvSpPr>
        <p:spPr/>
        <p:txBody>
          <a:bodyPr>
            <a:normAutofit fontScale="90000"/>
          </a:bodyPr>
          <a:lstStyle/>
          <a:p>
            <a:r>
              <a:rPr lang="en-US" dirty="0"/>
              <a:t>Problems with Backtracking Search</a:t>
            </a:r>
          </a:p>
        </p:txBody>
      </p:sp>
      <p:sp>
        <p:nvSpPr>
          <p:cNvPr id="3" name="Content Placeholder 2">
            <a:extLst>
              <a:ext uri="{FF2B5EF4-FFF2-40B4-BE49-F238E27FC236}">
                <a16:creationId xmlns:a16="http://schemas.microsoft.com/office/drawing/2014/main" id="{98C0D607-D05C-4992-814B-7D540B5D9FA8}"/>
              </a:ext>
            </a:extLst>
          </p:cNvPr>
          <p:cNvSpPr>
            <a:spLocks noGrp="1"/>
          </p:cNvSpPr>
          <p:nvPr>
            <p:ph idx="1"/>
          </p:nvPr>
        </p:nvSpPr>
        <p:spPr/>
        <p:txBody>
          <a:bodyPr/>
          <a:lstStyle/>
          <a:p>
            <a:r>
              <a:rPr lang="en-US" dirty="0"/>
              <a:t>Keeps repeating the same failed variable assignments </a:t>
            </a:r>
          </a:p>
          <a:p>
            <a:r>
              <a:rPr lang="en-US" dirty="0"/>
              <a:t>Does not detect inevitable failures earlier in the search</a:t>
            </a:r>
          </a:p>
          <a:p>
            <a:r>
              <a:rPr lang="en-US" dirty="0"/>
              <a:t>May explore areas of the search space that aren’t likely to succeed</a:t>
            </a:r>
          </a:p>
        </p:txBody>
      </p:sp>
      <p:sp>
        <p:nvSpPr>
          <p:cNvPr id="4" name="Date Placeholder 3">
            <a:extLst>
              <a:ext uri="{FF2B5EF4-FFF2-40B4-BE49-F238E27FC236}">
                <a16:creationId xmlns:a16="http://schemas.microsoft.com/office/drawing/2014/main" id="{932FA9BD-D8E8-4CFA-98BB-683F8BE18C82}"/>
              </a:ext>
            </a:extLst>
          </p:cNvPr>
          <p:cNvSpPr>
            <a:spLocks noGrp="1"/>
          </p:cNvSpPr>
          <p:nvPr>
            <p:ph type="dt" sz="half" idx="10"/>
          </p:nvPr>
        </p:nvSpPr>
        <p:spPr/>
        <p:txBody>
          <a:bodyPr/>
          <a:lstStyle/>
          <a:p>
            <a:fld id="{C2EBCB3B-0D71-481E-A68B-9B57A6B53C51}" type="datetime1">
              <a:rPr lang="en-US" smtClean="0"/>
              <a:t>10/16/2022</a:t>
            </a:fld>
            <a:endParaRPr lang="en-US" dirty="0"/>
          </a:p>
        </p:txBody>
      </p:sp>
      <p:sp>
        <p:nvSpPr>
          <p:cNvPr id="5" name="Footer Placeholder 4">
            <a:extLst>
              <a:ext uri="{FF2B5EF4-FFF2-40B4-BE49-F238E27FC236}">
                <a16:creationId xmlns:a16="http://schemas.microsoft.com/office/drawing/2014/main" id="{14DE14C8-5C2F-4B10-BB4D-E0C894E6DFD2}"/>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BB4F37AD-787F-466E-BFB0-975D6399A93A}"/>
              </a:ext>
            </a:extLst>
          </p:cNvPr>
          <p:cNvSpPr>
            <a:spLocks noGrp="1"/>
          </p:cNvSpPr>
          <p:nvPr>
            <p:ph type="sldNum" sz="quarter" idx="12"/>
          </p:nvPr>
        </p:nvSpPr>
        <p:spPr/>
        <p:txBody>
          <a:bodyPr/>
          <a:lstStyle/>
          <a:p>
            <a:fld id="{B7884E68-CE57-44C0-BE0F-84C629DF22D5}" type="slidenum">
              <a:rPr lang="en-US" dirty="0" smtClean="0"/>
              <a:t>33</a:t>
            </a:fld>
            <a:endParaRPr lang="en-US" dirty="0"/>
          </a:p>
        </p:txBody>
      </p:sp>
    </p:spTree>
    <p:extLst>
      <p:ext uri="{BB962C8B-B14F-4D97-AF65-F5344CB8AC3E}">
        <p14:creationId xmlns:p14="http://schemas.microsoft.com/office/powerpoint/2010/main" val="36888718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Improving Backtracking Search</a:t>
            </a:r>
          </a:p>
        </p:txBody>
      </p:sp>
      <p:sp>
        <p:nvSpPr>
          <p:cNvPr id="3" name="Content Placeholder 2"/>
          <p:cNvSpPr>
            <a:spLocks noGrp="1"/>
          </p:cNvSpPr>
          <p:nvPr>
            <p:ph idx="1"/>
          </p:nvPr>
        </p:nvSpPr>
        <p:spPr/>
        <p:txBody>
          <a:bodyPr>
            <a:normAutofit/>
          </a:bodyPr>
          <a:lstStyle/>
          <a:p>
            <a:r>
              <a:rPr lang="en-US" dirty="0"/>
              <a:t>General-purpose ideas give huge gains in speed</a:t>
            </a:r>
          </a:p>
          <a:p>
            <a:pPr marL="590548" indent="-514350">
              <a:buFont typeface="+mj-lt"/>
              <a:buAutoNum type="arabicPeriod"/>
            </a:pPr>
            <a:r>
              <a:rPr lang="en-US" dirty="0">
                <a:solidFill>
                  <a:schemeClr val="accent6">
                    <a:lumMod val="75000"/>
                  </a:schemeClr>
                </a:solidFill>
              </a:rPr>
              <a:t>Forward Checking</a:t>
            </a:r>
            <a:r>
              <a:rPr lang="en-US" dirty="0"/>
              <a:t>: Can we detect an </a:t>
            </a:r>
            <a:r>
              <a:rPr lang="en-US" dirty="0">
                <a:solidFill>
                  <a:srgbClr val="C00000"/>
                </a:solidFill>
              </a:rPr>
              <a:t>inevitable failure </a:t>
            </a:r>
            <a:r>
              <a:rPr lang="en-US" dirty="0"/>
              <a:t>early?</a:t>
            </a:r>
          </a:p>
          <a:p>
            <a:pPr marL="590548" indent="-514350">
              <a:buFont typeface="+mj-lt"/>
              <a:buAutoNum type="arabicPeriod"/>
            </a:pPr>
            <a:r>
              <a:rPr lang="en-US" dirty="0">
                <a:solidFill>
                  <a:schemeClr val="accent6">
                    <a:lumMod val="75000"/>
                  </a:schemeClr>
                </a:solidFill>
              </a:rPr>
              <a:t>Ordering</a:t>
            </a:r>
            <a:r>
              <a:rPr lang="en-US" dirty="0"/>
              <a:t>:</a:t>
            </a:r>
          </a:p>
          <a:p>
            <a:pPr lvl="1"/>
            <a:r>
              <a:rPr lang="en-US" dirty="0"/>
              <a:t>Which variable should be assigned next?</a:t>
            </a:r>
          </a:p>
          <a:p>
            <a:pPr lvl="1"/>
            <a:r>
              <a:rPr lang="en-US" dirty="0"/>
              <a:t>In what order should its values be tried?</a:t>
            </a:r>
          </a:p>
          <a:p>
            <a:pPr marL="590548" indent="-514350">
              <a:buFont typeface="+mj-lt"/>
              <a:buAutoNum type="arabicPeriod"/>
            </a:pPr>
            <a:r>
              <a:rPr lang="en-US" dirty="0">
                <a:solidFill>
                  <a:schemeClr val="accent6">
                    <a:lumMod val="75000"/>
                  </a:schemeClr>
                </a:solidFill>
              </a:rPr>
              <a:t>Consistency</a:t>
            </a:r>
            <a:r>
              <a:rPr lang="en-US" dirty="0"/>
              <a:t>: Prune the domains as much as possible before selecting values for variables.</a:t>
            </a:r>
          </a:p>
        </p:txBody>
      </p:sp>
      <p:sp>
        <p:nvSpPr>
          <p:cNvPr id="4" name="Date Placeholder 3"/>
          <p:cNvSpPr>
            <a:spLocks noGrp="1"/>
          </p:cNvSpPr>
          <p:nvPr>
            <p:ph type="dt" sz="half" idx="10"/>
          </p:nvPr>
        </p:nvSpPr>
        <p:spPr/>
        <p:txBody>
          <a:bodyPr/>
          <a:lstStyle/>
          <a:p>
            <a:fld id="{E6CD02C8-D6D9-4B25-99C5-546C6ED57D55}"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34</a:t>
            </a:fld>
            <a:endParaRPr lang="en-US" dirty="0"/>
          </a:p>
        </p:txBody>
      </p:sp>
    </p:spTree>
    <p:extLst>
      <p:ext uri="{BB962C8B-B14F-4D97-AF65-F5344CB8AC3E}">
        <p14:creationId xmlns:p14="http://schemas.microsoft.com/office/powerpoint/2010/main" val="34851664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Backtracking - Forward Checking</a:t>
            </a:r>
          </a:p>
        </p:txBody>
      </p:sp>
      <p:sp>
        <p:nvSpPr>
          <p:cNvPr id="3" name="Content Placeholder 2"/>
          <p:cNvSpPr>
            <a:spLocks noGrp="1"/>
          </p:cNvSpPr>
          <p:nvPr>
            <p:ph idx="1"/>
          </p:nvPr>
        </p:nvSpPr>
        <p:spPr>
          <a:xfrm>
            <a:off x="304800" y="1228153"/>
            <a:ext cx="7667625" cy="5021979"/>
          </a:xfrm>
        </p:spPr>
        <p:txBody>
          <a:bodyPr>
            <a:normAutofit/>
          </a:bodyPr>
          <a:lstStyle/>
          <a:p>
            <a:r>
              <a:rPr lang="en-US" dirty="0">
                <a:solidFill>
                  <a:schemeClr val="accent6">
                    <a:lumMod val="75000"/>
                  </a:schemeClr>
                </a:solidFill>
              </a:rPr>
              <a:t>Forward checking</a:t>
            </a:r>
            <a:r>
              <a:rPr lang="en-US" dirty="0"/>
              <a:t> propagates information from assigned to unassigned variables and crosses off values that violate a constraint when added to the existing assignment</a:t>
            </a:r>
          </a:p>
          <a:p>
            <a:pPr lvl="2"/>
            <a:r>
              <a:rPr lang="en-US" sz="2800" dirty="0"/>
              <a:t>In the map coloring example, the domain of each adjacent region that was not colored will lose the ability of choosing the same color to keep up with the constraint. For example, once </a:t>
            </a:r>
            <a:r>
              <a:rPr lang="en-US" sz="2400" b="1" i="1" dirty="0">
                <a:latin typeface="Segoe Print" panose="02000600000000000000" pitchFamily="2" charset="0"/>
              </a:rPr>
              <a:t>Tabuk</a:t>
            </a:r>
            <a:r>
              <a:rPr lang="en-US" sz="2800" dirty="0"/>
              <a:t> is assigned </a:t>
            </a:r>
            <a:r>
              <a:rPr lang="en-US" sz="2800" b="1" dirty="0">
                <a:solidFill>
                  <a:srgbClr val="FF0000"/>
                </a:solidFill>
              </a:rPr>
              <a:t>R</a:t>
            </a:r>
            <a:r>
              <a:rPr lang="en-US" sz="2800" dirty="0"/>
              <a:t> both </a:t>
            </a:r>
            <a:r>
              <a:rPr lang="en-US" sz="2400" b="1" i="1" dirty="0" err="1">
                <a:latin typeface="Segoe Print" panose="02000600000000000000" pitchFamily="2" charset="0"/>
              </a:rPr>
              <a:t>Ha’il</a:t>
            </a:r>
            <a:r>
              <a:rPr lang="en-US" sz="2800" dirty="0"/>
              <a:t> and </a:t>
            </a:r>
            <a:r>
              <a:rPr lang="en-US" sz="2400" b="1" i="1" dirty="0" err="1">
                <a:latin typeface="Segoe Print" panose="02000600000000000000" pitchFamily="2" charset="0"/>
              </a:rPr>
              <a:t>Madina</a:t>
            </a:r>
            <a:r>
              <a:rPr lang="en-US" sz="2800" dirty="0"/>
              <a:t> will loose that color from their domains. </a:t>
            </a:r>
          </a:p>
          <a:p>
            <a:pPr lvl="1"/>
            <a:endParaRPr lang="en-US" dirty="0"/>
          </a:p>
        </p:txBody>
      </p:sp>
      <p:sp>
        <p:nvSpPr>
          <p:cNvPr id="4" name="Date Placeholder 3"/>
          <p:cNvSpPr>
            <a:spLocks noGrp="1"/>
          </p:cNvSpPr>
          <p:nvPr>
            <p:ph type="dt" sz="half" idx="10"/>
          </p:nvPr>
        </p:nvSpPr>
        <p:spPr/>
        <p:txBody>
          <a:bodyPr/>
          <a:lstStyle/>
          <a:p>
            <a:fld id="{A255DB48-38E1-4085-A0C7-A58B4F9A1B60}"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35</a:t>
            </a:fld>
            <a:endParaRPr lang="en-US" dirty="0"/>
          </a:p>
        </p:txBody>
      </p:sp>
      <p:pic>
        <p:nvPicPr>
          <p:cNvPr id="8" name="Picture 7">
            <a:extLst>
              <a:ext uri="{FF2B5EF4-FFF2-40B4-BE49-F238E27FC236}">
                <a16:creationId xmlns:a16="http://schemas.microsoft.com/office/drawing/2014/main" id="{7AF96B5C-446B-48A1-85CE-A66BC023D7B4}"/>
              </a:ext>
            </a:extLst>
          </p:cNvPr>
          <p:cNvPicPr>
            <a:picLocks noChangeAspect="1"/>
          </p:cNvPicPr>
          <p:nvPr/>
        </p:nvPicPr>
        <p:blipFill>
          <a:blip r:embed="rId3"/>
          <a:stretch>
            <a:fillRect/>
          </a:stretch>
        </p:blipFill>
        <p:spPr>
          <a:xfrm>
            <a:off x="7986565" y="1200255"/>
            <a:ext cx="3900635" cy="4649670"/>
          </a:xfrm>
          <a:prstGeom prst="rect">
            <a:avLst/>
          </a:prstGeom>
        </p:spPr>
      </p:pic>
      <p:graphicFrame>
        <p:nvGraphicFramePr>
          <p:cNvPr id="10" name="Table 9">
            <a:extLst>
              <a:ext uri="{FF2B5EF4-FFF2-40B4-BE49-F238E27FC236}">
                <a16:creationId xmlns:a16="http://schemas.microsoft.com/office/drawing/2014/main" id="{9DEC9DA7-934C-490C-8012-E00F24490E77}"/>
              </a:ext>
            </a:extLst>
          </p:cNvPr>
          <p:cNvGraphicFramePr>
            <a:graphicFrameLocks noGrp="1"/>
          </p:cNvGraphicFramePr>
          <p:nvPr>
            <p:extLst>
              <p:ext uri="{D42A27DB-BD31-4B8C-83A1-F6EECF244321}">
                <p14:modId xmlns:p14="http://schemas.microsoft.com/office/powerpoint/2010/main" val="2505925934"/>
              </p:ext>
            </p:extLst>
          </p:nvPr>
        </p:nvGraphicFramePr>
        <p:xfrm>
          <a:off x="304800" y="5508452"/>
          <a:ext cx="4429125" cy="741680"/>
        </p:xfrm>
        <a:graphic>
          <a:graphicData uri="http://schemas.openxmlformats.org/drawingml/2006/table">
            <a:tbl>
              <a:tblPr firstRow="1" bandRow="1">
                <a:tableStyleId>{8A107856-5554-42FB-B03E-39F5DBC370BA}</a:tableStyleId>
              </a:tblPr>
              <a:tblGrid>
                <a:gridCol w="1504950">
                  <a:extLst>
                    <a:ext uri="{9D8B030D-6E8A-4147-A177-3AD203B41FA5}">
                      <a16:colId xmlns:a16="http://schemas.microsoft.com/office/drawing/2014/main" val="2347060612"/>
                    </a:ext>
                  </a:extLst>
                </a:gridCol>
                <a:gridCol w="1466850">
                  <a:extLst>
                    <a:ext uri="{9D8B030D-6E8A-4147-A177-3AD203B41FA5}">
                      <a16:colId xmlns:a16="http://schemas.microsoft.com/office/drawing/2014/main" val="2419663802"/>
                    </a:ext>
                  </a:extLst>
                </a:gridCol>
                <a:gridCol w="1457325">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3500709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p:cNvSpPr>
            <a:spLocks noGrp="1"/>
          </p:cNvSpPr>
          <p:nvPr>
            <p:ph idx="1"/>
          </p:nvPr>
        </p:nvSpPr>
        <p:spPr>
          <a:xfrm>
            <a:off x="296911" y="1270196"/>
            <a:ext cx="6067425" cy="4909994"/>
          </a:xfrm>
        </p:spPr>
        <p:txBody>
          <a:bodyPr>
            <a:normAutofit/>
          </a:bodyPr>
          <a:lstStyle/>
          <a:p>
            <a:r>
              <a:rPr lang="en-US" dirty="0">
                <a:solidFill>
                  <a:schemeClr val="accent6">
                    <a:lumMod val="75000"/>
                  </a:schemeClr>
                </a:solidFill>
              </a:rPr>
              <a:t>Step 1</a:t>
            </a:r>
            <a:r>
              <a:rPr lang="en-US" b="1" dirty="0"/>
              <a:t>:</a:t>
            </a:r>
            <a:endParaRPr lang="en-US" dirty="0"/>
          </a:p>
          <a:p>
            <a:pPr lvl="1"/>
            <a:r>
              <a:rPr lang="en-US" dirty="0"/>
              <a:t>Select the first variable from the variable set, V1 = </a:t>
            </a:r>
            <a:r>
              <a:rPr lang="en-US" sz="2800" b="1" i="1" dirty="0">
                <a:latin typeface="Segoe Print" panose="02000600000000000000" pitchFamily="2" charset="0"/>
              </a:rPr>
              <a:t>Tabuk</a:t>
            </a:r>
            <a:r>
              <a:rPr lang="en-US" dirty="0"/>
              <a:t>, and assign it the first value in its domain; </a:t>
            </a:r>
            <a:r>
              <a:rPr lang="en-US" b="1" dirty="0">
                <a:solidFill>
                  <a:srgbClr val="FF0000"/>
                </a:solidFill>
              </a:rPr>
              <a:t>R</a:t>
            </a:r>
            <a:r>
              <a:rPr lang="en-US" dirty="0"/>
              <a:t>.</a:t>
            </a:r>
          </a:p>
          <a:p>
            <a:pPr lvl="1"/>
            <a:r>
              <a:rPr lang="en-US" dirty="0"/>
              <a:t>Cross off the value (color) </a:t>
            </a:r>
            <a:r>
              <a:rPr lang="en-US" b="1" dirty="0">
                <a:solidFill>
                  <a:srgbClr val="FF0000"/>
                </a:solidFill>
              </a:rPr>
              <a:t>R</a:t>
            </a:r>
            <a:r>
              <a:rPr lang="en-US" dirty="0"/>
              <a:t> from domains of all adjacent regions, i.e., V2 = </a:t>
            </a:r>
            <a:r>
              <a:rPr lang="en-US" sz="2800" b="1" i="1" dirty="0" err="1">
                <a:latin typeface="Segoe Print" panose="02000600000000000000" pitchFamily="2" charset="0"/>
              </a:rPr>
              <a:t>Ha’il</a:t>
            </a:r>
            <a:r>
              <a:rPr lang="en-US" dirty="0"/>
              <a:t> and V6 = </a:t>
            </a:r>
            <a:r>
              <a:rPr lang="en-US" sz="2800" b="1" i="1" dirty="0">
                <a:latin typeface="Segoe Print" panose="02000600000000000000" pitchFamily="2" charset="0"/>
              </a:rPr>
              <a:t>Medina</a:t>
            </a:r>
            <a:endParaRPr lang="en-US" b="1" i="1" dirty="0">
              <a:latin typeface="Segoe Print" panose="02000600000000000000" pitchFamily="2" charset="0"/>
            </a:endParaRPr>
          </a:p>
          <a:p>
            <a:pPr lvl="1"/>
            <a:endParaRPr lang="en-US" dirty="0">
              <a:solidFill>
                <a:srgbClr val="FF0000"/>
              </a:solidFill>
            </a:endParaRPr>
          </a:p>
          <a:p>
            <a:endParaRPr lang="en-US" dirty="0"/>
          </a:p>
        </p:txBody>
      </p:sp>
      <p:sp>
        <p:nvSpPr>
          <p:cNvPr id="2" name="Title 1"/>
          <p:cNvSpPr>
            <a:spLocks noGrp="1"/>
          </p:cNvSpPr>
          <p:nvPr>
            <p:ph type="title"/>
          </p:nvPr>
        </p:nvSpPr>
        <p:spPr/>
        <p:txBody>
          <a:bodyPr>
            <a:normAutofit fontScale="90000"/>
          </a:bodyPr>
          <a:lstStyle/>
          <a:p>
            <a:r>
              <a:rPr lang="en-US" dirty="0"/>
              <a:t>CSP Example 2: Map Coloring - Forward Checking</a:t>
            </a:r>
          </a:p>
        </p:txBody>
      </p:sp>
      <p:sp>
        <p:nvSpPr>
          <p:cNvPr id="4" name="Date Placeholder 3"/>
          <p:cNvSpPr>
            <a:spLocks noGrp="1"/>
          </p:cNvSpPr>
          <p:nvPr>
            <p:ph type="dt" sz="half" idx="10"/>
          </p:nvPr>
        </p:nvSpPr>
        <p:spPr/>
        <p:txBody>
          <a:bodyPr/>
          <a:lstStyle/>
          <a:p>
            <a:fld id="{A8F1B193-46D5-4993-86F3-7B9E93266C9D}"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36</a:t>
            </a:fld>
            <a:endParaRPr lang="en-US" dirty="0"/>
          </a:p>
        </p:txBody>
      </p:sp>
      <p:sp>
        <p:nvSpPr>
          <p:cNvPr id="12" name="TextBox 11">
            <a:extLst>
              <a:ext uri="{FF2B5EF4-FFF2-40B4-BE49-F238E27FC236}">
                <a16:creationId xmlns:a16="http://schemas.microsoft.com/office/drawing/2014/main" id="{788A6302-3755-4416-8162-EE676223EC50}"/>
              </a:ext>
            </a:extLst>
          </p:cNvPr>
          <p:cNvSpPr txBox="1"/>
          <p:nvPr/>
        </p:nvSpPr>
        <p:spPr>
          <a:xfrm>
            <a:off x="10314958" y="4152760"/>
            <a:ext cx="779765" cy="369332"/>
          </a:xfrm>
          <a:prstGeom prst="rect">
            <a:avLst/>
          </a:prstGeom>
          <a:noFill/>
        </p:spPr>
        <p:txBody>
          <a:bodyPr wrap="none" rtlCol="0">
            <a:spAutoFit/>
          </a:bodyPr>
          <a:lstStyle/>
          <a:p>
            <a:r>
              <a:rPr lang="en-US" b="1" dirty="0"/>
              <a:t>Step 1</a:t>
            </a:r>
          </a:p>
        </p:txBody>
      </p:sp>
      <p:sp>
        <p:nvSpPr>
          <p:cNvPr id="15" name="TextBox 14">
            <a:extLst>
              <a:ext uri="{FF2B5EF4-FFF2-40B4-BE49-F238E27FC236}">
                <a16:creationId xmlns:a16="http://schemas.microsoft.com/office/drawing/2014/main" id="{624B9C6C-F4BB-4221-AEF0-3ADB868AA4C1}"/>
              </a:ext>
            </a:extLst>
          </p:cNvPr>
          <p:cNvSpPr txBox="1"/>
          <p:nvPr/>
        </p:nvSpPr>
        <p:spPr>
          <a:xfrm>
            <a:off x="9384684" y="4629286"/>
            <a:ext cx="2745264" cy="1200329"/>
          </a:xfrm>
          <a:prstGeom prst="rect">
            <a:avLst/>
          </a:prstGeom>
          <a:noFill/>
        </p:spPr>
        <p:txBody>
          <a:bodyPr wrap="square" rtlCol="0">
            <a:spAutoFit/>
          </a:bodyPr>
          <a:lstStyle/>
          <a:p>
            <a:pPr algn="ctr"/>
            <a:r>
              <a:rPr lang="en-US" dirty="0"/>
              <a:t>Select first color in Domain, V1 = </a:t>
            </a:r>
            <a:r>
              <a:rPr lang="en-US" b="1" dirty="0">
                <a:solidFill>
                  <a:srgbClr val="FF3300"/>
                </a:solidFill>
              </a:rPr>
              <a:t>R</a:t>
            </a:r>
          </a:p>
          <a:p>
            <a:pPr algn="ctr"/>
            <a:r>
              <a:rPr lang="en-US" dirty="0">
                <a:solidFill>
                  <a:srgbClr val="0070C0"/>
                </a:solidFill>
              </a:rPr>
              <a:t>Note the domain reduction of V2 and V6</a:t>
            </a:r>
          </a:p>
        </p:txBody>
      </p:sp>
      <p:sp>
        <p:nvSpPr>
          <p:cNvPr id="10" name="TextBox 9">
            <a:extLst>
              <a:ext uri="{FF2B5EF4-FFF2-40B4-BE49-F238E27FC236}">
                <a16:creationId xmlns:a16="http://schemas.microsoft.com/office/drawing/2014/main" id="{583218ED-1CF2-2965-846D-C70CF8B04099}"/>
              </a:ext>
            </a:extLst>
          </p:cNvPr>
          <p:cNvSpPr txBox="1"/>
          <p:nvPr/>
        </p:nvSpPr>
        <p:spPr>
          <a:xfrm>
            <a:off x="7387783" y="4180689"/>
            <a:ext cx="779765" cy="369332"/>
          </a:xfrm>
          <a:prstGeom prst="rect">
            <a:avLst/>
          </a:prstGeom>
          <a:noFill/>
        </p:spPr>
        <p:txBody>
          <a:bodyPr wrap="none" rtlCol="0">
            <a:spAutoFit/>
          </a:bodyPr>
          <a:lstStyle/>
          <a:p>
            <a:r>
              <a:rPr lang="en-US" b="1" dirty="0"/>
              <a:t>Step 0</a:t>
            </a:r>
          </a:p>
        </p:txBody>
      </p:sp>
      <p:pic>
        <p:nvPicPr>
          <p:cNvPr id="14" name="Picture 13">
            <a:extLst>
              <a:ext uri="{FF2B5EF4-FFF2-40B4-BE49-F238E27FC236}">
                <a16:creationId xmlns:a16="http://schemas.microsoft.com/office/drawing/2014/main" id="{D6B9D707-828E-07A3-84B7-9D40A80F297D}"/>
              </a:ext>
            </a:extLst>
          </p:cNvPr>
          <p:cNvPicPr>
            <a:picLocks noChangeAspect="1"/>
          </p:cNvPicPr>
          <p:nvPr/>
        </p:nvPicPr>
        <p:blipFill>
          <a:blip r:embed="rId3"/>
          <a:stretch>
            <a:fillRect/>
          </a:stretch>
        </p:blipFill>
        <p:spPr>
          <a:xfrm>
            <a:off x="6062523" y="1065901"/>
            <a:ext cx="6067425" cy="3133725"/>
          </a:xfrm>
          <a:prstGeom prst="rect">
            <a:avLst/>
          </a:prstGeom>
        </p:spPr>
      </p:pic>
      <p:graphicFrame>
        <p:nvGraphicFramePr>
          <p:cNvPr id="13" name="Table 12">
            <a:extLst>
              <a:ext uri="{FF2B5EF4-FFF2-40B4-BE49-F238E27FC236}">
                <a16:creationId xmlns:a16="http://schemas.microsoft.com/office/drawing/2014/main" id="{9391573B-4278-46D0-AD9F-147A8A9B4865}"/>
              </a:ext>
            </a:extLst>
          </p:cNvPr>
          <p:cNvGraphicFramePr>
            <a:graphicFrameLocks noGrp="1"/>
          </p:cNvGraphicFramePr>
          <p:nvPr>
            <p:extLst>
              <p:ext uri="{D42A27DB-BD31-4B8C-83A1-F6EECF244321}">
                <p14:modId xmlns:p14="http://schemas.microsoft.com/office/powerpoint/2010/main" val="1180910309"/>
              </p:ext>
            </p:extLst>
          </p:nvPr>
        </p:nvGraphicFramePr>
        <p:xfrm>
          <a:off x="518026" y="5526855"/>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graphicFrame>
        <p:nvGraphicFramePr>
          <p:cNvPr id="16" name="Table 15">
            <a:extLst>
              <a:ext uri="{FF2B5EF4-FFF2-40B4-BE49-F238E27FC236}">
                <a16:creationId xmlns:a16="http://schemas.microsoft.com/office/drawing/2014/main" id="{DF702937-91F2-4C70-9960-387658ADC918}"/>
              </a:ext>
            </a:extLst>
          </p:cNvPr>
          <p:cNvGraphicFramePr>
            <a:graphicFrameLocks noGrp="1"/>
          </p:cNvGraphicFramePr>
          <p:nvPr>
            <p:extLst>
              <p:ext uri="{D42A27DB-BD31-4B8C-83A1-F6EECF244321}">
                <p14:modId xmlns:p14="http://schemas.microsoft.com/office/powerpoint/2010/main" val="1944251113"/>
              </p:ext>
            </p:extLst>
          </p:nvPr>
        </p:nvGraphicFramePr>
        <p:xfrm>
          <a:off x="4953878" y="5526855"/>
          <a:ext cx="4663096" cy="741680"/>
        </p:xfrm>
        <a:graphic>
          <a:graphicData uri="http://schemas.openxmlformats.org/drawingml/2006/table">
            <a:tbl>
              <a:tblPr firstRow="1" bandRow="1">
                <a:tableStyleId>{8A107856-5554-42FB-B03E-39F5DBC370BA}</a:tableStyleId>
              </a:tblPr>
              <a:tblGrid>
                <a:gridCol w="1567471">
                  <a:extLst>
                    <a:ext uri="{9D8B030D-6E8A-4147-A177-3AD203B41FA5}">
                      <a16:colId xmlns:a16="http://schemas.microsoft.com/office/drawing/2014/main" val="2347060612"/>
                    </a:ext>
                  </a:extLst>
                </a:gridCol>
                <a:gridCol w="1552575">
                  <a:extLst>
                    <a:ext uri="{9D8B030D-6E8A-4147-A177-3AD203B41FA5}">
                      <a16:colId xmlns:a16="http://schemas.microsoft.com/office/drawing/2014/main" val="2419663802"/>
                    </a:ext>
                  </a:extLst>
                </a:gridCol>
                <a:gridCol w="1543050">
                  <a:extLst>
                    <a:ext uri="{9D8B030D-6E8A-4147-A177-3AD203B41FA5}">
                      <a16:colId xmlns:a16="http://schemas.microsoft.com/office/drawing/2014/main" val="2396525568"/>
                    </a:ext>
                  </a:extLst>
                </a:gridCol>
              </a:tblGrid>
              <a:tr h="370840">
                <a:tc>
                  <a:txBody>
                    <a:bodyPr/>
                    <a:lstStyle/>
                    <a:p>
                      <a:pPr marL="0" lvl="2" indent="0"/>
                      <a:r>
                        <a:rPr lang="en-US" sz="1600" b="0" kern="1200" dirty="0">
                          <a:solidFill>
                            <a:schemeClr val="tx1"/>
                          </a:solidFill>
                        </a:rPr>
                        <a:t>D1= {</a:t>
                      </a:r>
                      <a:r>
                        <a:rPr lang="en-US" sz="1600" b="1" kern="1200" dirty="0">
                          <a:solidFill>
                            <a:srgbClr val="FF0000"/>
                          </a:solidFill>
                        </a:rPr>
                        <a:t>R</a:t>
                      </a:r>
                      <a:r>
                        <a:rPr lang="en-US" sz="1600" b="0" kern="1200" dirty="0">
                          <a:solidFill>
                            <a:schemeClr val="tx1"/>
                          </a:solidFill>
                        </a:rPr>
                        <a:t>, </a:t>
                      </a:r>
                      <a:r>
                        <a:rPr lang="en-US" sz="1600" b="1" kern="1200" dirty="0">
                          <a:solidFill>
                            <a:srgbClr val="00B050"/>
                          </a:solidFill>
                        </a:rPr>
                        <a:t>G</a:t>
                      </a:r>
                      <a:r>
                        <a:rPr lang="en-US" sz="1600" b="0" kern="1200" dirty="0">
                          <a:solidFill>
                            <a:schemeClr val="tx1"/>
                          </a:solidFill>
                        </a:rPr>
                        <a:t> , </a:t>
                      </a:r>
                      <a:r>
                        <a:rPr lang="en-US" sz="1600" b="1" kern="1200" dirty="0">
                          <a:solidFill>
                            <a:srgbClr val="FFCC00"/>
                          </a:solidFill>
                        </a:rPr>
                        <a:t>Y</a:t>
                      </a:r>
                      <a:r>
                        <a:rPr lang="en-US" sz="1600" b="0" kern="1200" dirty="0">
                          <a:solidFill>
                            <a:schemeClr val="tx1"/>
                          </a:solidFill>
                        </a:rPr>
                        <a:t> , </a:t>
                      </a:r>
                      <a:r>
                        <a:rPr lang="en-US" sz="1600" b="1" kern="1200" dirty="0">
                          <a:solidFill>
                            <a:srgbClr val="0000CC"/>
                          </a:solidFill>
                        </a:rPr>
                        <a:t>B</a:t>
                      </a:r>
                      <a:r>
                        <a:rPr lang="en-US" sz="1600" b="0" kern="1200" dirty="0">
                          <a:solidFill>
                            <a:schemeClr val="tx1"/>
                          </a:solidFill>
                        </a:rPr>
                        <a:t>}</a:t>
                      </a:r>
                      <a:endParaRPr lang="en-US" sz="1600" b="0" kern="1200" dirty="0">
                        <a:solidFill>
                          <a:schemeClr val="tx1"/>
                        </a:solidFill>
                        <a:latin typeface="+mn-lt"/>
                        <a:ea typeface="+mn-ea"/>
                        <a:cs typeface="+mn-cs"/>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rPr>
                        <a:t>D2= {</a:t>
                      </a:r>
                      <a:r>
                        <a:rPr lang="en-US" sz="1600" b="1" kern="1200" dirty="0">
                          <a:solidFill>
                            <a:srgbClr val="FF0000"/>
                          </a:solidFill>
                        </a:rPr>
                        <a:t>R</a:t>
                      </a:r>
                      <a:r>
                        <a:rPr lang="en-US" sz="1600" b="0" kern="1200" dirty="0">
                          <a:solidFill>
                            <a:schemeClr val="tx1"/>
                          </a:solidFill>
                        </a:rPr>
                        <a:t>, </a:t>
                      </a:r>
                      <a:r>
                        <a:rPr lang="en-US" sz="1600" b="1" kern="1200" dirty="0">
                          <a:solidFill>
                            <a:srgbClr val="00B050"/>
                          </a:solidFill>
                        </a:rPr>
                        <a:t>G</a:t>
                      </a:r>
                      <a:r>
                        <a:rPr lang="en-US" sz="1600" b="0" kern="1200" dirty="0">
                          <a:solidFill>
                            <a:schemeClr val="tx1"/>
                          </a:solidFill>
                        </a:rPr>
                        <a:t> , </a:t>
                      </a:r>
                      <a:r>
                        <a:rPr lang="en-US" sz="1600" b="1" kern="1200" dirty="0">
                          <a:solidFill>
                            <a:srgbClr val="FFCC00"/>
                          </a:solidFill>
                        </a:rPr>
                        <a:t>Y</a:t>
                      </a:r>
                      <a:r>
                        <a:rPr lang="en-US" sz="1600" b="0" kern="1200" dirty="0">
                          <a:solidFill>
                            <a:schemeClr val="tx1"/>
                          </a:solidFill>
                        </a:rPr>
                        <a:t> , </a:t>
                      </a:r>
                      <a:r>
                        <a:rPr lang="en-US" sz="1600" b="1" kern="1200" dirty="0">
                          <a:solidFill>
                            <a:srgbClr val="0000CC"/>
                          </a:solidFill>
                        </a:rPr>
                        <a:t>B</a:t>
                      </a:r>
                      <a:r>
                        <a:rPr lang="en-US" sz="1600" b="0" kern="1200" dirty="0">
                          <a:solidFill>
                            <a:schemeClr val="tx1"/>
                          </a:solidFill>
                        </a:rPr>
                        <a:t>}</a:t>
                      </a:r>
                      <a:endParaRPr lang="en-US" sz="1600" b="0" kern="1200" dirty="0">
                        <a:solidFill>
                          <a:schemeClr val="tx1"/>
                        </a:solidFill>
                        <a:latin typeface="+mn-lt"/>
                        <a:ea typeface="+mn-ea"/>
                        <a:cs typeface="+mn-cs"/>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rPr>
                        <a:t>D3= {</a:t>
                      </a:r>
                      <a:r>
                        <a:rPr lang="en-US" sz="1600" b="1" kern="1200" dirty="0">
                          <a:solidFill>
                            <a:srgbClr val="0000CC"/>
                          </a:solidFill>
                        </a:rPr>
                        <a:t>B</a:t>
                      </a:r>
                      <a:r>
                        <a:rPr lang="en-US" sz="1600" b="0" kern="1200" dirty="0">
                          <a:solidFill>
                            <a:schemeClr val="tx1"/>
                          </a:solidFill>
                        </a:rPr>
                        <a:t>, </a:t>
                      </a:r>
                      <a:r>
                        <a:rPr lang="en-US" sz="1600" b="1" kern="1200" dirty="0">
                          <a:solidFill>
                            <a:srgbClr val="00B050"/>
                          </a:solidFill>
                        </a:rPr>
                        <a:t>G</a:t>
                      </a:r>
                      <a:r>
                        <a:rPr lang="en-US" sz="1600" b="0" kern="1200" dirty="0">
                          <a:solidFill>
                            <a:schemeClr val="tx1"/>
                          </a:solidFill>
                        </a:rPr>
                        <a:t>, </a:t>
                      </a:r>
                      <a:r>
                        <a:rPr lang="en-US" sz="1600" b="1" kern="1200" dirty="0">
                          <a:solidFill>
                            <a:srgbClr val="FFCC00"/>
                          </a:solidFill>
                        </a:rPr>
                        <a:t>Y, </a:t>
                      </a:r>
                      <a:r>
                        <a:rPr lang="en-US" sz="1600" b="1" kern="1200" dirty="0">
                          <a:solidFill>
                            <a:srgbClr val="FF0000"/>
                          </a:solidFill>
                        </a:rPr>
                        <a:t>R</a:t>
                      </a:r>
                      <a:r>
                        <a:rPr lang="en-US" sz="1600" b="0" kern="1200" dirty="0">
                          <a:solidFill>
                            <a:schemeClr val="tx1"/>
                          </a:solidFill>
                        </a:rPr>
                        <a:t>}</a:t>
                      </a:r>
                      <a:endParaRPr lang="en-US" sz="1600" b="0" kern="1200" dirty="0">
                        <a:solidFill>
                          <a:schemeClr val="tx1"/>
                        </a:solidFill>
                        <a:latin typeface="+mn-lt"/>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kern="1200" dirty="0">
                          <a:solidFill>
                            <a:schemeClr val="tx1"/>
                          </a:solidFill>
                        </a:rPr>
                        <a:t>D4= {</a:t>
                      </a:r>
                      <a:r>
                        <a:rPr lang="en-US" sz="1600" b="1" kern="1200" dirty="0">
                          <a:solidFill>
                            <a:srgbClr val="FF0000"/>
                          </a:solidFill>
                        </a:rPr>
                        <a:t>R</a:t>
                      </a:r>
                      <a:r>
                        <a:rPr lang="en-US" sz="1600" b="0" kern="1200" dirty="0">
                          <a:solidFill>
                            <a:schemeClr val="tx1"/>
                          </a:solidFill>
                        </a:rPr>
                        <a:t>, </a:t>
                      </a:r>
                      <a:r>
                        <a:rPr lang="en-US" sz="1600" b="1" kern="1200" dirty="0">
                          <a:solidFill>
                            <a:srgbClr val="00B050"/>
                          </a:solidFill>
                        </a:rPr>
                        <a:t>G</a:t>
                      </a:r>
                      <a:r>
                        <a:rPr lang="en-US" sz="1600" b="0" kern="1200" dirty="0">
                          <a:solidFill>
                            <a:schemeClr val="tx1"/>
                          </a:solidFill>
                        </a:rPr>
                        <a:t> , </a:t>
                      </a:r>
                      <a:r>
                        <a:rPr lang="en-US" sz="1600" b="1" kern="1200" dirty="0">
                          <a:solidFill>
                            <a:srgbClr val="FFCC00"/>
                          </a:solidFill>
                        </a:rPr>
                        <a:t>Y</a:t>
                      </a:r>
                      <a:r>
                        <a:rPr lang="en-US" sz="1600" b="0" kern="1200" dirty="0">
                          <a:solidFill>
                            <a:schemeClr val="tx1"/>
                          </a:solidFill>
                        </a:rPr>
                        <a:t> , </a:t>
                      </a:r>
                      <a:r>
                        <a:rPr lang="en-US" sz="1600" b="1" kern="1200" dirty="0">
                          <a:solidFill>
                            <a:srgbClr val="0000CC"/>
                          </a:solidFill>
                        </a:rPr>
                        <a:t>B</a:t>
                      </a:r>
                      <a:r>
                        <a:rPr lang="en-US" sz="1600" b="0" kern="1200" dirty="0">
                          <a:solidFill>
                            <a:schemeClr val="tx1"/>
                          </a:solidFill>
                        </a:rPr>
                        <a:t>}</a:t>
                      </a:r>
                      <a:endParaRPr lang="en-US" sz="1600" b="0" dirty="0">
                        <a:solidFill>
                          <a:schemeClr val="tx1"/>
                        </a:solidFill>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rPr>
                        <a:t>D5= {</a:t>
                      </a:r>
                      <a:r>
                        <a:rPr lang="en-US" sz="1600" b="1" kern="1200" dirty="0">
                          <a:solidFill>
                            <a:srgbClr val="FFCC00"/>
                          </a:solidFill>
                        </a:rPr>
                        <a:t>Y</a:t>
                      </a:r>
                      <a:r>
                        <a:rPr lang="en-US" sz="1600" b="0" kern="1200" dirty="0">
                          <a:solidFill>
                            <a:schemeClr val="tx1"/>
                          </a:solidFill>
                        </a:rPr>
                        <a:t> , </a:t>
                      </a:r>
                      <a:r>
                        <a:rPr lang="en-US" sz="1600" b="1" kern="1200" dirty="0">
                          <a:solidFill>
                            <a:srgbClr val="00B050"/>
                          </a:solidFill>
                        </a:rPr>
                        <a:t>G,</a:t>
                      </a:r>
                      <a:r>
                        <a:rPr lang="en-US" sz="1600" b="1" kern="1200" dirty="0">
                          <a:solidFill>
                            <a:srgbClr val="0000CC"/>
                          </a:solidFill>
                        </a:rPr>
                        <a:t> </a:t>
                      </a:r>
                      <a:r>
                        <a:rPr lang="en-US" sz="1600" b="1" kern="1200" dirty="0">
                          <a:solidFill>
                            <a:srgbClr val="FF0000"/>
                          </a:solidFill>
                        </a:rPr>
                        <a:t>R</a:t>
                      </a:r>
                      <a:r>
                        <a:rPr lang="en-US" sz="1600" b="0" kern="1200" dirty="0">
                          <a:solidFill>
                            <a:schemeClr val="tx1"/>
                          </a:solidFill>
                        </a:rPr>
                        <a:t>,</a:t>
                      </a:r>
                      <a:r>
                        <a:rPr lang="en-US" sz="1600" b="1" kern="1200" dirty="0">
                          <a:solidFill>
                            <a:srgbClr val="0000CC"/>
                          </a:solidFill>
                        </a:rPr>
                        <a:t> B</a:t>
                      </a:r>
                      <a:r>
                        <a:rPr lang="en-US" sz="1600" b="0" kern="1200" dirty="0">
                          <a:solidFill>
                            <a:schemeClr val="tx1"/>
                          </a:solidFill>
                        </a:rPr>
                        <a:t>} </a:t>
                      </a:r>
                      <a:endParaRPr lang="en-US" sz="1600" b="0" dirty="0">
                        <a:solidFill>
                          <a:schemeClr val="tx1"/>
                        </a:solidFill>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rPr>
                        <a:t>D6= {</a:t>
                      </a:r>
                      <a:r>
                        <a:rPr lang="en-US" sz="1600" b="1" kern="1200" dirty="0">
                          <a:solidFill>
                            <a:srgbClr val="FF0000"/>
                          </a:solidFill>
                        </a:rPr>
                        <a:t>R</a:t>
                      </a:r>
                      <a:r>
                        <a:rPr lang="en-US" sz="1600" b="0" kern="1200" dirty="0">
                          <a:solidFill>
                            <a:schemeClr val="tx1"/>
                          </a:solidFill>
                        </a:rPr>
                        <a:t>, </a:t>
                      </a:r>
                      <a:r>
                        <a:rPr lang="en-US" sz="1600" b="1" kern="1200" dirty="0">
                          <a:solidFill>
                            <a:srgbClr val="00B050"/>
                          </a:solidFill>
                        </a:rPr>
                        <a:t>G</a:t>
                      </a:r>
                      <a:r>
                        <a:rPr lang="en-US" sz="1600" b="0" kern="1200" dirty="0">
                          <a:solidFill>
                            <a:schemeClr val="tx1"/>
                          </a:solidFill>
                        </a:rPr>
                        <a:t> , </a:t>
                      </a:r>
                      <a:r>
                        <a:rPr lang="en-US" sz="1600" b="1" kern="1200" dirty="0">
                          <a:solidFill>
                            <a:srgbClr val="FFCC00"/>
                          </a:solidFill>
                        </a:rPr>
                        <a:t>Y</a:t>
                      </a:r>
                      <a:r>
                        <a:rPr lang="en-US" sz="1600" b="0" kern="1200" dirty="0">
                          <a:solidFill>
                            <a:schemeClr val="tx1"/>
                          </a:solidFill>
                        </a:rPr>
                        <a:t> , </a:t>
                      </a:r>
                      <a:r>
                        <a:rPr lang="en-US" sz="1600" b="1" kern="1200" dirty="0">
                          <a:solidFill>
                            <a:srgbClr val="0000CC"/>
                          </a:solidFill>
                        </a:rPr>
                        <a:t>B</a:t>
                      </a:r>
                      <a:r>
                        <a:rPr lang="en-US" sz="1600" b="0" kern="1200" dirty="0">
                          <a:solidFill>
                            <a:schemeClr val="tx1"/>
                          </a:solidFill>
                        </a:rPr>
                        <a:t>}</a:t>
                      </a:r>
                      <a:endParaRPr lang="en-US" sz="1600" b="0" dirty="0">
                        <a:solidFill>
                          <a:schemeClr val="tx1"/>
                        </a:solidFill>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18181150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2: Map Coloring - Forward Checking</a:t>
            </a:r>
          </a:p>
        </p:txBody>
      </p:sp>
      <p:sp>
        <p:nvSpPr>
          <p:cNvPr id="4" name="Date Placeholder 3"/>
          <p:cNvSpPr>
            <a:spLocks noGrp="1"/>
          </p:cNvSpPr>
          <p:nvPr>
            <p:ph type="dt" sz="half" idx="10"/>
          </p:nvPr>
        </p:nvSpPr>
        <p:spPr/>
        <p:txBody>
          <a:bodyPr/>
          <a:lstStyle/>
          <a:p>
            <a:fld id="{41B25E32-9665-49A0-8E48-9C7AD85B27C1}"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37</a:t>
            </a:fld>
            <a:endParaRPr lang="en-US" dirty="0"/>
          </a:p>
        </p:txBody>
      </p:sp>
      <p:sp>
        <p:nvSpPr>
          <p:cNvPr id="18" name="Content Placeholder 2"/>
          <p:cNvSpPr>
            <a:spLocks noGrp="1"/>
          </p:cNvSpPr>
          <p:nvPr>
            <p:ph idx="1"/>
          </p:nvPr>
        </p:nvSpPr>
        <p:spPr>
          <a:xfrm>
            <a:off x="304800" y="1340138"/>
            <a:ext cx="7715250" cy="4909994"/>
          </a:xfrm>
        </p:spPr>
        <p:txBody>
          <a:bodyPr>
            <a:normAutofit/>
          </a:bodyPr>
          <a:lstStyle/>
          <a:p>
            <a:r>
              <a:rPr lang="en-US" dirty="0">
                <a:solidFill>
                  <a:schemeClr val="accent6">
                    <a:lumMod val="75000"/>
                  </a:schemeClr>
                </a:solidFill>
              </a:rPr>
              <a:t>Step 2</a:t>
            </a:r>
            <a:r>
              <a:rPr lang="en-US" b="1" dirty="0"/>
              <a:t>:</a:t>
            </a:r>
            <a:r>
              <a:rPr lang="en-US" dirty="0"/>
              <a:t> </a:t>
            </a:r>
          </a:p>
          <a:p>
            <a:pPr lvl="1"/>
            <a:r>
              <a:rPr lang="en-US" dirty="0"/>
              <a:t>Select the next unassigned variable from the variable set, V2 = </a:t>
            </a:r>
            <a:r>
              <a:rPr lang="en-US" sz="2800" b="1" i="1" dirty="0" err="1">
                <a:latin typeface="Segoe Print" panose="02000600000000000000" pitchFamily="2" charset="0"/>
              </a:rPr>
              <a:t>Ha’il</a:t>
            </a:r>
            <a:r>
              <a:rPr lang="en-US" dirty="0"/>
              <a:t>, and assign it the next available value in its domain; </a:t>
            </a:r>
            <a:r>
              <a:rPr lang="en-US" b="1" dirty="0">
                <a:solidFill>
                  <a:srgbClr val="00B050"/>
                </a:solidFill>
              </a:rPr>
              <a:t>G</a:t>
            </a:r>
            <a:r>
              <a:rPr lang="en-US" dirty="0"/>
              <a:t>.</a:t>
            </a:r>
          </a:p>
          <a:p>
            <a:pPr lvl="1"/>
            <a:r>
              <a:rPr lang="en-US" dirty="0"/>
              <a:t>Cross off the value (color) </a:t>
            </a:r>
            <a:r>
              <a:rPr lang="en-US" b="1" dirty="0">
                <a:solidFill>
                  <a:srgbClr val="00B050"/>
                </a:solidFill>
              </a:rPr>
              <a:t>G</a:t>
            </a:r>
            <a:r>
              <a:rPr lang="en-US" dirty="0"/>
              <a:t> from domains of all adjacent regions, i.e., V3 and V6</a:t>
            </a:r>
          </a:p>
          <a:p>
            <a:pPr lvl="1"/>
            <a:endParaRPr lang="en-US" dirty="0"/>
          </a:p>
          <a:p>
            <a:endParaRPr lang="en-US" dirty="0"/>
          </a:p>
        </p:txBody>
      </p:sp>
      <p:sp>
        <p:nvSpPr>
          <p:cNvPr id="14" name="TextBox 13">
            <a:extLst>
              <a:ext uri="{FF2B5EF4-FFF2-40B4-BE49-F238E27FC236}">
                <a16:creationId xmlns:a16="http://schemas.microsoft.com/office/drawing/2014/main" id="{31F8575B-A4B3-4CD3-9806-2BD2EFBF6A78}"/>
              </a:ext>
            </a:extLst>
          </p:cNvPr>
          <p:cNvSpPr txBox="1"/>
          <p:nvPr/>
        </p:nvSpPr>
        <p:spPr>
          <a:xfrm>
            <a:off x="10016881" y="5124983"/>
            <a:ext cx="779765" cy="369332"/>
          </a:xfrm>
          <a:prstGeom prst="rect">
            <a:avLst/>
          </a:prstGeom>
          <a:noFill/>
        </p:spPr>
        <p:txBody>
          <a:bodyPr wrap="none" rtlCol="0">
            <a:spAutoFit/>
          </a:bodyPr>
          <a:lstStyle/>
          <a:p>
            <a:r>
              <a:rPr lang="en-US" b="1" dirty="0"/>
              <a:t>Step 2</a:t>
            </a:r>
          </a:p>
        </p:txBody>
      </p:sp>
      <p:sp>
        <p:nvSpPr>
          <p:cNvPr id="16" name="TextBox 15">
            <a:extLst>
              <a:ext uri="{FF2B5EF4-FFF2-40B4-BE49-F238E27FC236}">
                <a16:creationId xmlns:a16="http://schemas.microsoft.com/office/drawing/2014/main" id="{3EFCBCA4-9526-49F5-B08C-61DCAD611323}"/>
              </a:ext>
            </a:extLst>
          </p:cNvPr>
          <p:cNvSpPr txBox="1"/>
          <p:nvPr/>
        </p:nvSpPr>
        <p:spPr>
          <a:xfrm>
            <a:off x="9219718" y="5368569"/>
            <a:ext cx="2372412" cy="646331"/>
          </a:xfrm>
          <a:prstGeom prst="rect">
            <a:avLst/>
          </a:prstGeom>
          <a:noFill/>
        </p:spPr>
        <p:txBody>
          <a:bodyPr wrap="square" rtlCol="0">
            <a:spAutoFit/>
          </a:bodyPr>
          <a:lstStyle/>
          <a:p>
            <a:pPr algn="ctr"/>
            <a:r>
              <a:rPr lang="en-US" dirty="0">
                <a:solidFill>
                  <a:srgbClr val="0070C0"/>
                </a:solidFill>
              </a:rPr>
              <a:t>Note the domain reduction of V3 and V6</a:t>
            </a:r>
          </a:p>
        </p:txBody>
      </p:sp>
      <p:pic>
        <p:nvPicPr>
          <p:cNvPr id="10" name="Picture 9">
            <a:extLst>
              <a:ext uri="{FF2B5EF4-FFF2-40B4-BE49-F238E27FC236}">
                <a16:creationId xmlns:a16="http://schemas.microsoft.com/office/drawing/2014/main" id="{2F25EC6F-DFC9-7DC1-80B2-1631EE82ADC5}"/>
              </a:ext>
            </a:extLst>
          </p:cNvPr>
          <p:cNvPicPr>
            <a:picLocks noChangeAspect="1"/>
          </p:cNvPicPr>
          <p:nvPr/>
        </p:nvPicPr>
        <p:blipFill>
          <a:blip r:embed="rId3"/>
          <a:stretch>
            <a:fillRect/>
          </a:stretch>
        </p:blipFill>
        <p:spPr>
          <a:xfrm>
            <a:off x="8251370" y="972743"/>
            <a:ext cx="3531021" cy="4209080"/>
          </a:xfrm>
          <a:prstGeom prst="rect">
            <a:avLst/>
          </a:prstGeom>
        </p:spPr>
      </p:pic>
      <p:graphicFrame>
        <p:nvGraphicFramePr>
          <p:cNvPr id="11" name="Table 10">
            <a:extLst>
              <a:ext uri="{FF2B5EF4-FFF2-40B4-BE49-F238E27FC236}">
                <a16:creationId xmlns:a16="http://schemas.microsoft.com/office/drawing/2014/main" id="{4BF855C9-1EB5-4EC0-9ECA-1D6E3B618EB4}"/>
              </a:ext>
            </a:extLst>
          </p:cNvPr>
          <p:cNvGraphicFramePr>
            <a:graphicFrameLocks noGrp="1"/>
          </p:cNvGraphicFramePr>
          <p:nvPr>
            <p:extLst>
              <p:ext uri="{D42A27DB-BD31-4B8C-83A1-F6EECF244321}">
                <p14:modId xmlns:p14="http://schemas.microsoft.com/office/powerpoint/2010/main" val="2875489043"/>
              </p:ext>
            </p:extLst>
          </p:nvPr>
        </p:nvGraphicFramePr>
        <p:xfrm>
          <a:off x="4857546" y="5458775"/>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13958356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2: Map Coloring - Forward Checking</a:t>
            </a:r>
          </a:p>
        </p:txBody>
      </p:sp>
      <p:sp>
        <p:nvSpPr>
          <p:cNvPr id="4" name="Date Placeholder 3"/>
          <p:cNvSpPr>
            <a:spLocks noGrp="1"/>
          </p:cNvSpPr>
          <p:nvPr>
            <p:ph type="dt" sz="half" idx="10"/>
          </p:nvPr>
        </p:nvSpPr>
        <p:spPr/>
        <p:txBody>
          <a:bodyPr/>
          <a:lstStyle/>
          <a:p>
            <a:fld id="{DBC295B8-EA2D-40C8-823D-CC799A63A8A2}"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38</a:t>
            </a:fld>
            <a:endParaRPr lang="en-US" dirty="0"/>
          </a:p>
        </p:txBody>
      </p:sp>
      <p:sp>
        <p:nvSpPr>
          <p:cNvPr id="18" name="Content Placeholder 2"/>
          <p:cNvSpPr>
            <a:spLocks noGrp="1"/>
          </p:cNvSpPr>
          <p:nvPr>
            <p:ph idx="1"/>
          </p:nvPr>
        </p:nvSpPr>
        <p:spPr>
          <a:xfrm>
            <a:off x="304800" y="1340138"/>
            <a:ext cx="7810500" cy="4909994"/>
          </a:xfrm>
        </p:spPr>
        <p:txBody>
          <a:bodyPr>
            <a:normAutofit/>
          </a:bodyPr>
          <a:lstStyle/>
          <a:p>
            <a:r>
              <a:rPr lang="en-US" dirty="0">
                <a:solidFill>
                  <a:schemeClr val="accent6">
                    <a:lumMod val="75000"/>
                  </a:schemeClr>
                </a:solidFill>
              </a:rPr>
              <a:t>Step 3</a:t>
            </a:r>
            <a:r>
              <a:rPr lang="en-US" b="1" dirty="0"/>
              <a:t>:</a:t>
            </a:r>
            <a:r>
              <a:rPr lang="en-US" dirty="0"/>
              <a:t> </a:t>
            </a:r>
          </a:p>
          <a:p>
            <a:pPr lvl="1"/>
            <a:r>
              <a:rPr lang="en-US" dirty="0"/>
              <a:t>Select the next unassigned variable from the variable set, V3 = </a:t>
            </a:r>
            <a:r>
              <a:rPr lang="en-US" sz="2800" b="1" i="1" dirty="0">
                <a:latin typeface="Segoe Print" panose="02000600000000000000" pitchFamily="2" charset="0"/>
              </a:rPr>
              <a:t>Qasim</a:t>
            </a:r>
            <a:r>
              <a:rPr lang="en-US" dirty="0"/>
              <a:t>, and assign it the next available value in its domain; </a:t>
            </a:r>
            <a:r>
              <a:rPr lang="en-US" b="1" dirty="0">
                <a:solidFill>
                  <a:srgbClr val="0000FF"/>
                </a:solidFill>
              </a:rPr>
              <a:t>B</a:t>
            </a:r>
            <a:r>
              <a:rPr lang="en-US" dirty="0">
                <a:solidFill>
                  <a:srgbClr val="FFFF00"/>
                </a:solidFill>
              </a:rPr>
              <a:t> </a:t>
            </a:r>
            <a:r>
              <a:rPr lang="en-US" dirty="0"/>
              <a:t>.</a:t>
            </a:r>
          </a:p>
          <a:p>
            <a:pPr lvl="1"/>
            <a:r>
              <a:rPr lang="en-US" dirty="0"/>
              <a:t>Cross off the value (color) </a:t>
            </a:r>
            <a:r>
              <a:rPr lang="en-US" b="1" dirty="0">
                <a:solidFill>
                  <a:srgbClr val="0000FF"/>
                </a:solidFill>
              </a:rPr>
              <a:t>B</a:t>
            </a:r>
            <a:r>
              <a:rPr lang="en-US" dirty="0"/>
              <a:t> from domains of all adjacent regions, i.e., V4 and V6</a:t>
            </a:r>
          </a:p>
          <a:p>
            <a:pPr lvl="1"/>
            <a:endParaRPr lang="en-US" dirty="0"/>
          </a:p>
          <a:p>
            <a:endParaRPr lang="en-US" dirty="0"/>
          </a:p>
        </p:txBody>
      </p:sp>
      <p:sp>
        <p:nvSpPr>
          <p:cNvPr id="15" name="TextBox 14">
            <a:extLst>
              <a:ext uri="{FF2B5EF4-FFF2-40B4-BE49-F238E27FC236}">
                <a16:creationId xmlns:a16="http://schemas.microsoft.com/office/drawing/2014/main" id="{C2BA28CF-EFB7-434A-AE0D-F118444D00B0}"/>
              </a:ext>
            </a:extLst>
          </p:cNvPr>
          <p:cNvSpPr txBox="1"/>
          <p:nvPr/>
        </p:nvSpPr>
        <p:spPr>
          <a:xfrm>
            <a:off x="10189140" y="5320552"/>
            <a:ext cx="779765" cy="369332"/>
          </a:xfrm>
          <a:prstGeom prst="rect">
            <a:avLst/>
          </a:prstGeom>
          <a:noFill/>
        </p:spPr>
        <p:txBody>
          <a:bodyPr wrap="none" rtlCol="0">
            <a:spAutoFit/>
          </a:bodyPr>
          <a:lstStyle/>
          <a:p>
            <a:r>
              <a:rPr lang="en-US" b="1" dirty="0"/>
              <a:t>Step 3</a:t>
            </a:r>
          </a:p>
        </p:txBody>
      </p:sp>
      <p:sp>
        <p:nvSpPr>
          <p:cNvPr id="17" name="TextBox 16">
            <a:extLst>
              <a:ext uri="{FF2B5EF4-FFF2-40B4-BE49-F238E27FC236}">
                <a16:creationId xmlns:a16="http://schemas.microsoft.com/office/drawing/2014/main" id="{6580ACE2-CDB1-445F-ADF0-D01521D6D963}"/>
              </a:ext>
            </a:extLst>
          </p:cNvPr>
          <p:cNvSpPr txBox="1"/>
          <p:nvPr/>
        </p:nvSpPr>
        <p:spPr>
          <a:xfrm>
            <a:off x="9388970" y="5564137"/>
            <a:ext cx="2372412" cy="646331"/>
          </a:xfrm>
          <a:prstGeom prst="rect">
            <a:avLst/>
          </a:prstGeom>
          <a:noFill/>
        </p:spPr>
        <p:txBody>
          <a:bodyPr wrap="square" rtlCol="0">
            <a:spAutoFit/>
          </a:bodyPr>
          <a:lstStyle/>
          <a:p>
            <a:pPr algn="ctr"/>
            <a:r>
              <a:rPr lang="en-US" dirty="0">
                <a:solidFill>
                  <a:srgbClr val="0070C0"/>
                </a:solidFill>
              </a:rPr>
              <a:t>Note the domain reduction of V4 and V6</a:t>
            </a:r>
          </a:p>
        </p:txBody>
      </p:sp>
      <p:pic>
        <p:nvPicPr>
          <p:cNvPr id="8" name="Picture 7">
            <a:extLst>
              <a:ext uri="{FF2B5EF4-FFF2-40B4-BE49-F238E27FC236}">
                <a16:creationId xmlns:a16="http://schemas.microsoft.com/office/drawing/2014/main" id="{087B48EB-8A6B-AC2B-D2F5-467220804E91}"/>
              </a:ext>
            </a:extLst>
          </p:cNvPr>
          <p:cNvPicPr>
            <a:picLocks noChangeAspect="1"/>
          </p:cNvPicPr>
          <p:nvPr/>
        </p:nvPicPr>
        <p:blipFill>
          <a:blip r:embed="rId3"/>
          <a:stretch>
            <a:fillRect/>
          </a:stretch>
        </p:blipFill>
        <p:spPr>
          <a:xfrm>
            <a:off x="8115300" y="1024756"/>
            <a:ext cx="3641728" cy="4341045"/>
          </a:xfrm>
          <a:prstGeom prst="rect">
            <a:avLst/>
          </a:prstGeom>
        </p:spPr>
      </p:pic>
      <p:graphicFrame>
        <p:nvGraphicFramePr>
          <p:cNvPr id="11" name="Table 10">
            <a:extLst>
              <a:ext uri="{FF2B5EF4-FFF2-40B4-BE49-F238E27FC236}">
                <a16:creationId xmlns:a16="http://schemas.microsoft.com/office/drawing/2014/main" id="{9380DDCA-9806-4DDA-8A66-0BA0D7407D7C}"/>
              </a:ext>
            </a:extLst>
          </p:cNvPr>
          <p:cNvGraphicFramePr>
            <a:graphicFrameLocks noGrp="1"/>
          </p:cNvGraphicFramePr>
          <p:nvPr>
            <p:extLst>
              <p:ext uri="{D42A27DB-BD31-4B8C-83A1-F6EECF244321}">
                <p14:modId xmlns:p14="http://schemas.microsoft.com/office/powerpoint/2010/main" val="2875489043"/>
              </p:ext>
            </p:extLst>
          </p:nvPr>
        </p:nvGraphicFramePr>
        <p:xfrm>
          <a:off x="4857546" y="5458775"/>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21542798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2: Map Coloring - Forward Checking</a:t>
            </a:r>
          </a:p>
        </p:txBody>
      </p:sp>
      <p:sp>
        <p:nvSpPr>
          <p:cNvPr id="4" name="Date Placeholder 3"/>
          <p:cNvSpPr>
            <a:spLocks noGrp="1"/>
          </p:cNvSpPr>
          <p:nvPr>
            <p:ph type="dt" sz="half" idx="10"/>
          </p:nvPr>
        </p:nvSpPr>
        <p:spPr/>
        <p:txBody>
          <a:bodyPr/>
          <a:lstStyle/>
          <a:p>
            <a:fld id="{29281272-2DF3-40B9-AA25-869C38BA7591}"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39</a:t>
            </a:fld>
            <a:endParaRPr lang="en-US" dirty="0"/>
          </a:p>
        </p:txBody>
      </p:sp>
      <p:sp>
        <p:nvSpPr>
          <p:cNvPr id="18" name="Content Placeholder 2"/>
          <p:cNvSpPr>
            <a:spLocks noGrp="1"/>
          </p:cNvSpPr>
          <p:nvPr>
            <p:ph idx="1"/>
          </p:nvPr>
        </p:nvSpPr>
        <p:spPr>
          <a:xfrm>
            <a:off x="304800" y="1340138"/>
            <a:ext cx="8204190" cy="4909994"/>
          </a:xfrm>
        </p:spPr>
        <p:txBody>
          <a:bodyPr>
            <a:normAutofit/>
          </a:bodyPr>
          <a:lstStyle/>
          <a:p>
            <a:r>
              <a:rPr lang="en-US" dirty="0">
                <a:solidFill>
                  <a:schemeClr val="accent6">
                    <a:lumMod val="75000"/>
                  </a:schemeClr>
                </a:solidFill>
              </a:rPr>
              <a:t>Step 4</a:t>
            </a:r>
            <a:r>
              <a:rPr lang="en-US" b="1" dirty="0"/>
              <a:t>:</a:t>
            </a:r>
            <a:r>
              <a:rPr lang="en-US" dirty="0"/>
              <a:t> </a:t>
            </a:r>
          </a:p>
          <a:p>
            <a:pPr lvl="1"/>
            <a:r>
              <a:rPr lang="en-US" dirty="0"/>
              <a:t>Select the next unassigned variable from the variable set, V4 = </a:t>
            </a:r>
            <a:r>
              <a:rPr lang="en-US" sz="2800" b="1" i="1" dirty="0">
                <a:latin typeface="Segoe Print" panose="02000600000000000000" pitchFamily="2" charset="0"/>
              </a:rPr>
              <a:t>Riyadh</a:t>
            </a:r>
            <a:r>
              <a:rPr lang="en-US" dirty="0"/>
              <a:t>, and assign it the next available value in its domain; </a:t>
            </a:r>
            <a:r>
              <a:rPr lang="en-US" b="1" dirty="0">
                <a:solidFill>
                  <a:srgbClr val="FF0000"/>
                </a:solidFill>
              </a:rPr>
              <a:t>R</a:t>
            </a:r>
            <a:r>
              <a:rPr lang="en-US" dirty="0"/>
              <a:t>.</a:t>
            </a:r>
          </a:p>
          <a:p>
            <a:pPr lvl="1"/>
            <a:r>
              <a:rPr lang="en-US" dirty="0"/>
              <a:t>Cross off the value (color) </a:t>
            </a:r>
            <a:r>
              <a:rPr lang="en-US" b="1" dirty="0">
                <a:solidFill>
                  <a:srgbClr val="FF0000"/>
                </a:solidFill>
              </a:rPr>
              <a:t>R</a:t>
            </a:r>
            <a:r>
              <a:rPr lang="en-US" dirty="0"/>
              <a:t> from domains of all adjacent regions, i.e., V5 and V6</a:t>
            </a:r>
          </a:p>
          <a:p>
            <a:pPr lvl="1"/>
            <a:endParaRPr lang="en-US" dirty="0"/>
          </a:p>
          <a:p>
            <a:endParaRPr lang="en-US" dirty="0"/>
          </a:p>
        </p:txBody>
      </p:sp>
      <p:sp>
        <p:nvSpPr>
          <p:cNvPr id="13" name="TextBox 12">
            <a:extLst>
              <a:ext uri="{FF2B5EF4-FFF2-40B4-BE49-F238E27FC236}">
                <a16:creationId xmlns:a16="http://schemas.microsoft.com/office/drawing/2014/main" id="{788A6302-3755-4416-8162-EE676223EC50}"/>
              </a:ext>
            </a:extLst>
          </p:cNvPr>
          <p:cNvSpPr txBox="1"/>
          <p:nvPr/>
        </p:nvSpPr>
        <p:spPr>
          <a:xfrm>
            <a:off x="10410049" y="5318860"/>
            <a:ext cx="779765" cy="369332"/>
          </a:xfrm>
          <a:prstGeom prst="rect">
            <a:avLst/>
          </a:prstGeom>
          <a:noFill/>
        </p:spPr>
        <p:txBody>
          <a:bodyPr wrap="none" rtlCol="0">
            <a:spAutoFit/>
          </a:bodyPr>
          <a:lstStyle/>
          <a:p>
            <a:r>
              <a:rPr lang="en-US" b="1" dirty="0"/>
              <a:t>Step 4</a:t>
            </a:r>
          </a:p>
        </p:txBody>
      </p:sp>
      <p:sp>
        <p:nvSpPr>
          <p:cNvPr id="16" name="TextBox 15">
            <a:extLst>
              <a:ext uri="{FF2B5EF4-FFF2-40B4-BE49-F238E27FC236}">
                <a16:creationId xmlns:a16="http://schemas.microsoft.com/office/drawing/2014/main" id="{919BD780-8F97-4B8B-B403-3DAEAD62EF8D}"/>
              </a:ext>
            </a:extLst>
          </p:cNvPr>
          <p:cNvSpPr txBox="1"/>
          <p:nvPr/>
        </p:nvSpPr>
        <p:spPr>
          <a:xfrm>
            <a:off x="9391977" y="5602293"/>
            <a:ext cx="2703557" cy="646331"/>
          </a:xfrm>
          <a:prstGeom prst="rect">
            <a:avLst/>
          </a:prstGeom>
          <a:noFill/>
        </p:spPr>
        <p:txBody>
          <a:bodyPr wrap="square" rtlCol="0">
            <a:spAutoFit/>
          </a:bodyPr>
          <a:lstStyle/>
          <a:p>
            <a:pPr algn="ctr"/>
            <a:r>
              <a:rPr lang="en-US" dirty="0">
                <a:solidFill>
                  <a:srgbClr val="0070C0"/>
                </a:solidFill>
              </a:rPr>
              <a:t>Note the domain reduction of V5 and V6</a:t>
            </a:r>
          </a:p>
        </p:txBody>
      </p:sp>
      <p:pic>
        <p:nvPicPr>
          <p:cNvPr id="10" name="Picture 9">
            <a:extLst>
              <a:ext uri="{FF2B5EF4-FFF2-40B4-BE49-F238E27FC236}">
                <a16:creationId xmlns:a16="http://schemas.microsoft.com/office/drawing/2014/main" id="{6C0EF971-AE83-6B48-6868-8209BC1C2343}"/>
              </a:ext>
            </a:extLst>
          </p:cNvPr>
          <p:cNvPicPr>
            <a:picLocks noChangeAspect="1"/>
          </p:cNvPicPr>
          <p:nvPr/>
        </p:nvPicPr>
        <p:blipFill>
          <a:blip r:embed="rId3"/>
          <a:stretch>
            <a:fillRect/>
          </a:stretch>
        </p:blipFill>
        <p:spPr>
          <a:xfrm>
            <a:off x="8427012" y="943304"/>
            <a:ext cx="3740804" cy="4459146"/>
          </a:xfrm>
          <a:prstGeom prst="rect">
            <a:avLst/>
          </a:prstGeom>
        </p:spPr>
      </p:pic>
      <p:graphicFrame>
        <p:nvGraphicFramePr>
          <p:cNvPr id="11" name="Table 10">
            <a:extLst>
              <a:ext uri="{FF2B5EF4-FFF2-40B4-BE49-F238E27FC236}">
                <a16:creationId xmlns:a16="http://schemas.microsoft.com/office/drawing/2014/main" id="{C4867957-50B2-4F70-8015-31813972E7FD}"/>
              </a:ext>
            </a:extLst>
          </p:cNvPr>
          <p:cNvGraphicFramePr>
            <a:graphicFrameLocks noGrp="1"/>
          </p:cNvGraphicFramePr>
          <p:nvPr>
            <p:extLst>
              <p:ext uri="{D42A27DB-BD31-4B8C-83A1-F6EECF244321}">
                <p14:modId xmlns:p14="http://schemas.microsoft.com/office/powerpoint/2010/main" val="2875489043"/>
              </p:ext>
            </p:extLst>
          </p:nvPr>
        </p:nvGraphicFramePr>
        <p:xfrm>
          <a:off x="4857546" y="5458775"/>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19871798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2: Map Coloring - Forward Checking</a:t>
            </a:r>
          </a:p>
        </p:txBody>
      </p:sp>
      <p:sp>
        <p:nvSpPr>
          <p:cNvPr id="4" name="Date Placeholder 3"/>
          <p:cNvSpPr>
            <a:spLocks noGrp="1"/>
          </p:cNvSpPr>
          <p:nvPr>
            <p:ph type="dt" sz="half" idx="10"/>
          </p:nvPr>
        </p:nvSpPr>
        <p:spPr/>
        <p:txBody>
          <a:bodyPr/>
          <a:lstStyle/>
          <a:p>
            <a:fld id="{29281272-2DF3-40B9-AA25-869C38BA7591}"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40</a:t>
            </a:fld>
            <a:endParaRPr lang="en-US" dirty="0"/>
          </a:p>
        </p:txBody>
      </p:sp>
      <p:sp>
        <p:nvSpPr>
          <p:cNvPr id="18" name="Content Placeholder 2"/>
          <p:cNvSpPr>
            <a:spLocks noGrp="1"/>
          </p:cNvSpPr>
          <p:nvPr>
            <p:ph idx="1"/>
          </p:nvPr>
        </p:nvSpPr>
        <p:spPr>
          <a:xfrm>
            <a:off x="304800" y="1340138"/>
            <a:ext cx="8204190" cy="4909994"/>
          </a:xfrm>
        </p:spPr>
        <p:txBody>
          <a:bodyPr>
            <a:normAutofit/>
          </a:bodyPr>
          <a:lstStyle/>
          <a:p>
            <a:r>
              <a:rPr lang="en-US" dirty="0">
                <a:solidFill>
                  <a:schemeClr val="accent6">
                    <a:lumMod val="75000"/>
                  </a:schemeClr>
                </a:solidFill>
              </a:rPr>
              <a:t>Step 5</a:t>
            </a:r>
            <a:r>
              <a:rPr lang="en-US" b="1" dirty="0"/>
              <a:t>:</a:t>
            </a:r>
            <a:r>
              <a:rPr lang="en-US" dirty="0"/>
              <a:t> </a:t>
            </a:r>
          </a:p>
          <a:p>
            <a:pPr lvl="1"/>
            <a:r>
              <a:rPr lang="en-US" dirty="0"/>
              <a:t>Select the next unassigned variable from the variable set, V5 = </a:t>
            </a:r>
            <a:r>
              <a:rPr lang="en-US" sz="2800" b="1" i="1" dirty="0">
                <a:latin typeface="Segoe Print" panose="02000600000000000000" pitchFamily="2" charset="0"/>
              </a:rPr>
              <a:t>Makkah</a:t>
            </a:r>
            <a:r>
              <a:rPr lang="en-US" dirty="0"/>
              <a:t>, and assign it the next available value in its domain; </a:t>
            </a:r>
            <a:r>
              <a:rPr lang="en-US" b="1" dirty="0">
                <a:solidFill>
                  <a:srgbClr val="FFC000"/>
                </a:solidFill>
              </a:rPr>
              <a:t>Y</a:t>
            </a:r>
            <a:r>
              <a:rPr lang="en-US" dirty="0"/>
              <a:t>.</a:t>
            </a:r>
          </a:p>
          <a:p>
            <a:pPr lvl="1"/>
            <a:r>
              <a:rPr lang="en-US" dirty="0"/>
              <a:t>Cross off the value (color) </a:t>
            </a:r>
            <a:r>
              <a:rPr lang="en-US" b="1" dirty="0">
                <a:solidFill>
                  <a:srgbClr val="FFC000"/>
                </a:solidFill>
              </a:rPr>
              <a:t>Y</a:t>
            </a:r>
            <a:r>
              <a:rPr lang="en-US" dirty="0"/>
              <a:t> from domains of all adjacent regions, i.e., V6</a:t>
            </a:r>
          </a:p>
          <a:p>
            <a:pPr lvl="1"/>
            <a:r>
              <a:rPr lang="en-US" dirty="0"/>
              <a:t>Note that the domain of V6 becomes empty</a:t>
            </a:r>
          </a:p>
          <a:p>
            <a:pPr lvl="1"/>
            <a:endParaRPr lang="en-US" dirty="0"/>
          </a:p>
          <a:p>
            <a:endParaRPr lang="en-US" dirty="0"/>
          </a:p>
        </p:txBody>
      </p:sp>
      <p:sp>
        <p:nvSpPr>
          <p:cNvPr id="13" name="TextBox 12">
            <a:extLst>
              <a:ext uri="{FF2B5EF4-FFF2-40B4-BE49-F238E27FC236}">
                <a16:creationId xmlns:a16="http://schemas.microsoft.com/office/drawing/2014/main" id="{788A6302-3755-4416-8162-EE676223EC50}"/>
              </a:ext>
            </a:extLst>
          </p:cNvPr>
          <p:cNvSpPr txBox="1"/>
          <p:nvPr/>
        </p:nvSpPr>
        <p:spPr>
          <a:xfrm>
            <a:off x="10410049" y="5019306"/>
            <a:ext cx="779765" cy="369332"/>
          </a:xfrm>
          <a:prstGeom prst="rect">
            <a:avLst/>
          </a:prstGeom>
          <a:noFill/>
        </p:spPr>
        <p:txBody>
          <a:bodyPr wrap="none" rtlCol="0">
            <a:spAutoFit/>
          </a:bodyPr>
          <a:lstStyle/>
          <a:p>
            <a:r>
              <a:rPr lang="en-US" b="1" dirty="0"/>
              <a:t>Step 5</a:t>
            </a:r>
          </a:p>
        </p:txBody>
      </p:sp>
      <p:sp>
        <p:nvSpPr>
          <p:cNvPr id="16" name="TextBox 15">
            <a:extLst>
              <a:ext uri="{FF2B5EF4-FFF2-40B4-BE49-F238E27FC236}">
                <a16:creationId xmlns:a16="http://schemas.microsoft.com/office/drawing/2014/main" id="{919BD780-8F97-4B8B-B403-3DAEAD62EF8D}"/>
              </a:ext>
            </a:extLst>
          </p:cNvPr>
          <p:cNvSpPr txBox="1"/>
          <p:nvPr/>
        </p:nvSpPr>
        <p:spPr>
          <a:xfrm>
            <a:off x="9391977" y="5302739"/>
            <a:ext cx="2703557" cy="646331"/>
          </a:xfrm>
          <a:prstGeom prst="rect">
            <a:avLst/>
          </a:prstGeom>
          <a:noFill/>
        </p:spPr>
        <p:txBody>
          <a:bodyPr wrap="square" rtlCol="0">
            <a:spAutoFit/>
          </a:bodyPr>
          <a:lstStyle/>
          <a:p>
            <a:pPr algn="ctr"/>
            <a:r>
              <a:rPr lang="en-US" dirty="0">
                <a:solidFill>
                  <a:srgbClr val="0070C0"/>
                </a:solidFill>
              </a:rPr>
              <a:t>Note the domain reduction of V6</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5D52E35-ADEC-4D1B-0553-8A5BC2CEF733}"/>
                  </a:ext>
                </a:extLst>
              </p:cNvPr>
              <p:cNvSpPr txBox="1"/>
              <p:nvPr/>
            </p:nvSpPr>
            <p:spPr>
              <a:xfrm>
                <a:off x="9572071" y="5949070"/>
                <a:ext cx="2372412" cy="369332"/>
              </a:xfrm>
              <a:prstGeom prst="rect">
                <a:avLst/>
              </a:prstGeom>
              <a:solidFill>
                <a:srgbClr val="FFCC66">
                  <a:alpha val="67000"/>
                </a:srgbClr>
              </a:solidFill>
            </p:spPr>
            <p:txBody>
              <a:bodyPr wrap="square" rtlCol="0">
                <a:spAutoFit/>
              </a:bodyPr>
              <a:lstStyle/>
              <a:p>
                <a:pPr algn="ctr"/>
                <a:r>
                  <a:rPr lang="en-US" dirty="0">
                    <a:solidFill>
                      <a:srgbClr val="0070C0"/>
                    </a:solidFill>
                  </a:rPr>
                  <a:t>Domain of V6=</a:t>
                </a:r>
                <a14:m>
                  <m:oMath xmlns:m="http://schemas.openxmlformats.org/officeDocument/2006/math">
                    <m:r>
                      <a:rPr lang="en-US" i="1" smtClean="0">
                        <a:solidFill>
                          <a:srgbClr val="0070C0"/>
                        </a:solidFill>
                        <a:latin typeface="Cambria Math" panose="02040503050406030204" pitchFamily="18" charset="0"/>
                        <a:ea typeface="Cambria Math" panose="02040503050406030204" pitchFamily="18" charset="0"/>
                      </a:rPr>
                      <m:t>𝜙</m:t>
                    </m:r>
                  </m:oMath>
                </a14:m>
                <a:endParaRPr lang="en-US" b="1" dirty="0">
                  <a:solidFill>
                    <a:srgbClr val="C00000"/>
                  </a:solidFill>
                </a:endParaRPr>
              </a:p>
            </p:txBody>
          </p:sp>
        </mc:Choice>
        <mc:Fallback xmlns="">
          <p:sp>
            <p:nvSpPr>
              <p:cNvPr id="7" name="TextBox 6">
                <a:extLst>
                  <a:ext uri="{FF2B5EF4-FFF2-40B4-BE49-F238E27FC236}">
                    <a16:creationId xmlns:a16="http://schemas.microsoft.com/office/drawing/2014/main" id="{A5D52E35-ADEC-4D1B-0553-8A5BC2CEF733}"/>
                  </a:ext>
                </a:extLst>
              </p:cNvPr>
              <p:cNvSpPr txBox="1">
                <a:spLocks noRot="1" noChangeAspect="1" noMove="1" noResize="1" noEditPoints="1" noAdjustHandles="1" noChangeArrowheads="1" noChangeShapeType="1" noTextEdit="1"/>
              </p:cNvSpPr>
              <p:nvPr/>
            </p:nvSpPr>
            <p:spPr>
              <a:xfrm>
                <a:off x="9572071" y="5949070"/>
                <a:ext cx="2372412" cy="369332"/>
              </a:xfrm>
              <a:prstGeom prst="rect">
                <a:avLst/>
              </a:prstGeom>
              <a:blipFill>
                <a:blip r:embed="rId3"/>
                <a:stretch>
                  <a:fillRect t="-10000" b="-26667"/>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87B87C82-A858-E01D-4CD5-14CBAECCB7B7}"/>
              </a:ext>
            </a:extLst>
          </p:cNvPr>
          <p:cNvPicPr>
            <a:picLocks noChangeAspect="1"/>
          </p:cNvPicPr>
          <p:nvPr/>
        </p:nvPicPr>
        <p:blipFill>
          <a:blip r:embed="rId4"/>
          <a:stretch>
            <a:fillRect/>
          </a:stretch>
        </p:blipFill>
        <p:spPr>
          <a:xfrm>
            <a:off x="8592624" y="976411"/>
            <a:ext cx="3452236" cy="4115166"/>
          </a:xfrm>
          <a:prstGeom prst="rect">
            <a:avLst/>
          </a:prstGeom>
        </p:spPr>
      </p:pic>
      <p:graphicFrame>
        <p:nvGraphicFramePr>
          <p:cNvPr id="12" name="Table 11">
            <a:extLst>
              <a:ext uri="{FF2B5EF4-FFF2-40B4-BE49-F238E27FC236}">
                <a16:creationId xmlns:a16="http://schemas.microsoft.com/office/drawing/2014/main" id="{E63A96F3-0268-4ED2-B036-2856904A9B3F}"/>
              </a:ext>
            </a:extLst>
          </p:cNvPr>
          <p:cNvGraphicFramePr>
            <a:graphicFrameLocks noGrp="1"/>
          </p:cNvGraphicFramePr>
          <p:nvPr>
            <p:extLst>
              <p:ext uri="{D42A27DB-BD31-4B8C-83A1-F6EECF244321}">
                <p14:modId xmlns:p14="http://schemas.microsoft.com/office/powerpoint/2010/main" val="277764200"/>
              </p:ext>
            </p:extLst>
          </p:nvPr>
        </p:nvGraphicFramePr>
        <p:xfrm>
          <a:off x="5063241" y="5567334"/>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2748669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2: Map Coloring - Forward Checking</a:t>
            </a:r>
          </a:p>
        </p:txBody>
      </p:sp>
      <p:sp>
        <p:nvSpPr>
          <p:cNvPr id="4" name="Date Placeholder 3"/>
          <p:cNvSpPr>
            <a:spLocks noGrp="1"/>
          </p:cNvSpPr>
          <p:nvPr>
            <p:ph type="dt" sz="half" idx="10"/>
          </p:nvPr>
        </p:nvSpPr>
        <p:spPr/>
        <p:txBody>
          <a:bodyPr/>
          <a:lstStyle/>
          <a:p>
            <a:fld id="{29281272-2DF3-40B9-AA25-869C38BA7591}"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41</a:t>
            </a:fld>
            <a:endParaRPr lang="en-US" dirty="0"/>
          </a:p>
        </p:txBody>
      </p:sp>
      <p:sp>
        <p:nvSpPr>
          <p:cNvPr id="18" name="Content Placeholder 2"/>
          <p:cNvSpPr>
            <a:spLocks noGrp="1"/>
          </p:cNvSpPr>
          <p:nvPr>
            <p:ph idx="1"/>
          </p:nvPr>
        </p:nvSpPr>
        <p:spPr>
          <a:xfrm>
            <a:off x="304800" y="1340138"/>
            <a:ext cx="8204190" cy="4909994"/>
          </a:xfrm>
        </p:spPr>
        <p:txBody>
          <a:bodyPr>
            <a:normAutofit/>
          </a:bodyPr>
          <a:lstStyle/>
          <a:p>
            <a:r>
              <a:rPr lang="en-US" dirty="0">
                <a:solidFill>
                  <a:schemeClr val="accent6">
                    <a:lumMod val="75000"/>
                  </a:schemeClr>
                </a:solidFill>
              </a:rPr>
              <a:t>Step 6</a:t>
            </a:r>
            <a:r>
              <a:rPr lang="en-US" b="1" dirty="0"/>
              <a:t>:</a:t>
            </a:r>
            <a:r>
              <a:rPr lang="en-US" dirty="0"/>
              <a:t> </a:t>
            </a:r>
          </a:p>
          <a:p>
            <a:pPr lvl="1"/>
            <a:r>
              <a:rPr lang="en-US" dirty="0">
                <a:solidFill>
                  <a:srgbClr val="0033CC"/>
                </a:solidFill>
              </a:rPr>
              <a:t>Backtrack</a:t>
            </a:r>
            <a:r>
              <a:rPr lang="en-US" dirty="0"/>
              <a:t> to V5 = </a:t>
            </a:r>
            <a:r>
              <a:rPr lang="en-US" sz="2800" b="1" i="1" dirty="0">
                <a:latin typeface="Segoe Print" panose="02000600000000000000" pitchFamily="2" charset="0"/>
              </a:rPr>
              <a:t>Makkah</a:t>
            </a:r>
            <a:r>
              <a:rPr lang="en-US" dirty="0"/>
              <a:t> and remove its color assignment.</a:t>
            </a:r>
          </a:p>
          <a:p>
            <a:pPr lvl="1"/>
            <a:r>
              <a:rPr lang="en-US" dirty="0"/>
              <a:t>Choose the next available color in V5 domain; </a:t>
            </a:r>
            <a:r>
              <a:rPr lang="en-US" b="1" dirty="0">
                <a:solidFill>
                  <a:srgbClr val="00B050"/>
                </a:solidFill>
              </a:rPr>
              <a:t>G</a:t>
            </a:r>
            <a:r>
              <a:rPr lang="en-US" dirty="0"/>
              <a:t>. </a:t>
            </a:r>
          </a:p>
          <a:p>
            <a:pPr lvl="1"/>
            <a:endParaRPr lang="en-US" dirty="0"/>
          </a:p>
          <a:p>
            <a:endParaRPr lang="en-US" dirty="0"/>
          </a:p>
        </p:txBody>
      </p:sp>
      <p:sp>
        <p:nvSpPr>
          <p:cNvPr id="13" name="TextBox 12">
            <a:extLst>
              <a:ext uri="{FF2B5EF4-FFF2-40B4-BE49-F238E27FC236}">
                <a16:creationId xmlns:a16="http://schemas.microsoft.com/office/drawing/2014/main" id="{788A6302-3755-4416-8162-EE676223EC50}"/>
              </a:ext>
            </a:extLst>
          </p:cNvPr>
          <p:cNvSpPr txBox="1"/>
          <p:nvPr/>
        </p:nvSpPr>
        <p:spPr>
          <a:xfrm>
            <a:off x="10410047" y="5396072"/>
            <a:ext cx="779765" cy="369332"/>
          </a:xfrm>
          <a:prstGeom prst="rect">
            <a:avLst/>
          </a:prstGeom>
          <a:noFill/>
        </p:spPr>
        <p:txBody>
          <a:bodyPr wrap="none" rtlCol="0">
            <a:spAutoFit/>
          </a:bodyPr>
          <a:lstStyle/>
          <a:p>
            <a:r>
              <a:rPr lang="en-US" b="1" dirty="0"/>
              <a:t>Step 6</a:t>
            </a:r>
          </a:p>
        </p:txBody>
      </p:sp>
      <p:sp>
        <p:nvSpPr>
          <p:cNvPr id="16" name="TextBox 15">
            <a:extLst>
              <a:ext uri="{FF2B5EF4-FFF2-40B4-BE49-F238E27FC236}">
                <a16:creationId xmlns:a16="http://schemas.microsoft.com/office/drawing/2014/main" id="{919BD780-8F97-4B8B-B403-3DAEAD62EF8D}"/>
              </a:ext>
            </a:extLst>
          </p:cNvPr>
          <p:cNvSpPr txBox="1"/>
          <p:nvPr/>
        </p:nvSpPr>
        <p:spPr>
          <a:xfrm>
            <a:off x="9448152" y="5652218"/>
            <a:ext cx="2703557" cy="369332"/>
          </a:xfrm>
          <a:prstGeom prst="rect">
            <a:avLst/>
          </a:prstGeom>
          <a:noFill/>
        </p:spPr>
        <p:txBody>
          <a:bodyPr wrap="square" rtlCol="0">
            <a:spAutoFit/>
          </a:bodyPr>
          <a:lstStyle/>
          <a:p>
            <a:pPr algn="ctr"/>
            <a:r>
              <a:rPr lang="en-US" dirty="0">
                <a:solidFill>
                  <a:srgbClr val="0070C0"/>
                </a:solidFill>
              </a:rPr>
              <a:t>Note the domain of V6</a:t>
            </a:r>
          </a:p>
        </p:txBody>
      </p:sp>
      <p:graphicFrame>
        <p:nvGraphicFramePr>
          <p:cNvPr id="11" name="Table 10">
            <a:extLst>
              <a:ext uri="{FF2B5EF4-FFF2-40B4-BE49-F238E27FC236}">
                <a16:creationId xmlns:a16="http://schemas.microsoft.com/office/drawing/2014/main" id="{B8BB288C-702E-4820-ACC5-DDD9C6A0B4DF}"/>
              </a:ext>
            </a:extLst>
          </p:cNvPr>
          <p:cNvGraphicFramePr>
            <a:graphicFrameLocks noGrp="1"/>
          </p:cNvGraphicFramePr>
          <p:nvPr>
            <p:extLst>
              <p:ext uri="{D42A27DB-BD31-4B8C-83A1-F6EECF244321}">
                <p14:modId xmlns:p14="http://schemas.microsoft.com/office/powerpoint/2010/main" val="2875489043"/>
              </p:ext>
            </p:extLst>
          </p:nvPr>
        </p:nvGraphicFramePr>
        <p:xfrm>
          <a:off x="4857546" y="5458775"/>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pic>
        <p:nvPicPr>
          <p:cNvPr id="7" name="Picture 6">
            <a:extLst>
              <a:ext uri="{FF2B5EF4-FFF2-40B4-BE49-F238E27FC236}">
                <a16:creationId xmlns:a16="http://schemas.microsoft.com/office/drawing/2014/main" id="{7C91D77F-CD72-94F0-A444-6B23ADE8D51F}"/>
              </a:ext>
            </a:extLst>
          </p:cNvPr>
          <p:cNvPicPr>
            <a:picLocks noChangeAspect="1"/>
          </p:cNvPicPr>
          <p:nvPr/>
        </p:nvPicPr>
        <p:blipFill>
          <a:blip r:embed="rId3"/>
          <a:stretch>
            <a:fillRect/>
          </a:stretch>
        </p:blipFill>
        <p:spPr>
          <a:xfrm>
            <a:off x="8736852" y="1277435"/>
            <a:ext cx="3455148" cy="4118637"/>
          </a:xfrm>
          <a:prstGeom prst="rect">
            <a:avLst/>
          </a:prstGeom>
        </p:spPr>
      </p:pic>
    </p:spTree>
    <p:extLst>
      <p:ext uri="{BB962C8B-B14F-4D97-AF65-F5344CB8AC3E}">
        <p14:creationId xmlns:p14="http://schemas.microsoft.com/office/powerpoint/2010/main" val="36144165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2: Map Coloring - Forward Checking</a:t>
            </a:r>
          </a:p>
        </p:txBody>
      </p:sp>
      <p:sp>
        <p:nvSpPr>
          <p:cNvPr id="4" name="Date Placeholder 3"/>
          <p:cNvSpPr>
            <a:spLocks noGrp="1"/>
          </p:cNvSpPr>
          <p:nvPr>
            <p:ph type="dt" sz="half" idx="10"/>
          </p:nvPr>
        </p:nvSpPr>
        <p:spPr/>
        <p:txBody>
          <a:bodyPr/>
          <a:lstStyle/>
          <a:p>
            <a:fld id="{29281272-2DF3-40B9-AA25-869C38BA7591}"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42</a:t>
            </a:fld>
            <a:endParaRPr lang="en-US" dirty="0"/>
          </a:p>
        </p:txBody>
      </p:sp>
      <p:sp>
        <p:nvSpPr>
          <p:cNvPr id="18" name="Content Placeholder 2"/>
          <p:cNvSpPr>
            <a:spLocks noGrp="1"/>
          </p:cNvSpPr>
          <p:nvPr>
            <p:ph idx="1"/>
          </p:nvPr>
        </p:nvSpPr>
        <p:spPr>
          <a:xfrm>
            <a:off x="304800" y="1340138"/>
            <a:ext cx="8204190" cy="4909994"/>
          </a:xfrm>
        </p:spPr>
        <p:txBody>
          <a:bodyPr>
            <a:normAutofit/>
          </a:bodyPr>
          <a:lstStyle/>
          <a:p>
            <a:r>
              <a:rPr lang="en-US" dirty="0">
                <a:solidFill>
                  <a:schemeClr val="accent6">
                    <a:lumMod val="75000"/>
                  </a:schemeClr>
                </a:solidFill>
              </a:rPr>
              <a:t>Step 7</a:t>
            </a:r>
            <a:r>
              <a:rPr lang="en-US" b="1" dirty="0"/>
              <a:t>:</a:t>
            </a:r>
            <a:r>
              <a:rPr lang="en-US" dirty="0"/>
              <a:t> </a:t>
            </a:r>
          </a:p>
          <a:p>
            <a:pPr lvl="1"/>
            <a:r>
              <a:rPr lang="en-US" dirty="0"/>
              <a:t>Color V6 with available color (V6=</a:t>
            </a:r>
            <a:r>
              <a:rPr lang="en-US" b="1" dirty="0">
                <a:solidFill>
                  <a:srgbClr val="FFC000"/>
                </a:solidFill>
              </a:rPr>
              <a:t>Y</a:t>
            </a:r>
            <a:r>
              <a:rPr lang="en-US" dirty="0"/>
              <a:t>)</a:t>
            </a:r>
          </a:p>
          <a:p>
            <a:pPr lvl="1"/>
            <a:r>
              <a:rPr lang="en-US" dirty="0"/>
              <a:t>Since all variables are assigned </a:t>
            </a:r>
            <a:r>
              <a:rPr lang="en-US" dirty="0">
                <a:sym typeface="Wingdings" panose="05000000000000000000" pitchFamily="2" charset="2"/>
              </a:rPr>
              <a:t> End</a:t>
            </a:r>
            <a:endParaRPr lang="en-US" dirty="0"/>
          </a:p>
          <a:p>
            <a:endParaRPr lang="en-US" dirty="0"/>
          </a:p>
          <a:p>
            <a:pPr marL="76198" indent="0">
              <a:buNone/>
            </a:pPr>
            <a:endParaRPr lang="en-US" dirty="0"/>
          </a:p>
          <a:p>
            <a:pPr lvl="1"/>
            <a:endParaRPr lang="en-US" dirty="0"/>
          </a:p>
          <a:p>
            <a:endParaRPr lang="en-US" dirty="0"/>
          </a:p>
        </p:txBody>
      </p:sp>
      <p:sp>
        <p:nvSpPr>
          <p:cNvPr id="13" name="TextBox 12">
            <a:extLst>
              <a:ext uri="{FF2B5EF4-FFF2-40B4-BE49-F238E27FC236}">
                <a16:creationId xmlns:a16="http://schemas.microsoft.com/office/drawing/2014/main" id="{788A6302-3755-4416-8162-EE676223EC50}"/>
              </a:ext>
            </a:extLst>
          </p:cNvPr>
          <p:cNvSpPr txBox="1"/>
          <p:nvPr/>
        </p:nvSpPr>
        <p:spPr>
          <a:xfrm>
            <a:off x="10410047" y="5396072"/>
            <a:ext cx="779765" cy="369332"/>
          </a:xfrm>
          <a:prstGeom prst="rect">
            <a:avLst/>
          </a:prstGeom>
          <a:noFill/>
        </p:spPr>
        <p:txBody>
          <a:bodyPr wrap="none" rtlCol="0">
            <a:spAutoFit/>
          </a:bodyPr>
          <a:lstStyle/>
          <a:p>
            <a:r>
              <a:rPr lang="en-US" b="1" dirty="0"/>
              <a:t>Step 7</a:t>
            </a:r>
          </a:p>
        </p:txBody>
      </p:sp>
      <p:sp>
        <p:nvSpPr>
          <p:cNvPr id="16" name="TextBox 15">
            <a:extLst>
              <a:ext uri="{FF2B5EF4-FFF2-40B4-BE49-F238E27FC236}">
                <a16:creationId xmlns:a16="http://schemas.microsoft.com/office/drawing/2014/main" id="{919BD780-8F97-4B8B-B403-3DAEAD62EF8D}"/>
              </a:ext>
            </a:extLst>
          </p:cNvPr>
          <p:cNvSpPr txBox="1"/>
          <p:nvPr/>
        </p:nvSpPr>
        <p:spPr>
          <a:xfrm>
            <a:off x="9448152" y="5652218"/>
            <a:ext cx="2703557" cy="369332"/>
          </a:xfrm>
          <a:prstGeom prst="rect">
            <a:avLst/>
          </a:prstGeom>
          <a:noFill/>
        </p:spPr>
        <p:txBody>
          <a:bodyPr wrap="square" rtlCol="0">
            <a:spAutoFit/>
          </a:bodyPr>
          <a:lstStyle/>
          <a:p>
            <a:pPr algn="ctr"/>
            <a:r>
              <a:rPr lang="en-US" dirty="0">
                <a:solidFill>
                  <a:srgbClr val="0070C0"/>
                </a:solidFill>
              </a:rPr>
              <a:t>Note the domain of V5</a:t>
            </a:r>
          </a:p>
        </p:txBody>
      </p:sp>
      <p:graphicFrame>
        <p:nvGraphicFramePr>
          <p:cNvPr id="11" name="Table 10">
            <a:extLst>
              <a:ext uri="{FF2B5EF4-FFF2-40B4-BE49-F238E27FC236}">
                <a16:creationId xmlns:a16="http://schemas.microsoft.com/office/drawing/2014/main" id="{A9C0ED9A-7AB9-4F06-9ADB-C933BADC079F}"/>
              </a:ext>
            </a:extLst>
          </p:cNvPr>
          <p:cNvGraphicFramePr>
            <a:graphicFrameLocks noGrp="1"/>
          </p:cNvGraphicFramePr>
          <p:nvPr>
            <p:extLst>
              <p:ext uri="{D42A27DB-BD31-4B8C-83A1-F6EECF244321}">
                <p14:modId xmlns:p14="http://schemas.microsoft.com/office/powerpoint/2010/main" val="2875489043"/>
              </p:ext>
            </p:extLst>
          </p:nvPr>
        </p:nvGraphicFramePr>
        <p:xfrm>
          <a:off x="4857546" y="5458775"/>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pic>
        <p:nvPicPr>
          <p:cNvPr id="7" name="Picture 6">
            <a:extLst>
              <a:ext uri="{FF2B5EF4-FFF2-40B4-BE49-F238E27FC236}">
                <a16:creationId xmlns:a16="http://schemas.microsoft.com/office/drawing/2014/main" id="{2C1D01F4-2228-C1A5-856A-449B8913123F}"/>
              </a:ext>
            </a:extLst>
          </p:cNvPr>
          <p:cNvPicPr>
            <a:picLocks noChangeAspect="1"/>
          </p:cNvPicPr>
          <p:nvPr/>
        </p:nvPicPr>
        <p:blipFill>
          <a:blip r:embed="rId3"/>
          <a:stretch>
            <a:fillRect/>
          </a:stretch>
        </p:blipFill>
        <p:spPr>
          <a:xfrm>
            <a:off x="8508989" y="1200255"/>
            <a:ext cx="3519895" cy="4195817"/>
          </a:xfrm>
          <a:prstGeom prst="rect">
            <a:avLst/>
          </a:prstGeom>
        </p:spPr>
      </p:pic>
    </p:spTree>
    <p:extLst>
      <p:ext uri="{BB962C8B-B14F-4D97-AF65-F5344CB8AC3E}">
        <p14:creationId xmlns:p14="http://schemas.microsoft.com/office/powerpoint/2010/main" val="36198708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CSP Example 2: Map Coloring - Forward Checking - Summary</a:t>
            </a:r>
          </a:p>
        </p:txBody>
      </p:sp>
      <p:sp>
        <p:nvSpPr>
          <p:cNvPr id="4" name="Date Placeholder 3"/>
          <p:cNvSpPr>
            <a:spLocks noGrp="1"/>
          </p:cNvSpPr>
          <p:nvPr>
            <p:ph type="dt" sz="half" idx="10"/>
          </p:nvPr>
        </p:nvSpPr>
        <p:spPr/>
        <p:txBody>
          <a:bodyPr/>
          <a:lstStyle/>
          <a:p>
            <a:fld id="{79808A66-DB1B-403C-8601-5104F4364A63}"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43</a:t>
            </a:fld>
            <a:endParaRPr lang="en-US" dirty="0"/>
          </a:p>
        </p:txBody>
      </p:sp>
      <p:sp>
        <p:nvSpPr>
          <p:cNvPr id="12" name="TextBox 11">
            <a:extLst>
              <a:ext uri="{FF2B5EF4-FFF2-40B4-BE49-F238E27FC236}">
                <a16:creationId xmlns:a16="http://schemas.microsoft.com/office/drawing/2014/main" id="{788A6302-3755-4416-8162-EE676223EC50}"/>
              </a:ext>
            </a:extLst>
          </p:cNvPr>
          <p:cNvSpPr txBox="1"/>
          <p:nvPr/>
        </p:nvSpPr>
        <p:spPr>
          <a:xfrm>
            <a:off x="1104970" y="4152760"/>
            <a:ext cx="779765" cy="369332"/>
          </a:xfrm>
          <a:prstGeom prst="rect">
            <a:avLst/>
          </a:prstGeom>
          <a:noFill/>
        </p:spPr>
        <p:txBody>
          <a:bodyPr wrap="none" rtlCol="0">
            <a:spAutoFit/>
          </a:bodyPr>
          <a:lstStyle/>
          <a:p>
            <a:r>
              <a:rPr lang="en-US" b="1" dirty="0"/>
              <a:t>Step 1</a:t>
            </a:r>
          </a:p>
        </p:txBody>
      </p:sp>
      <p:sp>
        <p:nvSpPr>
          <p:cNvPr id="13" name="TextBox 12">
            <a:extLst>
              <a:ext uri="{FF2B5EF4-FFF2-40B4-BE49-F238E27FC236}">
                <a16:creationId xmlns:a16="http://schemas.microsoft.com/office/drawing/2014/main" id="{31F8575B-A4B3-4CD3-9806-2BD2EFBF6A78}"/>
              </a:ext>
            </a:extLst>
          </p:cNvPr>
          <p:cNvSpPr txBox="1"/>
          <p:nvPr/>
        </p:nvSpPr>
        <p:spPr>
          <a:xfrm>
            <a:off x="4153409" y="4152760"/>
            <a:ext cx="779765" cy="369332"/>
          </a:xfrm>
          <a:prstGeom prst="rect">
            <a:avLst/>
          </a:prstGeom>
          <a:noFill/>
        </p:spPr>
        <p:txBody>
          <a:bodyPr wrap="none" rtlCol="0">
            <a:spAutoFit/>
          </a:bodyPr>
          <a:lstStyle/>
          <a:p>
            <a:r>
              <a:rPr lang="en-US" b="1" dirty="0"/>
              <a:t>Step 2</a:t>
            </a:r>
          </a:p>
        </p:txBody>
      </p:sp>
      <p:sp>
        <p:nvSpPr>
          <p:cNvPr id="14" name="TextBox 13">
            <a:extLst>
              <a:ext uri="{FF2B5EF4-FFF2-40B4-BE49-F238E27FC236}">
                <a16:creationId xmlns:a16="http://schemas.microsoft.com/office/drawing/2014/main" id="{C2BA28CF-EFB7-434A-AE0D-F118444D00B0}"/>
              </a:ext>
            </a:extLst>
          </p:cNvPr>
          <p:cNvSpPr txBox="1"/>
          <p:nvPr/>
        </p:nvSpPr>
        <p:spPr>
          <a:xfrm>
            <a:off x="7137694" y="4152760"/>
            <a:ext cx="779765" cy="369332"/>
          </a:xfrm>
          <a:prstGeom prst="rect">
            <a:avLst/>
          </a:prstGeom>
          <a:noFill/>
        </p:spPr>
        <p:txBody>
          <a:bodyPr wrap="none" rtlCol="0">
            <a:spAutoFit/>
          </a:bodyPr>
          <a:lstStyle/>
          <a:p>
            <a:r>
              <a:rPr lang="en-US" b="1" dirty="0"/>
              <a:t>Step 3</a:t>
            </a:r>
          </a:p>
        </p:txBody>
      </p:sp>
      <p:sp>
        <p:nvSpPr>
          <p:cNvPr id="15" name="TextBox 14">
            <a:extLst>
              <a:ext uri="{FF2B5EF4-FFF2-40B4-BE49-F238E27FC236}">
                <a16:creationId xmlns:a16="http://schemas.microsoft.com/office/drawing/2014/main" id="{624B9C6C-F4BB-4221-AEF0-3ADB868AA4C1}"/>
              </a:ext>
            </a:extLst>
          </p:cNvPr>
          <p:cNvSpPr txBox="1"/>
          <p:nvPr/>
        </p:nvSpPr>
        <p:spPr>
          <a:xfrm>
            <a:off x="304800" y="4409280"/>
            <a:ext cx="2372412" cy="646331"/>
          </a:xfrm>
          <a:prstGeom prst="rect">
            <a:avLst/>
          </a:prstGeom>
          <a:noFill/>
        </p:spPr>
        <p:txBody>
          <a:bodyPr wrap="square" rtlCol="0">
            <a:spAutoFit/>
          </a:bodyPr>
          <a:lstStyle/>
          <a:p>
            <a:pPr algn="ctr"/>
            <a:r>
              <a:rPr lang="en-US" dirty="0">
                <a:solidFill>
                  <a:srgbClr val="0070C0"/>
                </a:solidFill>
              </a:rPr>
              <a:t>Note the domain reduction of V2 and V6</a:t>
            </a:r>
          </a:p>
        </p:txBody>
      </p:sp>
      <p:sp>
        <p:nvSpPr>
          <p:cNvPr id="16" name="TextBox 15">
            <a:extLst>
              <a:ext uri="{FF2B5EF4-FFF2-40B4-BE49-F238E27FC236}">
                <a16:creationId xmlns:a16="http://schemas.microsoft.com/office/drawing/2014/main" id="{3EFCBCA4-9526-49F5-B08C-61DCAD611323}"/>
              </a:ext>
            </a:extLst>
          </p:cNvPr>
          <p:cNvSpPr txBox="1"/>
          <p:nvPr/>
        </p:nvSpPr>
        <p:spPr>
          <a:xfrm>
            <a:off x="3356246" y="4396346"/>
            <a:ext cx="2372412" cy="646331"/>
          </a:xfrm>
          <a:prstGeom prst="rect">
            <a:avLst/>
          </a:prstGeom>
          <a:noFill/>
        </p:spPr>
        <p:txBody>
          <a:bodyPr wrap="square" rtlCol="0">
            <a:spAutoFit/>
          </a:bodyPr>
          <a:lstStyle/>
          <a:p>
            <a:pPr algn="ctr"/>
            <a:r>
              <a:rPr lang="en-US" dirty="0">
                <a:solidFill>
                  <a:srgbClr val="0070C0"/>
                </a:solidFill>
              </a:rPr>
              <a:t>Note the domain reduction of V3 and V6</a:t>
            </a:r>
          </a:p>
        </p:txBody>
      </p:sp>
      <p:sp>
        <p:nvSpPr>
          <p:cNvPr id="17" name="TextBox 16">
            <a:extLst>
              <a:ext uri="{FF2B5EF4-FFF2-40B4-BE49-F238E27FC236}">
                <a16:creationId xmlns:a16="http://schemas.microsoft.com/office/drawing/2014/main" id="{6580ACE2-CDB1-445F-ADF0-D01521D6D963}"/>
              </a:ext>
            </a:extLst>
          </p:cNvPr>
          <p:cNvSpPr txBox="1"/>
          <p:nvPr/>
        </p:nvSpPr>
        <p:spPr>
          <a:xfrm>
            <a:off x="6337524" y="4396345"/>
            <a:ext cx="2372412" cy="646331"/>
          </a:xfrm>
          <a:prstGeom prst="rect">
            <a:avLst/>
          </a:prstGeom>
          <a:noFill/>
        </p:spPr>
        <p:txBody>
          <a:bodyPr wrap="square" rtlCol="0">
            <a:spAutoFit/>
          </a:bodyPr>
          <a:lstStyle/>
          <a:p>
            <a:pPr algn="ctr"/>
            <a:r>
              <a:rPr lang="en-US" dirty="0">
                <a:solidFill>
                  <a:srgbClr val="0070C0"/>
                </a:solidFill>
              </a:rPr>
              <a:t>Note the domain reduction of V4 and V6</a:t>
            </a:r>
          </a:p>
        </p:txBody>
      </p:sp>
      <p:sp>
        <p:nvSpPr>
          <p:cNvPr id="18" name="TextBox 17">
            <a:extLst>
              <a:ext uri="{FF2B5EF4-FFF2-40B4-BE49-F238E27FC236}">
                <a16:creationId xmlns:a16="http://schemas.microsoft.com/office/drawing/2014/main" id="{788A6302-3755-4416-8162-EE676223EC50}"/>
              </a:ext>
            </a:extLst>
          </p:cNvPr>
          <p:cNvSpPr txBox="1"/>
          <p:nvPr/>
        </p:nvSpPr>
        <p:spPr>
          <a:xfrm>
            <a:off x="10134707" y="4158987"/>
            <a:ext cx="779765" cy="369332"/>
          </a:xfrm>
          <a:prstGeom prst="rect">
            <a:avLst/>
          </a:prstGeom>
          <a:noFill/>
        </p:spPr>
        <p:txBody>
          <a:bodyPr wrap="none" rtlCol="0">
            <a:spAutoFit/>
          </a:bodyPr>
          <a:lstStyle/>
          <a:p>
            <a:r>
              <a:rPr lang="en-US" b="1" dirty="0"/>
              <a:t>Step 4</a:t>
            </a:r>
          </a:p>
        </p:txBody>
      </p:sp>
      <p:sp>
        <p:nvSpPr>
          <p:cNvPr id="20" name="TextBox 19">
            <a:extLst>
              <a:ext uri="{FF2B5EF4-FFF2-40B4-BE49-F238E27FC236}">
                <a16:creationId xmlns:a16="http://schemas.microsoft.com/office/drawing/2014/main" id="{919BD780-8F97-4B8B-B403-3DAEAD62EF8D}"/>
              </a:ext>
            </a:extLst>
          </p:cNvPr>
          <p:cNvSpPr txBox="1"/>
          <p:nvPr/>
        </p:nvSpPr>
        <p:spPr>
          <a:xfrm>
            <a:off x="9116635" y="4442420"/>
            <a:ext cx="2703557" cy="646331"/>
          </a:xfrm>
          <a:prstGeom prst="rect">
            <a:avLst/>
          </a:prstGeom>
          <a:noFill/>
        </p:spPr>
        <p:txBody>
          <a:bodyPr wrap="square" rtlCol="0">
            <a:spAutoFit/>
          </a:bodyPr>
          <a:lstStyle/>
          <a:p>
            <a:pPr algn="ctr"/>
            <a:r>
              <a:rPr lang="en-US" dirty="0">
                <a:solidFill>
                  <a:srgbClr val="0070C0"/>
                </a:solidFill>
              </a:rPr>
              <a:t>Note the domain reduction of V5</a:t>
            </a:r>
          </a:p>
        </p:txBody>
      </p:sp>
      <p:pic>
        <p:nvPicPr>
          <p:cNvPr id="28" name="Picture 27">
            <a:extLst>
              <a:ext uri="{FF2B5EF4-FFF2-40B4-BE49-F238E27FC236}">
                <a16:creationId xmlns:a16="http://schemas.microsoft.com/office/drawing/2014/main" id="{13BB4E50-6E99-D3A4-A63B-25807699CD58}"/>
              </a:ext>
            </a:extLst>
          </p:cNvPr>
          <p:cNvPicPr>
            <a:picLocks noChangeAspect="1"/>
          </p:cNvPicPr>
          <p:nvPr/>
        </p:nvPicPr>
        <p:blipFill>
          <a:blip r:embed="rId3"/>
          <a:stretch>
            <a:fillRect/>
          </a:stretch>
        </p:blipFill>
        <p:spPr>
          <a:xfrm>
            <a:off x="0" y="1216610"/>
            <a:ext cx="12192000" cy="2912976"/>
          </a:xfrm>
          <a:prstGeom prst="rect">
            <a:avLst/>
          </a:prstGeom>
        </p:spPr>
      </p:pic>
      <p:graphicFrame>
        <p:nvGraphicFramePr>
          <p:cNvPr id="19" name="Table 18">
            <a:extLst>
              <a:ext uri="{FF2B5EF4-FFF2-40B4-BE49-F238E27FC236}">
                <a16:creationId xmlns:a16="http://schemas.microsoft.com/office/drawing/2014/main" id="{BE653F0C-B634-410F-972E-140E52119DC7}"/>
              </a:ext>
            </a:extLst>
          </p:cNvPr>
          <p:cNvGraphicFramePr>
            <a:graphicFrameLocks noGrp="1"/>
          </p:cNvGraphicFramePr>
          <p:nvPr>
            <p:extLst>
              <p:ext uri="{D42A27DB-BD31-4B8C-83A1-F6EECF244321}">
                <p14:modId xmlns:p14="http://schemas.microsoft.com/office/powerpoint/2010/main" val="1710115518"/>
              </p:ext>
            </p:extLst>
          </p:nvPr>
        </p:nvGraphicFramePr>
        <p:xfrm>
          <a:off x="7523730" y="5489303"/>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3007974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CSP Example 2: Map Coloring - Forward Checking - Summary</a:t>
            </a:r>
          </a:p>
        </p:txBody>
      </p:sp>
      <p:sp>
        <p:nvSpPr>
          <p:cNvPr id="4" name="Date Placeholder 3"/>
          <p:cNvSpPr>
            <a:spLocks noGrp="1"/>
          </p:cNvSpPr>
          <p:nvPr>
            <p:ph type="dt" sz="half" idx="10"/>
          </p:nvPr>
        </p:nvSpPr>
        <p:spPr/>
        <p:txBody>
          <a:bodyPr/>
          <a:lstStyle/>
          <a:p>
            <a:fld id="{79808A66-DB1B-403C-8601-5104F4364A63}"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44</a:t>
            </a:fld>
            <a:endParaRPr lang="en-US" dirty="0"/>
          </a:p>
        </p:txBody>
      </p:sp>
      <p:sp>
        <p:nvSpPr>
          <p:cNvPr id="12" name="TextBox 11">
            <a:extLst>
              <a:ext uri="{FF2B5EF4-FFF2-40B4-BE49-F238E27FC236}">
                <a16:creationId xmlns:a16="http://schemas.microsoft.com/office/drawing/2014/main" id="{788A6302-3755-4416-8162-EE676223EC50}"/>
              </a:ext>
            </a:extLst>
          </p:cNvPr>
          <p:cNvSpPr txBox="1"/>
          <p:nvPr/>
        </p:nvSpPr>
        <p:spPr>
          <a:xfrm>
            <a:off x="1257370" y="4357649"/>
            <a:ext cx="779765" cy="369332"/>
          </a:xfrm>
          <a:prstGeom prst="rect">
            <a:avLst/>
          </a:prstGeom>
          <a:noFill/>
        </p:spPr>
        <p:txBody>
          <a:bodyPr wrap="none" rtlCol="0">
            <a:spAutoFit/>
          </a:bodyPr>
          <a:lstStyle/>
          <a:p>
            <a:r>
              <a:rPr lang="en-US" b="1" dirty="0"/>
              <a:t>Step 5</a:t>
            </a:r>
          </a:p>
        </p:txBody>
      </p:sp>
      <p:sp>
        <p:nvSpPr>
          <p:cNvPr id="13" name="TextBox 12">
            <a:extLst>
              <a:ext uri="{FF2B5EF4-FFF2-40B4-BE49-F238E27FC236}">
                <a16:creationId xmlns:a16="http://schemas.microsoft.com/office/drawing/2014/main" id="{31F8575B-A4B3-4CD3-9806-2BD2EFBF6A78}"/>
              </a:ext>
            </a:extLst>
          </p:cNvPr>
          <p:cNvSpPr txBox="1"/>
          <p:nvPr/>
        </p:nvSpPr>
        <p:spPr>
          <a:xfrm>
            <a:off x="5015261" y="4357649"/>
            <a:ext cx="779765" cy="369332"/>
          </a:xfrm>
          <a:prstGeom prst="rect">
            <a:avLst/>
          </a:prstGeom>
          <a:noFill/>
        </p:spPr>
        <p:txBody>
          <a:bodyPr wrap="none" rtlCol="0">
            <a:spAutoFit/>
          </a:bodyPr>
          <a:lstStyle/>
          <a:p>
            <a:r>
              <a:rPr lang="en-US" b="1" dirty="0"/>
              <a:t>Step 6</a:t>
            </a:r>
          </a:p>
        </p:txBody>
      </p:sp>
      <p:sp>
        <p:nvSpPr>
          <p:cNvPr id="14" name="TextBox 13">
            <a:extLst>
              <a:ext uri="{FF2B5EF4-FFF2-40B4-BE49-F238E27FC236}">
                <a16:creationId xmlns:a16="http://schemas.microsoft.com/office/drawing/2014/main" id="{C2BA28CF-EFB7-434A-AE0D-F118444D00B0}"/>
              </a:ext>
            </a:extLst>
          </p:cNvPr>
          <p:cNvSpPr txBox="1"/>
          <p:nvPr/>
        </p:nvSpPr>
        <p:spPr>
          <a:xfrm>
            <a:off x="8096681" y="4376589"/>
            <a:ext cx="779765" cy="369332"/>
          </a:xfrm>
          <a:prstGeom prst="rect">
            <a:avLst/>
          </a:prstGeom>
          <a:noFill/>
        </p:spPr>
        <p:txBody>
          <a:bodyPr wrap="none" rtlCol="0">
            <a:spAutoFit/>
          </a:bodyPr>
          <a:lstStyle/>
          <a:p>
            <a:r>
              <a:rPr lang="en-US" b="1" dirty="0"/>
              <a:t>Step 7</a:t>
            </a:r>
          </a:p>
        </p:txBody>
      </p:sp>
      <p:sp>
        <p:nvSpPr>
          <p:cNvPr id="15" name="TextBox 14">
            <a:extLst>
              <a:ext uri="{FF2B5EF4-FFF2-40B4-BE49-F238E27FC236}">
                <a16:creationId xmlns:a16="http://schemas.microsoft.com/office/drawing/2014/main" id="{624B9C6C-F4BB-4221-AEF0-3ADB868AA4C1}"/>
              </a:ext>
            </a:extLst>
          </p:cNvPr>
          <p:cNvSpPr txBox="1"/>
          <p:nvPr/>
        </p:nvSpPr>
        <p:spPr>
          <a:xfrm>
            <a:off x="457200" y="4614169"/>
            <a:ext cx="2372412" cy="646331"/>
          </a:xfrm>
          <a:prstGeom prst="rect">
            <a:avLst/>
          </a:prstGeom>
          <a:noFill/>
        </p:spPr>
        <p:txBody>
          <a:bodyPr wrap="square" rtlCol="0">
            <a:spAutoFit/>
          </a:bodyPr>
          <a:lstStyle/>
          <a:p>
            <a:pPr algn="ctr"/>
            <a:r>
              <a:rPr lang="en-US" dirty="0">
                <a:solidFill>
                  <a:srgbClr val="0070C0"/>
                </a:solidFill>
              </a:rPr>
              <a:t>Note the domain reduction of V6</a:t>
            </a:r>
          </a:p>
        </p:txBody>
      </p:sp>
      <p:sp>
        <p:nvSpPr>
          <p:cNvPr id="16" name="TextBox 15">
            <a:extLst>
              <a:ext uri="{FF2B5EF4-FFF2-40B4-BE49-F238E27FC236}">
                <a16:creationId xmlns:a16="http://schemas.microsoft.com/office/drawing/2014/main" id="{3EFCBCA4-9526-49F5-B08C-61DCAD611323}"/>
              </a:ext>
            </a:extLst>
          </p:cNvPr>
          <p:cNvSpPr txBox="1"/>
          <p:nvPr/>
        </p:nvSpPr>
        <p:spPr>
          <a:xfrm>
            <a:off x="4218097" y="4601235"/>
            <a:ext cx="2574579" cy="646331"/>
          </a:xfrm>
          <a:prstGeom prst="rect">
            <a:avLst/>
          </a:prstGeom>
          <a:noFill/>
        </p:spPr>
        <p:txBody>
          <a:bodyPr wrap="square" rtlCol="0">
            <a:spAutoFit/>
          </a:bodyPr>
          <a:lstStyle/>
          <a:p>
            <a:pPr algn="ctr"/>
            <a:r>
              <a:rPr lang="en-US" dirty="0">
                <a:solidFill>
                  <a:srgbClr val="0070C0"/>
                </a:solidFill>
              </a:rPr>
              <a:t>Backtracking and select next color in V5</a:t>
            </a:r>
          </a:p>
        </p:txBody>
      </p:sp>
      <p:sp>
        <p:nvSpPr>
          <p:cNvPr id="17" name="TextBox 16">
            <a:extLst>
              <a:ext uri="{FF2B5EF4-FFF2-40B4-BE49-F238E27FC236}">
                <a16:creationId xmlns:a16="http://schemas.microsoft.com/office/drawing/2014/main" id="{6580ACE2-CDB1-445F-ADF0-D01521D6D963}"/>
              </a:ext>
            </a:extLst>
          </p:cNvPr>
          <p:cNvSpPr txBox="1"/>
          <p:nvPr/>
        </p:nvSpPr>
        <p:spPr>
          <a:xfrm>
            <a:off x="7300357" y="4614169"/>
            <a:ext cx="2372412" cy="369332"/>
          </a:xfrm>
          <a:prstGeom prst="rect">
            <a:avLst/>
          </a:prstGeom>
          <a:noFill/>
        </p:spPr>
        <p:txBody>
          <a:bodyPr wrap="square" rtlCol="0">
            <a:spAutoFit/>
          </a:bodyPr>
          <a:lstStyle/>
          <a:p>
            <a:pPr algn="ctr"/>
            <a:r>
              <a:rPr lang="en-US" dirty="0">
                <a:solidFill>
                  <a:srgbClr val="0070C0"/>
                </a:solidFill>
              </a:rPr>
              <a:t>END</a:t>
            </a:r>
          </a:p>
        </p:txBody>
      </p:sp>
      <p:graphicFrame>
        <p:nvGraphicFramePr>
          <p:cNvPr id="19" name="Table 18">
            <a:extLst>
              <a:ext uri="{FF2B5EF4-FFF2-40B4-BE49-F238E27FC236}">
                <a16:creationId xmlns:a16="http://schemas.microsoft.com/office/drawing/2014/main" id="{2B98571E-D674-4AA0-90D6-E71E54930B3A}"/>
              </a:ext>
            </a:extLst>
          </p:cNvPr>
          <p:cNvGraphicFramePr>
            <a:graphicFrameLocks noGrp="1"/>
          </p:cNvGraphicFramePr>
          <p:nvPr>
            <p:extLst>
              <p:ext uri="{D42A27DB-BD31-4B8C-83A1-F6EECF244321}">
                <p14:modId xmlns:p14="http://schemas.microsoft.com/office/powerpoint/2010/main" val="460267716"/>
              </p:ext>
            </p:extLst>
          </p:nvPr>
        </p:nvGraphicFramePr>
        <p:xfrm>
          <a:off x="7523730" y="5489303"/>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pic>
        <p:nvPicPr>
          <p:cNvPr id="7" name="Picture 6">
            <a:extLst>
              <a:ext uri="{FF2B5EF4-FFF2-40B4-BE49-F238E27FC236}">
                <a16:creationId xmlns:a16="http://schemas.microsoft.com/office/drawing/2014/main" id="{DDE11D70-D292-834C-A4B9-8A29200ED6FD}"/>
              </a:ext>
            </a:extLst>
          </p:cNvPr>
          <p:cNvPicPr>
            <a:picLocks noChangeAspect="1"/>
          </p:cNvPicPr>
          <p:nvPr/>
        </p:nvPicPr>
        <p:blipFill>
          <a:blip r:embed="rId3"/>
          <a:stretch>
            <a:fillRect/>
          </a:stretch>
        </p:blipFill>
        <p:spPr>
          <a:xfrm>
            <a:off x="152400" y="1164343"/>
            <a:ext cx="9410700" cy="3267075"/>
          </a:xfrm>
          <a:prstGeom prst="rect">
            <a:avLst/>
          </a:prstGeom>
        </p:spPr>
      </p:pic>
    </p:spTree>
    <p:extLst>
      <p:ext uri="{BB962C8B-B14F-4D97-AF65-F5344CB8AC3E}">
        <p14:creationId xmlns:p14="http://schemas.microsoft.com/office/powerpoint/2010/main" val="7907349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Backtracking with Minimum Remaining Values (MRV)</a:t>
            </a:r>
          </a:p>
        </p:txBody>
      </p:sp>
      <p:sp>
        <p:nvSpPr>
          <p:cNvPr id="3" name="Content Placeholder 2"/>
          <p:cNvSpPr>
            <a:spLocks noGrp="1"/>
          </p:cNvSpPr>
          <p:nvPr>
            <p:ph idx="1"/>
          </p:nvPr>
        </p:nvSpPr>
        <p:spPr/>
        <p:txBody>
          <a:bodyPr/>
          <a:lstStyle/>
          <a:p>
            <a:r>
              <a:rPr lang="en-US" dirty="0">
                <a:solidFill>
                  <a:schemeClr val="accent6">
                    <a:lumMod val="75000"/>
                  </a:schemeClr>
                </a:solidFill>
              </a:rPr>
              <a:t>Minimum Remaining Values (MRV) </a:t>
            </a:r>
            <a:r>
              <a:rPr lang="en-US" dirty="0"/>
              <a:t>is a popular strategy used along with Backtracking algorithm</a:t>
            </a:r>
          </a:p>
          <a:p>
            <a:r>
              <a:rPr lang="en-US" dirty="0"/>
              <a:t>Backtracking with MRV follows an ordering strategy that augment backtracking search.</a:t>
            </a:r>
          </a:p>
          <a:p>
            <a:r>
              <a:rPr lang="en-US" dirty="0"/>
              <a:t>The </a:t>
            </a:r>
            <a:r>
              <a:rPr lang="en-US" dirty="0">
                <a:solidFill>
                  <a:schemeClr val="accent6">
                    <a:lumMod val="75000"/>
                  </a:schemeClr>
                </a:solidFill>
              </a:rPr>
              <a:t>order of selection </a:t>
            </a:r>
            <a:r>
              <a:rPr lang="en-US" dirty="0"/>
              <a:t>of variables follows the following rules:</a:t>
            </a:r>
          </a:p>
          <a:p>
            <a:pPr lvl="1"/>
            <a:r>
              <a:rPr lang="en-US" sz="2800" dirty="0"/>
              <a:t>Choose the variable with the least values in its domain.</a:t>
            </a:r>
          </a:p>
          <a:p>
            <a:r>
              <a:rPr lang="en-US" dirty="0"/>
              <a:t>MRV is also called “</a:t>
            </a:r>
            <a:r>
              <a:rPr lang="en-US" dirty="0">
                <a:solidFill>
                  <a:srgbClr val="C00000"/>
                </a:solidFill>
              </a:rPr>
              <a:t>Most Constrained/Restricted Variable</a:t>
            </a:r>
            <a:r>
              <a:rPr lang="en-US" dirty="0"/>
              <a:t>”. </a:t>
            </a:r>
          </a:p>
          <a:p>
            <a:r>
              <a:rPr lang="en-US" dirty="0"/>
              <a:t>Also called “</a:t>
            </a:r>
            <a:r>
              <a:rPr lang="en-US" dirty="0">
                <a:solidFill>
                  <a:srgbClr val="C00000"/>
                </a:solidFill>
              </a:rPr>
              <a:t>Fail-Fast</a:t>
            </a:r>
            <a:r>
              <a:rPr lang="en-US" dirty="0"/>
              <a:t>” ordering.</a:t>
            </a:r>
          </a:p>
        </p:txBody>
      </p:sp>
      <p:sp>
        <p:nvSpPr>
          <p:cNvPr id="4" name="Date Placeholder 3"/>
          <p:cNvSpPr>
            <a:spLocks noGrp="1"/>
          </p:cNvSpPr>
          <p:nvPr>
            <p:ph type="dt" sz="half" idx="10"/>
          </p:nvPr>
        </p:nvSpPr>
        <p:spPr/>
        <p:txBody>
          <a:bodyPr/>
          <a:lstStyle/>
          <a:p>
            <a:fld id="{C68C6611-A6FE-47BB-B0F6-64AF4961F29B}"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45</a:t>
            </a:fld>
            <a:endParaRPr lang="en-US" dirty="0"/>
          </a:p>
        </p:txBody>
      </p:sp>
    </p:spTree>
    <p:extLst>
      <p:ext uri="{BB962C8B-B14F-4D97-AF65-F5344CB8AC3E}">
        <p14:creationId xmlns:p14="http://schemas.microsoft.com/office/powerpoint/2010/main" val="5989014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2879D-ED5B-42E3-9E1B-AB33FFCAE1A6}"/>
              </a:ext>
            </a:extLst>
          </p:cNvPr>
          <p:cNvSpPr>
            <a:spLocks noGrp="1"/>
          </p:cNvSpPr>
          <p:nvPr>
            <p:ph type="title"/>
          </p:nvPr>
        </p:nvSpPr>
        <p:spPr/>
        <p:txBody>
          <a:bodyPr>
            <a:normAutofit fontScale="90000"/>
          </a:bodyPr>
          <a:lstStyle/>
          <a:p>
            <a:r>
              <a:rPr lang="en-US" dirty="0"/>
              <a:t>CSP Examples 2: Map Coloring - MRV</a:t>
            </a:r>
          </a:p>
        </p:txBody>
      </p:sp>
      <p:sp>
        <p:nvSpPr>
          <p:cNvPr id="4" name="Date Placeholder 3">
            <a:extLst>
              <a:ext uri="{FF2B5EF4-FFF2-40B4-BE49-F238E27FC236}">
                <a16:creationId xmlns:a16="http://schemas.microsoft.com/office/drawing/2014/main" id="{D6065B21-01AC-48B1-92D9-FC957C8F0EE1}"/>
              </a:ext>
            </a:extLst>
          </p:cNvPr>
          <p:cNvSpPr>
            <a:spLocks noGrp="1"/>
          </p:cNvSpPr>
          <p:nvPr>
            <p:ph type="dt" sz="half" idx="10"/>
          </p:nvPr>
        </p:nvSpPr>
        <p:spPr/>
        <p:txBody>
          <a:bodyPr/>
          <a:lstStyle/>
          <a:p>
            <a:fld id="{65E4BE9F-A7B8-49AF-BD1F-C58EE6182936}" type="datetime1">
              <a:rPr lang="en-US" smtClean="0"/>
              <a:t>10/16/2022</a:t>
            </a:fld>
            <a:endParaRPr lang="en-US" dirty="0"/>
          </a:p>
        </p:txBody>
      </p:sp>
      <p:sp>
        <p:nvSpPr>
          <p:cNvPr id="5" name="Footer Placeholder 4">
            <a:extLst>
              <a:ext uri="{FF2B5EF4-FFF2-40B4-BE49-F238E27FC236}">
                <a16:creationId xmlns:a16="http://schemas.microsoft.com/office/drawing/2014/main" id="{DFD53A2D-33EA-450F-9374-029D6E9FE200}"/>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DD152667-2C1E-47A5-9A66-932A6C87E655}"/>
              </a:ext>
            </a:extLst>
          </p:cNvPr>
          <p:cNvSpPr>
            <a:spLocks noGrp="1"/>
          </p:cNvSpPr>
          <p:nvPr>
            <p:ph type="sldNum" sz="quarter" idx="12"/>
          </p:nvPr>
        </p:nvSpPr>
        <p:spPr/>
        <p:txBody>
          <a:bodyPr/>
          <a:lstStyle/>
          <a:p>
            <a:fld id="{B7884E68-CE57-44C0-BE0F-84C629DF22D5}" type="slidenum">
              <a:rPr lang="en-US" dirty="0" smtClean="0"/>
              <a:t>46</a:t>
            </a:fld>
            <a:endParaRPr lang="en-US" dirty="0"/>
          </a:p>
        </p:txBody>
      </p:sp>
      <p:sp>
        <p:nvSpPr>
          <p:cNvPr id="17" name="TextBox 16">
            <a:extLst>
              <a:ext uri="{FF2B5EF4-FFF2-40B4-BE49-F238E27FC236}">
                <a16:creationId xmlns:a16="http://schemas.microsoft.com/office/drawing/2014/main" id="{788A6302-3755-4416-8162-EE676223EC50}"/>
              </a:ext>
            </a:extLst>
          </p:cNvPr>
          <p:cNvSpPr txBox="1"/>
          <p:nvPr/>
        </p:nvSpPr>
        <p:spPr>
          <a:xfrm>
            <a:off x="10043427" y="5011278"/>
            <a:ext cx="779765" cy="369332"/>
          </a:xfrm>
          <a:prstGeom prst="rect">
            <a:avLst/>
          </a:prstGeom>
          <a:noFill/>
        </p:spPr>
        <p:txBody>
          <a:bodyPr wrap="none" rtlCol="0">
            <a:spAutoFit/>
          </a:bodyPr>
          <a:lstStyle/>
          <a:p>
            <a:r>
              <a:rPr lang="en-US" b="1" dirty="0"/>
              <a:t>Step 0</a:t>
            </a:r>
          </a:p>
        </p:txBody>
      </p:sp>
      <p:sp>
        <p:nvSpPr>
          <p:cNvPr id="28" name="Content Placeholder 2"/>
          <p:cNvSpPr>
            <a:spLocks noGrp="1"/>
          </p:cNvSpPr>
          <p:nvPr>
            <p:ph idx="1"/>
          </p:nvPr>
        </p:nvSpPr>
        <p:spPr>
          <a:xfrm>
            <a:off x="304799" y="1340138"/>
            <a:ext cx="8077693" cy="4827219"/>
          </a:xfrm>
        </p:spPr>
        <p:txBody>
          <a:bodyPr>
            <a:normAutofit/>
          </a:bodyPr>
          <a:lstStyle/>
          <a:p>
            <a:r>
              <a:rPr lang="en-US" dirty="0"/>
              <a:t>Follow the same steps as forward checking. However, in MRV, the variable that is selected next is the variable which has the </a:t>
            </a:r>
            <a:r>
              <a:rPr lang="en-US" dirty="0">
                <a:solidFill>
                  <a:srgbClr val="C00000"/>
                </a:solidFill>
              </a:rPr>
              <a:t>minimum number of values</a:t>
            </a:r>
            <a:r>
              <a:rPr lang="en-US" dirty="0"/>
              <a:t> in its domain.</a:t>
            </a:r>
          </a:p>
          <a:p>
            <a:pPr lvl="1"/>
            <a:r>
              <a:rPr lang="en-US" sz="2800" dirty="0"/>
              <a:t>If a tie occurs, lexically order variables then pick the first. </a:t>
            </a:r>
          </a:p>
          <a:p>
            <a:pPr lvl="1"/>
            <a:r>
              <a:rPr lang="en-US" sz="2800" dirty="0"/>
              <a:t>MRV is implemented along with filtering to remove the assigned value from domains that can cause a conflict with this latest assignment.</a:t>
            </a:r>
          </a:p>
          <a:p>
            <a:pPr lvl="1"/>
            <a:endParaRPr lang="en-US" dirty="0"/>
          </a:p>
          <a:p>
            <a:pPr marL="76198" indent="0">
              <a:buNone/>
            </a:pPr>
            <a:endParaRPr lang="en-US" dirty="0"/>
          </a:p>
        </p:txBody>
      </p:sp>
      <p:pic>
        <p:nvPicPr>
          <p:cNvPr id="9" name="Picture 8">
            <a:extLst>
              <a:ext uri="{FF2B5EF4-FFF2-40B4-BE49-F238E27FC236}">
                <a16:creationId xmlns:a16="http://schemas.microsoft.com/office/drawing/2014/main" id="{621183A7-1E13-EE53-1E3A-126F9A8A2417}"/>
              </a:ext>
            </a:extLst>
          </p:cNvPr>
          <p:cNvPicPr>
            <a:picLocks noChangeAspect="1"/>
          </p:cNvPicPr>
          <p:nvPr/>
        </p:nvPicPr>
        <p:blipFill rotWithShape="1">
          <a:blip r:embed="rId3"/>
          <a:srcRect r="55149"/>
          <a:stretch/>
        </p:blipFill>
        <p:spPr>
          <a:xfrm>
            <a:off x="8769648" y="1177484"/>
            <a:ext cx="3327325" cy="3831577"/>
          </a:xfrm>
          <a:prstGeom prst="rect">
            <a:avLst/>
          </a:prstGeom>
        </p:spPr>
      </p:pic>
      <p:graphicFrame>
        <p:nvGraphicFramePr>
          <p:cNvPr id="11" name="Table 10">
            <a:extLst>
              <a:ext uri="{FF2B5EF4-FFF2-40B4-BE49-F238E27FC236}">
                <a16:creationId xmlns:a16="http://schemas.microsoft.com/office/drawing/2014/main" id="{2EBA8151-D5DA-406E-B428-A342DB11118F}"/>
              </a:ext>
            </a:extLst>
          </p:cNvPr>
          <p:cNvGraphicFramePr>
            <a:graphicFrameLocks noGrp="1"/>
          </p:cNvGraphicFramePr>
          <p:nvPr>
            <p:extLst>
              <p:ext uri="{D42A27DB-BD31-4B8C-83A1-F6EECF244321}">
                <p14:modId xmlns:p14="http://schemas.microsoft.com/office/powerpoint/2010/main" val="3619964783"/>
              </p:ext>
            </p:extLst>
          </p:nvPr>
        </p:nvGraphicFramePr>
        <p:xfrm>
          <a:off x="808605" y="5476189"/>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graphicFrame>
        <p:nvGraphicFramePr>
          <p:cNvPr id="10" name="Table 9">
            <a:extLst>
              <a:ext uri="{FF2B5EF4-FFF2-40B4-BE49-F238E27FC236}">
                <a16:creationId xmlns:a16="http://schemas.microsoft.com/office/drawing/2014/main" id="{C79A685A-FC94-4C3E-BCD7-498E0988BF4E}"/>
              </a:ext>
            </a:extLst>
          </p:cNvPr>
          <p:cNvGraphicFramePr>
            <a:graphicFrameLocks noGrp="1"/>
          </p:cNvGraphicFramePr>
          <p:nvPr>
            <p:extLst>
              <p:ext uri="{D42A27DB-BD31-4B8C-83A1-F6EECF244321}">
                <p14:modId xmlns:p14="http://schemas.microsoft.com/office/powerpoint/2010/main" val="3464009425"/>
              </p:ext>
            </p:extLst>
          </p:nvPr>
        </p:nvGraphicFramePr>
        <p:xfrm>
          <a:off x="5287253" y="5479076"/>
          <a:ext cx="4663096" cy="741680"/>
        </p:xfrm>
        <a:graphic>
          <a:graphicData uri="http://schemas.openxmlformats.org/drawingml/2006/table">
            <a:tbl>
              <a:tblPr firstRow="1" bandRow="1">
                <a:tableStyleId>{8A107856-5554-42FB-B03E-39F5DBC370BA}</a:tableStyleId>
              </a:tblPr>
              <a:tblGrid>
                <a:gridCol w="1567471">
                  <a:extLst>
                    <a:ext uri="{9D8B030D-6E8A-4147-A177-3AD203B41FA5}">
                      <a16:colId xmlns:a16="http://schemas.microsoft.com/office/drawing/2014/main" val="2347060612"/>
                    </a:ext>
                  </a:extLst>
                </a:gridCol>
                <a:gridCol w="1552575">
                  <a:extLst>
                    <a:ext uri="{9D8B030D-6E8A-4147-A177-3AD203B41FA5}">
                      <a16:colId xmlns:a16="http://schemas.microsoft.com/office/drawing/2014/main" val="2419663802"/>
                    </a:ext>
                  </a:extLst>
                </a:gridCol>
                <a:gridCol w="1543050">
                  <a:extLst>
                    <a:ext uri="{9D8B030D-6E8A-4147-A177-3AD203B41FA5}">
                      <a16:colId xmlns:a16="http://schemas.microsoft.com/office/drawing/2014/main" val="2396525568"/>
                    </a:ext>
                  </a:extLst>
                </a:gridCol>
              </a:tblGrid>
              <a:tr h="370840">
                <a:tc>
                  <a:txBody>
                    <a:bodyPr/>
                    <a:lstStyle/>
                    <a:p>
                      <a:pPr marL="0" lvl="2" indent="0"/>
                      <a:r>
                        <a:rPr lang="en-US" sz="1600" b="0" kern="1200" dirty="0">
                          <a:solidFill>
                            <a:schemeClr val="tx1"/>
                          </a:solidFill>
                        </a:rPr>
                        <a:t>D1= {</a:t>
                      </a:r>
                      <a:r>
                        <a:rPr lang="en-US" sz="1600" b="1" kern="1200" dirty="0">
                          <a:solidFill>
                            <a:srgbClr val="FF0000"/>
                          </a:solidFill>
                        </a:rPr>
                        <a:t>R</a:t>
                      </a:r>
                      <a:r>
                        <a:rPr lang="en-US" sz="1600" b="0" kern="1200" dirty="0">
                          <a:solidFill>
                            <a:schemeClr val="tx1"/>
                          </a:solidFill>
                        </a:rPr>
                        <a:t>, </a:t>
                      </a:r>
                      <a:r>
                        <a:rPr lang="en-US" sz="1600" b="1" kern="1200" dirty="0">
                          <a:solidFill>
                            <a:srgbClr val="00B050"/>
                          </a:solidFill>
                        </a:rPr>
                        <a:t>G</a:t>
                      </a:r>
                      <a:r>
                        <a:rPr lang="en-US" sz="1600" b="0" kern="1200" dirty="0">
                          <a:solidFill>
                            <a:schemeClr val="tx1"/>
                          </a:solidFill>
                        </a:rPr>
                        <a:t> , </a:t>
                      </a:r>
                      <a:r>
                        <a:rPr lang="en-US" sz="1600" b="1" kern="1200" dirty="0">
                          <a:solidFill>
                            <a:srgbClr val="FFCC00"/>
                          </a:solidFill>
                        </a:rPr>
                        <a:t>Y</a:t>
                      </a:r>
                      <a:r>
                        <a:rPr lang="en-US" sz="1600" b="0" kern="1200" dirty="0">
                          <a:solidFill>
                            <a:schemeClr val="tx1"/>
                          </a:solidFill>
                        </a:rPr>
                        <a:t> , </a:t>
                      </a:r>
                      <a:r>
                        <a:rPr lang="en-US" sz="1600" b="1" kern="1200" dirty="0">
                          <a:solidFill>
                            <a:srgbClr val="0000CC"/>
                          </a:solidFill>
                        </a:rPr>
                        <a:t>B</a:t>
                      </a:r>
                      <a:r>
                        <a:rPr lang="en-US" sz="1600" b="0" kern="1200" dirty="0">
                          <a:solidFill>
                            <a:schemeClr val="tx1"/>
                          </a:solidFill>
                        </a:rPr>
                        <a:t>}</a:t>
                      </a:r>
                      <a:endParaRPr lang="en-US" sz="1600" b="0" kern="1200" dirty="0">
                        <a:solidFill>
                          <a:schemeClr val="tx1"/>
                        </a:solidFill>
                        <a:latin typeface="+mn-lt"/>
                        <a:ea typeface="+mn-ea"/>
                        <a:cs typeface="+mn-cs"/>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rPr>
                        <a:t>D2= {</a:t>
                      </a:r>
                      <a:r>
                        <a:rPr lang="en-US" sz="1600" b="1" kern="1200" dirty="0">
                          <a:solidFill>
                            <a:srgbClr val="FF0000"/>
                          </a:solidFill>
                        </a:rPr>
                        <a:t>R</a:t>
                      </a:r>
                      <a:r>
                        <a:rPr lang="en-US" sz="1600" b="0" kern="1200" dirty="0">
                          <a:solidFill>
                            <a:schemeClr val="tx1"/>
                          </a:solidFill>
                        </a:rPr>
                        <a:t>, </a:t>
                      </a:r>
                      <a:r>
                        <a:rPr lang="en-US" sz="1600" b="1" kern="1200" dirty="0">
                          <a:solidFill>
                            <a:srgbClr val="00B050"/>
                          </a:solidFill>
                        </a:rPr>
                        <a:t>G</a:t>
                      </a:r>
                      <a:r>
                        <a:rPr lang="en-US" sz="1600" b="0" kern="1200" dirty="0">
                          <a:solidFill>
                            <a:schemeClr val="tx1"/>
                          </a:solidFill>
                        </a:rPr>
                        <a:t> , </a:t>
                      </a:r>
                      <a:r>
                        <a:rPr lang="en-US" sz="1600" b="1" kern="1200" dirty="0">
                          <a:solidFill>
                            <a:srgbClr val="FFCC00"/>
                          </a:solidFill>
                        </a:rPr>
                        <a:t>Y</a:t>
                      </a:r>
                      <a:r>
                        <a:rPr lang="en-US" sz="1600" b="0" kern="1200" dirty="0">
                          <a:solidFill>
                            <a:schemeClr val="tx1"/>
                          </a:solidFill>
                        </a:rPr>
                        <a:t> , </a:t>
                      </a:r>
                      <a:r>
                        <a:rPr lang="en-US" sz="1600" b="1" kern="1200" dirty="0">
                          <a:solidFill>
                            <a:srgbClr val="0000CC"/>
                          </a:solidFill>
                        </a:rPr>
                        <a:t>B</a:t>
                      </a:r>
                      <a:r>
                        <a:rPr lang="en-US" sz="1600" b="0" kern="1200" dirty="0">
                          <a:solidFill>
                            <a:schemeClr val="tx1"/>
                          </a:solidFill>
                        </a:rPr>
                        <a:t>}</a:t>
                      </a:r>
                      <a:endParaRPr lang="en-US" sz="1600" b="0" kern="1200" dirty="0">
                        <a:solidFill>
                          <a:schemeClr val="tx1"/>
                        </a:solidFill>
                        <a:latin typeface="+mn-lt"/>
                        <a:ea typeface="+mn-ea"/>
                        <a:cs typeface="+mn-cs"/>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rPr>
                        <a:t>D3= {</a:t>
                      </a:r>
                      <a:r>
                        <a:rPr lang="en-US" sz="1600" b="1" kern="1200" dirty="0">
                          <a:solidFill>
                            <a:srgbClr val="0000CC"/>
                          </a:solidFill>
                        </a:rPr>
                        <a:t>B</a:t>
                      </a:r>
                      <a:r>
                        <a:rPr lang="en-US" sz="1600" b="0" kern="1200" dirty="0">
                          <a:solidFill>
                            <a:schemeClr val="tx1"/>
                          </a:solidFill>
                        </a:rPr>
                        <a:t>, </a:t>
                      </a:r>
                      <a:r>
                        <a:rPr lang="en-US" sz="1600" b="1" kern="1200" dirty="0">
                          <a:solidFill>
                            <a:srgbClr val="00B050"/>
                          </a:solidFill>
                        </a:rPr>
                        <a:t>G</a:t>
                      </a:r>
                      <a:r>
                        <a:rPr lang="en-US" sz="1600" b="0" kern="1200" dirty="0">
                          <a:solidFill>
                            <a:schemeClr val="tx1"/>
                          </a:solidFill>
                        </a:rPr>
                        <a:t>, </a:t>
                      </a:r>
                      <a:r>
                        <a:rPr lang="en-US" sz="1600" b="1" kern="1200" dirty="0">
                          <a:solidFill>
                            <a:srgbClr val="FFCC00"/>
                          </a:solidFill>
                        </a:rPr>
                        <a:t>Y, </a:t>
                      </a:r>
                      <a:r>
                        <a:rPr lang="en-US" sz="1600" b="1" kern="1200" dirty="0">
                          <a:solidFill>
                            <a:srgbClr val="FF0000"/>
                          </a:solidFill>
                        </a:rPr>
                        <a:t>R</a:t>
                      </a:r>
                      <a:r>
                        <a:rPr lang="en-US" sz="1600" b="0" kern="1200" dirty="0">
                          <a:solidFill>
                            <a:schemeClr val="tx1"/>
                          </a:solidFill>
                        </a:rPr>
                        <a:t>}</a:t>
                      </a:r>
                      <a:endParaRPr lang="en-US" sz="1600" b="0" kern="1200" dirty="0">
                        <a:solidFill>
                          <a:schemeClr val="tx1"/>
                        </a:solidFill>
                        <a:latin typeface="+mn-lt"/>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kern="1200" dirty="0">
                          <a:solidFill>
                            <a:schemeClr val="tx1"/>
                          </a:solidFill>
                        </a:rPr>
                        <a:t>D4= {</a:t>
                      </a:r>
                      <a:r>
                        <a:rPr lang="en-US" sz="1600" b="1" kern="1200" dirty="0">
                          <a:solidFill>
                            <a:srgbClr val="FF0000"/>
                          </a:solidFill>
                        </a:rPr>
                        <a:t>R</a:t>
                      </a:r>
                      <a:r>
                        <a:rPr lang="en-US" sz="1600" b="0" kern="1200" dirty="0">
                          <a:solidFill>
                            <a:schemeClr val="tx1"/>
                          </a:solidFill>
                        </a:rPr>
                        <a:t>, </a:t>
                      </a:r>
                      <a:r>
                        <a:rPr lang="en-US" sz="1600" b="1" kern="1200" dirty="0">
                          <a:solidFill>
                            <a:srgbClr val="00B050"/>
                          </a:solidFill>
                        </a:rPr>
                        <a:t>G</a:t>
                      </a:r>
                      <a:r>
                        <a:rPr lang="en-US" sz="1600" b="0" kern="1200" dirty="0">
                          <a:solidFill>
                            <a:schemeClr val="tx1"/>
                          </a:solidFill>
                        </a:rPr>
                        <a:t> , </a:t>
                      </a:r>
                      <a:r>
                        <a:rPr lang="en-US" sz="1600" b="1" kern="1200" dirty="0">
                          <a:solidFill>
                            <a:srgbClr val="FFCC00"/>
                          </a:solidFill>
                        </a:rPr>
                        <a:t>Y</a:t>
                      </a:r>
                      <a:r>
                        <a:rPr lang="en-US" sz="1600" b="0" kern="1200" dirty="0">
                          <a:solidFill>
                            <a:schemeClr val="tx1"/>
                          </a:solidFill>
                        </a:rPr>
                        <a:t> , </a:t>
                      </a:r>
                      <a:r>
                        <a:rPr lang="en-US" sz="1600" b="1" kern="1200" dirty="0">
                          <a:solidFill>
                            <a:srgbClr val="0000CC"/>
                          </a:solidFill>
                        </a:rPr>
                        <a:t>B</a:t>
                      </a:r>
                      <a:r>
                        <a:rPr lang="en-US" sz="1600" b="0" kern="1200" dirty="0">
                          <a:solidFill>
                            <a:schemeClr val="tx1"/>
                          </a:solidFill>
                        </a:rPr>
                        <a:t>}</a:t>
                      </a:r>
                      <a:endParaRPr lang="en-US" sz="1600" b="0" dirty="0">
                        <a:solidFill>
                          <a:schemeClr val="tx1"/>
                        </a:solidFill>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rPr>
                        <a:t>D5= {</a:t>
                      </a:r>
                      <a:r>
                        <a:rPr lang="en-US" sz="1600" b="1" kern="1200" dirty="0">
                          <a:solidFill>
                            <a:srgbClr val="FFCC00"/>
                          </a:solidFill>
                        </a:rPr>
                        <a:t>Y</a:t>
                      </a:r>
                      <a:r>
                        <a:rPr lang="en-US" sz="1600" b="0" kern="1200" dirty="0">
                          <a:solidFill>
                            <a:schemeClr val="tx1"/>
                          </a:solidFill>
                        </a:rPr>
                        <a:t> , </a:t>
                      </a:r>
                      <a:r>
                        <a:rPr lang="en-US" sz="1600" b="1" kern="1200" dirty="0">
                          <a:solidFill>
                            <a:srgbClr val="00B050"/>
                          </a:solidFill>
                        </a:rPr>
                        <a:t>G,</a:t>
                      </a:r>
                      <a:r>
                        <a:rPr lang="en-US" sz="1600" b="1" kern="1200" dirty="0">
                          <a:solidFill>
                            <a:srgbClr val="0000CC"/>
                          </a:solidFill>
                        </a:rPr>
                        <a:t> </a:t>
                      </a:r>
                      <a:r>
                        <a:rPr lang="en-US" sz="1600" b="1" kern="1200" dirty="0">
                          <a:solidFill>
                            <a:srgbClr val="FF0000"/>
                          </a:solidFill>
                        </a:rPr>
                        <a:t>R</a:t>
                      </a:r>
                      <a:r>
                        <a:rPr lang="en-US" sz="1600" b="0" kern="1200" dirty="0">
                          <a:solidFill>
                            <a:schemeClr val="tx1"/>
                          </a:solidFill>
                        </a:rPr>
                        <a:t>,</a:t>
                      </a:r>
                      <a:r>
                        <a:rPr lang="en-US" sz="1600" b="1" kern="1200" dirty="0">
                          <a:solidFill>
                            <a:srgbClr val="0000CC"/>
                          </a:solidFill>
                        </a:rPr>
                        <a:t> B</a:t>
                      </a:r>
                      <a:r>
                        <a:rPr lang="en-US" sz="1600" b="0" kern="1200" dirty="0">
                          <a:solidFill>
                            <a:schemeClr val="tx1"/>
                          </a:solidFill>
                        </a:rPr>
                        <a:t>} </a:t>
                      </a:r>
                      <a:endParaRPr lang="en-US" sz="1600" b="0" dirty="0">
                        <a:solidFill>
                          <a:schemeClr val="tx1"/>
                        </a:solidFill>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rPr>
                        <a:t>D6= {</a:t>
                      </a:r>
                      <a:r>
                        <a:rPr lang="en-US" sz="1600" b="1" kern="1200" dirty="0">
                          <a:solidFill>
                            <a:srgbClr val="FF0000"/>
                          </a:solidFill>
                        </a:rPr>
                        <a:t>R</a:t>
                      </a:r>
                      <a:r>
                        <a:rPr lang="en-US" sz="1600" b="0" kern="1200" dirty="0">
                          <a:solidFill>
                            <a:schemeClr val="tx1"/>
                          </a:solidFill>
                        </a:rPr>
                        <a:t>, </a:t>
                      </a:r>
                      <a:r>
                        <a:rPr lang="en-US" sz="1600" b="1" kern="1200" dirty="0">
                          <a:solidFill>
                            <a:srgbClr val="00B050"/>
                          </a:solidFill>
                        </a:rPr>
                        <a:t>G</a:t>
                      </a:r>
                      <a:r>
                        <a:rPr lang="en-US" sz="1600" b="0" kern="1200" dirty="0">
                          <a:solidFill>
                            <a:schemeClr val="tx1"/>
                          </a:solidFill>
                        </a:rPr>
                        <a:t> , </a:t>
                      </a:r>
                      <a:r>
                        <a:rPr lang="en-US" sz="1600" b="1" kern="1200" dirty="0">
                          <a:solidFill>
                            <a:srgbClr val="FFCC00"/>
                          </a:solidFill>
                        </a:rPr>
                        <a:t>Y</a:t>
                      </a:r>
                      <a:r>
                        <a:rPr lang="en-US" sz="1600" b="0" kern="1200" dirty="0">
                          <a:solidFill>
                            <a:schemeClr val="tx1"/>
                          </a:solidFill>
                        </a:rPr>
                        <a:t> , </a:t>
                      </a:r>
                      <a:r>
                        <a:rPr lang="en-US" sz="1600" b="1" kern="1200" dirty="0">
                          <a:solidFill>
                            <a:srgbClr val="0000CC"/>
                          </a:solidFill>
                        </a:rPr>
                        <a:t>B</a:t>
                      </a:r>
                      <a:r>
                        <a:rPr lang="en-US" sz="1600" b="0" kern="1200" dirty="0">
                          <a:solidFill>
                            <a:schemeClr val="tx1"/>
                          </a:solidFill>
                        </a:rPr>
                        <a:t>}</a:t>
                      </a:r>
                      <a:endParaRPr lang="en-US" sz="1600" b="0" dirty="0">
                        <a:solidFill>
                          <a:schemeClr val="tx1"/>
                        </a:solidFill>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11210351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2879D-ED5B-42E3-9E1B-AB33FFCAE1A6}"/>
              </a:ext>
            </a:extLst>
          </p:cNvPr>
          <p:cNvSpPr>
            <a:spLocks noGrp="1"/>
          </p:cNvSpPr>
          <p:nvPr>
            <p:ph type="title"/>
          </p:nvPr>
        </p:nvSpPr>
        <p:spPr/>
        <p:txBody>
          <a:bodyPr>
            <a:normAutofit fontScale="90000"/>
          </a:bodyPr>
          <a:lstStyle/>
          <a:p>
            <a:r>
              <a:rPr lang="en-US" dirty="0"/>
              <a:t>CSP Examples 2: Map Coloring - MRV</a:t>
            </a:r>
          </a:p>
        </p:txBody>
      </p:sp>
      <p:sp>
        <p:nvSpPr>
          <p:cNvPr id="4" name="Date Placeholder 3">
            <a:extLst>
              <a:ext uri="{FF2B5EF4-FFF2-40B4-BE49-F238E27FC236}">
                <a16:creationId xmlns:a16="http://schemas.microsoft.com/office/drawing/2014/main" id="{D6065B21-01AC-48B1-92D9-FC957C8F0EE1}"/>
              </a:ext>
            </a:extLst>
          </p:cNvPr>
          <p:cNvSpPr>
            <a:spLocks noGrp="1"/>
          </p:cNvSpPr>
          <p:nvPr>
            <p:ph type="dt" sz="half" idx="10"/>
          </p:nvPr>
        </p:nvSpPr>
        <p:spPr/>
        <p:txBody>
          <a:bodyPr/>
          <a:lstStyle/>
          <a:p>
            <a:fld id="{65E4BE9F-A7B8-49AF-BD1F-C58EE6182936}" type="datetime1">
              <a:rPr lang="en-US" smtClean="0"/>
              <a:t>10/16/2022</a:t>
            </a:fld>
            <a:endParaRPr lang="en-US" dirty="0"/>
          </a:p>
        </p:txBody>
      </p:sp>
      <p:sp>
        <p:nvSpPr>
          <p:cNvPr id="5" name="Footer Placeholder 4">
            <a:extLst>
              <a:ext uri="{FF2B5EF4-FFF2-40B4-BE49-F238E27FC236}">
                <a16:creationId xmlns:a16="http://schemas.microsoft.com/office/drawing/2014/main" id="{DFD53A2D-33EA-450F-9374-029D6E9FE200}"/>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DD152667-2C1E-47A5-9A66-932A6C87E655}"/>
              </a:ext>
            </a:extLst>
          </p:cNvPr>
          <p:cNvSpPr>
            <a:spLocks noGrp="1"/>
          </p:cNvSpPr>
          <p:nvPr>
            <p:ph type="sldNum" sz="quarter" idx="12"/>
          </p:nvPr>
        </p:nvSpPr>
        <p:spPr/>
        <p:txBody>
          <a:bodyPr/>
          <a:lstStyle/>
          <a:p>
            <a:fld id="{B7884E68-CE57-44C0-BE0F-84C629DF22D5}" type="slidenum">
              <a:rPr lang="en-US" dirty="0" smtClean="0"/>
              <a:t>47</a:t>
            </a:fld>
            <a:endParaRPr lang="en-US" dirty="0"/>
          </a:p>
        </p:txBody>
      </p:sp>
      <p:sp>
        <p:nvSpPr>
          <p:cNvPr id="17" name="TextBox 16">
            <a:extLst>
              <a:ext uri="{FF2B5EF4-FFF2-40B4-BE49-F238E27FC236}">
                <a16:creationId xmlns:a16="http://schemas.microsoft.com/office/drawing/2014/main" id="{788A6302-3755-4416-8162-EE676223EC50}"/>
              </a:ext>
            </a:extLst>
          </p:cNvPr>
          <p:cNvSpPr txBox="1"/>
          <p:nvPr/>
        </p:nvSpPr>
        <p:spPr>
          <a:xfrm>
            <a:off x="10314958" y="4075432"/>
            <a:ext cx="779765" cy="369332"/>
          </a:xfrm>
          <a:prstGeom prst="rect">
            <a:avLst/>
          </a:prstGeom>
          <a:noFill/>
        </p:spPr>
        <p:txBody>
          <a:bodyPr wrap="none" rtlCol="0">
            <a:spAutoFit/>
          </a:bodyPr>
          <a:lstStyle/>
          <a:p>
            <a:r>
              <a:rPr lang="en-US" b="1" dirty="0"/>
              <a:t>Step 1</a:t>
            </a:r>
          </a:p>
        </p:txBody>
      </p:sp>
      <p:sp>
        <p:nvSpPr>
          <p:cNvPr id="20" name="TextBox 19">
            <a:extLst>
              <a:ext uri="{FF2B5EF4-FFF2-40B4-BE49-F238E27FC236}">
                <a16:creationId xmlns:a16="http://schemas.microsoft.com/office/drawing/2014/main" id="{624B9C6C-F4BB-4221-AEF0-3ADB868AA4C1}"/>
              </a:ext>
            </a:extLst>
          </p:cNvPr>
          <p:cNvSpPr txBox="1"/>
          <p:nvPr/>
        </p:nvSpPr>
        <p:spPr>
          <a:xfrm>
            <a:off x="9514788" y="4331952"/>
            <a:ext cx="2372412" cy="646331"/>
          </a:xfrm>
          <a:prstGeom prst="rect">
            <a:avLst/>
          </a:prstGeom>
          <a:noFill/>
        </p:spPr>
        <p:txBody>
          <a:bodyPr wrap="square" rtlCol="0">
            <a:spAutoFit/>
          </a:bodyPr>
          <a:lstStyle/>
          <a:p>
            <a:pPr algn="ctr"/>
            <a:r>
              <a:rPr lang="en-US" dirty="0">
                <a:solidFill>
                  <a:srgbClr val="0070C0"/>
                </a:solidFill>
              </a:rPr>
              <a:t>Note the domain reduction of V2 and V6</a:t>
            </a:r>
          </a:p>
        </p:txBody>
      </p:sp>
      <p:sp>
        <p:nvSpPr>
          <p:cNvPr id="3" name="TextBox 2"/>
          <p:cNvSpPr txBox="1"/>
          <p:nvPr/>
        </p:nvSpPr>
        <p:spPr>
          <a:xfrm>
            <a:off x="9969030" y="4865471"/>
            <a:ext cx="1478675" cy="369332"/>
          </a:xfrm>
          <a:prstGeom prst="rect">
            <a:avLst/>
          </a:prstGeom>
          <a:noFill/>
        </p:spPr>
        <p:txBody>
          <a:bodyPr wrap="none" rtlCol="0">
            <a:spAutoFit/>
          </a:bodyPr>
          <a:lstStyle/>
          <a:p>
            <a:r>
              <a:rPr lang="en-US" b="1" dirty="0">
                <a:solidFill>
                  <a:srgbClr val="996633"/>
                </a:solidFill>
              </a:rPr>
              <a:t>MRV</a:t>
            </a:r>
            <a:r>
              <a:rPr lang="en-US" dirty="0">
                <a:solidFill>
                  <a:srgbClr val="996633"/>
                </a:solidFill>
              </a:rPr>
              <a:t> = V2, V6</a:t>
            </a:r>
          </a:p>
        </p:txBody>
      </p:sp>
      <p:sp>
        <p:nvSpPr>
          <p:cNvPr id="28" name="Content Placeholder 2"/>
          <p:cNvSpPr>
            <a:spLocks noGrp="1"/>
          </p:cNvSpPr>
          <p:nvPr>
            <p:ph idx="1"/>
          </p:nvPr>
        </p:nvSpPr>
        <p:spPr>
          <a:xfrm>
            <a:off x="304800" y="1340138"/>
            <a:ext cx="5958348" cy="4827219"/>
          </a:xfrm>
        </p:spPr>
        <p:txBody>
          <a:bodyPr>
            <a:normAutofit/>
          </a:bodyPr>
          <a:lstStyle/>
          <a:p>
            <a:r>
              <a:rPr lang="en-US" dirty="0">
                <a:solidFill>
                  <a:schemeClr val="accent6">
                    <a:lumMod val="75000"/>
                  </a:schemeClr>
                </a:solidFill>
              </a:rPr>
              <a:t>Step 1: </a:t>
            </a:r>
            <a:r>
              <a:rPr lang="en-US" dirty="0"/>
              <a:t>Since all variables have equal number of values in their domains, pick the first one, i.e., V1= </a:t>
            </a:r>
            <a:r>
              <a:rPr lang="en-US" sz="2800" b="1" i="1" dirty="0">
                <a:latin typeface="Segoe Print" panose="02000600000000000000" pitchFamily="2" charset="0"/>
              </a:rPr>
              <a:t>Tabuk</a:t>
            </a:r>
          </a:p>
          <a:p>
            <a:pPr lvl="1"/>
            <a:r>
              <a:rPr lang="en-US" dirty="0"/>
              <a:t>Color V1 = </a:t>
            </a:r>
            <a:r>
              <a:rPr lang="en-US" b="1" dirty="0">
                <a:solidFill>
                  <a:srgbClr val="FF0000"/>
                </a:solidFill>
              </a:rPr>
              <a:t>R</a:t>
            </a:r>
            <a:r>
              <a:rPr lang="en-US" dirty="0"/>
              <a:t>; the first available color in its domain. </a:t>
            </a:r>
          </a:p>
          <a:p>
            <a:pPr lvl="1"/>
            <a:r>
              <a:rPr lang="en-US" dirty="0"/>
              <a:t>Propagate the constraint to all neighbors, i.e. cross of the color </a:t>
            </a:r>
            <a:r>
              <a:rPr lang="en-US" b="1" dirty="0">
                <a:solidFill>
                  <a:srgbClr val="FF0000"/>
                </a:solidFill>
              </a:rPr>
              <a:t>R </a:t>
            </a:r>
            <a:r>
              <a:rPr lang="en-US" dirty="0"/>
              <a:t>from their domains.</a:t>
            </a:r>
          </a:p>
          <a:p>
            <a:pPr lvl="1"/>
            <a:endParaRPr lang="en-US" dirty="0"/>
          </a:p>
          <a:p>
            <a:endParaRPr lang="en-US" dirty="0"/>
          </a:p>
        </p:txBody>
      </p:sp>
      <p:pic>
        <p:nvPicPr>
          <p:cNvPr id="9" name="Picture 8">
            <a:extLst>
              <a:ext uri="{FF2B5EF4-FFF2-40B4-BE49-F238E27FC236}">
                <a16:creationId xmlns:a16="http://schemas.microsoft.com/office/drawing/2014/main" id="{621183A7-1E13-EE53-1E3A-126F9A8A2417}"/>
              </a:ext>
            </a:extLst>
          </p:cNvPr>
          <p:cNvPicPr>
            <a:picLocks noChangeAspect="1"/>
          </p:cNvPicPr>
          <p:nvPr/>
        </p:nvPicPr>
        <p:blipFill>
          <a:blip r:embed="rId3"/>
          <a:stretch>
            <a:fillRect/>
          </a:stretch>
        </p:blipFill>
        <p:spPr>
          <a:xfrm>
            <a:off x="6060080" y="1012788"/>
            <a:ext cx="6067425" cy="3133725"/>
          </a:xfrm>
          <a:prstGeom prst="rect">
            <a:avLst/>
          </a:prstGeom>
        </p:spPr>
      </p:pic>
      <p:graphicFrame>
        <p:nvGraphicFramePr>
          <p:cNvPr id="12" name="Table 11">
            <a:extLst>
              <a:ext uri="{FF2B5EF4-FFF2-40B4-BE49-F238E27FC236}">
                <a16:creationId xmlns:a16="http://schemas.microsoft.com/office/drawing/2014/main" id="{44FD92C9-D519-4DAD-B7EB-F154F2D730CE}"/>
              </a:ext>
            </a:extLst>
          </p:cNvPr>
          <p:cNvGraphicFramePr>
            <a:graphicFrameLocks noGrp="1"/>
          </p:cNvGraphicFramePr>
          <p:nvPr>
            <p:extLst>
              <p:ext uri="{D42A27DB-BD31-4B8C-83A1-F6EECF244321}">
                <p14:modId xmlns:p14="http://schemas.microsoft.com/office/powerpoint/2010/main" val="460267716"/>
              </p:ext>
            </p:extLst>
          </p:nvPr>
        </p:nvGraphicFramePr>
        <p:xfrm>
          <a:off x="7523730" y="5489303"/>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3113824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2879D-ED5B-42E3-9E1B-AB33FFCAE1A6}"/>
              </a:ext>
            </a:extLst>
          </p:cNvPr>
          <p:cNvSpPr>
            <a:spLocks noGrp="1"/>
          </p:cNvSpPr>
          <p:nvPr>
            <p:ph type="title"/>
          </p:nvPr>
        </p:nvSpPr>
        <p:spPr/>
        <p:txBody>
          <a:bodyPr>
            <a:normAutofit fontScale="90000"/>
          </a:bodyPr>
          <a:lstStyle/>
          <a:p>
            <a:r>
              <a:rPr lang="en-US" dirty="0"/>
              <a:t>CSP Examples 2: Map Coloring - MRV</a:t>
            </a:r>
          </a:p>
        </p:txBody>
      </p:sp>
      <p:sp>
        <p:nvSpPr>
          <p:cNvPr id="4" name="Date Placeholder 3">
            <a:extLst>
              <a:ext uri="{FF2B5EF4-FFF2-40B4-BE49-F238E27FC236}">
                <a16:creationId xmlns:a16="http://schemas.microsoft.com/office/drawing/2014/main" id="{D6065B21-01AC-48B1-92D9-FC957C8F0EE1}"/>
              </a:ext>
            </a:extLst>
          </p:cNvPr>
          <p:cNvSpPr>
            <a:spLocks noGrp="1"/>
          </p:cNvSpPr>
          <p:nvPr>
            <p:ph type="dt" sz="half" idx="10"/>
          </p:nvPr>
        </p:nvSpPr>
        <p:spPr/>
        <p:txBody>
          <a:bodyPr/>
          <a:lstStyle/>
          <a:p>
            <a:fld id="{65E4BE9F-A7B8-49AF-BD1F-C58EE6182936}" type="datetime1">
              <a:rPr lang="en-US" smtClean="0"/>
              <a:t>10/16/2022</a:t>
            </a:fld>
            <a:endParaRPr lang="en-US" dirty="0"/>
          </a:p>
        </p:txBody>
      </p:sp>
      <p:sp>
        <p:nvSpPr>
          <p:cNvPr id="5" name="Footer Placeholder 4">
            <a:extLst>
              <a:ext uri="{FF2B5EF4-FFF2-40B4-BE49-F238E27FC236}">
                <a16:creationId xmlns:a16="http://schemas.microsoft.com/office/drawing/2014/main" id="{DFD53A2D-33EA-450F-9374-029D6E9FE200}"/>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DD152667-2C1E-47A5-9A66-932A6C87E655}"/>
              </a:ext>
            </a:extLst>
          </p:cNvPr>
          <p:cNvSpPr>
            <a:spLocks noGrp="1"/>
          </p:cNvSpPr>
          <p:nvPr>
            <p:ph type="sldNum" sz="quarter" idx="12"/>
          </p:nvPr>
        </p:nvSpPr>
        <p:spPr/>
        <p:txBody>
          <a:bodyPr/>
          <a:lstStyle/>
          <a:p>
            <a:fld id="{B7884E68-CE57-44C0-BE0F-84C629DF22D5}" type="slidenum">
              <a:rPr lang="en-US" dirty="0" smtClean="0"/>
              <a:t>48</a:t>
            </a:fld>
            <a:endParaRPr lang="en-US" dirty="0"/>
          </a:p>
        </p:txBody>
      </p:sp>
      <p:sp>
        <p:nvSpPr>
          <p:cNvPr id="17" name="TextBox 16">
            <a:extLst>
              <a:ext uri="{FF2B5EF4-FFF2-40B4-BE49-F238E27FC236}">
                <a16:creationId xmlns:a16="http://schemas.microsoft.com/office/drawing/2014/main" id="{788A6302-3755-4416-8162-EE676223EC50}"/>
              </a:ext>
            </a:extLst>
          </p:cNvPr>
          <p:cNvSpPr txBox="1"/>
          <p:nvPr/>
        </p:nvSpPr>
        <p:spPr>
          <a:xfrm>
            <a:off x="9952348" y="5226320"/>
            <a:ext cx="779765" cy="369332"/>
          </a:xfrm>
          <a:prstGeom prst="rect">
            <a:avLst/>
          </a:prstGeom>
          <a:noFill/>
        </p:spPr>
        <p:txBody>
          <a:bodyPr wrap="none" rtlCol="0">
            <a:spAutoFit/>
          </a:bodyPr>
          <a:lstStyle/>
          <a:p>
            <a:r>
              <a:rPr lang="en-US" b="1" dirty="0"/>
              <a:t>Step 2</a:t>
            </a:r>
          </a:p>
        </p:txBody>
      </p:sp>
      <p:sp>
        <p:nvSpPr>
          <p:cNvPr id="20" name="TextBox 19">
            <a:extLst>
              <a:ext uri="{FF2B5EF4-FFF2-40B4-BE49-F238E27FC236}">
                <a16:creationId xmlns:a16="http://schemas.microsoft.com/office/drawing/2014/main" id="{624B9C6C-F4BB-4221-AEF0-3ADB868AA4C1}"/>
              </a:ext>
            </a:extLst>
          </p:cNvPr>
          <p:cNvSpPr txBox="1"/>
          <p:nvPr/>
        </p:nvSpPr>
        <p:spPr>
          <a:xfrm>
            <a:off x="9152178" y="5482840"/>
            <a:ext cx="2372412" cy="646331"/>
          </a:xfrm>
          <a:prstGeom prst="rect">
            <a:avLst/>
          </a:prstGeom>
          <a:noFill/>
        </p:spPr>
        <p:txBody>
          <a:bodyPr wrap="square" rtlCol="0">
            <a:spAutoFit/>
          </a:bodyPr>
          <a:lstStyle/>
          <a:p>
            <a:pPr algn="ctr"/>
            <a:r>
              <a:rPr lang="en-US" dirty="0">
                <a:solidFill>
                  <a:srgbClr val="0070C0"/>
                </a:solidFill>
              </a:rPr>
              <a:t>Note the domain reduction of V3 and V6</a:t>
            </a:r>
          </a:p>
        </p:txBody>
      </p:sp>
      <p:sp>
        <p:nvSpPr>
          <p:cNvPr id="3" name="TextBox 2"/>
          <p:cNvSpPr txBox="1"/>
          <p:nvPr/>
        </p:nvSpPr>
        <p:spPr>
          <a:xfrm>
            <a:off x="9606420" y="6016359"/>
            <a:ext cx="1119602" cy="369332"/>
          </a:xfrm>
          <a:prstGeom prst="rect">
            <a:avLst/>
          </a:prstGeom>
          <a:noFill/>
        </p:spPr>
        <p:txBody>
          <a:bodyPr wrap="none" rtlCol="0">
            <a:spAutoFit/>
          </a:bodyPr>
          <a:lstStyle/>
          <a:p>
            <a:r>
              <a:rPr lang="en-US" b="1" dirty="0">
                <a:solidFill>
                  <a:srgbClr val="996633"/>
                </a:solidFill>
              </a:rPr>
              <a:t>MRV</a:t>
            </a:r>
            <a:r>
              <a:rPr lang="en-US" dirty="0">
                <a:solidFill>
                  <a:srgbClr val="996633"/>
                </a:solidFill>
              </a:rPr>
              <a:t> = V6</a:t>
            </a:r>
          </a:p>
        </p:txBody>
      </p:sp>
      <p:sp>
        <p:nvSpPr>
          <p:cNvPr id="28" name="Content Placeholder 2"/>
          <p:cNvSpPr>
            <a:spLocks noGrp="1"/>
          </p:cNvSpPr>
          <p:nvPr>
            <p:ph idx="1"/>
          </p:nvPr>
        </p:nvSpPr>
        <p:spPr>
          <a:xfrm>
            <a:off x="304800" y="1340138"/>
            <a:ext cx="7325710" cy="4827219"/>
          </a:xfrm>
        </p:spPr>
        <p:txBody>
          <a:bodyPr>
            <a:normAutofit/>
          </a:bodyPr>
          <a:lstStyle/>
          <a:p>
            <a:r>
              <a:rPr lang="en-US" dirty="0">
                <a:solidFill>
                  <a:schemeClr val="accent6">
                    <a:lumMod val="75000"/>
                  </a:schemeClr>
                </a:solidFill>
              </a:rPr>
              <a:t>Step 2: </a:t>
            </a:r>
            <a:r>
              <a:rPr lang="en-US" dirty="0"/>
              <a:t>Since V2 and V6 have equal number of values in their domains, pick V2= </a:t>
            </a:r>
            <a:r>
              <a:rPr lang="en-US" sz="2800" b="1" i="1" dirty="0" err="1">
                <a:latin typeface="Segoe Print" panose="02000600000000000000" pitchFamily="2" charset="0"/>
              </a:rPr>
              <a:t>Ha’il</a:t>
            </a:r>
            <a:endParaRPr lang="en-US" sz="1600" b="1" i="1" dirty="0">
              <a:latin typeface="Segoe Print" panose="02000600000000000000" pitchFamily="2" charset="0"/>
            </a:endParaRPr>
          </a:p>
          <a:p>
            <a:pPr lvl="1"/>
            <a:r>
              <a:rPr lang="en-US" dirty="0"/>
              <a:t>Color it with the first available color in its domain; </a:t>
            </a:r>
            <a:r>
              <a:rPr lang="en-US" b="1" dirty="0">
                <a:solidFill>
                  <a:srgbClr val="00B050"/>
                </a:solidFill>
              </a:rPr>
              <a:t>G</a:t>
            </a:r>
            <a:r>
              <a:rPr lang="en-US" dirty="0"/>
              <a:t>. </a:t>
            </a:r>
          </a:p>
          <a:p>
            <a:pPr lvl="1"/>
            <a:r>
              <a:rPr lang="en-US" dirty="0"/>
              <a:t>Propagate the constraint to all neighbors of unassigned variables. </a:t>
            </a:r>
          </a:p>
          <a:p>
            <a:pPr lvl="1"/>
            <a:endParaRPr lang="en-US" dirty="0"/>
          </a:p>
        </p:txBody>
      </p:sp>
      <p:pic>
        <p:nvPicPr>
          <p:cNvPr id="10" name="Picture 9">
            <a:extLst>
              <a:ext uri="{FF2B5EF4-FFF2-40B4-BE49-F238E27FC236}">
                <a16:creationId xmlns:a16="http://schemas.microsoft.com/office/drawing/2014/main" id="{304B684C-13B7-C5EA-A2B1-1FC46A7DCC43}"/>
              </a:ext>
            </a:extLst>
          </p:cNvPr>
          <p:cNvPicPr>
            <a:picLocks noChangeAspect="1"/>
          </p:cNvPicPr>
          <p:nvPr/>
        </p:nvPicPr>
        <p:blipFill>
          <a:blip r:embed="rId3"/>
          <a:stretch>
            <a:fillRect/>
          </a:stretch>
        </p:blipFill>
        <p:spPr>
          <a:xfrm>
            <a:off x="8237533" y="1150916"/>
            <a:ext cx="3429629" cy="4088217"/>
          </a:xfrm>
          <a:prstGeom prst="rect">
            <a:avLst/>
          </a:prstGeom>
        </p:spPr>
      </p:pic>
      <p:graphicFrame>
        <p:nvGraphicFramePr>
          <p:cNvPr id="12" name="Table 11">
            <a:extLst>
              <a:ext uri="{FF2B5EF4-FFF2-40B4-BE49-F238E27FC236}">
                <a16:creationId xmlns:a16="http://schemas.microsoft.com/office/drawing/2014/main" id="{45EFD66B-9430-4F03-A943-6293F2181CA1}"/>
              </a:ext>
            </a:extLst>
          </p:cNvPr>
          <p:cNvGraphicFramePr>
            <a:graphicFrameLocks noGrp="1"/>
          </p:cNvGraphicFramePr>
          <p:nvPr>
            <p:extLst>
              <p:ext uri="{D42A27DB-BD31-4B8C-83A1-F6EECF244321}">
                <p14:modId xmlns:p14="http://schemas.microsoft.com/office/powerpoint/2010/main" val="560056830"/>
              </p:ext>
            </p:extLst>
          </p:nvPr>
        </p:nvGraphicFramePr>
        <p:xfrm>
          <a:off x="4569163" y="5472960"/>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36525875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2879D-ED5B-42E3-9E1B-AB33FFCAE1A6}"/>
              </a:ext>
            </a:extLst>
          </p:cNvPr>
          <p:cNvSpPr>
            <a:spLocks noGrp="1"/>
          </p:cNvSpPr>
          <p:nvPr>
            <p:ph type="title"/>
          </p:nvPr>
        </p:nvSpPr>
        <p:spPr/>
        <p:txBody>
          <a:bodyPr>
            <a:normAutofit fontScale="90000"/>
          </a:bodyPr>
          <a:lstStyle/>
          <a:p>
            <a:r>
              <a:rPr lang="en-US" dirty="0"/>
              <a:t>CSP Examples 2: Map Coloring - MRV</a:t>
            </a:r>
          </a:p>
        </p:txBody>
      </p:sp>
      <p:sp>
        <p:nvSpPr>
          <p:cNvPr id="4" name="Date Placeholder 3">
            <a:extLst>
              <a:ext uri="{FF2B5EF4-FFF2-40B4-BE49-F238E27FC236}">
                <a16:creationId xmlns:a16="http://schemas.microsoft.com/office/drawing/2014/main" id="{D6065B21-01AC-48B1-92D9-FC957C8F0EE1}"/>
              </a:ext>
            </a:extLst>
          </p:cNvPr>
          <p:cNvSpPr>
            <a:spLocks noGrp="1"/>
          </p:cNvSpPr>
          <p:nvPr>
            <p:ph type="dt" sz="half" idx="10"/>
          </p:nvPr>
        </p:nvSpPr>
        <p:spPr/>
        <p:txBody>
          <a:bodyPr/>
          <a:lstStyle/>
          <a:p>
            <a:fld id="{65E4BE9F-A7B8-49AF-BD1F-C58EE6182936}" type="datetime1">
              <a:rPr lang="en-US" smtClean="0"/>
              <a:t>10/16/2022</a:t>
            </a:fld>
            <a:endParaRPr lang="en-US" dirty="0"/>
          </a:p>
        </p:txBody>
      </p:sp>
      <p:sp>
        <p:nvSpPr>
          <p:cNvPr id="5" name="Footer Placeholder 4">
            <a:extLst>
              <a:ext uri="{FF2B5EF4-FFF2-40B4-BE49-F238E27FC236}">
                <a16:creationId xmlns:a16="http://schemas.microsoft.com/office/drawing/2014/main" id="{DFD53A2D-33EA-450F-9374-029D6E9FE200}"/>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DD152667-2C1E-47A5-9A66-932A6C87E655}"/>
              </a:ext>
            </a:extLst>
          </p:cNvPr>
          <p:cNvSpPr>
            <a:spLocks noGrp="1"/>
          </p:cNvSpPr>
          <p:nvPr>
            <p:ph type="sldNum" sz="quarter" idx="12"/>
          </p:nvPr>
        </p:nvSpPr>
        <p:spPr/>
        <p:txBody>
          <a:bodyPr/>
          <a:lstStyle/>
          <a:p>
            <a:fld id="{B7884E68-CE57-44C0-BE0F-84C629DF22D5}" type="slidenum">
              <a:rPr lang="en-US" dirty="0" smtClean="0"/>
              <a:t>49</a:t>
            </a:fld>
            <a:endParaRPr lang="en-US" dirty="0"/>
          </a:p>
        </p:txBody>
      </p:sp>
      <p:sp>
        <p:nvSpPr>
          <p:cNvPr id="17" name="TextBox 16">
            <a:extLst>
              <a:ext uri="{FF2B5EF4-FFF2-40B4-BE49-F238E27FC236}">
                <a16:creationId xmlns:a16="http://schemas.microsoft.com/office/drawing/2014/main" id="{788A6302-3755-4416-8162-EE676223EC50}"/>
              </a:ext>
            </a:extLst>
          </p:cNvPr>
          <p:cNvSpPr txBox="1"/>
          <p:nvPr/>
        </p:nvSpPr>
        <p:spPr>
          <a:xfrm>
            <a:off x="9952348" y="5226320"/>
            <a:ext cx="779765" cy="369332"/>
          </a:xfrm>
          <a:prstGeom prst="rect">
            <a:avLst/>
          </a:prstGeom>
          <a:noFill/>
        </p:spPr>
        <p:txBody>
          <a:bodyPr wrap="none" rtlCol="0">
            <a:spAutoFit/>
          </a:bodyPr>
          <a:lstStyle/>
          <a:p>
            <a:r>
              <a:rPr lang="en-US" b="1" dirty="0"/>
              <a:t>Step 3</a:t>
            </a:r>
          </a:p>
        </p:txBody>
      </p:sp>
      <p:sp>
        <p:nvSpPr>
          <p:cNvPr id="20" name="TextBox 19">
            <a:extLst>
              <a:ext uri="{FF2B5EF4-FFF2-40B4-BE49-F238E27FC236}">
                <a16:creationId xmlns:a16="http://schemas.microsoft.com/office/drawing/2014/main" id="{624B9C6C-F4BB-4221-AEF0-3ADB868AA4C1}"/>
              </a:ext>
            </a:extLst>
          </p:cNvPr>
          <p:cNvSpPr txBox="1"/>
          <p:nvPr/>
        </p:nvSpPr>
        <p:spPr>
          <a:xfrm>
            <a:off x="8828690" y="5482840"/>
            <a:ext cx="2695900" cy="646331"/>
          </a:xfrm>
          <a:prstGeom prst="rect">
            <a:avLst/>
          </a:prstGeom>
          <a:noFill/>
        </p:spPr>
        <p:txBody>
          <a:bodyPr wrap="square" rtlCol="0">
            <a:spAutoFit/>
          </a:bodyPr>
          <a:lstStyle/>
          <a:p>
            <a:pPr algn="ctr"/>
            <a:r>
              <a:rPr lang="en-US" dirty="0">
                <a:solidFill>
                  <a:srgbClr val="0070C0"/>
                </a:solidFill>
              </a:rPr>
              <a:t>Note the domain reduction of V3, V4 and V5</a:t>
            </a:r>
          </a:p>
        </p:txBody>
      </p:sp>
      <p:sp>
        <p:nvSpPr>
          <p:cNvPr id="3" name="TextBox 2"/>
          <p:cNvSpPr txBox="1"/>
          <p:nvPr/>
        </p:nvSpPr>
        <p:spPr>
          <a:xfrm>
            <a:off x="9606420" y="6016359"/>
            <a:ext cx="1119602" cy="369332"/>
          </a:xfrm>
          <a:prstGeom prst="rect">
            <a:avLst/>
          </a:prstGeom>
          <a:noFill/>
        </p:spPr>
        <p:txBody>
          <a:bodyPr wrap="none" rtlCol="0">
            <a:spAutoFit/>
          </a:bodyPr>
          <a:lstStyle/>
          <a:p>
            <a:r>
              <a:rPr lang="en-US" b="1" dirty="0">
                <a:solidFill>
                  <a:srgbClr val="996633"/>
                </a:solidFill>
              </a:rPr>
              <a:t>MRV</a:t>
            </a:r>
            <a:r>
              <a:rPr lang="en-US" dirty="0">
                <a:solidFill>
                  <a:srgbClr val="996633"/>
                </a:solidFill>
              </a:rPr>
              <a:t> = V3</a:t>
            </a:r>
          </a:p>
        </p:txBody>
      </p:sp>
      <p:sp>
        <p:nvSpPr>
          <p:cNvPr id="28" name="Content Placeholder 2"/>
          <p:cNvSpPr>
            <a:spLocks noGrp="1"/>
          </p:cNvSpPr>
          <p:nvPr>
            <p:ph idx="1"/>
          </p:nvPr>
        </p:nvSpPr>
        <p:spPr>
          <a:xfrm>
            <a:off x="304800" y="1340138"/>
            <a:ext cx="7325710" cy="4827219"/>
          </a:xfrm>
        </p:spPr>
        <p:txBody>
          <a:bodyPr>
            <a:normAutofit/>
          </a:bodyPr>
          <a:lstStyle/>
          <a:p>
            <a:r>
              <a:rPr lang="en-US" dirty="0">
                <a:solidFill>
                  <a:schemeClr val="accent6">
                    <a:lumMod val="75000"/>
                  </a:schemeClr>
                </a:solidFill>
              </a:rPr>
              <a:t>Step 3: </a:t>
            </a:r>
            <a:r>
              <a:rPr lang="en-US" dirty="0"/>
              <a:t>Since V6 has the least number of values in its domain, pick V6</a:t>
            </a:r>
            <a:endParaRPr lang="en-US" sz="1600" b="1" i="1" dirty="0">
              <a:latin typeface="Segoe Print" panose="02000600000000000000" pitchFamily="2" charset="0"/>
            </a:endParaRPr>
          </a:p>
          <a:p>
            <a:pPr lvl="1"/>
            <a:r>
              <a:rPr lang="en-US" dirty="0"/>
              <a:t>Color it with the first available color in its domain; </a:t>
            </a:r>
            <a:r>
              <a:rPr lang="en-US" b="1" dirty="0">
                <a:solidFill>
                  <a:srgbClr val="C0C000"/>
                </a:solidFill>
              </a:rPr>
              <a:t>Y</a:t>
            </a:r>
            <a:r>
              <a:rPr lang="en-US" dirty="0"/>
              <a:t>. </a:t>
            </a:r>
          </a:p>
          <a:p>
            <a:pPr lvl="1"/>
            <a:r>
              <a:rPr lang="en-US" dirty="0"/>
              <a:t>Propagate the constraint to all neighbors of unassigned variables. </a:t>
            </a:r>
          </a:p>
          <a:p>
            <a:pPr lvl="1"/>
            <a:endParaRPr lang="en-US" dirty="0"/>
          </a:p>
        </p:txBody>
      </p:sp>
      <p:pic>
        <p:nvPicPr>
          <p:cNvPr id="9" name="Picture 8">
            <a:extLst>
              <a:ext uri="{FF2B5EF4-FFF2-40B4-BE49-F238E27FC236}">
                <a16:creationId xmlns:a16="http://schemas.microsoft.com/office/drawing/2014/main" id="{E4094BA9-80F9-6898-0B88-5962D31949E6}"/>
              </a:ext>
            </a:extLst>
          </p:cNvPr>
          <p:cNvPicPr>
            <a:picLocks noChangeAspect="1"/>
          </p:cNvPicPr>
          <p:nvPr/>
        </p:nvPicPr>
        <p:blipFill>
          <a:blip r:embed="rId3"/>
          <a:stretch>
            <a:fillRect/>
          </a:stretch>
        </p:blipFill>
        <p:spPr>
          <a:xfrm>
            <a:off x="8137277" y="1142474"/>
            <a:ext cx="3544975" cy="4225713"/>
          </a:xfrm>
          <a:prstGeom prst="rect">
            <a:avLst/>
          </a:prstGeom>
        </p:spPr>
      </p:pic>
      <p:graphicFrame>
        <p:nvGraphicFramePr>
          <p:cNvPr id="12" name="Table 11">
            <a:extLst>
              <a:ext uri="{FF2B5EF4-FFF2-40B4-BE49-F238E27FC236}">
                <a16:creationId xmlns:a16="http://schemas.microsoft.com/office/drawing/2014/main" id="{A7BF6859-2BF4-4AD8-8BB9-C6413F329003}"/>
              </a:ext>
            </a:extLst>
          </p:cNvPr>
          <p:cNvGraphicFramePr>
            <a:graphicFrameLocks noGrp="1"/>
          </p:cNvGraphicFramePr>
          <p:nvPr>
            <p:extLst>
              <p:ext uri="{D42A27DB-BD31-4B8C-83A1-F6EECF244321}">
                <p14:modId xmlns:p14="http://schemas.microsoft.com/office/powerpoint/2010/main" val="3174382034"/>
              </p:ext>
            </p:extLst>
          </p:nvPr>
        </p:nvGraphicFramePr>
        <p:xfrm>
          <a:off x="4569163" y="5472960"/>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27914798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2879D-ED5B-42E3-9E1B-AB33FFCAE1A6}"/>
              </a:ext>
            </a:extLst>
          </p:cNvPr>
          <p:cNvSpPr>
            <a:spLocks noGrp="1"/>
          </p:cNvSpPr>
          <p:nvPr>
            <p:ph type="title"/>
          </p:nvPr>
        </p:nvSpPr>
        <p:spPr/>
        <p:txBody>
          <a:bodyPr>
            <a:normAutofit fontScale="90000"/>
          </a:bodyPr>
          <a:lstStyle/>
          <a:p>
            <a:r>
              <a:rPr lang="en-US" dirty="0"/>
              <a:t>CSP Examples 2: Map Coloring - MRV</a:t>
            </a:r>
          </a:p>
        </p:txBody>
      </p:sp>
      <p:sp>
        <p:nvSpPr>
          <p:cNvPr id="4" name="Date Placeholder 3">
            <a:extLst>
              <a:ext uri="{FF2B5EF4-FFF2-40B4-BE49-F238E27FC236}">
                <a16:creationId xmlns:a16="http://schemas.microsoft.com/office/drawing/2014/main" id="{D6065B21-01AC-48B1-92D9-FC957C8F0EE1}"/>
              </a:ext>
            </a:extLst>
          </p:cNvPr>
          <p:cNvSpPr>
            <a:spLocks noGrp="1"/>
          </p:cNvSpPr>
          <p:nvPr>
            <p:ph type="dt" sz="half" idx="10"/>
          </p:nvPr>
        </p:nvSpPr>
        <p:spPr/>
        <p:txBody>
          <a:bodyPr/>
          <a:lstStyle/>
          <a:p>
            <a:fld id="{65E4BE9F-A7B8-49AF-BD1F-C58EE6182936}" type="datetime1">
              <a:rPr lang="en-US" smtClean="0"/>
              <a:t>10/16/2022</a:t>
            </a:fld>
            <a:endParaRPr lang="en-US" dirty="0"/>
          </a:p>
        </p:txBody>
      </p:sp>
      <p:sp>
        <p:nvSpPr>
          <p:cNvPr id="5" name="Footer Placeholder 4">
            <a:extLst>
              <a:ext uri="{FF2B5EF4-FFF2-40B4-BE49-F238E27FC236}">
                <a16:creationId xmlns:a16="http://schemas.microsoft.com/office/drawing/2014/main" id="{DFD53A2D-33EA-450F-9374-029D6E9FE200}"/>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DD152667-2C1E-47A5-9A66-932A6C87E655}"/>
              </a:ext>
            </a:extLst>
          </p:cNvPr>
          <p:cNvSpPr>
            <a:spLocks noGrp="1"/>
          </p:cNvSpPr>
          <p:nvPr>
            <p:ph type="sldNum" sz="quarter" idx="12"/>
          </p:nvPr>
        </p:nvSpPr>
        <p:spPr/>
        <p:txBody>
          <a:bodyPr/>
          <a:lstStyle/>
          <a:p>
            <a:fld id="{B7884E68-CE57-44C0-BE0F-84C629DF22D5}" type="slidenum">
              <a:rPr lang="en-US" dirty="0" smtClean="0"/>
              <a:t>50</a:t>
            </a:fld>
            <a:endParaRPr lang="en-US" dirty="0"/>
          </a:p>
        </p:txBody>
      </p:sp>
      <p:sp>
        <p:nvSpPr>
          <p:cNvPr id="17" name="TextBox 16">
            <a:extLst>
              <a:ext uri="{FF2B5EF4-FFF2-40B4-BE49-F238E27FC236}">
                <a16:creationId xmlns:a16="http://schemas.microsoft.com/office/drawing/2014/main" id="{788A6302-3755-4416-8162-EE676223EC50}"/>
              </a:ext>
            </a:extLst>
          </p:cNvPr>
          <p:cNvSpPr txBox="1"/>
          <p:nvPr/>
        </p:nvSpPr>
        <p:spPr>
          <a:xfrm>
            <a:off x="9952348" y="5226320"/>
            <a:ext cx="779765" cy="369332"/>
          </a:xfrm>
          <a:prstGeom prst="rect">
            <a:avLst/>
          </a:prstGeom>
          <a:noFill/>
        </p:spPr>
        <p:txBody>
          <a:bodyPr wrap="none" rtlCol="0">
            <a:spAutoFit/>
          </a:bodyPr>
          <a:lstStyle/>
          <a:p>
            <a:r>
              <a:rPr lang="en-US" b="1" dirty="0"/>
              <a:t>Step 4</a:t>
            </a:r>
          </a:p>
        </p:txBody>
      </p:sp>
      <p:sp>
        <p:nvSpPr>
          <p:cNvPr id="20" name="TextBox 19">
            <a:extLst>
              <a:ext uri="{FF2B5EF4-FFF2-40B4-BE49-F238E27FC236}">
                <a16:creationId xmlns:a16="http://schemas.microsoft.com/office/drawing/2014/main" id="{624B9C6C-F4BB-4221-AEF0-3ADB868AA4C1}"/>
              </a:ext>
            </a:extLst>
          </p:cNvPr>
          <p:cNvSpPr txBox="1"/>
          <p:nvPr/>
        </p:nvSpPr>
        <p:spPr>
          <a:xfrm>
            <a:off x="9152178" y="5482840"/>
            <a:ext cx="2372412" cy="646331"/>
          </a:xfrm>
          <a:prstGeom prst="rect">
            <a:avLst/>
          </a:prstGeom>
          <a:noFill/>
        </p:spPr>
        <p:txBody>
          <a:bodyPr wrap="square" rtlCol="0">
            <a:spAutoFit/>
          </a:bodyPr>
          <a:lstStyle/>
          <a:p>
            <a:pPr algn="ctr"/>
            <a:r>
              <a:rPr lang="en-US" dirty="0">
                <a:solidFill>
                  <a:srgbClr val="0070C0"/>
                </a:solidFill>
              </a:rPr>
              <a:t>Note the domain reduction of V4</a:t>
            </a:r>
          </a:p>
        </p:txBody>
      </p:sp>
      <p:sp>
        <p:nvSpPr>
          <p:cNvPr id="3" name="TextBox 2"/>
          <p:cNvSpPr txBox="1"/>
          <p:nvPr/>
        </p:nvSpPr>
        <p:spPr>
          <a:xfrm>
            <a:off x="9606420" y="6016359"/>
            <a:ext cx="1119602" cy="369332"/>
          </a:xfrm>
          <a:prstGeom prst="rect">
            <a:avLst/>
          </a:prstGeom>
          <a:noFill/>
        </p:spPr>
        <p:txBody>
          <a:bodyPr wrap="none" rtlCol="0">
            <a:spAutoFit/>
          </a:bodyPr>
          <a:lstStyle/>
          <a:p>
            <a:r>
              <a:rPr lang="en-US" b="1" dirty="0">
                <a:solidFill>
                  <a:srgbClr val="996633"/>
                </a:solidFill>
              </a:rPr>
              <a:t>MRV</a:t>
            </a:r>
            <a:r>
              <a:rPr lang="en-US" dirty="0">
                <a:solidFill>
                  <a:srgbClr val="996633"/>
                </a:solidFill>
              </a:rPr>
              <a:t> = V4</a:t>
            </a:r>
          </a:p>
        </p:txBody>
      </p:sp>
      <p:sp>
        <p:nvSpPr>
          <p:cNvPr id="28" name="Content Placeholder 2"/>
          <p:cNvSpPr>
            <a:spLocks noGrp="1"/>
          </p:cNvSpPr>
          <p:nvPr>
            <p:ph idx="1"/>
          </p:nvPr>
        </p:nvSpPr>
        <p:spPr>
          <a:xfrm>
            <a:off x="304800" y="1340138"/>
            <a:ext cx="7325710" cy="4827219"/>
          </a:xfrm>
        </p:spPr>
        <p:txBody>
          <a:bodyPr>
            <a:normAutofit/>
          </a:bodyPr>
          <a:lstStyle/>
          <a:p>
            <a:r>
              <a:rPr lang="en-US" dirty="0">
                <a:solidFill>
                  <a:schemeClr val="accent6">
                    <a:lumMod val="75000"/>
                  </a:schemeClr>
                </a:solidFill>
              </a:rPr>
              <a:t>Step 4: </a:t>
            </a:r>
            <a:r>
              <a:rPr lang="en-US" dirty="0"/>
              <a:t>Since V3 has the least number of values in its domain, pick V3</a:t>
            </a:r>
            <a:endParaRPr lang="en-US" sz="1600" b="1" i="1" dirty="0">
              <a:latin typeface="Segoe Print" panose="02000600000000000000" pitchFamily="2" charset="0"/>
            </a:endParaRPr>
          </a:p>
          <a:p>
            <a:pPr lvl="1"/>
            <a:r>
              <a:rPr lang="en-US" dirty="0"/>
              <a:t>Color it with the first available color in its domain; </a:t>
            </a:r>
            <a:r>
              <a:rPr lang="en-US" b="1" dirty="0">
                <a:solidFill>
                  <a:srgbClr val="0000FF"/>
                </a:solidFill>
              </a:rPr>
              <a:t>B</a:t>
            </a:r>
            <a:r>
              <a:rPr lang="en-US" dirty="0"/>
              <a:t>. </a:t>
            </a:r>
          </a:p>
          <a:p>
            <a:pPr lvl="1"/>
            <a:r>
              <a:rPr lang="en-US" dirty="0"/>
              <a:t>Propagate the constraint to all neighbors of unassigned variables. </a:t>
            </a:r>
          </a:p>
          <a:p>
            <a:pPr lvl="1"/>
            <a:endParaRPr lang="en-US" dirty="0"/>
          </a:p>
        </p:txBody>
      </p:sp>
      <p:pic>
        <p:nvPicPr>
          <p:cNvPr id="14" name="Picture 13">
            <a:extLst>
              <a:ext uri="{FF2B5EF4-FFF2-40B4-BE49-F238E27FC236}">
                <a16:creationId xmlns:a16="http://schemas.microsoft.com/office/drawing/2014/main" id="{A426ECC3-3F80-B273-0D08-408177429DB5}"/>
              </a:ext>
            </a:extLst>
          </p:cNvPr>
          <p:cNvPicPr>
            <a:picLocks noChangeAspect="1"/>
          </p:cNvPicPr>
          <p:nvPr/>
        </p:nvPicPr>
        <p:blipFill>
          <a:blip r:embed="rId3"/>
          <a:stretch>
            <a:fillRect/>
          </a:stretch>
        </p:blipFill>
        <p:spPr>
          <a:xfrm>
            <a:off x="8119241" y="1025592"/>
            <a:ext cx="3547242" cy="4228415"/>
          </a:xfrm>
          <a:prstGeom prst="rect">
            <a:avLst/>
          </a:prstGeom>
        </p:spPr>
      </p:pic>
      <p:graphicFrame>
        <p:nvGraphicFramePr>
          <p:cNvPr id="12" name="Table 11">
            <a:extLst>
              <a:ext uri="{FF2B5EF4-FFF2-40B4-BE49-F238E27FC236}">
                <a16:creationId xmlns:a16="http://schemas.microsoft.com/office/drawing/2014/main" id="{1CDAB6F2-2911-4087-913F-4A09936D5CF9}"/>
              </a:ext>
            </a:extLst>
          </p:cNvPr>
          <p:cNvGraphicFramePr>
            <a:graphicFrameLocks noGrp="1"/>
          </p:cNvGraphicFramePr>
          <p:nvPr>
            <p:extLst>
              <p:ext uri="{D42A27DB-BD31-4B8C-83A1-F6EECF244321}">
                <p14:modId xmlns:p14="http://schemas.microsoft.com/office/powerpoint/2010/main" val="3174382034"/>
              </p:ext>
            </p:extLst>
          </p:nvPr>
        </p:nvGraphicFramePr>
        <p:xfrm>
          <a:off x="4569163" y="5472960"/>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5507248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2879D-ED5B-42E3-9E1B-AB33FFCAE1A6}"/>
              </a:ext>
            </a:extLst>
          </p:cNvPr>
          <p:cNvSpPr>
            <a:spLocks noGrp="1"/>
          </p:cNvSpPr>
          <p:nvPr>
            <p:ph type="title"/>
          </p:nvPr>
        </p:nvSpPr>
        <p:spPr/>
        <p:txBody>
          <a:bodyPr>
            <a:normAutofit fontScale="90000"/>
          </a:bodyPr>
          <a:lstStyle/>
          <a:p>
            <a:r>
              <a:rPr lang="en-US" dirty="0"/>
              <a:t>CSP Examples 2: Map Coloring - MRV</a:t>
            </a:r>
          </a:p>
        </p:txBody>
      </p:sp>
      <p:sp>
        <p:nvSpPr>
          <p:cNvPr id="4" name="Date Placeholder 3">
            <a:extLst>
              <a:ext uri="{FF2B5EF4-FFF2-40B4-BE49-F238E27FC236}">
                <a16:creationId xmlns:a16="http://schemas.microsoft.com/office/drawing/2014/main" id="{D6065B21-01AC-48B1-92D9-FC957C8F0EE1}"/>
              </a:ext>
            </a:extLst>
          </p:cNvPr>
          <p:cNvSpPr>
            <a:spLocks noGrp="1"/>
          </p:cNvSpPr>
          <p:nvPr>
            <p:ph type="dt" sz="half" idx="10"/>
          </p:nvPr>
        </p:nvSpPr>
        <p:spPr/>
        <p:txBody>
          <a:bodyPr/>
          <a:lstStyle/>
          <a:p>
            <a:fld id="{65E4BE9F-A7B8-49AF-BD1F-C58EE6182936}" type="datetime1">
              <a:rPr lang="en-US" smtClean="0"/>
              <a:t>10/16/2022</a:t>
            </a:fld>
            <a:endParaRPr lang="en-US" dirty="0"/>
          </a:p>
        </p:txBody>
      </p:sp>
      <p:sp>
        <p:nvSpPr>
          <p:cNvPr id="5" name="Footer Placeholder 4">
            <a:extLst>
              <a:ext uri="{FF2B5EF4-FFF2-40B4-BE49-F238E27FC236}">
                <a16:creationId xmlns:a16="http://schemas.microsoft.com/office/drawing/2014/main" id="{DFD53A2D-33EA-450F-9374-029D6E9FE200}"/>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DD152667-2C1E-47A5-9A66-932A6C87E655}"/>
              </a:ext>
            </a:extLst>
          </p:cNvPr>
          <p:cNvSpPr>
            <a:spLocks noGrp="1"/>
          </p:cNvSpPr>
          <p:nvPr>
            <p:ph type="sldNum" sz="quarter" idx="12"/>
          </p:nvPr>
        </p:nvSpPr>
        <p:spPr/>
        <p:txBody>
          <a:bodyPr/>
          <a:lstStyle/>
          <a:p>
            <a:fld id="{B7884E68-CE57-44C0-BE0F-84C629DF22D5}" type="slidenum">
              <a:rPr lang="en-US" dirty="0" smtClean="0"/>
              <a:t>51</a:t>
            </a:fld>
            <a:endParaRPr lang="en-US" dirty="0"/>
          </a:p>
        </p:txBody>
      </p:sp>
      <p:sp>
        <p:nvSpPr>
          <p:cNvPr id="17" name="TextBox 16">
            <a:extLst>
              <a:ext uri="{FF2B5EF4-FFF2-40B4-BE49-F238E27FC236}">
                <a16:creationId xmlns:a16="http://schemas.microsoft.com/office/drawing/2014/main" id="{788A6302-3755-4416-8162-EE676223EC50}"/>
              </a:ext>
            </a:extLst>
          </p:cNvPr>
          <p:cNvSpPr txBox="1"/>
          <p:nvPr/>
        </p:nvSpPr>
        <p:spPr>
          <a:xfrm>
            <a:off x="9952348" y="5226320"/>
            <a:ext cx="779765" cy="369332"/>
          </a:xfrm>
          <a:prstGeom prst="rect">
            <a:avLst/>
          </a:prstGeom>
          <a:noFill/>
        </p:spPr>
        <p:txBody>
          <a:bodyPr wrap="none" rtlCol="0">
            <a:spAutoFit/>
          </a:bodyPr>
          <a:lstStyle/>
          <a:p>
            <a:r>
              <a:rPr lang="en-US" b="1" dirty="0"/>
              <a:t>Step 5</a:t>
            </a:r>
          </a:p>
        </p:txBody>
      </p:sp>
      <p:sp>
        <p:nvSpPr>
          <p:cNvPr id="20" name="TextBox 19">
            <a:extLst>
              <a:ext uri="{FF2B5EF4-FFF2-40B4-BE49-F238E27FC236}">
                <a16:creationId xmlns:a16="http://schemas.microsoft.com/office/drawing/2014/main" id="{624B9C6C-F4BB-4221-AEF0-3ADB868AA4C1}"/>
              </a:ext>
            </a:extLst>
          </p:cNvPr>
          <p:cNvSpPr txBox="1"/>
          <p:nvPr/>
        </p:nvSpPr>
        <p:spPr>
          <a:xfrm>
            <a:off x="9152178" y="5482840"/>
            <a:ext cx="2372412" cy="646331"/>
          </a:xfrm>
          <a:prstGeom prst="rect">
            <a:avLst/>
          </a:prstGeom>
          <a:noFill/>
        </p:spPr>
        <p:txBody>
          <a:bodyPr wrap="square" rtlCol="0">
            <a:spAutoFit/>
          </a:bodyPr>
          <a:lstStyle/>
          <a:p>
            <a:pPr algn="ctr"/>
            <a:r>
              <a:rPr lang="en-US" dirty="0">
                <a:solidFill>
                  <a:srgbClr val="0070C0"/>
                </a:solidFill>
              </a:rPr>
              <a:t>Note the domain reduction of V5</a:t>
            </a:r>
          </a:p>
        </p:txBody>
      </p:sp>
      <p:sp>
        <p:nvSpPr>
          <p:cNvPr id="3" name="TextBox 2"/>
          <p:cNvSpPr txBox="1"/>
          <p:nvPr/>
        </p:nvSpPr>
        <p:spPr>
          <a:xfrm>
            <a:off x="9606420" y="6016359"/>
            <a:ext cx="1119602" cy="369332"/>
          </a:xfrm>
          <a:prstGeom prst="rect">
            <a:avLst/>
          </a:prstGeom>
          <a:noFill/>
        </p:spPr>
        <p:txBody>
          <a:bodyPr wrap="none" rtlCol="0">
            <a:spAutoFit/>
          </a:bodyPr>
          <a:lstStyle/>
          <a:p>
            <a:r>
              <a:rPr lang="en-US" b="1" dirty="0">
                <a:solidFill>
                  <a:srgbClr val="996633"/>
                </a:solidFill>
              </a:rPr>
              <a:t>MRV</a:t>
            </a:r>
            <a:r>
              <a:rPr lang="en-US" dirty="0">
                <a:solidFill>
                  <a:srgbClr val="996633"/>
                </a:solidFill>
              </a:rPr>
              <a:t> = V5</a:t>
            </a:r>
          </a:p>
        </p:txBody>
      </p:sp>
      <p:sp>
        <p:nvSpPr>
          <p:cNvPr id="28" name="Content Placeholder 2"/>
          <p:cNvSpPr>
            <a:spLocks noGrp="1"/>
          </p:cNvSpPr>
          <p:nvPr>
            <p:ph idx="1"/>
          </p:nvPr>
        </p:nvSpPr>
        <p:spPr>
          <a:xfrm>
            <a:off x="304800" y="1340138"/>
            <a:ext cx="7325710" cy="4827219"/>
          </a:xfrm>
        </p:spPr>
        <p:txBody>
          <a:bodyPr>
            <a:normAutofit/>
          </a:bodyPr>
          <a:lstStyle/>
          <a:p>
            <a:r>
              <a:rPr lang="en-US" dirty="0">
                <a:solidFill>
                  <a:schemeClr val="accent6">
                    <a:lumMod val="75000"/>
                  </a:schemeClr>
                </a:solidFill>
              </a:rPr>
              <a:t>Step 5: </a:t>
            </a:r>
            <a:r>
              <a:rPr lang="en-US" dirty="0"/>
              <a:t>Since V4 has the least number of values in its domain, pick V4</a:t>
            </a:r>
            <a:endParaRPr lang="en-US" sz="1600" b="1" i="1" dirty="0">
              <a:latin typeface="Segoe Print" panose="02000600000000000000" pitchFamily="2" charset="0"/>
            </a:endParaRPr>
          </a:p>
          <a:p>
            <a:pPr lvl="1"/>
            <a:r>
              <a:rPr lang="en-US" dirty="0"/>
              <a:t>Color it with the first available color in its domain; </a:t>
            </a:r>
            <a:r>
              <a:rPr lang="en-US" b="1" dirty="0">
                <a:solidFill>
                  <a:srgbClr val="FF0000"/>
                </a:solidFill>
              </a:rPr>
              <a:t>R</a:t>
            </a:r>
            <a:r>
              <a:rPr lang="en-US" dirty="0"/>
              <a:t>. </a:t>
            </a:r>
          </a:p>
          <a:p>
            <a:pPr lvl="1"/>
            <a:r>
              <a:rPr lang="en-US" dirty="0"/>
              <a:t>Propagate the constraint to all neighbors of unassigned variables. </a:t>
            </a:r>
          </a:p>
          <a:p>
            <a:pPr lvl="1"/>
            <a:endParaRPr lang="en-US" dirty="0"/>
          </a:p>
        </p:txBody>
      </p:sp>
      <p:pic>
        <p:nvPicPr>
          <p:cNvPr id="9" name="Picture 8">
            <a:extLst>
              <a:ext uri="{FF2B5EF4-FFF2-40B4-BE49-F238E27FC236}">
                <a16:creationId xmlns:a16="http://schemas.microsoft.com/office/drawing/2014/main" id="{21EBCAF9-FDFD-0967-787B-2B8306313BCB}"/>
              </a:ext>
            </a:extLst>
          </p:cNvPr>
          <p:cNvPicPr>
            <a:picLocks noChangeAspect="1"/>
          </p:cNvPicPr>
          <p:nvPr/>
        </p:nvPicPr>
        <p:blipFill>
          <a:blip r:embed="rId3"/>
          <a:stretch>
            <a:fillRect/>
          </a:stretch>
        </p:blipFill>
        <p:spPr>
          <a:xfrm>
            <a:off x="8291970" y="1142474"/>
            <a:ext cx="3469106" cy="4135275"/>
          </a:xfrm>
          <a:prstGeom prst="rect">
            <a:avLst/>
          </a:prstGeom>
        </p:spPr>
      </p:pic>
      <p:graphicFrame>
        <p:nvGraphicFramePr>
          <p:cNvPr id="12" name="Table 11">
            <a:extLst>
              <a:ext uri="{FF2B5EF4-FFF2-40B4-BE49-F238E27FC236}">
                <a16:creationId xmlns:a16="http://schemas.microsoft.com/office/drawing/2014/main" id="{C6BF3141-768F-437C-BFF1-83493CDF0827}"/>
              </a:ext>
            </a:extLst>
          </p:cNvPr>
          <p:cNvGraphicFramePr>
            <a:graphicFrameLocks noGrp="1"/>
          </p:cNvGraphicFramePr>
          <p:nvPr>
            <p:extLst>
              <p:ext uri="{D42A27DB-BD31-4B8C-83A1-F6EECF244321}">
                <p14:modId xmlns:p14="http://schemas.microsoft.com/office/powerpoint/2010/main" val="3174382034"/>
              </p:ext>
            </p:extLst>
          </p:nvPr>
        </p:nvGraphicFramePr>
        <p:xfrm>
          <a:off x="4569163" y="5472960"/>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21508132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2879D-ED5B-42E3-9E1B-AB33FFCAE1A6}"/>
              </a:ext>
            </a:extLst>
          </p:cNvPr>
          <p:cNvSpPr>
            <a:spLocks noGrp="1"/>
          </p:cNvSpPr>
          <p:nvPr>
            <p:ph type="title"/>
          </p:nvPr>
        </p:nvSpPr>
        <p:spPr/>
        <p:txBody>
          <a:bodyPr>
            <a:normAutofit fontScale="90000"/>
          </a:bodyPr>
          <a:lstStyle/>
          <a:p>
            <a:r>
              <a:rPr lang="en-US" dirty="0"/>
              <a:t>CSP Examples 2: Map Coloring - MRV</a:t>
            </a:r>
          </a:p>
        </p:txBody>
      </p:sp>
      <p:sp>
        <p:nvSpPr>
          <p:cNvPr id="4" name="Date Placeholder 3">
            <a:extLst>
              <a:ext uri="{FF2B5EF4-FFF2-40B4-BE49-F238E27FC236}">
                <a16:creationId xmlns:a16="http://schemas.microsoft.com/office/drawing/2014/main" id="{D6065B21-01AC-48B1-92D9-FC957C8F0EE1}"/>
              </a:ext>
            </a:extLst>
          </p:cNvPr>
          <p:cNvSpPr>
            <a:spLocks noGrp="1"/>
          </p:cNvSpPr>
          <p:nvPr>
            <p:ph type="dt" sz="half" idx="10"/>
          </p:nvPr>
        </p:nvSpPr>
        <p:spPr/>
        <p:txBody>
          <a:bodyPr/>
          <a:lstStyle/>
          <a:p>
            <a:fld id="{65E4BE9F-A7B8-49AF-BD1F-C58EE6182936}" type="datetime1">
              <a:rPr lang="en-US" smtClean="0"/>
              <a:t>10/16/2022</a:t>
            </a:fld>
            <a:endParaRPr lang="en-US" dirty="0"/>
          </a:p>
        </p:txBody>
      </p:sp>
      <p:sp>
        <p:nvSpPr>
          <p:cNvPr id="5" name="Footer Placeholder 4">
            <a:extLst>
              <a:ext uri="{FF2B5EF4-FFF2-40B4-BE49-F238E27FC236}">
                <a16:creationId xmlns:a16="http://schemas.microsoft.com/office/drawing/2014/main" id="{DFD53A2D-33EA-450F-9374-029D6E9FE200}"/>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DD152667-2C1E-47A5-9A66-932A6C87E655}"/>
              </a:ext>
            </a:extLst>
          </p:cNvPr>
          <p:cNvSpPr>
            <a:spLocks noGrp="1"/>
          </p:cNvSpPr>
          <p:nvPr>
            <p:ph type="sldNum" sz="quarter" idx="12"/>
          </p:nvPr>
        </p:nvSpPr>
        <p:spPr/>
        <p:txBody>
          <a:bodyPr/>
          <a:lstStyle/>
          <a:p>
            <a:fld id="{B7884E68-CE57-44C0-BE0F-84C629DF22D5}" type="slidenum">
              <a:rPr lang="en-US" dirty="0" smtClean="0"/>
              <a:t>52</a:t>
            </a:fld>
            <a:endParaRPr lang="en-US" dirty="0"/>
          </a:p>
        </p:txBody>
      </p:sp>
      <p:sp>
        <p:nvSpPr>
          <p:cNvPr id="17" name="TextBox 16">
            <a:extLst>
              <a:ext uri="{FF2B5EF4-FFF2-40B4-BE49-F238E27FC236}">
                <a16:creationId xmlns:a16="http://schemas.microsoft.com/office/drawing/2014/main" id="{788A6302-3755-4416-8162-EE676223EC50}"/>
              </a:ext>
            </a:extLst>
          </p:cNvPr>
          <p:cNvSpPr txBox="1"/>
          <p:nvPr/>
        </p:nvSpPr>
        <p:spPr>
          <a:xfrm>
            <a:off x="9952348" y="5226320"/>
            <a:ext cx="779765" cy="369332"/>
          </a:xfrm>
          <a:prstGeom prst="rect">
            <a:avLst/>
          </a:prstGeom>
          <a:noFill/>
        </p:spPr>
        <p:txBody>
          <a:bodyPr wrap="none" rtlCol="0">
            <a:spAutoFit/>
          </a:bodyPr>
          <a:lstStyle/>
          <a:p>
            <a:r>
              <a:rPr lang="en-US" b="1" dirty="0"/>
              <a:t>Step 6</a:t>
            </a:r>
          </a:p>
        </p:txBody>
      </p:sp>
      <p:sp>
        <p:nvSpPr>
          <p:cNvPr id="28" name="Content Placeholder 2"/>
          <p:cNvSpPr>
            <a:spLocks noGrp="1"/>
          </p:cNvSpPr>
          <p:nvPr>
            <p:ph idx="1"/>
          </p:nvPr>
        </p:nvSpPr>
        <p:spPr>
          <a:xfrm>
            <a:off x="304800" y="1340138"/>
            <a:ext cx="7325710" cy="4827219"/>
          </a:xfrm>
        </p:spPr>
        <p:txBody>
          <a:bodyPr>
            <a:normAutofit/>
          </a:bodyPr>
          <a:lstStyle/>
          <a:p>
            <a:r>
              <a:rPr lang="en-US" dirty="0">
                <a:solidFill>
                  <a:schemeClr val="accent6">
                    <a:lumMod val="75000"/>
                  </a:schemeClr>
                </a:solidFill>
              </a:rPr>
              <a:t>Step 6: </a:t>
            </a:r>
            <a:r>
              <a:rPr lang="en-US" dirty="0"/>
              <a:t>Since V5 has the least number of values in its domain, pick V5</a:t>
            </a:r>
            <a:endParaRPr lang="en-US" sz="1600" b="1" i="1" dirty="0">
              <a:latin typeface="Segoe Print" panose="02000600000000000000" pitchFamily="2" charset="0"/>
            </a:endParaRPr>
          </a:p>
          <a:p>
            <a:pPr lvl="1"/>
            <a:r>
              <a:rPr lang="en-US" dirty="0"/>
              <a:t>Color it with the first available color in its domain; </a:t>
            </a:r>
            <a:r>
              <a:rPr lang="en-US" b="1" dirty="0">
                <a:solidFill>
                  <a:srgbClr val="00B050"/>
                </a:solidFill>
              </a:rPr>
              <a:t>G</a:t>
            </a:r>
            <a:r>
              <a:rPr lang="en-US" dirty="0"/>
              <a:t>. </a:t>
            </a:r>
          </a:p>
          <a:p>
            <a:pPr lvl="1"/>
            <a:r>
              <a:rPr lang="en-US" dirty="0"/>
              <a:t>Propagate the constraint to all neighbors of unassigned variables. </a:t>
            </a:r>
          </a:p>
          <a:p>
            <a:pPr lvl="1"/>
            <a:r>
              <a:rPr lang="en-US" dirty="0"/>
              <a:t>Since all variables are assigned  </a:t>
            </a:r>
            <a:r>
              <a:rPr lang="en-US" dirty="0">
                <a:sym typeface="Wingdings" panose="05000000000000000000" pitchFamily="2" charset="2"/>
              </a:rPr>
              <a:t> End</a:t>
            </a:r>
            <a:endParaRPr lang="en-US" dirty="0"/>
          </a:p>
          <a:p>
            <a:pPr lvl="1"/>
            <a:endParaRPr lang="en-US" dirty="0"/>
          </a:p>
        </p:txBody>
      </p:sp>
      <p:pic>
        <p:nvPicPr>
          <p:cNvPr id="10" name="Picture 9">
            <a:extLst>
              <a:ext uri="{FF2B5EF4-FFF2-40B4-BE49-F238E27FC236}">
                <a16:creationId xmlns:a16="http://schemas.microsoft.com/office/drawing/2014/main" id="{CE336BAA-3721-72E9-C171-A13BA2480AB3}"/>
              </a:ext>
            </a:extLst>
          </p:cNvPr>
          <p:cNvPicPr>
            <a:picLocks noChangeAspect="1"/>
          </p:cNvPicPr>
          <p:nvPr/>
        </p:nvPicPr>
        <p:blipFill>
          <a:blip r:embed="rId3"/>
          <a:stretch>
            <a:fillRect/>
          </a:stretch>
        </p:blipFill>
        <p:spPr>
          <a:xfrm>
            <a:off x="8152320" y="1039596"/>
            <a:ext cx="3600056" cy="4291371"/>
          </a:xfrm>
          <a:prstGeom prst="rect">
            <a:avLst/>
          </a:prstGeom>
        </p:spPr>
      </p:pic>
      <p:graphicFrame>
        <p:nvGraphicFramePr>
          <p:cNvPr id="11" name="Table 10">
            <a:extLst>
              <a:ext uri="{FF2B5EF4-FFF2-40B4-BE49-F238E27FC236}">
                <a16:creationId xmlns:a16="http://schemas.microsoft.com/office/drawing/2014/main" id="{8CFEF913-B651-4FD6-894C-76AC3CDF3967}"/>
              </a:ext>
            </a:extLst>
          </p:cNvPr>
          <p:cNvGraphicFramePr>
            <a:graphicFrameLocks noGrp="1"/>
          </p:cNvGraphicFramePr>
          <p:nvPr>
            <p:extLst>
              <p:ext uri="{D42A27DB-BD31-4B8C-83A1-F6EECF244321}">
                <p14:modId xmlns:p14="http://schemas.microsoft.com/office/powerpoint/2010/main" val="3174382034"/>
              </p:ext>
            </p:extLst>
          </p:nvPr>
        </p:nvGraphicFramePr>
        <p:xfrm>
          <a:off x="4569163" y="5472960"/>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17448818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2879D-ED5B-42E3-9E1B-AB33FFCAE1A6}"/>
              </a:ext>
            </a:extLst>
          </p:cNvPr>
          <p:cNvSpPr>
            <a:spLocks noGrp="1"/>
          </p:cNvSpPr>
          <p:nvPr>
            <p:ph type="title"/>
          </p:nvPr>
        </p:nvSpPr>
        <p:spPr/>
        <p:txBody>
          <a:bodyPr>
            <a:normAutofit fontScale="90000"/>
          </a:bodyPr>
          <a:lstStyle/>
          <a:p>
            <a:r>
              <a:rPr lang="en-US" dirty="0"/>
              <a:t>CSP Examples 2: Map Coloring - MRV</a:t>
            </a:r>
          </a:p>
        </p:txBody>
      </p:sp>
      <p:sp>
        <p:nvSpPr>
          <p:cNvPr id="4" name="Date Placeholder 3">
            <a:extLst>
              <a:ext uri="{FF2B5EF4-FFF2-40B4-BE49-F238E27FC236}">
                <a16:creationId xmlns:a16="http://schemas.microsoft.com/office/drawing/2014/main" id="{D6065B21-01AC-48B1-92D9-FC957C8F0EE1}"/>
              </a:ext>
            </a:extLst>
          </p:cNvPr>
          <p:cNvSpPr>
            <a:spLocks noGrp="1"/>
          </p:cNvSpPr>
          <p:nvPr>
            <p:ph type="dt" sz="half" idx="10"/>
          </p:nvPr>
        </p:nvSpPr>
        <p:spPr/>
        <p:txBody>
          <a:bodyPr/>
          <a:lstStyle/>
          <a:p>
            <a:fld id="{C899E3D0-96FC-4D39-ACAA-ACD42232143D}" type="datetime1">
              <a:rPr lang="en-US" smtClean="0"/>
              <a:t>10/16/2022</a:t>
            </a:fld>
            <a:endParaRPr lang="en-US" dirty="0"/>
          </a:p>
        </p:txBody>
      </p:sp>
      <p:sp>
        <p:nvSpPr>
          <p:cNvPr id="5" name="Footer Placeholder 4">
            <a:extLst>
              <a:ext uri="{FF2B5EF4-FFF2-40B4-BE49-F238E27FC236}">
                <a16:creationId xmlns:a16="http://schemas.microsoft.com/office/drawing/2014/main" id="{DFD53A2D-33EA-450F-9374-029D6E9FE200}"/>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DD152667-2C1E-47A5-9A66-932A6C87E655}"/>
              </a:ext>
            </a:extLst>
          </p:cNvPr>
          <p:cNvSpPr>
            <a:spLocks noGrp="1"/>
          </p:cNvSpPr>
          <p:nvPr>
            <p:ph type="sldNum" sz="quarter" idx="12"/>
          </p:nvPr>
        </p:nvSpPr>
        <p:spPr/>
        <p:txBody>
          <a:bodyPr/>
          <a:lstStyle/>
          <a:p>
            <a:fld id="{B7884E68-CE57-44C0-BE0F-84C629DF22D5}" type="slidenum">
              <a:rPr lang="en-US" dirty="0" smtClean="0"/>
              <a:t>53</a:t>
            </a:fld>
            <a:endParaRPr lang="en-US" dirty="0"/>
          </a:p>
        </p:txBody>
      </p:sp>
      <p:sp>
        <p:nvSpPr>
          <p:cNvPr id="17" name="TextBox 16">
            <a:extLst>
              <a:ext uri="{FF2B5EF4-FFF2-40B4-BE49-F238E27FC236}">
                <a16:creationId xmlns:a16="http://schemas.microsoft.com/office/drawing/2014/main" id="{788A6302-3755-4416-8162-EE676223EC50}"/>
              </a:ext>
            </a:extLst>
          </p:cNvPr>
          <p:cNvSpPr txBox="1"/>
          <p:nvPr/>
        </p:nvSpPr>
        <p:spPr>
          <a:xfrm>
            <a:off x="3733630" y="4061873"/>
            <a:ext cx="779765" cy="369332"/>
          </a:xfrm>
          <a:prstGeom prst="rect">
            <a:avLst/>
          </a:prstGeom>
          <a:noFill/>
        </p:spPr>
        <p:txBody>
          <a:bodyPr wrap="none" rtlCol="0">
            <a:spAutoFit/>
          </a:bodyPr>
          <a:lstStyle/>
          <a:p>
            <a:r>
              <a:rPr lang="en-US" b="1" dirty="0"/>
              <a:t>Step 1</a:t>
            </a:r>
          </a:p>
        </p:txBody>
      </p:sp>
      <p:sp>
        <p:nvSpPr>
          <p:cNvPr id="20" name="TextBox 19">
            <a:extLst>
              <a:ext uri="{FF2B5EF4-FFF2-40B4-BE49-F238E27FC236}">
                <a16:creationId xmlns:a16="http://schemas.microsoft.com/office/drawing/2014/main" id="{624B9C6C-F4BB-4221-AEF0-3ADB868AA4C1}"/>
              </a:ext>
            </a:extLst>
          </p:cNvPr>
          <p:cNvSpPr txBox="1"/>
          <p:nvPr/>
        </p:nvSpPr>
        <p:spPr>
          <a:xfrm>
            <a:off x="2933460" y="4318393"/>
            <a:ext cx="2372412" cy="646331"/>
          </a:xfrm>
          <a:prstGeom prst="rect">
            <a:avLst/>
          </a:prstGeom>
          <a:noFill/>
        </p:spPr>
        <p:txBody>
          <a:bodyPr wrap="square" rtlCol="0">
            <a:spAutoFit/>
          </a:bodyPr>
          <a:lstStyle/>
          <a:p>
            <a:pPr algn="ctr"/>
            <a:r>
              <a:rPr lang="en-US" dirty="0">
                <a:solidFill>
                  <a:srgbClr val="0070C0"/>
                </a:solidFill>
              </a:rPr>
              <a:t>Note the domain reduction of V2 and V6</a:t>
            </a:r>
          </a:p>
        </p:txBody>
      </p:sp>
      <p:sp>
        <p:nvSpPr>
          <p:cNvPr id="21" name="TextBox 20">
            <a:extLst>
              <a:ext uri="{FF2B5EF4-FFF2-40B4-BE49-F238E27FC236}">
                <a16:creationId xmlns:a16="http://schemas.microsoft.com/office/drawing/2014/main" id="{31F8575B-A4B3-4CD3-9806-2BD2EFBF6A78}"/>
              </a:ext>
            </a:extLst>
          </p:cNvPr>
          <p:cNvSpPr txBox="1"/>
          <p:nvPr/>
        </p:nvSpPr>
        <p:spPr>
          <a:xfrm>
            <a:off x="6741047" y="4042209"/>
            <a:ext cx="779765" cy="369332"/>
          </a:xfrm>
          <a:prstGeom prst="rect">
            <a:avLst/>
          </a:prstGeom>
          <a:noFill/>
        </p:spPr>
        <p:txBody>
          <a:bodyPr wrap="none" rtlCol="0">
            <a:spAutoFit/>
          </a:bodyPr>
          <a:lstStyle/>
          <a:p>
            <a:r>
              <a:rPr lang="en-US" b="1" dirty="0"/>
              <a:t>Step 2</a:t>
            </a:r>
          </a:p>
        </p:txBody>
      </p:sp>
      <p:sp>
        <p:nvSpPr>
          <p:cNvPr id="24" name="TextBox 23">
            <a:extLst>
              <a:ext uri="{FF2B5EF4-FFF2-40B4-BE49-F238E27FC236}">
                <a16:creationId xmlns:a16="http://schemas.microsoft.com/office/drawing/2014/main" id="{C2BA28CF-EFB7-434A-AE0D-F118444D00B0}"/>
              </a:ext>
            </a:extLst>
          </p:cNvPr>
          <p:cNvSpPr txBox="1"/>
          <p:nvPr/>
        </p:nvSpPr>
        <p:spPr>
          <a:xfrm>
            <a:off x="10100652" y="4061873"/>
            <a:ext cx="779765" cy="369332"/>
          </a:xfrm>
          <a:prstGeom prst="rect">
            <a:avLst/>
          </a:prstGeom>
          <a:noFill/>
        </p:spPr>
        <p:txBody>
          <a:bodyPr wrap="none" rtlCol="0">
            <a:spAutoFit/>
          </a:bodyPr>
          <a:lstStyle/>
          <a:p>
            <a:r>
              <a:rPr lang="en-US" b="1" dirty="0"/>
              <a:t>Step 3</a:t>
            </a:r>
          </a:p>
        </p:txBody>
      </p:sp>
      <p:sp>
        <p:nvSpPr>
          <p:cNvPr id="25" name="TextBox 24">
            <a:extLst>
              <a:ext uri="{FF2B5EF4-FFF2-40B4-BE49-F238E27FC236}">
                <a16:creationId xmlns:a16="http://schemas.microsoft.com/office/drawing/2014/main" id="{3EFCBCA4-9526-49F5-B08C-61DCAD611323}"/>
              </a:ext>
            </a:extLst>
          </p:cNvPr>
          <p:cNvSpPr txBox="1"/>
          <p:nvPr/>
        </p:nvSpPr>
        <p:spPr>
          <a:xfrm>
            <a:off x="5943884" y="4285795"/>
            <a:ext cx="2372412" cy="646331"/>
          </a:xfrm>
          <a:prstGeom prst="rect">
            <a:avLst/>
          </a:prstGeom>
          <a:noFill/>
        </p:spPr>
        <p:txBody>
          <a:bodyPr wrap="square" rtlCol="0">
            <a:spAutoFit/>
          </a:bodyPr>
          <a:lstStyle/>
          <a:p>
            <a:pPr algn="ctr"/>
            <a:r>
              <a:rPr lang="en-US" dirty="0">
                <a:solidFill>
                  <a:srgbClr val="0070C0"/>
                </a:solidFill>
              </a:rPr>
              <a:t>Note the domain reduction of V3 and V6</a:t>
            </a:r>
          </a:p>
        </p:txBody>
      </p:sp>
      <p:sp>
        <p:nvSpPr>
          <p:cNvPr id="26" name="TextBox 25">
            <a:extLst>
              <a:ext uri="{FF2B5EF4-FFF2-40B4-BE49-F238E27FC236}">
                <a16:creationId xmlns:a16="http://schemas.microsoft.com/office/drawing/2014/main" id="{6580ACE2-CDB1-445F-ADF0-D01521D6D963}"/>
              </a:ext>
            </a:extLst>
          </p:cNvPr>
          <p:cNvSpPr txBox="1"/>
          <p:nvPr/>
        </p:nvSpPr>
        <p:spPr>
          <a:xfrm>
            <a:off x="9134334" y="4305458"/>
            <a:ext cx="2704707" cy="646331"/>
          </a:xfrm>
          <a:prstGeom prst="rect">
            <a:avLst/>
          </a:prstGeom>
          <a:noFill/>
        </p:spPr>
        <p:txBody>
          <a:bodyPr wrap="square" rtlCol="0">
            <a:spAutoFit/>
          </a:bodyPr>
          <a:lstStyle/>
          <a:p>
            <a:pPr algn="ctr"/>
            <a:r>
              <a:rPr lang="en-US" dirty="0">
                <a:solidFill>
                  <a:srgbClr val="0070C0"/>
                </a:solidFill>
              </a:rPr>
              <a:t>Note the domain reduction of V3, V4 and V5</a:t>
            </a:r>
          </a:p>
        </p:txBody>
      </p:sp>
      <p:sp>
        <p:nvSpPr>
          <p:cNvPr id="3" name="TextBox 2"/>
          <p:cNvSpPr txBox="1"/>
          <p:nvPr/>
        </p:nvSpPr>
        <p:spPr>
          <a:xfrm>
            <a:off x="2536545" y="4892813"/>
            <a:ext cx="3166241" cy="646331"/>
          </a:xfrm>
          <a:prstGeom prst="rect">
            <a:avLst/>
          </a:prstGeom>
          <a:noFill/>
        </p:spPr>
        <p:txBody>
          <a:bodyPr wrap="square" rtlCol="0">
            <a:spAutoFit/>
          </a:bodyPr>
          <a:lstStyle/>
          <a:p>
            <a:pPr algn="ctr"/>
            <a:r>
              <a:rPr lang="en-US" b="1" dirty="0">
                <a:solidFill>
                  <a:srgbClr val="996633"/>
                </a:solidFill>
              </a:rPr>
              <a:t>MRV</a:t>
            </a:r>
            <a:r>
              <a:rPr lang="en-US" dirty="0">
                <a:solidFill>
                  <a:srgbClr val="996633"/>
                </a:solidFill>
              </a:rPr>
              <a:t> = V2, V6 </a:t>
            </a:r>
          </a:p>
          <a:p>
            <a:pPr algn="ctr"/>
            <a:r>
              <a:rPr lang="en-US" dirty="0"/>
              <a:t>[</a:t>
            </a:r>
            <a:r>
              <a:rPr lang="en-US" b="1" dirty="0"/>
              <a:t>Select V2 </a:t>
            </a:r>
            <a:r>
              <a:rPr lang="en-US" dirty="0"/>
              <a:t>for next assignment]</a:t>
            </a:r>
          </a:p>
        </p:txBody>
      </p:sp>
      <p:sp>
        <p:nvSpPr>
          <p:cNvPr id="29" name="TextBox 28"/>
          <p:cNvSpPr txBox="1"/>
          <p:nvPr/>
        </p:nvSpPr>
        <p:spPr>
          <a:xfrm>
            <a:off x="5808361" y="4885427"/>
            <a:ext cx="3111621" cy="646331"/>
          </a:xfrm>
          <a:prstGeom prst="rect">
            <a:avLst/>
          </a:prstGeom>
          <a:noFill/>
        </p:spPr>
        <p:txBody>
          <a:bodyPr wrap="none" rtlCol="0">
            <a:spAutoFit/>
          </a:bodyPr>
          <a:lstStyle/>
          <a:p>
            <a:pPr algn="ctr"/>
            <a:r>
              <a:rPr lang="en-US" b="1" dirty="0">
                <a:solidFill>
                  <a:srgbClr val="996633"/>
                </a:solidFill>
              </a:rPr>
              <a:t>MRV</a:t>
            </a:r>
            <a:r>
              <a:rPr lang="en-US" dirty="0">
                <a:solidFill>
                  <a:srgbClr val="996633"/>
                </a:solidFill>
              </a:rPr>
              <a:t> = V6</a:t>
            </a:r>
          </a:p>
          <a:p>
            <a:pPr algn="ctr"/>
            <a:r>
              <a:rPr lang="en-US" dirty="0"/>
              <a:t>[</a:t>
            </a:r>
            <a:r>
              <a:rPr lang="en-US" b="1" dirty="0"/>
              <a:t>Select V6 </a:t>
            </a:r>
            <a:r>
              <a:rPr lang="en-US" dirty="0"/>
              <a:t>for next assignment]</a:t>
            </a:r>
          </a:p>
        </p:txBody>
      </p:sp>
      <p:sp>
        <p:nvSpPr>
          <p:cNvPr id="30" name="TextBox 29"/>
          <p:cNvSpPr txBox="1"/>
          <p:nvPr/>
        </p:nvSpPr>
        <p:spPr>
          <a:xfrm>
            <a:off x="9027325" y="4894952"/>
            <a:ext cx="3111621" cy="646331"/>
          </a:xfrm>
          <a:prstGeom prst="rect">
            <a:avLst/>
          </a:prstGeom>
          <a:noFill/>
        </p:spPr>
        <p:txBody>
          <a:bodyPr wrap="none" rtlCol="0">
            <a:spAutoFit/>
          </a:bodyPr>
          <a:lstStyle/>
          <a:p>
            <a:pPr algn="ctr"/>
            <a:r>
              <a:rPr lang="en-US" b="1" dirty="0">
                <a:solidFill>
                  <a:srgbClr val="996633"/>
                </a:solidFill>
              </a:rPr>
              <a:t>MRV</a:t>
            </a:r>
            <a:r>
              <a:rPr lang="en-US" dirty="0">
                <a:solidFill>
                  <a:srgbClr val="996633"/>
                </a:solidFill>
              </a:rPr>
              <a:t> = V3</a:t>
            </a:r>
          </a:p>
          <a:p>
            <a:pPr algn="ctr"/>
            <a:r>
              <a:rPr lang="en-US" dirty="0"/>
              <a:t>[</a:t>
            </a:r>
            <a:r>
              <a:rPr lang="en-US" b="1" dirty="0"/>
              <a:t>Select V3 </a:t>
            </a:r>
            <a:r>
              <a:rPr lang="en-US" dirty="0"/>
              <a:t>for next assignment]</a:t>
            </a:r>
          </a:p>
        </p:txBody>
      </p:sp>
      <p:pic>
        <p:nvPicPr>
          <p:cNvPr id="10" name="Picture 9">
            <a:extLst>
              <a:ext uri="{FF2B5EF4-FFF2-40B4-BE49-F238E27FC236}">
                <a16:creationId xmlns:a16="http://schemas.microsoft.com/office/drawing/2014/main" id="{2DE42947-7BC4-838E-F3A9-0437FACB4DC7}"/>
              </a:ext>
            </a:extLst>
          </p:cNvPr>
          <p:cNvPicPr>
            <a:picLocks noChangeAspect="1"/>
          </p:cNvPicPr>
          <p:nvPr/>
        </p:nvPicPr>
        <p:blipFill>
          <a:blip r:embed="rId3"/>
          <a:stretch>
            <a:fillRect/>
          </a:stretch>
        </p:blipFill>
        <p:spPr>
          <a:xfrm>
            <a:off x="0" y="1156066"/>
            <a:ext cx="12192000" cy="3000831"/>
          </a:xfrm>
          <a:prstGeom prst="rect">
            <a:avLst/>
          </a:prstGeom>
        </p:spPr>
      </p:pic>
      <p:graphicFrame>
        <p:nvGraphicFramePr>
          <p:cNvPr id="18" name="Table 17">
            <a:extLst>
              <a:ext uri="{FF2B5EF4-FFF2-40B4-BE49-F238E27FC236}">
                <a16:creationId xmlns:a16="http://schemas.microsoft.com/office/drawing/2014/main" id="{B87D0AC3-02E0-4EDD-863F-D1DADF4F8E85}"/>
              </a:ext>
            </a:extLst>
          </p:cNvPr>
          <p:cNvGraphicFramePr>
            <a:graphicFrameLocks noGrp="1"/>
          </p:cNvGraphicFramePr>
          <p:nvPr>
            <p:extLst>
              <p:ext uri="{D42A27DB-BD31-4B8C-83A1-F6EECF244321}">
                <p14:modId xmlns:p14="http://schemas.microsoft.com/office/powerpoint/2010/main" val="3606283699"/>
              </p:ext>
            </p:extLst>
          </p:nvPr>
        </p:nvGraphicFramePr>
        <p:xfrm>
          <a:off x="4513395" y="5539144"/>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34516431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2879D-ED5B-42E3-9E1B-AB33FFCAE1A6}"/>
              </a:ext>
            </a:extLst>
          </p:cNvPr>
          <p:cNvSpPr>
            <a:spLocks noGrp="1"/>
          </p:cNvSpPr>
          <p:nvPr>
            <p:ph type="title"/>
          </p:nvPr>
        </p:nvSpPr>
        <p:spPr/>
        <p:txBody>
          <a:bodyPr>
            <a:normAutofit fontScale="90000"/>
          </a:bodyPr>
          <a:lstStyle/>
          <a:p>
            <a:r>
              <a:rPr lang="en-US" dirty="0"/>
              <a:t>CSP Examples 2: Map Coloring - MRV</a:t>
            </a:r>
          </a:p>
        </p:txBody>
      </p:sp>
      <p:sp>
        <p:nvSpPr>
          <p:cNvPr id="4" name="Date Placeholder 3">
            <a:extLst>
              <a:ext uri="{FF2B5EF4-FFF2-40B4-BE49-F238E27FC236}">
                <a16:creationId xmlns:a16="http://schemas.microsoft.com/office/drawing/2014/main" id="{D6065B21-01AC-48B1-92D9-FC957C8F0EE1}"/>
              </a:ext>
            </a:extLst>
          </p:cNvPr>
          <p:cNvSpPr>
            <a:spLocks noGrp="1"/>
          </p:cNvSpPr>
          <p:nvPr>
            <p:ph type="dt" sz="half" idx="10"/>
          </p:nvPr>
        </p:nvSpPr>
        <p:spPr/>
        <p:txBody>
          <a:bodyPr/>
          <a:lstStyle/>
          <a:p>
            <a:fld id="{116D39C9-E4A4-4FEF-87A2-2CE120713BB5}" type="datetime1">
              <a:rPr lang="en-US" smtClean="0"/>
              <a:t>10/16/2022</a:t>
            </a:fld>
            <a:endParaRPr lang="en-US" dirty="0"/>
          </a:p>
        </p:txBody>
      </p:sp>
      <p:sp>
        <p:nvSpPr>
          <p:cNvPr id="5" name="Footer Placeholder 4">
            <a:extLst>
              <a:ext uri="{FF2B5EF4-FFF2-40B4-BE49-F238E27FC236}">
                <a16:creationId xmlns:a16="http://schemas.microsoft.com/office/drawing/2014/main" id="{DFD53A2D-33EA-450F-9374-029D6E9FE200}"/>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DD152667-2C1E-47A5-9A66-932A6C87E655}"/>
              </a:ext>
            </a:extLst>
          </p:cNvPr>
          <p:cNvSpPr>
            <a:spLocks noGrp="1"/>
          </p:cNvSpPr>
          <p:nvPr>
            <p:ph type="sldNum" sz="quarter" idx="12"/>
          </p:nvPr>
        </p:nvSpPr>
        <p:spPr/>
        <p:txBody>
          <a:bodyPr/>
          <a:lstStyle/>
          <a:p>
            <a:fld id="{B7884E68-CE57-44C0-BE0F-84C629DF22D5}" type="slidenum">
              <a:rPr lang="en-US" dirty="0" smtClean="0"/>
              <a:t>54</a:t>
            </a:fld>
            <a:endParaRPr lang="en-US" dirty="0"/>
          </a:p>
        </p:txBody>
      </p:sp>
      <p:sp>
        <p:nvSpPr>
          <p:cNvPr id="26" name="TextBox 25">
            <a:extLst>
              <a:ext uri="{FF2B5EF4-FFF2-40B4-BE49-F238E27FC236}">
                <a16:creationId xmlns:a16="http://schemas.microsoft.com/office/drawing/2014/main" id="{09AD4606-EA00-4CC8-B5EC-74F0184EE6BB}"/>
              </a:ext>
            </a:extLst>
          </p:cNvPr>
          <p:cNvSpPr txBox="1"/>
          <p:nvPr/>
        </p:nvSpPr>
        <p:spPr>
          <a:xfrm>
            <a:off x="968418" y="4905375"/>
            <a:ext cx="2372412" cy="646331"/>
          </a:xfrm>
          <a:prstGeom prst="rect">
            <a:avLst/>
          </a:prstGeom>
          <a:noFill/>
        </p:spPr>
        <p:txBody>
          <a:bodyPr wrap="square" rtlCol="0">
            <a:spAutoFit/>
          </a:bodyPr>
          <a:lstStyle/>
          <a:p>
            <a:pPr algn="ctr"/>
            <a:r>
              <a:rPr lang="en-US" dirty="0"/>
              <a:t>Note the domain reduction of V4</a:t>
            </a:r>
          </a:p>
        </p:txBody>
      </p:sp>
      <p:sp>
        <p:nvSpPr>
          <p:cNvPr id="27" name="TextBox 26">
            <a:extLst>
              <a:ext uri="{FF2B5EF4-FFF2-40B4-BE49-F238E27FC236}">
                <a16:creationId xmlns:a16="http://schemas.microsoft.com/office/drawing/2014/main" id="{B16BA506-F81E-427C-B838-31FE5190856D}"/>
              </a:ext>
            </a:extLst>
          </p:cNvPr>
          <p:cNvSpPr txBox="1"/>
          <p:nvPr/>
        </p:nvSpPr>
        <p:spPr>
          <a:xfrm>
            <a:off x="4210010" y="4905375"/>
            <a:ext cx="2372412" cy="646331"/>
          </a:xfrm>
          <a:prstGeom prst="rect">
            <a:avLst/>
          </a:prstGeom>
          <a:noFill/>
        </p:spPr>
        <p:txBody>
          <a:bodyPr wrap="square" rtlCol="0">
            <a:spAutoFit/>
          </a:bodyPr>
          <a:lstStyle/>
          <a:p>
            <a:pPr algn="ctr"/>
            <a:r>
              <a:rPr lang="en-US" dirty="0"/>
              <a:t>Note the domain reduction of V5</a:t>
            </a:r>
          </a:p>
        </p:txBody>
      </p:sp>
      <p:sp>
        <p:nvSpPr>
          <p:cNvPr id="28" name="TextBox 27">
            <a:extLst>
              <a:ext uri="{FF2B5EF4-FFF2-40B4-BE49-F238E27FC236}">
                <a16:creationId xmlns:a16="http://schemas.microsoft.com/office/drawing/2014/main" id="{99BBC039-30B0-4B32-9F13-90C834C1FED9}"/>
              </a:ext>
            </a:extLst>
          </p:cNvPr>
          <p:cNvSpPr txBox="1"/>
          <p:nvPr/>
        </p:nvSpPr>
        <p:spPr>
          <a:xfrm>
            <a:off x="8660357" y="4905375"/>
            <a:ext cx="2372412" cy="369332"/>
          </a:xfrm>
          <a:prstGeom prst="rect">
            <a:avLst/>
          </a:prstGeom>
          <a:noFill/>
        </p:spPr>
        <p:txBody>
          <a:bodyPr wrap="square" rtlCol="0">
            <a:spAutoFit/>
          </a:bodyPr>
          <a:lstStyle/>
          <a:p>
            <a:pPr algn="ctr"/>
            <a:r>
              <a:rPr lang="en-US" b="1" dirty="0">
                <a:solidFill>
                  <a:srgbClr val="0000CC"/>
                </a:solidFill>
              </a:rPr>
              <a:t>We are done!</a:t>
            </a:r>
          </a:p>
        </p:txBody>
      </p:sp>
      <p:sp>
        <p:nvSpPr>
          <p:cNvPr id="29" name="TextBox 28">
            <a:extLst>
              <a:ext uri="{FF2B5EF4-FFF2-40B4-BE49-F238E27FC236}">
                <a16:creationId xmlns:a16="http://schemas.microsoft.com/office/drawing/2014/main" id="{A9D748DC-BD8B-4343-9BF7-CE95DEDCF340}"/>
              </a:ext>
            </a:extLst>
          </p:cNvPr>
          <p:cNvSpPr txBox="1"/>
          <p:nvPr/>
        </p:nvSpPr>
        <p:spPr>
          <a:xfrm>
            <a:off x="1623020" y="4621942"/>
            <a:ext cx="779765" cy="369332"/>
          </a:xfrm>
          <a:prstGeom prst="rect">
            <a:avLst/>
          </a:prstGeom>
          <a:noFill/>
        </p:spPr>
        <p:txBody>
          <a:bodyPr wrap="none" rtlCol="0">
            <a:spAutoFit/>
          </a:bodyPr>
          <a:lstStyle/>
          <a:p>
            <a:r>
              <a:rPr lang="en-US" b="1" dirty="0"/>
              <a:t>Step 4</a:t>
            </a:r>
          </a:p>
        </p:txBody>
      </p:sp>
      <p:sp>
        <p:nvSpPr>
          <p:cNvPr id="30" name="TextBox 29">
            <a:extLst>
              <a:ext uri="{FF2B5EF4-FFF2-40B4-BE49-F238E27FC236}">
                <a16:creationId xmlns:a16="http://schemas.microsoft.com/office/drawing/2014/main" id="{3F912A88-52A6-4774-ABC0-2C09CB8DB6FE}"/>
              </a:ext>
            </a:extLst>
          </p:cNvPr>
          <p:cNvSpPr txBox="1"/>
          <p:nvPr/>
        </p:nvSpPr>
        <p:spPr>
          <a:xfrm>
            <a:off x="5065598" y="4621942"/>
            <a:ext cx="779765" cy="369332"/>
          </a:xfrm>
          <a:prstGeom prst="rect">
            <a:avLst/>
          </a:prstGeom>
          <a:noFill/>
        </p:spPr>
        <p:txBody>
          <a:bodyPr wrap="none" rtlCol="0">
            <a:spAutoFit/>
          </a:bodyPr>
          <a:lstStyle/>
          <a:p>
            <a:r>
              <a:rPr lang="en-US" b="1" dirty="0"/>
              <a:t>Step 5</a:t>
            </a:r>
          </a:p>
        </p:txBody>
      </p:sp>
      <p:sp>
        <p:nvSpPr>
          <p:cNvPr id="31" name="TextBox 30">
            <a:extLst>
              <a:ext uri="{FF2B5EF4-FFF2-40B4-BE49-F238E27FC236}">
                <a16:creationId xmlns:a16="http://schemas.microsoft.com/office/drawing/2014/main" id="{D6D46F0E-CCA7-4481-9A4A-222D15E853CA}"/>
              </a:ext>
            </a:extLst>
          </p:cNvPr>
          <p:cNvSpPr txBox="1"/>
          <p:nvPr/>
        </p:nvSpPr>
        <p:spPr>
          <a:xfrm>
            <a:off x="9353709" y="4621942"/>
            <a:ext cx="779765" cy="369332"/>
          </a:xfrm>
          <a:prstGeom prst="rect">
            <a:avLst/>
          </a:prstGeom>
          <a:noFill/>
        </p:spPr>
        <p:txBody>
          <a:bodyPr wrap="none" rtlCol="0">
            <a:spAutoFit/>
          </a:bodyPr>
          <a:lstStyle/>
          <a:p>
            <a:r>
              <a:rPr lang="en-US" b="1" dirty="0"/>
              <a:t>Step 6</a:t>
            </a:r>
          </a:p>
        </p:txBody>
      </p:sp>
      <p:sp>
        <p:nvSpPr>
          <p:cNvPr id="20" name="TextBox 19"/>
          <p:cNvSpPr txBox="1"/>
          <p:nvPr/>
        </p:nvSpPr>
        <p:spPr>
          <a:xfrm>
            <a:off x="598813" y="5478620"/>
            <a:ext cx="3111621" cy="646331"/>
          </a:xfrm>
          <a:prstGeom prst="rect">
            <a:avLst/>
          </a:prstGeom>
          <a:noFill/>
        </p:spPr>
        <p:txBody>
          <a:bodyPr wrap="none" rtlCol="0">
            <a:spAutoFit/>
          </a:bodyPr>
          <a:lstStyle/>
          <a:p>
            <a:pPr algn="ctr"/>
            <a:r>
              <a:rPr lang="en-US" b="1" dirty="0">
                <a:solidFill>
                  <a:srgbClr val="996633"/>
                </a:solidFill>
              </a:rPr>
              <a:t>MRV</a:t>
            </a:r>
            <a:r>
              <a:rPr lang="en-US" dirty="0">
                <a:solidFill>
                  <a:srgbClr val="996633"/>
                </a:solidFill>
              </a:rPr>
              <a:t> = V4</a:t>
            </a:r>
          </a:p>
          <a:p>
            <a:pPr algn="ctr"/>
            <a:r>
              <a:rPr lang="en-US" dirty="0"/>
              <a:t>[</a:t>
            </a:r>
            <a:r>
              <a:rPr lang="en-US" b="1" dirty="0"/>
              <a:t>Select V4 </a:t>
            </a:r>
            <a:r>
              <a:rPr lang="en-US" dirty="0"/>
              <a:t>for next assignment]</a:t>
            </a:r>
          </a:p>
        </p:txBody>
      </p:sp>
      <p:sp>
        <p:nvSpPr>
          <p:cNvPr id="21" name="TextBox 20"/>
          <p:cNvSpPr txBox="1"/>
          <p:nvPr/>
        </p:nvSpPr>
        <p:spPr>
          <a:xfrm>
            <a:off x="4280499" y="5511973"/>
            <a:ext cx="3111621" cy="646331"/>
          </a:xfrm>
          <a:prstGeom prst="rect">
            <a:avLst/>
          </a:prstGeom>
          <a:noFill/>
        </p:spPr>
        <p:txBody>
          <a:bodyPr wrap="none" rtlCol="0">
            <a:spAutoFit/>
          </a:bodyPr>
          <a:lstStyle/>
          <a:p>
            <a:pPr algn="ctr"/>
            <a:r>
              <a:rPr lang="en-US" b="1" dirty="0">
                <a:solidFill>
                  <a:srgbClr val="996633"/>
                </a:solidFill>
              </a:rPr>
              <a:t>MRV</a:t>
            </a:r>
            <a:r>
              <a:rPr lang="en-US" dirty="0">
                <a:solidFill>
                  <a:srgbClr val="996633"/>
                </a:solidFill>
              </a:rPr>
              <a:t> = V5</a:t>
            </a:r>
          </a:p>
          <a:p>
            <a:pPr algn="ctr"/>
            <a:r>
              <a:rPr lang="en-US" dirty="0"/>
              <a:t>[</a:t>
            </a:r>
            <a:r>
              <a:rPr lang="en-US" b="1" dirty="0"/>
              <a:t>Select V5 </a:t>
            </a:r>
            <a:r>
              <a:rPr lang="en-US" dirty="0"/>
              <a:t>for next assignment]</a:t>
            </a:r>
          </a:p>
        </p:txBody>
      </p:sp>
      <p:pic>
        <p:nvPicPr>
          <p:cNvPr id="7" name="Picture 6">
            <a:extLst>
              <a:ext uri="{FF2B5EF4-FFF2-40B4-BE49-F238E27FC236}">
                <a16:creationId xmlns:a16="http://schemas.microsoft.com/office/drawing/2014/main" id="{DFB4F86F-650F-7708-BC6B-1D8A4223D352}"/>
              </a:ext>
            </a:extLst>
          </p:cNvPr>
          <p:cNvPicPr>
            <a:picLocks noChangeAspect="1"/>
          </p:cNvPicPr>
          <p:nvPr/>
        </p:nvPicPr>
        <p:blipFill>
          <a:blip r:embed="rId3"/>
          <a:stretch>
            <a:fillRect/>
          </a:stretch>
        </p:blipFill>
        <p:spPr>
          <a:xfrm>
            <a:off x="-31812" y="964976"/>
            <a:ext cx="10862721" cy="3740877"/>
          </a:xfrm>
          <a:prstGeom prst="rect">
            <a:avLst/>
          </a:prstGeom>
        </p:spPr>
      </p:pic>
      <p:graphicFrame>
        <p:nvGraphicFramePr>
          <p:cNvPr id="16" name="Table 15">
            <a:extLst>
              <a:ext uri="{FF2B5EF4-FFF2-40B4-BE49-F238E27FC236}">
                <a16:creationId xmlns:a16="http://schemas.microsoft.com/office/drawing/2014/main" id="{E8418058-94BE-4D9B-A2FF-DB17842CFC68}"/>
              </a:ext>
            </a:extLst>
          </p:cNvPr>
          <p:cNvGraphicFramePr>
            <a:graphicFrameLocks noGrp="1"/>
          </p:cNvGraphicFramePr>
          <p:nvPr>
            <p:extLst>
              <p:ext uri="{D42A27DB-BD31-4B8C-83A1-F6EECF244321}">
                <p14:modId xmlns:p14="http://schemas.microsoft.com/office/powerpoint/2010/main" val="22510525"/>
              </p:ext>
            </p:extLst>
          </p:nvPr>
        </p:nvGraphicFramePr>
        <p:xfrm>
          <a:off x="7648511" y="5522184"/>
          <a:ext cx="4238689" cy="741680"/>
        </p:xfrm>
        <a:graphic>
          <a:graphicData uri="http://schemas.openxmlformats.org/drawingml/2006/table">
            <a:tbl>
              <a:tblPr firstRow="1" bandRow="1">
                <a:tableStyleId>{8A107856-5554-42FB-B03E-39F5DBC370BA}</a:tableStyleId>
              </a:tblPr>
              <a:tblGrid>
                <a:gridCol w="1399847">
                  <a:extLst>
                    <a:ext uri="{9D8B030D-6E8A-4147-A177-3AD203B41FA5}">
                      <a16:colId xmlns:a16="http://schemas.microsoft.com/office/drawing/2014/main" val="2347060612"/>
                    </a:ext>
                  </a:extLst>
                </a:gridCol>
                <a:gridCol w="1485900">
                  <a:extLst>
                    <a:ext uri="{9D8B030D-6E8A-4147-A177-3AD203B41FA5}">
                      <a16:colId xmlns:a16="http://schemas.microsoft.com/office/drawing/2014/main" val="2419663802"/>
                    </a:ext>
                  </a:extLst>
                </a:gridCol>
                <a:gridCol w="1352942">
                  <a:extLst>
                    <a:ext uri="{9D8B030D-6E8A-4147-A177-3AD203B41FA5}">
                      <a16:colId xmlns:a16="http://schemas.microsoft.com/office/drawing/2014/main" val="2396525568"/>
                    </a:ext>
                  </a:extLst>
                </a:gridCol>
              </a:tblGrid>
              <a:tr h="370840">
                <a:tc>
                  <a:txBody>
                    <a:bodyPr/>
                    <a:lstStyle/>
                    <a:p>
                      <a:r>
                        <a:rPr lang="en-US" sz="1600" b="0" dirty="0">
                          <a:solidFill>
                            <a:schemeClr val="tx1"/>
                          </a:solidFill>
                        </a:rPr>
                        <a:t>V1 = </a:t>
                      </a:r>
                      <a:r>
                        <a:rPr lang="en-US" sz="1600" i="1" kern="1200" dirty="0">
                          <a:solidFill>
                            <a:schemeClr val="tx1"/>
                          </a:solidFill>
                          <a:latin typeface="Segoe Print" panose="02000600000000000000" pitchFamily="2" charset="0"/>
                          <a:ea typeface="+mn-ea"/>
                          <a:cs typeface="+mn-cs"/>
                        </a:rPr>
                        <a:t>Tabuk</a:t>
                      </a:r>
                      <a:endParaRPr lang="en-US" sz="2000"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V2 = </a:t>
                      </a:r>
                      <a:r>
                        <a:rPr lang="en-US" sz="1600" b="1" i="1" kern="1200" dirty="0">
                          <a:solidFill>
                            <a:schemeClr val="tx1"/>
                          </a:solidFill>
                          <a:latin typeface="Segoe Print" panose="02000600000000000000" pitchFamily="2" charset="0"/>
                          <a:ea typeface="+mn-ea"/>
                          <a:cs typeface="+mn-cs"/>
                        </a:rPr>
                        <a:t>Ha’il</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V3 = </a:t>
                      </a:r>
                      <a:r>
                        <a:rPr lang="en-US" sz="1600" b="1" i="1" kern="1200" dirty="0">
                          <a:solidFill>
                            <a:schemeClr val="tx1"/>
                          </a:solidFill>
                          <a:latin typeface="Segoe Print" panose="02000600000000000000" pitchFamily="2" charset="0"/>
                          <a:ea typeface="+mn-ea"/>
                          <a:cs typeface="+mn-cs"/>
                        </a:rPr>
                        <a:t>Qassim</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4114288595"/>
                  </a:ext>
                </a:extLst>
              </a:tr>
              <a:tr h="370840">
                <a:tc>
                  <a:txBody>
                    <a:bodyPr/>
                    <a:lstStyle/>
                    <a:p>
                      <a:r>
                        <a:rPr lang="en-US" sz="1600" b="0" dirty="0">
                          <a:solidFill>
                            <a:schemeClr val="tx1"/>
                          </a:solidFill>
                        </a:rPr>
                        <a:t>V4 = </a:t>
                      </a:r>
                      <a:r>
                        <a:rPr lang="en-US" sz="1600" b="1" i="1" kern="1200" dirty="0">
                          <a:solidFill>
                            <a:schemeClr val="tx1"/>
                          </a:solidFill>
                          <a:latin typeface="Segoe Print" panose="02000600000000000000" pitchFamily="2" charset="0"/>
                          <a:ea typeface="+mn-ea"/>
                          <a:cs typeface="+mn-cs"/>
                        </a:rPr>
                        <a:t>Riyadh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V5 = </a:t>
                      </a:r>
                      <a:r>
                        <a:rPr lang="en-US" sz="1600" b="1" i="1" kern="1200" dirty="0">
                          <a:solidFill>
                            <a:schemeClr val="tx1"/>
                          </a:solidFill>
                          <a:latin typeface="Segoe Print" panose="02000600000000000000" pitchFamily="2" charset="0"/>
                          <a:ea typeface="+mn-ea"/>
                          <a:cs typeface="+mn-cs"/>
                        </a:rPr>
                        <a:t>Makkah</a:t>
                      </a:r>
                      <a:endParaRPr lang="en-US" sz="1800" b="1" i="1" kern="1200" dirty="0">
                        <a:solidFill>
                          <a:schemeClr val="tx1"/>
                        </a:solidFill>
                        <a:latin typeface="Segoe Print" panose="02000600000000000000" pitchFamily="2" charset="0"/>
                        <a:ea typeface="+mn-ea"/>
                        <a:cs typeface="+mn-cs"/>
                      </a:endParaRPr>
                    </a:p>
                  </a:txBody>
                  <a:tcPr/>
                </a:tc>
                <a:tc>
                  <a:txBody>
                    <a:bodyPr/>
                    <a:lstStyle/>
                    <a:p>
                      <a:r>
                        <a:rPr lang="en-US" sz="1600" b="0" dirty="0">
                          <a:solidFill>
                            <a:schemeClr val="tx1"/>
                          </a:solidFill>
                        </a:rPr>
                        <a:t>V6 = </a:t>
                      </a:r>
                      <a:r>
                        <a:rPr lang="en-US" sz="1600" b="1" i="1" kern="1200" dirty="0">
                          <a:solidFill>
                            <a:schemeClr val="tx1"/>
                          </a:solidFill>
                          <a:latin typeface="Segoe Print" panose="02000600000000000000" pitchFamily="2" charset="0"/>
                          <a:ea typeface="+mn-ea"/>
                          <a:cs typeface="+mn-cs"/>
                        </a:rPr>
                        <a:t>Medina</a:t>
                      </a:r>
                      <a:endParaRPr lang="en-US" sz="1800" b="1" i="1" kern="1200" dirty="0">
                        <a:solidFill>
                          <a:schemeClr val="tx1"/>
                        </a:solidFill>
                        <a:latin typeface="Segoe Print" panose="02000600000000000000" pitchFamily="2" charset="0"/>
                        <a:ea typeface="+mn-ea"/>
                        <a:cs typeface="+mn-cs"/>
                      </a:endParaRPr>
                    </a:p>
                  </a:txBody>
                  <a:tcPr/>
                </a:tc>
                <a:extLst>
                  <a:ext uri="{0D108BD9-81ED-4DB2-BD59-A6C34878D82A}">
                    <a16:rowId xmlns:a16="http://schemas.microsoft.com/office/drawing/2014/main" val="662398969"/>
                  </a:ext>
                </a:extLst>
              </a:tr>
            </a:tbl>
          </a:graphicData>
        </a:graphic>
      </p:graphicFrame>
    </p:spTree>
    <p:extLst>
      <p:ext uri="{BB962C8B-B14F-4D97-AF65-F5344CB8AC3E}">
        <p14:creationId xmlns:p14="http://schemas.microsoft.com/office/powerpoint/2010/main" val="26568965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7866D-5A03-46A6-A10C-0718F834AA12}"/>
              </a:ext>
            </a:extLst>
          </p:cNvPr>
          <p:cNvSpPr>
            <a:spLocks noGrp="1"/>
          </p:cNvSpPr>
          <p:nvPr>
            <p:ph type="title"/>
          </p:nvPr>
        </p:nvSpPr>
        <p:spPr/>
        <p:txBody>
          <a:bodyPr>
            <a:normAutofit fontScale="90000"/>
          </a:bodyPr>
          <a:lstStyle/>
          <a:p>
            <a:r>
              <a:rPr lang="en-US" dirty="0"/>
              <a:t>Consistency</a:t>
            </a:r>
          </a:p>
        </p:txBody>
      </p:sp>
      <p:sp>
        <p:nvSpPr>
          <p:cNvPr id="3" name="Content Placeholder 2">
            <a:extLst>
              <a:ext uri="{FF2B5EF4-FFF2-40B4-BE49-F238E27FC236}">
                <a16:creationId xmlns:a16="http://schemas.microsoft.com/office/drawing/2014/main" id="{CB57002F-1B20-45F7-B85C-F91830A86739}"/>
              </a:ext>
            </a:extLst>
          </p:cNvPr>
          <p:cNvSpPr>
            <a:spLocks noGrp="1"/>
          </p:cNvSpPr>
          <p:nvPr>
            <p:ph idx="1"/>
          </p:nvPr>
        </p:nvSpPr>
        <p:spPr/>
        <p:txBody>
          <a:bodyPr>
            <a:normAutofit/>
          </a:bodyPr>
          <a:lstStyle/>
          <a:p>
            <a:r>
              <a:rPr lang="en-US" dirty="0">
                <a:solidFill>
                  <a:schemeClr val="accent6">
                    <a:lumMod val="75000"/>
                  </a:schemeClr>
                </a:solidFill>
              </a:rPr>
              <a:t>Consistency</a:t>
            </a:r>
            <a:r>
              <a:rPr lang="en-US" dirty="0"/>
              <a:t> is an inference mechanism to rule out certain variable assignments, which in turn enhances the search. </a:t>
            </a:r>
          </a:p>
          <a:p>
            <a:r>
              <a:rPr lang="en-US" dirty="0"/>
              <a:t>A single variable is </a:t>
            </a:r>
            <a:r>
              <a:rPr lang="en-US" dirty="0">
                <a:solidFill>
                  <a:schemeClr val="accent6">
                    <a:lumMod val="75000"/>
                  </a:schemeClr>
                </a:solidFill>
              </a:rPr>
              <a:t>node consistent </a:t>
            </a:r>
            <a:r>
              <a:rPr lang="en-US" dirty="0"/>
              <a:t>if no value of its domain is ruled impossible by any of the constraints.</a:t>
            </a:r>
          </a:p>
          <a:p>
            <a:r>
              <a:rPr lang="en-US" dirty="0"/>
              <a:t>For example, a variable V1 with </a:t>
            </a:r>
            <a:r>
              <a:rPr lang="en-US" i="1" dirty="0"/>
              <a:t>D</a:t>
            </a:r>
            <a:r>
              <a:rPr lang="en-US" baseline="-25000" dirty="0"/>
              <a:t>𝑉1 </a:t>
            </a:r>
            <a:r>
              <a:rPr lang="en-US" dirty="0"/>
              <a:t>= {1,2,3} is not node consistent if there is a constraint </a:t>
            </a:r>
            <a:r>
              <a:rPr lang="en-US" i="1" dirty="0"/>
              <a:t>C</a:t>
            </a:r>
            <a:r>
              <a:rPr lang="en-US" baseline="-25000" dirty="0"/>
              <a:t>𝑉1 </a:t>
            </a:r>
            <a:r>
              <a:rPr lang="en-US" dirty="0"/>
              <a:t>= {V1 ≥ 2}</a:t>
            </a:r>
          </a:p>
          <a:p>
            <a:pPr lvl="1"/>
            <a:r>
              <a:rPr lang="en-US" sz="2800" dirty="0"/>
              <a:t>V1 is node consistent if we remove 1 from its domain</a:t>
            </a:r>
          </a:p>
          <a:p>
            <a:r>
              <a:rPr lang="en-US" dirty="0"/>
              <a:t>Node consistency </a:t>
            </a:r>
            <a:r>
              <a:rPr lang="en-US" dirty="0">
                <a:solidFill>
                  <a:srgbClr val="C00000"/>
                </a:solidFill>
              </a:rPr>
              <a:t>involves unary constraints</a:t>
            </a:r>
            <a:r>
              <a:rPr lang="en-US" dirty="0"/>
              <a:t>, i.e., over a single variable.</a:t>
            </a:r>
          </a:p>
        </p:txBody>
      </p:sp>
      <p:sp>
        <p:nvSpPr>
          <p:cNvPr id="4" name="Date Placeholder 3">
            <a:extLst>
              <a:ext uri="{FF2B5EF4-FFF2-40B4-BE49-F238E27FC236}">
                <a16:creationId xmlns:a16="http://schemas.microsoft.com/office/drawing/2014/main" id="{86253C08-5AA5-41BB-8678-0B6B2144AE54}"/>
              </a:ext>
            </a:extLst>
          </p:cNvPr>
          <p:cNvSpPr>
            <a:spLocks noGrp="1"/>
          </p:cNvSpPr>
          <p:nvPr>
            <p:ph type="dt" sz="half" idx="10"/>
          </p:nvPr>
        </p:nvSpPr>
        <p:spPr/>
        <p:txBody>
          <a:bodyPr/>
          <a:lstStyle/>
          <a:p>
            <a:fld id="{2BC7FF19-1EE0-4103-AED0-9634C032F0F6}" type="datetime1">
              <a:rPr lang="en-US" smtClean="0"/>
              <a:t>10/16/2022</a:t>
            </a:fld>
            <a:endParaRPr lang="en-US" dirty="0"/>
          </a:p>
        </p:txBody>
      </p:sp>
      <p:sp>
        <p:nvSpPr>
          <p:cNvPr id="5" name="Footer Placeholder 4">
            <a:extLst>
              <a:ext uri="{FF2B5EF4-FFF2-40B4-BE49-F238E27FC236}">
                <a16:creationId xmlns:a16="http://schemas.microsoft.com/office/drawing/2014/main" id="{9C0444F5-53AA-4510-8161-6766F066895C}"/>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22805D31-18EE-4250-B4FD-8260D10B6B16}"/>
              </a:ext>
            </a:extLst>
          </p:cNvPr>
          <p:cNvSpPr>
            <a:spLocks noGrp="1"/>
          </p:cNvSpPr>
          <p:nvPr>
            <p:ph type="sldNum" sz="quarter" idx="12"/>
          </p:nvPr>
        </p:nvSpPr>
        <p:spPr/>
        <p:txBody>
          <a:bodyPr/>
          <a:lstStyle/>
          <a:p>
            <a:fld id="{B7884E68-CE57-44C0-BE0F-84C629DF22D5}" type="slidenum">
              <a:rPr lang="en-US" dirty="0" smtClean="0"/>
              <a:t>55</a:t>
            </a:fld>
            <a:endParaRPr lang="en-US" dirty="0"/>
          </a:p>
        </p:txBody>
      </p:sp>
    </p:spTree>
    <p:extLst>
      <p:ext uri="{BB962C8B-B14F-4D97-AF65-F5344CB8AC3E}">
        <p14:creationId xmlns:p14="http://schemas.microsoft.com/office/powerpoint/2010/main" val="9563738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A2E13-0B6B-44F1-B11C-8E29C8E9C967}"/>
              </a:ext>
            </a:extLst>
          </p:cNvPr>
          <p:cNvSpPr>
            <a:spLocks noGrp="1"/>
          </p:cNvSpPr>
          <p:nvPr>
            <p:ph type="title"/>
          </p:nvPr>
        </p:nvSpPr>
        <p:spPr/>
        <p:txBody>
          <a:bodyPr>
            <a:normAutofit fontScale="90000"/>
          </a:bodyPr>
          <a:lstStyle/>
          <a:p>
            <a:r>
              <a:rPr lang="en-US" dirty="0"/>
              <a:t>Constraint Graph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6CE073-B801-4E18-BD15-781D2ADC214D}"/>
                  </a:ext>
                </a:extLst>
              </p:cNvPr>
              <p:cNvSpPr>
                <a:spLocks noGrp="1"/>
              </p:cNvSpPr>
              <p:nvPr>
                <p:ph idx="1"/>
              </p:nvPr>
            </p:nvSpPr>
            <p:spPr/>
            <p:txBody>
              <a:bodyPr>
                <a:normAutofit lnSpcReduction="10000"/>
              </a:bodyPr>
              <a:lstStyle/>
              <a:p>
                <a:r>
                  <a:rPr lang="en-US" sz="3000" dirty="0"/>
                  <a:t>A </a:t>
                </a:r>
                <a:r>
                  <a:rPr lang="en-US" sz="3000" dirty="0">
                    <a:solidFill>
                      <a:schemeClr val="accent6">
                        <a:lumMod val="75000"/>
                      </a:schemeClr>
                    </a:solidFill>
                  </a:rPr>
                  <a:t>constraint graph </a:t>
                </a:r>
                <a:r>
                  <a:rPr lang="en-US" sz="3000" dirty="0"/>
                  <a:t>is defined by a graph, with</a:t>
                </a:r>
              </a:p>
              <a:p>
                <a:pPr lvl="1"/>
                <a:r>
                  <a:rPr lang="en-US" sz="2800" dirty="0"/>
                  <a:t>one node for every variable </a:t>
                </a:r>
              </a:p>
              <a:p>
                <a:pPr lvl="1"/>
                <a:r>
                  <a:rPr lang="en-US" sz="2800" dirty="0"/>
                  <a:t>one node for every constraint</a:t>
                </a:r>
              </a:p>
              <a:p>
                <a:pPr lvl="1"/>
                <a:r>
                  <a:rPr lang="en-US" sz="2800" dirty="0"/>
                  <a:t>and undirected edges running between variable nodes and constraint nodes whenever a given variable is involved in each constraint.</a:t>
                </a:r>
              </a:p>
              <a:p>
                <a:r>
                  <a:rPr lang="en-US" sz="3000" dirty="0"/>
                  <a:t>An </a:t>
                </a:r>
                <a:r>
                  <a:rPr lang="en-US" sz="3000" dirty="0">
                    <a:solidFill>
                      <a:schemeClr val="accent6">
                        <a:lumMod val="75000"/>
                      </a:schemeClr>
                    </a:solidFill>
                  </a:rPr>
                  <a:t>arc</a:t>
                </a:r>
                <a:r>
                  <a:rPr lang="en-US" sz="3000" dirty="0"/>
                  <a:t> is variable pair </a:t>
                </a:r>
                <a14:m>
                  <m:oMath xmlns:m="http://schemas.openxmlformats.org/officeDocument/2006/math">
                    <m:r>
                      <a:rPr lang="en-US" sz="3000" i="1" dirty="0">
                        <a:latin typeface="Cambria Math" panose="02040503050406030204" pitchFamily="18" charset="0"/>
                      </a:rPr>
                      <m:t>(</m:t>
                    </m:r>
                    <m:r>
                      <a:rPr lang="en-US" sz="3000" i="1" dirty="0">
                        <a:latin typeface="Cambria Math" panose="02040503050406030204" pitchFamily="18" charset="0"/>
                      </a:rPr>
                      <m:t>𝑋</m:t>
                    </m:r>
                    <m:r>
                      <a:rPr lang="en-US" sz="3000" i="1" dirty="0">
                        <a:latin typeface="Cambria Math" panose="02040503050406030204" pitchFamily="18" charset="0"/>
                      </a:rPr>
                      <m:t>, </m:t>
                    </m:r>
                    <m:r>
                      <a:rPr lang="en-US" sz="3000" i="1" dirty="0">
                        <a:latin typeface="Cambria Math" panose="02040503050406030204" pitchFamily="18" charset="0"/>
                      </a:rPr>
                      <m:t>𝑌</m:t>
                    </m:r>
                    <m:r>
                      <a:rPr lang="en-US" sz="3000" i="1" dirty="0">
                        <a:latin typeface="Cambria Math" panose="02040503050406030204" pitchFamily="18" charset="0"/>
                      </a:rPr>
                      <m:t>)</m:t>
                    </m:r>
                  </m:oMath>
                </a14:m>
                <a:r>
                  <a:rPr lang="en-US" sz="3000" dirty="0"/>
                  <a:t> which share a common constraint in a constraint graph</a:t>
                </a:r>
              </a:p>
              <a:p>
                <a:pPr lvl="1"/>
                <a:r>
                  <a:rPr lang="en-US" sz="2800" dirty="0"/>
                  <a:t>The shown constraint graph represents the CSP of Example 1</a:t>
                </a:r>
              </a:p>
              <a:p>
                <a:pPr lvl="2">
                  <a:buFont typeface="Wingdings" panose="05000000000000000000" pitchFamily="2" charset="2"/>
                  <a:buChar char="§"/>
                </a:pPr>
                <a:r>
                  <a:rPr lang="en-US" sz="2267" dirty="0">
                    <a:solidFill>
                      <a:srgbClr val="C00000"/>
                    </a:solidFill>
                  </a:rPr>
                  <a:t>Variables</a:t>
                </a:r>
                <a:r>
                  <a:rPr lang="en-US" sz="2267" dirty="0"/>
                  <a:t>, 𝑉={𝑉1,𝑉2,𝑉3}</a:t>
                </a:r>
              </a:p>
              <a:p>
                <a:pPr lvl="2">
                  <a:buFont typeface="Wingdings" panose="05000000000000000000" pitchFamily="2" charset="2"/>
                  <a:buChar char="§"/>
                </a:pPr>
                <a:r>
                  <a:rPr lang="en-US" sz="2267" dirty="0">
                    <a:solidFill>
                      <a:srgbClr val="C00000"/>
                    </a:solidFill>
                  </a:rPr>
                  <a:t>Domains</a:t>
                </a:r>
                <a:r>
                  <a:rPr lang="en-US" sz="2267" dirty="0"/>
                  <a:t>; </a:t>
                </a:r>
                <a:r>
                  <a:rPr lang="en-US" sz="2267" i="1" dirty="0"/>
                  <a:t>D</a:t>
                </a:r>
                <a:r>
                  <a:rPr lang="en-US" sz="2267" baseline="-25000" dirty="0"/>
                  <a:t>𝑉1 </a:t>
                </a:r>
                <a:r>
                  <a:rPr lang="en-US" sz="2267" dirty="0"/>
                  <a:t>= {1,2,3}, </a:t>
                </a:r>
                <a:r>
                  <a:rPr lang="en-US" sz="2267" i="1" dirty="0"/>
                  <a:t>D</a:t>
                </a:r>
                <a:r>
                  <a:rPr lang="en-US" sz="2267" baseline="-25000" dirty="0"/>
                  <a:t>𝑉2 </a:t>
                </a:r>
                <a:r>
                  <a:rPr lang="en-US" sz="2267" dirty="0"/>
                  <a:t>= {1,2} and </a:t>
                </a:r>
                <a:r>
                  <a:rPr lang="en-US" sz="2267" i="1" dirty="0"/>
                  <a:t>D</a:t>
                </a:r>
                <a:r>
                  <a:rPr lang="en-US" sz="2267" baseline="-25000" dirty="0"/>
                  <a:t>𝑉3 </a:t>
                </a:r>
                <a:r>
                  <a:rPr lang="en-US" sz="2267" dirty="0"/>
                  <a:t>= {2,3}</a:t>
                </a:r>
              </a:p>
              <a:p>
                <a:pPr lvl="2">
                  <a:buFont typeface="Wingdings" panose="05000000000000000000" pitchFamily="2" charset="2"/>
                  <a:buChar char="§"/>
                </a:pPr>
                <a:r>
                  <a:rPr lang="en-US" sz="2267" dirty="0">
                    <a:solidFill>
                      <a:srgbClr val="C00000"/>
                    </a:solidFill>
                  </a:rPr>
                  <a:t>Constraints</a:t>
                </a:r>
                <a:r>
                  <a:rPr lang="en-US" sz="2267" dirty="0"/>
                  <a:t>; 𝐶1 = 𝑉1&gt;𝑉2, 𝐶2 = 𝑉2≠𝑉3 and 𝐶3 = 𝑉1≠𝑉3</a:t>
                </a:r>
              </a:p>
              <a:p>
                <a:pPr lvl="2">
                  <a:buFont typeface="Wingdings" panose="05000000000000000000" pitchFamily="2" charset="2"/>
                  <a:buChar char="§"/>
                </a:pPr>
                <a:r>
                  <a:rPr lang="en-US" sz="2267" dirty="0"/>
                  <a:t>(V1, V2), (V2, V3) and (V</a:t>
                </a:r>
                <a:r>
                  <a:rPr lang="ar-SA" sz="2267" dirty="0"/>
                  <a:t>1</a:t>
                </a:r>
                <a:r>
                  <a:rPr lang="en-US" sz="2267" dirty="0"/>
                  <a:t>, V3) are three different arcs</a:t>
                </a:r>
              </a:p>
            </p:txBody>
          </p:sp>
        </mc:Choice>
        <mc:Fallback xmlns="">
          <p:sp>
            <p:nvSpPr>
              <p:cNvPr id="3" name="Content Placeholder 2">
                <a:extLst>
                  <a:ext uri="{FF2B5EF4-FFF2-40B4-BE49-F238E27FC236}">
                    <a16:creationId xmlns:a16="http://schemas.microsoft.com/office/drawing/2014/main" id="{206CE073-B801-4E18-BD15-781D2ADC214D}"/>
                  </a:ext>
                </a:extLst>
              </p:cNvPr>
              <p:cNvSpPr>
                <a:spLocks noGrp="1" noRot="1" noChangeAspect="1" noMove="1" noResize="1" noEditPoints="1" noAdjustHandles="1" noChangeArrowheads="1" noChangeShapeType="1" noTextEdit="1"/>
              </p:cNvSpPr>
              <p:nvPr>
                <p:ph idx="1"/>
              </p:nvPr>
            </p:nvSpPr>
            <p:spPr>
              <a:blipFill>
                <a:blip r:embed="rId3"/>
                <a:stretch>
                  <a:fillRect l="-1368" t="-3519" r="-252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3684D8DB-66E4-4F93-ACC0-F8BA0CECEDC2}"/>
              </a:ext>
            </a:extLst>
          </p:cNvPr>
          <p:cNvSpPr>
            <a:spLocks noGrp="1"/>
          </p:cNvSpPr>
          <p:nvPr>
            <p:ph type="dt" sz="half" idx="10"/>
          </p:nvPr>
        </p:nvSpPr>
        <p:spPr/>
        <p:txBody>
          <a:bodyPr/>
          <a:lstStyle/>
          <a:p>
            <a:fld id="{7FB764D2-EDEA-4250-A309-F5AFAF7AF89D}" type="datetime1">
              <a:rPr lang="en-US" smtClean="0"/>
              <a:t>10/16/2022</a:t>
            </a:fld>
            <a:endParaRPr lang="en-US" dirty="0"/>
          </a:p>
        </p:txBody>
      </p:sp>
      <p:sp>
        <p:nvSpPr>
          <p:cNvPr id="5" name="Footer Placeholder 4">
            <a:extLst>
              <a:ext uri="{FF2B5EF4-FFF2-40B4-BE49-F238E27FC236}">
                <a16:creationId xmlns:a16="http://schemas.microsoft.com/office/drawing/2014/main" id="{C4EE53D1-F36F-435C-B1C6-FD9A7FCD5F4E}"/>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25B6CA97-39A1-403C-891C-ED3012F934DE}"/>
              </a:ext>
            </a:extLst>
          </p:cNvPr>
          <p:cNvSpPr>
            <a:spLocks noGrp="1"/>
          </p:cNvSpPr>
          <p:nvPr>
            <p:ph type="sldNum" sz="quarter" idx="12"/>
          </p:nvPr>
        </p:nvSpPr>
        <p:spPr/>
        <p:txBody>
          <a:bodyPr/>
          <a:lstStyle/>
          <a:p>
            <a:fld id="{B7884E68-CE57-44C0-BE0F-84C629DF22D5}" type="slidenum">
              <a:rPr lang="en-US" dirty="0" smtClean="0"/>
              <a:t>56</a:t>
            </a:fld>
            <a:endParaRPr lang="en-US" dirty="0"/>
          </a:p>
        </p:txBody>
      </p:sp>
      <p:grpSp>
        <p:nvGrpSpPr>
          <p:cNvPr id="26" name="Group 25">
            <a:extLst>
              <a:ext uri="{FF2B5EF4-FFF2-40B4-BE49-F238E27FC236}">
                <a16:creationId xmlns:a16="http://schemas.microsoft.com/office/drawing/2014/main" id="{A39A1DBC-94C5-437F-A986-3E48BC67F2C3}"/>
              </a:ext>
            </a:extLst>
          </p:cNvPr>
          <p:cNvGrpSpPr/>
          <p:nvPr/>
        </p:nvGrpSpPr>
        <p:grpSpPr>
          <a:xfrm>
            <a:off x="9376410" y="3800786"/>
            <a:ext cx="2510790" cy="2439345"/>
            <a:chOff x="9376410" y="3739142"/>
            <a:chExt cx="2510790" cy="2439345"/>
          </a:xfrm>
        </p:grpSpPr>
        <p:sp>
          <p:nvSpPr>
            <p:cNvPr id="7" name="Oval 6">
              <a:extLst>
                <a:ext uri="{FF2B5EF4-FFF2-40B4-BE49-F238E27FC236}">
                  <a16:creationId xmlns:a16="http://schemas.microsoft.com/office/drawing/2014/main" id="{CC14E55E-81EC-45A4-882D-0CEFD4D9D1A5}"/>
                </a:ext>
              </a:extLst>
            </p:cNvPr>
            <p:cNvSpPr/>
            <p:nvPr/>
          </p:nvSpPr>
          <p:spPr>
            <a:xfrm>
              <a:off x="10415156" y="3739142"/>
              <a:ext cx="548640" cy="5486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tx1"/>
                  </a:solidFill>
                </a:rPr>
                <a:t>V1</a:t>
              </a:r>
            </a:p>
          </p:txBody>
        </p:sp>
        <p:sp>
          <p:nvSpPr>
            <p:cNvPr id="8" name="Oval 7">
              <a:extLst>
                <a:ext uri="{FF2B5EF4-FFF2-40B4-BE49-F238E27FC236}">
                  <a16:creationId xmlns:a16="http://schemas.microsoft.com/office/drawing/2014/main" id="{F108103E-6652-433D-947A-07425BF3569E}"/>
                </a:ext>
              </a:extLst>
            </p:cNvPr>
            <p:cNvSpPr/>
            <p:nvPr/>
          </p:nvSpPr>
          <p:spPr>
            <a:xfrm>
              <a:off x="9376410" y="5629847"/>
              <a:ext cx="548640" cy="54864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tx1"/>
                  </a:solidFill>
                </a:rPr>
                <a:t>V2</a:t>
              </a:r>
            </a:p>
          </p:txBody>
        </p:sp>
        <p:sp>
          <p:nvSpPr>
            <p:cNvPr id="9" name="Oval 8">
              <a:extLst>
                <a:ext uri="{FF2B5EF4-FFF2-40B4-BE49-F238E27FC236}">
                  <a16:creationId xmlns:a16="http://schemas.microsoft.com/office/drawing/2014/main" id="{B01DD98C-239C-4F61-A6E6-A9CF30D552E6}"/>
                </a:ext>
              </a:extLst>
            </p:cNvPr>
            <p:cNvSpPr/>
            <p:nvPr/>
          </p:nvSpPr>
          <p:spPr>
            <a:xfrm>
              <a:off x="11338560" y="5629847"/>
              <a:ext cx="548640" cy="54864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tx1"/>
                  </a:solidFill>
                </a:rPr>
                <a:t>V3</a:t>
              </a:r>
            </a:p>
          </p:txBody>
        </p:sp>
        <p:sp>
          <p:nvSpPr>
            <p:cNvPr id="10" name="Rectangle 9">
              <a:extLst>
                <a:ext uri="{FF2B5EF4-FFF2-40B4-BE49-F238E27FC236}">
                  <a16:creationId xmlns:a16="http://schemas.microsoft.com/office/drawing/2014/main" id="{B7236A84-5005-441E-8C76-726196121077}"/>
                </a:ext>
              </a:extLst>
            </p:cNvPr>
            <p:cNvSpPr/>
            <p:nvPr/>
          </p:nvSpPr>
          <p:spPr>
            <a:xfrm>
              <a:off x="9650730" y="4825806"/>
              <a:ext cx="842010" cy="3143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V1&gt;V2</a:t>
              </a:r>
            </a:p>
          </p:txBody>
        </p:sp>
        <p:cxnSp>
          <p:nvCxnSpPr>
            <p:cNvPr id="13" name="Straight Connector 12">
              <a:extLst>
                <a:ext uri="{FF2B5EF4-FFF2-40B4-BE49-F238E27FC236}">
                  <a16:creationId xmlns:a16="http://schemas.microsoft.com/office/drawing/2014/main" id="{509B0AEB-C011-41B5-8241-2C2D12A940B9}"/>
                </a:ext>
              </a:extLst>
            </p:cNvPr>
            <p:cNvCxnSpPr>
              <a:stCxn id="8" idx="0"/>
              <a:endCxn id="10" idx="2"/>
            </p:cNvCxnSpPr>
            <p:nvPr/>
          </p:nvCxnSpPr>
          <p:spPr>
            <a:xfrm flipV="1">
              <a:off x="9650730" y="5140131"/>
              <a:ext cx="421005" cy="4897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A9588FB-5EA8-4932-A6E5-A82FF1373324}"/>
                </a:ext>
              </a:extLst>
            </p:cNvPr>
            <p:cNvCxnSpPr>
              <a:stCxn id="10" idx="0"/>
              <a:endCxn id="7" idx="3"/>
            </p:cNvCxnSpPr>
            <p:nvPr/>
          </p:nvCxnSpPr>
          <p:spPr>
            <a:xfrm flipV="1">
              <a:off x="10071735" y="4207436"/>
              <a:ext cx="423767" cy="618370"/>
            </a:xfrm>
            <a:prstGeom prst="line">
              <a:avLst/>
            </a:prstGeom>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76625FD9-FEF8-419C-B9FB-13EE52CDBC49}"/>
                </a:ext>
              </a:extLst>
            </p:cNvPr>
            <p:cNvSpPr/>
            <p:nvPr/>
          </p:nvSpPr>
          <p:spPr>
            <a:xfrm>
              <a:off x="10275998" y="5747004"/>
              <a:ext cx="842010" cy="3143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V2≠V3</a:t>
              </a:r>
            </a:p>
          </p:txBody>
        </p:sp>
        <p:cxnSp>
          <p:nvCxnSpPr>
            <p:cNvPr id="18" name="Straight Connector 17">
              <a:extLst>
                <a:ext uri="{FF2B5EF4-FFF2-40B4-BE49-F238E27FC236}">
                  <a16:creationId xmlns:a16="http://schemas.microsoft.com/office/drawing/2014/main" id="{D344E95C-F004-4B0D-91D0-0766CB73F08D}"/>
                </a:ext>
              </a:extLst>
            </p:cNvPr>
            <p:cNvCxnSpPr>
              <a:stCxn id="8" idx="6"/>
              <a:endCxn id="16" idx="1"/>
            </p:cNvCxnSpPr>
            <p:nvPr/>
          </p:nvCxnSpPr>
          <p:spPr>
            <a:xfrm>
              <a:off x="9925050" y="5904167"/>
              <a:ext cx="3509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D081766-43BA-4B1C-9B0F-A3C39778CA2B}"/>
                </a:ext>
              </a:extLst>
            </p:cNvPr>
            <p:cNvCxnSpPr>
              <a:stCxn id="16" idx="3"/>
              <a:endCxn id="9" idx="2"/>
            </p:cNvCxnSpPr>
            <p:nvPr/>
          </p:nvCxnSpPr>
          <p:spPr>
            <a:xfrm>
              <a:off x="11118008" y="5904167"/>
              <a:ext cx="220552"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6EE4092B-5990-4213-B546-5BFAECD6AB0A}"/>
                </a:ext>
              </a:extLst>
            </p:cNvPr>
            <p:cNvSpPr/>
            <p:nvPr/>
          </p:nvSpPr>
          <p:spPr>
            <a:xfrm>
              <a:off x="10917555" y="4814918"/>
              <a:ext cx="842010" cy="3143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V1≠V3</a:t>
              </a:r>
            </a:p>
          </p:txBody>
        </p:sp>
        <p:cxnSp>
          <p:nvCxnSpPr>
            <p:cNvPr id="23" name="Straight Connector 22">
              <a:extLst>
                <a:ext uri="{FF2B5EF4-FFF2-40B4-BE49-F238E27FC236}">
                  <a16:creationId xmlns:a16="http://schemas.microsoft.com/office/drawing/2014/main" id="{8EF21FAD-999F-4DC4-9239-08E11D0C61B5}"/>
                </a:ext>
              </a:extLst>
            </p:cNvPr>
            <p:cNvCxnSpPr>
              <a:stCxn id="7" idx="5"/>
              <a:endCxn id="21" idx="0"/>
            </p:cNvCxnSpPr>
            <p:nvPr/>
          </p:nvCxnSpPr>
          <p:spPr>
            <a:xfrm>
              <a:off x="10883450" y="4207436"/>
              <a:ext cx="455110" cy="607482"/>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A3BB404-77CA-4A7E-B7D6-DBF66F421C18}"/>
                </a:ext>
              </a:extLst>
            </p:cNvPr>
            <p:cNvCxnSpPr>
              <a:stCxn id="21" idx="2"/>
              <a:endCxn id="9" idx="0"/>
            </p:cNvCxnSpPr>
            <p:nvPr/>
          </p:nvCxnSpPr>
          <p:spPr>
            <a:xfrm>
              <a:off x="11338560" y="5129243"/>
              <a:ext cx="274320" cy="500604"/>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013328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0A4A8-864B-4A82-89C7-758C23B00800}"/>
              </a:ext>
            </a:extLst>
          </p:cNvPr>
          <p:cNvSpPr>
            <a:spLocks noGrp="1"/>
          </p:cNvSpPr>
          <p:nvPr>
            <p:ph type="title"/>
          </p:nvPr>
        </p:nvSpPr>
        <p:spPr/>
        <p:txBody>
          <a:bodyPr>
            <a:normAutofit fontScale="90000"/>
          </a:bodyPr>
          <a:lstStyle/>
          <a:p>
            <a:r>
              <a:rPr lang="en-US" dirty="0"/>
              <a:t>Consistency of a Single Arc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7F3088-944E-4377-9EF4-473641DFA32A}"/>
                  </a:ext>
                </a:extLst>
              </p:cNvPr>
              <p:cNvSpPr>
                <a:spLocks noGrp="1"/>
              </p:cNvSpPr>
              <p:nvPr>
                <p:ph idx="1"/>
              </p:nvPr>
            </p:nvSpPr>
            <p:spPr>
              <a:xfrm>
                <a:off x="304800" y="1228154"/>
                <a:ext cx="11582400" cy="4886896"/>
              </a:xfrm>
            </p:spPr>
            <p:txBody>
              <a:bodyPr>
                <a:normAutofit/>
              </a:bodyPr>
              <a:lstStyle/>
              <a:p>
                <a:r>
                  <a:rPr lang="en-US" dirty="0"/>
                  <a:t>A variable pair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𝑋</m:t>
                    </m:r>
                    <m:r>
                      <a:rPr lang="en-US" i="1" dirty="0" smtClean="0">
                        <a:latin typeface="Cambria Math" panose="02040503050406030204" pitchFamily="18" charset="0"/>
                      </a:rPr>
                      <m:t>, </m:t>
                    </m:r>
                    <m:r>
                      <a:rPr lang="en-US" i="1" dirty="0" smtClean="0">
                        <a:latin typeface="Cambria Math" panose="02040503050406030204" pitchFamily="18" charset="0"/>
                      </a:rPr>
                      <m:t>𝑌</m:t>
                    </m:r>
                    <m:r>
                      <a:rPr lang="en-US" i="1" dirty="0" smtClean="0">
                        <a:latin typeface="Cambria Math" panose="02040503050406030204" pitchFamily="18" charset="0"/>
                      </a:rPr>
                      <m:t>) </m:t>
                    </m:r>
                  </m:oMath>
                </a14:m>
                <a:r>
                  <a:rPr lang="en-US" dirty="0"/>
                  <a:t>in a constraint graph is </a:t>
                </a:r>
                <a:r>
                  <a:rPr lang="en-US" dirty="0">
                    <a:solidFill>
                      <a:schemeClr val="accent6">
                        <a:lumMod val="75000"/>
                      </a:schemeClr>
                    </a:solidFill>
                  </a:rPr>
                  <a:t>arc consistent </a:t>
                </a:r>
                <a:r>
                  <a:rPr lang="en-US" dirty="0"/>
                  <a:t>if for each value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ea typeface="Cambria Math" panose="02040503050406030204" pitchFamily="18" charset="0"/>
                      </a:rPr>
                      <m:t>∈</m:t>
                    </m:r>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𝐷</m:t>
                        </m:r>
                      </m:e>
                      <m:sub>
                        <m:r>
                          <a:rPr lang="en-US" b="0" i="1" dirty="0" smtClean="0">
                            <a:latin typeface="Cambria Math" panose="02040503050406030204" pitchFamily="18" charset="0"/>
                            <a:ea typeface="Cambria Math" panose="02040503050406030204" pitchFamily="18" charset="0"/>
                          </a:rPr>
                          <m:t>𝑋</m:t>
                        </m:r>
                      </m:sub>
                    </m:sSub>
                  </m:oMath>
                </a14:m>
                <a:r>
                  <a:rPr lang="en-US" dirty="0"/>
                  <a:t> there exists a value </a:t>
                </a:r>
                <a14:m>
                  <m:oMath xmlns:m="http://schemas.openxmlformats.org/officeDocument/2006/math">
                    <m:r>
                      <a:rPr lang="en-US" b="0" i="1" dirty="0" smtClean="0">
                        <a:latin typeface="Cambria Math" panose="02040503050406030204" pitchFamily="18" charset="0"/>
                      </a:rPr>
                      <m:t>𝑦</m:t>
                    </m:r>
                    <m:r>
                      <a:rPr lang="en-US" i="1" dirty="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𝐷</m:t>
                        </m:r>
                      </m:e>
                      <m:sub>
                        <m:r>
                          <a:rPr lang="en-US" b="0" i="1" dirty="0" smtClean="0">
                            <a:latin typeface="Cambria Math" panose="02040503050406030204" pitchFamily="18" charset="0"/>
                            <a:ea typeface="Cambria Math" panose="02040503050406030204" pitchFamily="18" charset="0"/>
                          </a:rPr>
                          <m:t>𝑌</m:t>
                        </m:r>
                      </m:sub>
                    </m:sSub>
                  </m:oMath>
                </a14:m>
                <a:r>
                  <a:rPr lang="en-US" dirty="0"/>
                  <a:t> such that the assignments </a:t>
                </a:r>
                <a14:m>
                  <m:oMath xmlns:m="http://schemas.openxmlformats.org/officeDocument/2006/math">
                    <m:r>
                      <a:rPr lang="en-US" i="1" dirty="0" smtClean="0">
                        <a:latin typeface="Cambria Math" panose="02040503050406030204" pitchFamily="18" charset="0"/>
                      </a:rPr>
                      <m:t>𝑋</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m:t>
                    </m:r>
                  </m:oMath>
                </a14:m>
                <a:r>
                  <a:rPr lang="en-US" dirty="0"/>
                  <a:t> and </a:t>
                </a:r>
                <a14:m>
                  <m:oMath xmlns:m="http://schemas.openxmlformats.org/officeDocument/2006/math">
                    <m:r>
                      <a:rPr lang="en-US" i="1" dirty="0" smtClean="0">
                        <a:latin typeface="Cambria Math" panose="02040503050406030204" pitchFamily="18" charset="0"/>
                      </a:rPr>
                      <m:t>𝑌</m:t>
                    </m:r>
                    <m:r>
                      <a:rPr lang="en-US" i="1" dirty="0" smtClean="0">
                        <a:latin typeface="Cambria Math" panose="02040503050406030204" pitchFamily="18" charset="0"/>
                      </a:rPr>
                      <m:t>=</m:t>
                    </m:r>
                    <m:r>
                      <a:rPr lang="en-US" i="1" dirty="0" smtClean="0">
                        <a:latin typeface="Cambria Math" panose="02040503050406030204" pitchFamily="18" charset="0"/>
                      </a:rPr>
                      <m:t>𝑦</m:t>
                    </m:r>
                    <m:r>
                      <a:rPr lang="en-US" i="1" dirty="0" smtClean="0">
                        <a:latin typeface="Cambria Math" panose="02040503050406030204" pitchFamily="18" charset="0"/>
                      </a:rPr>
                      <m:t> </m:t>
                    </m:r>
                  </m:oMath>
                </a14:m>
                <a:r>
                  <a:rPr lang="en-US" dirty="0">
                    <a:solidFill>
                      <a:srgbClr val="C00000"/>
                    </a:solidFill>
                  </a:rPr>
                  <a:t>satisfy all binary constraints</a:t>
                </a:r>
                <a:r>
                  <a:rPr lang="en-US" dirty="0"/>
                  <a:t> between </a:t>
                </a:r>
                <a14:m>
                  <m:oMath xmlns:m="http://schemas.openxmlformats.org/officeDocument/2006/math">
                    <m:r>
                      <a:rPr lang="en-US" i="1" dirty="0" smtClean="0">
                        <a:latin typeface="Cambria Math" panose="02040503050406030204" pitchFamily="18" charset="0"/>
                      </a:rPr>
                      <m:t>𝑋</m:t>
                    </m:r>
                  </m:oMath>
                </a14:m>
                <a:r>
                  <a:rPr lang="en-US" dirty="0"/>
                  <a:t> and </a:t>
                </a:r>
                <a14:m>
                  <m:oMath xmlns:m="http://schemas.openxmlformats.org/officeDocument/2006/math">
                    <m:r>
                      <a:rPr lang="en-US" i="1" dirty="0" smtClean="0">
                        <a:latin typeface="Cambria Math" panose="02040503050406030204" pitchFamily="18" charset="0"/>
                      </a:rPr>
                      <m:t>𝑌</m:t>
                    </m:r>
                  </m:oMath>
                </a14:m>
                <a:r>
                  <a:rPr lang="en-US" dirty="0"/>
                  <a:t>. </a:t>
                </a:r>
              </a:p>
              <a:p>
                <a:r>
                  <a:rPr lang="en-US" dirty="0"/>
                  <a:t>If a pair </a:t>
                </a:r>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𝑋</m:t>
                    </m:r>
                    <m:r>
                      <a:rPr lang="en-US" i="1" dirty="0">
                        <a:latin typeface="Cambria Math" panose="02040503050406030204" pitchFamily="18" charset="0"/>
                      </a:rPr>
                      <m:t>, </m:t>
                    </m:r>
                    <m:r>
                      <a:rPr lang="en-US" i="1" dirty="0">
                        <a:latin typeface="Cambria Math" panose="02040503050406030204" pitchFamily="18" charset="0"/>
                      </a:rPr>
                      <m:t>𝑌</m:t>
                    </m:r>
                    <m:r>
                      <a:rPr lang="en-US" i="1" dirty="0">
                        <a:latin typeface="Cambria Math" panose="02040503050406030204" pitchFamily="18" charset="0"/>
                      </a:rPr>
                      <m:t>) </m:t>
                    </m:r>
                  </m:oMath>
                </a14:m>
                <a:r>
                  <a:rPr lang="en-US" dirty="0"/>
                  <a:t>is not arc consistent, all values </a:t>
                </a:r>
                <a14:m>
                  <m:oMath xmlns:m="http://schemas.openxmlformats.org/officeDocument/2006/math">
                    <m:r>
                      <a:rPr lang="en-US" i="1" dirty="0">
                        <a:latin typeface="Cambria Math" panose="02040503050406030204" pitchFamily="18" charset="0"/>
                      </a:rPr>
                      <m:t>𝑥</m:t>
                    </m:r>
                    <m:r>
                      <a:rPr lang="en-US" i="1" dirty="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𝐷</m:t>
                        </m:r>
                      </m:e>
                      <m:sub>
                        <m:r>
                          <a:rPr lang="en-US" i="1" dirty="0">
                            <a:latin typeface="Cambria Math" panose="02040503050406030204" pitchFamily="18" charset="0"/>
                            <a:ea typeface="Cambria Math" panose="02040503050406030204" pitchFamily="18" charset="0"/>
                          </a:rPr>
                          <m:t>𝑋</m:t>
                        </m:r>
                      </m:sub>
                    </m:sSub>
                  </m:oMath>
                </a14:m>
                <a:r>
                  <a:rPr lang="en-US" dirty="0"/>
                  <a:t> for which there is no corresponding value in </a:t>
                </a:r>
                <a14:m>
                  <m:oMath xmlns:m="http://schemas.openxmlformats.org/officeDocument/2006/math">
                    <m:r>
                      <a:rPr lang="en-US" i="1" dirty="0">
                        <a:latin typeface="Cambria Math" panose="02040503050406030204" pitchFamily="18" charset="0"/>
                      </a:rPr>
                      <m:t>𝑦</m:t>
                    </m:r>
                    <m:r>
                      <a:rPr lang="en-US" i="1" dirty="0">
                        <a:latin typeface="Cambria Math" panose="02040503050406030204" pitchFamily="18" charset="0"/>
                        <a:ea typeface="Cambria Math" panose="02040503050406030204" pitchFamily="18" charset="0"/>
                      </a:rPr>
                      <m:t>∈ </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𝐷</m:t>
                        </m:r>
                      </m:e>
                      <m:sub>
                        <m:r>
                          <a:rPr lang="en-US" i="1" dirty="0">
                            <a:latin typeface="Cambria Math" panose="02040503050406030204" pitchFamily="18" charset="0"/>
                            <a:ea typeface="Cambria Math" panose="02040503050406030204" pitchFamily="18" charset="0"/>
                          </a:rPr>
                          <m:t>𝑌</m:t>
                        </m:r>
                      </m:sub>
                    </m:sSub>
                    <m:r>
                      <a:rPr lang="en-US" i="1" dirty="0">
                        <a:latin typeface="Cambria Math" panose="02040503050406030204" pitchFamily="18" charset="0"/>
                        <a:ea typeface="Cambria Math" panose="02040503050406030204" pitchFamily="18" charset="0"/>
                      </a:rPr>
                      <m:t> </m:t>
                    </m:r>
                  </m:oMath>
                </a14:m>
                <a:r>
                  <a:rPr lang="en-US" dirty="0">
                    <a:solidFill>
                      <a:srgbClr val="C00000"/>
                    </a:solidFill>
                  </a:rPr>
                  <a:t>may be deleted </a:t>
                </a:r>
                <a:r>
                  <a:rPr lang="en-US" dirty="0"/>
                  <a:t>from </a:t>
                </a:r>
                <a14:m>
                  <m:oMath xmlns:m="http://schemas.openxmlformats.org/officeDocument/2006/math">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𝐷</m:t>
                        </m:r>
                      </m:e>
                      <m:sub>
                        <m:r>
                          <a:rPr lang="en-US" i="1" dirty="0">
                            <a:latin typeface="Cambria Math" panose="02040503050406030204" pitchFamily="18" charset="0"/>
                            <a:ea typeface="Cambria Math" panose="02040503050406030204" pitchFamily="18" charset="0"/>
                          </a:rPr>
                          <m:t>𝑋</m:t>
                        </m:r>
                      </m:sub>
                    </m:sSub>
                  </m:oMath>
                </a14:m>
                <a:r>
                  <a:rPr lang="en-US" dirty="0"/>
                  <a:t> to make </a:t>
                </a:r>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𝑋</m:t>
                    </m:r>
                    <m:r>
                      <a:rPr lang="en-US" i="1" dirty="0">
                        <a:latin typeface="Cambria Math" panose="02040503050406030204" pitchFamily="18" charset="0"/>
                      </a:rPr>
                      <m:t>, </m:t>
                    </m:r>
                    <m:r>
                      <a:rPr lang="en-US" i="1" dirty="0">
                        <a:latin typeface="Cambria Math" panose="02040503050406030204" pitchFamily="18" charset="0"/>
                      </a:rPr>
                      <m:t>𝑌</m:t>
                    </m:r>
                    <m:r>
                      <a:rPr lang="en-US" i="1" dirty="0">
                        <a:latin typeface="Cambria Math" panose="02040503050406030204" pitchFamily="18" charset="0"/>
                      </a:rPr>
                      <m:t>) </m:t>
                    </m:r>
                  </m:oMath>
                </a14:m>
                <a:r>
                  <a:rPr lang="en-US" dirty="0"/>
                  <a:t>arc consistent.</a:t>
                </a:r>
              </a:p>
              <a:p>
                <a:r>
                  <a:rPr lang="en-US" dirty="0">
                    <a:solidFill>
                      <a:srgbClr val="C00000"/>
                    </a:solidFill>
                  </a:rPr>
                  <a:t>Important</a:t>
                </a:r>
                <a:r>
                  <a:rPr lang="en-US" dirty="0"/>
                  <a:t>: If </a:t>
                </a:r>
                <a14:m>
                  <m:oMath xmlns:m="http://schemas.openxmlformats.org/officeDocument/2006/math">
                    <m:r>
                      <a:rPr lang="en-US" i="1" dirty="0" smtClean="0">
                        <a:latin typeface="Cambria Math" panose="02040503050406030204" pitchFamily="18" charset="0"/>
                      </a:rPr>
                      <m:t>𝑋</m:t>
                    </m:r>
                  </m:oMath>
                </a14:m>
                <a:r>
                  <a:rPr lang="en-US" dirty="0"/>
                  <a:t> loses a value, neighbors of </a:t>
                </a:r>
                <a14:m>
                  <m:oMath xmlns:m="http://schemas.openxmlformats.org/officeDocument/2006/math">
                    <m:r>
                      <a:rPr lang="en-US" i="1" dirty="0" smtClean="0">
                        <a:latin typeface="Cambria Math" panose="02040503050406030204" pitchFamily="18" charset="0"/>
                      </a:rPr>
                      <m:t>𝑋</m:t>
                    </m:r>
                  </m:oMath>
                </a14:m>
                <a:r>
                  <a:rPr lang="en-US" dirty="0"/>
                  <a:t> need to be rechecked!</a:t>
                </a:r>
              </a:p>
              <a:p>
                <a:endParaRPr lang="en-US" dirty="0"/>
              </a:p>
            </p:txBody>
          </p:sp>
        </mc:Choice>
        <mc:Fallback xmlns="">
          <p:sp>
            <p:nvSpPr>
              <p:cNvPr id="3" name="Content Placeholder 2">
                <a:extLst>
                  <a:ext uri="{FF2B5EF4-FFF2-40B4-BE49-F238E27FC236}">
                    <a16:creationId xmlns:a16="http://schemas.microsoft.com/office/drawing/2014/main" id="{607F3088-944E-4377-9EF4-473641DFA32A}"/>
                  </a:ext>
                </a:extLst>
              </p:cNvPr>
              <p:cNvSpPr>
                <a:spLocks noGrp="1" noRot="1" noChangeAspect="1" noMove="1" noResize="1" noEditPoints="1" noAdjustHandles="1" noChangeArrowheads="1" noChangeShapeType="1" noTextEdit="1"/>
              </p:cNvSpPr>
              <p:nvPr>
                <p:ph idx="1"/>
              </p:nvPr>
            </p:nvSpPr>
            <p:spPr>
              <a:xfrm>
                <a:off x="304800" y="1228154"/>
                <a:ext cx="11582400" cy="4886896"/>
              </a:xfrm>
              <a:blipFill>
                <a:blip r:embed="rId3"/>
                <a:stretch>
                  <a:fillRect l="-1474" t="-2993" r="-15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A7CC2C62-108C-40FC-A2D5-CA4CCBC49014}"/>
              </a:ext>
            </a:extLst>
          </p:cNvPr>
          <p:cNvSpPr>
            <a:spLocks noGrp="1"/>
          </p:cNvSpPr>
          <p:nvPr>
            <p:ph type="dt" sz="half" idx="10"/>
          </p:nvPr>
        </p:nvSpPr>
        <p:spPr/>
        <p:txBody>
          <a:bodyPr/>
          <a:lstStyle/>
          <a:p>
            <a:fld id="{A076E928-8277-468C-A1E6-1C04391BAF2F}" type="datetime1">
              <a:rPr lang="en-US" smtClean="0"/>
              <a:t>10/16/2022</a:t>
            </a:fld>
            <a:endParaRPr lang="en-US" dirty="0"/>
          </a:p>
        </p:txBody>
      </p:sp>
      <p:sp>
        <p:nvSpPr>
          <p:cNvPr id="5" name="Footer Placeholder 4">
            <a:extLst>
              <a:ext uri="{FF2B5EF4-FFF2-40B4-BE49-F238E27FC236}">
                <a16:creationId xmlns:a16="http://schemas.microsoft.com/office/drawing/2014/main" id="{805586C6-0E9A-4FD2-B067-735A42B1E660}"/>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68ADCD42-88B9-4C41-AD19-FF6D35169E5B}"/>
              </a:ext>
            </a:extLst>
          </p:cNvPr>
          <p:cNvSpPr>
            <a:spLocks noGrp="1"/>
          </p:cNvSpPr>
          <p:nvPr>
            <p:ph type="sldNum" sz="quarter" idx="12"/>
          </p:nvPr>
        </p:nvSpPr>
        <p:spPr/>
        <p:txBody>
          <a:bodyPr/>
          <a:lstStyle/>
          <a:p>
            <a:fld id="{B7884E68-CE57-44C0-BE0F-84C629DF22D5}" type="slidenum">
              <a:rPr lang="en-US" dirty="0" smtClean="0"/>
              <a:t>57</a:t>
            </a:fld>
            <a:endParaRPr lang="en-US" dirty="0"/>
          </a:p>
        </p:txBody>
      </p:sp>
    </p:spTree>
    <p:extLst>
      <p:ext uri="{BB962C8B-B14F-4D97-AF65-F5344CB8AC3E}">
        <p14:creationId xmlns:p14="http://schemas.microsoft.com/office/powerpoint/2010/main" val="40002981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0A4A8-864B-4A82-89C7-758C23B00800}"/>
              </a:ext>
            </a:extLst>
          </p:cNvPr>
          <p:cNvSpPr>
            <a:spLocks noGrp="1"/>
          </p:cNvSpPr>
          <p:nvPr>
            <p:ph type="title"/>
          </p:nvPr>
        </p:nvSpPr>
        <p:spPr/>
        <p:txBody>
          <a:bodyPr>
            <a:normAutofit fontScale="90000"/>
          </a:bodyPr>
          <a:lstStyle/>
          <a:p>
            <a:r>
              <a:rPr lang="en-US" dirty="0"/>
              <a:t>Consistency of a Single Arc</a:t>
            </a:r>
          </a:p>
        </p:txBody>
      </p:sp>
      <p:sp>
        <p:nvSpPr>
          <p:cNvPr id="4" name="Date Placeholder 3">
            <a:extLst>
              <a:ext uri="{FF2B5EF4-FFF2-40B4-BE49-F238E27FC236}">
                <a16:creationId xmlns:a16="http://schemas.microsoft.com/office/drawing/2014/main" id="{A7CC2C62-108C-40FC-A2D5-CA4CCBC49014}"/>
              </a:ext>
            </a:extLst>
          </p:cNvPr>
          <p:cNvSpPr>
            <a:spLocks noGrp="1"/>
          </p:cNvSpPr>
          <p:nvPr>
            <p:ph type="dt" sz="half" idx="10"/>
          </p:nvPr>
        </p:nvSpPr>
        <p:spPr/>
        <p:txBody>
          <a:bodyPr/>
          <a:lstStyle/>
          <a:p>
            <a:fld id="{656B203D-359A-4F7E-B6E9-91AE1EBF22CD}" type="datetime1">
              <a:rPr lang="en-US" smtClean="0"/>
              <a:t>10/16/2022</a:t>
            </a:fld>
            <a:endParaRPr lang="en-US" dirty="0"/>
          </a:p>
        </p:txBody>
      </p:sp>
      <p:sp>
        <p:nvSpPr>
          <p:cNvPr id="5" name="Footer Placeholder 4">
            <a:extLst>
              <a:ext uri="{FF2B5EF4-FFF2-40B4-BE49-F238E27FC236}">
                <a16:creationId xmlns:a16="http://schemas.microsoft.com/office/drawing/2014/main" id="{805586C6-0E9A-4FD2-B067-735A42B1E660}"/>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68ADCD42-88B9-4C41-AD19-FF6D35169E5B}"/>
              </a:ext>
            </a:extLst>
          </p:cNvPr>
          <p:cNvSpPr>
            <a:spLocks noGrp="1"/>
          </p:cNvSpPr>
          <p:nvPr>
            <p:ph type="sldNum" sz="quarter" idx="12"/>
          </p:nvPr>
        </p:nvSpPr>
        <p:spPr/>
        <p:txBody>
          <a:bodyPr/>
          <a:lstStyle/>
          <a:p>
            <a:fld id="{B7884E68-CE57-44C0-BE0F-84C629DF22D5}" type="slidenum">
              <a:rPr lang="en-US" dirty="0" smtClean="0"/>
              <a:t>58</a:t>
            </a:fld>
            <a:endParaRPr lang="en-US" dirty="0"/>
          </a:p>
        </p:txBody>
      </p:sp>
      <p:grpSp>
        <p:nvGrpSpPr>
          <p:cNvPr id="7" name="Group 6">
            <a:extLst>
              <a:ext uri="{FF2B5EF4-FFF2-40B4-BE49-F238E27FC236}">
                <a16:creationId xmlns:a16="http://schemas.microsoft.com/office/drawing/2014/main" id="{82D11725-61D0-4428-86C7-809E7621C32C}"/>
              </a:ext>
            </a:extLst>
          </p:cNvPr>
          <p:cNvGrpSpPr/>
          <p:nvPr/>
        </p:nvGrpSpPr>
        <p:grpSpPr>
          <a:xfrm>
            <a:off x="9376410" y="1333421"/>
            <a:ext cx="2510790" cy="2439345"/>
            <a:chOff x="9376410" y="3739142"/>
            <a:chExt cx="2510790" cy="2439345"/>
          </a:xfrm>
        </p:grpSpPr>
        <p:sp>
          <p:nvSpPr>
            <p:cNvPr id="8" name="Oval 7">
              <a:extLst>
                <a:ext uri="{FF2B5EF4-FFF2-40B4-BE49-F238E27FC236}">
                  <a16:creationId xmlns:a16="http://schemas.microsoft.com/office/drawing/2014/main" id="{E0CCD53D-AB7F-4063-A719-D33EAA4706A7}"/>
                </a:ext>
              </a:extLst>
            </p:cNvPr>
            <p:cNvSpPr/>
            <p:nvPr/>
          </p:nvSpPr>
          <p:spPr>
            <a:xfrm>
              <a:off x="10415156" y="3739142"/>
              <a:ext cx="548640" cy="5486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tx1"/>
                  </a:solidFill>
                </a:rPr>
                <a:t>V1</a:t>
              </a:r>
            </a:p>
          </p:txBody>
        </p:sp>
        <p:sp>
          <p:nvSpPr>
            <p:cNvPr id="9" name="Oval 8">
              <a:extLst>
                <a:ext uri="{FF2B5EF4-FFF2-40B4-BE49-F238E27FC236}">
                  <a16:creationId xmlns:a16="http://schemas.microsoft.com/office/drawing/2014/main" id="{2965F228-F6D6-4F54-8C91-86F8C23F3F06}"/>
                </a:ext>
              </a:extLst>
            </p:cNvPr>
            <p:cNvSpPr/>
            <p:nvPr/>
          </p:nvSpPr>
          <p:spPr>
            <a:xfrm>
              <a:off x="9376410" y="5629847"/>
              <a:ext cx="548640" cy="54864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tx1"/>
                  </a:solidFill>
                </a:rPr>
                <a:t>V2</a:t>
              </a:r>
            </a:p>
          </p:txBody>
        </p:sp>
        <p:sp>
          <p:nvSpPr>
            <p:cNvPr id="10" name="Oval 9">
              <a:extLst>
                <a:ext uri="{FF2B5EF4-FFF2-40B4-BE49-F238E27FC236}">
                  <a16:creationId xmlns:a16="http://schemas.microsoft.com/office/drawing/2014/main" id="{9405AEBF-DDC9-489A-AC5D-3B329261F58C}"/>
                </a:ext>
              </a:extLst>
            </p:cNvPr>
            <p:cNvSpPr/>
            <p:nvPr/>
          </p:nvSpPr>
          <p:spPr>
            <a:xfrm>
              <a:off x="11338560" y="5629847"/>
              <a:ext cx="548640" cy="54864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tx1"/>
                  </a:solidFill>
                </a:rPr>
                <a:t>V3</a:t>
              </a:r>
            </a:p>
          </p:txBody>
        </p:sp>
        <p:sp>
          <p:nvSpPr>
            <p:cNvPr id="11" name="Rectangle 10">
              <a:extLst>
                <a:ext uri="{FF2B5EF4-FFF2-40B4-BE49-F238E27FC236}">
                  <a16:creationId xmlns:a16="http://schemas.microsoft.com/office/drawing/2014/main" id="{C6F12F3F-BF2A-4175-91CD-6166D221AECB}"/>
                </a:ext>
              </a:extLst>
            </p:cNvPr>
            <p:cNvSpPr/>
            <p:nvPr/>
          </p:nvSpPr>
          <p:spPr>
            <a:xfrm>
              <a:off x="9650730" y="4825806"/>
              <a:ext cx="842010" cy="3143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V1&gt;V2</a:t>
              </a:r>
            </a:p>
          </p:txBody>
        </p:sp>
        <p:cxnSp>
          <p:nvCxnSpPr>
            <p:cNvPr id="12" name="Straight Connector 11">
              <a:extLst>
                <a:ext uri="{FF2B5EF4-FFF2-40B4-BE49-F238E27FC236}">
                  <a16:creationId xmlns:a16="http://schemas.microsoft.com/office/drawing/2014/main" id="{6BBC0DD6-95E7-4525-9E9D-52C95EC54AC4}"/>
                </a:ext>
              </a:extLst>
            </p:cNvPr>
            <p:cNvCxnSpPr>
              <a:stCxn id="9" idx="0"/>
              <a:endCxn id="11" idx="2"/>
            </p:cNvCxnSpPr>
            <p:nvPr/>
          </p:nvCxnSpPr>
          <p:spPr>
            <a:xfrm flipV="1">
              <a:off x="9650730" y="5140131"/>
              <a:ext cx="421005" cy="4897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C6966F-73B9-42A6-9294-F5A2CB22FD19}"/>
                </a:ext>
              </a:extLst>
            </p:cNvPr>
            <p:cNvCxnSpPr>
              <a:stCxn id="11" idx="0"/>
              <a:endCxn id="8" idx="3"/>
            </p:cNvCxnSpPr>
            <p:nvPr/>
          </p:nvCxnSpPr>
          <p:spPr>
            <a:xfrm flipV="1">
              <a:off x="10071735" y="4207436"/>
              <a:ext cx="423767" cy="618370"/>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D561BDC4-5D18-41C2-AA6B-BD559C2F847A}"/>
                </a:ext>
              </a:extLst>
            </p:cNvPr>
            <p:cNvSpPr/>
            <p:nvPr/>
          </p:nvSpPr>
          <p:spPr>
            <a:xfrm>
              <a:off x="10275998" y="5747004"/>
              <a:ext cx="842010" cy="3143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V2≠V3</a:t>
              </a:r>
            </a:p>
          </p:txBody>
        </p:sp>
        <p:cxnSp>
          <p:nvCxnSpPr>
            <p:cNvPr id="15" name="Straight Connector 14">
              <a:extLst>
                <a:ext uri="{FF2B5EF4-FFF2-40B4-BE49-F238E27FC236}">
                  <a16:creationId xmlns:a16="http://schemas.microsoft.com/office/drawing/2014/main" id="{62308C4B-15B3-4D46-B19C-29CF56B4715E}"/>
                </a:ext>
              </a:extLst>
            </p:cNvPr>
            <p:cNvCxnSpPr>
              <a:stCxn id="9" idx="6"/>
              <a:endCxn id="14" idx="1"/>
            </p:cNvCxnSpPr>
            <p:nvPr/>
          </p:nvCxnSpPr>
          <p:spPr>
            <a:xfrm>
              <a:off x="9925050" y="5904167"/>
              <a:ext cx="3509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71186EE-EB15-40E0-B7C4-F30EA89DC2EF}"/>
                </a:ext>
              </a:extLst>
            </p:cNvPr>
            <p:cNvCxnSpPr>
              <a:stCxn id="14" idx="3"/>
              <a:endCxn id="10" idx="2"/>
            </p:cNvCxnSpPr>
            <p:nvPr/>
          </p:nvCxnSpPr>
          <p:spPr>
            <a:xfrm>
              <a:off x="11118008" y="5904167"/>
              <a:ext cx="220552"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01278D3-BDA1-4630-A06B-E2E711FAA9BD}"/>
                </a:ext>
              </a:extLst>
            </p:cNvPr>
            <p:cNvSpPr/>
            <p:nvPr/>
          </p:nvSpPr>
          <p:spPr>
            <a:xfrm>
              <a:off x="10917555" y="4814918"/>
              <a:ext cx="842010" cy="3143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V1≠V3</a:t>
              </a:r>
            </a:p>
          </p:txBody>
        </p:sp>
        <p:cxnSp>
          <p:nvCxnSpPr>
            <p:cNvPr id="18" name="Straight Connector 17">
              <a:extLst>
                <a:ext uri="{FF2B5EF4-FFF2-40B4-BE49-F238E27FC236}">
                  <a16:creationId xmlns:a16="http://schemas.microsoft.com/office/drawing/2014/main" id="{85BDBA85-9B61-40E5-BC2E-58CAF5E75D68}"/>
                </a:ext>
              </a:extLst>
            </p:cNvPr>
            <p:cNvCxnSpPr>
              <a:stCxn id="8" idx="5"/>
              <a:endCxn id="17" idx="0"/>
            </p:cNvCxnSpPr>
            <p:nvPr/>
          </p:nvCxnSpPr>
          <p:spPr>
            <a:xfrm>
              <a:off x="10883450" y="4207436"/>
              <a:ext cx="455110" cy="6074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47B17E4-08EF-4672-A668-B171C6DAF3F1}"/>
                </a:ext>
              </a:extLst>
            </p:cNvPr>
            <p:cNvCxnSpPr>
              <a:stCxn id="17" idx="2"/>
              <a:endCxn id="10" idx="0"/>
            </p:cNvCxnSpPr>
            <p:nvPr/>
          </p:nvCxnSpPr>
          <p:spPr>
            <a:xfrm>
              <a:off x="11338560" y="5129243"/>
              <a:ext cx="274320" cy="500604"/>
            </a:xfrm>
            <a:prstGeom prst="line">
              <a:avLst/>
            </a:prstGeom>
          </p:spPr>
          <p:style>
            <a:lnRef idx="1">
              <a:schemeClr val="accent1"/>
            </a:lnRef>
            <a:fillRef idx="0">
              <a:schemeClr val="accent1"/>
            </a:fillRef>
            <a:effectRef idx="0">
              <a:schemeClr val="accent1"/>
            </a:effectRef>
            <a:fontRef idx="minor">
              <a:schemeClr val="tx1"/>
            </a:fontRef>
          </p:style>
        </p:cxnSp>
      </p:grpSp>
      <p:sp>
        <p:nvSpPr>
          <p:cNvPr id="20" name="Content Placeholder 2">
            <a:extLst>
              <a:ext uri="{FF2B5EF4-FFF2-40B4-BE49-F238E27FC236}">
                <a16:creationId xmlns:a16="http://schemas.microsoft.com/office/drawing/2014/main" id="{1722B453-5726-48E4-BCB9-3DF6DEB3B378}"/>
              </a:ext>
            </a:extLst>
          </p:cNvPr>
          <p:cNvSpPr txBox="1">
            <a:spLocks/>
          </p:cNvSpPr>
          <p:nvPr/>
        </p:nvSpPr>
        <p:spPr>
          <a:xfrm>
            <a:off x="304800" y="1219200"/>
            <a:ext cx="8921115" cy="5030932"/>
          </a:xfrm>
          <a:prstGeom prst="rect">
            <a:avLst/>
          </a:prstGeom>
        </p:spPr>
        <p:txBody>
          <a:bodyPr vert="horz" lIns="0" tIns="45720" rIns="0" bIns="45720" rtlCol="0">
            <a:normAutofit/>
          </a:bodyPr>
          <a:lstStyle>
            <a:lvl1pPr marL="304792" indent="-228594" algn="l" defTabSz="914377" rtl="0" eaLnBrk="1" latinLnBrk="0" hangingPunct="1">
              <a:lnSpc>
                <a:spcPct val="90000"/>
              </a:lnSpc>
              <a:spcBef>
                <a:spcPts val="1200"/>
              </a:spcBef>
              <a:spcAft>
                <a:spcPts val="200"/>
              </a:spcAft>
              <a:buClr>
                <a:schemeClr val="accent1"/>
              </a:buClr>
              <a:buSzPct val="110000"/>
              <a:buFont typeface="Arial" panose="020B0604020202020204" pitchFamily="34" charset="0"/>
              <a:buChar char="•"/>
              <a:defRPr sz="3200" kern="1200">
                <a:solidFill>
                  <a:schemeClr val="tx1"/>
                </a:solidFill>
                <a:latin typeface="+mn-lt"/>
                <a:ea typeface="+mn-ea"/>
                <a:cs typeface="+mn-cs"/>
              </a:defRPr>
            </a:lvl1pPr>
            <a:lvl2pPr marL="609585" indent="-304792"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836063" indent="-226478" algn="l" defTabSz="914377" rtl="0" eaLnBrk="1" latinLnBrk="0" hangingPunct="1">
              <a:lnSpc>
                <a:spcPct val="90000"/>
              </a:lnSpc>
              <a:spcBef>
                <a:spcPts val="200"/>
              </a:spcBef>
              <a:spcAft>
                <a:spcPts val="400"/>
              </a:spcAft>
              <a:buClr>
                <a:schemeClr val="accent1"/>
              </a:buClr>
              <a:buFont typeface="Calibri" pitchFamily="34" charset="0"/>
              <a:buChar char="◦"/>
              <a:defRPr sz="2667" kern="1200">
                <a:solidFill>
                  <a:schemeClr val="tx1"/>
                </a:solidFill>
                <a:latin typeface="+mn-lt"/>
                <a:ea typeface="+mn-ea"/>
                <a:cs typeface="+mn-cs"/>
              </a:defRPr>
            </a:lvl3pPr>
            <a:lvl4pPr marL="1071007" indent="-23494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4pPr>
            <a:lvl5pPr marL="1297485" indent="-226478"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solidFill>
                  <a:schemeClr val="accent6">
                    <a:lumMod val="75000"/>
                  </a:schemeClr>
                </a:solidFill>
              </a:rPr>
              <a:t>Example: </a:t>
            </a:r>
            <a:endParaRPr lang="ar-SA" dirty="0">
              <a:solidFill>
                <a:schemeClr val="accent6">
                  <a:lumMod val="75000"/>
                </a:schemeClr>
              </a:solidFill>
            </a:endParaRPr>
          </a:p>
          <a:p>
            <a:pPr lvl="2">
              <a:buFont typeface="Wingdings" panose="05000000000000000000" pitchFamily="2" charset="2"/>
              <a:buChar char="§"/>
            </a:pPr>
            <a:r>
              <a:rPr lang="en-US" sz="2267" dirty="0">
                <a:solidFill>
                  <a:srgbClr val="C00000"/>
                </a:solidFill>
              </a:rPr>
              <a:t>Variables</a:t>
            </a:r>
            <a:r>
              <a:rPr lang="en-US" sz="2267" dirty="0"/>
              <a:t>, 𝑉={𝑉1,𝑉2,𝑉3}</a:t>
            </a:r>
          </a:p>
          <a:p>
            <a:pPr lvl="2">
              <a:buFont typeface="Wingdings" panose="05000000000000000000" pitchFamily="2" charset="2"/>
              <a:buChar char="§"/>
            </a:pPr>
            <a:r>
              <a:rPr lang="en-US" sz="2267" dirty="0">
                <a:solidFill>
                  <a:srgbClr val="C00000"/>
                </a:solidFill>
              </a:rPr>
              <a:t>Domains</a:t>
            </a:r>
            <a:r>
              <a:rPr lang="en-US" sz="2267" dirty="0"/>
              <a:t>; </a:t>
            </a:r>
            <a:r>
              <a:rPr lang="en-US" sz="2267" i="1" dirty="0"/>
              <a:t>D</a:t>
            </a:r>
            <a:r>
              <a:rPr lang="en-US" sz="2267" baseline="-25000" dirty="0"/>
              <a:t>𝑉1 </a:t>
            </a:r>
            <a:r>
              <a:rPr lang="en-US" sz="2267" dirty="0"/>
              <a:t>= {1,2,3}, </a:t>
            </a:r>
            <a:r>
              <a:rPr lang="en-US" sz="2267" i="1" dirty="0"/>
              <a:t>D</a:t>
            </a:r>
            <a:r>
              <a:rPr lang="en-US" sz="2267" baseline="-25000" dirty="0"/>
              <a:t>𝑉2 </a:t>
            </a:r>
            <a:r>
              <a:rPr lang="en-US" sz="2267" dirty="0"/>
              <a:t>= {1,2} and </a:t>
            </a:r>
            <a:r>
              <a:rPr lang="en-US" sz="2267" i="1" dirty="0"/>
              <a:t>D</a:t>
            </a:r>
            <a:r>
              <a:rPr lang="en-US" sz="2267" baseline="-25000" dirty="0"/>
              <a:t>𝑉3 </a:t>
            </a:r>
            <a:r>
              <a:rPr lang="en-US" sz="2267" dirty="0"/>
              <a:t>= {2,3}</a:t>
            </a:r>
          </a:p>
          <a:p>
            <a:pPr lvl="1"/>
            <a:r>
              <a:rPr lang="en-US" sz="2800" dirty="0"/>
              <a:t>(V1, V2) is not arc consistent because when V1 = 1, V2 will not have any valid assignment.</a:t>
            </a:r>
          </a:p>
          <a:p>
            <a:pPr lvl="2"/>
            <a:r>
              <a:rPr lang="en-US" dirty="0"/>
              <a:t>How can we make (V1, V2) arc </a:t>
            </a:r>
            <a:r>
              <a:rPr lang="en-US" sz="2400" dirty="0"/>
              <a:t>consistent?</a:t>
            </a:r>
          </a:p>
          <a:p>
            <a:pPr lvl="3"/>
            <a:r>
              <a:rPr lang="en-US" sz="2133" dirty="0"/>
              <a:t>By removing 1 from </a:t>
            </a:r>
            <a:r>
              <a:rPr lang="en-US" sz="2133" i="1" dirty="0"/>
              <a:t>D</a:t>
            </a:r>
            <a:r>
              <a:rPr lang="en-US" sz="2133" baseline="-25000" dirty="0"/>
              <a:t>𝑉1</a:t>
            </a:r>
            <a:r>
              <a:rPr lang="en-US" sz="2133" dirty="0"/>
              <a:t>, i.e. becomes </a:t>
            </a:r>
            <a:r>
              <a:rPr lang="en-US" sz="2000" i="1" dirty="0"/>
              <a:t>D</a:t>
            </a:r>
            <a:r>
              <a:rPr lang="en-US" sz="2000" baseline="-25000" dirty="0"/>
              <a:t>𝑉1 </a:t>
            </a:r>
            <a:r>
              <a:rPr lang="en-US" sz="2000" dirty="0"/>
              <a:t>= {2,3}</a:t>
            </a:r>
            <a:endParaRPr lang="en-US" sz="2133" dirty="0"/>
          </a:p>
          <a:p>
            <a:pPr lvl="1"/>
            <a:r>
              <a:rPr lang="en-US" sz="2800" dirty="0"/>
              <a:t>What about (V1, V3) (V2, V3)? Are they arc consistent?</a:t>
            </a:r>
          </a:p>
        </p:txBody>
      </p:sp>
    </p:spTree>
    <p:extLst>
      <p:ext uri="{BB962C8B-B14F-4D97-AF65-F5344CB8AC3E}">
        <p14:creationId xmlns:p14="http://schemas.microsoft.com/office/powerpoint/2010/main" val="2057121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0A4A8-864B-4A82-89C7-758C23B00800}"/>
              </a:ext>
            </a:extLst>
          </p:cNvPr>
          <p:cNvSpPr>
            <a:spLocks noGrp="1"/>
          </p:cNvSpPr>
          <p:nvPr>
            <p:ph type="title"/>
          </p:nvPr>
        </p:nvSpPr>
        <p:spPr/>
        <p:txBody>
          <a:bodyPr>
            <a:normAutofit fontScale="90000"/>
          </a:bodyPr>
          <a:lstStyle/>
          <a:p>
            <a:r>
              <a:rPr lang="en-US" dirty="0"/>
              <a:t>Consistency of an Entire CSP</a:t>
            </a:r>
          </a:p>
        </p:txBody>
      </p:sp>
      <p:sp>
        <p:nvSpPr>
          <p:cNvPr id="3" name="Content Placeholder 2">
            <a:extLst>
              <a:ext uri="{FF2B5EF4-FFF2-40B4-BE49-F238E27FC236}">
                <a16:creationId xmlns:a16="http://schemas.microsoft.com/office/drawing/2014/main" id="{607F3088-944E-4377-9EF4-473641DFA32A}"/>
              </a:ext>
            </a:extLst>
          </p:cNvPr>
          <p:cNvSpPr>
            <a:spLocks noGrp="1"/>
          </p:cNvSpPr>
          <p:nvPr>
            <p:ph idx="1"/>
          </p:nvPr>
        </p:nvSpPr>
        <p:spPr/>
        <p:txBody>
          <a:bodyPr>
            <a:normAutofit/>
          </a:bodyPr>
          <a:lstStyle/>
          <a:p>
            <a:r>
              <a:rPr lang="en-US" dirty="0"/>
              <a:t>A CSP is arc consistent </a:t>
            </a:r>
            <a:r>
              <a:rPr lang="en-US" dirty="0">
                <a:solidFill>
                  <a:srgbClr val="C00000"/>
                </a:solidFill>
              </a:rPr>
              <a:t>if all variable pairs are arc consistent</a:t>
            </a:r>
            <a:r>
              <a:rPr lang="en-US" dirty="0"/>
              <a:t>.</a:t>
            </a:r>
          </a:p>
          <a:p>
            <a:r>
              <a:rPr lang="en-US" dirty="0"/>
              <a:t>Arc consistency is a very efficient mechanism for optimizing the search space of a CSP. It helps prune domains of variables to the minimum possible.</a:t>
            </a:r>
          </a:p>
          <a:p>
            <a:r>
              <a:rPr lang="en-US" dirty="0"/>
              <a:t>Arc consistency can detect failure earlier than forward checking</a:t>
            </a:r>
          </a:p>
          <a:p>
            <a:r>
              <a:rPr lang="en-US" dirty="0"/>
              <a:t>Three possible outcomes when CSP is made arc consistent :</a:t>
            </a:r>
          </a:p>
          <a:p>
            <a:pPr lvl="1"/>
            <a:r>
              <a:rPr lang="en-US" sz="2800" dirty="0"/>
              <a:t>One of the domains is empty          </a:t>
            </a:r>
            <a:r>
              <a:rPr lang="en-US" sz="2800" dirty="0">
                <a:solidFill>
                  <a:srgbClr val="C00000"/>
                </a:solidFill>
              </a:rPr>
              <a:t>no solution</a:t>
            </a:r>
          </a:p>
          <a:p>
            <a:pPr lvl="1"/>
            <a:r>
              <a:rPr lang="en-US" sz="2800" dirty="0"/>
              <a:t>Each domain has a single value         </a:t>
            </a:r>
            <a:r>
              <a:rPr lang="en-US" sz="2800" dirty="0">
                <a:solidFill>
                  <a:srgbClr val="C00000"/>
                </a:solidFill>
              </a:rPr>
              <a:t>unique solution</a:t>
            </a:r>
          </a:p>
          <a:p>
            <a:pPr lvl="1"/>
            <a:r>
              <a:rPr lang="en-US" sz="2800" dirty="0"/>
              <a:t>Some domains have more than one value         </a:t>
            </a:r>
            <a:r>
              <a:rPr lang="en-US" sz="2800" dirty="0">
                <a:solidFill>
                  <a:srgbClr val="C00000"/>
                </a:solidFill>
              </a:rPr>
              <a:t>may or may not be a solution</a:t>
            </a:r>
            <a:r>
              <a:rPr lang="en-US" sz="2800" dirty="0"/>
              <a:t>; we have to perform backtracking search! </a:t>
            </a:r>
          </a:p>
        </p:txBody>
      </p:sp>
      <p:sp>
        <p:nvSpPr>
          <p:cNvPr id="4" name="Date Placeholder 3">
            <a:extLst>
              <a:ext uri="{FF2B5EF4-FFF2-40B4-BE49-F238E27FC236}">
                <a16:creationId xmlns:a16="http://schemas.microsoft.com/office/drawing/2014/main" id="{A7CC2C62-108C-40FC-A2D5-CA4CCBC49014}"/>
              </a:ext>
            </a:extLst>
          </p:cNvPr>
          <p:cNvSpPr>
            <a:spLocks noGrp="1"/>
          </p:cNvSpPr>
          <p:nvPr>
            <p:ph type="dt" sz="half" idx="10"/>
          </p:nvPr>
        </p:nvSpPr>
        <p:spPr/>
        <p:txBody>
          <a:bodyPr/>
          <a:lstStyle/>
          <a:p>
            <a:fld id="{2EA29776-113C-4A8E-8453-5852A8BCB247}" type="datetime1">
              <a:rPr lang="en-US" smtClean="0"/>
              <a:t>10/16/2022</a:t>
            </a:fld>
            <a:endParaRPr lang="en-US" dirty="0"/>
          </a:p>
        </p:txBody>
      </p:sp>
      <p:sp>
        <p:nvSpPr>
          <p:cNvPr id="5" name="Footer Placeholder 4">
            <a:extLst>
              <a:ext uri="{FF2B5EF4-FFF2-40B4-BE49-F238E27FC236}">
                <a16:creationId xmlns:a16="http://schemas.microsoft.com/office/drawing/2014/main" id="{805586C6-0E9A-4FD2-B067-735A42B1E660}"/>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68ADCD42-88B9-4C41-AD19-FF6D35169E5B}"/>
              </a:ext>
            </a:extLst>
          </p:cNvPr>
          <p:cNvSpPr>
            <a:spLocks noGrp="1"/>
          </p:cNvSpPr>
          <p:nvPr>
            <p:ph type="sldNum" sz="quarter" idx="12"/>
          </p:nvPr>
        </p:nvSpPr>
        <p:spPr/>
        <p:txBody>
          <a:bodyPr/>
          <a:lstStyle/>
          <a:p>
            <a:fld id="{B7884E68-CE57-44C0-BE0F-84C629DF22D5}" type="slidenum">
              <a:rPr lang="en-US" dirty="0" smtClean="0"/>
              <a:t>59</a:t>
            </a:fld>
            <a:endParaRPr lang="en-US" dirty="0"/>
          </a:p>
        </p:txBody>
      </p:sp>
      <p:sp>
        <p:nvSpPr>
          <p:cNvPr id="7" name="Arrow: Right 6">
            <a:extLst>
              <a:ext uri="{FF2B5EF4-FFF2-40B4-BE49-F238E27FC236}">
                <a16:creationId xmlns:a16="http://schemas.microsoft.com/office/drawing/2014/main" id="{6A964451-EEAF-404A-BFD1-82EF420CBDE9}"/>
              </a:ext>
            </a:extLst>
          </p:cNvPr>
          <p:cNvSpPr/>
          <p:nvPr/>
        </p:nvSpPr>
        <p:spPr>
          <a:xfrm>
            <a:off x="5191125" y="4559201"/>
            <a:ext cx="590550" cy="2667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Arrow: Right 7">
            <a:extLst>
              <a:ext uri="{FF2B5EF4-FFF2-40B4-BE49-F238E27FC236}">
                <a16:creationId xmlns:a16="http://schemas.microsoft.com/office/drawing/2014/main" id="{CD289ED0-4DB9-4ADB-B91D-36F42A6FBCA9}"/>
              </a:ext>
            </a:extLst>
          </p:cNvPr>
          <p:cNvSpPr/>
          <p:nvPr/>
        </p:nvSpPr>
        <p:spPr>
          <a:xfrm>
            <a:off x="5429250" y="5033118"/>
            <a:ext cx="590550" cy="2667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Arrow: Right 8">
            <a:extLst>
              <a:ext uri="{FF2B5EF4-FFF2-40B4-BE49-F238E27FC236}">
                <a16:creationId xmlns:a16="http://schemas.microsoft.com/office/drawing/2014/main" id="{8C420843-0352-4B3D-AC9D-09783341196E}"/>
              </a:ext>
            </a:extLst>
          </p:cNvPr>
          <p:cNvSpPr/>
          <p:nvPr/>
        </p:nvSpPr>
        <p:spPr>
          <a:xfrm>
            <a:off x="6962775" y="5496497"/>
            <a:ext cx="590550" cy="2667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098859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Arc Consistency – AC-3 Algorithm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sz="3000" dirty="0"/>
                  <a:t>The AC-3 can be implemented using a queue, named here as </a:t>
                </a:r>
                <a:r>
                  <a:rPr lang="en-US" sz="2800" dirty="0" err="1"/>
                  <a:t>Arc_</a:t>
                </a:r>
                <a:r>
                  <a:rPr lang="en-US" sz="2800" b="1" dirty="0" err="1">
                    <a:solidFill>
                      <a:schemeClr val="dk1"/>
                    </a:solidFill>
                  </a:rPr>
                  <a:t>Queue</a:t>
                </a:r>
                <a:r>
                  <a:rPr lang="en-US" sz="3000" dirty="0"/>
                  <a:t>. </a:t>
                </a:r>
              </a:p>
              <a:p>
                <a:r>
                  <a:rPr lang="en-US" sz="3000" dirty="0"/>
                  <a:t>The </a:t>
                </a:r>
                <a:r>
                  <a:rPr lang="en-US" sz="3000" dirty="0">
                    <a:solidFill>
                      <a:srgbClr val="C00000"/>
                    </a:solidFill>
                  </a:rPr>
                  <a:t>front node </a:t>
                </a:r>
                <a:r>
                  <a:rPr lang="en-US" sz="3000" dirty="0"/>
                  <a:t>of the queue is represented by </a:t>
                </a:r>
                <a:r>
                  <a:rPr lang="en-US" sz="3000" dirty="0" err="1"/>
                  <a:t>Arc_</a:t>
                </a:r>
                <a:r>
                  <a:rPr lang="en-US" b="1" dirty="0" err="1">
                    <a:solidFill>
                      <a:schemeClr val="dk1"/>
                    </a:solidFill>
                  </a:rPr>
                  <a:t>Queue</a:t>
                </a:r>
                <a:r>
                  <a:rPr lang="en-US" dirty="0" err="1">
                    <a:solidFill>
                      <a:schemeClr val="dk1"/>
                    </a:solidFill>
                  </a:rPr>
                  <a:t>.</a:t>
                </a:r>
                <a:r>
                  <a:rPr lang="en-US" i="1" dirty="0" err="1">
                    <a:solidFill>
                      <a:schemeClr val="dk1"/>
                    </a:solidFill>
                  </a:rPr>
                  <a:t>Head</a:t>
                </a:r>
                <a:endParaRPr lang="en-US" sz="3000" dirty="0">
                  <a:solidFill>
                    <a:schemeClr val="accent6">
                      <a:lumMod val="75000"/>
                    </a:schemeClr>
                  </a:solidFill>
                </a:endParaRPr>
              </a:p>
              <a:p>
                <a:r>
                  <a:rPr lang="en-US" sz="3000" dirty="0"/>
                  <a:t>The algorithm repeatedly checks all arcs for consistency. </a:t>
                </a:r>
              </a:p>
              <a:p>
                <a:r>
                  <a:rPr lang="en-US" sz="3000" dirty="0"/>
                  <a:t>A function called </a:t>
                </a:r>
                <a:r>
                  <a:rPr lang="en-US" sz="3000" b="1" dirty="0"/>
                  <a:t>Remove-Inconsistent-Values</a:t>
                </a:r>
                <a:r>
                  <a:rPr lang="en-US" sz="3000" dirty="0"/>
                  <a:t> will remove values that prevent an arc from being consistent. </a:t>
                </a:r>
              </a:p>
              <a:p>
                <a:r>
                  <a:rPr lang="en-US" dirty="0">
                    <a:solidFill>
                      <a:schemeClr val="dk1"/>
                    </a:solidFill>
                  </a:rPr>
                  <a:t>Neighbors list of a variable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𝑖</m:t>
                        </m:r>
                      </m:sub>
                    </m:sSub>
                  </m:oMath>
                </a14:m>
                <a:r>
                  <a:rPr lang="en-US" dirty="0">
                    <a:solidFill>
                      <a:schemeClr val="dk1"/>
                    </a:solidFill>
                  </a:rPr>
                  <a:t> is the set of all variables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b="0" i="1" dirty="0" smtClean="0">
                            <a:latin typeface="Cambria Math" panose="02040503050406030204" pitchFamily="18" charset="0"/>
                          </a:rPr>
                          <m:t>𝑗</m:t>
                        </m:r>
                      </m:sub>
                    </m:sSub>
                  </m:oMath>
                </a14:m>
                <a:r>
                  <a:rPr lang="en-US" dirty="0">
                    <a:solidFill>
                      <a:schemeClr val="dk1"/>
                    </a:solidFill>
                  </a:rPr>
                  <a:t> such that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𝑖</m:t>
                        </m:r>
                      </m:sub>
                    </m:sSub>
                  </m:oMath>
                </a14:m>
                <a:r>
                  <a:rPr lang="en-US" dirty="0">
                    <a:solidFill>
                      <a:schemeClr val="dk1"/>
                    </a:solidFill>
                  </a:rPr>
                  <a:t> and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𝑗</m:t>
                        </m:r>
                      </m:sub>
                    </m:sSub>
                  </m:oMath>
                </a14:m>
                <a:r>
                  <a:rPr lang="en-US" dirty="0">
                    <a:solidFill>
                      <a:schemeClr val="dk1"/>
                    </a:solidFill>
                  </a:rPr>
                  <a:t> </a:t>
                </a:r>
                <a:r>
                  <a:rPr lang="en-US" dirty="0"/>
                  <a:t>share a common constraint. </a:t>
                </a:r>
              </a:p>
              <a:p>
                <a:r>
                  <a:rPr lang="en-US" sz="3000" dirty="0"/>
                  <a:t>The inputs to the algorithm are: </a:t>
                </a:r>
              </a:p>
              <a:p>
                <a:pPr lvl="1"/>
                <a:r>
                  <a:rPr lang="en-US" sz="2600" dirty="0"/>
                  <a:t>The </a:t>
                </a:r>
                <a:r>
                  <a:rPr lang="en-US" sz="2800" dirty="0"/>
                  <a:t>Constraint graph, </a:t>
                </a:r>
                <a:r>
                  <a:rPr lang="en-US" sz="2800" dirty="0" err="1"/>
                  <a:t>C_Graph</a:t>
                </a:r>
                <a:r>
                  <a:rPr lang="en-US" sz="2800" dirty="0"/>
                  <a:t>,</a:t>
                </a:r>
                <a:r>
                  <a:rPr lang="en-US" sz="2600" dirty="0"/>
                  <a:t> and the Domains set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474" t="-2791" r="-1789" b="-243"/>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8F17045F-059F-4043-B89F-6FE64FEF94ED}"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60</a:t>
            </a:fld>
            <a:endParaRPr lang="en-US" dirty="0"/>
          </a:p>
        </p:txBody>
      </p:sp>
    </p:spTree>
    <p:extLst>
      <p:ext uri="{BB962C8B-B14F-4D97-AF65-F5344CB8AC3E}">
        <p14:creationId xmlns:p14="http://schemas.microsoft.com/office/powerpoint/2010/main" val="34878930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Arc Consistency – AC-3 algorithm</a:t>
            </a:r>
          </a:p>
        </p:txBody>
      </p:sp>
      <p:sp>
        <p:nvSpPr>
          <p:cNvPr id="4" name="Date Placeholder 3"/>
          <p:cNvSpPr>
            <a:spLocks noGrp="1"/>
          </p:cNvSpPr>
          <p:nvPr>
            <p:ph type="dt" sz="half" idx="10"/>
          </p:nvPr>
        </p:nvSpPr>
        <p:spPr/>
        <p:txBody>
          <a:bodyPr/>
          <a:lstStyle/>
          <a:p>
            <a:fld id="{C2EBCB3B-0D71-481E-A68B-9B57A6B53C51}"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61</a:t>
            </a:fld>
            <a:endParaRPr lang="en-US" dirty="0"/>
          </a:p>
        </p:txBody>
      </p:sp>
      <mc:AlternateContent xmlns:mc="http://schemas.openxmlformats.org/markup-compatibility/2006" xmlns:a14="http://schemas.microsoft.com/office/drawing/2010/main">
        <mc:Choice Requires="a14">
          <p:graphicFrame>
            <p:nvGraphicFramePr>
              <p:cNvPr id="7" name="Table 7">
                <a:extLst>
                  <a:ext uri="{FF2B5EF4-FFF2-40B4-BE49-F238E27FC236}">
                    <a16:creationId xmlns:a16="http://schemas.microsoft.com/office/drawing/2014/main" id="{D09E134C-B1FA-41F7-8FBE-33FE8A40DD25}"/>
                  </a:ext>
                </a:extLst>
              </p:cNvPr>
              <p:cNvGraphicFramePr>
                <a:graphicFrameLocks/>
              </p:cNvGraphicFramePr>
              <p:nvPr>
                <p:extLst>
                  <p:ext uri="{D42A27DB-BD31-4B8C-83A1-F6EECF244321}">
                    <p14:modId xmlns:p14="http://schemas.microsoft.com/office/powerpoint/2010/main" val="641266917"/>
                  </p:ext>
                </p:extLst>
              </p:nvPr>
            </p:nvGraphicFramePr>
            <p:xfrm>
              <a:off x="304799" y="1228153"/>
              <a:ext cx="6175513" cy="4328863"/>
            </p:xfrm>
            <a:graphic>
              <a:graphicData uri="http://schemas.openxmlformats.org/drawingml/2006/table">
                <a:tbl>
                  <a:tblPr firstRow="1" bandRow="1">
                    <a:tableStyleId>{6E25E649-3F16-4E02-A733-19D2CDBF48F0}</a:tableStyleId>
                  </a:tblPr>
                  <a:tblGrid>
                    <a:gridCol w="6175513">
                      <a:extLst>
                        <a:ext uri="{9D8B030D-6E8A-4147-A177-3AD203B41FA5}">
                          <a16:colId xmlns:a16="http://schemas.microsoft.com/office/drawing/2014/main" val="1078770622"/>
                        </a:ext>
                      </a:extLst>
                    </a:gridCol>
                  </a:tblGrid>
                  <a:tr h="482022">
                    <a:tc>
                      <a:txBody>
                        <a:bodyPr/>
                        <a:lstStyle/>
                        <a:p>
                          <a:r>
                            <a:rPr lang="en-US" sz="1900" b="1" kern="1200" dirty="0">
                              <a:solidFill>
                                <a:schemeClr val="lt1"/>
                              </a:solidFill>
                              <a:effectLst/>
                            </a:rPr>
                            <a:t>Algorithm: AC-3 (Input: </a:t>
                          </a:r>
                          <a:r>
                            <a:rPr lang="en-US" sz="1900" b="1" kern="1200" dirty="0" err="1">
                              <a:solidFill>
                                <a:schemeClr val="lt1"/>
                              </a:solidFill>
                              <a:effectLst/>
                            </a:rPr>
                            <a:t>C_Graph</a:t>
                          </a:r>
                          <a:r>
                            <a:rPr lang="en-US" sz="1900" b="1" kern="1200" dirty="0">
                              <a:solidFill>
                                <a:schemeClr val="lt1"/>
                              </a:solidFill>
                              <a:effectLst/>
                            </a:rPr>
                            <a:t>, Domain)</a:t>
                          </a:r>
                          <a:endParaRPr lang="en-US" sz="1900" dirty="0"/>
                        </a:p>
                      </a:txBody>
                      <a:tcPr/>
                    </a:tc>
                    <a:extLst>
                      <a:ext uri="{0D108BD9-81ED-4DB2-BD59-A6C34878D82A}">
                        <a16:rowId xmlns:a16="http://schemas.microsoft.com/office/drawing/2014/main" val="3786916785"/>
                      </a:ext>
                    </a:extLst>
                  </a:tr>
                  <a:tr h="462741">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1:  </a:t>
                          </a:r>
                          <a:r>
                            <a:rPr lang="en-US" sz="1800" b="1" i="0" u="none" strike="noStrike" kern="1200" baseline="0" dirty="0">
                              <a:solidFill>
                                <a:schemeClr val="dk1"/>
                              </a:solidFill>
                              <a:latin typeface="+mn-lt"/>
                              <a:ea typeface="+mn-ea"/>
                              <a:cs typeface="+mn-cs"/>
                            </a:rPr>
                            <a:t>append</a:t>
                          </a:r>
                          <a:r>
                            <a:rPr lang="en-US" sz="1800" b="0" i="0" u="none" strike="noStrike" kern="1200" baseline="0" dirty="0">
                              <a:solidFill>
                                <a:schemeClr val="dk1"/>
                              </a:solidFill>
                              <a:latin typeface="+mn-lt"/>
                              <a:ea typeface="+mn-ea"/>
                              <a:cs typeface="+mn-cs"/>
                            </a:rPr>
                            <a:t> all arcs in </a:t>
                          </a:r>
                          <a:r>
                            <a:rPr lang="en-US" sz="1800" b="1" i="0" u="none" strike="noStrike" kern="1200" baseline="0" dirty="0" err="1">
                              <a:solidFill>
                                <a:schemeClr val="dk1"/>
                              </a:solidFill>
                              <a:latin typeface="+mn-lt"/>
                              <a:ea typeface="+mn-ea"/>
                              <a:cs typeface="+mn-cs"/>
                            </a:rPr>
                            <a:t>C_Graph</a:t>
                          </a:r>
                          <a:r>
                            <a:rPr lang="en-US" sz="1800" b="0" i="0" u="none" strike="noStrike" kern="1200" baseline="0" dirty="0">
                              <a:solidFill>
                                <a:schemeClr val="dk1"/>
                              </a:solidFill>
                              <a:latin typeface="+mn-lt"/>
                              <a:ea typeface="+mn-ea"/>
                              <a:cs typeface="+mn-cs"/>
                            </a:rPr>
                            <a:t> to </a:t>
                          </a:r>
                          <a:r>
                            <a:rPr lang="en-US" sz="1800" dirty="0" err="1"/>
                            <a:t>Arc_</a:t>
                          </a:r>
                          <a:r>
                            <a:rPr lang="en-US" sz="1800" b="1" i="0" u="none" strike="noStrike" kern="1200" baseline="0" dirty="0" err="1">
                              <a:solidFill>
                                <a:schemeClr val="dk1"/>
                              </a:solidFill>
                              <a:latin typeface="+mn-lt"/>
                              <a:ea typeface="+mn-ea"/>
                              <a:cs typeface="+mn-cs"/>
                            </a:rPr>
                            <a:t>Queue</a:t>
                          </a:r>
                          <a:endParaRPr lang="en-US" sz="1800" b="1" dirty="0"/>
                        </a:p>
                      </a:txBody>
                      <a:tcPr/>
                    </a:tc>
                    <a:extLst>
                      <a:ext uri="{0D108BD9-81ED-4DB2-BD59-A6C34878D82A}">
                        <a16:rowId xmlns:a16="http://schemas.microsoft.com/office/drawing/2014/main" val="3208792192"/>
                      </a:ext>
                    </a:extLst>
                  </a:tr>
                  <a:tr h="473768">
                    <a:tc>
                      <a:txBody>
                        <a:bodyPr/>
                        <a:lstStyle/>
                        <a:p>
                          <a:r>
                            <a:rPr lang="en-US" sz="1800" kern="1200" dirty="0">
                              <a:solidFill>
                                <a:schemeClr val="dk1"/>
                              </a:solidFill>
                              <a:effectLst/>
                            </a:rPr>
                            <a:t>2:  </a:t>
                          </a:r>
                          <a:r>
                            <a:rPr lang="en-US" sz="1800" b="1" i="0" u="none" strike="noStrike" kern="1200" baseline="0" dirty="0">
                              <a:solidFill>
                                <a:schemeClr val="tx1"/>
                              </a:solidFill>
                              <a:latin typeface="+mn-lt"/>
                              <a:ea typeface="+mn-ea"/>
                              <a:cs typeface="+mn-cs"/>
                            </a:rPr>
                            <a:t>while</a:t>
                          </a:r>
                          <a:r>
                            <a:rPr lang="en-US" sz="1800" b="0" i="0" u="none" strike="noStrike" kern="1200" baseline="0" dirty="0">
                              <a:solidFill>
                                <a:schemeClr val="tx1"/>
                              </a:solidFill>
                              <a:latin typeface="+mn-lt"/>
                              <a:ea typeface="+mn-ea"/>
                              <a:cs typeface="+mn-cs"/>
                            </a:rPr>
                            <a:t> </a:t>
                          </a:r>
                          <a:r>
                            <a:rPr lang="en-US" sz="1800" dirty="0" err="1"/>
                            <a:t>Arc_</a:t>
                          </a:r>
                          <a:r>
                            <a:rPr lang="en-US" sz="1800" b="1" i="0" u="none" strike="noStrike" kern="1200" baseline="0" dirty="0" err="1">
                              <a:solidFill>
                                <a:schemeClr val="dk1"/>
                              </a:solidFill>
                              <a:latin typeface="+mn-lt"/>
                              <a:ea typeface="+mn-ea"/>
                              <a:cs typeface="+mn-cs"/>
                            </a:rPr>
                            <a:t>Queue</a:t>
                          </a:r>
                          <a:r>
                            <a:rPr lang="en-US" sz="1800" b="0" i="0" u="none" strike="noStrike" kern="1200" baseline="0" dirty="0">
                              <a:solidFill>
                                <a:schemeClr val="tx1"/>
                              </a:solidFill>
                              <a:latin typeface="+mn-lt"/>
                              <a:ea typeface="+mn-ea"/>
                              <a:cs typeface="+mn-cs"/>
                            </a:rPr>
                            <a:t> is not empty </a:t>
                          </a:r>
                          <a:r>
                            <a:rPr lang="en-US" sz="1800" b="1" i="0" u="none" strike="noStrike" kern="1200" baseline="0" dirty="0">
                              <a:solidFill>
                                <a:schemeClr val="tx1"/>
                              </a:solidFill>
                              <a:latin typeface="+mn-lt"/>
                              <a:ea typeface="+mn-ea"/>
                              <a:cs typeface="+mn-cs"/>
                            </a:rPr>
                            <a:t>do</a:t>
                          </a:r>
                          <a:endParaRPr lang="en-US" sz="1800" b="0" dirty="0">
                            <a:solidFill>
                              <a:schemeClr val="accent6"/>
                            </a:solidFill>
                          </a:endParaRPr>
                        </a:p>
                      </a:txBody>
                      <a:tcPr/>
                    </a:tc>
                    <a:extLst>
                      <a:ext uri="{0D108BD9-81ED-4DB2-BD59-A6C34878D82A}">
                        <a16:rowId xmlns:a16="http://schemas.microsoft.com/office/drawing/2014/main" val="1194598669"/>
                      </a:ext>
                    </a:extLst>
                  </a:tr>
                  <a:tr h="490699">
                    <a:tc>
                      <a:txBody>
                        <a:bodyPr/>
                        <a:lstStyle/>
                        <a:p>
                          <a:r>
                            <a:rPr lang="en-US" sz="1800" kern="1200" dirty="0">
                              <a:solidFill>
                                <a:schemeClr val="dk1"/>
                              </a:solidFill>
                              <a:effectLst/>
                            </a:rPr>
                            <a:t>3:        </a:t>
                          </a:r>
                          <a:r>
                            <a:rPr lang="en-US" sz="1800" b="0" i="0" u="none" strike="noStrike" kern="1200" baseline="0" dirty="0">
                              <a:solidFill>
                                <a:schemeClr val="tx1"/>
                              </a:solidFill>
                              <a:latin typeface="+mn-lt"/>
                              <a:ea typeface="+mn-ea"/>
                              <a:cs typeface="+mn-cs"/>
                            </a:rPr>
                            <a:t>arc </a:t>
                          </a:r>
                          <a14:m>
                            <m:oMath xmlns:m="http://schemas.openxmlformats.org/officeDocument/2006/math">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𝑖</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𝑗</m:t>
                                  </m:r>
                                </m:sub>
                              </m:sSub>
                              <m:r>
                                <a:rPr lang="en-US" i="1" dirty="0" smtClean="0">
                                  <a:latin typeface="Cambria Math" panose="02040503050406030204" pitchFamily="18" charset="0"/>
                                </a:rPr>
                                <m:t>) </m:t>
                              </m:r>
                            </m:oMath>
                          </a14:m>
                          <a:r>
                            <a:rPr lang="en-US" sz="1800" b="0" i="0" u="none" strike="noStrike" kern="1200" baseline="0" dirty="0">
                              <a:solidFill>
                                <a:schemeClr val="tx1"/>
                              </a:solidFill>
                              <a:latin typeface="+mn-lt"/>
                              <a:ea typeface="+mn-ea"/>
                              <a:cs typeface="+mn-cs"/>
                            </a:rPr>
                            <a:t> = </a:t>
                          </a:r>
                          <a:r>
                            <a:rPr lang="en-US" sz="1800" dirty="0" err="1"/>
                            <a:t>Arc_</a:t>
                          </a:r>
                          <a:r>
                            <a:rPr lang="en-US" sz="1800" b="1" i="0" u="none" strike="noStrike" kern="1200" baseline="0" dirty="0" err="1">
                              <a:solidFill>
                                <a:schemeClr val="tx1"/>
                              </a:solidFill>
                              <a:latin typeface="+mn-lt"/>
                              <a:ea typeface="+mn-ea"/>
                              <a:cs typeface="+mn-cs"/>
                            </a:rPr>
                            <a:t>Queue</a:t>
                          </a:r>
                          <a:r>
                            <a:rPr lang="en-US" sz="1800" b="0" i="0" u="none" strike="noStrike" kern="1200" baseline="0" dirty="0" err="1">
                              <a:solidFill>
                                <a:schemeClr val="tx1"/>
                              </a:solidFill>
                              <a:latin typeface="+mn-lt"/>
                              <a:ea typeface="+mn-ea"/>
                              <a:cs typeface="+mn-cs"/>
                            </a:rPr>
                            <a:t>.Head</a:t>
                          </a:r>
                          <a:r>
                            <a:rPr lang="en-US" sz="1800" b="0" i="0" u="none" strike="noStrike" kern="1200" baseline="0" dirty="0">
                              <a:solidFill>
                                <a:schemeClr val="tx1"/>
                              </a:solidFill>
                              <a:latin typeface="+mn-lt"/>
                              <a:ea typeface="+mn-ea"/>
                              <a:cs typeface="+mn-cs"/>
                            </a:rPr>
                            <a:t>; </a:t>
                          </a:r>
                          <a:r>
                            <a:rPr lang="en-US" sz="1800" kern="1200" dirty="0">
                              <a:solidFill>
                                <a:schemeClr val="dk1"/>
                              </a:solidFill>
                              <a:effectLst/>
                            </a:rPr>
                            <a:t>delete </a:t>
                          </a:r>
                          <a:r>
                            <a:rPr lang="en-US" sz="1800" dirty="0" err="1"/>
                            <a:t>Arc_</a:t>
                          </a:r>
                          <a:r>
                            <a:rPr lang="en-US" sz="1800" b="1" kern="1200" dirty="0" err="1">
                              <a:solidFill>
                                <a:schemeClr val="dk1"/>
                              </a:solidFill>
                              <a:effectLst/>
                            </a:rPr>
                            <a:t>Queue</a:t>
                          </a:r>
                          <a:r>
                            <a:rPr lang="en-US" sz="1800" kern="1200" dirty="0" err="1">
                              <a:solidFill>
                                <a:schemeClr val="dk1"/>
                              </a:solidFill>
                              <a:effectLst/>
                            </a:rPr>
                            <a:t>.</a:t>
                          </a:r>
                          <a:r>
                            <a:rPr lang="en-US" sz="1800" i="1" kern="1200" dirty="0" err="1">
                              <a:solidFill>
                                <a:schemeClr val="dk1"/>
                              </a:solidFill>
                              <a:effectLst/>
                            </a:rPr>
                            <a:t>Head</a:t>
                          </a:r>
                          <a:endParaRPr lang="en-US" sz="1800" b="1" dirty="0"/>
                        </a:p>
                      </a:txBody>
                      <a:tcPr/>
                    </a:tc>
                    <a:extLst>
                      <a:ext uri="{0D108BD9-81ED-4DB2-BD59-A6C34878D82A}">
                        <a16:rowId xmlns:a16="http://schemas.microsoft.com/office/drawing/2014/main" val="2483839918"/>
                      </a:ext>
                    </a:extLst>
                  </a:tr>
                  <a:tr h="490699">
                    <a:tc>
                      <a:txBody>
                        <a:bodyPr/>
                        <a:lstStyle/>
                        <a:p>
                          <a:r>
                            <a:rPr lang="en-US" sz="1800" kern="1200" dirty="0">
                              <a:solidFill>
                                <a:schemeClr val="dk1"/>
                              </a:solidFill>
                              <a:effectLst/>
                            </a:rPr>
                            <a:t>4:        </a:t>
                          </a:r>
                          <a:r>
                            <a:rPr lang="en-US" sz="1800" b="1" kern="1200" dirty="0">
                              <a:solidFill>
                                <a:schemeClr val="dk1"/>
                              </a:solidFill>
                              <a:effectLst/>
                            </a:rPr>
                            <a:t>if</a:t>
                          </a:r>
                          <a:r>
                            <a:rPr lang="en-US" sz="1800" kern="1200" dirty="0">
                              <a:solidFill>
                                <a:schemeClr val="dk1"/>
                              </a:solidFill>
                              <a:effectLst/>
                            </a:rPr>
                            <a:t> </a:t>
                          </a:r>
                          <a:r>
                            <a:rPr lang="en-US" sz="1800" b="1" kern="1200" dirty="0">
                              <a:solidFill>
                                <a:srgbClr val="C00000"/>
                              </a:solidFill>
                              <a:effectLst/>
                            </a:rPr>
                            <a:t>Remove-Inconsistent-Values</a:t>
                          </a:r>
                          <a14:m>
                            <m:oMath xmlns:m="http://schemas.openxmlformats.org/officeDocument/2006/math">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𝑖</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𝑗</m:t>
                                  </m:r>
                                </m:sub>
                              </m:sSub>
                              <m:r>
                                <a:rPr lang="en-US" i="1" dirty="0" smtClean="0">
                                  <a:latin typeface="Cambria Math" panose="02040503050406030204" pitchFamily="18" charset="0"/>
                                </a:rPr>
                                <m:t>)</m:t>
                              </m:r>
                            </m:oMath>
                          </a14:m>
                          <a:r>
                            <a:rPr lang="en-US" sz="1800" kern="1200" dirty="0">
                              <a:solidFill>
                                <a:schemeClr val="dk1"/>
                              </a:solidFill>
                              <a:effectLst/>
                            </a:rPr>
                            <a:t> is </a:t>
                          </a:r>
                          <a:r>
                            <a:rPr lang="en-US" sz="1800" b="1" kern="1200" dirty="0">
                              <a:solidFill>
                                <a:schemeClr val="dk1"/>
                              </a:solidFill>
                              <a:effectLst/>
                            </a:rPr>
                            <a:t>true</a:t>
                          </a:r>
                          <a:r>
                            <a:rPr lang="en-US" sz="1800" kern="1200" dirty="0">
                              <a:solidFill>
                                <a:schemeClr val="dk1"/>
                              </a:solidFill>
                              <a:effectLst/>
                            </a:rPr>
                            <a:t> </a:t>
                          </a:r>
                          <a:r>
                            <a:rPr lang="en-US" sz="1800" b="1" kern="1200" dirty="0">
                              <a:solidFill>
                                <a:schemeClr val="dk1"/>
                              </a:solidFill>
                              <a:effectLst/>
                            </a:rPr>
                            <a:t>then</a:t>
                          </a:r>
                          <a:endParaRPr lang="en-US" sz="1800" b="1" i="1" dirty="0"/>
                        </a:p>
                      </a:txBody>
                      <a:tcPr/>
                    </a:tc>
                    <a:extLst>
                      <a:ext uri="{0D108BD9-81ED-4DB2-BD59-A6C34878D82A}">
                        <a16:rowId xmlns:a16="http://schemas.microsoft.com/office/drawing/2014/main" val="3955823526"/>
                      </a:ext>
                    </a:extLst>
                  </a:tr>
                  <a:tr h="490699">
                    <a:tc>
                      <a:txBody>
                        <a:bodyPr/>
                        <a:lstStyle/>
                        <a:p>
                          <a:r>
                            <a:rPr lang="en-US" sz="1800" kern="1200" dirty="0">
                              <a:solidFill>
                                <a:schemeClr val="dk1"/>
                              </a:solidFill>
                              <a:effectLst/>
                            </a:rPr>
                            <a:t>5:            if size of Di = 0 then </a:t>
                          </a:r>
                          <a:r>
                            <a:rPr lang="en-US" sz="1800" b="1" kern="1200" dirty="0">
                              <a:solidFill>
                                <a:schemeClr val="dk1"/>
                              </a:solidFill>
                              <a:effectLst/>
                              <a:latin typeface="+mn-lt"/>
                              <a:ea typeface="+mn-ea"/>
                              <a:cs typeface="+mn-cs"/>
                            </a:rPr>
                            <a:t>return false</a:t>
                          </a:r>
                        </a:p>
                      </a:txBody>
                      <a:tcPr/>
                    </a:tc>
                    <a:extLst>
                      <a:ext uri="{0D108BD9-81ED-4DB2-BD59-A6C34878D82A}">
                        <a16:rowId xmlns:a16="http://schemas.microsoft.com/office/drawing/2014/main" val="2351797345"/>
                      </a:ext>
                    </a:extLst>
                  </a:tr>
                  <a:tr h="490699">
                    <a:tc>
                      <a:txBody>
                        <a:bodyPr/>
                        <a:lstStyle/>
                        <a:p>
                          <a:r>
                            <a:rPr lang="en-US" sz="1800" kern="1200" dirty="0">
                              <a:solidFill>
                                <a:schemeClr val="dk1"/>
                              </a:solidFill>
                              <a:effectLst/>
                            </a:rPr>
                            <a:t>6:            </a:t>
                          </a:r>
                          <a:r>
                            <a:rPr lang="en-US" sz="1800" b="1" i="0" u="none" strike="noStrike" kern="1200" baseline="0" dirty="0">
                              <a:solidFill>
                                <a:schemeClr val="dk1"/>
                              </a:solidFill>
                              <a:latin typeface="+mn-lt"/>
                              <a:ea typeface="+mn-ea"/>
                              <a:cs typeface="+mn-cs"/>
                            </a:rPr>
                            <a:t>for</a:t>
                          </a:r>
                          <a:r>
                            <a:rPr lang="en-US" sz="1800" b="0" i="0" u="none" strike="noStrike" kern="1200" baseline="0" dirty="0">
                              <a:solidFill>
                                <a:schemeClr val="dk1"/>
                              </a:solidFill>
                              <a:latin typeface="+mn-lt"/>
                              <a:ea typeface="+mn-ea"/>
                              <a:cs typeface="+mn-cs"/>
                            </a:rPr>
                            <a:t> each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𝑘</m:t>
                                  </m:r>
                                </m:sub>
                              </m:sSub>
                            </m:oMath>
                          </a14:m>
                          <a:r>
                            <a:rPr lang="en-US" sz="1800" b="0" i="0" u="none" strike="noStrike" kern="1200" baseline="0" dirty="0">
                              <a:solidFill>
                                <a:schemeClr val="dk1"/>
                              </a:solidFill>
                              <a:latin typeface="+mn-lt"/>
                              <a:ea typeface="+mn-ea"/>
                              <a:cs typeface="+mn-cs"/>
                            </a:rPr>
                            <a:t> in Neighbors(</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𝑖</m:t>
                                  </m:r>
                                </m:sub>
                              </m:sSub>
                            </m:oMath>
                          </a14:m>
                          <a:r>
                            <a:rPr lang="en-US" sz="1800" b="0" i="0" u="none" strike="noStrike" kern="1200" baseline="0" dirty="0">
                              <a:solidFill>
                                <a:schemeClr val="dk1"/>
                              </a:solidFill>
                              <a:latin typeface="+mn-lt"/>
                              <a:ea typeface="+mn-ea"/>
                              <a:cs typeface="+mn-cs"/>
                            </a:rPr>
                            <a:t>)-{</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𝑗</m:t>
                                  </m:r>
                                </m:sub>
                              </m:sSub>
                            </m:oMath>
                          </a14:m>
                          <a:r>
                            <a:rPr lang="en-US" sz="1800" b="0" i="0" u="none" strike="noStrike" kern="1200" baseline="0" dirty="0">
                              <a:solidFill>
                                <a:schemeClr val="dk1"/>
                              </a:solidFill>
                              <a:latin typeface="+mn-lt"/>
                              <a:ea typeface="+mn-ea"/>
                              <a:cs typeface="+mn-cs"/>
                            </a:rPr>
                            <a:t>} </a:t>
                          </a:r>
                          <a:r>
                            <a:rPr lang="en-US" sz="1800" b="1" i="0" u="none" strike="noStrike" kern="1200" baseline="0" dirty="0">
                              <a:solidFill>
                                <a:schemeClr val="dk1"/>
                              </a:solidFill>
                              <a:latin typeface="+mn-lt"/>
                              <a:ea typeface="+mn-ea"/>
                              <a:cs typeface="+mn-cs"/>
                            </a:rPr>
                            <a:t>do</a:t>
                          </a:r>
                          <a:endParaRPr lang="en-US" sz="1800" b="1" dirty="0"/>
                        </a:p>
                      </a:txBody>
                      <a:tcPr/>
                    </a:tc>
                    <a:extLst>
                      <a:ext uri="{0D108BD9-81ED-4DB2-BD59-A6C34878D82A}">
                        <a16:rowId xmlns:a16="http://schemas.microsoft.com/office/drawing/2014/main" val="1145083490"/>
                      </a:ext>
                    </a:extLst>
                  </a:tr>
                  <a:tr h="473768">
                    <a:tc>
                      <a:txBody>
                        <a:bodyPr/>
                        <a:lstStyle/>
                        <a:p>
                          <a:pPr marL="1035050" indent="-1035050"/>
                          <a:r>
                            <a:rPr lang="en-US" sz="1800" kern="1200" dirty="0">
                              <a:solidFill>
                                <a:schemeClr val="dk1"/>
                              </a:solidFill>
                              <a:effectLst/>
                            </a:rPr>
                            <a:t>7:                 </a:t>
                          </a:r>
                          <a:r>
                            <a:rPr lang="en-US" sz="1800" b="1" i="0" u="none" strike="noStrike" kern="1200" baseline="0" dirty="0">
                              <a:solidFill>
                                <a:schemeClr val="dk1"/>
                              </a:solidFill>
                              <a:latin typeface="+mn-lt"/>
                              <a:ea typeface="+mn-ea"/>
                              <a:cs typeface="+mn-cs"/>
                            </a:rPr>
                            <a:t>append</a:t>
                          </a:r>
                          <a:r>
                            <a:rPr lang="en-US" sz="1800" b="0" i="0" u="none" strike="noStrike" kern="1200" baseline="0" dirty="0">
                              <a:solidFill>
                                <a:schemeClr val="dk1"/>
                              </a:solidFill>
                              <a:latin typeface="+mn-lt"/>
                              <a:ea typeface="+mn-ea"/>
                              <a:cs typeface="+mn-cs"/>
                            </a:rPr>
                            <a:t> </a:t>
                          </a:r>
                          <a14:m>
                            <m:oMath xmlns:m="http://schemas.openxmlformats.org/officeDocument/2006/math">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𝑘</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𝑖</m:t>
                                  </m:r>
                                </m:sub>
                              </m:sSub>
                              <m:r>
                                <a:rPr lang="en-US" i="1" dirty="0" smtClean="0">
                                  <a:latin typeface="Cambria Math" panose="02040503050406030204" pitchFamily="18" charset="0"/>
                                </a:rPr>
                                <m:t>)</m:t>
                              </m:r>
                            </m:oMath>
                          </a14:m>
                          <a:r>
                            <a:rPr lang="en-US" sz="1800" kern="1200" dirty="0">
                              <a:solidFill>
                                <a:schemeClr val="dk1"/>
                              </a:solidFill>
                              <a:effectLst/>
                            </a:rPr>
                            <a:t> </a:t>
                          </a:r>
                          <a:r>
                            <a:rPr lang="en-US" sz="1800" b="0" i="0" u="none" strike="noStrike" kern="1200" baseline="0" dirty="0">
                              <a:solidFill>
                                <a:schemeClr val="dk1"/>
                              </a:solidFill>
                              <a:latin typeface="+mn-lt"/>
                              <a:ea typeface="+mn-ea"/>
                              <a:cs typeface="+mn-cs"/>
                            </a:rPr>
                            <a:t>to queue if not already in queue</a:t>
                          </a:r>
                          <a:endParaRPr lang="en-US" sz="1800" i="1" dirty="0">
                            <a:solidFill>
                              <a:schemeClr val="accent6"/>
                            </a:solidFill>
                          </a:endParaRPr>
                        </a:p>
                      </a:txBody>
                      <a:tcPr/>
                    </a:tc>
                    <a:extLst>
                      <a:ext uri="{0D108BD9-81ED-4DB2-BD59-A6C34878D82A}">
                        <a16:rowId xmlns:a16="http://schemas.microsoft.com/office/drawing/2014/main" val="4292651953"/>
                      </a:ext>
                    </a:extLst>
                  </a:tr>
                  <a:tr h="473768">
                    <a:tc>
                      <a:txBody>
                        <a:bodyPr/>
                        <a:lstStyle/>
                        <a:p>
                          <a:pPr marL="1035050" indent="-1035050"/>
                          <a:r>
                            <a:rPr lang="en-US" sz="1800" i="1" dirty="0">
                              <a:solidFill>
                                <a:schemeClr val="tx1"/>
                              </a:solidFill>
                            </a:rPr>
                            <a:t>8: </a:t>
                          </a:r>
                          <a:r>
                            <a:rPr lang="en-US" sz="1800" b="1" kern="1200" dirty="0">
                              <a:solidFill>
                                <a:schemeClr val="dk1"/>
                              </a:solidFill>
                              <a:effectLst/>
                              <a:latin typeface="+mn-lt"/>
                              <a:ea typeface="+mn-ea"/>
                              <a:cs typeface="+mn-cs"/>
                            </a:rPr>
                            <a:t>return true</a:t>
                          </a:r>
                        </a:p>
                      </a:txBody>
                      <a:tcPr/>
                    </a:tc>
                    <a:extLst>
                      <a:ext uri="{0D108BD9-81ED-4DB2-BD59-A6C34878D82A}">
                        <a16:rowId xmlns:a16="http://schemas.microsoft.com/office/drawing/2014/main" val="2372628620"/>
                      </a:ext>
                    </a:extLst>
                  </a:tr>
                </a:tbl>
              </a:graphicData>
            </a:graphic>
          </p:graphicFrame>
        </mc:Choice>
        <mc:Fallback xmlns="">
          <p:graphicFrame>
            <p:nvGraphicFramePr>
              <p:cNvPr id="7" name="Table 7">
                <a:extLst>
                  <a:ext uri="{FF2B5EF4-FFF2-40B4-BE49-F238E27FC236}">
                    <a16:creationId xmlns:a16="http://schemas.microsoft.com/office/drawing/2014/main" id="{D09E134C-B1FA-41F7-8FBE-33FE8A40DD25}"/>
                  </a:ext>
                </a:extLst>
              </p:cNvPr>
              <p:cNvGraphicFramePr>
                <a:graphicFrameLocks/>
              </p:cNvGraphicFramePr>
              <p:nvPr>
                <p:extLst>
                  <p:ext uri="{D42A27DB-BD31-4B8C-83A1-F6EECF244321}">
                    <p14:modId xmlns:p14="http://schemas.microsoft.com/office/powerpoint/2010/main" val="641266917"/>
                  </p:ext>
                </p:extLst>
              </p:nvPr>
            </p:nvGraphicFramePr>
            <p:xfrm>
              <a:off x="304799" y="1228153"/>
              <a:ext cx="6175513" cy="4328863"/>
            </p:xfrm>
            <a:graphic>
              <a:graphicData uri="http://schemas.openxmlformats.org/drawingml/2006/table">
                <a:tbl>
                  <a:tblPr firstRow="1" bandRow="1">
                    <a:tableStyleId>{6E25E649-3F16-4E02-A733-19D2CDBF48F0}</a:tableStyleId>
                  </a:tblPr>
                  <a:tblGrid>
                    <a:gridCol w="6175513">
                      <a:extLst>
                        <a:ext uri="{9D8B030D-6E8A-4147-A177-3AD203B41FA5}">
                          <a16:colId xmlns:a16="http://schemas.microsoft.com/office/drawing/2014/main" val="1078770622"/>
                        </a:ext>
                      </a:extLst>
                    </a:gridCol>
                  </a:tblGrid>
                  <a:tr h="482022">
                    <a:tc>
                      <a:txBody>
                        <a:bodyPr/>
                        <a:lstStyle/>
                        <a:p>
                          <a:r>
                            <a:rPr lang="en-US" sz="1900" b="1" kern="1200" dirty="0">
                              <a:solidFill>
                                <a:schemeClr val="lt1"/>
                              </a:solidFill>
                              <a:effectLst/>
                            </a:rPr>
                            <a:t>Algorithm: AC-3 (Input: </a:t>
                          </a:r>
                          <a:r>
                            <a:rPr lang="en-US" sz="1900" b="1" kern="1200" dirty="0" err="1">
                              <a:solidFill>
                                <a:schemeClr val="lt1"/>
                              </a:solidFill>
                              <a:effectLst/>
                            </a:rPr>
                            <a:t>C_Graph</a:t>
                          </a:r>
                          <a:r>
                            <a:rPr lang="en-US" sz="1900" b="1" kern="1200" dirty="0">
                              <a:solidFill>
                                <a:schemeClr val="lt1"/>
                              </a:solidFill>
                              <a:effectLst/>
                            </a:rPr>
                            <a:t>, Domain)</a:t>
                          </a:r>
                          <a:endParaRPr lang="en-US" sz="1900" dirty="0"/>
                        </a:p>
                      </a:txBody>
                      <a:tcPr/>
                    </a:tc>
                    <a:extLst>
                      <a:ext uri="{0D108BD9-81ED-4DB2-BD59-A6C34878D82A}">
                        <a16:rowId xmlns:a16="http://schemas.microsoft.com/office/drawing/2014/main" val="3786916785"/>
                      </a:ext>
                    </a:extLst>
                  </a:tr>
                  <a:tr h="462741">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1:  </a:t>
                          </a:r>
                          <a:r>
                            <a:rPr lang="en-US" sz="1800" b="1" i="0" u="none" strike="noStrike" kern="1200" baseline="0" dirty="0">
                              <a:solidFill>
                                <a:schemeClr val="dk1"/>
                              </a:solidFill>
                              <a:latin typeface="+mn-lt"/>
                              <a:ea typeface="+mn-ea"/>
                              <a:cs typeface="+mn-cs"/>
                            </a:rPr>
                            <a:t>append</a:t>
                          </a:r>
                          <a:r>
                            <a:rPr lang="en-US" sz="1800" b="0" i="0" u="none" strike="noStrike" kern="1200" baseline="0" dirty="0">
                              <a:solidFill>
                                <a:schemeClr val="dk1"/>
                              </a:solidFill>
                              <a:latin typeface="+mn-lt"/>
                              <a:ea typeface="+mn-ea"/>
                              <a:cs typeface="+mn-cs"/>
                            </a:rPr>
                            <a:t> all arcs in </a:t>
                          </a:r>
                          <a:r>
                            <a:rPr lang="en-US" sz="1800" b="1" i="0" u="none" strike="noStrike" kern="1200" baseline="0" dirty="0" err="1">
                              <a:solidFill>
                                <a:schemeClr val="dk1"/>
                              </a:solidFill>
                              <a:latin typeface="+mn-lt"/>
                              <a:ea typeface="+mn-ea"/>
                              <a:cs typeface="+mn-cs"/>
                            </a:rPr>
                            <a:t>C_Graph</a:t>
                          </a:r>
                          <a:r>
                            <a:rPr lang="en-US" sz="1800" b="0" i="0" u="none" strike="noStrike" kern="1200" baseline="0" dirty="0">
                              <a:solidFill>
                                <a:schemeClr val="dk1"/>
                              </a:solidFill>
                              <a:latin typeface="+mn-lt"/>
                              <a:ea typeface="+mn-ea"/>
                              <a:cs typeface="+mn-cs"/>
                            </a:rPr>
                            <a:t> to </a:t>
                          </a:r>
                          <a:r>
                            <a:rPr lang="en-US" sz="1800" dirty="0" err="1"/>
                            <a:t>Arc_</a:t>
                          </a:r>
                          <a:r>
                            <a:rPr lang="en-US" sz="1800" b="1" i="0" u="none" strike="noStrike" kern="1200" baseline="0" dirty="0" err="1">
                              <a:solidFill>
                                <a:schemeClr val="dk1"/>
                              </a:solidFill>
                              <a:latin typeface="+mn-lt"/>
                              <a:ea typeface="+mn-ea"/>
                              <a:cs typeface="+mn-cs"/>
                            </a:rPr>
                            <a:t>Queue</a:t>
                          </a:r>
                          <a:endParaRPr lang="en-US" sz="1800" b="1" dirty="0"/>
                        </a:p>
                      </a:txBody>
                      <a:tcPr/>
                    </a:tc>
                    <a:extLst>
                      <a:ext uri="{0D108BD9-81ED-4DB2-BD59-A6C34878D82A}">
                        <a16:rowId xmlns:a16="http://schemas.microsoft.com/office/drawing/2014/main" val="3208792192"/>
                      </a:ext>
                    </a:extLst>
                  </a:tr>
                  <a:tr h="473768">
                    <a:tc>
                      <a:txBody>
                        <a:bodyPr/>
                        <a:lstStyle/>
                        <a:p>
                          <a:r>
                            <a:rPr lang="en-US" sz="1800" kern="1200" dirty="0">
                              <a:solidFill>
                                <a:schemeClr val="dk1"/>
                              </a:solidFill>
                              <a:effectLst/>
                            </a:rPr>
                            <a:t>2:  </a:t>
                          </a:r>
                          <a:r>
                            <a:rPr lang="en-US" sz="1800" b="1" i="0" u="none" strike="noStrike" kern="1200" baseline="0" dirty="0">
                              <a:solidFill>
                                <a:schemeClr val="tx1"/>
                              </a:solidFill>
                              <a:latin typeface="+mn-lt"/>
                              <a:ea typeface="+mn-ea"/>
                              <a:cs typeface="+mn-cs"/>
                            </a:rPr>
                            <a:t>while</a:t>
                          </a:r>
                          <a:r>
                            <a:rPr lang="en-US" sz="1800" b="0" i="0" u="none" strike="noStrike" kern="1200" baseline="0" dirty="0">
                              <a:solidFill>
                                <a:schemeClr val="tx1"/>
                              </a:solidFill>
                              <a:latin typeface="+mn-lt"/>
                              <a:ea typeface="+mn-ea"/>
                              <a:cs typeface="+mn-cs"/>
                            </a:rPr>
                            <a:t> </a:t>
                          </a:r>
                          <a:r>
                            <a:rPr lang="en-US" sz="1800" dirty="0" err="1"/>
                            <a:t>Arc_</a:t>
                          </a:r>
                          <a:r>
                            <a:rPr lang="en-US" sz="1800" b="1" i="0" u="none" strike="noStrike" kern="1200" baseline="0" dirty="0" err="1">
                              <a:solidFill>
                                <a:schemeClr val="dk1"/>
                              </a:solidFill>
                              <a:latin typeface="+mn-lt"/>
                              <a:ea typeface="+mn-ea"/>
                              <a:cs typeface="+mn-cs"/>
                            </a:rPr>
                            <a:t>Queue</a:t>
                          </a:r>
                          <a:r>
                            <a:rPr lang="en-US" sz="1800" b="0" i="0" u="none" strike="noStrike" kern="1200" baseline="0" dirty="0">
                              <a:solidFill>
                                <a:schemeClr val="tx1"/>
                              </a:solidFill>
                              <a:latin typeface="+mn-lt"/>
                              <a:ea typeface="+mn-ea"/>
                              <a:cs typeface="+mn-cs"/>
                            </a:rPr>
                            <a:t> is not empty </a:t>
                          </a:r>
                          <a:r>
                            <a:rPr lang="en-US" sz="1800" b="1" i="0" u="none" strike="noStrike" kern="1200" baseline="0" dirty="0">
                              <a:solidFill>
                                <a:schemeClr val="tx1"/>
                              </a:solidFill>
                              <a:latin typeface="+mn-lt"/>
                              <a:ea typeface="+mn-ea"/>
                              <a:cs typeface="+mn-cs"/>
                            </a:rPr>
                            <a:t>do</a:t>
                          </a:r>
                          <a:endParaRPr lang="en-US" sz="1800" b="0" dirty="0">
                            <a:solidFill>
                              <a:schemeClr val="accent6"/>
                            </a:solidFill>
                          </a:endParaRPr>
                        </a:p>
                      </a:txBody>
                      <a:tcPr/>
                    </a:tc>
                    <a:extLst>
                      <a:ext uri="{0D108BD9-81ED-4DB2-BD59-A6C34878D82A}">
                        <a16:rowId xmlns:a16="http://schemas.microsoft.com/office/drawing/2014/main" val="1194598669"/>
                      </a:ext>
                    </a:extLst>
                  </a:tr>
                  <a:tr h="490699">
                    <a:tc>
                      <a:txBody>
                        <a:bodyPr/>
                        <a:lstStyle/>
                        <a:p>
                          <a:endParaRPr lang="en-US"/>
                        </a:p>
                      </a:txBody>
                      <a:tcPr>
                        <a:blipFill>
                          <a:blip r:embed="rId3"/>
                          <a:stretch>
                            <a:fillRect l="99" t="-293827" r="-197" b="-492593"/>
                          </a:stretch>
                        </a:blipFill>
                      </a:tcPr>
                    </a:tc>
                    <a:extLst>
                      <a:ext uri="{0D108BD9-81ED-4DB2-BD59-A6C34878D82A}">
                        <a16:rowId xmlns:a16="http://schemas.microsoft.com/office/drawing/2014/main" val="2483839918"/>
                      </a:ext>
                    </a:extLst>
                  </a:tr>
                  <a:tr h="490699">
                    <a:tc>
                      <a:txBody>
                        <a:bodyPr/>
                        <a:lstStyle/>
                        <a:p>
                          <a:endParaRPr lang="en-US"/>
                        </a:p>
                      </a:txBody>
                      <a:tcPr>
                        <a:blipFill>
                          <a:blip r:embed="rId3"/>
                          <a:stretch>
                            <a:fillRect l="99" t="-398750" r="-197" b="-398750"/>
                          </a:stretch>
                        </a:blipFill>
                      </a:tcPr>
                    </a:tc>
                    <a:extLst>
                      <a:ext uri="{0D108BD9-81ED-4DB2-BD59-A6C34878D82A}">
                        <a16:rowId xmlns:a16="http://schemas.microsoft.com/office/drawing/2014/main" val="3955823526"/>
                      </a:ext>
                    </a:extLst>
                  </a:tr>
                  <a:tr h="490699">
                    <a:tc>
                      <a:txBody>
                        <a:bodyPr/>
                        <a:lstStyle/>
                        <a:p>
                          <a:r>
                            <a:rPr lang="en-US" sz="1800" kern="1200" dirty="0">
                              <a:solidFill>
                                <a:schemeClr val="dk1"/>
                              </a:solidFill>
                              <a:effectLst/>
                            </a:rPr>
                            <a:t>5:            if size of Di = 0 then </a:t>
                          </a:r>
                          <a:r>
                            <a:rPr lang="en-US" sz="1800" b="1" kern="1200" dirty="0">
                              <a:solidFill>
                                <a:schemeClr val="dk1"/>
                              </a:solidFill>
                              <a:effectLst/>
                              <a:latin typeface="+mn-lt"/>
                              <a:ea typeface="+mn-ea"/>
                              <a:cs typeface="+mn-cs"/>
                            </a:rPr>
                            <a:t>return false</a:t>
                          </a:r>
                        </a:p>
                      </a:txBody>
                      <a:tcPr/>
                    </a:tc>
                    <a:extLst>
                      <a:ext uri="{0D108BD9-81ED-4DB2-BD59-A6C34878D82A}">
                        <a16:rowId xmlns:a16="http://schemas.microsoft.com/office/drawing/2014/main" val="2351797345"/>
                      </a:ext>
                    </a:extLst>
                  </a:tr>
                  <a:tr h="490699">
                    <a:tc>
                      <a:txBody>
                        <a:bodyPr/>
                        <a:lstStyle/>
                        <a:p>
                          <a:endParaRPr lang="en-US"/>
                        </a:p>
                      </a:txBody>
                      <a:tcPr>
                        <a:blipFill>
                          <a:blip r:embed="rId3"/>
                          <a:stretch>
                            <a:fillRect l="99" t="-600000" r="-197" b="-197500"/>
                          </a:stretch>
                        </a:blipFill>
                      </a:tcPr>
                    </a:tc>
                    <a:extLst>
                      <a:ext uri="{0D108BD9-81ED-4DB2-BD59-A6C34878D82A}">
                        <a16:rowId xmlns:a16="http://schemas.microsoft.com/office/drawing/2014/main" val="1145083490"/>
                      </a:ext>
                    </a:extLst>
                  </a:tr>
                  <a:tr h="473768">
                    <a:tc>
                      <a:txBody>
                        <a:bodyPr/>
                        <a:lstStyle/>
                        <a:p>
                          <a:endParaRPr lang="en-US"/>
                        </a:p>
                      </a:txBody>
                      <a:tcPr>
                        <a:blipFill>
                          <a:blip r:embed="rId3"/>
                          <a:stretch>
                            <a:fillRect l="99" t="-717949" r="-197" b="-102564"/>
                          </a:stretch>
                        </a:blipFill>
                      </a:tcPr>
                    </a:tc>
                    <a:extLst>
                      <a:ext uri="{0D108BD9-81ED-4DB2-BD59-A6C34878D82A}">
                        <a16:rowId xmlns:a16="http://schemas.microsoft.com/office/drawing/2014/main" val="4292651953"/>
                      </a:ext>
                    </a:extLst>
                  </a:tr>
                  <a:tr h="473768">
                    <a:tc>
                      <a:txBody>
                        <a:bodyPr/>
                        <a:lstStyle/>
                        <a:p>
                          <a:pPr marL="1035050" indent="-1035050"/>
                          <a:r>
                            <a:rPr lang="en-US" sz="1800" i="1" dirty="0">
                              <a:solidFill>
                                <a:schemeClr val="tx1"/>
                              </a:solidFill>
                            </a:rPr>
                            <a:t>8: </a:t>
                          </a:r>
                          <a:r>
                            <a:rPr lang="en-US" sz="1800" b="1" kern="1200" dirty="0">
                              <a:solidFill>
                                <a:schemeClr val="dk1"/>
                              </a:solidFill>
                              <a:effectLst/>
                              <a:latin typeface="+mn-lt"/>
                              <a:ea typeface="+mn-ea"/>
                              <a:cs typeface="+mn-cs"/>
                            </a:rPr>
                            <a:t>return true</a:t>
                          </a:r>
                        </a:p>
                      </a:txBody>
                      <a:tcPr/>
                    </a:tc>
                    <a:extLst>
                      <a:ext uri="{0D108BD9-81ED-4DB2-BD59-A6C34878D82A}">
                        <a16:rowId xmlns:a16="http://schemas.microsoft.com/office/drawing/2014/main" val="237262862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D09E134C-B1FA-41F7-8FBE-33FE8A40DD25}"/>
                  </a:ext>
                </a:extLst>
              </p:cNvPr>
              <p:cNvGraphicFramePr>
                <a:graphicFrameLocks/>
              </p:cNvGraphicFramePr>
              <p:nvPr>
                <p:extLst>
                  <p:ext uri="{D42A27DB-BD31-4B8C-83A1-F6EECF244321}">
                    <p14:modId xmlns:p14="http://schemas.microsoft.com/office/powerpoint/2010/main" val="968487363"/>
                  </p:ext>
                </p:extLst>
              </p:nvPr>
            </p:nvGraphicFramePr>
            <p:xfrm>
              <a:off x="6660460" y="1228153"/>
              <a:ext cx="4996069" cy="3364396"/>
            </p:xfrm>
            <a:graphic>
              <a:graphicData uri="http://schemas.openxmlformats.org/drawingml/2006/table">
                <a:tbl>
                  <a:tblPr firstRow="1" bandRow="1">
                    <a:tableStyleId>{6E25E649-3F16-4E02-A733-19D2CDBF48F0}</a:tableStyleId>
                  </a:tblPr>
                  <a:tblGrid>
                    <a:gridCol w="4996069">
                      <a:extLst>
                        <a:ext uri="{9D8B030D-6E8A-4147-A177-3AD203B41FA5}">
                          <a16:colId xmlns:a16="http://schemas.microsoft.com/office/drawing/2014/main" val="1078770622"/>
                        </a:ext>
                      </a:extLst>
                    </a:gridCol>
                  </a:tblGrid>
                  <a:tr h="476773">
                    <a:tc>
                      <a:txBody>
                        <a:bodyPr/>
                        <a:lstStyle/>
                        <a:p>
                          <a:r>
                            <a:rPr lang="en-US" sz="1900" b="1" kern="1200" dirty="0">
                              <a:solidFill>
                                <a:schemeClr val="lt1"/>
                              </a:solidFill>
                              <a:effectLst/>
                            </a:rPr>
                            <a:t>function: Remove-Inconsistent-Values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𝑋</m:t>
                                  </m:r>
                                </m:e>
                                <m:sub>
                                  <m:r>
                                    <a:rPr lang="en-US" sz="2000" b="0" i="1" dirty="0" smtClean="0">
                                      <a:latin typeface="Cambria Math" panose="02040503050406030204" pitchFamily="18" charset="0"/>
                                    </a:rPr>
                                    <m:t>𝑖</m:t>
                                  </m:r>
                                </m:sub>
                              </m:sSub>
                              <m:r>
                                <a:rPr lang="en-US" sz="2000" i="1" dirty="0" smtClean="0">
                                  <a:latin typeface="Cambria Math" panose="02040503050406030204" pitchFamily="18" charset="0"/>
                                </a:rPr>
                                <m:t>, </m:t>
                              </m:r>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𝑋</m:t>
                                  </m:r>
                                </m:e>
                                <m:sub>
                                  <m:r>
                                    <a:rPr lang="en-US" sz="2000" b="0" i="1" dirty="0" smtClean="0">
                                      <a:latin typeface="Cambria Math" panose="02040503050406030204" pitchFamily="18" charset="0"/>
                                    </a:rPr>
                                    <m:t>𝑗</m:t>
                                  </m:r>
                                </m:sub>
                              </m:sSub>
                              <m:r>
                                <a:rPr lang="en-US" sz="2000" i="1" dirty="0" smtClean="0">
                                  <a:latin typeface="Cambria Math" panose="02040503050406030204" pitchFamily="18" charset="0"/>
                                </a:rPr>
                                <m:t>)</m:t>
                              </m:r>
                            </m:oMath>
                          </a14:m>
                          <a:r>
                            <a:rPr lang="en-US" sz="2000" kern="1200" dirty="0">
                              <a:solidFill>
                                <a:schemeClr val="dk1"/>
                              </a:solidFill>
                              <a:effectLst/>
                            </a:rPr>
                            <a:t> </a:t>
                          </a:r>
                          <a:endParaRPr lang="en-US" sz="1900" dirty="0"/>
                        </a:p>
                      </a:txBody>
                      <a:tcPr/>
                    </a:tc>
                    <a:extLst>
                      <a:ext uri="{0D108BD9-81ED-4DB2-BD59-A6C34878D82A}">
                        <a16:rowId xmlns:a16="http://schemas.microsoft.com/office/drawing/2014/main" val="3786916785"/>
                      </a:ext>
                    </a:extLst>
                  </a:tr>
                  <a:tr h="414522">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1:  </a:t>
                          </a:r>
                          <a:r>
                            <a:rPr lang="en-US" sz="1800" b="0" i="0" u="none" strike="noStrike" kern="1200" baseline="0" dirty="0">
                              <a:solidFill>
                                <a:schemeClr val="dk1"/>
                              </a:solidFill>
                              <a:latin typeface="+mn-lt"/>
                              <a:ea typeface="+mn-ea"/>
                              <a:cs typeface="+mn-cs"/>
                            </a:rPr>
                            <a:t>removed</a:t>
                          </a:r>
                          <a:r>
                            <a:rPr lang="en-US" sz="1800" b="1" i="0" u="none" strike="noStrike" kern="1200" baseline="0" dirty="0">
                              <a:solidFill>
                                <a:schemeClr val="dk1"/>
                              </a:solidFill>
                              <a:latin typeface="+mn-lt"/>
                              <a:ea typeface="+mn-ea"/>
                              <a:cs typeface="+mn-cs"/>
                            </a:rPr>
                            <a:t> = false</a:t>
                          </a:r>
                          <a:endParaRPr lang="en-US" sz="1800" b="1" dirty="0"/>
                        </a:p>
                      </a:txBody>
                      <a:tcPr/>
                    </a:tc>
                    <a:extLst>
                      <a:ext uri="{0D108BD9-81ED-4DB2-BD59-A6C34878D82A}">
                        <a16:rowId xmlns:a16="http://schemas.microsoft.com/office/drawing/2014/main" val="3208792192"/>
                      </a:ext>
                    </a:extLst>
                  </a:tr>
                  <a:tr h="424400">
                    <a:tc>
                      <a:txBody>
                        <a:bodyPr/>
                        <a:lstStyle/>
                        <a:p>
                          <a:r>
                            <a:rPr lang="en-US" sz="1800" kern="1200" dirty="0">
                              <a:solidFill>
                                <a:schemeClr val="dk1"/>
                              </a:solidFill>
                              <a:effectLst/>
                            </a:rPr>
                            <a:t>2:  </a:t>
                          </a:r>
                          <a:r>
                            <a:rPr lang="en-US" sz="1800" b="1" i="0" u="none" strike="noStrike" kern="1200" baseline="0" dirty="0">
                              <a:solidFill>
                                <a:schemeClr val="tx1"/>
                              </a:solidFill>
                              <a:latin typeface="+mn-lt"/>
                              <a:ea typeface="+mn-ea"/>
                              <a:cs typeface="+mn-cs"/>
                            </a:rPr>
                            <a:t>for each </a:t>
                          </a:r>
                          <a:r>
                            <a:rPr lang="en-US" sz="1800" b="0" i="0" u="none" strike="noStrike" kern="1200" baseline="0" dirty="0">
                              <a:solidFill>
                                <a:schemeClr val="tx1"/>
                              </a:solidFill>
                              <a:latin typeface="+mn-lt"/>
                              <a:ea typeface="+mn-ea"/>
                              <a:cs typeface="+mn-cs"/>
                            </a:rPr>
                            <a:t>value</a:t>
                          </a:r>
                          <a:r>
                            <a:rPr lang="en-US" sz="1800" b="1" i="0" u="none" strike="noStrike" kern="1200" baseline="0" dirty="0">
                              <a:solidFill>
                                <a:schemeClr val="tx1"/>
                              </a:solidFill>
                              <a:latin typeface="+mn-lt"/>
                              <a:ea typeface="+mn-ea"/>
                              <a:cs typeface="+mn-cs"/>
                            </a:rPr>
                            <a:t> </a:t>
                          </a:r>
                          <a14:m>
                            <m:oMath xmlns:m="http://schemas.openxmlformats.org/officeDocument/2006/math">
                              <m:r>
                                <a:rPr lang="en-US" sz="1800" b="0" i="1" u="none" strike="noStrike" kern="1200" baseline="0" dirty="0" smtClean="0">
                                  <a:solidFill>
                                    <a:schemeClr val="tx1"/>
                                  </a:solidFill>
                                  <a:latin typeface="Cambria Math" panose="02040503050406030204" pitchFamily="18" charset="0"/>
                                  <a:ea typeface="+mn-ea"/>
                                  <a:cs typeface="+mn-cs"/>
                                </a:rPr>
                                <m:t>𝑥</m:t>
                              </m:r>
                            </m:oMath>
                          </a14:m>
                          <a:r>
                            <a:rPr lang="en-US" sz="1800" b="1" i="0" u="none" strike="noStrike" kern="1200" baseline="0" dirty="0">
                              <a:solidFill>
                                <a:schemeClr val="tx1"/>
                              </a:solidFill>
                              <a:latin typeface="+mn-lt"/>
                              <a:ea typeface="+mn-ea"/>
                              <a:cs typeface="+mn-cs"/>
                            </a:rPr>
                            <a:t> in Domain(</a:t>
                          </a:r>
                          <a14:m>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𝑋</m:t>
                                  </m:r>
                                </m:e>
                                <m:sub>
                                  <m:r>
                                    <a:rPr lang="en-US" sz="1800" b="0" i="1" dirty="0" smtClean="0">
                                      <a:latin typeface="Cambria Math" panose="02040503050406030204" pitchFamily="18" charset="0"/>
                                    </a:rPr>
                                    <m:t>𝑖</m:t>
                                  </m:r>
                                </m:sub>
                              </m:sSub>
                            </m:oMath>
                          </a14:m>
                          <a:r>
                            <a:rPr lang="en-US" sz="1800" b="1" i="0" u="none" strike="noStrike" kern="1200" baseline="0" dirty="0">
                              <a:solidFill>
                                <a:schemeClr val="tx1"/>
                              </a:solidFill>
                              <a:latin typeface="+mn-lt"/>
                              <a:ea typeface="+mn-ea"/>
                              <a:cs typeface="+mn-cs"/>
                            </a:rPr>
                            <a:t>) do</a:t>
                          </a:r>
                          <a:endParaRPr lang="en-US" sz="1800" b="0" dirty="0">
                            <a:solidFill>
                              <a:schemeClr val="accent6"/>
                            </a:solidFill>
                          </a:endParaRPr>
                        </a:p>
                      </a:txBody>
                      <a:tcPr/>
                    </a:tc>
                    <a:extLst>
                      <a:ext uri="{0D108BD9-81ED-4DB2-BD59-A6C34878D82A}">
                        <a16:rowId xmlns:a16="http://schemas.microsoft.com/office/drawing/2014/main" val="1194598669"/>
                      </a:ext>
                    </a:extLst>
                  </a:tr>
                  <a:tr h="775501">
                    <a:tc>
                      <a:txBody>
                        <a:bodyPr/>
                        <a:lstStyle/>
                        <a:p>
                          <a:r>
                            <a:rPr lang="en-US" sz="1800" kern="1200" dirty="0">
                              <a:solidFill>
                                <a:schemeClr val="dk1"/>
                              </a:solidFill>
                              <a:effectLst/>
                            </a:rPr>
                            <a:t>3:        </a:t>
                          </a:r>
                          <a:r>
                            <a:rPr lang="en-US" sz="1800" b="1" i="0" u="none" strike="noStrike" kern="1200" baseline="0" dirty="0">
                              <a:solidFill>
                                <a:schemeClr val="dk1"/>
                              </a:solidFill>
                              <a:latin typeface="+mn-lt"/>
                              <a:ea typeface="+mn-ea"/>
                              <a:cs typeface="+mn-cs"/>
                            </a:rPr>
                            <a:t>if </a:t>
                          </a:r>
                          <a:r>
                            <a:rPr lang="en-US" sz="1800" b="0" i="0" u="none" strike="noStrike" kern="1200" baseline="0" dirty="0">
                              <a:solidFill>
                                <a:schemeClr val="dk1"/>
                              </a:solidFill>
                              <a:latin typeface="+mn-lt"/>
                              <a:ea typeface="+mn-ea"/>
                              <a:cs typeface="+mn-cs"/>
                            </a:rPr>
                            <a:t>no value </a:t>
                          </a:r>
                          <a14:m>
                            <m:oMath xmlns:m="http://schemas.openxmlformats.org/officeDocument/2006/math">
                              <m:r>
                                <a:rPr lang="en-US" sz="1800" b="0" i="1" u="none" strike="noStrike" kern="1200" baseline="0" dirty="0" smtClean="0">
                                  <a:solidFill>
                                    <a:schemeClr val="dk1"/>
                                  </a:solidFill>
                                  <a:latin typeface="Cambria Math" panose="02040503050406030204" pitchFamily="18" charset="0"/>
                                  <a:ea typeface="+mn-ea"/>
                                  <a:cs typeface="+mn-cs"/>
                                </a:rPr>
                                <m:t>𝑦</m:t>
                              </m:r>
                            </m:oMath>
                          </a14:m>
                          <a:r>
                            <a:rPr lang="en-US" sz="1800" b="0" i="0" u="none" strike="noStrike" kern="1200" baseline="0" dirty="0">
                              <a:solidFill>
                                <a:schemeClr val="dk1"/>
                              </a:solidFill>
                              <a:latin typeface="+mn-lt"/>
                              <a:ea typeface="+mn-ea"/>
                              <a:cs typeface="+mn-cs"/>
                            </a:rPr>
                            <a:t> in </a:t>
                          </a:r>
                          <a:r>
                            <a:rPr lang="en-US" sz="1800" b="1" i="0" u="none" strike="noStrike" kern="1200" baseline="0" dirty="0">
                              <a:solidFill>
                                <a:schemeClr val="dk1"/>
                              </a:solidFill>
                              <a:latin typeface="+mn-lt"/>
                              <a:ea typeface="+mn-ea"/>
                              <a:cs typeface="+mn-cs"/>
                            </a:rPr>
                            <a:t>Domain</a:t>
                          </a:r>
                          <a:r>
                            <a:rPr lang="en-US" sz="1800" b="0" i="0" u="none" strike="noStrike" kern="1200" baseline="0" dirty="0">
                              <a:solidFill>
                                <a:schemeClr val="dk1"/>
                              </a:solidFill>
                              <a:latin typeface="+mn-lt"/>
                              <a:ea typeface="+mn-ea"/>
                              <a:cs typeface="+mn-cs"/>
                            </a:rPr>
                            <a:t>(</a:t>
                          </a:r>
                          <a14:m>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𝑋</m:t>
                                  </m:r>
                                </m:e>
                                <m:sub>
                                  <m:r>
                                    <a:rPr lang="en-US" sz="1800" b="0" i="1" dirty="0" smtClean="0">
                                      <a:latin typeface="Cambria Math" panose="02040503050406030204" pitchFamily="18" charset="0"/>
                                    </a:rPr>
                                    <m:t>𝑗</m:t>
                                  </m:r>
                                </m:sub>
                              </m:sSub>
                            </m:oMath>
                          </a14:m>
                          <a:r>
                            <a:rPr lang="en-US" sz="1800" b="0" i="0" u="none" strike="noStrike" kern="1200" baseline="0" dirty="0">
                              <a:solidFill>
                                <a:schemeClr val="dk1"/>
                              </a:solidFill>
                              <a:latin typeface="+mn-lt"/>
                              <a:ea typeface="+mn-ea"/>
                              <a:cs typeface="+mn-cs"/>
                            </a:rPr>
                            <a:t>) allows (x, y) to satisfy the constraint </a:t>
                          </a:r>
                          <a14:m>
                            <m:oMath xmlns:m="http://schemas.openxmlformats.org/officeDocument/2006/math">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𝑖</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𝑗</m:t>
                                  </m:r>
                                </m:sub>
                              </m:sSub>
                              <m:r>
                                <a:rPr lang="en-US" i="1" dirty="0" smtClean="0">
                                  <a:latin typeface="Cambria Math" panose="02040503050406030204" pitchFamily="18" charset="0"/>
                                </a:rPr>
                                <m:t>)</m:t>
                              </m:r>
                            </m:oMath>
                          </a14:m>
                          <a:r>
                            <a:rPr lang="en-US" sz="1800" b="1" dirty="0">
                              <a:solidFill>
                                <a:schemeClr val="tx1"/>
                              </a:solidFill>
                            </a:rPr>
                            <a:t> then</a:t>
                          </a:r>
                        </a:p>
                      </a:txBody>
                      <a:tcPr/>
                    </a:tc>
                    <a:extLst>
                      <a:ext uri="{0D108BD9-81ED-4DB2-BD59-A6C34878D82A}">
                        <a16:rowId xmlns:a16="http://schemas.microsoft.com/office/drawing/2014/main" val="2483839918"/>
                      </a:ext>
                    </a:extLst>
                  </a:tr>
                  <a:tr h="424400">
                    <a:tc>
                      <a:txBody>
                        <a:bodyPr/>
                        <a:lstStyle/>
                        <a:p>
                          <a:r>
                            <a:rPr lang="en-US" sz="1800" kern="1200" dirty="0">
                              <a:solidFill>
                                <a:schemeClr val="dk1"/>
                              </a:solidFill>
                              <a:effectLst/>
                            </a:rPr>
                            <a:t>4:              </a:t>
                          </a:r>
                          <a:r>
                            <a:rPr lang="en-US" sz="1800" b="0" i="0" u="none" strike="noStrike" kern="1200" baseline="0" dirty="0">
                              <a:solidFill>
                                <a:schemeClr val="dk1"/>
                              </a:solidFill>
                              <a:latin typeface="+mn-lt"/>
                              <a:ea typeface="+mn-ea"/>
                              <a:cs typeface="+mn-cs"/>
                            </a:rPr>
                            <a:t>delete </a:t>
                          </a:r>
                          <a14:m>
                            <m:oMath xmlns:m="http://schemas.openxmlformats.org/officeDocument/2006/math">
                              <m:r>
                                <a:rPr lang="en-US" sz="1800" b="0" i="1" u="none" strike="noStrike" kern="1200" baseline="0" dirty="0" smtClean="0">
                                  <a:solidFill>
                                    <a:schemeClr val="dk1"/>
                                  </a:solidFill>
                                  <a:latin typeface="Cambria Math" panose="02040503050406030204" pitchFamily="18" charset="0"/>
                                  <a:ea typeface="+mn-ea"/>
                                  <a:cs typeface="+mn-cs"/>
                                </a:rPr>
                                <m:t>𝑥</m:t>
                              </m:r>
                            </m:oMath>
                          </a14:m>
                          <a:r>
                            <a:rPr lang="en-US" sz="1800" b="0" i="0" u="none" strike="noStrike" kern="1200" baseline="0" dirty="0">
                              <a:solidFill>
                                <a:schemeClr val="dk1"/>
                              </a:solidFill>
                              <a:latin typeface="+mn-lt"/>
                              <a:ea typeface="+mn-ea"/>
                              <a:cs typeface="+mn-cs"/>
                            </a:rPr>
                            <a:t> from </a:t>
                          </a:r>
                          <a:r>
                            <a:rPr lang="en-US" sz="1800" b="1" i="0" u="none" strike="noStrike" kern="1200" baseline="0" dirty="0">
                              <a:solidFill>
                                <a:schemeClr val="dk1"/>
                              </a:solidFill>
                              <a:latin typeface="+mn-lt"/>
                              <a:ea typeface="+mn-ea"/>
                              <a:cs typeface="+mn-cs"/>
                            </a:rPr>
                            <a:t>Domain</a:t>
                          </a:r>
                          <a:r>
                            <a:rPr lang="en-US" sz="1800" b="0" i="0" u="none" strike="noStrike" kern="1200" baseline="0" dirty="0">
                              <a:solidFill>
                                <a:schemeClr val="dk1"/>
                              </a:solidFill>
                              <a:latin typeface="+mn-lt"/>
                              <a:ea typeface="+mn-ea"/>
                              <a:cs typeface="+mn-cs"/>
                            </a:rPr>
                            <a:t>(</a:t>
                          </a:r>
                          <a14:m>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𝑋</m:t>
                                  </m:r>
                                </m:e>
                                <m:sub>
                                  <m:r>
                                    <a:rPr lang="en-US" sz="1800" b="0" i="1" dirty="0" smtClean="0">
                                      <a:latin typeface="Cambria Math" panose="02040503050406030204" pitchFamily="18" charset="0"/>
                                    </a:rPr>
                                    <m:t>𝑖</m:t>
                                  </m:r>
                                </m:sub>
                              </m:sSub>
                            </m:oMath>
                          </a14:m>
                          <a:r>
                            <a:rPr lang="en-US" sz="1800" b="0" i="0" u="none" strike="noStrike" kern="1200" baseline="0" dirty="0">
                              <a:solidFill>
                                <a:schemeClr val="dk1"/>
                              </a:solidFill>
                              <a:latin typeface="+mn-lt"/>
                              <a:ea typeface="+mn-ea"/>
                              <a:cs typeface="+mn-cs"/>
                            </a:rPr>
                            <a:t>)</a:t>
                          </a:r>
                          <a:endParaRPr lang="en-US" sz="1800" i="1" dirty="0"/>
                        </a:p>
                      </a:txBody>
                      <a:tcPr/>
                    </a:tc>
                    <a:extLst>
                      <a:ext uri="{0D108BD9-81ED-4DB2-BD59-A6C34878D82A}">
                        <a16:rowId xmlns:a16="http://schemas.microsoft.com/office/drawing/2014/main" val="3955823526"/>
                      </a:ext>
                    </a:extLst>
                  </a:tr>
                  <a:tr h="424400">
                    <a:tc>
                      <a:txBody>
                        <a:bodyPr/>
                        <a:lstStyle/>
                        <a:p>
                          <a:r>
                            <a:rPr lang="en-US" sz="1800" kern="1200" dirty="0">
                              <a:solidFill>
                                <a:schemeClr val="dk1"/>
                              </a:solidFill>
                              <a:effectLst/>
                            </a:rPr>
                            <a:t>5:        </a:t>
                          </a:r>
                          <a:r>
                            <a:rPr lang="en-US" sz="1800" b="0" i="0" u="none" strike="noStrike" kern="1200" baseline="0" dirty="0">
                              <a:solidFill>
                                <a:schemeClr val="dk1"/>
                              </a:solidFill>
                              <a:latin typeface="+mn-lt"/>
                              <a:ea typeface="+mn-ea"/>
                              <a:cs typeface="+mn-cs"/>
                            </a:rPr>
                            <a:t>      removed</a:t>
                          </a:r>
                          <a:r>
                            <a:rPr lang="en-US" sz="1800" b="1" i="0" u="none" strike="noStrike" kern="1200" baseline="0" dirty="0">
                              <a:solidFill>
                                <a:schemeClr val="dk1"/>
                              </a:solidFill>
                              <a:latin typeface="+mn-lt"/>
                              <a:ea typeface="+mn-ea"/>
                              <a:cs typeface="+mn-cs"/>
                            </a:rPr>
                            <a:t> = true</a:t>
                          </a:r>
                          <a:endParaRPr lang="en-US" sz="1800" b="1" dirty="0"/>
                        </a:p>
                      </a:txBody>
                      <a:tcPr/>
                    </a:tc>
                    <a:extLst>
                      <a:ext uri="{0D108BD9-81ED-4DB2-BD59-A6C34878D82A}">
                        <a16:rowId xmlns:a16="http://schemas.microsoft.com/office/drawing/2014/main" val="1145083490"/>
                      </a:ext>
                    </a:extLst>
                  </a:tr>
                  <a:tr h="424400">
                    <a:tc>
                      <a:txBody>
                        <a:bodyPr/>
                        <a:lstStyle/>
                        <a:p>
                          <a:pPr marL="1035050" indent="-1035050"/>
                          <a:r>
                            <a:rPr lang="en-US" sz="1800" kern="1200" dirty="0">
                              <a:solidFill>
                                <a:schemeClr val="dk1"/>
                              </a:solidFill>
                              <a:effectLst/>
                            </a:rPr>
                            <a:t>6:    </a:t>
                          </a:r>
                          <a:r>
                            <a:rPr lang="en-US" sz="1800" b="1" i="0" u="none" strike="noStrike" kern="1200" baseline="0" dirty="0">
                              <a:solidFill>
                                <a:schemeClr val="dk1"/>
                              </a:solidFill>
                              <a:latin typeface="+mn-lt"/>
                              <a:ea typeface="+mn-ea"/>
                              <a:cs typeface="+mn-cs"/>
                            </a:rPr>
                            <a:t>return </a:t>
                          </a:r>
                          <a:r>
                            <a:rPr lang="en-US" sz="1800" b="0" i="0" u="none" strike="noStrike" kern="1200" baseline="0" dirty="0">
                              <a:solidFill>
                                <a:schemeClr val="dk1"/>
                              </a:solidFill>
                              <a:latin typeface="+mn-lt"/>
                              <a:ea typeface="+mn-ea"/>
                              <a:cs typeface="+mn-cs"/>
                            </a:rPr>
                            <a:t>removed</a:t>
                          </a:r>
                          <a:endParaRPr lang="en-US" sz="1800" i="1" dirty="0">
                            <a:solidFill>
                              <a:schemeClr val="accent6"/>
                            </a:solidFill>
                          </a:endParaRPr>
                        </a:p>
                      </a:txBody>
                      <a:tcPr/>
                    </a:tc>
                    <a:extLst>
                      <a:ext uri="{0D108BD9-81ED-4DB2-BD59-A6C34878D82A}">
                        <a16:rowId xmlns:a16="http://schemas.microsoft.com/office/drawing/2014/main" val="4292651953"/>
                      </a:ext>
                    </a:extLst>
                  </a:tr>
                </a:tbl>
              </a:graphicData>
            </a:graphic>
          </p:graphicFrame>
        </mc:Choice>
        <mc:Fallback xmlns="">
          <p:graphicFrame>
            <p:nvGraphicFramePr>
              <p:cNvPr id="8" name="Table 7">
                <a:extLst>
                  <a:ext uri="{FF2B5EF4-FFF2-40B4-BE49-F238E27FC236}">
                    <a16:creationId xmlns:a16="http://schemas.microsoft.com/office/drawing/2014/main" id="{D09E134C-B1FA-41F7-8FBE-33FE8A40DD25}"/>
                  </a:ext>
                </a:extLst>
              </p:cNvPr>
              <p:cNvGraphicFramePr>
                <a:graphicFrameLocks/>
              </p:cNvGraphicFramePr>
              <p:nvPr>
                <p:extLst>
                  <p:ext uri="{D42A27DB-BD31-4B8C-83A1-F6EECF244321}">
                    <p14:modId xmlns:p14="http://schemas.microsoft.com/office/powerpoint/2010/main" val="968487363"/>
                  </p:ext>
                </p:extLst>
              </p:nvPr>
            </p:nvGraphicFramePr>
            <p:xfrm>
              <a:off x="6660460" y="1228153"/>
              <a:ext cx="4996069" cy="3364396"/>
            </p:xfrm>
            <a:graphic>
              <a:graphicData uri="http://schemas.openxmlformats.org/drawingml/2006/table">
                <a:tbl>
                  <a:tblPr firstRow="1" bandRow="1">
                    <a:tableStyleId>{6E25E649-3F16-4E02-A733-19D2CDBF48F0}</a:tableStyleId>
                  </a:tblPr>
                  <a:tblGrid>
                    <a:gridCol w="4996069">
                      <a:extLst>
                        <a:ext uri="{9D8B030D-6E8A-4147-A177-3AD203B41FA5}">
                          <a16:colId xmlns:a16="http://schemas.microsoft.com/office/drawing/2014/main" val="1078770622"/>
                        </a:ext>
                      </a:extLst>
                    </a:gridCol>
                  </a:tblGrid>
                  <a:tr h="476773">
                    <a:tc>
                      <a:txBody>
                        <a:bodyPr/>
                        <a:lstStyle/>
                        <a:p>
                          <a:endParaRPr lang="en-US"/>
                        </a:p>
                      </a:txBody>
                      <a:tcPr>
                        <a:blipFill>
                          <a:blip r:embed="rId4"/>
                          <a:stretch>
                            <a:fillRect t="-2564" r="-244" b="-616667"/>
                          </a:stretch>
                        </a:blipFill>
                      </a:tcPr>
                    </a:tc>
                    <a:extLst>
                      <a:ext uri="{0D108BD9-81ED-4DB2-BD59-A6C34878D82A}">
                        <a16:rowId xmlns:a16="http://schemas.microsoft.com/office/drawing/2014/main" val="3786916785"/>
                      </a:ext>
                    </a:extLst>
                  </a:tr>
                  <a:tr h="414522">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1:  </a:t>
                          </a:r>
                          <a:r>
                            <a:rPr lang="en-US" sz="1800" b="0" i="0" u="none" strike="noStrike" kern="1200" baseline="0" dirty="0">
                              <a:solidFill>
                                <a:schemeClr val="dk1"/>
                              </a:solidFill>
                              <a:latin typeface="+mn-lt"/>
                              <a:ea typeface="+mn-ea"/>
                              <a:cs typeface="+mn-cs"/>
                            </a:rPr>
                            <a:t>removed</a:t>
                          </a:r>
                          <a:r>
                            <a:rPr lang="en-US" sz="1800" b="1" i="0" u="none" strike="noStrike" kern="1200" baseline="0" dirty="0">
                              <a:solidFill>
                                <a:schemeClr val="dk1"/>
                              </a:solidFill>
                              <a:latin typeface="+mn-lt"/>
                              <a:ea typeface="+mn-ea"/>
                              <a:cs typeface="+mn-cs"/>
                            </a:rPr>
                            <a:t> = false</a:t>
                          </a:r>
                          <a:endParaRPr lang="en-US" sz="1800" b="1" dirty="0"/>
                        </a:p>
                      </a:txBody>
                      <a:tcPr/>
                    </a:tc>
                    <a:extLst>
                      <a:ext uri="{0D108BD9-81ED-4DB2-BD59-A6C34878D82A}">
                        <a16:rowId xmlns:a16="http://schemas.microsoft.com/office/drawing/2014/main" val="3208792192"/>
                      </a:ext>
                    </a:extLst>
                  </a:tr>
                  <a:tr h="424400">
                    <a:tc>
                      <a:txBody>
                        <a:bodyPr/>
                        <a:lstStyle/>
                        <a:p>
                          <a:endParaRPr lang="en-US"/>
                        </a:p>
                      </a:txBody>
                      <a:tcPr>
                        <a:blipFill>
                          <a:blip r:embed="rId4"/>
                          <a:stretch>
                            <a:fillRect t="-215942" r="-244" b="-497101"/>
                          </a:stretch>
                        </a:blipFill>
                      </a:tcPr>
                    </a:tc>
                    <a:extLst>
                      <a:ext uri="{0D108BD9-81ED-4DB2-BD59-A6C34878D82A}">
                        <a16:rowId xmlns:a16="http://schemas.microsoft.com/office/drawing/2014/main" val="1194598669"/>
                      </a:ext>
                    </a:extLst>
                  </a:tr>
                  <a:tr h="775501">
                    <a:tc>
                      <a:txBody>
                        <a:bodyPr/>
                        <a:lstStyle/>
                        <a:p>
                          <a:endParaRPr lang="en-US"/>
                        </a:p>
                      </a:txBody>
                      <a:tcPr>
                        <a:blipFill>
                          <a:blip r:embed="rId4"/>
                          <a:stretch>
                            <a:fillRect t="-170313" r="-244" b="-167969"/>
                          </a:stretch>
                        </a:blipFill>
                      </a:tcPr>
                    </a:tc>
                    <a:extLst>
                      <a:ext uri="{0D108BD9-81ED-4DB2-BD59-A6C34878D82A}">
                        <a16:rowId xmlns:a16="http://schemas.microsoft.com/office/drawing/2014/main" val="2483839918"/>
                      </a:ext>
                    </a:extLst>
                  </a:tr>
                  <a:tr h="424400">
                    <a:tc>
                      <a:txBody>
                        <a:bodyPr/>
                        <a:lstStyle/>
                        <a:p>
                          <a:endParaRPr lang="en-US"/>
                        </a:p>
                      </a:txBody>
                      <a:tcPr>
                        <a:blipFill>
                          <a:blip r:embed="rId4"/>
                          <a:stretch>
                            <a:fillRect t="-501449" r="-244" b="-211594"/>
                          </a:stretch>
                        </a:blipFill>
                      </a:tcPr>
                    </a:tc>
                    <a:extLst>
                      <a:ext uri="{0D108BD9-81ED-4DB2-BD59-A6C34878D82A}">
                        <a16:rowId xmlns:a16="http://schemas.microsoft.com/office/drawing/2014/main" val="3955823526"/>
                      </a:ext>
                    </a:extLst>
                  </a:tr>
                  <a:tr h="424400">
                    <a:tc>
                      <a:txBody>
                        <a:bodyPr/>
                        <a:lstStyle/>
                        <a:p>
                          <a:r>
                            <a:rPr lang="en-US" sz="1800" kern="1200" dirty="0">
                              <a:solidFill>
                                <a:schemeClr val="dk1"/>
                              </a:solidFill>
                              <a:effectLst/>
                            </a:rPr>
                            <a:t>5:        </a:t>
                          </a:r>
                          <a:r>
                            <a:rPr lang="en-US" sz="1800" b="0" i="0" u="none" strike="noStrike" kern="1200" baseline="0" dirty="0">
                              <a:solidFill>
                                <a:schemeClr val="dk1"/>
                              </a:solidFill>
                              <a:latin typeface="+mn-lt"/>
                              <a:ea typeface="+mn-ea"/>
                              <a:cs typeface="+mn-cs"/>
                            </a:rPr>
                            <a:t>      removed</a:t>
                          </a:r>
                          <a:r>
                            <a:rPr lang="en-US" sz="1800" b="1" i="0" u="none" strike="noStrike" kern="1200" baseline="0" dirty="0">
                              <a:solidFill>
                                <a:schemeClr val="dk1"/>
                              </a:solidFill>
                              <a:latin typeface="+mn-lt"/>
                              <a:ea typeface="+mn-ea"/>
                              <a:cs typeface="+mn-cs"/>
                            </a:rPr>
                            <a:t> = true</a:t>
                          </a:r>
                          <a:endParaRPr lang="en-US" sz="1800" b="1" dirty="0"/>
                        </a:p>
                      </a:txBody>
                      <a:tcPr/>
                    </a:tc>
                    <a:extLst>
                      <a:ext uri="{0D108BD9-81ED-4DB2-BD59-A6C34878D82A}">
                        <a16:rowId xmlns:a16="http://schemas.microsoft.com/office/drawing/2014/main" val="1145083490"/>
                      </a:ext>
                    </a:extLst>
                  </a:tr>
                  <a:tr h="424400">
                    <a:tc>
                      <a:txBody>
                        <a:bodyPr/>
                        <a:lstStyle/>
                        <a:p>
                          <a:pPr marL="1035050" indent="-1035050"/>
                          <a:r>
                            <a:rPr lang="en-US" sz="1800" kern="1200" dirty="0">
                              <a:solidFill>
                                <a:schemeClr val="dk1"/>
                              </a:solidFill>
                              <a:effectLst/>
                            </a:rPr>
                            <a:t>6:    </a:t>
                          </a:r>
                          <a:r>
                            <a:rPr lang="en-US" sz="1800" b="1" i="0" u="none" strike="noStrike" kern="1200" baseline="0" dirty="0">
                              <a:solidFill>
                                <a:schemeClr val="dk1"/>
                              </a:solidFill>
                              <a:latin typeface="+mn-lt"/>
                              <a:ea typeface="+mn-ea"/>
                              <a:cs typeface="+mn-cs"/>
                            </a:rPr>
                            <a:t>return </a:t>
                          </a:r>
                          <a:r>
                            <a:rPr lang="en-US" sz="1800" b="0" i="0" u="none" strike="noStrike" kern="1200" baseline="0" dirty="0">
                              <a:solidFill>
                                <a:schemeClr val="dk1"/>
                              </a:solidFill>
                              <a:latin typeface="+mn-lt"/>
                              <a:ea typeface="+mn-ea"/>
                              <a:cs typeface="+mn-cs"/>
                            </a:rPr>
                            <a:t>removed</a:t>
                          </a:r>
                          <a:endParaRPr lang="en-US" sz="1800" i="1" dirty="0">
                            <a:solidFill>
                              <a:schemeClr val="accent6"/>
                            </a:solidFill>
                          </a:endParaRPr>
                        </a:p>
                      </a:txBody>
                      <a:tcPr/>
                    </a:tc>
                    <a:extLst>
                      <a:ext uri="{0D108BD9-81ED-4DB2-BD59-A6C34878D82A}">
                        <a16:rowId xmlns:a16="http://schemas.microsoft.com/office/drawing/2014/main" val="4292651953"/>
                      </a:ext>
                    </a:extLst>
                  </a:tr>
                </a:tbl>
              </a:graphicData>
            </a:graphic>
          </p:graphicFrame>
        </mc:Fallback>
      </mc:AlternateContent>
    </p:spTree>
    <p:extLst>
      <p:ext uri="{BB962C8B-B14F-4D97-AF65-F5344CB8AC3E}">
        <p14:creationId xmlns:p14="http://schemas.microsoft.com/office/powerpoint/2010/main" val="7760399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A1537-3E53-4B30-BF89-1C308C151D72}"/>
              </a:ext>
            </a:extLst>
          </p:cNvPr>
          <p:cNvSpPr>
            <a:spLocks noGrp="1"/>
          </p:cNvSpPr>
          <p:nvPr>
            <p:ph type="title"/>
          </p:nvPr>
        </p:nvSpPr>
        <p:spPr/>
        <p:txBody>
          <a:bodyPr>
            <a:normAutofit fontScale="90000"/>
          </a:bodyPr>
          <a:lstStyle/>
          <a:p>
            <a:r>
              <a:rPr lang="en-US" dirty="0"/>
              <a:t>AC-3 algorithm - Implementation </a:t>
            </a:r>
          </a:p>
        </p:txBody>
      </p:sp>
      <p:sp>
        <p:nvSpPr>
          <p:cNvPr id="3" name="Content Placeholder 2">
            <a:extLst>
              <a:ext uri="{FF2B5EF4-FFF2-40B4-BE49-F238E27FC236}">
                <a16:creationId xmlns:a16="http://schemas.microsoft.com/office/drawing/2014/main" id="{94BFF90F-0FA9-48AC-8804-250D784EFFEB}"/>
              </a:ext>
            </a:extLst>
          </p:cNvPr>
          <p:cNvSpPr>
            <a:spLocks noGrp="1"/>
          </p:cNvSpPr>
          <p:nvPr>
            <p:ph idx="1"/>
          </p:nvPr>
        </p:nvSpPr>
        <p:spPr/>
        <p:txBody>
          <a:bodyPr/>
          <a:lstStyle/>
          <a:p>
            <a:r>
              <a:rPr lang="en-US" dirty="0">
                <a:solidFill>
                  <a:schemeClr val="accent6">
                    <a:lumMod val="75000"/>
                  </a:schemeClr>
                </a:solidFill>
              </a:rPr>
              <a:t>Example</a:t>
            </a:r>
            <a:r>
              <a:rPr lang="en-US" dirty="0"/>
              <a:t>: Consider the shown constraint graph:</a:t>
            </a:r>
          </a:p>
          <a:p>
            <a:pPr lvl="1"/>
            <a:r>
              <a:rPr lang="en-US" sz="2800" dirty="0">
                <a:solidFill>
                  <a:srgbClr val="C00000"/>
                </a:solidFill>
              </a:rPr>
              <a:t>Variables</a:t>
            </a:r>
            <a:r>
              <a:rPr lang="en-US" sz="2800" dirty="0"/>
              <a:t>, 𝑉={X , Y, Z}</a:t>
            </a:r>
          </a:p>
          <a:p>
            <a:pPr lvl="1"/>
            <a:r>
              <a:rPr lang="en-US" sz="2800" dirty="0">
                <a:solidFill>
                  <a:srgbClr val="C00000"/>
                </a:solidFill>
              </a:rPr>
              <a:t>Domains</a:t>
            </a:r>
            <a:r>
              <a:rPr lang="en-US" sz="2800" dirty="0"/>
              <a:t>, </a:t>
            </a:r>
            <a:r>
              <a:rPr lang="en-US" sz="2800" i="1" dirty="0"/>
              <a:t>D</a:t>
            </a:r>
            <a:r>
              <a:rPr lang="en-US" sz="2800" baseline="-25000" dirty="0"/>
              <a:t>X </a:t>
            </a:r>
            <a:r>
              <a:rPr lang="en-US" sz="2800" dirty="0"/>
              <a:t>= </a:t>
            </a:r>
            <a:r>
              <a:rPr lang="en-US" sz="2800" i="1" dirty="0"/>
              <a:t>D</a:t>
            </a:r>
            <a:r>
              <a:rPr lang="en-US" sz="2800" baseline="-25000" dirty="0"/>
              <a:t>Y </a:t>
            </a:r>
            <a:r>
              <a:rPr lang="en-US" sz="2800" dirty="0"/>
              <a:t>= </a:t>
            </a:r>
            <a:r>
              <a:rPr lang="en-US" sz="2800" i="1" dirty="0"/>
              <a:t>D</a:t>
            </a:r>
            <a:r>
              <a:rPr lang="en-US" sz="2800" baseline="-25000" dirty="0"/>
              <a:t>Z </a:t>
            </a:r>
            <a:r>
              <a:rPr lang="en-US" sz="2800" dirty="0"/>
              <a:t>= {1,2,3,4,5,6}</a:t>
            </a:r>
          </a:p>
          <a:p>
            <a:pPr lvl="1"/>
            <a:r>
              <a:rPr lang="en-US" sz="2800" dirty="0">
                <a:solidFill>
                  <a:srgbClr val="C00000"/>
                </a:solidFill>
              </a:rPr>
              <a:t>Constraints</a:t>
            </a:r>
            <a:r>
              <a:rPr lang="en-US" sz="2800" dirty="0"/>
              <a:t>, 𝐶1 = X &lt; Y, 𝐶2 = Z &lt; X-2</a:t>
            </a:r>
          </a:p>
          <a:p>
            <a:pPr lvl="1"/>
            <a:r>
              <a:rPr lang="en-US" sz="2800" dirty="0">
                <a:solidFill>
                  <a:srgbClr val="C00000"/>
                </a:solidFill>
              </a:rPr>
              <a:t>Neighbors list</a:t>
            </a:r>
          </a:p>
          <a:p>
            <a:pPr lvl="2">
              <a:buFont typeface="Wingdings" panose="05000000000000000000" pitchFamily="2" charset="2"/>
              <a:buChar char="§"/>
            </a:pPr>
            <a:r>
              <a:rPr lang="en-US" sz="2600" dirty="0"/>
              <a:t>Neighbors(X) = {Y, Z}</a:t>
            </a:r>
          </a:p>
          <a:p>
            <a:pPr lvl="2">
              <a:buFont typeface="Wingdings" panose="05000000000000000000" pitchFamily="2" charset="2"/>
              <a:buChar char="§"/>
            </a:pPr>
            <a:r>
              <a:rPr lang="en-US" sz="2600" dirty="0"/>
              <a:t>Neighbors(Y) = {X}</a:t>
            </a:r>
          </a:p>
          <a:p>
            <a:pPr lvl="2">
              <a:buFont typeface="Wingdings" panose="05000000000000000000" pitchFamily="2" charset="2"/>
              <a:buChar char="§"/>
            </a:pPr>
            <a:r>
              <a:rPr lang="en-US" sz="2600" dirty="0"/>
              <a:t>Neighbors(Z) = {X}</a:t>
            </a:r>
          </a:p>
          <a:p>
            <a:pPr lvl="1"/>
            <a:endParaRPr lang="en-US" sz="2800" dirty="0"/>
          </a:p>
          <a:p>
            <a:pPr lvl="1"/>
            <a:endParaRPr lang="en-US" sz="2800" dirty="0">
              <a:latin typeface="Calibri (Body)"/>
            </a:endParaRPr>
          </a:p>
        </p:txBody>
      </p:sp>
      <p:sp>
        <p:nvSpPr>
          <p:cNvPr id="4" name="Date Placeholder 3">
            <a:extLst>
              <a:ext uri="{FF2B5EF4-FFF2-40B4-BE49-F238E27FC236}">
                <a16:creationId xmlns:a16="http://schemas.microsoft.com/office/drawing/2014/main" id="{DA09E4C9-145C-4305-8FCC-A51919AC1639}"/>
              </a:ext>
            </a:extLst>
          </p:cNvPr>
          <p:cNvSpPr>
            <a:spLocks noGrp="1"/>
          </p:cNvSpPr>
          <p:nvPr>
            <p:ph type="dt" sz="half" idx="10"/>
          </p:nvPr>
        </p:nvSpPr>
        <p:spPr/>
        <p:txBody>
          <a:bodyPr/>
          <a:lstStyle/>
          <a:p>
            <a:fld id="{C2EBCB3B-0D71-481E-A68B-9B57A6B53C51}" type="datetime1">
              <a:rPr lang="en-US" smtClean="0"/>
              <a:t>10/16/2022</a:t>
            </a:fld>
            <a:endParaRPr lang="en-US" dirty="0"/>
          </a:p>
        </p:txBody>
      </p:sp>
      <p:sp>
        <p:nvSpPr>
          <p:cNvPr id="5" name="Footer Placeholder 4">
            <a:extLst>
              <a:ext uri="{FF2B5EF4-FFF2-40B4-BE49-F238E27FC236}">
                <a16:creationId xmlns:a16="http://schemas.microsoft.com/office/drawing/2014/main" id="{D9CB7188-453A-42BB-87E4-4D26B0578C08}"/>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04C20597-9C79-4143-9797-0DA93C4EDD27}"/>
              </a:ext>
            </a:extLst>
          </p:cNvPr>
          <p:cNvSpPr>
            <a:spLocks noGrp="1"/>
          </p:cNvSpPr>
          <p:nvPr>
            <p:ph type="sldNum" sz="quarter" idx="12"/>
          </p:nvPr>
        </p:nvSpPr>
        <p:spPr/>
        <p:txBody>
          <a:bodyPr/>
          <a:lstStyle/>
          <a:p>
            <a:fld id="{B7884E68-CE57-44C0-BE0F-84C629DF22D5}" type="slidenum">
              <a:rPr lang="en-US" dirty="0" smtClean="0"/>
              <a:t>62</a:t>
            </a:fld>
            <a:endParaRPr lang="en-US" dirty="0"/>
          </a:p>
        </p:txBody>
      </p:sp>
      <p:grpSp>
        <p:nvGrpSpPr>
          <p:cNvPr id="30" name="Group 29">
            <a:extLst>
              <a:ext uri="{FF2B5EF4-FFF2-40B4-BE49-F238E27FC236}">
                <a16:creationId xmlns:a16="http://schemas.microsoft.com/office/drawing/2014/main" id="{30E1019E-8C9A-4EA3-AE12-30B510632D53}"/>
              </a:ext>
            </a:extLst>
          </p:cNvPr>
          <p:cNvGrpSpPr/>
          <p:nvPr/>
        </p:nvGrpSpPr>
        <p:grpSpPr>
          <a:xfrm>
            <a:off x="8110328" y="1406981"/>
            <a:ext cx="3776870" cy="2847967"/>
            <a:chOff x="8075859" y="3164726"/>
            <a:chExt cx="3776870" cy="2847967"/>
          </a:xfrm>
        </p:grpSpPr>
        <p:sp>
          <p:nvSpPr>
            <p:cNvPr id="7" name="Oval 6">
              <a:extLst>
                <a:ext uri="{FF2B5EF4-FFF2-40B4-BE49-F238E27FC236}">
                  <a16:creationId xmlns:a16="http://schemas.microsoft.com/office/drawing/2014/main" id="{550F23F7-8839-47B6-AE83-4C36A3E367B9}"/>
                </a:ext>
              </a:extLst>
            </p:cNvPr>
            <p:cNvSpPr/>
            <p:nvPr/>
          </p:nvSpPr>
          <p:spPr>
            <a:xfrm>
              <a:off x="9538899" y="3164726"/>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a:t>
              </a:r>
            </a:p>
          </p:txBody>
        </p:sp>
        <p:sp>
          <p:nvSpPr>
            <p:cNvPr id="8" name="Rectangle 7">
              <a:extLst>
                <a:ext uri="{FF2B5EF4-FFF2-40B4-BE49-F238E27FC236}">
                  <a16:creationId xmlns:a16="http://schemas.microsoft.com/office/drawing/2014/main" id="{230CC6B4-8D8E-47D7-A465-501BFD83A47F}"/>
                </a:ext>
              </a:extLst>
            </p:cNvPr>
            <p:cNvSpPr/>
            <p:nvPr/>
          </p:nvSpPr>
          <p:spPr>
            <a:xfrm>
              <a:off x="8441619" y="4267902"/>
              <a:ext cx="1097280" cy="54864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 &lt; Y</a:t>
              </a:r>
            </a:p>
          </p:txBody>
        </p:sp>
        <p:sp>
          <p:nvSpPr>
            <p:cNvPr id="9" name="Oval 8">
              <a:extLst>
                <a:ext uri="{FF2B5EF4-FFF2-40B4-BE49-F238E27FC236}">
                  <a16:creationId xmlns:a16="http://schemas.microsoft.com/office/drawing/2014/main" id="{AA9DC5F3-5AEB-4602-9C06-983F10F2D9AA}"/>
                </a:ext>
              </a:extLst>
            </p:cNvPr>
            <p:cNvSpPr/>
            <p:nvPr/>
          </p:nvSpPr>
          <p:spPr>
            <a:xfrm>
              <a:off x="8075859" y="5281173"/>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Y</a:t>
              </a:r>
            </a:p>
          </p:txBody>
        </p:sp>
        <p:sp>
          <p:nvSpPr>
            <p:cNvPr id="11" name="Rectangle 10">
              <a:extLst>
                <a:ext uri="{FF2B5EF4-FFF2-40B4-BE49-F238E27FC236}">
                  <a16:creationId xmlns:a16="http://schemas.microsoft.com/office/drawing/2014/main" id="{BE06A7AC-582E-4DC8-98D3-C2E8AEBC0C0A}"/>
                </a:ext>
              </a:extLst>
            </p:cNvPr>
            <p:cNvSpPr/>
            <p:nvPr/>
          </p:nvSpPr>
          <p:spPr>
            <a:xfrm>
              <a:off x="10270419" y="4267902"/>
              <a:ext cx="1097280" cy="54864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Z &lt; x-2</a:t>
              </a:r>
            </a:p>
          </p:txBody>
        </p:sp>
        <p:sp>
          <p:nvSpPr>
            <p:cNvPr id="12" name="Oval 11">
              <a:extLst>
                <a:ext uri="{FF2B5EF4-FFF2-40B4-BE49-F238E27FC236}">
                  <a16:creationId xmlns:a16="http://schemas.microsoft.com/office/drawing/2014/main" id="{14BB5B35-5497-47C5-B69A-AD045004473B}"/>
                </a:ext>
              </a:extLst>
            </p:cNvPr>
            <p:cNvSpPr/>
            <p:nvPr/>
          </p:nvSpPr>
          <p:spPr>
            <a:xfrm>
              <a:off x="11121209" y="5281173"/>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Z</a:t>
              </a:r>
            </a:p>
          </p:txBody>
        </p:sp>
        <p:cxnSp>
          <p:nvCxnSpPr>
            <p:cNvPr id="14" name="Straight Connector 13">
              <a:extLst>
                <a:ext uri="{FF2B5EF4-FFF2-40B4-BE49-F238E27FC236}">
                  <a16:creationId xmlns:a16="http://schemas.microsoft.com/office/drawing/2014/main" id="{3C923F66-C4F8-49BE-AB3E-18A569738697}"/>
                </a:ext>
              </a:extLst>
            </p:cNvPr>
            <p:cNvCxnSpPr>
              <a:stCxn id="7" idx="2"/>
              <a:endCxn id="8" idx="0"/>
            </p:cNvCxnSpPr>
            <p:nvPr/>
          </p:nvCxnSpPr>
          <p:spPr>
            <a:xfrm flipH="1">
              <a:off x="8990259" y="3530486"/>
              <a:ext cx="548640" cy="7374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267BFBA-6A35-4AB7-B689-5A9B317660B3}"/>
                </a:ext>
              </a:extLst>
            </p:cNvPr>
            <p:cNvCxnSpPr>
              <a:cxnSpLocks/>
              <a:endCxn id="9" idx="0"/>
            </p:cNvCxnSpPr>
            <p:nvPr/>
          </p:nvCxnSpPr>
          <p:spPr>
            <a:xfrm flipH="1">
              <a:off x="8441619" y="4816542"/>
              <a:ext cx="274320" cy="4646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D245B87-A80B-44EE-BEF0-80C9311FD4B8}"/>
                </a:ext>
              </a:extLst>
            </p:cNvPr>
            <p:cNvCxnSpPr>
              <a:stCxn id="7" idx="6"/>
              <a:endCxn id="11" idx="0"/>
            </p:cNvCxnSpPr>
            <p:nvPr/>
          </p:nvCxnSpPr>
          <p:spPr>
            <a:xfrm>
              <a:off x="10270419" y="3530486"/>
              <a:ext cx="548640" cy="7374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A34C26E-867A-49E5-9132-B39938E99696}"/>
                </a:ext>
              </a:extLst>
            </p:cNvPr>
            <p:cNvCxnSpPr>
              <a:cxnSpLocks/>
              <a:endCxn id="12" idx="0"/>
            </p:cNvCxnSpPr>
            <p:nvPr/>
          </p:nvCxnSpPr>
          <p:spPr>
            <a:xfrm>
              <a:off x="11121209" y="4816542"/>
              <a:ext cx="365760" cy="464631"/>
            </a:xfrm>
            <a:prstGeom prst="line">
              <a:avLst/>
            </a:prstGeom>
            <a:ln w="28575"/>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044505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5EE00-C7AF-4797-807E-B8E2C302E727}"/>
              </a:ext>
            </a:extLst>
          </p:cNvPr>
          <p:cNvSpPr>
            <a:spLocks noGrp="1"/>
          </p:cNvSpPr>
          <p:nvPr>
            <p:ph type="title"/>
          </p:nvPr>
        </p:nvSpPr>
        <p:spPr/>
        <p:txBody>
          <a:bodyPr>
            <a:normAutofit fontScale="90000"/>
          </a:bodyPr>
          <a:lstStyle/>
          <a:p>
            <a:r>
              <a:rPr lang="en-US" dirty="0"/>
              <a:t>AC-3 algorithm - Implementation </a:t>
            </a:r>
          </a:p>
        </p:txBody>
      </p:sp>
      <p:sp>
        <p:nvSpPr>
          <p:cNvPr id="3" name="Content Placeholder 2">
            <a:extLst>
              <a:ext uri="{FF2B5EF4-FFF2-40B4-BE49-F238E27FC236}">
                <a16:creationId xmlns:a16="http://schemas.microsoft.com/office/drawing/2014/main" id="{E9631C19-49AF-4209-8F3F-732B7F83696C}"/>
              </a:ext>
            </a:extLst>
          </p:cNvPr>
          <p:cNvSpPr>
            <a:spLocks noGrp="1"/>
          </p:cNvSpPr>
          <p:nvPr>
            <p:ph idx="1"/>
          </p:nvPr>
        </p:nvSpPr>
        <p:spPr>
          <a:xfrm>
            <a:off x="304800" y="1228153"/>
            <a:ext cx="8204190" cy="5021979"/>
          </a:xfrm>
        </p:spPr>
        <p:txBody>
          <a:bodyPr>
            <a:normAutofit/>
          </a:bodyPr>
          <a:lstStyle/>
          <a:p>
            <a:r>
              <a:rPr lang="en-US" dirty="0">
                <a:solidFill>
                  <a:schemeClr val="accent6">
                    <a:lumMod val="75000"/>
                  </a:schemeClr>
                </a:solidFill>
              </a:rPr>
              <a:t>Step 1: </a:t>
            </a:r>
          </a:p>
          <a:p>
            <a:pPr lvl="1"/>
            <a:r>
              <a:rPr lang="en-US" sz="2800" dirty="0"/>
              <a:t>Enqueue all arcs</a:t>
            </a:r>
          </a:p>
          <a:p>
            <a:pPr lvl="1"/>
            <a:r>
              <a:rPr lang="en-US" sz="2800" dirty="0"/>
              <a:t>Arc_</a:t>
            </a:r>
            <a:r>
              <a:rPr lang="en-US" sz="2800" b="1" dirty="0">
                <a:solidFill>
                  <a:schemeClr val="dk1"/>
                </a:solidFill>
              </a:rPr>
              <a:t>Queue = </a:t>
            </a:r>
            <a:r>
              <a:rPr lang="en-US" sz="2800" dirty="0"/>
              <a:t>(X,Y), (Y,X), (X,Z), (Z,X)</a:t>
            </a:r>
          </a:p>
          <a:p>
            <a:pPr lvl="1"/>
            <a:r>
              <a:rPr lang="en-US" sz="2800" dirty="0">
                <a:solidFill>
                  <a:srgbClr val="C00000"/>
                </a:solidFill>
              </a:rPr>
              <a:t>Domains:</a:t>
            </a:r>
            <a:r>
              <a:rPr lang="en-US" sz="2800" dirty="0"/>
              <a:t> </a:t>
            </a:r>
            <a:r>
              <a:rPr lang="en-US" sz="2800" i="1" dirty="0"/>
              <a:t>D</a:t>
            </a:r>
            <a:r>
              <a:rPr lang="en-US" sz="2800" baseline="-25000" dirty="0"/>
              <a:t>X </a:t>
            </a:r>
            <a:r>
              <a:rPr lang="en-US" sz="2800" dirty="0"/>
              <a:t>= </a:t>
            </a:r>
            <a:r>
              <a:rPr lang="en-US" sz="2800" i="1" dirty="0"/>
              <a:t>D</a:t>
            </a:r>
            <a:r>
              <a:rPr lang="en-US" sz="2800" baseline="-25000" dirty="0"/>
              <a:t>Y </a:t>
            </a:r>
            <a:r>
              <a:rPr lang="en-US" sz="2800" dirty="0"/>
              <a:t>= </a:t>
            </a:r>
            <a:r>
              <a:rPr lang="en-US" sz="2800" i="1" dirty="0"/>
              <a:t>D</a:t>
            </a:r>
            <a:r>
              <a:rPr lang="en-US" sz="2800" baseline="-25000" dirty="0"/>
              <a:t>Z </a:t>
            </a:r>
            <a:r>
              <a:rPr lang="en-US" sz="2800" dirty="0"/>
              <a:t>= {1,2,3,4,5,6}</a:t>
            </a:r>
          </a:p>
          <a:p>
            <a:pPr lvl="1"/>
            <a:endParaRPr lang="en-US" sz="2600" dirty="0"/>
          </a:p>
          <a:p>
            <a:pPr lvl="1"/>
            <a:endParaRPr lang="en-US" dirty="0"/>
          </a:p>
        </p:txBody>
      </p:sp>
      <p:sp>
        <p:nvSpPr>
          <p:cNvPr id="4" name="Date Placeholder 3">
            <a:extLst>
              <a:ext uri="{FF2B5EF4-FFF2-40B4-BE49-F238E27FC236}">
                <a16:creationId xmlns:a16="http://schemas.microsoft.com/office/drawing/2014/main" id="{51C83C63-FB7E-4D4D-A0A3-17617428F0D0}"/>
              </a:ext>
            </a:extLst>
          </p:cNvPr>
          <p:cNvSpPr>
            <a:spLocks noGrp="1"/>
          </p:cNvSpPr>
          <p:nvPr>
            <p:ph type="dt" sz="half" idx="10"/>
          </p:nvPr>
        </p:nvSpPr>
        <p:spPr/>
        <p:txBody>
          <a:bodyPr/>
          <a:lstStyle/>
          <a:p>
            <a:fld id="{C2EBCB3B-0D71-481E-A68B-9B57A6B53C51}" type="datetime1">
              <a:rPr lang="en-US" smtClean="0"/>
              <a:t>10/16/2022</a:t>
            </a:fld>
            <a:endParaRPr lang="en-US" dirty="0"/>
          </a:p>
        </p:txBody>
      </p:sp>
      <p:sp>
        <p:nvSpPr>
          <p:cNvPr id="5" name="Footer Placeholder 4">
            <a:extLst>
              <a:ext uri="{FF2B5EF4-FFF2-40B4-BE49-F238E27FC236}">
                <a16:creationId xmlns:a16="http://schemas.microsoft.com/office/drawing/2014/main" id="{E0A3D8BB-2004-4269-9965-3E94EE07C45D}"/>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6EA57757-B9F5-4F47-B7C5-1D2494C52B76}"/>
              </a:ext>
            </a:extLst>
          </p:cNvPr>
          <p:cNvSpPr>
            <a:spLocks noGrp="1"/>
          </p:cNvSpPr>
          <p:nvPr>
            <p:ph type="sldNum" sz="quarter" idx="12"/>
          </p:nvPr>
        </p:nvSpPr>
        <p:spPr/>
        <p:txBody>
          <a:bodyPr/>
          <a:lstStyle/>
          <a:p>
            <a:fld id="{B7884E68-CE57-44C0-BE0F-84C629DF22D5}" type="slidenum">
              <a:rPr lang="en-US" smtClean="0"/>
              <a:t>63</a:t>
            </a:fld>
            <a:endParaRPr lang="en-US" dirty="0"/>
          </a:p>
        </p:txBody>
      </p:sp>
      <p:grpSp>
        <p:nvGrpSpPr>
          <p:cNvPr id="7" name="Group 6">
            <a:extLst>
              <a:ext uri="{FF2B5EF4-FFF2-40B4-BE49-F238E27FC236}">
                <a16:creationId xmlns:a16="http://schemas.microsoft.com/office/drawing/2014/main" id="{F593803D-B87F-453E-A4C6-0E793EC7B0AD}"/>
              </a:ext>
            </a:extLst>
          </p:cNvPr>
          <p:cNvGrpSpPr/>
          <p:nvPr/>
        </p:nvGrpSpPr>
        <p:grpSpPr>
          <a:xfrm>
            <a:off x="8329403" y="1406981"/>
            <a:ext cx="3776870" cy="2847967"/>
            <a:chOff x="8075859" y="3164726"/>
            <a:chExt cx="3776870" cy="2847967"/>
          </a:xfrm>
        </p:grpSpPr>
        <p:sp>
          <p:nvSpPr>
            <p:cNvPr id="8" name="Oval 7">
              <a:extLst>
                <a:ext uri="{FF2B5EF4-FFF2-40B4-BE49-F238E27FC236}">
                  <a16:creationId xmlns:a16="http://schemas.microsoft.com/office/drawing/2014/main" id="{7579147B-7E4A-4D79-9C80-CF2CA2CAF4D6}"/>
                </a:ext>
              </a:extLst>
            </p:cNvPr>
            <p:cNvSpPr/>
            <p:nvPr/>
          </p:nvSpPr>
          <p:spPr>
            <a:xfrm>
              <a:off x="9538899" y="3164726"/>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a:t>
              </a:r>
            </a:p>
          </p:txBody>
        </p:sp>
        <p:sp>
          <p:nvSpPr>
            <p:cNvPr id="9" name="Rectangle 8">
              <a:extLst>
                <a:ext uri="{FF2B5EF4-FFF2-40B4-BE49-F238E27FC236}">
                  <a16:creationId xmlns:a16="http://schemas.microsoft.com/office/drawing/2014/main" id="{2C8569B7-7D4E-4CB4-8C69-05966ADE4B2A}"/>
                </a:ext>
              </a:extLst>
            </p:cNvPr>
            <p:cNvSpPr/>
            <p:nvPr/>
          </p:nvSpPr>
          <p:spPr>
            <a:xfrm>
              <a:off x="8441619" y="4267902"/>
              <a:ext cx="1097280" cy="54864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 &lt; Y</a:t>
              </a:r>
            </a:p>
          </p:txBody>
        </p:sp>
        <p:sp>
          <p:nvSpPr>
            <p:cNvPr id="10" name="Oval 9">
              <a:extLst>
                <a:ext uri="{FF2B5EF4-FFF2-40B4-BE49-F238E27FC236}">
                  <a16:creationId xmlns:a16="http://schemas.microsoft.com/office/drawing/2014/main" id="{BB69E3B5-D623-4E8D-9A23-88C3230BB3E3}"/>
                </a:ext>
              </a:extLst>
            </p:cNvPr>
            <p:cNvSpPr/>
            <p:nvPr/>
          </p:nvSpPr>
          <p:spPr>
            <a:xfrm>
              <a:off x="8075859" y="5281173"/>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Y</a:t>
              </a:r>
            </a:p>
          </p:txBody>
        </p:sp>
        <p:sp>
          <p:nvSpPr>
            <p:cNvPr id="11" name="Rectangle 10">
              <a:extLst>
                <a:ext uri="{FF2B5EF4-FFF2-40B4-BE49-F238E27FC236}">
                  <a16:creationId xmlns:a16="http://schemas.microsoft.com/office/drawing/2014/main" id="{6ADD8024-B7C7-42DB-8E47-4F692F2A4BB7}"/>
                </a:ext>
              </a:extLst>
            </p:cNvPr>
            <p:cNvSpPr/>
            <p:nvPr/>
          </p:nvSpPr>
          <p:spPr>
            <a:xfrm>
              <a:off x="10270419" y="4267902"/>
              <a:ext cx="1097280" cy="54864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Z &lt; x-2</a:t>
              </a:r>
            </a:p>
          </p:txBody>
        </p:sp>
        <p:sp>
          <p:nvSpPr>
            <p:cNvPr id="12" name="Oval 11">
              <a:extLst>
                <a:ext uri="{FF2B5EF4-FFF2-40B4-BE49-F238E27FC236}">
                  <a16:creationId xmlns:a16="http://schemas.microsoft.com/office/drawing/2014/main" id="{8A2AFC27-3370-4387-BD07-9FD0577BE535}"/>
                </a:ext>
              </a:extLst>
            </p:cNvPr>
            <p:cNvSpPr/>
            <p:nvPr/>
          </p:nvSpPr>
          <p:spPr>
            <a:xfrm>
              <a:off x="11121209" y="5281173"/>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Z</a:t>
              </a:r>
            </a:p>
          </p:txBody>
        </p:sp>
        <p:cxnSp>
          <p:nvCxnSpPr>
            <p:cNvPr id="13" name="Straight Connector 12">
              <a:extLst>
                <a:ext uri="{FF2B5EF4-FFF2-40B4-BE49-F238E27FC236}">
                  <a16:creationId xmlns:a16="http://schemas.microsoft.com/office/drawing/2014/main" id="{FE18B6B4-07B3-4F4C-B930-9D5925D0078B}"/>
                </a:ext>
              </a:extLst>
            </p:cNvPr>
            <p:cNvCxnSpPr>
              <a:stCxn id="8" idx="2"/>
              <a:endCxn id="9" idx="0"/>
            </p:cNvCxnSpPr>
            <p:nvPr/>
          </p:nvCxnSpPr>
          <p:spPr>
            <a:xfrm flipH="1">
              <a:off x="8990259" y="3530486"/>
              <a:ext cx="548640" cy="7374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86FEB3A-6BCA-4F82-A039-E5145B4BF759}"/>
                </a:ext>
              </a:extLst>
            </p:cNvPr>
            <p:cNvCxnSpPr>
              <a:cxnSpLocks/>
              <a:endCxn id="10" idx="0"/>
            </p:cNvCxnSpPr>
            <p:nvPr/>
          </p:nvCxnSpPr>
          <p:spPr>
            <a:xfrm flipH="1">
              <a:off x="8441619" y="4816542"/>
              <a:ext cx="274320" cy="4646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646AD5D-FD22-4C3E-8C7C-5E06F5F0075D}"/>
                </a:ext>
              </a:extLst>
            </p:cNvPr>
            <p:cNvCxnSpPr>
              <a:stCxn id="8" idx="6"/>
              <a:endCxn id="11" idx="0"/>
            </p:cNvCxnSpPr>
            <p:nvPr/>
          </p:nvCxnSpPr>
          <p:spPr>
            <a:xfrm>
              <a:off x="10270419" y="3530486"/>
              <a:ext cx="548640" cy="7374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2798DFB-4352-4CFB-A35D-C6080ED37794}"/>
                </a:ext>
              </a:extLst>
            </p:cNvPr>
            <p:cNvCxnSpPr>
              <a:cxnSpLocks/>
              <a:endCxn id="12" idx="0"/>
            </p:cNvCxnSpPr>
            <p:nvPr/>
          </p:nvCxnSpPr>
          <p:spPr>
            <a:xfrm>
              <a:off x="11121209" y="4816542"/>
              <a:ext cx="365760" cy="464631"/>
            </a:xfrm>
            <a:prstGeom prst="line">
              <a:avLst/>
            </a:prstGeom>
            <a:ln w="28575"/>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832187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5EE00-C7AF-4797-807E-B8E2C302E727}"/>
              </a:ext>
            </a:extLst>
          </p:cNvPr>
          <p:cNvSpPr>
            <a:spLocks noGrp="1"/>
          </p:cNvSpPr>
          <p:nvPr>
            <p:ph type="title"/>
          </p:nvPr>
        </p:nvSpPr>
        <p:spPr/>
        <p:txBody>
          <a:bodyPr>
            <a:normAutofit fontScale="90000"/>
          </a:bodyPr>
          <a:lstStyle/>
          <a:p>
            <a:r>
              <a:rPr lang="en-US" dirty="0"/>
              <a:t>AC-3 algorithm - Implementation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631C19-49AF-4209-8F3F-732B7F83696C}"/>
                  </a:ext>
                </a:extLst>
              </p:cNvPr>
              <p:cNvSpPr>
                <a:spLocks noGrp="1"/>
              </p:cNvSpPr>
              <p:nvPr>
                <p:ph idx="1"/>
              </p:nvPr>
            </p:nvSpPr>
            <p:spPr>
              <a:xfrm>
                <a:off x="304800" y="1228153"/>
                <a:ext cx="8204190" cy="5021979"/>
              </a:xfrm>
            </p:spPr>
            <p:txBody>
              <a:bodyPr>
                <a:normAutofit/>
              </a:bodyPr>
              <a:lstStyle/>
              <a:p>
                <a:r>
                  <a:rPr lang="en-US" dirty="0">
                    <a:solidFill>
                      <a:schemeClr val="accent6">
                        <a:lumMod val="75000"/>
                      </a:schemeClr>
                    </a:solidFill>
                  </a:rPr>
                  <a:t>Step 2: </a:t>
                </a:r>
              </a:p>
              <a:p>
                <a:pPr lvl="1"/>
                <a:r>
                  <a:rPr lang="en-US" sz="2800" dirty="0"/>
                  <a:t>Check arc (X,Y)</a:t>
                </a:r>
              </a:p>
              <a:p>
                <a:pPr lvl="1"/>
                <a:r>
                  <a:rPr lang="en-US" sz="2800" dirty="0">
                    <a:solidFill>
                      <a:srgbClr val="0033CC"/>
                    </a:solidFill>
                  </a:rPr>
                  <a:t>Remove 6 </a:t>
                </a:r>
                <a:r>
                  <a:rPr lang="en-US" sz="2800" dirty="0"/>
                  <a:t>from </a:t>
                </a:r>
                <a:r>
                  <a:rPr lang="en-US" sz="2800" i="1" dirty="0"/>
                  <a:t>D</a:t>
                </a:r>
                <a:r>
                  <a:rPr lang="en-US" sz="2800" baseline="-25000" dirty="0"/>
                  <a:t>X</a:t>
                </a:r>
                <a:r>
                  <a:rPr lang="en-US" sz="2800" dirty="0"/>
                  <a:t> to make (X,Y) arc consistent.</a:t>
                </a:r>
              </a:p>
              <a:p>
                <a:pPr lvl="1"/>
                <a:r>
                  <a:rPr lang="en-US" sz="2800" dirty="0">
                    <a:solidFill>
                      <a:srgbClr val="C00000"/>
                    </a:solidFill>
                  </a:rPr>
                  <a:t>Domains:</a:t>
                </a:r>
                <a:r>
                  <a:rPr lang="en-US" sz="2800" dirty="0"/>
                  <a:t> </a:t>
                </a:r>
                <a:r>
                  <a:rPr lang="en-US" sz="2800" i="1" dirty="0"/>
                  <a:t>D</a:t>
                </a:r>
                <a:r>
                  <a:rPr lang="en-US" sz="2800" baseline="-25000" dirty="0"/>
                  <a:t>X </a:t>
                </a:r>
                <a:r>
                  <a:rPr lang="en-US" sz="2800" dirty="0"/>
                  <a:t>= {1,2,3,4,5,6}, </a:t>
                </a:r>
                <a:r>
                  <a:rPr lang="en-US" sz="2800" i="1" dirty="0"/>
                  <a:t>D</a:t>
                </a:r>
                <a:r>
                  <a:rPr lang="en-US" sz="2800" baseline="-25000" dirty="0"/>
                  <a:t>Y </a:t>
                </a:r>
                <a:r>
                  <a:rPr lang="en-US" sz="2800" dirty="0"/>
                  <a:t>= {1,2,3,4,5,6},           </a:t>
                </a:r>
                <a:r>
                  <a:rPr lang="en-US" sz="2800" i="1" dirty="0"/>
                  <a:t>D</a:t>
                </a:r>
                <a:r>
                  <a:rPr lang="en-US" sz="2800" baseline="-25000" dirty="0"/>
                  <a:t>Z </a:t>
                </a:r>
                <a:r>
                  <a:rPr lang="en-US" sz="2800" dirty="0"/>
                  <a:t>= {1,2,3,4,5,6}</a:t>
                </a:r>
              </a:p>
              <a:p>
                <a:pPr lvl="1"/>
                <a:r>
                  <a:rPr lang="en-US" sz="2800" dirty="0"/>
                  <a:t>Since </a:t>
                </a:r>
                <a:r>
                  <a:rPr lang="en-US" sz="2800" i="1" dirty="0"/>
                  <a:t>D</a:t>
                </a:r>
                <a:r>
                  <a:rPr lang="en-US" sz="2800" baseline="-25000" dirty="0"/>
                  <a:t>X</a:t>
                </a:r>
                <a:r>
                  <a:rPr lang="en-US" sz="2800" dirty="0"/>
                  <a:t> has changed, you must </a:t>
                </a:r>
                <a:r>
                  <a:rPr lang="en-US" sz="2800" dirty="0">
                    <a:solidFill>
                      <a:srgbClr val="C00000"/>
                    </a:solidFill>
                  </a:rPr>
                  <a:t>re-enqueue</a:t>
                </a:r>
                <a:r>
                  <a:rPr lang="en-US" sz="2800" dirty="0"/>
                  <a:t> all            (</a:t>
                </a:r>
                <a:r>
                  <a:rPr lang="en-US" sz="2800" i="1" dirty="0" err="1">
                    <a:latin typeface="Times New Roman" panose="02020603050405020304" pitchFamily="18" charset="0"/>
                    <a:cs typeface="Times New Roman" panose="02020603050405020304" pitchFamily="18" charset="0"/>
                  </a:rPr>
                  <a:t>i</a:t>
                </a:r>
                <a:r>
                  <a:rPr lang="en-US" sz="2800" dirty="0"/>
                  <a:t>, X) arcs where </a:t>
                </a:r>
                <a:r>
                  <a:rPr lang="en-US" sz="2800" i="1" dirty="0" err="1">
                    <a:latin typeface="Times New Roman" panose="02020603050405020304" pitchFamily="18" charset="0"/>
                    <a:cs typeface="Times New Roman" panose="02020603050405020304" pitchFamily="18" charset="0"/>
                  </a:rPr>
                  <a:t>i</a:t>
                </a:r>
                <a:r>
                  <a:rPr lang="en-US" sz="2800" dirty="0"/>
                  <a:t> </a:t>
                </a:r>
                <a14:m>
                  <m:oMath xmlns:m="http://schemas.openxmlformats.org/officeDocument/2006/math">
                    <m:r>
                      <a:rPr lang="en-US" sz="2800" i="1" dirty="0">
                        <a:latin typeface="Cambria Math" panose="02040503050406030204" pitchFamily="18" charset="0"/>
                      </a:rPr>
                      <m:t>∈ </m:t>
                    </m:r>
                  </m:oMath>
                </a14:m>
                <a:r>
                  <a:rPr lang="en-US" sz="2800" dirty="0"/>
                  <a:t>Neighbors(X) and </a:t>
                </a:r>
                <a:r>
                  <a:rPr lang="en-US" sz="2800" i="1" dirty="0" err="1">
                    <a:latin typeface="Times New Roman" panose="02020603050405020304" pitchFamily="18" charset="0"/>
                    <a:cs typeface="Times New Roman" panose="02020603050405020304" pitchFamily="18" charset="0"/>
                  </a:rPr>
                  <a:t>i</a:t>
                </a:r>
                <a:r>
                  <a:rPr lang="en-US" sz="2800" i="1" dirty="0">
                    <a:latin typeface="Times New Roman" panose="02020603050405020304" pitchFamily="18" charset="0"/>
                    <a:cs typeface="Times New Roman" panose="02020603050405020304" pitchFamily="18" charset="0"/>
                  </a:rPr>
                  <a:t> ≠ </a:t>
                </a:r>
                <a:r>
                  <a:rPr lang="en-US" sz="2800" dirty="0"/>
                  <a:t>Y, i.e. enqueue (Z,X) </a:t>
                </a:r>
                <a:r>
                  <a:rPr lang="en-US" sz="2800" u="sng" dirty="0"/>
                  <a:t>if it is not already enqueued</a:t>
                </a:r>
                <a:r>
                  <a:rPr lang="en-US" sz="2800" dirty="0"/>
                  <a:t>. Since (Z,X) is</a:t>
                </a:r>
                <a:r>
                  <a:rPr lang="en-US" sz="2800" dirty="0">
                    <a:solidFill>
                      <a:srgbClr val="C00000"/>
                    </a:solidFill>
                  </a:rPr>
                  <a:t> already enqueued</a:t>
                </a:r>
                <a:r>
                  <a:rPr lang="en-US" sz="2800" dirty="0"/>
                  <a:t>, no need to re-enqueue it.</a:t>
                </a:r>
              </a:p>
              <a:p>
                <a:pPr lvl="1"/>
                <a:r>
                  <a:rPr lang="en-US" sz="2800" dirty="0">
                    <a:solidFill>
                      <a:srgbClr val="0033CC"/>
                    </a:solidFill>
                  </a:rPr>
                  <a:t>Remove arc (X,Y) </a:t>
                </a:r>
                <a:r>
                  <a:rPr lang="en-US" sz="2800" dirty="0"/>
                  <a:t>from </a:t>
                </a:r>
                <a:r>
                  <a:rPr lang="en-US" sz="2800" dirty="0" err="1"/>
                  <a:t>Arc_</a:t>
                </a:r>
                <a:r>
                  <a:rPr lang="en-US" sz="2800" b="1" dirty="0" err="1">
                    <a:solidFill>
                      <a:schemeClr val="dk1"/>
                    </a:solidFill>
                  </a:rPr>
                  <a:t>Queue</a:t>
                </a:r>
                <a:r>
                  <a:rPr lang="en-US" sz="2800" b="1" dirty="0">
                    <a:solidFill>
                      <a:schemeClr val="dk1"/>
                    </a:solidFill>
                  </a:rPr>
                  <a:t> </a:t>
                </a:r>
                <a:endParaRPr lang="en-US" sz="2800" dirty="0"/>
              </a:p>
              <a:p>
                <a:pPr lvl="1"/>
                <a:r>
                  <a:rPr lang="en-US" sz="2800" dirty="0"/>
                  <a:t>Arc_</a:t>
                </a:r>
                <a:r>
                  <a:rPr lang="en-US" sz="2800" b="1" dirty="0">
                    <a:solidFill>
                      <a:schemeClr val="dk1"/>
                    </a:solidFill>
                  </a:rPr>
                  <a:t>Queue </a:t>
                </a:r>
                <a:r>
                  <a:rPr lang="en-US" sz="2800" dirty="0">
                    <a:solidFill>
                      <a:schemeClr val="dk1"/>
                    </a:solidFill>
                  </a:rPr>
                  <a:t>=</a:t>
                </a:r>
                <a:r>
                  <a:rPr lang="en-US" sz="2800" b="1" dirty="0">
                    <a:solidFill>
                      <a:schemeClr val="dk1"/>
                    </a:solidFill>
                  </a:rPr>
                  <a:t> </a:t>
                </a:r>
                <a:r>
                  <a:rPr lang="en-US" sz="2800" dirty="0"/>
                  <a:t>(Y,X), (X,Z), (Z,X)</a:t>
                </a:r>
              </a:p>
              <a:p>
                <a:pPr lvl="1"/>
                <a:endParaRPr lang="en-US" sz="2600" dirty="0"/>
              </a:p>
              <a:p>
                <a:pPr lvl="1"/>
                <a:endParaRPr lang="en-US" dirty="0"/>
              </a:p>
            </p:txBody>
          </p:sp>
        </mc:Choice>
        <mc:Fallback xmlns="">
          <p:sp>
            <p:nvSpPr>
              <p:cNvPr id="3" name="Content Placeholder 2">
                <a:extLst>
                  <a:ext uri="{FF2B5EF4-FFF2-40B4-BE49-F238E27FC236}">
                    <a16:creationId xmlns:a16="http://schemas.microsoft.com/office/drawing/2014/main" id="{E9631C19-49AF-4209-8F3F-732B7F83696C}"/>
                  </a:ext>
                </a:extLst>
              </p:cNvPr>
              <p:cNvSpPr>
                <a:spLocks noGrp="1" noRot="1" noChangeAspect="1" noMove="1" noResize="1" noEditPoints="1" noAdjustHandles="1" noChangeArrowheads="1" noChangeShapeType="1" noTextEdit="1"/>
              </p:cNvSpPr>
              <p:nvPr>
                <p:ph idx="1"/>
              </p:nvPr>
            </p:nvSpPr>
            <p:spPr>
              <a:xfrm>
                <a:off x="304800" y="1228153"/>
                <a:ext cx="8204190" cy="5021979"/>
              </a:xfrm>
              <a:blipFill>
                <a:blip r:embed="rId2"/>
                <a:stretch>
                  <a:fillRect l="-2080" t="-3034" r="-408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1C83C63-FB7E-4D4D-A0A3-17617428F0D0}"/>
              </a:ext>
            </a:extLst>
          </p:cNvPr>
          <p:cNvSpPr>
            <a:spLocks noGrp="1"/>
          </p:cNvSpPr>
          <p:nvPr>
            <p:ph type="dt" sz="half" idx="10"/>
          </p:nvPr>
        </p:nvSpPr>
        <p:spPr/>
        <p:txBody>
          <a:bodyPr/>
          <a:lstStyle/>
          <a:p>
            <a:fld id="{C2EBCB3B-0D71-481E-A68B-9B57A6B53C51}" type="datetime1">
              <a:rPr lang="en-US" smtClean="0"/>
              <a:t>10/16/2022</a:t>
            </a:fld>
            <a:endParaRPr lang="en-US" dirty="0"/>
          </a:p>
        </p:txBody>
      </p:sp>
      <p:sp>
        <p:nvSpPr>
          <p:cNvPr id="5" name="Footer Placeholder 4">
            <a:extLst>
              <a:ext uri="{FF2B5EF4-FFF2-40B4-BE49-F238E27FC236}">
                <a16:creationId xmlns:a16="http://schemas.microsoft.com/office/drawing/2014/main" id="{E0A3D8BB-2004-4269-9965-3E94EE07C45D}"/>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6EA57757-B9F5-4F47-B7C5-1D2494C52B76}"/>
              </a:ext>
            </a:extLst>
          </p:cNvPr>
          <p:cNvSpPr>
            <a:spLocks noGrp="1"/>
          </p:cNvSpPr>
          <p:nvPr>
            <p:ph type="sldNum" sz="quarter" idx="12"/>
          </p:nvPr>
        </p:nvSpPr>
        <p:spPr/>
        <p:txBody>
          <a:bodyPr/>
          <a:lstStyle/>
          <a:p>
            <a:fld id="{B7884E68-CE57-44C0-BE0F-84C629DF22D5}" type="slidenum">
              <a:rPr lang="en-US" smtClean="0"/>
              <a:t>64</a:t>
            </a:fld>
            <a:endParaRPr lang="en-US" dirty="0"/>
          </a:p>
        </p:txBody>
      </p:sp>
      <p:grpSp>
        <p:nvGrpSpPr>
          <p:cNvPr id="7" name="Group 6">
            <a:extLst>
              <a:ext uri="{FF2B5EF4-FFF2-40B4-BE49-F238E27FC236}">
                <a16:creationId xmlns:a16="http://schemas.microsoft.com/office/drawing/2014/main" id="{F593803D-B87F-453E-A4C6-0E793EC7B0AD}"/>
              </a:ext>
            </a:extLst>
          </p:cNvPr>
          <p:cNvGrpSpPr/>
          <p:nvPr/>
        </p:nvGrpSpPr>
        <p:grpSpPr>
          <a:xfrm>
            <a:off x="8338928" y="1406981"/>
            <a:ext cx="3776870" cy="2847967"/>
            <a:chOff x="8075859" y="3164726"/>
            <a:chExt cx="3776870" cy="2847967"/>
          </a:xfrm>
        </p:grpSpPr>
        <p:sp>
          <p:nvSpPr>
            <p:cNvPr id="8" name="Oval 7">
              <a:extLst>
                <a:ext uri="{FF2B5EF4-FFF2-40B4-BE49-F238E27FC236}">
                  <a16:creationId xmlns:a16="http://schemas.microsoft.com/office/drawing/2014/main" id="{7579147B-7E4A-4D79-9C80-CF2CA2CAF4D6}"/>
                </a:ext>
              </a:extLst>
            </p:cNvPr>
            <p:cNvSpPr/>
            <p:nvPr/>
          </p:nvSpPr>
          <p:spPr>
            <a:xfrm>
              <a:off x="9538899" y="3164726"/>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a:t>
              </a:r>
            </a:p>
          </p:txBody>
        </p:sp>
        <p:sp>
          <p:nvSpPr>
            <p:cNvPr id="9" name="Rectangle 8">
              <a:extLst>
                <a:ext uri="{FF2B5EF4-FFF2-40B4-BE49-F238E27FC236}">
                  <a16:creationId xmlns:a16="http://schemas.microsoft.com/office/drawing/2014/main" id="{2C8569B7-7D4E-4CB4-8C69-05966ADE4B2A}"/>
                </a:ext>
              </a:extLst>
            </p:cNvPr>
            <p:cNvSpPr/>
            <p:nvPr/>
          </p:nvSpPr>
          <p:spPr>
            <a:xfrm>
              <a:off x="8441619" y="4267902"/>
              <a:ext cx="1097280" cy="54864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 &lt; Y</a:t>
              </a:r>
            </a:p>
          </p:txBody>
        </p:sp>
        <p:sp>
          <p:nvSpPr>
            <p:cNvPr id="10" name="Oval 9">
              <a:extLst>
                <a:ext uri="{FF2B5EF4-FFF2-40B4-BE49-F238E27FC236}">
                  <a16:creationId xmlns:a16="http://schemas.microsoft.com/office/drawing/2014/main" id="{BB69E3B5-D623-4E8D-9A23-88C3230BB3E3}"/>
                </a:ext>
              </a:extLst>
            </p:cNvPr>
            <p:cNvSpPr/>
            <p:nvPr/>
          </p:nvSpPr>
          <p:spPr>
            <a:xfrm>
              <a:off x="8075859" y="5281173"/>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Y</a:t>
              </a:r>
            </a:p>
          </p:txBody>
        </p:sp>
        <p:sp>
          <p:nvSpPr>
            <p:cNvPr id="11" name="Rectangle 10">
              <a:extLst>
                <a:ext uri="{FF2B5EF4-FFF2-40B4-BE49-F238E27FC236}">
                  <a16:creationId xmlns:a16="http://schemas.microsoft.com/office/drawing/2014/main" id="{6ADD8024-B7C7-42DB-8E47-4F692F2A4BB7}"/>
                </a:ext>
              </a:extLst>
            </p:cNvPr>
            <p:cNvSpPr/>
            <p:nvPr/>
          </p:nvSpPr>
          <p:spPr>
            <a:xfrm>
              <a:off x="10270419" y="4267902"/>
              <a:ext cx="1097280" cy="54864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Z &lt; x-2</a:t>
              </a:r>
            </a:p>
          </p:txBody>
        </p:sp>
        <p:sp>
          <p:nvSpPr>
            <p:cNvPr id="12" name="Oval 11">
              <a:extLst>
                <a:ext uri="{FF2B5EF4-FFF2-40B4-BE49-F238E27FC236}">
                  <a16:creationId xmlns:a16="http://schemas.microsoft.com/office/drawing/2014/main" id="{8A2AFC27-3370-4387-BD07-9FD0577BE535}"/>
                </a:ext>
              </a:extLst>
            </p:cNvPr>
            <p:cNvSpPr/>
            <p:nvPr/>
          </p:nvSpPr>
          <p:spPr>
            <a:xfrm>
              <a:off x="11121209" y="5281173"/>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Z</a:t>
              </a:r>
            </a:p>
          </p:txBody>
        </p:sp>
        <p:cxnSp>
          <p:nvCxnSpPr>
            <p:cNvPr id="13" name="Straight Connector 12">
              <a:extLst>
                <a:ext uri="{FF2B5EF4-FFF2-40B4-BE49-F238E27FC236}">
                  <a16:creationId xmlns:a16="http://schemas.microsoft.com/office/drawing/2014/main" id="{FE18B6B4-07B3-4F4C-B930-9D5925D0078B}"/>
                </a:ext>
              </a:extLst>
            </p:cNvPr>
            <p:cNvCxnSpPr>
              <a:stCxn id="8" idx="2"/>
              <a:endCxn id="9" idx="0"/>
            </p:cNvCxnSpPr>
            <p:nvPr/>
          </p:nvCxnSpPr>
          <p:spPr>
            <a:xfrm flipH="1">
              <a:off x="8990259" y="3530486"/>
              <a:ext cx="548640" cy="7374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86FEB3A-6BCA-4F82-A039-E5145B4BF759}"/>
                </a:ext>
              </a:extLst>
            </p:cNvPr>
            <p:cNvCxnSpPr>
              <a:cxnSpLocks/>
              <a:endCxn id="10" idx="0"/>
            </p:cNvCxnSpPr>
            <p:nvPr/>
          </p:nvCxnSpPr>
          <p:spPr>
            <a:xfrm flipH="1">
              <a:off x="8441619" y="4816542"/>
              <a:ext cx="274320" cy="4646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646AD5D-FD22-4C3E-8C7C-5E06F5F0075D}"/>
                </a:ext>
              </a:extLst>
            </p:cNvPr>
            <p:cNvCxnSpPr>
              <a:stCxn id="8" idx="6"/>
              <a:endCxn id="11" idx="0"/>
            </p:cNvCxnSpPr>
            <p:nvPr/>
          </p:nvCxnSpPr>
          <p:spPr>
            <a:xfrm>
              <a:off x="10270419" y="3530486"/>
              <a:ext cx="548640" cy="7374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2798DFB-4352-4CFB-A35D-C6080ED37794}"/>
                </a:ext>
              </a:extLst>
            </p:cNvPr>
            <p:cNvCxnSpPr>
              <a:cxnSpLocks/>
              <a:endCxn id="12" idx="0"/>
            </p:cNvCxnSpPr>
            <p:nvPr/>
          </p:nvCxnSpPr>
          <p:spPr>
            <a:xfrm>
              <a:off x="11121209" y="4816542"/>
              <a:ext cx="365760" cy="464631"/>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18" name="Straight Connector 17">
            <a:extLst>
              <a:ext uri="{FF2B5EF4-FFF2-40B4-BE49-F238E27FC236}">
                <a16:creationId xmlns:a16="http://schemas.microsoft.com/office/drawing/2014/main" id="{88681009-200B-4FDF-A911-0CC63BB019EC}"/>
              </a:ext>
            </a:extLst>
          </p:cNvPr>
          <p:cNvCxnSpPr/>
          <p:nvPr/>
        </p:nvCxnSpPr>
        <p:spPr>
          <a:xfrm flipH="1">
            <a:off x="4444995" y="2725422"/>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5603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5EE00-C7AF-4797-807E-B8E2C302E727}"/>
              </a:ext>
            </a:extLst>
          </p:cNvPr>
          <p:cNvSpPr>
            <a:spLocks noGrp="1"/>
          </p:cNvSpPr>
          <p:nvPr>
            <p:ph type="title"/>
          </p:nvPr>
        </p:nvSpPr>
        <p:spPr/>
        <p:txBody>
          <a:bodyPr>
            <a:normAutofit fontScale="90000"/>
          </a:bodyPr>
          <a:lstStyle/>
          <a:p>
            <a:r>
              <a:rPr lang="en-US" dirty="0"/>
              <a:t>AC-3 algorithm - Implementation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631C19-49AF-4209-8F3F-732B7F83696C}"/>
                  </a:ext>
                </a:extLst>
              </p:cNvPr>
              <p:cNvSpPr>
                <a:spLocks noGrp="1"/>
              </p:cNvSpPr>
              <p:nvPr>
                <p:ph idx="1"/>
              </p:nvPr>
            </p:nvSpPr>
            <p:spPr>
              <a:xfrm>
                <a:off x="304800" y="1228153"/>
                <a:ext cx="7805528" cy="5021979"/>
              </a:xfrm>
            </p:spPr>
            <p:txBody>
              <a:bodyPr>
                <a:noAutofit/>
              </a:bodyPr>
              <a:lstStyle/>
              <a:p>
                <a:r>
                  <a:rPr lang="en-US" dirty="0">
                    <a:solidFill>
                      <a:schemeClr val="accent6">
                        <a:lumMod val="75000"/>
                      </a:schemeClr>
                    </a:solidFill>
                  </a:rPr>
                  <a:t>Step 3: </a:t>
                </a:r>
              </a:p>
              <a:p>
                <a:pPr lvl="1"/>
                <a:r>
                  <a:rPr lang="en-US" sz="2800" dirty="0"/>
                  <a:t>Check arc (Y,X)</a:t>
                </a:r>
              </a:p>
              <a:p>
                <a:pPr lvl="1"/>
                <a:r>
                  <a:rPr lang="en-US" sz="2800" dirty="0">
                    <a:solidFill>
                      <a:srgbClr val="0033CC"/>
                    </a:solidFill>
                  </a:rPr>
                  <a:t>Remove 1 </a:t>
                </a:r>
                <a:r>
                  <a:rPr lang="en-US" sz="2800" dirty="0"/>
                  <a:t>from </a:t>
                </a:r>
                <a:r>
                  <a:rPr lang="en-US" sz="2800" i="1" dirty="0"/>
                  <a:t>D</a:t>
                </a:r>
                <a:r>
                  <a:rPr lang="en-US" sz="2800" baseline="-25000" dirty="0"/>
                  <a:t>Y</a:t>
                </a:r>
                <a:r>
                  <a:rPr lang="en-US" sz="2800" dirty="0"/>
                  <a:t> to make (Y,X) arc consistent.</a:t>
                </a:r>
              </a:p>
              <a:p>
                <a:pPr lvl="1"/>
                <a:r>
                  <a:rPr lang="en-US" sz="2800" dirty="0">
                    <a:solidFill>
                      <a:srgbClr val="C00000"/>
                    </a:solidFill>
                  </a:rPr>
                  <a:t>Domains:</a:t>
                </a:r>
                <a:r>
                  <a:rPr lang="en-US" sz="2800" dirty="0"/>
                  <a:t> </a:t>
                </a:r>
                <a:r>
                  <a:rPr lang="en-US" sz="2800" i="1" dirty="0"/>
                  <a:t>D</a:t>
                </a:r>
                <a:r>
                  <a:rPr lang="en-US" sz="2800" baseline="-25000" dirty="0"/>
                  <a:t>X </a:t>
                </a:r>
                <a:r>
                  <a:rPr lang="en-US" sz="2800" dirty="0"/>
                  <a:t>= {1,2,3,4,5,6}, </a:t>
                </a:r>
                <a:r>
                  <a:rPr lang="en-US" sz="2800" i="1" dirty="0"/>
                  <a:t>D</a:t>
                </a:r>
                <a:r>
                  <a:rPr lang="en-US" sz="2800" baseline="-25000" dirty="0"/>
                  <a:t>Y </a:t>
                </a:r>
                <a:r>
                  <a:rPr lang="en-US" sz="2800" dirty="0"/>
                  <a:t>= {1,2,3,4,5,6},                           </a:t>
                </a:r>
                <a:r>
                  <a:rPr lang="en-US" sz="2800" i="1" dirty="0"/>
                  <a:t>D</a:t>
                </a:r>
                <a:r>
                  <a:rPr lang="en-US" sz="2800" baseline="-25000" dirty="0"/>
                  <a:t>Z </a:t>
                </a:r>
                <a:r>
                  <a:rPr lang="en-US" sz="2800" dirty="0"/>
                  <a:t>= {1,2,3,4,5,6}</a:t>
                </a:r>
              </a:p>
              <a:p>
                <a:pPr lvl="1"/>
                <a:r>
                  <a:rPr lang="en-US" sz="2800" dirty="0"/>
                  <a:t>Since </a:t>
                </a:r>
                <a:r>
                  <a:rPr lang="en-US" sz="2800" i="1" dirty="0"/>
                  <a:t>D</a:t>
                </a:r>
                <a:r>
                  <a:rPr lang="en-US" sz="2800" baseline="-25000" dirty="0"/>
                  <a:t>Y</a:t>
                </a:r>
                <a:r>
                  <a:rPr lang="en-US" sz="2800" dirty="0"/>
                  <a:t> has changed, you must </a:t>
                </a:r>
                <a:r>
                  <a:rPr lang="en-US" sz="2800" dirty="0">
                    <a:solidFill>
                      <a:srgbClr val="C00000"/>
                    </a:solidFill>
                  </a:rPr>
                  <a:t>re-enqueue</a:t>
                </a:r>
                <a:r>
                  <a:rPr lang="en-US" sz="2800" dirty="0"/>
                  <a:t> all   (</a:t>
                </a:r>
                <a:r>
                  <a:rPr lang="en-US" sz="2800" i="1" dirty="0" err="1">
                    <a:latin typeface="Times New Roman" panose="02020603050405020304" pitchFamily="18" charset="0"/>
                    <a:cs typeface="Times New Roman" panose="02020603050405020304" pitchFamily="18" charset="0"/>
                  </a:rPr>
                  <a:t>i</a:t>
                </a:r>
                <a:r>
                  <a:rPr lang="en-US" sz="2800" dirty="0"/>
                  <a:t>, Y) arcs where </a:t>
                </a:r>
                <a:r>
                  <a:rPr lang="en-US" sz="2800" i="1" dirty="0" err="1">
                    <a:latin typeface="Times New Roman" panose="02020603050405020304" pitchFamily="18" charset="0"/>
                    <a:cs typeface="Times New Roman" panose="02020603050405020304" pitchFamily="18" charset="0"/>
                  </a:rPr>
                  <a:t>i</a:t>
                </a:r>
                <a:r>
                  <a:rPr lang="en-US" sz="2800" dirty="0"/>
                  <a:t> </a:t>
                </a:r>
                <a14:m>
                  <m:oMath xmlns:m="http://schemas.openxmlformats.org/officeDocument/2006/math">
                    <m:r>
                      <a:rPr lang="en-US" sz="2800" i="1" dirty="0">
                        <a:latin typeface="Cambria Math" panose="02040503050406030204" pitchFamily="18" charset="0"/>
                      </a:rPr>
                      <m:t>∈ </m:t>
                    </m:r>
                  </m:oMath>
                </a14:m>
                <a:r>
                  <a:rPr lang="en-US" sz="2800" dirty="0"/>
                  <a:t>Neighbors(Y) and </a:t>
                </a:r>
                <a:r>
                  <a:rPr lang="en-US" sz="2800" i="1" dirty="0" err="1">
                    <a:latin typeface="Times New Roman" panose="02020603050405020304" pitchFamily="18" charset="0"/>
                    <a:cs typeface="Times New Roman" panose="02020603050405020304" pitchFamily="18" charset="0"/>
                  </a:rPr>
                  <a:t>i</a:t>
                </a:r>
                <a:r>
                  <a:rPr lang="en-US" sz="2800" i="1" dirty="0">
                    <a:latin typeface="Times New Roman" panose="02020603050405020304" pitchFamily="18" charset="0"/>
                    <a:cs typeface="Times New Roman" panose="02020603050405020304" pitchFamily="18" charset="0"/>
                  </a:rPr>
                  <a:t> ≠ </a:t>
                </a:r>
                <a:r>
                  <a:rPr lang="en-US" sz="2800" dirty="0"/>
                  <a:t>X. Since </a:t>
                </a:r>
                <a:r>
                  <a:rPr lang="en-US" sz="2800" u="sng" dirty="0"/>
                  <a:t>Y has only X in its neighbors list</a:t>
                </a:r>
                <a:r>
                  <a:rPr lang="en-US" sz="2800" dirty="0"/>
                  <a:t>, </a:t>
                </a:r>
                <a:r>
                  <a:rPr lang="en-US" sz="2800" dirty="0">
                    <a:solidFill>
                      <a:srgbClr val="C00000"/>
                    </a:solidFill>
                  </a:rPr>
                  <a:t>no arc will be    re-enqueued</a:t>
                </a:r>
                <a:r>
                  <a:rPr lang="en-US" sz="2800" dirty="0"/>
                  <a:t>.</a:t>
                </a:r>
              </a:p>
              <a:p>
                <a:pPr lvl="1"/>
                <a:r>
                  <a:rPr lang="en-US" sz="2800" dirty="0">
                    <a:solidFill>
                      <a:srgbClr val="0033CC"/>
                    </a:solidFill>
                  </a:rPr>
                  <a:t>Remove arc (Y,X) </a:t>
                </a:r>
                <a:r>
                  <a:rPr lang="en-US" sz="2800" dirty="0"/>
                  <a:t>from </a:t>
                </a:r>
                <a:r>
                  <a:rPr lang="en-US" sz="2800" dirty="0" err="1"/>
                  <a:t>Arc_</a:t>
                </a:r>
                <a:r>
                  <a:rPr lang="en-US" sz="2800" b="1" dirty="0" err="1">
                    <a:solidFill>
                      <a:schemeClr val="dk1"/>
                    </a:solidFill>
                  </a:rPr>
                  <a:t>Queue</a:t>
                </a:r>
                <a:r>
                  <a:rPr lang="en-US" sz="2800" b="1" dirty="0">
                    <a:solidFill>
                      <a:schemeClr val="dk1"/>
                    </a:solidFill>
                  </a:rPr>
                  <a:t> </a:t>
                </a:r>
                <a:endParaRPr lang="en-US" sz="2800" dirty="0"/>
              </a:p>
              <a:p>
                <a:pPr lvl="1"/>
                <a:r>
                  <a:rPr lang="en-US" sz="2800" dirty="0"/>
                  <a:t>Arc_</a:t>
                </a:r>
                <a:r>
                  <a:rPr lang="en-US" sz="2800" b="1" dirty="0">
                    <a:solidFill>
                      <a:schemeClr val="dk1"/>
                    </a:solidFill>
                  </a:rPr>
                  <a:t>Queue = </a:t>
                </a:r>
                <a:r>
                  <a:rPr lang="en-US" sz="2800" dirty="0"/>
                  <a:t>(X,Z), (Z,X)</a:t>
                </a:r>
              </a:p>
            </p:txBody>
          </p:sp>
        </mc:Choice>
        <mc:Fallback xmlns="">
          <p:sp>
            <p:nvSpPr>
              <p:cNvPr id="3" name="Content Placeholder 2">
                <a:extLst>
                  <a:ext uri="{FF2B5EF4-FFF2-40B4-BE49-F238E27FC236}">
                    <a16:creationId xmlns:a16="http://schemas.microsoft.com/office/drawing/2014/main" id="{E9631C19-49AF-4209-8F3F-732B7F83696C}"/>
                  </a:ext>
                </a:extLst>
              </p:cNvPr>
              <p:cNvSpPr>
                <a:spLocks noGrp="1" noRot="1" noChangeAspect="1" noMove="1" noResize="1" noEditPoints="1" noAdjustHandles="1" noChangeArrowheads="1" noChangeShapeType="1" noTextEdit="1"/>
              </p:cNvSpPr>
              <p:nvPr>
                <p:ph idx="1"/>
              </p:nvPr>
            </p:nvSpPr>
            <p:spPr>
              <a:xfrm>
                <a:off x="304800" y="1228153"/>
                <a:ext cx="7805528" cy="5021979"/>
              </a:xfrm>
              <a:blipFill>
                <a:blip r:embed="rId2"/>
                <a:stretch>
                  <a:fillRect l="-2188" t="-3034" r="-2203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1C83C63-FB7E-4D4D-A0A3-17617428F0D0}"/>
              </a:ext>
            </a:extLst>
          </p:cNvPr>
          <p:cNvSpPr>
            <a:spLocks noGrp="1"/>
          </p:cNvSpPr>
          <p:nvPr>
            <p:ph type="dt" sz="half" idx="10"/>
          </p:nvPr>
        </p:nvSpPr>
        <p:spPr/>
        <p:txBody>
          <a:bodyPr/>
          <a:lstStyle/>
          <a:p>
            <a:fld id="{C2EBCB3B-0D71-481E-A68B-9B57A6B53C51}" type="datetime1">
              <a:rPr lang="en-US" smtClean="0"/>
              <a:t>10/16/2022</a:t>
            </a:fld>
            <a:endParaRPr lang="en-US" dirty="0"/>
          </a:p>
        </p:txBody>
      </p:sp>
      <p:sp>
        <p:nvSpPr>
          <p:cNvPr id="5" name="Footer Placeholder 4">
            <a:extLst>
              <a:ext uri="{FF2B5EF4-FFF2-40B4-BE49-F238E27FC236}">
                <a16:creationId xmlns:a16="http://schemas.microsoft.com/office/drawing/2014/main" id="{E0A3D8BB-2004-4269-9965-3E94EE07C45D}"/>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6EA57757-B9F5-4F47-B7C5-1D2494C52B76}"/>
              </a:ext>
            </a:extLst>
          </p:cNvPr>
          <p:cNvSpPr>
            <a:spLocks noGrp="1"/>
          </p:cNvSpPr>
          <p:nvPr>
            <p:ph type="sldNum" sz="quarter" idx="12"/>
          </p:nvPr>
        </p:nvSpPr>
        <p:spPr/>
        <p:txBody>
          <a:bodyPr/>
          <a:lstStyle/>
          <a:p>
            <a:fld id="{B7884E68-CE57-44C0-BE0F-84C629DF22D5}" type="slidenum">
              <a:rPr lang="en-US" smtClean="0"/>
              <a:t>65</a:t>
            </a:fld>
            <a:endParaRPr lang="en-US" dirty="0"/>
          </a:p>
        </p:txBody>
      </p:sp>
      <p:grpSp>
        <p:nvGrpSpPr>
          <p:cNvPr id="7" name="Group 6">
            <a:extLst>
              <a:ext uri="{FF2B5EF4-FFF2-40B4-BE49-F238E27FC236}">
                <a16:creationId xmlns:a16="http://schemas.microsoft.com/office/drawing/2014/main" id="{F593803D-B87F-453E-A4C6-0E793EC7B0AD}"/>
              </a:ext>
            </a:extLst>
          </p:cNvPr>
          <p:cNvGrpSpPr/>
          <p:nvPr/>
        </p:nvGrpSpPr>
        <p:grpSpPr>
          <a:xfrm>
            <a:off x="8329403" y="1406981"/>
            <a:ext cx="3776870" cy="2847967"/>
            <a:chOff x="8075859" y="3164726"/>
            <a:chExt cx="3776870" cy="2847967"/>
          </a:xfrm>
        </p:grpSpPr>
        <p:sp>
          <p:nvSpPr>
            <p:cNvPr id="8" name="Oval 7">
              <a:extLst>
                <a:ext uri="{FF2B5EF4-FFF2-40B4-BE49-F238E27FC236}">
                  <a16:creationId xmlns:a16="http://schemas.microsoft.com/office/drawing/2014/main" id="{7579147B-7E4A-4D79-9C80-CF2CA2CAF4D6}"/>
                </a:ext>
              </a:extLst>
            </p:cNvPr>
            <p:cNvSpPr/>
            <p:nvPr/>
          </p:nvSpPr>
          <p:spPr>
            <a:xfrm>
              <a:off x="9538899" y="3164726"/>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a:t>
              </a:r>
            </a:p>
          </p:txBody>
        </p:sp>
        <p:sp>
          <p:nvSpPr>
            <p:cNvPr id="9" name="Rectangle 8">
              <a:extLst>
                <a:ext uri="{FF2B5EF4-FFF2-40B4-BE49-F238E27FC236}">
                  <a16:creationId xmlns:a16="http://schemas.microsoft.com/office/drawing/2014/main" id="{2C8569B7-7D4E-4CB4-8C69-05966ADE4B2A}"/>
                </a:ext>
              </a:extLst>
            </p:cNvPr>
            <p:cNvSpPr/>
            <p:nvPr/>
          </p:nvSpPr>
          <p:spPr>
            <a:xfrm>
              <a:off x="8441619" y="4267902"/>
              <a:ext cx="1097280" cy="54864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 &lt; Y</a:t>
              </a:r>
            </a:p>
          </p:txBody>
        </p:sp>
        <p:sp>
          <p:nvSpPr>
            <p:cNvPr id="10" name="Oval 9">
              <a:extLst>
                <a:ext uri="{FF2B5EF4-FFF2-40B4-BE49-F238E27FC236}">
                  <a16:creationId xmlns:a16="http://schemas.microsoft.com/office/drawing/2014/main" id="{BB69E3B5-D623-4E8D-9A23-88C3230BB3E3}"/>
                </a:ext>
              </a:extLst>
            </p:cNvPr>
            <p:cNvSpPr/>
            <p:nvPr/>
          </p:nvSpPr>
          <p:spPr>
            <a:xfrm>
              <a:off x="8075859" y="5281173"/>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Y</a:t>
              </a:r>
            </a:p>
          </p:txBody>
        </p:sp>
        <p:sp>
          <p:nvSpPr>
            <p:cNvPr id="11" name="Rectangle 10">
              <a:extLst>
                <a:ext uri="{FF2B5EF4-FFF2-40B4-BE49-F238E27FC236}">
                  <a16:creationId xmlns:a16="http://schemas.microsoft.com/office/drawing/2014/main" id="{6ADD8024-B7C7-42DB-8E47-4F692F2A4BB7}"/>
                </a:ext>
              </a:extLst>
            </p:cNvPr>
            <p:cNvSpPr/>
            <p:nvPr/>
          </p:nvSpPr>
          <p:spPr>
            <a:xfrm>
              <a:off x="10270419" y="4267902"/>
              <a:ext cx="1097280" cy="54864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Z &lt; x-2</a:t>
              </a:r>
            </a:p>
          </p:txBody>
        </p:sp>
        <p:sp>
          <p:nvSpPr>
            <p:cNvPr id="12" name="Oval 11">
              <a:extLst>
                <a:ext uri="{FF2B5EF4-FFF2-40B4-BE49-F238E27FC236}">
                  <a16:creationId xmlns:a16="http://schemas.microsoft.com/office/drawing/2014/main" id="{8A2AFC27-3370-4387-BD07-9FD0577BE535}"/>
                </a:ext>
              </a:extLst>
            </p:cNvPr>
            <p:cNvSpPr/>
            <p:nvPr/>
          </p:nvSpPr>
          <p:spPr>
            <a:xfrm>
              <a:off x="11121209" y="5281173"/>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Z</a:t>
              </a:r>
            </a:p>
          </p:txBody>
        </p:sp>
        <p:cxnSp>
          <p:nvCxnSpPr>
            <p:cNvPr id="13" name="Straight Connector 12">
              <a:extLst>
                <a:ext uri="{FF2B5EF4-FFF2-40B4-BE49-F238E27FC236}">
                  <a16:creationId xmlns:a16="http://schemas.microsoft.com/office/drawing/2014/main" id="{FE18B6B4-07B3-4F4C-B930-9D5925D0078B}"/>
                </a:ext>
              </a:extLst>
            </p:cNvPr>
            <p:cNvCxnSpPr>
              <a:stCxn id="8" idx="2"/>
              <a:endCxn id="9" idx="0"/>
            </p:cNvCxnSpPr>
            <p:nvPr/>
          </p:nvCxnSpPr>
          <p:spPr>
            <a:xfrm flipH="1">
              <a:off x="8990259" y="3530486"/>
              <a:ext cx="548640" cy="7374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86FEB3A-6BCA-4F82-A039-E5145B4BF759}"/>
                </a:ext>
              </a:extLst>
            </p:cNvPr>
            <p:cNvCxnSpPr>
              <a:cxnSpLocks/>
              <a:endCxn id="10" idx="0"/>
            </p:cNvCxnSpPr>
            <p:nvPr/>
          </p:nvCxnSpPr>
          <p:spPr>
            <a:xfrm flipH="1">
              <a:off x="8441619" y="4816542"/>
              <a:ext cx="274320" cy="4646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646AD5D-FD22-4C3E-8C7C-5E06F5F0075D}"/>
                </a:ext>
              </a:extLst>
            </p:cNvPr>
            <p:cNvCxnSpPr>
              <a:stCxn id="8" idx="6"/>
              <a:endCxn id="11" idx="0"/>
            </p:cNvCxnSpPr>
            <p:nvPr/>
          </p:nvCxnSpPr>
          <p:spPr>
            <a:xfrm>
              <a:off x="10270419" y="3530486"/>
              <a:ext cx="548640" cy="7374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2798DFB-4352-4CFB-A35D-C6080ED37794}"/>
                </a:ext>
              </a:extLst>
            </p:cNvPr>
            <p:cNvCxnSpPr>
              <a:cxnSpLocks/>
              <a:endCxn id="12" idx="0"/>
            </p:cNvCxnSpPr>
            <p:nvPr/>
          </p:nvCxnSpPr>
          <p:spPr>
            <a:xfrm>
              <a:off x="11121209" y="4816542"/>
              <a:ext cx="365760" cy="464631"/>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18" name="Straight Connector 17">
            <a:extLst>
              <a:ext uri="{FF2B5EF4-FFF2-40B4-BE49-F238E27FC236}">
                <a16:creationId xmlns:a16="http://schemas.microsoft.com/office/drawing/2014/main" id="{18AE333B-7B1E-487F-9592-5F57D63B4295}"/>
              </a:ext>
            </a:extLst>
          </p:cNvPr>
          <p:cNvCxnSpPr/>
          <p:nvPr/>
        </p:nvCxnSpPr>
        <p:spPr>
          <a:xfrm flipH="1">
            <a:off x="5684088" y="2720531"/>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CF5187E-5EF6-4ED1-A95F-A4BCA690E798}"/>
              </a:ext>
            </a:extLst>
          </p:cNvPr>
          <p:cNvCxnSpPr/>
          <p:nvPr/>
        </p:nvCxnSpPr>
        <p:spPr>
          <a:xfrm flipH="1">
            <a:off x="4476750" y="2695575"/>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0682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5EE00-C7AF-4797-807E-B8E2C302E727}"/>
              </a:ext>
            </a:extLst>
          </p:cNvPr>
          <p:cNvSpPr>
            <a:spLocks noGrp="1"/>
          </p:cNvSpPr>
          <p:nvPr>
            <p:ph type="title"/>
          </p:nvPr>
        </p:nvSpPr>
        <p:spPr/>
        <p:txBody>
          <a:bodyPr>
            <a:normAutofit fontScale="90000"/>
          </a:bodyPr>
          <a:lstStyle/>
          <a:p>
            <a:r>
              <a:rPr lang="en-US" dirty="0"/>
              <a:t>AC-3 algorithm - Implementation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9631C19-49AF-4209-8F3F-732B7F83696C}"/>
                  </a:ext>
                </a:extLst>
              </p:cNvPr>
              <p:cNvSpPr>
                <a:spLocks noGrp="1"/>
              </p:cNvSpPr>
              <p:nvPr>
                <p:ph idx="1"/>
              </p:nvPr>
            </p:nvSpPr>
            <p:spPr>
              <a:xfrm>
                <a:off x="304800" y="1151951"/>
                <a:ext cx="7805528" cy="5343243"/>
              </a:xfrm>
            </p:spPr>
            <p:txBody>
              <a:bodyPr>
                <a:normAutofit/>
              </a:bodyPr>
              <a:lstStyle/>
              <a:p>
                <a:r>
                  <a:rPr lang="en-US" dirty="0">
                    <a:solidFill>
                      <a:schemeClr val="accent6">
                        <a:lumMod val="75000"/>
                      </a:schemeClr>
                    </a:solidFill>
                  </a:rPr>
                  <a:t>Step 4: </a:t>
                </a:r>
              </a:p>
              <a:p>
                <a:pPr lvl="1"/>
                <a:r>
                  <a:rPr lang="en-US" sz="2800" dirty="0"/>
                  <a:t>Check arc (X,Z)</a:t>
                </a:r>
              </a:p>
              <a:p>
                <a:pPr lvl="1"/>
                <a:r>
                  <a:rPr lang="en-US" sz="2800" dirty="0">
                    <a:solidFill>
                      <a:srgbClr val="0033CC"/>
                    </a:solidFill>
                  </a:rPr>
                  <a:t>Remove 1, 2 and 3 </a:t>
                </a:r>
                <a:r>
                  <a:rPr lang="en-US" sz="2800" dirty="0"/>
                  <a:t>from </a:t>
                </a:r>
                <a:r>
                  <a:rPr lang="en-US" sz="2800" i="1" dirty="0"/>
                  <a:t>D</a:t>
                </a:r>
                <a:r>
                  <a:rPr lang="en-US" sz="2800" baseline="-25000" dirty="0"/>
                  <a:t>X</a:t>
                </a:r>
                <a:r>
                  <a:rPr lang="en-US" sz="2800" dirty="0"/>
                  <a:t> to make (X,Z) arc consistent. </a:t>
                </a:r>
              </a:p>
              <a:p>
                <a:pPr lvl="1"/>
                <a:r>
                  <a:rPr lang="en-US" sz="2800" dirty="0">
                    <a:solidFill>
                      <a:srgbClr val="C00000"/>
                    </a:solidFill>
                  </a:rPr>
                  <a:t>Domains:</a:t>
                </a:r>
                <a:r>
                  <a:rPr lang="en-US" sz="2800" dirty="0"/>
                  <a:t> </a:t>
                </a:r>
                <a:r>
                  <a:rPr lang="en-US" sz="2800" i="1" dirty="0"/>
                  <a:t>D</a:t>
                </a:r>
                <a:r>
                  <a:rPr lang="en-US" sz="2800" baseline="-25000" dirty="0"/>
                  <a:t>X </a:t>
                </a:r>
                <a:r>
                  <a:rPr lang="en-US" sz="2800" dirty="0"/>
                  <a:t>= {1,2,3,4,5,6}, </a:t>
                </a:r>
                <a:r>
                  <a:rPr lang="en-US" sz="2800" i="1" dirty="0"/>
                  <a:t>D</a:t>
                </a:r>
                <a:r>
                  <a:rPr lang="en-US" sz="2800" baseline="-25000" dirty="0"/>
                  <a:t>Y </a:t>
                </a:r>
                <a:r>
                  <a:rPr lang="en-US" sz="2800" dirty="0"/>
                  <a:t>= {1,2,3,4,5,6},     </a:t>
                </a:r>
                <a:r>
                  <a:rPr lang="en-US" sz="2800" i="1" dirty="0"/>
                  <a:t>D</a:t>
                </a:r>
                <a:r>
                  <a:rPr lang="en-US" sz="2800" baseline="-25000" dirty="0"/>
                  <a:t>Z </a:t>
                </a:r>
                <a:r>
                  <a:rPr lang="en-US" sz="2800" dirty="0"/>
                  <a:t>= {1,2,3,4,5,6}</a:t>
                </a:r>
                <a:endParaRPr lang="en-US" sz="2400" dirty="0"/>
              </a:p>
              <a:p>
                <a:pPr lvl="1"/>
                <a:r>
                  <a:rPr lang="en-US" sz="2800" dirty="0"/>
                  <a:t>Since </a:t>
                </a:r>
                <a:r>
                  <a:rPr lang="en-US" sz="2800" i="1" dirty="0"/>
                  <a:t>D</a:t>
                </a:r>
                <a:r>
                  <a:rPr lang="en-US" sz="2800" baseline="-25000" dirty="0"/>
                  <a:t>X</a:t>
                </a:r>
                <a:r>
                  <a:rPr lang="en-US" sz="2800" dirty="0"/>
                  <a:t> has changed, you must </a:t>
                </a:r>
                <a:r>
                  <a:rPr lang="en-US" sz="2800" dirty="0">
                    <a:solidFill>
                      <a:srgbClr val="C00000"/>
                    </a:solidFill>
                  </a:rPr>
                  <a:t>re-enqueue</a:t>
                </a:r>
                <a:r>
                  <a:rPr lang="en-US" sz="2800" dirty="0"/>
                  <a:t> all  (</a:t>
                </a:r>
                <a:r>
                  <a:rPr lang="en-US" sz="2800" i="1" dirty="0" err="1">
                    <a:latin typeface="Times New Roman" panose="02020603050405020304" pitchFamily="18" charset="0"/>
                    <a:cs typeface="Times New Roman" panose="02020603050405020304" pitchFamily="18" charset="0"/>
                  </a:rPr>
                  <a:t>i</a:t>
                </a:r>
                <a:r>
                  <a:rPr lang="en-US" sz="2800" dirty="0"/>
                  <a:t>, X) arcs where </a:t>
                </a:r>
                <a:r>
                  <a:rPr lang="en-US" sz="2800" i="1" dirty="0" err="1">
                    <a:latin typeface="Times New Roman" panose="02020603050405020304" pitchFamily="18" charset="0"/>
                    <a:cs typeface="Times New Roman" panose="02020603050405020304" pitchFamily="18" charset="0"/>
                  </a:rPr>
                  <a:t>i</a:t>
                </a:r>
                <a:r>
                  <a:rPr lang="en-US" sz="2800" dirty="0"/>
                  <a:t> </a:t>
                </a:r>
                <a14:m>
                  <m:oMath xmlns:m="http://schemas.openxmlformats.org/officeDocument/2006/math">
                    <m:r>
                      <a:rPr lang="en-US" sz="2800" i="1" dirty="0">
                        <a:latin typeface="Cambria Math" panose="02040503050406030204" pitchFamily="18" charset="0"/>
                      </a:rPr>
                      <m:t>∈ </m:t>
                    </m:r>
                  </m:oMath>
                </a14:m>
                <a:r>
                  <a:rPr lang="en-US" sz="2800" dirty="0"/>
                  <a:t>Neighbors(X) and </a:t>
                </a:r>
                <a:r>
                  <a:rPr lang="en-US" sz="2800" i="1" dirty="0" err="1">
                    <a:latin typeface="Times New Roman" panose="02020603050405020304" pitchFamily="18" charset="0"/>
                    <a:cs typeface="Times New Roman" panose="02020603050405020304" pitchFamily="18" charset="0"/>
                  </a:rPr>
                  <a:t>i</a:t>
                </a:r>
                <a:r>
                  <a:rPr lang="en-US" sz="2800" i="1" dirty="0">
                    <a:latin typeface="Times New Roman" panose="02020603050405020304" pitchFamily="18" charset="0"/>
                    <a:cs typeface="Times New Roman" panose="02020603050405020304" pitchFamily="18" charset="0"/>
                  </a:rPr>
                  <a:t> ≠ </a:t>
                </a:r>
                <a:r>
                  <a:rPr lang="en-US" sz="2800" dirty="0"/>
                  <a:t>Z, i.e. enqueue (Y,X) </a:t>
                </a:r>
                <a:r>
                  <a:rPr lang="en-US" sz="2800" u="sng" dirty="0"/>
                  <a:t>if it is not already enqueued</a:t>
                </a:r>
                <a:r>
                  <a:rPr lang="en-US" sz="2800" dirty="0"/>
                  <a:t>.        </a:t>
                </a:r>
                <a:r>
                  <a:rPr lang="en-US" sz="2800" dirty="0">
                    <a:sym typeface="Wingdings" panose="05000000000000000000" pitchFamily="2" charset="2"/>
                  </a:rPr>
                  <a:t> </a:t>
                </a:r>
                <a:r>
                  <a:rPr lang="en-US" sz="2800" dirty="0">
                    <a:solidFill>
                      <a:srgbClr val="0033CC"/>
                    </a:solidFill>
                  </a:rPr>
                  <a:t>Add arc (Y,X) </a:t>
                </a:r>
                <a:r>
                  <a:rPr lang="en-US" sz="2800" dirty="0"/>
                  <a:t>to </a:t>
                </a:r>
                <a:r>
                  <a:rPr lang="en-US" sz="2800" dirty="0" err="1"/>
                  <a:t>Arc_</a:t>
                </a:r>
                <a:r>
                  <a:rPr lang="en-US" sz="2800" b="1" dirty="0" err="1">
                    <a:solidFill>
                      <a:schemeClr val="dk1"/>
                    </a:solidFill>
                  </a:rPr>
                  <a:t>Queue</a:t>
                </a:r>
                <a:endParaRPr lang="en-US" sz="2800" dirty="0"/>
              </a:p>
              <a:p>
                <a:pPr lvl="1"/>
                <a:r>
                  <a:rPr lang="en-US" sz="2800" dirty="0">
                    <a:solidFill>
                      <a:srgbClr val="0033CC"/>
                    </a:solidFill>
                  </a:rPr>
                  <a:t>Remove arc (X, Z) </a:t>
                </a:r>
                <a:r>
                  <a:rPr lang="en-US" sz="2800" dirty="0"/>
                  <a:t>from </a:t>
                </a:r>
                <a:r>
                  <a:rPr lang="en-US" sz="2800" dirty="0" err="1"/>
                  <a:t>Arc_</a:t>
                </a:r>
                <a:r>
                  <a:rPr lang="en-US" sz="2800" b="1" dirty="0" err="1">
                    <a:solidFill>
                      <a:schemeClr val="dk1"/>
                    </a:solidFill>
                  </a:rPr>
                  <a:t>Queue</a:t>
                </a:r>
                <a:endParaRPr lang="en-US" sz="2800" dirty="0"/>
              </a:p>
              <a:p>
                <a:pPr lvl="1"/>
                <a:r>
                  <a:rPr lang="en-US" sz="2800" dirty="0"/>
                  <a:t>Arc_</a:t>
                </a:r>
                <a:r>
                  <a:rPr lang="en-US" sz="2800" b="1" dirty="0">
                    <a:solidFill>
                      <a:schemeClr val="dk1"/>
                    </a:solidFill>
                  </a:rPr>
                  <a:t>Queue = </a:t>
                </a:r>
                <a:r>
                  <a:rPr lang="en-US" sz="2800" dirty="0"/>
                  <a:t>(Z,X), </a:t>
                </a:r>
                <a:r>
                  <a:rPr lang="en-US" sz="2800" dirty="0" smtClean="0"/>
                  <a:t>(Y,X)</a:t>
                </a:r>
                <a:endParaRPr lang="en-US" sz="2800" dirty="0"/>
              </a:p>
              <a:p>
                <a:pPr lvl="1"/>
                <a:endParaRPr lang="en-US" sz="2600" dirty="0"/>
              </a:p>
              <a:p>
                <a:pPr lvl="1"/>
                <a:endParaRPr lang="en-US" dirty="0"/>
              </a:p>
            </p:txBody>
          </p:sp>
        </mc:Choice>
        <mc:Fallback>
          <p:sp>
            <p:nvSpPr>
              <p:cNvPr id="3" name="Content Placeholder 2">
                <a:extLst>
                  <a:ext uri="{FF2B5EF4-FFF2-40B4-BE49-F238E27FC236}">
                    <a16:creationId xmlns:a16="http://schemas.microsoft.com/office/drawing/2014/main" id="{E9631C19-49AF-4209-8F3F-732B7F83696C}"/>
                  </a:ext>
                </a:extLst>
              </p:cNvPr>
              <p:cNvSpPr>
                <a:spLocks noGrp="1" noRot="1" noChangeAspect="1" noMove="1" noResize="1" noEditPoints="1" noAdjustHandles="1" noChangeArrowheads="1" noChangeShapeType="1" noTextEdit="1"/>
              </p:cNvSpPr>
              <p:nvPr>
                <p:ph idx="1"/>
              </p:nvPr>
            </p:nvSpPr>
            <p:spPr>
              <a:xfrm>
                <a:off x="304800" y="1151951"/>
                <a:ext cx="7805528" cy="5343243"/>
              </a:xfrm>
              <a:blipFill>
                <a:blip r:embed="rId2"/>
                <a:stretch>
                  <a:fillRect l="-2188" t="-2854" b="-342"/>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1C83C63-FB7E-4D4D-A0A3-17617428F0D0}"/>
              </a:ext>
            </a:extLst>
          </p:cNvPr>
          <p:cNvSpPr>
            <a:spLocks noGrp="1"/>
          </p:cNvSpPr>
          <p:nvPr>
            <p:ph type="dt" sz="half" idx="10"/>
          </p:nvPr>
        </p:nvSpPr>
        <p:spPr/>
        <p:txBody>
          <a:bodyPr/>
          <a:lstStyle/>
          <a:p>
            <a:fld id="{C2EBCB3B-0D71-481E-A68B-9B57A6B53C51}" type="datetime1">
              <a:rPr lang="en-US" smtClean="0"/>
              <a:t>10/16/2022</a:t>
            </a:fld>
            <a:endParaRPr lang="en-US" dirty="0"/>
          </a:p>
        </p:txBody>
      </p:sp>
      <p:sp>
        <p:nvSpPr>
          <p:cNvPr id="5" name="Footer Placeholder 4">
            <a:extLst>
              <a:ext uri="{FF2B5EF4-FFF2-40B4-BE49-F238E27FC236}">
                <a16:creationId xmlns:a16="http://schemas.microsoft.com/office/drawing/2014/main" id="{E0A3D8BB-2004-4269-9965-3E94EE07C45D}"/>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6EA57757-B9F5-4F47-B7C5-1D2494C52B76}"/>
              </a:ext>
            </a:extLst>
          </p:cNvPr>
          <p:cNvSpPr>
            <a:spLocks noGrp="1"/>
          </p:cNvSpPr>
          <p:nvPr>
            <p:ph type="sldNum" sz="quarter" idx="12"/>
          </p:nvPr>
        </p:nvSpPr>
        <p:spPr/>
        <p:txBody>
          <a:bodyPr/>
          <a:lstStyle/>
          <a:p>
            <a:fld id="{B7884E68-CE57-44C0-BE0F-84C629DF22D5}" type="slidenum">
              <a:rPr lang="en-US" smtClean="0"/>
              <a:t>66</a:t>
            </a:fld>
            <a:endParaRPr lang="en-US" dirty="0"/>
          </a:p>
        </p:txBody>
      </p:sp>
      <p:grpSp>
        <p:nvGrpSpPr>
          <p:cNvPr id="7" name="Group 6">
            <a:extLst>
              <a:ext uri="{FF2B5EF4-FFF2-40B4-BE49-F238E27FC236}">
                <a16:creationId xmlns:a16="http://schemas.microsoft.com/office/drawing/2014/main" id="{F593803D-B87F-453E-A4C6-0E793EC7B0AD}"/>
              </a:ext>
            </a:extLst>
          </p:cNvPr>
          <p:cNvGrpSpPr/>
          <p:nvPr/>
        </p:nvGrpSpPr>
        <p:grpSpPr>
          <a:xfrm>
            <a:off x="8329403" y="1406981"/>
            <a:ext cx="3776870" cy="2847967"/>
            <a:chOff x="8075859" y="3164726"/>
            <a:chExt cx="3776870" cy="2847967"/>
          </a:xfrm>
        </p:grpSpPr>
        <p:sp>
          <p:nvSpPr>
            <p:cNvPr id="8" name="Oval 7">
              <a:extLst>
                <a:ext uri="{FF2B5EF4-FFF2-40B4-BE49-F238E27FC236}">
                  <a16:creationId xmlns:a16="http://schemas.microsoft.com/office/drawing/2014/main" id="{7579147B-7E4A-4D79-9C80-CF2CA2CAF4D6}"/>
                </a:ext>
              </a:extLst>
            </p:cNvPr>
            <p:cNvSpPr/>
            <p:nvPr/>
          </p:nvSpPr>
          <p:spPr>
            <a:xfrm>
              <a:off x="9538899" y="3164726"/>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a:t>
              </a:r>
            </a:p>
          </p:txBody>
        </p:sp>
        <p:sp>
          <p:nvSpPr>
            <p:cNvPr id="9" name="Rectangle 8">
              <a:extLst>
                <a:ext uri="{FF2B5EF4-FFF2-40B4-BE49-F238E27FC236}">
                  <a16:creationId xmlns:a16="http://schemas.microsoft.com/office/drawing/2014/main" id="{2C8569B7-7D4E-4CB4-8C69-05966ADE4B2A}"/>
                </a:ext>
              </a:extLst>
            </p:cNvPr>
            <p:cNvSpPr/>
            <p:nvPr/>
          </p:nvSpPr>
          <p:spPr>
            <a:xfrm>
              <a:off x="8441619" y="4267902"/>
              <a:ext cx="1097280" cy="54864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 &lt; Y</a:t>
              </a:r>
            </a:p>
          </p:txBody>
        </p:sp>
        <p:sp>
          <p:nvSpPr>
            <p:cNvPr id="10" name="Oval 9">
              <a:extLst>
                <a:ext uri="{FF2B5EF4-FFF2-40B4-BE49-F238E27FC236}">
                  <a16:creationId xmlns:a16="http://schemas.microsoft.com/office/drawing/2014/main" id="{BB69E3B5-D623-4E8D-9A23-88C3230BB3E3}"/>
                </a:ext>
              </a:extLst>
            </p:cNvPr>
            <p:cNvSpPr/>
            <p:nvPr/>
          </p:nvSpPr>
          <p:spPr>
            <a:xfrm>
              <a:off x="8075859" y="5281173"/>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Y</a:t>
              </a:r>
            </a:p>
          </p:txBody>
        </p:sp>
        <p:sp>
          <p:nvSpPr>
            <p:cNvPr id="11" name="Rectangle 10">
              <a:extLst>
                <a:ext uri="{FF2B5EF4-FFF2-40B4-BE49-F238E27FC236}">
                  <a16:creationId xmlns:a16="http://schemas.microsoft.com/office/drawing/2014/main" id="{6ADD8024-B7C7-42DB-8E47-4F692F2A4BB7}"/>
                </a:ext>
              </a:extLst>
            </p:cNvPr>
            <p:cNvSpPr/>
            <p:nvPr/>
          </p:nvSpPr>
          <p:spPr>
            <a:xfrm>
              <a:off x="10270419" y="4267902"/>
              <a:ext cx="1097280" cy="54864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Z &lt; x-2</a:t>
              </a:r>
            </a:p>
          </p:txBody>
        </p:sp>
        <p:sp>
          <p:nvSpPr>
            <p:cNvPr id="12" name="Oval 11">
              <a:extLst>
                <a:ext uri="{FF2B5EF4-FFF2-40B4-BE49-F238E27FC236}">
                  <a16:creationId xmlns:a16="http://schemas.microsoft.com/office/drawing/2014/main" id="{8A2AFC27-3370-4387-BD07-9FD0577BE535}"/>
                </a:ext>
              </a:extLst>
            </p:cNvPr>
            <p:cNvSpPr/>
            <p:nvPr/>
          </p:nvSpPr>
          <p:spPr>
            <a:xfrm>
              <a:off x="11121209" y="5281173"/>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Z</a:t>
              </a:r>
            </a:p>
          </p:txBody>
        </p:sp>
        <p:cxnSp>
          <p:nvCxnSpPr>
            <p:cNvPr id="13" name="Straight Connector 12">
              <a:extLst>
                <a:ext uri="{FF2B5EF4-FFF2-40B4-BE49-F238E27FC236}">
                  <a16:creationId xmlns:a16="http://schemas.microsoft.com/office/drawing/2014/main" id="{FE18B6B4-07B3-4F4C-B930-9D5925D0078B}"/>
                </a:ext>
              </a:extLst>
            </p:cNvPr>
            <p:cNvCxnSpPr>
              <a:stCxn id="8" idx="2"/>
              <a:endCxn id="9" idx="0"/>
            </p:cNvCxnSpPr>
            <p:nvPr/>
          </p:nvCxnSpPr>
          <p:spPr>
            <a:xfrm flipH="1">
              <a:off x="8990259" y="3530486"/>
              <a:ext cx="548640" cy="7374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86FEB3A-6BCA-4F82-A039-E5145B4BF759}"/>
                </a:ext>
              </a:extLst>
            </p:cNvPr>
            <p:cNvCxnSpPr>
              <a:cxnSpLocks/>
              <a:endCxn id="10" idx="0"/>
            </p:cNvCxnSpPr>
            <p:nvPr/>
          </p:nvCxnSpPr>
          <p:spPr>
            <a:xfrm flipH="1">
              <a:off x="8441619" y="4816542"/>
              <a:ext cx="274320" cy="4646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646AD5D-FD22-4C3E-8C7C-5E06F5F0075D}"/>
                </a:ext>
              </a:extLst>
            </p:cNvPr>
            <p:cNvCxnSpPr>
              <a:stCxn id="8" idx="6"/>
              <a:endCxn id="11" idx="0"/>
            </p:cNvCxnSpPr>
            <p:nvPr/>
          </p:nvCxnSpPr>
          <p:spPr>
            <a:xfrm>
              <a:off x="10270419" y="3530486"/>
              <a:ext cx="548640" cy="7374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2798DFB-4352-4CFB-A35D-C6080ED37794}"/>
                </a:ext>
              </a:extLst>
            </p:cNvPr>
            <p:cNvCxnSpPr>
              <a:cxnSpLocks/>
              <a:endCxn id="12" idx="0"/>
            </p:cNvCxnSpPr>
            <p:nvPr/>
          </p:nvCxnSpPr>
          <p:spPr>
            <a:xfrm>
              <a:off x="11121209" y="4816542"/>
              <a:ext cx="365760" cy="464631"/>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17" name="Straight Connector 16">
            <a:extLst>
              <a:ext uri="{FF2B5EF4-FFF2-40B4-BE49-F238E27FC236}">
                <a16:creationId xmlns:a16="http://schemas.microsoft.com/office/drawing/2014/main" id="{45A5FADD-1CC7-4CA6-B7F3-B8FC1AAD99F2}"/>
              </a:ext>
            </a:extLst>
          </p:cNvPr>
          <p:cNvCxnSpPr/>
          <p:nvPr/>
        </p:nvCxnSpPr>
        <p:spPr>
          <a:xfrm flipH="1">
            <a:off x="3133259" y="2986661"/>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9E90762-EA6B-4435-A8D4-1F592FF13E61}"/>
              </a:ext>
            </a:extLst>
          </p:cNvPr>
          <p:cNvCxnSpPr/>
          <p:nvPr/>
        </p:nvCxnSpPr>
        <p:spPr>
          <a:xfrm flipH="1">
            <a:off x="3395196" y="2991423"/>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7A4600B-6177-4731-B13D-B1360764A445}"/>
              </a:ext>
            </a:extLst>
          </p:cNvPr>
          <p:cNvCxnSpPr/>
          <p:nvPr/>
        </p:nvCxnSpPr>
        <p:spPr>
          <a:xfrm flipH="1">
            <a:off x="3686186" y="2986661"/>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3582D4D-2CB1-4F69-A080-4AFF063F5DE7}"/>
              </a:ext>
            </a:extLst>
          </p:cNvPr>
          <p:cNvCxnSpPr/>
          <p:nvPr/>
        </p:nvCxnSpPr>
        <p:spPr>
          <a:xfrm flipH="1">
            <a:off x="4516289" y="2986661"/>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275E7B4-0E5A-425B-85BD-F11C5E108D41}"/>
              </a:ext>
            </a:extLst>
          </p:cNvPr>
          <p:cNvCxnSpPr/>
          <p:nvPr/>
        </p:nvCxnSpPr>
        <p:spPr>
          <a:xfrm flipH="1">
            <a:off x="5688711" y="2986661"/>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0673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5EE00-C7AF-4797-807E-B8E2C302E727}"/>
              </a:ext>
            </a:extLst>
          </p:cNvPr>
          <p:cNvSpPr>
            <a:spLocks noGrp="1"/>
          </p:cNvSpPr>
          <p:nvPr>
            <p:ph type="title"/>
          </p:nvPr>
        </p:nvSpPr>
        <p:spPr/>
        <p:txBody>
          <a:bodyPr>
            <a:normAutofit fontScale="90000"/>
          </a:bodyPr>
          <a:lstStyle/>
          <a:p>
            <a:r>
              <a:rPr lang="en-US" dirty="0"/>
              <a:t>AC-3 algorithm - Implementation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9631C19-49AF-4209-8F3F-732B7F83696C}"/>
                  </a:ext>
                </a:extLst>
              </p:cNvPr>
              <p:cNvSpPr>
                <a:spLocks noGrp="1"/>
              </p:cNvSpPr>
              <p:nvPr>
                <p:ph idx="1"/>
              </p:nvPr>
            </p:nvSpPr>
            <p:spPr>
              <a:xfrm>
                <a:off x="304800" y="1228153"/>
                <a:ext cx="7805528" cy="5021979"/>
              </a:xfrm>
            </p:spPr>
            <p:txBody>
              <a:bodyPr>
                <a:normAutofit lnSpcReduction="10000"/>
              </a:bodyPr>
              <a:lstStyle/>
              <a:p>
                <a:r>
                  <a:rPr lang="en-US" dirty="0">
                    <a:solidFill>
                      <a:schemeClr val="accent6">
                        <a:lumMod val="75000"/>
                      </a:schemeClr>
                    </a:solidFill>
                  </a:rPr>
                  <a:t>Step 5: </a:t>
                </a:r>
              </a:p>
              <a:p>
                <a:pPr lvl="1"/>
                <a:r>
                  <a:rPr lang="en-US" sz="2800" dirty="0"/>
                  <a:t>Check arc (Z,X) </a:t>
                </a:r>
              </a:p>
              <a:p>
                <a:pPr lvl="1"/>
                <a:r>
                  <a:rPr lang="en-US" sz="2800" dirty="0">
                    <a:solidFill>
                      <a:srgbClr val="0033CC"/>
                    </a:solidFill>
                  </a:rPr>
                  <a:t>Remove 3, 4, 5 and 6</a:t>
                </a:r>
                <a:r>
                  <a:rPr lang="en-US" sz="2800" dirty="0"/>
                  <a:t> from </a:t>
                </a:r>
                <a:r>
                  <a:rPr lang="en-US" sz="2800" i="1" dirty="0"/>
                  <a:t>D</a:t>
                </a:r>
                <a:r>
                  <a:rPr lang="en-US" sz="2800" baseline="-25000" dirty="0"/>
                  <a:t>Z</a:t>
                </a:r>
                <a:r>
                  <a:rPr lang="en-US" sz="2800" dirty="0"/>
                  <a:t> to make (Z,X) arc consistent. </a:t>
                </a:r>
              </a:p>
              <a:p>
                <a:pPr lvl="1"/>
                <a:r>
                  <a:rPr lang="en-US" sz="2800" dirty="0">
                    <a:solidFill>
                      <a:srgbClr val="C00000"/>
                    </a:solidFill>
                  </a:rPr>
                  <a:t>Domains:</a:t>
                </a:r>
                <a:r>
                  <a:rPr lang="en-US" sz="2800" dirty="0"/>
                  <a:t> </a:t>
                </a:r>
                <a:r>
                  <a:rPr lang="en-US" sz="2800" i="1" dirty="0"/>
                  <a:t>D</a:t>
                </a:r>
                <a:r>
                  <a:rPr lang="en-US" sz="2800" baseline="-25000" dirty="0"/>
                  <a:t>X </a:t>
                </a:r>
                <a:r>
                  <a:rPr lang="en-US" sz="2800" dirty="0"/>
                  <a:t>= {1,2,3,4,5,6}, </a:t>
                </a:r>
                <a:r>
                  <a:rPr lang="en-US" sz="2800" i="1" dirty="0"/>
                  <a:t>D</a:t>
                </a:r>
                <a:r>
                  <a:rPr lang="en-US" sz="2800" baseline="-25000" dirty="0"/>
                  <a:t>Y </a:t>
                </a:r>
                <a:r>
                  <a:rPr lang="en-US" sz="2800" dirty="0"/>
                  <a:t>= {1,2,3,4,5,6},     </a:t>
                </a:r>
                <a:r>
                  <a:rPr lang="en-US" sz="2800" i="1" dirty="0"/>
                  <a:t>D</a:t>
                </a:r>
                <a:r>
                  <a:rPr lang="en-US" sz="2800" baseline="-25000" dirty="0"/>
                  <a:t>Z </a:t>
                </a:r>
                <a:r>
                  <a:rPr lang="en-US" sz="2800" dirty="0"/>
                  <a:t>= {1,2,3,4,5,6}</a:t>
                </a:r>
              </a:p>
              <a:p>
                <a:pPr lvl="1"/>
                <a:r>
                  <a:rPr lang="en-US" sz="2800" dirty="0"/>
                  <a:t>Since </a:t>
                </a:r>
                <a:r>
                  <a:rPr lang="en-US" sz="2800" i="1" dirty="0"/>
                  <a:t>D</a:t>
                </a:r>
                <a:r>
                  <a:rPr lang="en-US" sz="2800" baseline="-25000" dirty="0"/>
                  <a:t>Z</a:t>
                </a:r>
                <a:r>
                  <a:rPr lang="en-US" sz="2800" dirty="0"/>
                  <a:t> has changed, you must </a:t>
                </a:r>
                <a:r>
                  <a:rPr lang="en-US" sz="2800" dirty="0">
                    <a:solidFill>
                      <a:srgbClr val="C00000"/>
                    </a:solidFill>
                  </a:rPr>
                  <a:t>re-enqueue</a:t>
                </a:r>
                <a:r>
                  <a:rPr lang="en-US" sz="2800" dirty="0"/>
                  <a:t> all   (</a:t>
                </a:r>
                <a:r>
                  <a:rPr lang="en-US" sz="2800" i="1" dirty="0" err="1">
                    <a:latin typeface="Times New Roman" panose="02020603050405020304" pitchFamily="18" charset="0"/>
                    <a:cs typeface="Times New Roman" panose="02020603050405020304" pitchFamily="18" charset="0"/>
                  </a:rPr>
                  <a:t>i</a:t>
                </a:r>
                <a:r>
                  <a:rPr lang="en-US" sz="2800" dirty="0"/>
                  <a:t>, Z) arcs where </a:t>
                </a:r>
                <a:r>
                  <a:rPr lang="en-US" sz="2800" i="1" dirty="0" err="1">
                    <a:latin typeface="Times New Roman" panose="02020603050405020304" pitchFamily="18" charset="0"/>
                    <a:cs typeface="Times New Roman" panose="02020603050405020304" pitchFamily="18" charset="0"/>
                  </a:rPr>
                  <a:t>i</a:t>
                </a:r>
                <a:r>
                  <a:rPr lang="en-US" sz="2800" dirty="0"/>
                  <a:t> </a:t>
                </a:r>
                <a14:m>
                  <m:oMath xmlns:m="http://schemas.openxmlformats.org/officeDocument/2006/math">
                    <m:r>
                      <a:rPr lang="en-US" sz="2800" i="1" dirty="0">
                        <a:latin typeface="Cambria Math" panose="02040503050406030204" pitchFamily="18" charset="0"/>
                      </a:rPr>
                      <m:t>∈ </m:t>
                    </m:r>
                  </m:oMath>
                </a14:m>
                <a:r>
                  <a:rPr lang="en-US" sz="2800" dirty="0"/>
                  <a:t>Neighbors(Z) and </a:t>
                </a:r>
                <a:r>
                  <a:rPr lang="en-US" sz="2800" i="1" dirty="0" err="1">
                    <a:latin typeface="Times New Roman" panose="02020603050405020304" pitchFamily="18" charset="0"/>
                    <a:cs typeface="Times New Roman" panose="02020603050405020304" pitchFamily="18" charset="0"/>
                  </a:rPr>
                  <a:t>i</a:t>
                </a:r>
                <a:r>
                  <a:rPr lang="en-US" sz="2800" i="1" dirty="0">
                    <a:latin typeface="Times New Roman" panose="02020603050405020304" pitchFamily="18" charset="0"/>
                    <a:cs typeface="Times New Roman" panose="02020603050405020304" pitchFamily="18" charset="0"/>
                  </a:rPr>
                  <a:t> ≠ </a:t>
                </a:r>
                <a:r>
                  <a:rPr lang="en-US" sz="2800" dirty="0"/>
                  <a:t>X. Since </a:t>
                </a:r>
                <a:r>
                  <a:rPr lang="en-US" sz="2800" u="sng" dirty="0"/>
                  <a:t>Z has only X in its neighbors list</a:t>
                </a:r>
                <a:r>
                  <a:rPr lang="en-US" sz="2800" dirty="0"/>
                  <a:t>, </a:t>
                </a:r>
                <a:r>
                  <a:rPr lang="en-US" sz="2800" dirty="0">
                    <a:solidFill>
                      <a:srgbClr val="C00000"/>
                    </a:solidFill>
                  </a:rPr>
                  <a:t>no arc will be    re-enqueued</a:t>
                </a:r>
                <a:r>
                  <a:rPr lang="en-US" sz="2800" dirty="0"/>
                  <a:t>.</a:t>
                </a:r>
              </a:p>
              <a:p>
                <a:pPr lvl="1"/>
                <a:r>
                  <a:rPr lang="en-US" sz="2800" dirty="0">
                    <a:solidFill>
                      <a:srgbClr val="0033CC"/>
                    </a:solidFill>
                  </a:rPr>
                  <a:t>Remove arc (Z,X) </a:t>
                </a:r>
                <a:r>
                  <a:rPr lang="en-US" sz="2800" dirty="0"/>
                  <a:t>from </a:t>
                </a:r>
                <a:r>
                  <a:rPr lang="en-US" sz="2800" dirty="0" err="1"/>
                  <a:t>Arc_</a:t>
                </a:r>
                <a:r>
                  <a:rPr lang="en-US" sz="2800" b="1" dirty="0" err="1">
                    <a:solidFill>
                      <a:schemeClr val="dk1"/>
                    </a:solidFill>
                  </a:rPr>
                  <a:t>Queue</a:t>
                </a:r>
                <a:r>
                  <a:rPr lang="en-US" sz="2800" b="1" dirty="0">
                    <a:solidFill>
                      <a:schemeClr val="dk1"/>
                    </a:solidFill>
                  </a:rPr>
                  <a:t> </a:t>
                </a:r>
                <a:endParaRPr lang="en-US" sz="2800" dirty="0"/>
              </a:p>
              <a:p>
                <a:pPr lvl="1"/>
                <a:r>
                  <a:rPr lang="en-US" sz="2800" dirty="0"/>
                  <a:t>Arc_</a:t>
                </a:r>
                <a:r>
                  <a:rPr lang="en-US" sz="2800" b="1" dirty="0">
                    <a:solidFill>
                      <a:schemeClr val="dk1"/>
                    </a:solidFill>
                  </a:rPr>
                  <a:t>Queue = </a:t>
                </a:r>
                <a:r>
                  <a:rPr lang="en-US" sz="2800" dirty="0" smtClean="0"/>
                  <a:t>(Y,X)</a:t>
                </a:r>
                <a:endParaRPr lang="en-US" sz="2800" dirty="0"/>
              </a:p>
              <a:p>
                <a:pPr lvl="1"/>
                <a:endParaRPr lang="en-US" sz="2400" dirty="0"/>
              </a:p>
              <a:p>
                <a:pPr lvl="1"/>
                <a:endParaRPr lang="en-US" sz="2600" dirty="0"/>
              </a:p>
              <a:p>
                <a:pPr lvl="1"/>
                <a:endParaRPr lang="en-US" dirty="0"/>
              </a:p>
            </p:txBody>
          </p:sp>
        </mc:Choice>
        <mc:Fallback>
          <p:sp>
            <p:nvSpPr>
              <p:cNvPr id="3" name="Content Placeholder 2">
                <a:extLst>
                  <a:ext uri="{FF2B5EF4-FFF2-40B4-BE49-F238E27FC236}">
                    <a16:creationId xmlns:a16="http://schemas.microsoft.com/office/drawing/2014/main" id="{E9631C19-49AF-4209-8F3F-732B7F83696C}"/>
                  </a:ext>
                </a:extLst>
              </p:cNvPr>
              <p:cNvSpPr>
                <a:spLocks noGrp="1" noRot="1" noChangeAspect="1" noMove="1" noResize="1" noEditPoints="1" noAdjustHandles="1" noChangeArrowheads="1" noChangeShapeType="1" noTextEdit="1"/>
              </p:cNvSpPr>
              <p:nvPr>
                <p:ph idx="1"/>
              </p:nvPr>
            </p:nvSpPr>
            <p:spPr>
              <a:xfrm>
                <a:off x="304800" y="1228153"/>
                <a:ext cx="7805528" cy="5021979"/>
              </a:xfrm>
              <a:blipFill>
                <a:blip r:embed="rId2"/>
                <a:stretch>
                  <a:fillRect l="-2188" t="-3762" r="-1484"/>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1C83C63-FB7E-4D4D-A0A3-17617428F0D0}"/>
              </a:ext>
            </a:extLst>
          </p:cNvPr>
          <p:cNvSpPr>
            <a:spLocks noGrp="1"/>
          </p:cNvSpPr>
          <p:nvPr>
            <p:ph type="dt" sz="half" idx="10"/>
          </p:nvPr>
        </p:nvSpPr>
        <p:spPr/>
        <p:txBody>
          <a:bodyPr/>
          <a:lstStyle/>
          <a:p>
            <a:fld id="{C2EBCB3B-0D71-481E-A68B-9B57A6B53C51}" type="datetime1">
              <a:rPr lang="en-US" smtClean="0"/>
              <a:t>10/16/2022</a:t>
            </a:fld>
            <a:endParaRPr lang="en-US" dirty="0"/>
          </a:p>
        </p:txBody>
      </p:sp>
      <p:sp>
        <p:nvSpPr>
          <p:cNvPr id="5" name="Footer Placeholder 4">
            <a:extLst>
              <a:ext uri="{FF2B5EF4-FFF2-40B4-BE49-F238E27FC236}">
                <a16:creationId xmlns:a16="http://schemas.microsoft.com/office/drawing/2014/main" id="{E0A3D8BB-2004-4269-9965-3E94EE07C45D}"/>
              </a:ext>
            </a:extLst>
          </p:cNvPr>
          <p:cNvSpPr>
            <a:spLocks noGrp="1"/>
          </p:cNvSpPr>
          <p:nvPr>
            <p:ph type="ftr" sz="quarter" idx="11"/>
          </p:nvPr>
        </p:nvSpPr>
        <p:spPr>
          <a:xfrm>
            <a:off x="3686186" y="6459786"/>
            <a:ext cx="4822804" cy="365125"/>
          </a:xfrm>
        </p:spPr>
        <p:txBody>
          <a:bodyPr/>
          <a:lstStyle/>
          <a:p>
            <a:r>
              <a:rPr lang="en-US" dirty="0"/>
              <a:t>Introduction to AI</a:t>
            </a:r>
          </a:p>
        </p:txBody>
      </p:sp>
      <p:sp>
        <p:nvSpPr>
          <p:cNvPr id="6" name="Slide Number Placeholder 5">
            <a:extLst>
              <a:ext uri="{FF2B5EF4-FFF2-40B4-BE49-F238E27FC236}">
                <a16:creationId xmlns:a16="http://schemas.microsoft.com/office/drawing/2014/main" id="{6EA57757-B9F5-4F47-B7C5-1D2494C52B76}"/>
              </a:ext>
            </a:extLst>
          </p:cNvPr>
          <p:cNvSpPr>
            <a:spLocks noGrp="1"/>
          </p:cNvSpPr>
          <p:nvPr>
            <p:ph type="sldNum" sz="quarter" idx="12"/>
          </p:nvPr>
        </p:nvSpPr>
        <p:spPr/>
        <p:txBody>
          <a:bodyPr/>
          <a:lstStyle/>
          <a:p>
            <a:fld id="{B7884E68-CE57-44C0-BE0F-84C629DF22D5}" type="slidenum">
              <a:rPr lang="en-US" smtClean="0"/>
              <a:t>67</a:t>
            </a:fld>
            <a:endParaRPr lang="en-US" dirty="0"/>
          </a:p>
        </p:txBody>
      </p:sp>
      <p:grpSp>
        <p:nvGrpSpPr>
          <p:cNvPr id="7" name="Group 6">
            <a:extLst>
              <a:ext uri="{FF2B5EF4-FFF2-40B4-BE49-F238E27FC236}">
                <a16:creationId xmlns:a16="http://schemas.microsoft.com/office/drawing/2014/main" id="{F593803D-B87F-453E-A4C6-0E793EC7B0AD}"/>
              </a:ext>
            </a:extLst>
          </p:cNvPr>
          <p:cNvGrpSpPr/>
          <p:nvPr/>
        </p:nvGrpSpPr>
        <p:grpSpPr>
          <a:xfrm>
            <a:off x="8329403" y="1406981"/>
            <a:ext cx="3776870" cy="2847967"/>
            <a:chOff x="8075859" y="3164726"/>
            <a:chExt cx="3776870" cy="2847967"/>
          </a:xfrm>
        </p:grpSpPr>
        <p:sp>
          <p:nvSpPr>
            <p:cNvPr id="8" name="Oval 7">
              <a:extLst>
                <a:ext uri="{FF2B5EF4-FFF2-40B4-BE49-F238E27FC236}">
                  <a16:creationId xmlns:a16="http://schemas.microsoft.com/office/drawing/2014/main" id="{7579147B-7E4A-4D79-9C80-CF2CA2CAF4D6}"/>
                </a:ext>
              </a:extLst>
            </p:cNvPr>
            <p:cNvSpPr/>
            <p:nvPr/>
          </p:nvSpPr>
          <p:spPr>
            <a:xfrm>
              <a:off x="9538899" y="3164726"/>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a:t>
              </a:r>
            </a:p>
          </p:txBody>
        </p:sp>
        <p:sp>
          <p:nvSpPr>
            <p:cNvPr id="9" name="Rectangle 8">
              <a:extLst>
                <a:ext uri="{FF2B5EF4-FFF2-40B4-BE49-F238E27FC236}">
                  <a16:creationId xmlns:a16="http://schemas.microsoft.com/office/drawing/2014/main" id="{2C8569B7-7D4E-4CB4-8C69-05966ADE4B2A}"/>
                </a:ext>
              </a:extLst>
            </p:cNvPr>
            <p:cNvSpPr/>
            <p:nvPr/>
          </p:nvSpPr>
          <p:spPr>
            <a:xfrm>
              <a:off x="8441619" y="4267902"/>
              <a:ext cx="1097280" cy="54864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 &lt; Y</a:t>
              </a:r>
            </a:p>
          </p:txBody>
        </p:sp>
        <p:sp>
          <p:nvSpPr>
            <p:cNvPr id="10" name="Oval 9">
              <a:extLst>
                <a:ext uri="{FF2B5EF4-FFF2-40B4-BE49-F238E27FC236}">
                  <a16:creationId xmlns:a16="http://schemas.microsoft.com/office/drawing/2014/main" id="{BB69E3B5-D623-4E8D-9A23-88C3230BB3E3}"/>
                </a:ext>
              </a:extLst>
            </p:cNvPr>
            <p:cNvSpPr/>
            <p:nvPr/>
          </p:nvSpPr>
          <p:spPr>
            <a:xfrm>
              <a:off x="8075859" y="5281173"/>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Y</a:t>
              </a:r>
            </a:p>
          </p:txBody>
        </p:sp>
        <p:sp>
          <p:nvSpPr>
            <p:cNvPr id="11" name="Rectangle 10">
              <a:extLst>
                <a:ext uri="{FF2B5EF4-FFF2-40B4-BE49-F238E27FC236}">
                  <a16:creationId xmlns:a16="http://schemas.microsoft.com/office/drawing/2014/main" id="{6ADD8024-B7C7-42DB-8E47-4F692F2A4BB7}"/>
                </a:ext>
              </a:extLst>
            </p:cNvPr>
            <p:cNvSpPr/>
            <p:nvPr/>
          </p:nvSpPr>
          <p:spPr>
            <a:xfrm>
              <a:off x="10270419" y="4267902"/>
              <a:ext cx="1097280" cy="54864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Z &lt; x-2</a:t>
              </a:r>
            </a:p>
          </p:txBody>
        </p:sp>
        <p:sp>
          <p:nvSpPr>
            <p:cNvPr id="12" name="Oval 11">
              <a:extLst>
                <a:ext uri="{FF2B5EF4-FFF2-40B4-BE49-F238E27FC236}">
                  <a16:creationId xmlns:a16="http://schemas.microsoft.com/office/drawing/2014/main" id="{8A2AFC27-3370-4387-BD07-9FD0577BE535}"/>
                </a:ext>
              </a:extLst>
            </p:cNvPr>
            <p:cNvSpPr/>
            <p:nvPr/>
          </p:nvSpPr>
          <p:spPr>
            <a:xfrm>
              <a:off x="11121209" y="5281173"/>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Z</a:t>
              </a:r>
            </a:p>
          </p:txBody>
        </p:sp>
        <p:cxnSp>
          <p:nvCxnSpPr>
            <p:cNvPr id="13" name="Straight Connector 12">
              <a:extLst>
                <a:ext uri="{FF2B5EF4-FFF2-40B4-BE49-F238E27FC236}">
                  <a16:creationId xmlns:a16="http://schemas.microsoft.com/office/drawing/2014/main" id="{FE18B6B4-07B3-4F4C-B930-9D5925D0078B}"/>
                </a:ext>
              </a:extLst>
            </p:cNvPr>
            <p:cNvCxnSpPr>
              <a:stCxn id="8" idx="2"/>
              <a:endCxn id="9" idx="0"/>
            </p:cNvCxnSpPr>
            <p:nvPr/>
          </p:nvCxnSpPr>
          <p:spPr>
            <a:xfrm flipH="1">
              <a:off x="8990259" y="3530486"/>
              <a:ext cx="548640" cy="7374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86FEB3A-6BCA-4F82-A039-E5145B4BF759}"/>
                </a:ext>
              </a:extLst>
            </p:cNvPr>
            <p:cNvCxnSpPr>
              <a:cxnSpLocks/>
              <a:endCxn id="10" idx="0"/>
            </p:cNvCxnSpPr>
            <p:nvPr/>
          </p:nvCxnSpPr>
          <p:spPr>
            <a:xfrm flipH="1">
              <a:off x="8441619" y="4816542"/>
              <a:ext cx="274320" cy="4646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646AD5D-FD22-4C3E-8C7C-5E06F5F0075D}"/>
                </a:ext>
              </a:extLst>
            </p:cNvPr>
            <p:cNvCxnSpPr>
              <a:stCxn id="8" idx="6"/>
              <a:endCxn id="11" idx="0"/>
            </p:cNvCxnSpPr>
            <p:nvPr/>
          </p:nvCxnSpPr>
          <p:spPr>
            <a:xfrm>
              <a:off x="10270419" y="3530486"/>
              <a:ext cx="548640" cy="7374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2798DFB-4352-4CFB-A35D-C6080ED37794}"/>
                </a:ext>
              </a:extLst>
            </p:cNvPr>
            <p:cNvCxnSpPr>
              <a:cxnSpLocks/>
              <a:endCxn id="12" idx="0"/>
            </p:cNvCxnSpPr>
            <p:nvPr/>
          </p:nvCxnSpPr>
          <p:spPr>
            <a:xfrm>
              <a:off x="11121209" y="4816542"/>
              <a:ext cx="365760" cy="464631"/>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17" name="Straight Connector 16">
            <a:extLst>
              <a:ext uri="{FF2B5EF4-FFF2-40B4-BE49-F238E27FC236}">
                <a16:creationId xmlns:a16="http://schemas.microsoft.com/office/drawing/2014/main" id="{F29A4FF3-EB68-4807-AD19-B9A7BB018383}"/>
              </a:ext>
            </a:extLst>
          </p:cNvPr>
          <p:cNvCxnSpPr/>
          <p:nvPr/>
        </p:nvCxnSpPr>
        <p:spPr>
          <a:xfrm flipH="1">
            <a:off x="3133259" y="2876550"/>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9E4AA0A-8F53-44D7-AE85-0F729D8895E7}"/>
              </a:ext>
            </a:extLst>
          </p:cNvPr>
          <p:cNvCxnSpPr/>
          <p:nvPr/>
        </p:nvCxnSpPr>
        <p:spPr>
          <a:xfrm flipH="1">
            <a:off x="3395196" y="2881312"/>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FF7049B-80C7-473B-8A53-C452660D3DA5}"/>
              </a:ext>
            </a:extLst>
          </p:cNvPr>
          <p:cNvCxnSpPr/>
          <p:nvPr/>
        </p:nvCxnSpPr>
        <p:spPr>
          <a:xfrm flipH="1">
            <a:off x="3686186" y="2876550"/>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22A1C2F-236E-48A1-B4CA-0BC34BC964E4}"/>
              </a:ext>
            </a:extLst>
          </p:cNvPr>
          <p:cNvCxnSpPr/>
          <p:nvPr/>
        </p:nvCxnSpPr>
        <p:spPr>
          <a:xfrm flipH="1">
            <a:off x="4516289" y="2876550"/>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C30626D-FE46-46B7-A5B1-48A43C8E90A4}"/>
              </a:ext>
            </a:extLst>
          </p:cNvPr>
          <p:cNvCxnSpPr/>
          <p:nvPr/>
        </p:nvCxnSpPr>
        <p:spPr>
          <a:xfrm flipH="1">
            <a:off x="5688711" y="2876550"/>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7B9664A-5D16-4909-9B31-C6D51472C801}"/>
              </a:ext>
            </a:extLst>
          </p:cNvPr>
          <p:cNvCxnSpPr/>
          <p:nvPr/>
        </p:nvCxnSpPr>
        <p:spPr>
          <a:xfrm flipH="1">
            <a:off x="2214128" y="3209924"/>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A8921F9-260B-4ACA-8C7C-A95FFA836341}"/>
              </a:ext>
            </a:extLst>
          </p:cNvPr>
          <p:cNvCxnSpPr/>
          <p:nvPr/>
        </p:nvCxnSpPr>
        <p:spPr>
          <a:xfrm flipH="1">
            <a:off x="2521309" y="3209925"/>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2FDF230-A839-4872-846C-0EE65AC4CD0F}"/>
              </a:ext>
            </a:extLst>
          </p:cNvPr>
          <p:cNvCxnSpPr/>
          <p:nvPr/>
        </p:nvCxnSpPr>
        <p:spPr>
          <a:xfrm flipH="1">
            <a:off x="2761070" y="3209925"/>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D6EDE50-C53C-4A79-8E10-120FA1129D9E}"/>
              </a:ext>
            </a:extLst>
          </p:cNvPr>
          <p:cNvCxnSpPr/>
          <p:nvPr/>
        </p:nvCxnSpPr>
        <p:spPr>
          <a:xfrm flipH="1">
            <a:off x="3007053" y="3209924"/>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1114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5EE00-C7AF-4797-807E-B8E2C302E727}"/>
              </a:ext>
            </a:extLst>
          </p:cNvPr>
          <p:cNvSpPr>
            <a:spLocks noGrp="1"/>
          </p:cNvSpPr>
          <p:nvPr>
            <p:ph type="title"/>
          </p:nvPr>
        </p:nvSpPr>
        <p:spPr/>
        <p:txBody>
          <a:bodyPr>
            <a:normAutofit fontScale="90000"/>
          </a:bodyPr>
          <a:lstStyle/>
          <a:p>
            <a:r>
              <a:rPr lang="en-US" dirty="0"/>
              <a:t>AC-3 algorithm - Implementation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631C19-49AF-4209-8F3F-732B7F83696C}"/>
                  </a:ext>
                </a:extLst>
              </p:cNvPr>
              <p:cNvSpPr>
                <a:spLocks noGrp="1"/>
              </p:cNvSpPr>
              <p:nvPr>
                <p:ph idx="1"/>
              </p:nvPr>
            </p:nvSpPr>
            <p:spPr>
              <a:xfrm>
                <a:off x="304800" y="1190054"/>
                <a:ext cx="7805528" cy="4991672"/>
              </a:xfrm>
            </p:spPr>
            <p:txBody>
              <a:bodyPr>
                <a:normAutofit/>
              </a:bodyPr>
              <a:lstStyle/>
              <a:p>
                <a:r>
                  <a:rPr lang="en-US" dirty="0">
                    <a:solidFill>
                      <a:schemeClr val="accent6">
                        <a:lumMod val="75000"/>
                      </a:schemeClr>
                    </a:solidFill>
                  </a:rPr>
                  <a:t>Step 6: </a:t>
                </a:r>
              </a:p>
              <a:p>
                <a:pPr lvl="1"/>
                <a:r>
                  <a:rPr lang="en-US" sz="2800" dirty="0"/>
                  <a:t>Check arc (Y,X)</a:t>
                </a:r>
              </a:p>
              <a:p>
                <a:pPr lvl="1"/>
                <a:r>
                  <a:rPr lang="en-US" sz="2800" dirty="0">
                    <a:solidFill>
                      <a:srgbClr val="0033CC"/>
                    </a:solidFill>
                  </a:rPr>
                  <a:t>Remove 2, 3, 4 </a:t>
                </a:r>
                <a:r>
                  <a:rPr lang="en-US" sz="2800" dirty="0"/>
                  <a:t>from </a:t>
                </a:r>
                <a:r>
                  <a:rPr lang="en-US" sz="2800" i="1" dirty="0"/>
                  <a:t>D</a:t>
                </a:r>
                <a:r>
                  <a:rPr lang="en-US" sz="2800" baseline="-25000" dirty="0"/>
                  <a:t>Y</a:t>
                </a:r>
                <a:r>
                  <a:rPr lang="en-US" sz="2800" dirty="0"/>
                  <a:t> to make (Y,X) arc consistent.</a:t>
                </a:r>
              </a:p>
              <a:p>
                <a:pPr lvl="1"/>
                <a:r>
                  <a:rPr lang="en-US" sz="2800" dirty="0">
                    <a:solidFill>
                      <a:srgbClr val="C00000"/>
                    </a:solidFill>
                  </a:rPr>
                  <a:t>Domains:</a:t>
                </a:r>
                <a:r>
                  <a:rPr lang="en-US" sz="2800" dirty="0"/>
                  <a:t> </a:t>
                </a:r>
                <a:r>
                  <a:rPr lang="en-US" sz="2800" i="1" dirty="0"/>
                  <a:t>D</a:t>
                </a:r>
                <a:r>
                  <a:rPr lang="en-US" sz="2800" baseline="-25000" dirty="0"/>
                  <a:t>X </a:t>
                </a:r>
                <a:r>
                  <a:rPr lang="en-US" sz="2800" dirty="0"/>
                  <a:t>= {1,2,3,4,5,6}, </a:t>
                </a:r>
                <a:r>
                  <a:rPr lang="en-US" sz="2800" i="1" dirty="0"/>
                  <a:t>D</a:t>
                </a:r>
                <a:r>
                  <a:rPr lang="en-US" sz="2800" baseline="-25000" dirty="0"/>
                  <a:t>Y </a:t>
                </a:r>
                <a:r>
                  <a:rPr lang="en-US" sz="2800" dirty="0"/>
                  <a:t>= {1,2,3,4,5,6},     </a:t>
                </a:r>
                <a:r>
                  <a:rPr lang="en-US" sz="2800" i="1" dirty="0"/>
                  <a:t>D</a:t>
                </a:r>
                <a:r>
                  <a:rPr lang="en-US" sz="2800" baseline="-25000" dirty="0"/>
                  <a:t>Z </a:t>
                </a:r>
                <a:r>
                  <a:rPr lang="en-US" sz="2800" dirty="0"/>
                  <a:t>= {1,2,3,4,5,6}</a:t>
                </a:r>
              </a:p>
              <a:p>
                <a:pPr lvl="1"/>
                <a:r>
                  <a:rPr lang="en-US" sz="2800" dirty="0"/>
                  <a:t>Since </a:t>
                </a:r>
                <a:r>
                  <a:rPr lang="en-US" sz="2800" i="1" dirty="0"/>
                  <a:t>D</a:t>
                </a:r>
                <a:r>
                  <a:rPr lang="en-US" sz="2800" baseline="-25000" dirty="0"/>
                  <a:t>Y</a:t>
                </a:r>
                <a:r>
                  <a:rPr lang="en-US" sz="2800" dirty="0"/>
                  <a:t> has changed, you must </a:t>
                </a:r>
                <a:r>
                  <a:rPr lang="en-US" sz="2800" dirty="0">
                    <a:solidFill>
                      <a:srgbClr val="C00000"/>
                    </a:solidFill>
                  </a:rPr>
                  <a:t>re-enqueue</a:t>
                </a:r>
                <a:r>
                  <a:rPr lang="en-US" sz="2800" dirty="0"/>
                  <a:t> all   (</a:t>
                </a:r>
                <a:r>
                  <a:rPr lang="en-US" sz="2800" i="1" dirty="0" err="1">
                    <a:latin typeface="Times New Roman" panose="02020603050405020304" pitchFamily="18" charset="0"/>
                    <a:cs typeface="Times New Roman" panose="02020603050405020304" pitchFamily="18" charset="0"/>
                  </a:rPr>
                  <a:t>i</a:t>
                </a:r>
                <a:r>
                  <a:rPr lang="en-US" sz="2800" dirty="0"/>
                  <a:t>, Y) arcs where </a:t>
                </a:r>
                <a:r>
                  <a:rPr lang="en-US" sz="2800" i="1" dirty="0" err="1">
                    <a:latin typeface="Times New Roman" panose="02020603050405020304" pitchFamily="18" charset="0"/>
                    <a:cs typeface="Times New Roman" panose="02020603050405020304" pitchFamily="18" charset="0"/>
                  </a:rPr>
                  <a:t>i</a:t>
                </a:r>
                <a:r>
                  <a:rPr lang="en-US" sz="2800" dirty="0"/>
                  <a:t> </a:t>
                </a:r>
                <a14:m>
                  <m:oMath xmlns:m="http://schemas.openxmlformats.org/officeDocument/2006/math">
                    <m:r>
                      <a:rPr lang="en-US" sz="2800" i="1" dirty="0">
                        <a:latin typeface="Cambria Math" panose="02040503050406030204" pitchFamily="18" charset="0"/>
                      </a:rPr>
                      <m:t>∈ </m:t>
                    </m:r>
                  </m:oMath>
                </a14:m>
                <a:r>
                  <a:rPr lang="en-US" sz="2800" dirty="0"/>
                  <a:t>Neighbors(Y) and </a:t>
                </a:r>
                <a:r>
                  <a:rPr lang="en-US" sz="2800" i="1" dirty="0" err="1">
                    <a:latin typeface="Times New Roman" panose="02020603050405020304" pitchFamily="18" charset="0"/>
                    <a:cs typeface="Times New Roman" panose="02020603050405020304" pitchFamily="18" charset="0"/>
                  </a:rPr>
                  <a:t>i</a:t>
                </a:r>
                <a:r>
                  <a:rPr lang="en-US" sz="2800" i="1" dirty="0">
                    <a:latin typeface="Times New Roman" panose="02020603050405020304" pitchFamily="18" charset="0"/>
                    <a:cs typeface="Times New Roman" panose="02020603050405020304" pitchFamily="18" charset="0"/>
                  </a:rPr>
                  <a:t> ≠ </a:t>
                </a:r>
                <a:r>
                  <a:rPr lang="en-US" sz="2800" dirty="0"/>
                  <a:t>X. Since </a:t>
                </a:r>
                <a:r>
                  <a:rPr lang="en-US" sz="2800" u="sng" dirty="0"/>
                  <a:t>Y has only X in its neighbors list</a:t>
                </a:r>
                <a:r>
                  <a:rPr lang="en-US" sz="2800" dirty="0"/>
                  <a:t>, </a:t>
                </a:r>
                <a:r>
                  <a:rPr lang="en-US" sz="2800" dirty="0">
                    <a:solidFill>
                      <a:srgbClr val="C00000"/>
                    </a:solidFill>
                  </a:rPr>
                  <a:t>no arc will be    re-enqueued</a:t>
                </a:r>
                <a:r>
                  <a:rPr lang="en-US" sz="2800" dirty="0"/>
                  <a:t>.</a:t>
                </a:r>
              </a:p>
              <a:p>
                <a:pPr lvl="1"/>
                <a:r>
                  <a:rPr lang="en-US" sz="2800" dirty="0">
                    <a:solidFill>
                      <a:srgbClr val="0033CC"/>
                    </a:solidFill>
                  </a:rPr>
                  <a:t>Remove arc (Y,X) </a:t>
                </a:r>
                <a:r>
                  <a:rPr lang="en-US" sz="2800" dirty="0"/>
                  <a:t>from </a:t>
                </a:r>
                <a:r>
                  <a:rPr lang="en-US" sz="2800" dirty="0" err="1"/>
                  <a:t>Arc_</a:t>
                </a:r>
                <a:r>
                  <a:rPr lang="en-US" sz="2800" b="1" dirty="0" err="1">
                    <a:solidFill>
                      <a:schemeClr val="dk1"/>
                    </a:solidFill>
                  </a:rPr>
                  <a:t>Queue</a:t>
                </a:r>
                <a:endParaRPr lang="en-US" sz="2800" dirty="0"/>
              </a:p>
            </p:txBody>
          </p:sp>
        </mc:Choice>
        <mc:Fallback xmlns="">
          <p:sp>
            <p:nvSpPr>
              <p:cNvPr id="3" name="Content Placeholder 2">
                <a:extLst>
                  <a:ext uri="{FF2B5EF4-FFF2-40B4-BE49-F238E27FC236}">
                    <a16:creationId xmlns:a16="http://schemas.microsoft.com/office/drawing/2014/main" id="{E9631C19-49AF-4209-8F3F-732B7F83696C}"/>
                  </a:ext>
                </a:extLst>
              </p:cNvPr>
              <p:cNvSpPr>
                <a:spLocks noGrp="1" noRot="1" noChangeAspect="1" noMove="1" noResize="1" noEditPoints="1" noAdjustHandles="1" noChangeArrowheads="1" noChangeShapeType="1" noTextEdit="1"/>
              </p:cNvSpPr>
              <p:nvPr>
                <p:ph idx="1"/>
              </p:nvPr>
            </p:nvSpPr>
            <p:spPr>
              <a:xfrm>
                <a:off x="304800" y="1190054"/>
                <a:ext cx="7805528" cy="4991672"/>
              </a:xfrm>
              <a:blipFill>
                <a:blip r:embed="rId2"/>
                <a:stretch>
                  <a:fillRect l="-2188" t="-3053" r="-164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1C83C63-FB7E-4D4D-A0A3-17617428F0D0}"/>
              </a:ext>
            </a:extLst>
          </p:cNvPr>
          <p:cNvSpPr>
            <a:spLocks noGrp="1"/>
          </p:cNvSpPr>
          <p:nvPr>
            <p:ph type="dt" sz="half" idx="10"/>
          </p:nvPr>
        </p:nvSpPr>
        <p:spPr/>
        <p:txBody>
          <a:bodyPr/>
          <a:lstStyle/>
          <a:p>
            <a:fld id="{C2EBCB3B-0D71-481E-A68B-9B57A6B53C51}" type="datetime1">
              <a:rPr lang="en-US" smtClean="0"/>
              <a:t>10/16/2022</a:t>
            </a:fld>
            <a:endParaRPr lang="en-US" dirty="0"/>
          </a:p>
        </p:txBody>
      </p:sp>
      <p:sp>
        <p:nvSpPr>
          <p:cNvPr id="5" name="Footer Placeholder 4">
            <a:extLst>
              <a:ext uri="{FF2B5EF4-FFF2-40B4-BE49-F238E27FC236}">
                <a16:creationId xmlns:a16="http://schemas.microsoft.com/office/drawing/2014/main" id="{E0A3D8BB-2004-4269-9965-3E94EE07C45D}"/>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6EA57757-B9F5-4F47-B7C5-1D2494C52B76}"/>
              </a:ext>
            </a:extLst>
          </p:cNvPr>
          <p:cNvSpPr>
            <a:spLocks noGrp="1"/>
          </p:cNvSpPr>
          <p:nvPr>
            <p:ph type="sldNum" sz="quarter" idx="12"/>
          </p:nvPr>
        </p:nvSpPr>
        <p:spPr/>
        <p:txBody>
          <a:bodyPr/>
          <a:lstStyle/>
          <a:p>
            <a:fld id="{B7884E68-CE57-44C0-BE0F-84C629DF22D5}" type="slidenum">
              <a:rPr lang="en-US" smtClean="0"/>
              <a:t>68</a:t>
            </a:fld>
            <a:endParaRPr lang="en-US" dirty="0"/>
          </a:p>
        </p:txBody>
      </p:sp>
      <p:grpSp>
        <p:nvGrpSpPr>
          <p:cNvPr id="7" name="Group 6">
            <a:extLst>
              <a:ext uri="{FF2B5EF4-FFF2-40B4-BE49-F238E27FC236}">
                <a16:creationId xmlns:a16="http://schemas.microsoft.com/office/drawing/2014/main" id="{F593803D-B87F-453E-A4C6-0E793EC7B0AD}"/>
              </a:ext>
            </a:extLst>
          </p:cNvPr>
          <p:cNvGrpSpPr/>
          <p:nvPr/>
        </p:nvGrpSpPr>
        <p:grpSpPr>
          <a:xfrm>
            <a:off x="8329403" y="1406981"/>
            <a:ext cx="3776870" cy="2847967"/>
            <a:chOff x="8075859" y="3164726"/>
            <a:chExt cx="3776870" cy="2847967"/>
          </a:xfrm>
        </p:grpSpPr>
        <p:sp>
          <p:nvSpPr>
            <p:cNvPr id="8" name="Oval 7">
              <a:extLst>
                <a:ext uri="{FF2B5EF4-FFF2-40B4-BE49-F238E27FC236}">
                  <a16:creationId xmlns:a16="http://schemas.microsoft.com/office/drawing/2014/main" id="{7579147B-7E4A-4D79-9C80-CF2CA2CAF4D6}"/>
                </a:ext>
              </a:extLst>
            </p:cNvPr>
            <p:cNvSpPr/>
            <p:nvPr/>
          </p:nvSpPr>
          <p:spPr>
            <a:xfrm>
              <a:off x="9538899" y="3164726"/>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a:t>
              </a:r>
            </a:p>
          </p:txBody>
        </p:sp>
        <p:sp>
          <p:nvSpPr>
            <p:cNvPr id="9" name="Rectangle 8">
              <a:extLst>
                <a:ext uri="{FF2B5EF4-FFF2-40B4-BE49-F238E27FC236}">
                  <a16:creationId xmlns:a16="http://schemas.microsoft.com/office/drawing/2014/main" id="{2C8569B7-7D4E-4CB4-8C69-05966ADE4B2A}"/>
                </a:ext>
              </a:extLst>
            </p:cNvPr>
            <p:cNvSpPr/>
            <p:nvPr/>
          </p:nvSpPr>
          <p:spPr>
            <a:xfrm>
              <a:off x="8441619" y="4267902"/>
              <a:ext cx="1097280" cy="54864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 &lt; Y</a:t>
              </a:r>
            </a:p>
          </p:txBody>
        </p:sp>
        <p:sp>
          <p:nvSpPr>
            <p:cNvPr id="10" name="Oval 9">
              <a:extLst>
                <a:ext uri="{FF2B5EF4-FFF2-40B4-BE49-F238E27FC236}">
                  <a16:creationId xmlns:a16="http://schemas.microsoft.com/office/drawing/2014/main" id="{BB69E3B5-D623-4E8D-9A23-88C3230BB3E3}"/>
                </a:ext>
              </a:extLst>
            </p:cNvPr>
            <p:cNvSpPr/>
            <p:nvPr/>
          </p:nvSpPr>
          <p:spPr>
            <a:xfrm>
              <a:off x="8075859" y="5281173"/>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Y</a:t>
              </a:r>
            </a:p>
          </p:txBody>
        </p:sp>
        <p:sp>
          <p:nvSpPr>
            <p:cNvPr id="11" name="Rectangle 10">
              <a:extLst>
                <a:ext uri="{FF2B5EF4-FFF2-40B4-BE49-F238E27FC236}">
                  <a16:creationId xmlns:a16="http://schemas.microsoft.com/office/drawing/2014/main" id="{6ADD8024-B7C7-42DB-8E47-4F692F2A4BB7}"/>
                </a:ext>
              </a:extLst>
            </p:cNvPr>
            <p:cNvSpPr/>
            <p:nvPr/>
          </p:nvSpPr>
          <p:spPr>
            <a:xfrm>
              <a:off x="10270419" y="4267902"/>
              <a:ext cx="1097280" cy="54864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Z &lt; x-2</a:t>
              </a:r>
            </a:p>
          </p:txBody>
        </p:sp>
        <p:sp>
          <p:nvSpPr>
            <p:cNvPr id="12" name="Oval 11">
              <a:extLst>
                <a:ext uri="{FF2B5EF4-FFF2-40B4-BE49-F238E27FC236}">
                  <a16:creationId xmlns:a16="http://schemas.microsoft.com/office/drawing/2014/main" id="{8A2AFC27-3370-4387-BD07-9FD0577BE535}"/>
                </a:ext>
              </a:extLst>
            </p:cNvPr>
            <p:cNvSpPr/>
            <p:nvPr/>
          </p:nvSpPr>
          <p:spPr>
            <a:xfrm>
              <a:off x="11121209" y="5281173"/>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Z</a:t>
              </a:r>
            </a:p>
          </p:txBody>
        </p:sp>
        <p:cxnSp>
          <p:nvCxnSpPr>
            <p:cNvPr id="13" name="Straight Connector 12">
              <a:extLst>
                <a:ext uri="{FF2B5EF4-FFF2-40B4-BE49-F238E27FC236}">
                  <a16:creationId xmlns:a16="http://schemas.microsoft.com/office/drawing/2014/main" id="{FE18B6B4-07B3-4F4C-B930-9D5925D0078B}"/>
                </a:ext>
              </a:extLst>
            </p:cNvPr>
            <p:cNvCxnSpPr>
              <a:stCxn id="8" idx="2"/>
              <a:endCxn id="9" idx="0"/>
            </p:cNvCxnSpPr>
            <p:nvPr/>
          </p:nvCxnSpPr>
          <p:spPr>
            <a:xfrm flipH="1">
              <a:off x="8990259" y="3530486"/>
              <a:ext cx="548640" cy="7374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86FEB3A-6BCA-4F82-A039-E5145B4BF759}"/>
                </a:ext>
              </a:extLst>
            </p:cNvPr>
            <p:cNvCxnSpPr>
              <a:cxnSpLocks/>
              <a:endCxn id="10" idx="0"/>
            </p:cNvCxnSpPr>
            <p:nvPr/>
          </p:nvCxnSpPr>
          <p:spPr>
            <a:xfrm flipH="1">
              <a:off x="8441619" y="4816542"/>
              <a:ext cx="274320" cy="4646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646AD5D-FD22-4C3E-8C7C-5E06F5F0075D}"/>
                </a:ext>
              </a:extLst>
            </p:cNvPr>
            <p:cNvCxnSpPr>
              <a:stCxn id="8" idx="6"/>
              <a:endCxn id="11" idx="0"/>
            </p:cNvCxnSpPr>
            <p:nvPr/>
          </p:nvCxnSpPr>
          <p:spPr>
            <a:xfrm>
              <a:off x="10270419" y="3530486"/>
              <a:ext cx="548640" cy="7374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2798DFB-4352-4CFB-A35D-C6080ED37794}"/>
                </a:ext>
              </a:extLst>
            </p:cNvPr>
            <p:cNvCxnSpPr>
              <a:cxnSpLocks/>
              <a:endCxn id="12" idx="0"/>
            </p:cNvCxnSpPr>
            <p:nvPr/>
          </p:nvCxnSpPr>
          <p:spPr>
            <a:xfrm>
              <a:off x="11121209" y="4816542"/>
              <a:ext cx="365760" cy="464631"/>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17" name="Straight Connector 16">
            <a:extLst>
              <a:ext uri="{FF2B5EF4-FFF2-40B4-BE49-F238E27FC236}">
                <a16:creationId xmlns:a16="http://schemas.microsoft.com/office/drawing/2014/main" id="{E3FA7889-2998-4354-B175-9405542096F7}"/>
              </a:ext>
            </a:extLst>
          </p:cNvPr>
          <p:cNvCxnSpPr/>
          <p:nvPr/>
        </p:nvCxnSpPr>
        <p:spPr>
          <a:xfrm flipH="1">
            <a:off x="3133259" y="3115247"/>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FF6212F-6F5E-44CC-B042-F6C09D7ACF68}"/>
              </a:ext>
            </a:extLst>
          </p:cNvPr>
          <p:cNvCxnSpPr/>
          <p:nvPr/>
        </p:nvCxnSpPr>
        <p:spPr>
          <a:xfrm flipH="1">
            <a:off x="3395196" y="3120009"/>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63C5227-7704-4038-BEA5-60A4DE09A0A0}"/>
              </a:ext>
            </a:extLst>
          </p:cNvPr>
          <p:cNvCxnSpPr/>
          <p:nvPr/>
        </p:nvCxnSpPr>
        <p:spPr>
          <a:xfrm flipH="1">
            <a:off x="3640912" y="3105722"/>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766A5B0-0857-43D7-BD7F-29AD8AE3A46F}"/>
              </a:ext>
            </a:extLst>
          </p:cNvPr>
          <p:cNvCxnSpPr/>
          <p:nvPr/>
        </p:nvCxnSpPr>
        <p:spPr>
          <a:xfrm flipH="1">
            <a:off x="4450673" y="3095625"/>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A28EFC4-F32E-4214-A711-FA6E949D58C7}"/>
              </a:ext>
            </a:extLst>
          </p:cNvPr>
          <p:cNvCxnSpPr/>
          <p:nvPr/>
        </p:nvCxnSpPr>
        <p:spPr>
          <a:xfrm flipH="1">
            <a:off x="5688711" y="3115247"/>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94A6657-CB87-4510-A0B9-4EF83D060C4B}"/>
              </a:ext>
            </a:extLst>
          </p:cNvPr>
          <p:cNvCxnSpPr/>
          <p:nvPr/>
        </p:nvCxnSpPr>
        <p:spPr>
          <a:xfrm flipH="1">
            <a:off x="2230319" y="3439465"/>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81AF0C5-A47C-408E-86D4-15B777FD8C4F}"/>
              </a:ext>
            </a:extLst>
          </p:cNvPr>
          <p:cNvCxnSpPr/>
          <p:nvPr/>
        </p:nvCxnSpPr>
        <p:spPr>
          <a:xfrm flipH="1">
            <a:off x="2521309" y="3448622"/>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12105CB-4E24-4691-A877-03153E13E7FC}"/>
              </a:ext>
            </a:extLst>
          </p:cNvPr>
          <p:cNvCxnSpPr/>
          <p:nvPr/>
        </p:nvCxnSpPr>
        <p:spPr>
          <a:xfrm flipH="1">
            <a:off x="2761070" y="3448622"/>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735F4EE-9668-4E5A-8454-7CF1CBB9D262}"/>
              </a:ext>
            </a:extLst>
          </p:cNvPr>
          <p:cNvCxnSpPr/>
          <p:nvPr/>
        </p:nvCxnSpPr>
        <p:spPr>
          <a:xfrm flipH="1">
            <a:off x="3045153" y="3448621"/>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6C67B86-9171-4A35-B1C4-9CF073221D77}"/>
              </a:ext>
            </a:extLst>
          </p:cNvPr>
          <p:cNvCxnSpPr/>
          <p:nvPr/>
        </p:nvCxnSpPr>
        <p:spPr>
          <a:xfrm flipH="1">
            <a:off x="5951495" y="3115247"/>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E3E0F5-8007-4299-A76B-9B4CD5322E18}"/>
              </a:ext>
            </a:extLst>
          </p:cNvPr>
          <p:cNvCxnSpPr/>
          <p:nvPr/>
        </p:nvCxnSpPr>
        <p:spPr>
          <a:xfrm flipH="1">
            <a:off x="6242326" y="3120008"/>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995136B-AAD2-4812-86D4-4452B9FEC4C1}"/>
              </a:ext>
            </a:extLst>
          </p:cNvPr>
          <p:cNvCxnSpPr/>
          <p:nvPr/>
        </p:nvCxnSpPr>
        <p:spPr>
          <a:xfrm flipH="1">
            <a:off x="6482143" y="3100959"/>
            <a:ext cx="219075" cy="3333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8697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5EE00-C7AF-4797-807E-B8E2C302E727}"/>
              </a:ext>
            </a:extLst>
          </p:cNvPr>
          <p:cNvSpPr>
            <a:spLocks noGrp="1"/>
          </p:cNvSpPr>
          <p:nvPr>
            <p:ph type="title"/>
          </p:nvPr>
        </p:nvSpPr>
        <p:spPr/>
        <p:txBody>
          <a:bodyPr>
            <a:normAutofit fontScale="90000"/>
          </a:bodyPr>
          <a:lstStyle/>
          <a:p>
            <a:r>
              <a:rPr lang="en-US" dirty="0"/>
              <a:t>AC-3 algorithm - Implementation </a:t>
            </a:r>
          </a:p>
        </p:txBody>
      </p:sp>
      <p:sp>
        <p:nvSpPr>
          <p:cNvPr id="3" name="Content Placeholder 2">
            <a:extLst>
              <a:ext uri="{FF2B5EF4-FFF2-40B4-BE49-F238E27FC236}">
                <a16:creationId xmlns:a16="http://schemas.microsoft.com/office/drawing/2014/main" id="{E9631C19-49AF-4209-8F3F-732B7F83696C}"/>
              </a:ext>
            </a:extLst>
          </p:cNvPr>
          <p:cNvSpPr>
            <a:spLocks noGrp="1"/>
          </p:cNvSpPr>
          <p:nvPr>
            <p:ph idx="1"/>
          </p:nvPr>
        </p:nvSpPr>
        <p:spPr>
          <a:xfrm>
            <a:off x="304800" y="1228153"/>
            <a:ext cx="7805528" cy="5220315"/>
          </a:xfrm>
        </p:spPr>
        <p:txBody>
          <a:bodyPr>
            <a:normAutofit/>
          </a:bodyPr>
          <a:lstStyle/>
          <a:p>
            <a:r>
              <a:rPr lang="en-US" dirty="0">
                <a:solidFill>
                  <a:schemeClr val="accent6">
                    <a:lumMod val="75000"/>
                  </a:schemeClr>
                </a:solidFill>
              </a:rPr>
              <a:t>Step 7: </a:t>
            </a:r>
          </a:p>
          <a:p>
            <a:pPr lvl="1"/>
            <a:r>
              <a:rPr lang="en-US" sz="2800" dirty="0"/>
              <a:t>Arc_</a:t>
            </a:r>
            <a:r>
              <a:rPr lang="en-US" sz="2800" b="1" dirty="0">
                <a:solidFill>
                  <a:schemeClr val="dk1"/>
                </a:solidFill>
              </a:rPr>
              <a:t>Queue</a:t>
            </a:r>
            <a:r>
              <a:rPr lang="en-US" sz="2800" dirty="0"/>
              <a:t> is empty</a:t>
            </a:r>
          </a:p>
          <a:p>
            <a:pPr lvl="1"/>
            <a:r>
              <a:rPr lang="en-US" sz="2800" dirty="0"/>
              <a:t>The CSP is now arc consistent</a:t>
            </a:r>
          </a:p>
          <a:p>
            <a:pPr lvl="1"/>
            <a:r>
              <a:rPr lang="en-US" sz="2800" dirty="0">
                <a:solidFill>
                  <a:srgbClr val="C00000"/>
                </a:solidFill>
              </a:rPr>
              <a:t>Domains:</a:t>
            </a:r>
            <a:r>
              <a:rPr lang="en-US" sz="2800" dirty="0"/>
              <a:t> </a:t>
            </a:r>
            <a:r>
              <a:rPr lang="en-US" sz="2800" i="1" dirty="0"/>
              <a:t>D</a:t>
            </a:r>
            <a:r>
              <a:rPr lang="en-US" sz="2800" baseline="-25000" dirty="0"/>
              <a:t>X </a:t>
            </a:r>
            <a:r>
              <a:rPr lang="en-US" sz="2800" dirty="0"/>
              <a:t>= {4,5}, </a:t>
            </a:r>
            <a:r>
              <a:rPr lang="en-US" sz="2800" i="1" dirty="0"/>
              <a:t>D</a:t>
            </a:r>
            <a:r>
              <a:rPr lang="en-US" sz="2800" baseline="-25000" dirty="0"/>
              <a:t>Y </a:t>
            </a:r>
            <a:r>
              <a:rPr lang="en-US" sz="2800" dirty="0"/>
              <a:t>= {5,6}, </a:t>
            </a:r>
            <a:r>
              <a:rPr lang="en-US" sz="2800" i="1" dirty="0"/>
              <a:t>D</a:t>
            </a:r>
            <a:r>
              <a:rPr lang="en-US" sz="2800" baseline="-25000" dirty="0"/>
              <a:t>Z </a:t>
            </a:r>
            <a:r>
              <a:rPr lang="en-US" sz="2800" dirty="0"/>
              <a:t>= {1,2}</a:t>
            </a:r>
          </a:p>
          <a:p>
            <a:r>
              <a:rPr lang="en-US" dirty="0">
                <a:solidFill>
                  <a:schemeClr val="accent6">
                    <a:lumMod val="75000"/>
                  </a:schemeClr>
                </a:solidFill>
              </a:rPr>
              <a:t>Remarks</a:t>
            </a:r>
          </a:p>
          <a:p>
            <a:pPr lvl="1"/>
            <a:r>
              <a:rPr lang="en-US" sz="2800" dirty="0"/>
              <a:t>Reduced domains have more than one value</a:t>
            </a:r>
          </a:p>
          <a:p>
            <a:pPr lvl="1"/>
            <a:r>
              <a:rPr lang="en-US" sz="2800" dirty="0"/>
              <a:t>There may or may not be a solution</a:t>
            </a:r>
          </a:p>
          <a:p>
            <a:pPr lvl="1"/>
            <a:r>
              <a:rPr lang="en-US" sz="2800" dirty="0"/>
              <a:t>Backtracking search is needed to check if there is a solution</a:t>
            </a:r>
          </a:p>
          <a:p>
            <a:pPr lvl="1"/>
            <a:r>
              <a:rPr lang="en-US" sz="2800" dirty="0"/>
              <a:t>There could be more than one solution</a:t>
            </a:r>
          </a:p>
          <a:p>
            <a:pPr lvl="1"/>
            <a:endParaRPr lang="en-US" dirty="0"/>
          </a:p>
        </p:txBody>
      </p:sp>
      <p:sp>
        <p:nvSpPr>
          <p:cNvPr id="4" name="Date Placeholder 3">
            <a:extLst>
              <a:ext uri="{FF2B5EF4-FFF2-40B4-BE49-F238E27FC236}">
                <a16:creationId xmlns:a16="http://schemas.microsoft.com/office/drawing/2014/main" id="{51C83C63-FB7E-4D4D-A0A3-17617428F0D0}"/>
              </a:ext>
            </a:extLst>
          </p:cNvPr>
          <p:cNvSpPr>
            <a:spLocks noGrp="1"/>
          </p:cNvSpPr>
          <p:nvPr>
            <p:ph type="dt" sz="half" idx="10"/>
          </p:nvPr>
        </p:nvSpPr>
        <p:spPr/>
        <p:txBody>
          <a:bodyPr/>
          <a:lstStyle/>
          <a:p>
            <a:fld id="{C2EBCB3B-0D71-481E-A68B-9B57A6B53C51}" type="datetime1">
              <a:rPr lang="en-US" smtClean="0"/>
              <a:t>10/16/2022</a:t>
            </a:fld>
            <a:endParaRPr lang="en-US" dirty="0"/>
          </a:p>
        </p:txBody>
      </p:sp>
      <p:sp>
        <p:nvSpPr>
          <p:cNvPr id="5" name="Footer Placeholder 4">
            <a:extLst>
              <a:ext uri="{FF2B5EF4-FFF2-40B4-BE49-F238E27FC236}">
                <a16:creationId xmlns:a16="http://schemas.microsoft.com/office/drawing/2014/main" id="{E0A3D8BB-2004-4269-9965-3E94EE07C45D}"/>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6EA57757-B9F5-4F47-B7C5-1D2494C52B76}"/>
              </a:ext>
            </a:extLst>
          </p:cNvPr>
          <p:cNvSpPr>
            <a:spLocks noGrp="1"/>
          </p:cNvSpPr>
          <p:nvPr>
            <p:ph type="sldNum" sz="quarter" idx="12"/>
          </p:nvPr>
        </p:nvSpPr>
        <p:spPr/>
        <p:txBody>
          <a:bodyPr/>
          <a:lstStyle/>
          <a:p>
            <a:fld id="{B7884E68-CE57-44C0-BE0F-84C629DF22D5}" type="slidenum">
              <a:rPr lang="en-US" smtClean="0"/>
              <a:t>69</a:t>
            </a:fld>
            <a:endParaRPr lang="en-US" dirty="0"/>
          </a:p>
        </p:txBody>
      </p:sp>
      <p:grpSp>
        <p:nvGrpSpPr>
          <p:cNvPr id="7" name="Group 6">
            <a:extLst>
              <a:ext uri="{FF2B5EF4-FFF2-40B4-BE49-F238E27FC236}">
                <a16:creationId xmlns:a16="http://schemas.microsoft.com/office/drawing/2014/main" id="{F593803D-B87F-453E-A4C6-0E793EC7B0AD}"/>
              </a:ext>
            </a:extLst>
          </p:cNvPr>
          <p:cNvGrpSpPr/>
          <p:nvPr/>
        </p:nvGrpSpPr>
        <p:grpSpPr>
          <a:xfrm>
            <a:off x="8329403" y="1406981"/>
            <a:ext cx="3776870" cy="2847967"/>
            <a:chOff x="8075859" y="3164726"/>
            <a:chExt cx="3776870" cy="2847967"/>
          </a:xfrm>
        </p:grpSpPr>
        <p:sp>
          <p:nvSpPr>
            <p:cNvPr id="8" name="Oval 7">
              <a:extLst>
                <a:ext uri="{FF2B5EF4-FFF2-40B4-BE49-F238E27FC236}">
                  <a16:creationId xmlns:a16="http://schemas.microsoft.com/office/drawing/2014/main" id="{7579147B-7E4A-4D79-9C80-CF2CA2CAF4D6}"/>
                </a:ext>
              </a:extLst>
            </p:cNvPr>
            <p:cNvSpPr/>
            <p:nvPr/>
          </p:nvSpPr>
          <p:spPr>
            <a:xfrm>
              <a:off x="9538899" y="3164726"/>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a:t>
              </a:r>
            </a:p>
          </p:txBody>
        </p:sp>
        <p:sp>
          <p:nvSpPr>
            <p:cNvPr id="9" name="Rectangle 8">
              <a:extLst>
                <a:ext uri="{FF2B5EF4-FFF2-40B4-BE49-F238E27FC236}">
                  <a16:creationId xmlns:a16="http://schemas.microsoft.com/office/drawing/2014/main" id="{2C8569B7-7D4E-4CB4-8C69-05966ADE4B2A}"/>
                </a:ext>
              </a:extLst>
            </p:cNvPr>
            <p:cNvSpPr/>
            <p:nvPr/>
          </p:nvSpPr>
          <p:spPr>
            <a:xfrm>
              <a:off x="8441619" y="4267902"/>
              <a:ext cx="1097280" cy="54864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 &lt; Y</a:t>
              </a:r>
            </a:p>
          </p:txBody>
        </p:sp>
        <p:sp>
          <p:nvSpPr>
            <p:cNvPr id="10" name="Oval 9">
              <a:extLst>
                <a:ext uri="{FF2B5EF4-FFF2-40B4-BE49-F238E27FC236}">
                  <a16:creationId xmlns:a16="http://schemas.microsoft.com/office/drawing/2014/main" id="{BB69E3B5-D623-4E8D-9A23-88C3230BB3E3}"/>
                </a:ext>
              </a:extLst>
            </p:cNvPr>
            <p:cNvSpPr/>
            <p:nvPr/>
          </p:nvSpPr>
          <p:spPr>
            <a:xfrm>
              <a:off x="8075859" y="5281173"/>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Y</a:t>
              </a:r>
            </a:p>
          </p:txBody>
        </p:sp>
        <p:sp>
          <p:nvSpPr>
            <p:cNvPr id="11" name="Rectangle 10">
              <a:extLst>
                <a:ext uri="{FF2B5EF4-FFF2-40B4-BE49-F238E27FC236}">
                  <a16:creationId xmlns:a16="http://schemas.microsoft.com/office/drawing/2014/main" id="{6ADD8024-B7C7-42DB-8E47-4F692F2A4BB7}"/>
                </a:ext>
              </a:extLst>
            </p:cNvPr>
            <p:cNvSpPr/>
            <p:nvPr/>
          </p:nvSpPr>
          <p:spPr>
            <a:xfrm>
              <a:off x="10270419" y="4267902"/>
              <a:ext cx="1097280" cy="54864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Z &lt; x-2</a:t>
              </a:r>
            </a:p>
          </p:txBody>
        </p:sp>
        <p:sp>
          <p:nvSpPr>
            <p:cNvPr id="12" name="Oval 11">
              <a:extLst>
                <a:ext uri="{FF2B5EF4-FFF2-40B4-BE49-F238E27FC236}">
                  <a16:creationId xmlns:a16="http://schemas.microsoft.com/office/drawing/2014/main" id="{8A2AFC27-3370-4387-BD07-9FD0577BE535}"/>
                </a:ext>
              </a:extLst>
            </p:cNvPr>
            <p:cNvSpPr/>
            <p:nvPr/>
          </p:nvSpPr>
          <p:spPr>
            <a:xfrm>
              <a:off x="11121209" y="5281173"/>
              <a:ext cx="731520" cy="73152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Z</a:t>
              </a:r>
            </a:p>
          </p:txBody>
        </p:sp>
        <p:cxnSp>
          <p:nvCxnSpPr>
            <p:cNvPr id="13" name="Straight Connector 12">
              <a:extLst>
                <a:ext uri="{FF2B5EF4-FFF2-40B4-BE49-F238E27FC236}">
                  <a16:creationId xmlns:a16="http://schemas.microsoft.com/office/drawing/2014/main" id="{FE18B6B4-07B3-4F4C-B930-9D5925D0078B}"/>
                </a:ext>
              </a:extLst>
            </p:cNvPr>
            <p:cNvCxnSpPr>
              <a:stCxn id="8" idx="2"/>
              <a:endCxn id="9" idx="0"/>
            </p:cNvCxnSpPr>
            <p:nvPr/>
          </p:nvCxnSpPr>
          <p:spPr>
            <a:xfrm flipH="1">
              <a:off x="8990259" y="3530486"/>
              <a:ext cx="548640" cy="7374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86FEB3A-6BCA-4F82-A039-E5145B4BF759}"/>
                </a:ext>
              </a:extLst>
            </p:cNvPr>
            <p:cNvCxnSpPr>
              <a:cxnSpLocks/>
              <a:endCxn id="10" idx="0"/>
            </p:cNvCxnSpPr>
            <p:nvPr/>
          </p:nvCxnSpPr>
          <p:spPr>
            <a:xfrm flipH="1">
              <a:off x="8441619" y="4816542"/>
              <a:ext cx="274320" cy="4646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646AD5D-FD22-4C3E-8C7C-5E06F5F0075D}"/>
                </a:ext>
              </a:extLst>
            </p:cNvPr>
            <p:cNvCxnSpPr>
              <a:stCxn id="8" idx="6"/>
              <a:endCxn id="11" idx="0"/>
            </p:cNvCxnSpPr>
            <p:nvPr/>
          </p:nvCxnSpPr>
          <p:spPr>
            <a:xfrm>
              <a:off x="10270419" y="3530486"/>
              <a:ext cx="548640" cy="7374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2798DFB-4352-4CFB-A35D-C6080ED37794}"/>
                </a:ext>
              </a:extLst>
            </p:cNvPr>
            <p:cNvCxnSpPr>
              <a:cxnSpLocks/>
              <a:endCxn id="12" idx="0"/>
            </p:cNvCxnSpPr>
            <p:nvPr/>
          </p:nvCxnSpPr>
          <p:spPr>
            <a:xfrm>
              <a:off x="11121209" y="4816542"/>
              <a:ext cx="365760" cy="464631"/>
            </a:xfrm>
            <a:prstGeom prst="line">
              <a:avLst/>
            </a:prstGeom>
            <a:ln w="28575"/>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006523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A1537-3E53-4B30-BF89-1C308C151D72}"/>
              </a:ext>
            </a:extLst>
          </p:cNvPr>
          <p:cNvSpPr>
            <a:spLocks noGrp="1"/>
          </p:cNvSpPr>
          <p:nvPr>
            <p:ph type="title"/>
          </p:nvPr>
        </p:nvSpPr>
        <p:spPr/>
        <p:txBody>
          <a:bodyPr>
            <a:normAutofit fontScale="90000"/>
          </a:bodyPr>
          <a:lstStyle/>
          <a:p>
            <a:r>
              <a:rPr lang="en-US" dirty="0"/>
              <a:t>AC-3 algorithm - Implementation - Summary</a:t>
            </a:r>
          </a:p>
        </p:txBody>
      </p:sp>
      <p:sp>
        <p:nvSpPr>
          <p:cNvPr id="4" name="Date Placeholder 3">
            <a:extLst>
              <a:ext uri="{FF2B5EF4-FFF2-40B4-BE49-F238E27FC236}">
                <a16:creationId xmlns:a16="http://schemas.microsoft.com/office/drawing/2014/main" id="{DA09E4C9-145C-4305-8FCC-A51919AC1639}"/>
              </a:ext>
            </a:extLst>
          </p:cNvPr>
          <p:cNvSpPr>
            <a:spLocks noGrp="1"/>
          </p:cNvSpPr>
          <p:nvPr>
            <p:ph type="dt" sz="half" idx="10"/>
          </p:nvPr>
        </p:nvSpPr>
        <p:spPr/>
        <p:txBody>
          <a:bodyPr/>
          <a:lstStyle/>
          <a:p>
            <a:fld id="{C2EBCB3B-0D71-481E-A68B-9B57A6B53C51}" type="datetime1">
              <a:rPr lang="en-US" smtClean="0"/>
              <a:t>10/16/2022</a:t>
            </a:fld>
            <a:endParaRPr lang="en-US" dirty="0"/>
          </a:p>
        </p:txBody>
      </p:sp>
      <p:sp>
        <p:nvSpPr>
          <p:cNvPr id="5" name="Footer Placeholder 4">
            <a:extLst>
              <a:ext uri="{FF2B5EF4-FFF2-40B4-BE49-F238E27FC236}">
                <a16:creationId xmlns:a16="http://schemas.microsoft.com/office/drawing/2014/main" id="{D9CB7188-453A-42BB-87E4-4D26B0578C08}"/>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04C20597-9C79-4143-9797-0DA93C4EDD27}"/>
              </a:ext>
            </a:extLst>
          </p:cNvPr>
          <p:cNvSpPr>
            <a:spLocks noGrp="1"/>
          </p:cNvSpPr>
          <p:nvPr>
            <p:ph type="sldNum" sz="quarter" idx="12"/>
          </p:nvPr>
        </p:nvSpPr>
        <p:spPr/>
        <p:txBody>
          <a:bodyPr/>
          <a:lstStyle/>
          <a:p>
            <a:fld id="{B7884E68-CE57-44C0-BE0F-84C629DF22D5}" type="slidenum">
              <a:rPr lang="en-US" dirty="0" smtClean="0"/>
              <a:t>70</a:t>
            </a:fld>
            <a:endParaRPr lang="en-US" dirty="0"/>
          </a:p>
        </p:txBody>
      </p:sp>
      <p:graphicFrame>
        <p:nvGraphicFramePr>
          <p:cNvPr id="29" name="Table 28">
            <a:extLst>
              <a:ext uri="{FF2B5EF4-FFF2-40B4-BE49-F238E27FC236}">
                <a16:creationId xmlns:a16="http://schemas.microsoft.com/office/drawing/2014/main" id="{CE593944-0E5D-41BB-A262-9E307182642E}"/>
              </a:ext>
            </a:extLst>
          </p:cNvPr>
          <p:cNvGraphicFramePr>
            <a:graphicFrameLocks noGrp="1"/>
          </p:cNvGraphicFramePr>
          <p:nvPr>
            <p:extLst/>
          </p:nvPr>
        </p:nvGraphicFramePr>
        <p:xfrm>
          <a:off x="0" y="1321378"/>
          <a:ext cx="12192001" cy="4355292"/>
        </p:xfrm>
        <a:graphic>
          <a:graphicData uri="http://schemas.openxmlformats.org/drawingml/2006/table">
            <a:tbl>
              <a:tblPr firstRow="1" bandRow="1">
                <a:tableStyleId>{5C22544A-7EE6-4342-B048-85BDC9FD1C3A}</a:tableStyleId>
              </a:tblPr>
              <a:tblGrid>
                <a:gridCol w="395156">
                  <a:extLst>
                    <a:ext uri="{9D8B030D-6E8A-4147-A177-3AD203B41FA5}">
                      <a16:colId xmlns:a16="http://schemas.microsoft.com/office/drawing/2014/main" val="1568518671"/>
                    </a:ext>
                  </a:extLst>
                </a:gridCol>
                <a:gridCol w="2338519">
                  <a:extLst>
                    <a:ext uri="{9D8B030D-6E8A-4147-A177-3AD203B41FA5}">
                      <a16:colId xmlns:a16="http://schemas.microsoft.com/office/drawing/2014/main" val="3211472031"/>
                    </a:ext>
                  </a:extLst>
                </a:gridCol>
                <a:gridCol w="1200150">
                  <a:extLst>
                    <a:ext uri="{9D8B030D-6E8A-4147-A177-3AD203B41FA5}">
                      <a16:colId xmlns:a16="http://schemas.microsoft.com/office/drawing/2014/main" val="3948649180"/>
                    </a:ext>
                  </a:extLst>
                </a:gridCol>
                <a:gridCol w="3248025">
                  <a:extLst>
                    <a:ext uri="{9D8B030D-6E8A-4147-A177-3AD203B41FA5}">
                      <a16:colId xmlns:a16="http://schemas.microsoft.com/office/drawing/2014/main" val="2380077921"/>
                    </a:ext>
                  </a:extLst>
                </a:gridCol>
                <a:gridCol w="5010151">
                  <a:extLst>
                    <a:ext uri="{9D8B030D-6E8A-4147-A177-3AD203B41FA5}">
                      <a16:colId xmlns:a16="http://schemas.microsoft.com/office/drawing/2014/main" val="3593744951"/>
                    </a:ext>
                  </a:extLst>
                </a:gridCol>
              </a:tblGrid>
              <a:tr h="514812">
                <a:tc>
                  <a:txBody>
                    <a:bodyPr/>
                    <a:lstStyle/>
                    <a:p>
                      <a:r>
                        <a:rPr lang="en-US" sz="1800" dirty="0"/>
                        <a:t>#</a:t>
                      </a:r>
                    </a:p>
                  </a:txBody>
                  <a:tcPr/>
                </a:tc>
                <a:tc>
                  <a:txBody>
                    <a:bodyPr/>
                    <a:lstStyle/>
                    <a:p>
                      <a:r>
                        <a:rPr lang="en-US" sz="1800" dirty="0" err="1"/>
                        <a:t>Arc_</a:t>
                      </a:r>
                      <a:r>
                        <a:rPr lang="en-US" sz="1800" b="1" dirty="0" err="1">
                          <a:solidFill>
                            <a:schemeClr val="bg1"/>
                          </a:solidFill>
                        </a:rPr>
                        <a:t>Queue</a:t>
                      </a:r>
                      <a:r>
                        <a:rPr lang="en-US" sz="1800" b="1" dirty="0">
                          <a:solidFill>
                            <a:schemeClr val="bg1"/>
                          </a:solidFill>
                        </a:rPr>
                        <a:t> </a:t>
                      </a:r>
                      <a:endParaRPr lang="en-US" sz="1800" dirty="0">
                        <a:solidFill>
                          <a:schemeClr val="bg1"/>
                        </a:solidFill>
                      </a:endParaRPr>
                    </a:p>
                  </a:txBody>
                  <a:tcPr/>
                </a:tc>
                <a:tc>
                  <a:txBody>
                    <a:bodyPr/>
                    <a:lstStyle/>
                    <a:p>
                      <a:r>
                        <a:rPr lang="en-US" sz="1800" dirty="0"/>
                        <a:t>Constraint</a:t>
                      </a:r>
                    </a:p>
                  </a:txBody>
                  <a:tcPr/>
                </a:tc>
                <a:tc>
                  <a:txBody>
                    <a:bodyPr/>
                    <a:lstStyle/>
                    <a:p>
                      <a:r>
                        <a:rPr lang="en-US" sz="1800" dirty="0"/>
                        <a:t>Updated Domains</a:t>
                      </a:r>
                    </a:p>
                  </a:txBody>
                  <a:tcPr/>
                </a:tc>
                <a:tc>
                  <a:txBody>
                    <a:bodyPr/>
                    <a:lstStyle/>
                    <a:p>
                      <a:r>
                        <a:rPr lang="en-US" sz="1800" dirty="0"/>
                        <a:t>Action</a:t>
                      </a:r>
                    </a:p>
                  </a:txBody>
                  <a:tcPr/>
                </a:tc>
                <a:extLst>
                  <a:ext uri="{0D108BD9-81ED-4DB2-BD59-A6C34878D82A}">
                    <a16:rowId xmlns:a16="http://schemas.microsoft.com/office/drawing/2014/main" val="1725275295"/>
                  </a:ext>
                </a:extLst>
              </a:tr>
              <a:tr h="507759">
                <a:tc>
                  <a:txBody>
                    <a:bodyPr/>
                    <a:lstStyle/>
                    <a:p>
                      <a:r>
                        <a:rPr lang="en-US" sz="1800" dirty="0"/>
                        <a:t>1.</a:t>
                      </a:r>
                    </a:p>
                  </a:txBody>
                  <a:tcPr/>
                </a:tc>
                <a:tc>
                  <a:txBody>
                    <a:bodyPr/>
                    <a:lstStyle/>
                    <a:p>
                      <a:endParaRPr lang="en-US" sz="1800"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tc>
                <a:tc>
                  <a:txBody>
                    <a:bodyPr/>
                    <a:lstStyle/>
                    <a:p>
                      <a:pPr marL="0" marR="0" lvl="1" indent="0" algn="l" defTabSz="914377" rtl="0" eaLnBrk="1" fontAlgn="auto" latinLnBrk="0" hangingPunct="1">
                        <a:lnSpc>
                          <a:spcPct val="100000"/>
                        </a:lnSpc>
                        <a:spcBef>
                          <a:spcPts val="0"/>
                        </a:spcBef>
                        <a:spcAft>
                          <a:spcPts val="0"/>
                        </a:spcAft>
                        <a:buClrTx/>
                        <a:buSzTx/>
                        <a:buFontTx/>
                        <a:buNone/>
                        <a:tabLst/>
                        <a:defRPr/>
                      </a:pPr>
                      <a:r>
                        <a:rPr lang="en-US" sz="1800" i="1" dirty="0"/>
                        <a:t>D</a:t>
                      </a:r>
                      <a:r>
                        <a:rPr lang="en-US" sz="1800" baseline="-25000" dirty="0"/>
                        <a:t>X </a:t>
                      </a:r>
                      <a:r>
                        <a:rPr lang="en-US" sz="1800" dirty="0"/>
                        <a:t>= </a:t>
                      </a:r>
                      <a:r>
                        <a:rPr lang="en-US" sz="1800" i="1" dirty="0"/>
                        <a:t>D</a:t>
                      </a:r>
                      <a:r>
                        <a:rPr lang="en-US" sz="1800" baseline="-25000" dirty="0"/>
                        <a:t>Y </a:t>
                      </a:r>
                      <a:r>
                        <a:rPr lang="en-US" sz="1800" dirty="0"/>
                        <a:t>= </a:t>
                      </a:r>
                      <a:r>
                        <a:rPr lang="en-US" sz="1800" i="1" dirty="0"/>
                        <a:t>D</a:t>
                      </a:r>
                      <a:r>
                        <a:rPr lang="en-US" sz="1800" baseline="-25000" dirty="0"/>
                        <a:t>Z </a:t>
                      </a:r>
                      <a:r>
                        <a:rPr lang="en-US" sz="1800" dirty="0"/>
                        <a:t>= {1,2,3,4,5,6}</a:t>
                      </a:r>
                    </a:p>
                  </a:txBody>
                  <a:tcPr/>
                </a:tc>
                <a:tc>
                  <a:txBody>
                    <a:bodyPr/>
                    <a:lstStyle/>
                    <a:p>
                      <a:pPr marL="114300" marR="0" lvl="1" indent="-1143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Start with an empty </a:t>
                      </a:r>
                      <a:r>
                        <a:rPr lang="en-US" sz="1800" dirty="0" err="1"/>
                        <a:t>Arc_Queue</a:t>
                      </a:r>
                      <a:r>
                        <a:rPr lang="en-US" sz="1800" dirty="0"/>
                        <a:t>.</a:t>
                      </a:r>
                    </a:p>
                    <a:p>
                      <a:pPr marL="114300" marR="0" lvl="1" indent="-1143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Enqueue all 4 arcs.</a:t>
                      </a:r>
                    </a:p>
                  </a:txBody>
                  <a:tcPr/>
                </a:tc>
                <a:extLst>
                  <a:ext uri="{0D108BD9-81ED-4DB2-BD59-A6C34878D82A}">
                    <a16:rowId xmlns:a16="http://schemas.microsoft.com/office/drawing/2014/main" val="2555896998"/>
                  </a:ext>
                </a:extLst>
              </a:tr>
              <a:tr h="449611">
                <a:tc>
                  <a:txBody>
                    <a:bodyPr/>
                    <a:lstStyle/>
                    <a:p>
                      <a:r>
                        <a:rPr lang="en-US" sz="1800" dirty="0"/>
                        <a:t>2.</a:t>
                      </a:r>
                    </a:p>
                  </a:txBody>
                  <a:tcPr/>
                </a:tc>
                <a:tc>
                  <a:txBody>
                    <a:bodyPr/>
                    <a:lstStyle/>
                    <a:p>
                      <a:r>
                        <a:rPr lang="en-US" sz="1800" b="0" dirty="0"/>
                        <a:t>[</a:t>
                      </a:r>
                      <a:r>
                        <a:rPr lang="en-US" sz="1800" b="1" dirty="0"/>
                        <a:t>(X,Y)</a:t>
                      </a:r>
                      <a:r>
                        <a:rPr lang="en-US" sz="1800" b="0" dirty="0"/>
                        <a:t>, (Y,X), (X,Z</a:t>
                      </a:r>
                      <a:r>
                        <a:rPr lang="en-US" sz="1800" dirty="0"/>
                        <a:t>), (Z,X)]</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dirty="0">
                          <a:solidFill>
                            <a:schemeClr val="tx1"/>
                          </a:solidFill>
                        </a:rPr>
                        <a:t>X &lt; Y</a:t>
                      </a:r>
                    </a:p>
                  </a:txBody>
                  <a:tcPr/>
                </a:tc>
                <a:tc>
                  <a:txBody>
                    <a:bodyPr/>
                    <a:lstStyle/>
                    <a:p>
                      <a:pPr marL="0" lvl="1" indent="0"/>
                      <a:r>
                        <a:rPr lang="en-US" sz="1800" i="1" dirty="0"/>
                        <a:t>D</a:t>
                      </a:r>
                      <a:r>
                        <a:rPr lang="en-US" sz="1800" baseline="-25000" dirty="0"/>
                        <a:t>X </a:t>
                      </a:r>
                      <a:r>
                        <a:rPr lang="en-US" sz="1800" dirty="0"/>
                        <a:t>= {1,2,3,4,5}, </a:t>
                      </a:r>
                      <a:r>
                        <a:rPr lang="en-US" sz="1800" i="1" dirty="0"/>
                        <a:t>D</a:t>
                      </a:r>
                      <a:r>
                        <a:rPr lang="en-US" sz="1800" baseline="-25000" dirty="0"/>
                        <a:t>Y </a:t>
                      </a:r>
                      <a:r>
                        <a:rPr lang="en-US" sz="1800" dirty="0"/>
                        <a:t>= {1,2,3,4,5,6}               </a:t>
                      </a:r>
                      <a:r>
                        <a:rPr lang="en-US" sz="1800" i="1" dirty="0"/>
                        <a:t>D</a:t>
                      </a:r>
                      <a:r>
                        <a:rPr lang="en-US" sz="1800" baseline="-25000" dirty="0"/>
                        <a:t>Z </a:t>
                      </a:r>
                      <a:r>
                        <a:rPr lang="en-US" sz="1800" dirty="0"/>
                        <a:t>= {1,2,3,4,5,6}</a:t>
                      </a:r>
                    </a:p>
                  </a:txBody>
                  <a:tcPr/>
                </a:tc>
                <a:tc>
                  <a:txBody>
                    <a:bodyPr/>
                    <a:lstStyle/>
                    <a:p>
                      <a:pPr marL="114300" lvl="1" indent="-114300">
                        <a:buFont typeface="Arial" panose="020B0604020202020204" pitchFamily="34" charset="0"/>
                        <a:buChar char="•"/>
                      </a:pPr>
                      <a:r>
                        <a:rPr lang="en-US" sz="1800" dirty="0"/>
                        <a:t>Check (X,Y).</a:t>
                      </a:r>
                    </a:p>
                    <a:p>
                      <a:pPr marL="114300" lvl="1" indent="-114300">
                        <a:buFont typeface="Arial" panose="020B0604020202020204" pitchFamily="34" charset="0"/>
                        <a:buChar char="•"/>
                      </a:pPr>
                      <a:r>
                        <a:rPr lang="en-US" sz="1800" dirty="0"/>
                        <a:t>Remove</a:t>
                      </a:r>
                      <a:r>
                        <a:rPr lang="en-US" sz="1800" dirty="0">
                          <a:solidFill>
                            <a:srgbClr val="FF0000"/>
                          </a:solidFill>
                        </a:rPr>
                        <a:t> </a:t>
                      </a:r>
                      <a:r>
                        <a:rPr lang="en-US" sz="1800" dirty="0">
                          <a:solidFill>
                            <a:schemeClr val="tx1"/>
                          </a:solidFill>
                        </a:rPr>
                        <a:t>6</a:t>
                      </a:r>
                      <a:r>
                        <a:rPr lang="en-US" sz="1800" dirty="0"/>
                        <a:t> from </a:t>
                      </a:r>
                      <a:r>
                        <a:rPr lang="en-US" sz="1800" i="1" dirty="0"/>
                        <a:t>D</a:t>
                      </a:r>
                      <a:r>
                        <a:rPr lang="en-US" sz="1800" baseline="-25000" dirty="0"/>
                        <a:t>X</a:t>
                      </a:r>
                      <a:r>
                        <a:rPr lang="en-US" sz="1800" dirty="0"/>
                        <a:t> to make (X,Y) arc consistent.</a:t>
                      </a:r>
                    </a:p>
                    <a:p>
                      <a:pPr marL="114300" lvl="1" indent="-114300">
                        <a:buFont typeface="Arial" panose="020B0604020202020204" pitchFamily="34" charset="0"/>
                        <a:buChar char="•"/>
                      </a:pPr>
                      <a:r>
                        <a:rPr lang="en-US" sz="1800" dirty="0"/>
                        <a:t>Since </a:t>
                      </a:r>
                      <a:r>
                        <a:rPr lang="en-US" sz="1800" i="1" dirty="0"/>
                        <a:t>D</a:t>
                      </a:r>
                      <a:r>
                        <a:rPr lang="en-US" sz="1800" baseline="-25000" dirty="0"/>
                        <a:t>X</a:t>
                      </a:r>
                      <a:r>
                        <a:rPr lang="en-US" sz="1800" dirty="0"/>
                        <a:t> has changed, you must re-enqueue (Z,X) </a:t>
                      </a:r>
                      <a:r>
                        <a:rPr lang="en-US" sz="1800" dirty="0">
                          <a:solidFill>
                            <a:srgbClr val="C00000"/>
                          </a:solidFill>
                        </a:rPr>
                        <a:t>if it is not already enqueued</a:t>
                      </a:r>
                      <a:r>
                        <a:rPr lang="en-US" sz="1800" dirty="0"/>
                        <a:t>. But it is </a:t>
                      </a:r>
                      <a:r>
                        <a:rPr lang="en-US" sz="1800" dirty="0">
                          <a:solidFill>
                            <a:srgbClr val="0033CC"/>
                          </a:solidFill>
                        </a:rPr>
                        <a:t>already enqueued</a:t>
                      </a:r>
                      <a:r>
                        <a:rPr lang="en-US" sz="1800" dirty="0"/>
                        <a:t>. </a:t>
                      </a:r>
                    </a:p>
                    <a:p>
                      <a:pPr marL="114300" marR="0" lvl="1" indent="-1143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Remove (X,Y) from </a:t>
                      </a:r>
                      <a:r>
                        <a:rPr lang="en-US" sz="1800" dirty="0" err="1"/>
                        <a:t>Arc_Queue</a:t>
                      </a:r>
                      <a:r>
                        <a:rPr lang="en-US" sz="1800" dirty="0"/>
                        <a:t>.</a:t>
                      </a:r>
                    </a:p>
                  </a:txBody>
                  <a:tcPr/>
                </a:tc>
                <a:extLst>
                  <a:ext uri="{0D108BD9-81ED-4DB2-BD59-A6C34878D82A}">
                    <a16:rowId xmlns:a16="http://schemas.microsoft.com/office/drawing/2014/main" val="2122691123"/>
                  </a:ext>
                </a:extLst>
              </a:tr>
              <a:tr h="519154">
                <a:tc>
                  <a:txBody>
                    <a:bodyPr/>
                    <a:lstStyle/>
                    <a:p>
                      <a:r>
                        <a:rPr lang="en-US" sz="1800" b="0" dirty="0"/>
                        <a:t>3.</a:t>
                      </a:r>
                    </a:p>
                  </a:txBody>
                  <a:tcPr/>
                </a:tc>
                <a:tc>
                  <a:txBody>
                    <a:bodyPr/>
                    <a:lstStyle/>
                    <a:p>
                      <a:r>
                        <a:rPr lang="en-US" sz="1800" b="0" dirty="0"/>
                        <a:t>[</a:t>
                      </a:r>
                      <a:r>
                        <a:rPr lang="en-US" sz="1800" b="1" i="0" dirty="0"/>
                        <a:t>(Y,X)</a:t>
                      </a:r>
                      <a:r>
                        <a:rPr lang="en-US" sz="1800" b="0" dirty="0"/>
                        <a:t>, (X,Z</a:t>
                      </a:r>
                      <a:r>
                        <a:rPr lang="en-US" sz="1800" dirty="0"/>
                        <a:t>), (Z,X)]</a:t>
                      </a:r>
                      <a:endParaRPr lang="en-US" sz="1800" b="0"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dirty="0">
                          <a:solidFill>
                            <a:schemeClr val="tx1"/>
                          </a:solidFill>
                        </a:rPr>
                        <a:t>Y &gt; X</a:t>
                      </a:r>
                    </a:p>
                  </a:txBody>
                  <a:tcPr/>
                </a:tc>
                <a:tc>
                  <a:txBody>
                    <a:bodyPr/>
                    <a:lstStyle/>
                    <a:p>
                      <a:pPr marL="0" lvl="1" indent="0"/>
                      <a:r>
                        <a:rPr lang="en-US" sz="1800" i="1" dirty="0"/>
                        <a:t>D</a:t>
                      </a:r>
                      <a:r>
                        <a:rPr lang="en-US" sz="1800" baseline="-25000" dirty="0"/>
                        <a:t>X </a:t>
                      </a:r>
                      <a:r>
                        <a:rPr lang="en-US" sz="1800" dirty="0"/>
                        <a:t>= {1,2,3,4,5}, </a:t>
                      </a:r>
                      <a:r>
                        <a:rPr lang="en-US" sz="1800" i="1" dirty="0"/>
                        <a:t>D</a:t>
                      </a:r>
                      <a:r>
                        <a:rPr lang="en-US" sz="1800" baseline="-25000" dirty="0"/>
                        <a:t>Y </a:t>
                      </a:r>
                      <a:r>
                        <a:rPr lang="en-US" sz="1800" dirty="0"/>
                        <a:t>= {2,3,4,5,6}                   </a:t>
                      </a:r>
                      <a:r>
                        <a:rPr lang="en-US" sz="1800" i="1" dirty="0"/>
                        <a:t>D</a:t>
                      </a:r>
                      <a:r>
                        <a:rPr lang="en-US" sz="1800" baseline="-25000" dirty="0"/>
                        <a:t>Z </a:t>
                      </a:r>
                      <a:r>
                        <a:rPr lang="en-US" sz="1800" dirty="0"/>
                        <a:t>= {1,2,3,4,5,6}</a:t>
                      </a:r>
                    </a:p>
                  </a:txBody>
                  <a:tcPr/>
                </a:tc>
                <a:tc>
                  <a:txBody>
                    <a:bodyPr/>
                    <a:lstStyle/>
                    <a:p>
                      <a:pPr marL="114300" marR="0" lvl="1" indent="-1143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Check (Y,X).</a:t>
                      </a:r>
                    </a:p>
                    <a:p>
                      <a:pPr marL="114300" marR="0" lvl="1" indent="-1143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Remove 1 from </a:t>
                      </a:r>
                      <a:r>
                        <a:rPr lang="en-US" sz="1800" i="1" dirty="0"/>
                        <a:t>D</a:t>
                      </a:r>
                      <a:r>
                        <a:rPr lang="en-US" sz="1800" baseline="-25000" dirty="0"/>
                        <a:t>y</a:t>
                      </a:r>
                      <a:r>
                        <a:rPr lang="en-US" sz="1800" dirty="0"/>
                        <a:t> to make (Y,X) arc consistent.</a:t>
                      </a:r>
                    </a:p>
                    <a:p>
                      <a:pPr marL="114300" lvl="1" indent="-114300">
                        <a:buFont typeface="Arial" panose="020B0604020202020204" pitchFamily="34" charset="0"/>
                        <a:buChar char="•"/>
                      </a:pPr>
                      <a:r>
                        <a:rPr lang="en-US" sz="1800" dirty="0"/>
                        <a:t>Since Y has only X in its neighbors list. </a:t>
                      </a:r>
                      <a:r>
                        <a:rPr lang="en-US" sz="1800" dirty="0">
                          <a:solidFill>
                            <a:srgbClr val="C00000"/>
                          </a:solidFill>
                        </a:rPr>
                        <a:t>No arc need to be re-enqueued</a:t>
                      </a:r>
                      <a:r>
                        <a:rPr lang="en-US" sz="1800" dirty="0"/>
                        <a:t>.</a:t>
                      </a:r>
                    </a:p>
                    <a:p>
                      <a:pPr marL="114300" marR="0" lvl="1" indent="-1143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Remove (Y,X) from </a:t>
                      </a:r>
                      <a:r>
                        <a:rPr lang="en-US" sz="1800" dirty="0" err="1"/>
                        <a:t>Arc_Queue</a:t>
                      </a:r>
                      <a:r>
                        <a:rPr lang="en-US" sz="1800" dirty="0"/>
                        <a:t>. </a:t>
                      </a:r>
                    </a:p>
                  </a:txBody>
                  <a:tcPr/>
                </a:tc>
                <a:extLst>
                  <a:ext uri="{0D108BD9-81ED-4DB2-BD59-A6C34878D82A}">
                    <a16:rowId xmlns:a16="http://schemas.microsoft.com/office/drawing/2014/main" val="2697502494"/>
                  </a:ext>
                </a:extLst>
              </a:tr>
            </a:tbl>
          </a:graphicData>
        </a:graphic>
      </p:graphicFrame>
    </p:spTree>
    <p:extLst>
      <p:ext uri="{BB962C8B-B14F-4D97-AF65-F5344CB8AC3E}">
        <p14:creationId xmlns:p14="http://schemas.microsoft.com/office/powerpoint/2010/main" val="33083987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A1537-3E53-4B30-BF89-1C308C151D72}"/>
              </a:ext>
            </a:extLst>
          </p:cNvPr>
          <p:cNvSpPr>
            <a:spLocks noGrp="1"/>
          </p:cNvSpPr>
          <p:nvPr>
            <p:ph type="title"/>
          </p:nvPr>
        </p:nvSpPr>
        <p:spPr/>
        <p:txBody>
          <a:bodyPr>
            <a:normAutofit fontScale="90000"/>
          </a:bodyPr>
          <a:lstStyle/>
          <a:p>
            <a:r>
              <a:rPr lang="en-US" dirty="0"/>
              <a:t>AC-3 algorithm - Implementation - Summary</a:t>
            </a:r>
          </a:p>
        </p:txBody>
      </p:sp>
      <p:sp>
        <p:nvSpPr>
          <p:cNvPr id="4" name="Date Placeholder 3">
            <a:extLst>
              <a:ext uri="{FF2B5EF4-FFF2-40B4-BE49-F238E27FC236}">
                <a16:creationId xmlns:a16="http://schemas.microsoft.com/office/drawing/2014/main" id="{DA09E4C9-145C-4305-8FCC-A51919AC1639}"/>
              </a:ext>
            </a:extLst>
          </p:cNvPr>
          <p:cNvSpPr>
            <a:spLocks noGrp="1"/>
          </p:cNvSpPr>
          <p:nvPr>
            <p:ph type="dt" sz="half" idx="10"/>
          </p:nvPr>
        </p:nvSpPr>
        <p:spPr/>
        <p:txBody>
          <a:bodyPr/>
          <a:lstStyle/>
          <a:p>
            <a:fld id="{C2EBCB3B-0D71-481E-A68B-9B57A6B53C51}" type="datetime1">
              <a:rPr lang="en-US" smtClean="0"/>
              <a:t>10/16/2022</a:t>
            </a:fld>
            <a:endParaRPr lang="en-US" dirty="0"/>
          </a:p>
        </p:txBody>
      </p:sp>
      <p:sp>
        <p:nvSpPr>
          <p:cNvPr id="5" name="Footer Placeholder 4">
            <a:extLst>
              <a:ext uri="{FF2B5EF4-FFF2-40B4-BE49-F238E27FC236}">
                <a16:creationId xmlns:a16="http://schemas.microsoft.com/office/drawing/2014/main" id="{D9CB7188-453A-42BB-87E4-4D26B0578C08}"/>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04C20597-9C79-4143-9797-0DA93C4EDD27}"/>
              </a:ext>
            </a:extLst>
          </p:cNvPr>
          <p:cNvSpPr>
            <a:spLocks noGrp="1"/>
          </p:cNvSpPr>
          <p:nvPr>
            <p:ph type="sldNum" sz="quarter" idx="12"/>
          </p:nvPr>
        </p:nvSpPr>
        <p:spPr/>
        <p:txBody>
          <a:bodyPr/>
          <a:lstStyle/>
          <a:p>
            <a:fld id="{B7884E68-CE57-44C0-BE0F-84C629DF22D5}" type="slidenum">
              <a:rPr lang="en-US" dirty="0" smtClean="0"/>
              <a:t>71</a:t>
            </a:fld>
            <a:endParaRPr lang="en-US" dirty="0"/>
          </a:p>
        </p:txBody>
      </p:sp>
      <p:graphicFrame>
        <p:nvGraphicFramePr>
          <p:cNvPr id="29" name="Table 28">
            <a:extLst>
              <a:ext uri="{FF2B5EF4-FFF2-40B4-BE49-F238E27FC236}">
                <a16:creationId xmlns:a16="http://schemas.microsoft.com/office/drawing/2014/main" id="{CE593944-0E5D-41BB-A262-9E307182642E}"/>
              </a:ext>
            </a:extLst>
          </p:cNvPr>
          <p:cNvGraphicFramePr>
            <a:graphicFrameLocks noGrp="1"/>
          </p:cNvGraphicFramePr>
          <p:nvPr>
            <p:extLst/>
          </p:nvPr>
        </p:nvGraphicFramePr>
        <p:xfrm>
          <a:off x="0" y="1321378"/>
          <a:ext cx="12192001" cy="4263852"/>
        </p:xfrm>
        <a:graphic>
          <a:graphicData uri="http://schemas.openxmlformats.org/drawingml/2006/table">
            <a:tbl>
              <a:tblPr firstRow="1" bandRow="1">
                <a:tableStyleId>{5C22544A-7EE6-4342-B048-85BDC9FD1C3A}</a:tableStyleId>
              </a:tblPr>
              <a:tblGrid>
                <a:gridCol w="395156">
                  <a:extLst>
                    <a:ext uri="{9D8B030D-6E8A-4147-A177-3AD203B41FA5}">
                      <a16:colId xmlns:a16="http://schemas.microsoft.com/office/drawing/2014/main" val="1568518671"/>
                    </a:ext>
                  </a:extLst>
                </a:gridCol>
                <a:gridCol w="2281369">
                  <a:extLst>
                    <a:ext uri="{9D8B030D-6E8A-4147-A177-3AD203B41FA5}">
                      <a16:colId xmlns:a16="http://schemas.microsoft.com/office/drawing/2014/main" val="3211472031"/>
                    </a:ext>
                  </a:extLst>
                </a:gridCol>
                <a:gridCol w="1181100">
                  <a:extLst>
                    <a:ext uri="{9D8B030D-6E8A-4147-A177-3AD203B41FA5}">
                      <a16:colId xmlns:a16="http://schemas.microsoft.com/office/drawing/2014/main" val="3948649180"/>
                    </a:ext>
                  </a:extLst>
                </a:gridCol>
                <a:gridCol w="3226264">
                  <a:extLst>
                    <a:ext uri="{9D8B030D-6E8A-4147-A177-3AD203B41FA5}">
                      <a16:colId xmlns:a16="http://schemas.microsoft.com/office/drawing/2014/main" val="2380077921"/>
                    </a:ext>
                  </a:extLst>
                </a:gridCol>
                <a:gridCol w="5108112">
                  <a:extLst>
                    <a:ext uri="{9D8B030D-6E8A-4147-A177-3AD203B41FA5}">
                      <a16:colId xmlns:a16="http://schemas.microsoft.com/office/drawing/2014/main" val="3593744951"/>
                    </a:ext>
                  </a:extLst>
                </a:gridCol>
              </a:tblGrid>
              <a:tr h="514812">
                <a:tc>
                  <a:txBody>
                    <a:bodyPr/>
                    <a:lstStyle/>
                    <a:p>
                      <a:r>
                        <a:rPr lang="en-US" sz="1800" dirty="0"/>
                        <a:t>#</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dirty="0" err="1"/>
                        <a:t>Arc_</a:t>
                      </a:r>
                      <a:r>
                        <a:rPr lang="en-US" sz="1800" b="1" dirty="0" err="1">
                          <a:solidFill>
                            <a:schemeClr val="bg1"/>
                          </a:solidFill>
                        </a:rPr>
                        <a:t>Queue</a:t>
                      </a:r>
                      <a:r>
                        <a:rPr lang="en-US" sz="1800" b="1" dirty="0">
                          <a:solidFill>
                            <a:schemeClr val="bg1"/>
                          </a:solidFill>
                        </a:rPr>
                        <a:t> </a:t>
                      </a:r>
                      <a:endParaRPr lang="en-US" sz="1800" dirty="0">
                        <a:solidFill>
                          <a:schemeClr val="bg1"/>
                        </a:solidFill>
                      </a:endParaRPr>
                    </a:p>
                  </a:txBody>
                  <a:tcPr/>
                </a:tc>
                <a:tc>
                  <a:txBody>
                    <a:bodyPr/>
                    <a:lstStyle/>
                    <a:p>
                      <a:r>
                        <a:rPr lang="en-US" sz="1800" dirty="0"/>
                        <a:t>Constraint</a:t>
                      </a:r>
                    </a:p>
                  </a:txBody>
                  <a:tcPr/>
                </a:tc>
                <a:tc>
                  <a:txBody>
                    <a:bodyPr/>
                    <a:lstStyle/>
                    <a:p>
                      <a:r>
                        <a:rPr lang="en-US" sz="1800" dirty="0"/>
                        <a:t>Updated Domains</a:t>
                      </a:r>
                    </a:p>
                  </a:txBody>
                  <a:tcPr/>
                </a:tc>
                <a:tc>
                  <a:txBody>
                    <a:bodyPr/>
                    <a:lstStyle/>
                    <a:p>
                      <a:r>
                        <a:rPr lang="en-US" sz="1800" dirty="0"/>
                        <a:t>Action</a:t>
                      </a:r>
                    </a:p>
                  </a:txBody>
                  <a:tcPr/>
                </a:tc>
                <a:extLst>
                  <a:ext uri="{0D108BD9-81ED-4DB2-BD59-A6C34878D82A}">
                    <a16:rowId xmlns:a16="http://schemas.microsoft.com/office/drawing/2014/main" val="1725275295"/>
                  </a:ext>
                </a:extLst>
              </a:tr>
              <a:tr h="507759">
                <a:tc>
                  <a:txBody>
                    <a:bodyPr/>
                    <a:lstStyle/>
                    <a:p>
                      <a:r>
                        <a:rPr lang="en-US" sz="1800" dirty="0"/>
                        <a:t>4.</a:t>
                      </a:r>
                    </a:p>
                  </a:txBody>
                  <a:tcPr/>
                </a:tc>
                <a:tc>
                  <a:txBody>
                    <a:bodyPr/>
                    <a:lstStyle/>
                    <a:p>
                      <a:r>
                        <a:rPr lang="en-US" sz="1800" b="0" dirty="0"/>
                        <a:t>[</a:t>
                      </a:r>
                      <a:r>
                        <a:rPr lang="en-US" sz="1800" b="1" dirty="0"/>
                        <a:t>(X,Z)</a:t>
                      </a:r>
                      <a:r>
                        <a:rPr lang="en-US" sz="1800" dirty="0"/>
                        <a:t>, (Z,X)]</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dirty="0"/>
                        <a:t>X &gt; Z+2 </a:t>
                      </a:r>
                    </a:p>
                  </a:txBody>
                  <a:tcPr/>
                </a:tc>
                <a:tc>
                  <a:txBody>
                    <a:bodyPr/>
                    <a:lstStyle/>
                    <a:p>
                      <a:pPr marL="0" lvl="1" indent="0"/>
                      <a:r>
                        <a:rPr lang="en-US" sz="1800" i="1" dirty="0"/>
                        <a:t>D</a:t>
                      </a:r>
                      <a:r>
                        <a:rPr lang="en-US" sz="1800" baseline="-25000" dirty="0"/>
                        <a:t>X </a:t>
                      </a:r>
                      <a:r>
                        <a:rPr lang="en-US" sz="1800" dirty="0"/>
                        <a:t>= {4,5}, </a:t>
                      </a:r>
                      <a:r>
                        <a:rPr lang="en-US" sz="1800" i="1" dirty="0"/>
                        <a:t>D</a:t>
                      </a:r>
                      <a:r>
                        <a:rPr lang="en-US" sz="1800" baseline="-25000" dirty="0"/>
                        <a:t>Y </a:t>
                      </a:r>
                      <a:r>
                        <a:rPr lang="en-US" sz="1800" dirty="0"/>
                        <a:t>= {2,3,4,5,6} </a:t>
                      </a:r>
                    </a:p>
                    <a:p>
                      <a:pPr marL="0" lvl="1" indent="0"/>
                      <a:r>
                        <a:rPr lang="en-US" sz="1800" i="1" dirty="0"/>
                        <a:t>D</a:t>
                      </a:r>
                      <a:r>
                        <a:rPr lang="en-US" sz="1800" baseline="-25000" dirty="0"/>
                        <a:t>Z </a:t>
                      </a:r>
                      <a:r>
                        <a:rPr lang="en-US" sz="1800" dirty="0"/>
                        <a:t>= {1,2,3,4,5,6}</a:t>
                      </a:r>
                    </a:p>
                  </a:txBody>
                  <a:tcPr/>
                </a:tc>
                <a:tc>
                  <a:txBody>
                    <a:bodyPr/>
                    <a:lstStyle/>
                    <a:p>
                      <a:pPr marL="114300" marR="0" lvl="1" indent="-1143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Check (X,Z). </a:t>
                      </a:r>
                    </a:p>
                    <a:p>
                      <a:pPr marL="114300" marR="0" lvl="1" indent="-1143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Remove 1, 2 and 3 from </a:t>
                      </a:r>
                      <a:r>
                        <a:rPr lang="en-US" sz="1800" i="1" dirty="0"/>
                        <a:t>D</a:t>
                      </a:r>
                      <a:r>
                        <a:rPr lang="en-US" sz="1800" baseline="-25000" dirty="0"/>
                        <a:t>X</a:t>
                      </a:r>
                      <a:r>
                        <a:rPr lang="en-US" sz="1800" dirty="0"/>
                        <a:t> to make (X,Z) arc consistent. </a:t>
                      </a:r>
                    </a:p>
                    <a:p>
                      <a:pPr marL="114300" marR="0" lvl="1" indent="-1143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Since </a:t>
                      </a:r>
                      <a:r>
                        <a:rPr lang="en-US" sz="1800" i="1" dirty="0"/>
                        <a:t>D</a:t>
                      </a:r>
                      <a:r>
                        <a:rPr lang="en-US" sz="1800" baseline="-25000" dirty="0"/>
                        <a:t>X</a:t>
                      </a:r>
                      <a:r>
                        <a:rPr lang="en-US" sz="1800" dirty="0"/>
                        <a:t> changed, you must enqueue (Y,X) </a:t>
                      </a:r>
                      <a:r>
                        <a:rPr lang="en-US" sz="1800" dirty="0">
                          <a:solidFill>
                            <a:srgbClr val="C00000"/>
                          </a:solidFill>
                        </a:rPr>
                        <a:t>if it is not already enqueued</a:t>
                      </a:r>
                      <a:r>
                        <a:rPr lang="en-US" sz="1800" dirty="0"/>
                        <a:t>. </a:t>
                      </a:r>
                    </a:p>
                    <a:p>
                      <a:pPr marL="114300" marR="0" lvl="1" indent="-1143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Remove (X,Z) from </a:t>
                      </a:r>
                      <a:r>
                        <a:rPr lang="en-US" sz="1800" dirty="0" err="1"/>
                        <a:t>Arc_Queue</a:t>
                      </a:r>
                      <a:r>
                        <a:rPr lang="en-US" sz="1800" dirty="0"/>
                        <a:t>. </a:t>
                      </a:r>
                    </a:p>
                    <a:p>
                      <a:pPr marL="114300" marR="0" lvl="1" indent="-1143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solidFill>
                            <a:srgbClr val="0033CC"/>
                          </a:solidFill>
                        </a:rPr>
                        <a:t>Add (Y,X) to queue</a:t>
                      </a:r>
                      <a:r>
                        <a:rPr lang="en-US" sz="1800" dirty="0"/>
                        <a:t>.</a:t>
                      </a:r>
                    </a:p>
                  </a:txBody>
                  <a:tcPr/>
                </a:tc>
                <a:extLst>
                  <a:ext uri="{0D108BD9-81ED-4DB2-BD59-A6C34878D82A}">
                    <a16:rowId xmlns:a16="http://schemas.microsoft.com/office/drawing/2014/main" val="2555896998"/>
                  </a:ext>
                </a:extLst>
              </a:tr>
              <a:tr h="449611">
                <a:tc>
                  <a:txBody>
                    <a:bodyPr/>
                    <a:lstStyle/>
                    <a:p>
                      <a:r>
                        <a:rPr lang="en-US" sz="1800" dirty="0"/>
                        <a:t>5.</a:t>
                      </a:r>
                    </a:p>
                  </a:txBody>
                  <a:tcPr/>
                </a:tc>
                <a:tc>
                  <a:txBody>
                    <a:bodyPr/>
                    <a:lstStyle/>
                    <a:p>
                      <a:r>
                        <a:rPr lang="en-US" sz="1800" b="0" dirty="0"/>
                        <a:t>[</a:t>
                      </a:r>
                      <a:r>
                        <a:rPr lang="en-US" sz="1800" b="1" dirty="0"/>
                        <a:t>(Z,X)</a:t>
                      </a:r>
                      <a:r>
                        <a:rPr lang="en-US" sz="1800" dirty="0"/>
                        <a:t>, (Y,X)]</a:t>
                      </a:r>
                    </a:p>
                  </a:txBody>
                  <a:tcPr/>
                </a:tc>
                <a:tc>
                  <a:txBody>
                    <a:bodyPr/>
                    <a:lstStyle/>
                    <a:p>
                      <a:r>
                        <a:rPr lang="en-US" sz="1800" dirty="0"/>
                        <a:t>Z &lt; X-2</a:t>
                      </a:r>
                    </a:p>
                  </a:txBody>
                  <a:tcPr/>
                </a:tc>
                <a:tc>
                  <a:txBody>
                    <a:bodyPr/>
                    <a:lstStyle/>
                    <a:p>
                      <a:pPr marL="0" lvl="1" indent="0"/>
                      <a:r>
                        <a:rPr lang="en-US" sz="1800" i="1" dirty="0"/>
                        <a:t>D</a:t>
                      </a:r>
                      <a:r>
                        <a:rPr lang="en-US" sz="1800" baseline="-25000" dirty="0"/>
                        <a:t>X </a:t>
                      </a:r>
                      <a:r>
                        <a:rPr lang="en-US" sz="1800" dirty="0"/>
                        <a:t>= {4,5}, </a:t>
                      </a:r>
                      <a:r>
                        <a:rPr lang="en-US" sz="1800" i="1" dirty="0"/>
                        <a:t>D</a:t>
                      </a:r>
                      <a:r>
                        <a:rPr lang="en-US" sz="1800" baseline="-25000" dirty="0"/>
                        <a:t>Y </a:t>
                      </a:r>
                      <a:r>
                        <a:rPr lang="en-US" sz="1800" dirty="0"/>
                        <a:t>= {2,3,4,5,6}               </a:t>
                      </a:r>
                      <a:r>
                        <a:rPr lang="en-US" sz="1800" i="1" dirty="0"/>
                        <a:t>D</a:t>
                      </a:r>
                      <a:r>
                        <a:rPr lang="en-US" sz="1800" baseline="-25000" dirty="0"/>
                        <a:t>Z </a:t>
                      </a:r>
                      <a:r>
                        <a:rPr lang="en-US" sz="1800" dirty="0"/>
                        <a:t>= {1,2}</a:t>
                      </a:r>
                    </a:p>
                  </a:txBody>
                  <a:tcPr/>
                </a:tc>
                <a:tc>
                  <a:txBody>
                    <a:bodyPr/>
                    <a:lstStyle/>
                    <a:p>
                      <a:pPr marL="114300" marR="0" lvl="1" indent="-1143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Check (Z,X). </a:t>
                      </a:r>
                    </a:p>
                    <a:p>
                      <a:pPr marL="114300" marR="0" lvl="1" indent="-1143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Remove 3, 4, 5 and 6 from </a:t>
                      </a:r>
                      <a:r>
                        <a:rPr lang="en-US" sz="1800" i="1" dirty="0"/>
                        <a:t>D</a:t>
                      </a:r>
                      <a:r>
                        <a:rPr lang="en-US" sz="1800" baseline="-25000" dirty="0"/>
                        <a:t>Z</a:t>
                      </a:r>
                      <a:r>
                        <a:rPr lang="en-US" sz="1800" dirty="0"/>
                        <a:t> to make (Z,X) arc consistent. </a:t>
                      </a:r>
                    </a:p>
                    <a:p>
                      <a:pPr marL="114300" marR="0" lvl="1" indent="-1143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Since Z has only X in the neighbors list. </a:t>
                      </a:r>
                      <a:r>
                        <a:rPr lang="en-US" sz="1800" dirty="0">
                          <a:solidFill>
                            <a:srgbClr val="C00000"/>
                          </a:solidFill>
                        </a:rPr>
                        <a:t>No arc need to be re-enqueued</a:t>
                      </a:r>
                      <a:r>
                        <a:rPr lang="en-US" sz="1800" dirty="0"/>
                        <a:t>.</a:t>
                      </a:r>
                    </a:p>
                    <a:p>
                      <a:pPr marL="114300" marR="0" lvl="1" indent="-1143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Remove (Z,X) from </a:t>
                      </a:r>
                      <a:r>
                        <a:rPr lang="en-US" sz="1800" dirty="0" err="1"/>
                        <a:t>Arc_Queue</a:t>
                      </a:r>
                      <a:r>
                        <a:rPr lang="en-US" sz="1800" dirty="0"/>
                        <a:t>. </a:t>
                      </a:r>
                    </a:p>
                  </a:txBody>
                  <a:tcPr/>
                </a:tc>
                <a:extLst>
                  <a:ext uri="{0D108BD9-81ED-4DB2-BD59-A6C34878D82A}">
                    <a16:rowId xmlns:a16="http://schemas.microsoft.com/office/drawing/2014/main" val="2122691123"/>
                  </a:ext>
                </a:extLst>
              </a:tr>
            </a:tbl>
          </a:graphicData>
        </a:graphic>
      </p:graphicFrame>
    </p:spTree>
    <p:extLst>
      <p:ext uri="{BB962C8B-B14F-4D97-AF65-F5344CB8AC3E}">
        <p14:creationId xmlns:p14="http://schemas.microsoft.com/office/powerpoint/2010/main" val="27807658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A1537-3E53-4B30-BF89-1C308C151D72}"/>
              </a:ext>
            </a:extLst>
          </p:cNvPr>
          <p:cNvSpPr>
            <a:spLocks noGrp="1"/>
          </p:cNvSpPr>
          <p:nvPr>
            <p:ph type="title"/>
          </p:nvPr>
        </p:nvSpPr>
        <p:spPr/>
        <p:txBody>
          <a:bodyPr>
            <a:normAutofit fontScale="90000"/>
          </a:bodyPr>
          <a:lstStyle/>
          <a:p>
            <a:r>
              <a:rPr lang="en-US" dirty="0"/>
              <a:t>AC-3 algorithm - Implementation - Summary</a:t>
            </a:r>
          </a:p>
        </p:txBody>
      </p:sp>
      <p:sp>
        <p:nvSpPr>
          <p:cNvPr id="4" name="Date Placeholder 3">
            <a:extLst>
              <a:ext uri="{FF2B5EF4-FFF2-40B4-BE49-F238E27FC236}">
                <a16:creationId xmlns:a16="http://schemas.microsoft.com/office/drawing/2014/main" id="{DA09E4C9-145C-4305-8FCC-A51919AC1639}"/>
              </a:ext>
            </a:extLst>
          </p:cNvPr>
          <p:cNvSpPr>
            <a:spLocks noGrp="1"/>
          </p:cNvSpPr>
          <p:nvPr>
            <p:ph type="dt" sz="half" idx="10"/>
          </p:nvPr>
        </p:nvSpPr>
        <p:spPr/>
        <p:txBody>
          <a:bodyPr/>
          <a:lstStyle/>
          <a:p>
            <a:fld id="{C2EBCB3B-0D71-481E-A68B-9B57A6B53C51}" type="datetime1">
              <a:rPr lang="en-US" smtClean="0"/>
              <a:t>10/16/2022</a:t>
            </a:fld>
            <a:endParaRPr lang="en-US" dirty="0"/>
          </a:p>
        </p:txBody>
      </p:sp>
      <p:sp>
        <p:nvSpPr>
          <p:cNvPr id="5" name="Footer Placeholder 4">
            <a:extLst>
              <a:ext uri="{FF2B5EF4-FFF2-40B4-BE49-F238E27FC236}">
                <a16:creationId xmlns:a16="http://schemas.microsoft.com/office/drawing/2014/main" id="{D9CB7188-453A-42BB-87E4-4D26B0578C08}"/>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04C20597-9C79-4143-9797-0DA93C4EDD27}"/>
              </a:ext>
            </a:extLst>
          </p:cNvPr>
          <p:cNvSpPr>
            <a:spLocks noGrp="1"/>
          </p:cNvSpPr>
          <p:nvPr>
            <p:ph type="sldNum" sz="quarter" idx="12"/>
          </p:nvPr>
        </p:nvSpPr>
        <p:spPr/>
        <p:txBody>
          <a:bodyPr/>
          <a:lstStyle/>
          <a:p>
            <a:fld id="{B7884E68-CE57-44C0-BE0F-84C629DF22D5}" type="slidenum">
              <a:rPr lang="en-US" dirty="0" smtClean="0"/>
              <a:t>72</a:t>
            </a:fld>
            <a:endParaRPr lang="en-US" dirty="0"/>
          </a:p>
        </p:txBody>
      </p:sp>
      <p:graphicFrame>
        <p:nvGraphicFramePr>
          <p:cNvPr id="29" name="Table 28">
            <a:extLst>
              <a:ext uri="{FF2B5EF4-FFF2-40B4-BE49-F238E27FC236}">
                <a16:creationId xmlns:a16="http://schemas.microsoft.com/office/drawing/2014/main" id="{CE593944-0E5D-41BB-A262-9E307182642E}"/>
              </a:ext>
            </a:extLst>
          </p:cNvPr>
          <p:cNvGraphicFramePr>
            <a:graphicFrameLocks noGrp="1"/>
          </p:cNvGraphicFramePr>
          <p:nvPr>
            <p:extLst/>
          </p:nvPr>
        </p:nvGraphicFramePr>
        <p:xfrm>
          <a:off x="0" y="1321378"/>
          <a:ext cx="12192001" cy="2427463"/>
        </p:xfrm>
        <a:graphic>
          <a:graphicData uri="http://schemas.openxmlformats.org/drawingml/2006/table">
            <a:tbl>
              <a:tblPr firstRow="1" bandRow="1">
                <a:tableStyleId>{5C22544A-7EE6-4342-B048-85BDC9FD1C3A}</a:tableStyleId>
              </a:tblPr>
              <a:tblGrid>
                <a:gridCol w="395156">
                  <a:extLst>
                    <a:ext uri="{9D8B030D-6E8A-4147-A177-3AD203B41FA5}">
                      <a16:colId xmlns:a16="http://schemas.microsoft.com/office/drawing/2014/main" val="1568518671"/>
                    </a:ext>
                  </a:extLst>
                </a:gridCol>
                <a:gridCol w="2281369">
                  <a:extLst>
                    <a:ext uri="{9D8B030D-6E8A-4147-A177-3AD203B41FA5}">
                      <a16:colId xmlns:a16="http://schemas.microsoft.com/office/drawing/2014/main" val="3211472031"/>
                    </a:ext>
                  </a:extLst>
                </a:gridCol>
                <a:gridCol w="1181100">
                  <a:extLst>
                    <a:ext uri="{9D8B030D-6E8A-4147-A177-3AD203B41FA5}">
                      <a16:colId xmlns:a16="http://schemas.microsoft.com/office/drawing/2014/main" val="3948649180"/>
                    </a:ext>
                  </a:extLst>
                </a:gridCol>
                <a:gridCol w="3226264">
                  <a:extLst>
                    <a:ext uri="{9D8B030D-6E8A-4147-A177-3AD203B41FA5}">
                      <a16:colId xmlns:a16="http://schemas.microsoft.com/office/drawing/2014/main" val="2380077921"/>
                    </a:ext>
                  </a:extLst>
                </a:gridCol>
                <a:gridCol w="5108112">
                  <a:extLst>
                    <a:ext uri="{9D8B030D-6E8A-4147-A177-3AD203B41FA5}">
                      <a16:colId xmlns:a16="http://schemas.microsoft.com/office/drawing/2014/main" val="3593744951"/>
                    </a:ext>
                  </a:extLst>
                </a:gridCol>
              </a:tblGrid>
              <a:tr h="514812">
                <a:tc>
                  <a:txBody>
                    <a:bodyPr/>
                    <a:lstStyle/>
                    <a:p>
                      <a:r>
                        <a:rPr lang="en-US" sz="1800" dirty="0"/>
                        <a:t>#</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dirty="0" err="1"/>
                        <a:t>Arc_</a:t>
                      </a:r>
                      <a:r>
                        <a:rPr lang="en-US" sz="1800" b="1" dirty="0" err="1">
                          <a:solidFill>
                            <a:schemeClr val="bg1"/>
                          </a:solidFill>
                        </a:rPr>
                        <a:t>Queue</a:t>
                      </a:r>
                      <a:r>
                        <a:rPr lang="en-US" sz="1800" b="1" dirty="0">
                          <a:solidFill>
                            <a:schemeClr val="bg1"/>
                          </a:solidFill>
                        </a:rPr>
                        <a:t> </a:t>
                      </a:r>
                      <a:endParaRPr lang="en-US" sz="1800" dirty="0">
                        <a:solidFill>
                          <a:schemeClr val="bg1"/>
                        </a:solidFill>
                      </a:endParaRPr>
                    </a:p>
                  </a:txBody>
                  <a:tcPr/>
                </a:tc>
                <a:tc>
                  <a:txBody>
                    <a:bodyPr/>
                    <a:lstStyle/>
                    <a:p>
                      <a:r>
                        <a:rPr lang="en-US" sz="1800" dirty="0"/>
                        <a:t>Constraint</a:t>
                      </a:r>
                    </a:p>
                  </a:txBody>
                  <a:tcPr/>
                </a:tc>
                <a:tc>
                  <a:txBody>
                    <a:bodyPr/>
                    <a:lstStyle/>
                    <a:p>
                      <a:r>
                        <a:rPr lang="en-US" sz="1800" dirty="0"/>
                        <a:t>Updated Domains</a:t>
                      </a:r>
                    </a:p>
                  </a:txBody>
                  <a:tcPr/>
                </a:tc>
                <a:tc>
                  <a:txBody>
                    <a:bodyPr/>
                    <a:lstStyle/>
                    <a:p>
                      <a:r>
                        <a:rPr lang="en-US" sz="1800" dirty="0"/>
                        <a:t>Action</a:t>
                      </a:r>
                    </a:p>
                  </a:txBody>
                  <a:tcPr/>
                </a:tc>
                <a:extLst>
                  <a:ext uri="{0D108BD9-81ED-4DB2-BD59-A6C34878D82A}">
                    <a16:rowId xmlns:a16="http://schemas.microsoft.com/office/drawing/2014/main" val="1725275295"/>
                  </a:ext>
                </a:extLst>
              </a:tr>
              <a:tr h="507759">
                <a:tc>
                  <a:txBody>
                    <a:bodyPr/>
                    <a:lstStyle/>
                    <a:p>
                      <a:r>
                        <a:rPr lang="en-US" sz="1800" dirty="0"/>
                        <a:t>6.</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0" dirty="0"/>
                        <a:t>[(Y,X)]</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dirty="0">
                          <a:solidFill>
                            <a:schemeClr val="tx1"/>
                          </a:solidFill>
                        </a:rPr>
                        <a:t>Y &gt; X</a:t>
                      </a:r>
                    </a:p>
                  </a:txBody>
                  <a:tcPr/>
                </a:tc>
                <a:tc>
                  <a:txBody>
                    <a:bodyPr/>
                    <a:lstStyle/>
                    <a:p>
                      <a:pPr marL="0" marR="0" lvl="1" indent="0" algn="l" defTabSz="914377" rtl="0" eaLnBrk="1" fontAlgn="auto" latinLnBrk="0" hangingPunct="1">
                        <a:lnSpc>
                          <a:spcPct val="100000"/>
                        </a:lnSpc>
                        <a:spcBef>
                          <a:spcPts val="0"/>
                        </a:spcBef>
                        <a:spcAft>
                          <a:spcPts val="0"/>
                        </a:spcAft>
                        <a:buClrTx/>
                        <a:buSzTx/>
                        <a:buFontTx/>
                        <a:buNone/>
                        <a:tabLst/>
                        <a:defRPr/>
                      </a:pPr>
                      <a:r>
                        <a:rPr lang="en-US" sz="1800" i="1" dirty="0"/>
                        <a:t>D</a:t>
                      </a:r>
                      <a:r>
                        <a:rPr lang="en-US" sz="1800" baseline="-25000" dirty="0"/>
                        <a:t>X </a:t>
                      </a:r>
                      <a:r>
                        <a:rPr lang="en-US" sz="1800" dirty="0"/>
                        <a:t>= {4,5}, </a:t>
                      </a:r>
                      <a:r>
                        <a:rPr lang="en-US" sz="1800" i="1" dirty="0"/>
                        <a:t>D</a:t>
                      </a:r>
                      <a:r>
                        <a:rPr lang="en-US" sz="1800" baseline="-25000" dirty="0"/>
                        <a:t>Y </a:t>
                      </a:r>
                      <a:r>
                        <a:rPr lang="en-US" sz="1800" dirty="0"/>
                        <a:t>= {5,6} and </a:t>
                      </a:r>
                      <a:r>
                        <a:rPr lang="en-US" sz="1800" i="1" dirty="0"/>
                        <a:t>D</a:t>
                      </a:r>
                      <a:r>
                        <a:rPr lang="en-US" sz="1800" baseline="-25000" dirty="0"/>
                        <a:t>Z </a:t>
                      </a:r>
                      <a:r>
                        <a:rPr lang="en-US" sz="1800" dirty="0"/>
                        <a:t>= {1,2}</a:t>
                      </a:r>
                    </a:p>
                  </a:txBody>
                  <a:tcPr/>
                </a:tc>
                <a:tc>
                  <a:txBody>
                    <a:bodyPr/>
                    <a:lstStyle/>
                    <a:p>
                      <a:pPr marL="114300" marR="0" lvl="1" indent="-1143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Check (Y,X).</a:t>
                      </a:r>
                    </a:p>
                    <a:p>
                      <a:pPr marL="114300" marR="0" lvl="1" indent="-1143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Remove 2, 3, 4 from </a:t>
                      </a:r>
                      <a:r>
                        <a:rPr lang="en-US" sz="1800" i="1" dirty="0"/>
                        <a:t>D</a:t>
                      </a:r>
                      <a:r>
                        <a:rPr lang="en-US" sz="1800" baseline="-25000" dirty="0"/>
                        <a:t>y</a:t>
                      </a:r>
                      <a:r>
                        <a:rPr lang="en-US" sz="1800" dirty="0"/>
                        <a:t> to make (Y,X) arc consistent.</a:t>
                      </a:r>
                    </a:p>
                    <a:p>
                      <a:pPr marL="114300" lvl="1" indent="-114300">
                        <a:buFont typeface="Arial" panose="020B0604020202020204" pitchFamily="34" charset="0"/>
                        <a:buChar char="•"/>
                      </a:pPr>
                      <a:r>
                        <a:rPr lang="en-US" sz="1800" dirty="0"/>
                        <a:t>Since Y has only X in the neighbors list. </a:t>
                      </a:r>
                      <a:r>
                        <a:rPr lang="en-US" sz="1800" dirty="0">
                          <a:solidFill>
                            <a:srgbClr val="C00000"/>
                          </a:solidFill>
                        </a:rPr>
                        <a:t>No arc need to be re-enqueued</a:t>
                      </a:r>
                      <a:r>
                        <a:rPr lang="en-US" sz="1800" dirty="0"/>
                        <a:t>.</a:t>
                      </a:r>
                    </a:p>
                    <a:p>
                      <a:pPr marL="114300" marR="0" lvl="1" indent="-1143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Remove (Y,X) from </a:t>
                      </a:r>
                      <a:r>
                        <a:rPr lang="en-US" sz="1800" dirty="0" err="1"/>
                        <a:t>Arc_Queue</a:t>
                      </a:r>
                      <a:r>
                        <a:rPr lang="en-US" sz="1800" dirty="0"/>
                        <a:t>. </a:t>
                      </a:r>
                    </a:p>
                  </a:txBody>
                  <a:tcPr/>
                </a:tc>
                <a:extLst>
                  <a:ext uri="{0D108BD9-81ED-4DB2-BD59-A6C34878D82A}">
                    <a16:rowId xmlns:a16="http://schemas.microsoft.com/office/drawing/2014/main" val="2555896998"/>
                  </a:ext>
                </a:extLst>
              </a:tr>
              <a:tr h="449611">
                <a:tc>
                  <a:txBody>
                    <a:bodyPr/>
                    <a:lstStyle/>
                    <a:p>
                      <a:r>
                        <a:rPr lang="en-US" sz="1800" dirty="0"/>
                        <a:t>7.</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0" dirty="0"/>
                        <a:t>[]</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tc>
                <a:tc>
                  <a:txBody>
                    <a:bodyPr/>
                    <a:lstStyle/>
                    <a:p>
                      <a:pPr marL="0" marR="0" lvl="1" indent="0" algn="l" defTabSz="914377" rtl="0" eaLnBrk="1" fontAlgn="auto" latinLnBrk="0" hangingPunct="1">
                        <a:lnSpc>
                          <a:spcPct val="100000"/>
                        </a:lnSpc>
                        <a:spcBef>
                          <a:spcPts val="0"/>
                        </a:spcBef>
                        <a:spcAft>
                          <a:spcPts val="0"/>
                        </a:spcAft>
                        <a:buClrTx/>
                        <a:buSzTx/>
                        <a:buFontTx/>
                        <a:buNone/>
                        <a:tabLst/>
                        <a:defRPr/>
                      </a:pPr>
                      <a:endParaRPr lang="en-US" sz="1800" dirty="0"/>
                    </a:p>
                  </a:txBody>
                  <a:tcPr/>
                </a:tc>
                <a:tc>
                  <a:txBody>
                    <a:bodyPr/>
                    <a:lstStyle/>
                    <a:p>
                      <a:pPr marL="0" marR="0" lvl="1" indent="0" algn="l" defTabSz="914377" rtl="0" eaLnBrk="1" fontAlgn="auto" latinLnBrk="0" hangingPunct="1">
                        <a:lnSpc>
                          <a:spcPct val="100000"/>
                        </a:lnSpc>
                        <a:spcBef>
                          <a:spcPts val="0"/>
                        </a:spcBef>
                        <a:spcAft>
                          <a:spcPts val="0"/>
                        </a:spcAft>
                        <a:buClrTx/>
                        <a:buSzTx/>
                        <a:buFontTx/>
                        <a:buNone/>
                        <a:tabLst/>
                        <a:defRPr/>
                      </a:pPr>
                      <a:r>
                        <a:rPr lang="en-US" sz="1800" dirty="0"/>
                        <a:t>Arc_</a:t>
                      </a:r>
                      <a:r>
                        <a:rPr lang="en-US" sz="1800" b="1" dirty="0"/>
                        <a:t>Queue</a:t>
                      </a:r>
                      <a:r>
                        <a:rPr lang="en-US" sz="1800" dirty="0"/>
                        <a:t> is empty.</a:t>
                      </a:r>
                      <a:r>
                        <a:rPr lang="en-US" sz="1800" baseline="0" dirty="0"/>
                        <a:t> The CSP is now arc consistent</a:t>
                      </a:r>
                      <a:endParaRPr lang="en-US" sz="1800" dirty="0"/>
                    </a:p>
                  </a:txBody>
                  <a:tcPr/>
                </a:tc>
                <a:extLst>
                  <a:ext uri="{0D108BD9-81ED-4DB2-BD59-A6C34878D82A}">
                    <a16:rowId xmlns:a16="http://schemas.microsoft.com/office/drawing/2014/main" val="2122691123"/>
                  </a:ext>
                </a:extLst>
              </a:tr>
            </a:tbl>
          </a:graphicData>
        </a:graphic>
      </p:graphicFrame>
    </p:spTree>
    <p:extLst>
      <p:ext uri="{BB962C8B-B14F-4D97-AF65-F5344CB8AC3E}">
        <p14:creationId xmlns:p14="http://schemas.microsoft.com/office/powerpoint/2010/main" val="27519546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3: Scheduling </a:t>
            </a:r>
          </a:p>
        </p:txBody>
      </p:sp>
      <p:sp>
        <p:nvSpPr>
          <p:cNvPr id="3" name="Content Placeholder 2"/>
          <p:cNvSpPr>
            <a:spLocks noGrp="1"/>
          </p:cNvSpPr>
          <p:nvPr>
            <p:ph idx="1"/>
          </p:nvPr>
        </p:nvSpPr>
        <p:spPr>
          <a:xfrm>
            <a:off x="304800" y="1228153"/>
            <a:ext cx="5864180" cy="5021979"/>
          </a:xfrm>
        </p:spPr>
        <p:txBody>
          <a:bodyPr>
            <a:normAutofit fontScale="92500"/>
          </a:bodyPr>
          <a:lstStyle/>
          <a:p>
            <a:r>
              <a:rPr lang="en-US" dirty="0"/>
              <a:t>KFUPM decides to open a company called Fly-KFUPM. A study concluded that Fly-KFUPM must have the shown flights per day</a:t>
            </a:r>
          </a:p>
          <a:p>
            <a:r>
              <a:rPr lang="en-US" dirty="0"/>
              <a:t>There is about 30 min cleaning time and boarding time for each flight</a:t>
            </a:r>
          </a:p>
          <a:p>
            <a:r>
              <a:rPr lang="en-US" dirty="0"/>
              <a:t>Fly-KFUPM has its base in Dammam and Riyadh (Airplane can be parked and stay overnight in a base only).</a:t>
            </a:r>
          </a:p>
          <a:p>
            <a:endParaRPr lang="en-US" dirty="0"/>
          </a:p>
        </p:txBody>
      </p:sp>
      <p:sp>
        <p:nvSpPr>
          <p:cNvPr id="4" name="Date Placeholder 3"/>
          <p:cNvSpPr>
            <a:spLocks noGrp="1"/>
          </p:cNvSpPr>
          <p:nvPr>
            <p:ph type="dt" sz="half" idx="10"/>
          </p:nvPr>
        </p:nvSpPr>
        <p:spPr/>
        <p:txBody>
          <a:bodyPr/>
          <a:lstStyle/>
          <a:p>
            <a:fld id="{B174F28E-A68D-4A58-A41F-6572FD7C4E67}"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73</a:t>
            </a:fld>
            <a:endParaRPr lang="en-US" dirty="0"/>
          </a:p>
        </p:txBody>
      </p:sp>
      <p:graphicFrame>
        <p:nvGraphicFramePr>
          <p:cNvPr id="7" name="Table 9">
            <a:extLst>
              <a:ext uri="{FF2B5EF4-FFF2-40B4-BE49-F238E27FC236}">
                <a16:creationId xmlns:a16="http://schemas.microsoft.com/office/drawing/2014/main" id="{9B7A187E-A294-48A5-94B2-638C8A3E5775}"/>
              </a:ext>
            </a:extLst>
          </p:cNvPr>
          <p:cNvGraphicFramePr>
            <a:graphicFrameLocks noGrp="1"/>
          </p:cNvGraphicFramePr>
          <p:nvPr>
            <p:extLst>
              <p:ext uri="{D42A27DB-BD31-4B8C-83A1-F6EECF244321}">
                <p14:modId xmlns:p14="http://schemas.microsoft.com/office/powerpoint/2010/main" val="198734783"/>
              </p:ext>
            </p:extLst>
          </p:nvPr>
        </p:nvGraphicFramePr>
        <p:xfrm>
          <a:off x="6369978" y="1405300"/>
          <a:ext cx="5705758" cy="2682240"/>
        </p:xfrm>
        <a:graphic>
          <a:graphicData uri="http://schemas.openxmlformats.org/drawingml/2006/table">
            <a:tbl>
              <a:tblPr firstRow="1" bandRow="1">
                <a:tableStyleId>{5C22544A-7EE6-4342-B048-85BDC9FD1C3A}</a:tableStyleId>
              </a:tblPr>
              <a:tblGrid>
                <a:gridCol w="572788">
                  <a:extLst>
                    <a:ext uri="{9D8B030D-6E8A-4147-A177-3AD203B41FA5}">
                      <a16:colId xmlns:a16="http://schemas.microsoft.com/office/drawing/2014/main" val="4161425503"/>
                    </a:ext>
                  </a:extLst>
                </a:gridCol>
                <a:gridCol w="1243543">
                  <a:extLst>
                    <a:ext uri="{9D8B030D-6E8A-4147-A177-3AD203B41FA5}">
                      <a16:colId xmlns:a16="http://schemas.microsoft.com/office/drawing/2014/main" val="304325828"/>
                    </a:ext>
                  </a:extLst>
                </a:gridCol>
                <a:gridCol w="1206740">
                  <a:extLst>
                    <a:ext uri="{9D8B030D-6E8A-4147-A177-3AD203B41FA5}">
                      <a16:colId xmlns:a16="http://schemas.microsoft.com/office/drawing/2014/main" val="3701107687"/>
                    </a:ext>
                  </a:extLst>
                </a:gridCol>
                <a:gridCol w="1528380">
                  <a:extLst>
                    <a:ext uri="{9D8B030D-6E8A-4147-A177-3AD203B41FA5}">
                      <a16:colId xmlns:a16="http://schemas.microsoft.com/office/drawing/2014/main" val="1140308350"/>
                    </a:ext>
                  </a:extLst>
                </a:gridCol>
                <a:gridCol w="1154307">
                  <a:extLst>
                    <a:ext uri="{9D8B030D-6E8A-4147-A177-3AD203B41FA5}">
                      <a16:colId xmlns:a16="http://schemas.microsoft.com/office/drawing/2014/main" val="1374809637"/>
                    </a:ext>
                  </a:extLst>
                </a:gridCol>
              </a:tblGrid>
              <a:tr h="37084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000" dirty="0"/>
                        <a:t>No.</a:t>
                      </a:r>
                    </a:p>
                    <a:p>
                      <a:pPr algn="ctr"/>
                      <a:endParaRPr lang="en-US" sz="2000" dirty="0"/>
                    </a:p>
                  </a:txBody>
                  <a:tcPr/>
                </a:tc>
                <a:tc>
                  <a:txBody>
                    <a:bodyPr/>
                    <a:lstStyle/>
                    <a:p>
                      <a:pPr algn="ctr"/>
                      <a:r>
                        <a:rPr lang="en-US" sz="2000" dirty="0"/>
                        <a:t>From</a:t>
                      </a:r>
                    </a:p>
                  </a:txBody>
                  <a:tcPr/>
                </a:tc>
                <a:tc>
                  <a:txBody>
                    <a:bodyPr/>
                    <a:lstStyle/>
                    <a:p>
                      <a:pPr algn="ctr"/>
                      <a:r>
                        <a:rPr lang="en-US" sz="2000" dirty="0"/>
                        <a:t>To</a:t>
                      </a:r>
                    </a:p>
                  </a:txBody>
                  <a:tcPr/>
                </a:tc>
                <a:tc>
                  <a:txBody>
                    <a:bodyPr/>
                    <a:lstStyle/>
                    <a:p>
                      <a:pPr algn="ctr"/>
                      <a:r>
                        <a:rPr lang="en-US" sz="2000" dirty="0"/>
                        <a:t>Time of Departure</a:t>
                      </a:r>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000" dirty="0"/>
                        <a:t>Duration in hours</a:t>
                      </a:r>
                    </a:p>
                  </a:txBody>
                  <a:tcPr/>
                </a:tc>
                <a:extLst>
                  <a:ext uri="{0D108BD9-81ED-4DB2-BD59-A6C34878D82A}">
                    <a16:rowId xmlns:a16="http://schemas.microsoft.com/office/drawing/2014/main" val="3601072076"/>
                  </a:ext>
                </a:extLst>
              </a:tr>
              <a:tr h="370840">
                <a:tc>
                  <a:txBody>
                    <a:bodyPr/>
                    <a:lstStyle/>
                    <a:p>
                      <a:pPr algn="ctr"/>
                      <a:r>
                        <a:rPr lang="en-US" sz="2000" dirty="0"/>
                        <a:t>F1</a:t>
                      </a:r>
                    </a:p>
                  </a:txBody>
                  <a:tcPr/>
                </a:tc>
                <a:tc>
                  <a:txBody>
                    <a:bodyPr/>
                    <a:lstStyle/>
                    <a:p>
                      <a:pPr algn="ctr"/>
                      <a:r>
                        <a:rPr lang="en-US" sz="2000" dirty="0"/>
                        <a:t>Dammam</a:t>
                      </a:r>
                    </a:p>
                  </a:txBody>
                  <a:tcPr/>
                </a:tc>
                <a:tc>
                  <a:txBody>
                    <a:bodyPr/>
                    <a:lstStyle/>
                    <a:p>
                      <a:pPr algn="ctr"/>
                      <a:r>
                        <a:rPr lang="en-US" sz="2000" dirty="0"/>
                        <a:t>Riyadh</a:t>
                      </a:r>
                    </a:p>
                  </a:txBody>
                  <a:tcPr/>
                </a:tc>
                <a:tc>
                  <a:txBody>
                    <a:bodyPr/>
                    <a:lstStyle/>
                    <a:p>
                      <a:pPr algn="ctr"/>
                      <a:r>
                        <a:rPr lang="en-US" sz="2000" dirty="0"/>
                        <a:t>08:00</a:t>
                      </a:r>
                    </a:p>
                  </a:txBody>
                  <a:tcPr/>
                </a:tc>
                <a:tc>
                  <a:txBody>
                    <a:bodyPr/>
                    <a:lstStyle/>
                    <a:p>
                      <a:pPr algn="ctr"/>
                      <a:r>
                        <a:rPr lang="en-US" sz="2000" dirty="0"/>
                        <a:t>1</a:t>
                      </a:r>
                    </a:p>
                  </a:txBody>
                  <a:tcPr/>
                </a:tc>
                <a:extLst>
                  <a:ext uri="{0D108BD9-81ED-4DB2-BD59-A6C34878D82A}">
                    <a16:rowId xmlns:a16="http://schemas.microsoft.com/office/drawing/2014/main" val="841883632"/>
                  </a:ext>
                </a:extLst>
              </a:tr>
              <a:tr h="370840">
                <a:tc>
                  <a:txBody>
                    <a:bodyPr/>
                    <a:lstStyle/>
                    <a:p>
                      <a:pPr algn="ctr"/>
                      <a:r>
                        <a:rPr lang="en-US" sz="2000" dirty="0"/>
                        <a:t>F2</a:t>
                      </a:r>
                    </a:p>
                  </a:txBody>
                  <a:tcPr/>
                </a:tc>
                <a:tc>
                  <a:txBody>
                    <a:bodyPr/>
                    <a:lstStyle/>
                    <a:p>
                      <a:pPr algn="ctr"/>
                      <a:r>
                        <a:rPr lang="en-US" sz="2000" dirty="0"/>
                        <a:t>Riyadh</a:t>
                      </a:r>
                    </a:p>
                  </a:txBody>
                  <a:tcPr/>
                </a:tc>
                <a:tc>
                  <a:txBody>
                    <a:bodyPr/>
                    <a:lstStyle/>
                    <a:p>
                      <a:pPr algn="ctr"/>
                      <a:r>
                        <a:rPr lang="en-US" sz="2000" dirty="0"/>
                        <a:t>Dammam</a:t>
                      </a:r>
                    </a:p>
                  </a:txBody>
                  <a:tcPr/>
                </a:tc>
                <a:tc>
                  <a:txBody>
                    <a:bodyPr/>
                    <a:lstStyle/>
                    <a:p>
                      <a:pPr algn="ctr"/>
                      <a:r>
                        <a:rPr lang="en-US" sz="2000" dirty="0"/>
                        <a:t>09:30</a:t>
                      </a:r>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000" dirty="0"/>
                        <a:t>1</a:t>
                      </a:r>
                    </a:p>
                  </a:txBody>
                  <a:tcPr/>
                </a:tc>
                <a:extLst>
                  <a:ext uri="{0D108BD9-81ED-4DB2-BD59-A6C34878D82A}">
                    <a16:rowId xmlns:a16="http://schemas.microsoft.com/office/drawing/2014/main" val="899206861"/>
                  </a:ext>
                </a:extLst>
              </a:tr>
              <a:tr h="370840">
                <a:tc>
                  <a:txBody>
                    <a:bodyPr/>
                    <a:lstStyle/>
                    <a:p>
                      <a:pPr algn="ctr"/>
                      <a:r>
                        <a:rPr lang="en-US" sz="2000" dirty="0"/>
                        <a:t>F3</a:t>
                      </a:r>
                    </a:p>
                  </a:txBody>
                  <a:tcPr/>
                </a:tc>
                <a:tc>
                  <a:txBody>
                    <a:bodyPr/>
                    <a:lstStyle/>
                    <a:p>
                      <a:pPr algn="ctr"/>
                      <a:r>
                        <a:rPr lang="en-US" sz="2000" dirty="0"/>
                        <a:t>Dammam</a:t>
                      </a:r>
                    </a:p>
                  </a:txBody>
                  <a:tcPr/>
                </a:tc>
                <a:tc>
                  <a:txBody>
                    <a:bodyPr/>
                    <a:lstStyle/>
                    <a:p>
                      <a:pPr algn="ctr"/>
                      <a:r>
                        <a:rPr lang="en-US" sz="2000" dirty="0"/>
                        <a:t>Riyadh</a:t>
                      </a:r>
                    </a:p>
                  </a:txBody>
                  <a:tcPr/>
                </a:tc>
                <a:tc>
                  <a:txBody>
                    <a:bodyPr/>
                    <a:lstStyle/>
                    <a:p>
                      <a:pPr algn="ctr"/>
                      <a:r>
                        <a:rPr lang="en-US" sz="2000" dirty="0"/>
                        <a:t>11:00</a:t>
                      </a:r>
                    </a:p>
                  </a:txBody>
                  <a:tcPr/>
                </a:tc>
                <a:tc>
                  <a:txBody>
                    <a:bodyPr/>
                    <a:lstStyle/>
                    <a:p>
                      <a:pPr algn="ctr"/>
                      <a:r>
                        <a:rPr lang="en-US" sz="2000" dirty="0"/>
                        <a:t>1</a:t>
                      </a:r>
                    </a:p>
                  </a:txBody>
                  <a:tcPr/>
                </a:tc>
                <a:extLst>
                  <a:ext uri="{0D108BD9-81ED-4DB2-BD59-A6C34878D82A}">
                    <a16:rowId xmlns:a16="http://schemas.microsoft.com/office/drawing/2014/main" val="2172283955"/>
                  </a:ext>
                </a:extLst>
              </a:tr>
              <a:tr h="370840">
                <a:tc>
                  <a:txBody>
                    <a:bodyPr/>
                    <a:lstStyle/>
                    <a:p>
                      <a:pPr algn="ctr"/>
                      <a:r>
                        <a:rPr lang="en-US" sz="2000" dirty="0"/>
                        <a:t>F4</a:t>
                      </a:r>
                    </a:p>
                  </a:txBody>
                  <a:tcPr/>
                </a:tc>
                <a:tc>
                  <a:txBody>
                    <a:bodyPr/>
                    <a:lstStyle/>
                    <a:p>
                      <a:pPr algn="ctr"/>
                      <a:r>
                        <a:rPr lang="en-US" sz="2000" dirty="0"/>
                        <a:t>Riyadh</a:t>
                      </a:r>
                    </a:p>
                  </a:txBody>
                  <a:tcPr/>
                </a:tc>
                <a:tc>
                  <a:txBody>
                    <a:bodyPr/>
                    <a:lstStyle/>
                    <a:p>
                      <a:pPr algn="ctr"/>
                      <a:r>
                        <a:rPr lang="en-US" sz="2000" dirty="0"/>
                        <a:t>Dammam</a:t>
                      </a:r>
                    </a:p>
                  </a:txBody>
                  <a:tcPr/>
                </a:tc>
                <a:tc>
                  <a:txBody>
                    <a:bodyPr/>
                    <a:lstStyle/>
                    <a:p>
                      <a:pPr algn="ctr"/>
                      <a:r>
                        <a:rPr lang="en-US" sz="2000" dirty="0"/>
                        <a:t>12:00</a:t>
                      </a:r>
                    </a:p>
                  </a:txBody>
                  <a:tcPr/>
                </a:tc>
                <a:tc>
                  <a:txBody>
                    <a:bodyPr/>
                    <a:lstStyle/>
                    <a:p>
                      <a:pPr algn="ctr"/>
                      <a:r>
                        <a:rPr lang="en-US" sz="2000" dirty="0"/>
                        <a:t>1</a:t>
                      </a:r>
                    </a:p>
                  </a:txBody>
                  <a:tcPr/>
                </a:tc>
                <a:extLst>
                  <a:ext uri="{0D108BD9-81ED-4DB2-BD59-A6C34878D82A}">
                    <a16:rowId xmlns:a16="http://schemas.microsoft.com/office/drawing/2014/main" val="2596412491"/>
                  </a:ext>
                </a:extLst>
              </a:tr>
              <a:tr h="370840">
                <a:tc>
                  <a:txBody>
                    <a:bodyPr/>
                    <a:lstStyle/>
                    <a:p>
                      <a:pPr algn="ctr"/>
                      <a:r>
                        <a:rPr lang="en-US" sz="2000" dirty="0"/>
                        <a:t>F5</a:t>
                      </a:r>
                    </a:p>
                  </a:txBody>
                  <a:tcPr/>
                </a:tc>
                <a:tc>
                  <a:txBody>
                    <a:bodyPr/>
                    <a:lstStyle/>
                    <a:p>
                      <a:pPr algn="ctr"/>
                      <a:r>
                        <a:rPr lang="en-US" sz="2000" dirty="0"/>
                        <a:t>Dammam</a:t>
                      </a:r>
                    </a:p>
                  </a:txBody>
                  <a:tcPr/>
                </a:tc>
                <a:tc>
                  <a:txBody>
                    <a:bodyPr/>
                    <a:lstStyle/>
                    <a:p>
                      <a:pPr algn="ctr"/>
                      <a:r>
                        <a:rPr lang="en-US" sz="2000" dirty="0"/>
                        <a:t>Rome</a:t>
                      </a:r>
                    </a:p>
                  </a:txBody>
                  <a:tcPr/>
                </a:tc>
                <a:tc>
                  <a:txBody>
                    <a:bodyPr/>
                    <a:lstStyle/>
                    <a:p>
                      <a:pPr algn="ctr"/>
                      <a:r>
                        <a:rPr lang="en-US" sz="2000" dirty="0"/>
                        <a:t>8:00</a:t>
                      </a:r>
                    </a:p>
                  </a:txBody>
                  <a:tcPr/>
                </a:tc>
                <a:tc>
                  <a:txBody>
                    <a:bodyPr/>
                    <a:lstStyle/>
                    <a:p>
                      <a:pPr algn="ctr"/>
                      <a:r>
                        <a:rPr lang="en-US" sz="2000" dirty="0"/>
                        <a:t>6</a:t>
                      </a:r>
                    </a:p>
                  </a:txBody>
                  <a:tcPr/>
                </a:tc>
                <a:extLst>
                  <a:ext uri="{0D108BD9-81ED-4DB2-BD59-A6C34878D82A}">
                    <a16:rowId xmlns:a16="http://schemas.microsoft.com/office/drawing/2014/main" val="4159564216"/>
                  </a:ext>
                </a:extLst>
              </a:tr>
            </a:tbl>
          </a:graphicData>
        </a:graphic>
      </p:graphicFrame>
    </p:spTree>
    <p:extLst>
      <p:ext uri="{BB962C8B-B14F-4D97-AF65-F5344CB8AC3E}">
        <p14:creationId xmlns:p14="http://schemas.microsoft.com/office/powerpoint/2010/main" val="29931651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3: Scheduling </a:t>
            </a:r>
          </a:p>
        </p:txBody>
      </p:sp>
      <p:sp>
        <p:nvSpPr>
          <p:cNvPr id="3" name="Content Placeholder 2"/>
          <p:cNvSpPr>
            <a:spLocks noGrp="1"/>
          </p:cNvSpPr>
          <p:nvPr>
            <p:ph idx="1"/>
          </p:nvPr>
        </p:nvSpPr>
        <p:spPr/>
        <p:txBody>
          <a:bodyPr/>
          <a:lstStyle/>
          <a:p>
            <a:r>
              <a:rPr lang="en-US" dirty="0"/>
              <a:t>The business school is preparing a feasibility study but needs to know how many planes will be required to conduct all flights mentioned above.</a:t>
            </a:r>
          </a:p>
          <a:p>
            <a:r>
              <a:rPr lang="en-US" dirty="0"/>
              <a:t>You are working over the summer for KFUPM, and you are given the task to determine the minimum number of planes required so that the schedule is met.</a:t>
            </a:r>
          </a:p>
          <a:p>
            <a:r>
              <a:rPr lang="en-US" b="1" dirty="0">
                <a:solidFill>
                  <a:srgbClr val="0070C0"/>
                </a:solidFill>
              </a:rPr>
              <a:t>How many planes will you recommend?</a:t>
            </a:r>
          </a:p>
          <a:p>
            <a:endParaRPr lang="en-US" dirty="0"/>
          </a:p>
        </p:txBody>
      </p:sp>
      <p:sp>
        <p:nvSpPr>
          <p:cNvPr id="4" name="Date Placeholder 3"/>
          <p:cNvSpPr>
            <a:spLocks noGrp="1"/>
          </p:cNvSpPr>
          <p:nvPr>
            <p:ph type="dt" sz="half" idx="10"/>
          </p:nvPr>
        </p:nvSpPr>
        <p:spPr/>
        <p:txBody>
          <a:bodyPr/>
          <a:lstStyle/>
          <a:p>
            <a:fld id="{D1C57537-3626-472E-8BAE-E49EA07A3EB5}"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74</a:t>
            </a:fld>
            <a:endParaRPr lang="en-US" dirty="0"/>
          </a:p>
        </p:txBody>
      </p:sp>
    </p:spTree>
    <p:extLst>
      <p:ext uri="{BB962C8B-B14F-4D97-AF65-F5344CB8AC3E}">
        <p14:creationId xmlns:p14="http://schemas.microsoft.com/office/powerpoint/2010/main" val="11465638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3: Scheduling </a:t>
            </a:r>
          </a:p>
        </p:txBody>
      </p:sp>
      <p:sp>
        <p:nvSpPr>
          <p:cNvPr id="3" name="Content Placeholder 2"/>
          <p:cNvSpPr>
            <a:spLocks noGrp="1"/>
          </p:cNvSpPr>
          <p:nvPr>
            <p:ph idx="1"/>
          </p:nvPr>
        </p:nvSpPr>
        <p:spPr>
          <a:xfrm>
            <a:off x="304800" y="1228153"/>
            <a:ext cx="6281022" cy="5021979"/>
          </a:xfrm>
        </p:spPr>
        <p:txBody>
          <a:bodyPr/>
          <a:lstStyle/>
          <a:p>
            <a:r>
              <a:rPr lang="en-US" dirty="0"/>
              <a:t>The key to solving this problem is:</a:t>
            </a:r>
          </a:p>
          <a:p>
            <a:pPr marL="819143" lvl="1" indent="-514350">
              <a:buFont typeface="+mj-lt"/>
              <a:buAutoNum type="arabicPeriod"/>
            </a:pPr>
            <a:r>
              <a:rPr lang="en-US" dirty="0"/>
              <a:t>Get the right representation</a:t>
            </a:r>
          </a:p>
          <a:p>
            <a:pPr marL="819143" lvl="1" indent="-514350">
              <a:buFont typeface="+mj-lt"/>
              <a:buAutoNum type="arabicPeriod"/>
            </a:pPr>
            <a:r>
              <a:rPr lang="en-US" dirty="0"/>
              <a:t>Select an appropriate model to solve the problem</a:t>
            </a:r>
          </a:p>
          <a:p>
            <a:pPr marL="819143" lvl="1" indent="-514350">
              <a:buFont typeface="+mj-lt"/>
              <a:buAutoNum type="arabicPeriod"/>
            </a:pPr>
            <a:r>
              <a:rPr lang="en-US" dirty="0"/>
              <a:t>Implement the model</a:t>
            </a:r>
          </a:p>
          <a:p>
            <a:r>
              <a:rPr lang="en-US" dirty="0"/>
              <a:t>What is the best representation?</a:t>
            </a:r>
          </a:p>
          <a:p>
            <a:pPr lvl="1"/>
            <a:r>
              <a:rPr lang="en-US" dirty="0"/>
              <a:t>The best representation is one that captures all the data in the question and presents it in a way that is easy to perceive.</a:t>
            </a:r>
          </a:p>
          <a:p>
            <a:endParaRPr lang="en-US" dirty="0"/>
          </a:p>
        </p:txBody>
      </p:sp>
      <p:sp>
        <p:nvSpPr>
          <p:cNvPr id="4" name="Date Placeholder 3"/>
          <p:cNvSpPr>
            <a:spLocks noGrp="1"/>
          </p:cNvSpPr>
          <p:nvPr>
            <p:ph type="dt" sz="half" idx="10"/>
          </p:nvPr>
        </p:nvSpPr>
        <p:spPr/>
        <p:txBody>
          <a:bodyPr/>
          <a:lstStyle/>
          <a:p>
            <a:fld id="{65E0F505-48B4-4C78-89DC-46E1BC6281F1}"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75</a:t>
            </a:fld>
            <a:endParaRPr lang="en-US" dirty="0"/>
          </a:p>
        </p:txBody>
      </p:sp>
      <p:pic>
        <p:nvPicPr>
          <p:cNvPr id="7" name="Picture 6" descr="Table&#10;&#10;Description automatically generated with low confidence">
            <a:extLst>
              <a:ext uri="{FF2B5EF4-FFF2-40B4-BE49-F238E27FC236}">
                <a16:creationId xmlns:a16="http://schemas.microsoft.com/office/drawing/2014/main" id="{81F3BB24-FE57-46EB-B900-C0E9F18475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5822" y="1402968"/>
            <a:ext cx="5301378" cy="2881752"/>
          </a:xfrm>
          <a:prstGeom prst="rect">
            <a:avLst/>
          </a:prstGeom>
        </p:spPr>
      </p:pic>
    </p:spTree>
    <p:extLst>
      <p:ext uri="{BB962C8B-B14F-4D97-AF65-F5344CB8AC3E}">
        <p14:creationId xmlns:p14="http://schemas.microsoft.com/office/powerpoint/2010/main" val="3233736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3: Scheduling – Representation </a:t>
            </a:r>
          </a:p>
        </p:txBody>
      </p:sp>
      <p:sp>
        <p:nvSpPr>
          <p:cNvPr id="3" name="Content Placeholder 2"/>
          <p:cNvSpPr>
            <a:spLocks noGrp="1"/>
          </p:cNvSpPr>
          <p:nvPr>
            <p:ph idx="1"/>
          </p:nvPr>
        </p:nvSpPr>
        <p:spPr>
          <a:xfrm>
            <a:off x="304800" y="1228153"/>
            <a:ext cx="6011159" cy="5021979"/>
          </a:xfrm>
        </p:spPr>
        <p:txBody>
          <a:bodyPr>
            <a:normAutofit fontScale="92500" lnSpcReduction="10000"/>
          </a:bodyPr>
          <a:lstStyle/>
          <a:p>
            <a:r>
              <a:rPr lang="en-US" dirty="0"/>
              <a:t>Add the </a:t>
            </a:r>
            <a:r>
              <a:rPr lang="en-US" dirty="0">
                <a:solidFill>
                  <a:srgbClr val="C00000"/>
                </a:solidFill>
              </a:rPr>
              <a:t>constraints</a:t>
            </a:r>
            <a:r>
              <a:rPr lang="en-US" dirty="0"/>
              <a:t>:</a:t>
            </a:r>
          </a:p>
          <a:p>
            <a:pPr lvl="1"/>
            <a:r>
              <a:rPr lang="en-US" dirty="0"/>
              <a:t>Minimum of 30 min Ground Time after flight</a:t>
            </a:r>
          </a:p>
          <a:p>
            <a:pPr lvl="1"/>
            <a:r>
              <a:rPr lang="en-US" dirty="0"/>
              <a:t>A plane cannot fly two different paths at the same time</a:t>
            </a:r>
          </a:p>
          <a:p>
            <a:pPr lvl="1"/>
            <a:r>
              <a:rPr lang="en-US" dirty="0"/>
              <a:t>A plane can start from either Dammam or Riyadh since Fly-KFUPM has a base there</a:t>
            </a:r>
          </a:p>
          <a:p>
            <a:r>
              <a:rPr lang="en-US" dirty="0"/>
              <a:t>Implementation constraint</a:t>
            </a:r>
          </a:p>
          <a:p>
            <a:pPr lvl="1"/>
            <a:r>
              <a:rPr lang="en-US" dirty="0"/>
              <a:t>A plane that lands in a city cannot take off from another city unless it flies to that city</a:t>
            </a:r>
          </a:p>
          <a:p>
            <a:endParaRPr lang="en-US" dirty="0"/>
          </a:p>
        </p:txBody>
      </p:sp>
      <p:sp>
        <p:nvSpPr>
          <p:cNvPr id="4" name="Date Placeholder 3"/>
          <p:cNvSpPr>
            <a:spLocks noGrp="1"/>
          </p:cNvSpPr>
          <p:nvPr>
            <p:ph type="dt" sz="half" idx="10"/>
          </p:nvPr>
        </p:nvSpPr>
        <p:spPr/>
        <p:txBody>
          <a:bodyPr/>
          <a:lstStyle/>
          <a:p>
            <a:fld id="{3A67D887-DE12-4D9D-82BE-51900DC808D3}"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76</a:t>
            </a:fld>
            <a:endParaRPr lang="en-US" dirty="0"/>
          </a:p>
        </p:txBody>
      </p:sp>
      <p:pic>
        <p:nvPicPr>
          <p:cNvPr id="7" name="Picture 6" descr="Diagram&#10;&#10;Description automatically generated">
            <a:extLst>
              <a:ext uri="{FF2B5EF4-FFF2-40B4-BE49-F238E27FC236}">
                <a16:creationId xmlns:a16="http://schemas.microsoft.com/office/drawing/2014/main" id="{EBB19994-2CE1-4195-87DF-81A9FD79BA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5959" y="1491448"/>
            <a:ext cx="5876041" cy="3836737"/>
          </a:xfrm>
          <a:prstGeom prst="rect">
            <a:avLst/>
          </a:prstGeom>
        </p:spPr>
      </p:pic>
    </p:spTree>
    <p:extLst>
      <p:ext uri="{BB962C8B-B14F-4D97-AF65-F5344CB8AC3E}">
        <p14:creationId xmlns:p14="http://schemas.microsoft.com/office/powerpoint/2010/main" val="7132203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EF82D-BE82-4EE3-A725-8BFC11B925D2}"/>
              </a:ext>
            </a:extLst>
          </p:cNvPr>
          <p:cNvSpPr>
            <a:spLocks noGrp="1"/>
          </p:cNvSpPr>
          <p:nvPr>
            <p:ph type="title"/>
          </p:nvPr>
        </p:nvSpPr>
        <p:spPr/>
        <p:txBody>
          <a:bodyPr>
            <a:normAutofit/>
          </a:bodyPr>
          <a:lstStyle/>
          <a:p>
            <a:r>
              <a:rPr lang="en-US" sz="4300" dirty="0">
                <a:latin typeface="Corbel" panose="020B0503020204020204" pitchFamily="34" charset="0"/>
              </a:rPr>
              <a:t>CSP Examples 3: Scheduling – Select a Model  </a:t>
            </a:r>
          </a:p>
        </p:txBody>
      </p:sp>
      <p:sp>
        <p:nvSpPr>
          <p:cNvPr id="8" name="Text Placeholder 7">
            <a:extLst>
              <a:ext uri="{FF2B5EF4-FFF2-40B4-BE49-F238E27FC236}">
                <a16:creationId xmlns:a16="http://schemas.microsoft.com/office/drawing/2014/main" id="{FF2687EB-1162-461B-A794-2B279288A2B3}"/>
              </a:ext>
            </a:extLst>
          </p:cNvPr>
          <p:cNvSpPr>
            <a:spLocks noGrp="1"/>
          </p:cNvSpPr>
          <p:nvPr>
            <p:ph type="body" idx="1"/>
          </p:nvPr>
        </p:nvSpPr>
        <p:spPr>
          <a:xfrm>
            <a:off x="304800" y="1201995"/>
            <a:ext cx="11544664" cy="955279"/>
          </a:xfrm>
        </p:spPr>
        <p:txBody>
          <a:bodyPr>
            <a:normAutofit/>
          </a:bodyPr>
          <a:lstStyle/>
          <a:p>
            <a:pPr marL="342900" indent="-342900">
              <a:spcBef>
                <a:spcPts val="600"/>
              </a:spcBef>
              <a:buFont typeface="Wingdings" panose="05000000000000000000" pitchFamily="2" charset="2"/>
              <a:buChar char="v"/>
            </a:pPr>
            <a:r>
              <a:rPr lang="en-US" sz="2400" cap="none" dirty="0"/>
              <a:t>Model = Map Coloring</a:t>
            </a:r>
          </a:p>
          <a:p>
            <a:pPr marL="342900" indent="-342900">
              <a:spcBef>
                <a:spcPts val="600"/>
              </a:spcBef>
              <a:buFont typeface="Wingdings" panose="05000000000000000000" pitchFamily="2" charset="2"/>
              <a:buChar char="v"/>
            </a:pPr>
            <a:r>
              <a:rPr lang="en-US" sz="2400" cap="none" dirty="0"/>
              <a:t>Shift the representation to map coloring such that it satisfies all the constraints</a:t>
            </a:r>
          </a:p>
        </p:txBody>
      </p:sp>
      <p:pic>
        <p:nvPicPr>
          <p:cNvPr id="13" name="Content Placeholder 12" descr="Diagram&#10;&#10;Description automatically generated">
            <a:extLst>
              <a:ext uri="{FF2B5EF4-FFF2-40B4-BE49-F238E27FC236}">
                <a16:creationId xmlns:a16="http://schemas.microsoft.com/office/drawing/2014/main" id="{05380938-A468-47AE-9639-6E636B725E5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11150" y="2329222"/>
            <a:ext cx="5683250" cy="3710855"/>
          </a:xfrm>
        </p:spPr>
      </p:pic>
      <p:pic>
        <p:nvPicPr>
          <p:cNvPr id="15" name="Content Placeholder 14" descr="Timeline&#10;&#10;Description automatically generated">
            <a:extLst>
              <a:ext uri="{FF2B5EF4-FFF2-40B4-BE49-F238E27FC236}">
                <a16:creationId xmlns:a16="http://schemas.microsoft.com/office/drawing/2014/main" id="{470F0E1B-DA25-4C94-A17E-565A610373A2}"/>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870399" y="2336539"/>
            <a:ext cx="4305901" cy="3734321"/>
          </a:xfrm>
        </p:spPr>
      </p:pic>
      <p:sp>
        <p:nvSpPr>
          <p:cNvPr id="4" name="Date Placeholder 3">
            <a:extLst>
              <a:ext uri="{FF2B5EF4-FFF2-40B4-BE49-F238E27FC236}">
                <a16:creationId xmlns:a16="http://schemas.microsoft.com/office/drawing/2014/main" id="{BE09D231-3AB2-431B-826B-8E75B31CB587}"/>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970033A-B37E-4204-AF0C-A5F0EA7AF31D}"/>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E40E4DB8-CBA2-4125-8968-F214928D818E}"/>
              </a:ext>
            </a:extLst>
          </p:cNvPr>
          <p:cNvSpPr>
            <a:spLocks noGrp="1"/>
          </p:cNvSpPr>
          <p:nvPr>
            <p:ph type="sldNum" sz="quarter" idx="12"/>
          </p:nvPr>
        </p:nvSpPr>
        <p:spPr/>
        <p:txBody>
          <a:bodyPr/>
          <a:lstStyle/>
          <a:p>
            <a:fld id="{B7884E68-CE57-44C0-BE0F-84C629DF22D5}" type="slidenum">
              <a:rPr lang="en-US" smtClean="0"/>
              <a:t>77</a:t>
            </a:fld>
            <a:endParaRPr lang="en-US"/>
          </a:p>
        </p:txBody>
      </p:sp>
      <p:sp>
        <p:nvSpPr>
          <p:cNvPr id="16" name="Arrow: Right 15">
            <a:extLst>
              <a:ext uri="{FF2B5EF4-FFF2-40B4-BE49-F238E27FC236}">
                <a16:creationId xmlns:a16="http://schemas.microsoft.com/office/drawing/2014/main" id="{4EBA8D10-CA6F-4C16-9F11-EC979E24CE33}"/>
              </a:ext>
            </a:extLst>
          </p:cNvPr>
          <p:cNvSpPr/>
          <p:nvPr/>
        </p:nvSpPr>
        <p:spPr>
          <a:xfrm>
            <a:off x="6096000" y="4015819"/>
            <a:ext cx="540470" cy="365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39203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EF82D-BE82-4EE3-A725-8BFC11B925D2}"/>
              </a:ext>
            </a:extLst>
          </p:cNvPr>
          <p:cNvSpPr>
            <a:spLocks noGrp="1"/>
          </p:cNvSpPr>
          <p:nvPr>
            <p:ph type="title"/>
          </p:nvPr>
        </p:nvSpPr>
        <p:spPr/>
        <p:txBody>
          <a:bodyPr>
            <a:normAutofit fontScale="90000"/>
          </a:bodyPr>
          <a:lstStyle/>
          <a:p>
            <a:r>
              <a:rPr lang="en-US" dirty="0"/>
              <a:t>CSP Example 3: Scheduling – Implement </a:t>
            </a:r>
          </a:p>
        </p:txBody>
      </p:sp>
      <p:sp>
        <p:nvSpPr>
          <p:cNvPr id="8" name="Text Placeholder 7">
            <a:extLst>
              <a:ext uri="{FF2B5EF4-FFF2-40B4-BE49-F238E27FC236}">
                <a16:creationId xmlns:a16="http://schemas.microsoft.com/office/drawing/2014/main" id="{FF2687EB-1162-461B-A794-2B279288A2B3}"/>
              </a:ext>
            </a:extLst>
          </p:cNvPr>
          <p:cNvSpPr>
            <a:spLocks noGrp="1"/>
          </p:cNvSpPr>
          <p:nvPr>
            <p:ph idx="1"/>
          </p:nvPr>
        </p:nvSpPr>
        <p:spPr/>
        <p:txBody>
          <a:bodyPr>
            <a:normAutofit/>
          </a:bodyPr>
          <a:lstStyle/>
          <a:p>
            <a:pPr marL="342900" indent="-342900">
              <a:buFont typeface="Wingdings" panose="05000000000000000000" pitchFamily="2" charset="2"/>
              <a:buChar char="v"/>
            </a:pPr>
            <a:r>
              <a:rPr lang="en-US" sz="2800" cap="none" dirty="0"/>
              <a:t>To determine the minimum numbers of planes required, lets bound the number the absolute minimum and absolute maximum</a:t>
            </a:r>
          </a:p>
          <a:p>
            <a:pPr marL="487347" lvl="1" indent="-342900"/>
            <a:r>
              <a:rPr lang="en-US" sz="2800" cap="none" dirty="0"/>
              <a:t>The absolute minimum number of planes is 1</a:t>
            </a:r>
          </a:p>
          <a:p>
            <a:pPr marL="487347" lvl="1" indent="-342900"/>
            <a:r>
              <a:rPr lang="en-US" sz="2800" dirty="0"/>
              <a:t>The absolute maximum number of planes is 5 (since there are 5 different paths and each one can be assigned to one)</a:t>
            </a:r>
          </a:p>
          <a:p>
            <a:pPr marL="342900" indent="-342900">
              <a:buFont typeface="Wingdings" panose="05000000000000000000" pitchFamily="2" charset="2"/>
              <a:buChar char="v"/>
            </a:pPr>
            <a:r>
              <a:rPr lang="en-US" sz="2800" cap="none" dirty="0"/>
              <a:t>To find the number of planes using the map coloring problem use the generate and test (lecture 1), i.e., test starting from 1 plane and keep increasing the number by 1 until you get a success.</a:t>
            </a:r>
          </a:p>
          <a:p>
            <a:pPr marL="487347" lvl="1" indent="-342900"/>
            <a:r>
              <a:rPr lang="en-US" sz="2800" cap="none" dirty="0"/>
              <a:t>Obviously 1 Plane will not work.</a:t>
            </a:r>
          </a:p>
          <a:p>
            <a:pPr marL="342900" indent="-342900">
              <a:buFont typeface="Wingdings" panose="05000000000000000000" pitchFamily="2" charset="2"/>
              <a:buChar char="v"/>
            </a:pPr>
            <a:endParaRPr lang="en-US" sz="2800" cap="none" dirty="0"/>
          </a:p>
          <a:p>
            <a:pPr marL="342900" indent="-342900">
              <a:buFont typeface="Wingdings" panose="05000000000000000000" pitchFamily="2" charset="2"/>
              <a:buChar char="v"/>
            </a:pPr>
            <a:endParaRPr lang="en-US" sz="2800" cap="none" dirty="0"/>
          </a:p>
        </p:txBody>
      </p:sp>
      <p:sp>
        <p:nvSpPr>
          <p:cNvPr id="4" name="Date Placeholder 3">
            <a:extLst>
              <a:ext uri="{FF2B5EF4-FFF2-40B4-BE49-F238E27FC236}">
                <a16:creationId xmlns:a16="http://schemas.microsoft.com/office/drawing/2014/main" id="{BE09D231-3AB2-431B-826B-8E75B31CB587}"/>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970033A-B37E-4204-AF0C-A5F0EA7AF31D}"/>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E40E4DB8-CBA2-4125-8968-F214928D818E}"/>
              </a:ext>
            </a:extLst>
          </p:cNvPr>
          <p:cNvSpPr>
            <a:spLocks noGrp="1"/>
          </p:cNvSpPr>
          <p:nvPr>
            <p:ph type="sldNum" sz="quarter" idx="12"/>
          </p:nvPr>
        </p:nvSpPr>
        <p:spPr/>
        <p:txBody>
          <a:bodyPr/>
          <a:lstStyle/>
          <a:p>
            <a:fld id="{B7884E68-CE57-44C0-BE0F-84C629DF22D5}" type="slidenum">
              <a:rPr lang="en-US" smtClean="0"/>
              <a:t>78</a:t>
            </a:fld>
            <a:endParaRPr lang="en-US"/>
          </a:p>
        </p:txBody>
      </p:sp>
    </p:spTree>
    <p:extLst>
      <p:ext uri="{BB962C8B-B14F-4D97-AF65-F5344CB8AC3E}">
        <p14:creationId xmlns:p14="http://schemas.microsoft.com/office/powerpoint/2010/main" val="14083590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EF82D-BE82-4EE3-A725-8BFC11B925D2}"/>
              </a:ext>
            </a:extLst>
          </p:cNvPr>
          <p:cNvSpPr>
            <a:spLocks noGrp="1"/>
          </p:cNvSpPr>
          <p:nvPr>
            <p:ph type="title"/>
          </p:nvPr>
        </p:nvSpPr>
        <p:spPr/>
        <p:txBody>
          <a:bodyPr>
            <a:normAutofit fontScale="90000"/>
          </a:bodyPr>
          <a:lstStyle/>
          <a:p>
            <a:r>
              <a:rPr lang="en-US" dirty="0"/>
              <a:t>CSP Example 3: Scheduling – Implement 2 planes  </a:t>
            </a:r>
          </a:p>
        </p:txBody>
      </p:sp>
      <p:sp>
        <p:nvSpPr>
          <p:cNvPr id="8" name="Text Placeholder 7">
            <a:extLst>
              <a:ext uri="{FF2B5EF4-FFF2-40B4-BE49-F238E27FC236}">
                <a16:creationId xmlns:a16="http://schemas.microsoft.com/office/drawing/2014/main" id="{FF2687EB-1162-461B-A794-2B279288A2B3}"/>
              </a:ext>
            </a:extLst>
          </p:cNvPr>
          <p:cNvSpPr>
            <a:spLocks noGrp="1"/>
          </p:cNvSpPr>
          <p:nvPr>
            <p:ph idx="1"/>
          </p:nvPr>
        </p:nvSpPr>
        <p:spPr>
          <a:xfrm>
            <a:off x="304800" y="1228153"/>
            <a:ext cx="10950804" cy="5021979"/>
          </a:xfrm>
        </p:spPr>
        <p:txBody>
          <a:bodyPr>
            <a:normAutofit lnSpcReduction="10000"/>
          </a:bodyPr>
          <a:lstStyle/>
          <a:p>
            <a:pPr marL="342900" indent="-342900">
              <a:buFont typeface="Wingdings" panose="05000000000000000000" pitchFamily="2" charset="2"/>
              <a:buChar char="v"/>
            </a:pPr>
            <a:r>
              <a:rPr lang="en-US" cap="none" dirty="0"/>
              <a:t>2 Planes with sequential assignment of planes where P1 is the first plane and P2 is the second one. </a:t>
            </a:r>
            <a:endParaRPr lang="en-US" dirty="0"/>
          </a:p>
          <a:p>
            <a:pPr lvl="1"/>
            <a:r>
              <a:rPr lang="en-US" b="1" dirty="0">
                <a:solidFill>
                  <a:srgbClr val="0070C0"/>
                </a:solidFill>
              </a:rPr>
              <a:t>Variables</a:t>
            </a:r>
            <a:r>
              <a:rPr lang="en-US" dirty="0"/>
              <a:t>:</a:t>
            </a:r>
          </a:p>
          <a:p>
            <a:pPr lvl="2"/>
            <a:r>
              <a:rPr lang="en-US" dirty="0"/>
              <a:t>V={V1 = F1, V2 = F2, V3 = F3, V4 = F4, V5 = F5}</a:t>
            </a:r>
          </a:p>
          <a:p>
            <a:pPr lvl="1"/>
            <a:r>
              <a:rPr lang="en-US" b="1" dirty="0">
                <a:solidFill>
                  <a:srgbClr val="0070C0"/>
                </a:solidFill>
              </a:rPr>
              <a:t>Domain</a:t>
            </a:r>
            <a:r>
              <a:rPr lang="en-US" dirty="0"/>
              <a:t> of each variable is {</a:t>
            </a:r>
            <a:r>
              <a:rPr lang="en-US" dirty="0">
                <a:solidFill>
                  <a:srgbClr val="FF0000"/>
                </a:solidFill>
              </a:rPr>
              <a:t>P1</a:t>
            </a:r>
            <a:r>
              <a:rPr lang="en-US" dirty="0"/>
              <a:t>, </a:t>
            </a:r>
            <a:r>
              <a:rPr lang="en-US" dirty="0">
                <a:solidFill>
                  <a:srgbClr val="00B050"/>
                </a:solidFill>
              </a:rPr>
              <a:t>P2</a:t>
            </a:r>
            <a:r>
              <a:rPr lang="en-US" dirty="0"/>
              <a:t>}</a:t>
            </a:r>
          </a:p>
          <a:p>
            <a:pPr lvl="1"/>
            <a:r>
              <a:rPr lang="en-US" dirty="0"/>
              <a:t>Constraints: </a:t>
            </a:r>
          </a:p>
          <a:p>
            <a:pPr lvl="2"/>
            <a:r>
              <a:rPr lang="en-US" dirty="0"/>
              <a:t>Minimum of 30 min Ground Time after flight</a:t>
            </a:r>
          </a:p>
          <a:p>
            <a:pPr lvl="2"/>
            <a:r>
              <a:rPr lang="en-US" dirty="0"/>
              <a:t>A plane cannot fly two different paths at the same time</a:t>
            </a:r>
          </a:p>
          <a:p>
            <a:pPr lvl="2"/>
            <a:r>
              <a:rPr lang="en-US" dirty="0"/>
              <a:t>A plane can start from either Dammam or Riyadh since Fly-KFUPM has a base there</a:t>
            </a:r>
          </a:p>
          <a:p>
            <a:pPr lvl="2"/>
            <a:r>
              <a:rPr lang="en-US" dirty="0"/>
              <a:t>A plane that lands in a city cannot take off from another city unless it flies to that city</a:t>
            </a:r>
          </a:p>
          <a:p>
            <a:pPr marL="487347" lvl="1" indent="-342900">
              <a:buFont typeface="Wingdings" panose="05000000000000000000" pitchFamily="2" charset="2"/>
              <a:buChar char="v"/>
            </a:pPr>
            <a:endParaRPr lang="en-US" sz="2400" cap="none" dirty="0"/>
          </a:p>
        </p:txBody>
      </p:sp>
      <p:sp>
        <p:nvSpPr>
          <p:cNvPr id="4" name="Date Placeholder 3">
            <a:extLst>
              <a:ext uri="{FF2B5EF4-FFF2-40B4-BE49-F238E27FC236}">
                <a16:creationId xmlns:a16="http://schemas.microsoft.com/office/drawing/2014/main" id="{BE09D231-3AB2-431B-826B-8E75B31CB587}"/>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970033A-B37E-4204-AF0C-A5F0EA7AF31D}"/>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E40E4DB8-CBA2-4125-8968-F214928D818E}"/>
              </a:ext>
            </a:extLst>
          </p:cNvPr>
          <p:cNvSpPr>
            <a:spLocks noGrp="1"/>
          </p:cNvSpPr>
          <p:nvPr>
            <p:ph type="sldNum" sz="quarter" idx="12"/>
          </p:nvPr>
        </p:nvSpPr>
        <p:spPr/>
        <p:txBody>
          <a:bodyPr/>
          <a:lstStyle/>
          <a:p>
            <a:fld id="{B7884E68-CE57-44C0-BE0F-84C629DF22D5}" type="slidenum">
              <a:rPr lang="en-US" smtClean="0"/>
              <a:t>79</a:t>
            </a:fld>
            <a:endParaRPr lang="en-US"/>
          </a:p>
        </p:txBody>
      </p:sp>
    </p:spTree>
    <p:extLst>
      <p:ext uri="{BB962C8B-B14F-4D97-AF65-F5344CB8AC3E}">
        <p14:creationId xmlns:p14="http://schemas.microsoft.com/office/powerpoint/2010/main" val="41031148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258785F-FA08-42FF-8190-AEA2489FE07A}"/>
              </a:ext>
            </a:extLst>
          </p:cNvPr>
          <p:cNvPicPr>
            <a:picLocks noChangeAspect="1"/>
          </p:cNvPicPr>
          <p:nvPr/>
        </p:nvPicPr>
        <p:blipFill>
          <a:blip r:embed="rId2"/>
          <a:stretch>
            <a:fillRect/>
          </a:stretch>
        </p:blipFill>
        <p:spPr>
          <a:xfrm>
            <a:off x="8362021" y="1895613"/>
            <a:ext cx="2619375" cy="2752725"/>
          </a:xfrm>
          <a:prstGeom prst="rect">
            <a:avLst/>
          </a:prstGeom>
        </p:spPr>
      </p:pic>
      <p:sp>
        <p:nvSpPr>
          <p:cNvPr id="2" name="Title 1">
            <a:extLst>
              <a:ext uri="{FF2B5EF4-FFF2-40B4-BE49-F238E27FC236}">
                <a16:creationId xmlns:a16="http://schemas.microsoft.com/office/drawing/2014/main" id="{E25EF82D-BE82-4EE3-A725-8BFC11B925D2}"/>
              </a:ext>
            </a:extLst>
          </p:cNvPr>
          <p:cNvSpPr>
            <a:spLocks noGrp="1"/>
          </p:cNvSpPr>
          <p:nvPr>
            <p:ph type="title"/>
          </p:nvPr>
        </p:nvSpPr>
        <p:spPr/>
        <p:txBody>
          <a:bodyPr>
            <a:normAutofit fontScale="90000"/>
          </a:bodyPr>
          <a:lstStyle/>
          <a:p>
            <a:r>
              <a:rPr lang="en-US" dirty="0"/>
              <a:t>CSP Example 3: Scheduling – Implement 2 planes </a:t>
            </a:r>
          </a:p>
        </p:txBody>
      </p:sp>
      <p:sp>
        <p:nvSpPr>
          <p:cNvPr id="4" name="Date Placeholder 3">
            <a:extLst>
              <a:ext uri="{FF2B5EF4-FFF2-40B4-BE49-F238E27FC236}">
                <a16:creationId xmlns:a16="http://schemas.microsoft.com/office/drawing/2014/main" id="{BE09D231-3AB2-431B-826B-8E75B31CB587}"/>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970033A-B37E-4204-AF0C-A5F0EA7AF31D}"/>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E40E4DB8-CBA2-4125-8968-F214928D818E}"/>
              </a:ext>
            </a:extLst>
          </p:cNvPr>
          <p:cNvSpPr>
            <a:spLocks noGrp="1"/>
          </p:cNvSpPr>
          <p:nvPr>
            <p:ph type="sldNum" sz="quarter" idx="12"/>
          </p:nvPr>
        </p:nvSpPr>
        <p:spPr/>
        <p:txBody>
          <a:bodyPr/>
          <a:lstStyle/>
          <a:p>
            <a:fld id="{B7884E68-CE57-44C0-BE0F-84C629DF22D5}" type="slidenum">
              <a:rPr lang="en-US" smtClean="0"/>
              <a:t>80</a:t>
            </a:fld>
            <a:endParaRPr lang="en-US"/>
          </a:p>
        </p:txBody>
      </p:sp>
      <p:grpSp>
        <p:nvGrpSpPr>
          <p:cNvPr id="16" name="Group 15">
            <a:extLst>
              <a:ext uri="{FF2B5EF4-FFF2-40B4-BE49-F238E27FC236}">
                <a16:creationId xmlns:a16="http://schemas.microsoft.com/office/drawing/2014/main" id="{4A88A908-3A65-4B27-A4F5-E0D55B407C28}"/>
              </a:ext>
            </a:extLst>
          </p:cNvPr>
          <p:cNvGrpSpPr/>
          <p:nvPr/>
        </p:nvGrpSpPr>
        <p:grpSpPr>
          <a:xfrm>
            <a:off x="814676" y="1895614"/>
            <a:ext cx="6393048" cy="2752726"/>
            <a:chOff x="814676" y="1424563"/>
            <a:chExt cx="6393048" cy="2752726"/>
          </a:xfrm>
        </p:grpSpPr>
        <p:pic>
          <p:nvPicPr>
            <p:cNvPr id="9" name="Picture 8">
              <a:extLst>
                <a:ext uri="{FF2B5EF4-FFF2-40B4-BE49-F238E27FC236}">
                  <a16:creationId xmlns:a16="http://schemas.microsoft.com/office/drawing/2014/main" id="{133D51A9-FC0C-4CAF-8902-9A550F15E6BB}"/>
                </a:ext>
              </a:extLst>
            </p:cNvPr>
            <p:cNvPicPr>
              <a:picLocks noChangeAspect="1"/>
            </p:cNvPicPr>
            <p:nvPr/>
          </p:nvPicPr>
          <p:blipFill>
            <a:blip r:embed="rId3"/>
            <a:stretch>
              <a:fillRect/>
            </a:stretch>
          </p:blipFill>
          <p:spPr>
            <a:xfrm>
              <a:off x="814676" y="1424564"/>
              <a:ext cx="2619375" cy="2752725"/>
            </a:xfrm>
            <a:prstGeom prst="rect">
              <a:avLst/>
            </a:prstGeom>
          </p:spPr>
        </p:pic>
        <p:pic>
          <p:nvPicPr>
            <p:cNvPr id="11" name="Picture 10">
              <a:extLst>
                <a:ext uri="{FF2B5EF4-FFF2-40B4-BE49-F238E27FC236}">
                  <a16:creationId xmlns:a16="http://schemas.microsoft.com/office/drawing/2014/main" id="{CCAEF87E-BE41-4CE5-A9D3-95AA1ED5485E}"/>
                </a:ext>
              </a:extLst>
            </p:cNvPr>
            <p:cNvPicPr>
              <a:picLocks noChangeAspect="1"/>
            </p:cNvPicPr>
            <p:nvPr/>
          </p:nvPicPr>
          <p:blipFill>
            <a:blip r:embed="rId4"/>
            <a:stretch>
              <a:fillRect/>
            </a:stretch>
          </p:blipFill>
          <p:spPr>
            <a:xfrm>
              <a:off x="4588349" y="1424563"/>
              <a:ext cx="2619375" cy="2752725"/>
            </a:xfrm>
            <a:prstGeom prst="rect">
              <a:avLst/>
            </a:prstGeom>
          </p:spPr>
        </p:pic>
      </p:grpSp>
      <p:sp>
        <p:nvSpPr>
          <p:cNvPr id="17" name="Arrow: Right 16">
            <a:extLst>
              <a:ext uri="{FF2B5EF4-FFF2-40B4-BE49-F238E27FC236}">
                <a16:creationId xmlns:a16="http://schemas.microsoft.com/office/drawing/2014/main" id="{610D6A5D-5DF0-4958-A0A9-C435A9304B35}"/>
              </a:ext>
            </a:extLst>
          </p:cNvPr>
          <p:cNvSpPr/>
          <p:nvPr/>
        </p:nvSpPr>
        <p:spPr>
          <a:xfrm>
            <a:off x="3697093" y="3114957"/>
            <a:ext cx="562541" cy="3140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1C27C5C9-0B12-42CE-8339-3CBCF5BABA70}"/>
              </a:ext>
            </a:extLst>
          </p:cNvPr>
          <p:cNvSpPr/>
          <p:nvPr/>
        </p:nvSpPr>
        <p:spPr>
          <a:xfrm>
            <a:off x="7686120" y="3114957"/>
            <a:ext cx="562541" cy="3140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Placeholder 7">
            <a:extLst>
              <a:ext uri="{FF2B5EF4-FFF2-40B4-BE49-F238E27FC236}">
                <a16:creationId xmlns:a16="http://schemas.microsoft.com/office/drawing/2014/main" id="{615B388F-9295-4B90-B0DB-E987BEE284CA}"/>
              </a:ext>
            </a:extLst>
          </p:cNvPr>
          <p:cNvSpPr>
            <a:spLocks noGrp="1"/>
          </p:cNvSpPr>
          <p:nvPr>
            <p:ph idx="1"/>
          </p:nvPr>
        </p:nvSpPr>
        <p:spPr>
          <a:xfrm>
            <a:off x="304800" y="1228153"/>
            <a:ext cx="10950804" cy="5021979"/>
          </a:xfrm>
        </p:spPr>
        <p:txBody>
          <a:bodyPr>
            <a:normAutofit/>
          </a:bodyPr>
          <a:lstStyle/>
          <a:p>
            <a:pPr marL="487347" lvl="1" indent="-342900">
              <a:buFont typeface="Wingdings" panose="05000000000000000000" pitchFamily="2" charset="2"/>
              <a:buChar char="v"/>
            </a:pPr>
            <a:r>
              <a:rPr lang="en-US" sz="2400" cap="none" dirty="0"/>
              <a:t>CSP Using backtracking algorithm </a:t>
            </a:r>
            <a:endParaRPr lang="en-US" sz="2400" dirty="0"/>
          </a:p>
          <a:p>
            <a:pPr marL="487347" lvl="1" indent="-342900">
              <a:buFont typeface="Wingdings" panose="05000000000000000000" pitchFamily="2" charset="2"/>
              <a:buChar char="v"/>
            </a:pPr>
            <a:endParaRPr lang="en-US" sz="2400" cap="none" dirty="0"/>
          </a:p>
        </p:txBody>
      </p:sp>
      <p:pic>
        <p:nvPicPr>
          <p:cNvPr id="7" name="Picture 6">
            <a:extLst>
              <a:ext uri="{FF2B5EF4-FFF2-40B4-BE49-F238E27FC236}">
                <a16:creationId xmlns:a16="http://schemas.microsoft.com/office/drawing/2014/main" id="{8F724564-50CF-40D9-A52C-545ED1B4FEA9}"/>
              </a:ext>
            </a:extLst>
          </p:cNvPr>
          <p:cNvPicPr>
            <a:picLocks noChangeAspect="1"/>
          </p:cNvPicPr>
          <p:nvPr/>
        </p:nvPicPr>
        <p:blipFill>
          <a:blip r:embed="rId5"/>
          <a:stretch>
            <a:fillRect/>
          </a:stretch>
        </p:blipFill>
        <p:spPr>
          <a:xfrm>
            <a:off x="3814762" y="4934957"/>
            <a:ext cx="4562475" cy="1123950"/>
          </a:xfrm>
          <a:prstGeom prst="rect">
            <a:avLst/>
          </a:prstGeom>
        </p:spPr>
      </p:pic>
    </p:spTree>
    <p:extLst>
      <p:ext uri="{BB962C8B-B14F-4D97-AF65-F5344CB8AC3E}">
        <p14:creationId xmlns:p14="http://schemas.microsoft.com/office/powerpoint/2010/main" val="26584983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EF82D-BE82-4EE3-A725-8BFC11B925D2}"/>
              </a:ext>
            </a:extLst>
          </p:cNvPr>
          <p:cNvSpPr>
            <a:spLocks noGrp="1"/>
          </p:cNvSpPr>
          <p:nvPr>
            <p:ph type="title"/>
          </p:nvPr>
        </p:nvSpPr>
        <p:spPr/>
        <p:txBody>
          <a:bodyPr>
            <a:normAutofit fontScale="90000"/>
          </a:bodyPr>
          <a:lstStyle/>
          <a:p>
            <a:r>
              <a:rPr lang="en-US" dirty="0"/>
              <a:t>CSP Example 3: Scheduling – Implement 2 planes </a:t>
            </a:r>
          </a:p>
        </p:txBody>
      </p:sp>
      <p:sp>
        <p:nvSpPr>
          <p:cNvPr id="8" name="Text Placeholder 7">
            <a:extLst>
              <a:ext uri="{FF2B5EF4-FFF2-40B4-BE49-F238E27FC236}">
                <a16:creationId xmlns:a16="http://schemas.microsoft.com/office/drawing/2014/main" id="{FF2687EB-1162-461B-A794-2B279288A2B3}"/>
              </a:ext>
            </a:extLst>
          </p:cNvPr>
          <p:cNvSpPr>
            <a:spLocks noGrp="1"/>
          </p:cNvSpPr>
          <p:nvPr>
            <p:ph idx="1"/>
          </p:nvPr>
        </p:nvSpPr>
        <p:spPr>
          <a:xfrm>
            <a:off x="304800" y="1228153"/>
            <a:ext cx="10950804" cy="5021979"/>
          </a:xfrm>
        </p:spPr>
        <p:txBody>
          <a:bodyPr>
            <a:normAutofit/>
          </a:bodyPr>
          <a:lstStyle/>
          <a:p>
            <a:pPr marL="487347" lvl="1" indent="-342900">
              <a:buFont typeface="Wingdings" panose="05000000000000000000" pitchFamily="2" charset="2"/>
              <a:buChar char="v"/>
            </a:pPr>
            <a:endParaRPr lang="en-US" sz="2400" cap="none" dirty="0"/>
          </a:p>
          <a:p>
            <a:pPr marL="487347" lvl="1" indent="-342900">
              <a:buFont typeface="Wingdings" panose="05000000000000000000" pitchFamily="2" charset="2"/>
              <a:buChar char="v"/>
            </a:pPr>
            <a:endParaRPr lang="en-US" sz="2400" dirty="0"/>
          </a:p>
          <a:p>
            <a:pPr marL="487347" lvl="1" indent="-342900">
              <a:buFont typeface="Wingdings" panose="05000000000000000000" pitchFamily="2" charset="2"/>
              <a:buChar char="v"/>
            </a:pPr>
            <a:endParaRPr lang="en-US" sz="2400" cap="none" dirty="0"/>
          </a:p>
          <a:p>
            <a:pPr marL="487347" lvl="1" indent="-342900">
              <a:buFont typeface="Wingdings" panose="05000000000000000000" pitchFamily="2" charset="2"/>
              <a:buChar char="v"/>
            </a:pPr>
            <a:endParaRPr lang="en-US" sz="2400" dirty="0"/>
          </a:p>
          <a:p>
            <a:pPr marL="487347" lvl="1" indent="-342900">
              <a:buFont typeface="Wingdings" panose="05000000000000000000" pitchFamily="2" charset="2"/>
              <a:buChar char="v"/>
            </a:pPr>
            <a:endParaRPr lang="en-US" sz="2400" cap="none" dirty="0"/>
          </a:p>
          <a:p>
            <a:pPr marL="487347" lvl="1" indent="-342900">
              <a:buFont typeface="Wingdings" panose="05000000000000000000" pitchFamily="2" charset="2"/>
              <a:buChar char="v"/>
            </a:pPr>
            <a:endParaRPr lang="en-US" sz="2400" dirty="0"/>
          </a:p>
          <a:p>
            <a:pPr marL="487347" lvl="1" indent="-342900">
              <a:buFont typeface="Wingdings" panose="05000000000000000000" pitchFamily="2" charset="2"/>
              <a:buChar char="v"/>
            </a:pPr>
            <a:endParaRPr lang="en-US" sz="2400" cap="none" dirty="0"/>
          </a:p>
          <a:p>
            <a:pPr marL="487347" lvl="1" indent="-342900">
              <a:buFont typeface="Wingdings" panose="05000000000000000000" pitchFamily="2" charset="2"/>
              <a:buChar char="v"/>
            </a:pPr>
            <a:endParaRPr lang="en-US" sz="2400" dirty="0"/>
          </a:p>
          <a:p>
            <a:pPr marL="487347" lvl="1" indent="-342900">
              <a:buFont typeface="Wingdings" panose="05000000000000000000" pitchFamily="2" charset="2"/>
              <a:buChar char="v"/>
            </a:pPr>
            <a:endParaRPr lang="en-US" sz="2400" cap="none" dirty="0"/>
          </a:p>
          <a:p>
            <a:pPr marL="487347" lvl="1" indent="-342900">
              <a:buFont typeface="Wingdings" panose="05000000000000000000" pitchFamily="2" charset="2"/>
              <a:buChar char="v"/>
            </a:pPr>
            <a:endParaRPr lang="en-US" sz="2400" dirty="0"/>
          </a:p>
          <a:p>
            <a:pPr marL="144447" lvl="1" indent="0">
              <a:buNone/>
            </a:pPr>
            <a:endParaRPr lang="en-US" sz="2400" cap="none" dirty="0"/>
          </a:p>
          <a:p>
            <a:pPr marL="487347" lvl="1" indent="-342900">
              <a:buFont typeface="Wingdings" panose="05000000000000000000" pitchFamily="2" charset="2"/>
              <a:buChar char="v"/>
            </a:pPr>
            <a:r>
              <a:rPr lang="en-US" sz="2400" cap="none" dirty="0"/>
              <a:t>Planes are not enough → increase the number of planes to 3 </a:t>
            </a:r>
            <a:r>
              <a:rPr lang="en-US" sz="2400" b="1" dirty="0">
                <a:solidFill>
                  <a:srgbClr val="0070C0"/>
                </a:solidFill>
              </a:rPr>
              <a:t>Domain</a:t>
            </a:r>
            <a:r>
              <a:rPr lang="en-US" sz="2400" dirty="0"/>
              <a:t> {</a:t>
            </a:r>
            <a:r>
              <a:rPr lang="en-US" sz="2400" dirty="0">
                <a:solidFill>
                  <a:srgbClr val="FF0000"/>
                </a:solidFill>
              </a:rPr>
              <a:t>P1</a:t>
            </a:r>
            <a:r>
              <a:rPr lang="en-US" sz="2400" dirty="0"/>
              <a:t>, </a:t>
            </a:r>
            <a:r>
              <a:rPr lang="en-US" sz="2400" dirty="0">
                <a:solidFill>
                  <a:srgbClr val="00B050"/>
                </a:solidFill>
              </a:rPr>
              <a:t>P2, </a:t>
            </a:r>
            <a:r>
              <a:rPr lang="en-US" sz="2400" dirty="0">
                <a:solidFill>
                  <a:srgbClr val="0070C0"/>
                </a:solidFill>
              </a:rPr>
              <a:t>P3</a:t>
            </a:r>
            <a:r>
              <a:rPr lang="en-US" sz="2400" dirty="0"/>
              <a:t>}</a:t>
            </a:r>
          </a:p>
          <a:p>
            <a:pPr marL="487347" lvl="1" indent="-342900">
              <a:buFont typeface="Wingdings" panose="05000000000000000000" pitchFamily="2" charset="2"/>
              <a:buChar char="v"/>
            </a:pPr>
            <a:endParaRPr lang="en-US" sz="2400" cap="none" dirty="0"/>
          </a:p>
        </p:txBody>
      </p:sp>
      <p:sp>
        <p:nvSpPr>
          <p:cNvPr id="4" name="Date Placeholder 3">
            <a:extLst>
              <a:ext uri="{FF2B5EF4-FFF2-40B4-BE49-F238E27FC236}">
                <a16:creationId xmlns:a16="http://schemas.microsoft.com/office/drawing/2014/main" id="{BE09D231-3AB2-431B-826B-8E75B31CB587}"/>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970033A-B37E-4204-AF0C-A5F0EA7AF31D}"/>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E40E4DB8-CBA2-4125-8968-F214928D818E}"/>
              </a:ext>
            </a:extLst>
          </p:cNvPr>
          <p:cNvSpPr>
            <a:spLocks noGrp="1"/>
          </p:cNvSpPr>
          <p:nvPr>
            <p:ph type="sldNum" sz="quarter" idx="12"/>
          </p:nvPr>
        </p:nvSpPr>
        <p:spPr/>
        <p:txBody>
          <a:bodyPr/>
          <a:lstStyle/>
          <a:p>
            <a:fld id="{B7884E68-CE57-44C0-BE0F-84C629DF22D5}" type="slidenum">
              <a:rPr lang="en-US" smtClean="0"/>
              <a:t>81</a:t>
            </a:fld>
            <a:endParaRPr lang="en-US"/>
          </a:p>
        </p:txBody>
      </p:sp>
      <p:grpSp>
        <p:nvGrpSpPr>
          <p:cNvPr id="14" name="Group 13">
            <a:extLst>
              <a:ext uri="{FF2B5EF4-FFF2-40B4-BE49-F238E27FC236}">
                <a16:creationId xmlns:a16="http://schemas.microsoft.com/office/drawing/2014/main" id="{17CF3B0F-7A3B-4123-9AED-D24CD03DBA14}"/>
              </a:ext>
            </a:extLst>
          </p:cNvPr>
          <p:cNvGrpSpPr/>
          <p:nvPr/>
        </p:nvGrpSpPr>
        <p:grpSpPr>
          <a:xfrm>
            <a:off x="731988" y="1496146"/>
            <a:ext cx="6470937" cy="2752725"/>
            <a:chOff x="731988" y="1496146"/>
            <a:chExt cx="6470937" cy="2752725"/>
          </a:xfrm>
        </p:grpSpPr>
        <p:sp>
          <p:nvSpPr>
            <p:cNvPr id="17" name="Arrow: Right 16">
              <a:extLst>
                <a:ext uri="{FF2B5EF4-FFF2-40B4-BE49-F238E27FC236}">
                  <a16:creationId xmlns:a16="http://schemas.microsoft.com/office/drawing/2014/main" id="{610D6A5D-5DF0-4958-A0A9-C435A9304B35}"/>
                </a:ext>
              </a:extLst>
            </p:cNvPr>
            <p:cNvSpPr/>
            <p:nvPr/>
          </p:nvSpPr>
          <p:spPr>
            <a:xfrm>
              <a:off x="3686186" y="2715491"/>
              <a:ext cx="562541" cy="3140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D0E51DE-4542-43D4-A31D-EF50D8B0ACAE}"/>
                </a:ext>
              </a:extLst>
            </p:cNvPr>
            <p:cNvPicPr>
              <a:picLocks noChangeAspect="1"/>
            </p:cNvPicPr>
            <p:nvPr/>
          </p:nvPicPr>
          <p:blipFill>
            <a:blip r:embed="rId2"/>
            <a:stretch>
              <a:fillRect/>
            </a:stretch>
          </p:blipFill>
          <p:spPr>
            <a:xfrm>
              <a:off x="731988" y="1496146"/>
              <a:ext cx="2619375" cy="2752725"/>
            </a:xfrm>
            <a:prstGeom prst="rect">
              <a:avLst/>
            </a:prstGeom>
          </p:spPr>
        </p:pic>
        <p:pic>
          <p:nvPicPr>
            <p:cNvPr id="12" name="Picture 11">
              <a:extLst>
                <a:ext uri="{FF2B5EF4-FFF2-40B4-BE49-F238E27FC236}">
                  <a16:creationId xmlns:a16="http://schemas.microsoft.com/office/drawing/2014/main" id="{868535C0-6EDD-4388-962F-5E0E471080CE}"/>
                </a:ext>
              </a:extLst>
            </p:cNvPr>
            <p:cNvPicPr>
              <a:picLocks noChangeAspect="1"/>
            </p:cNvPicPr>
            <p:nvPr/>
          </p:nvPicPr>
          <p:blipFill>
            <a:blip r:embed="rId3"/>
            <a:stretch>
              <a:fillRect/>
            </a:stretch>
          </p:blipFill>
          <p:spPr>
            <a:xfrm>
              <a:off x="4583550" y="1496146"/>
              <a:ext cx="2619375" cy="2752725"/>
            </a:xfrm>
            <a:prstGeom prst="rect">
              <a:avLst/>
            </a:prstGeom>
          </p:spPr>
        </p:pic>
      </p:grpSp>
      <p:sp>
        <p:nvSpPr>
          <p:cNvPr id="20" name="Arrow: Right 19">
            <a:extLst>
              <a:ext uri="{FF2B5EF4-FFF2-40B4-BE49-F238E27FC236}">
                <a16:creationId xmlns:a16="http://schemas.microsoft.com/office/drawing/2014/main" id="{449E85F6-F232-43BB-BD01-051D4C044F2C}"/>
              </a:ext>
            </a:extLst>
          </p:cNvPr>
          <p:cNvSpPr/>
          <p:nvPr/>
        </p:nvSpPr>
        <p:spPr>
          <a:xfrm>
            <a:off x="304800" y="2743200"/>
            <a:ext cx="562541" cy="3140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06954C5-12F9-47A4-B807-120E8EDB0734}"/>
              </a:ext>
            </a:extLst>
          </p:cNvPr>
          <p:cNvPicPr>
            <a:picLocks noChangeAspect="1"/>
          </p:cNvPicPr>
          <p:nvPr/>
        </p:nvPicPr>
        <p:blipFill>
          <a:blip r:embed="rId4"/>
          <a:stretch>
            <a:fillRect/>
          </a:stretch>
        </p:blipFill>
        <p:spPr>
          <a:xfrm>
            <a:off x="3814762" y="4505897"/>
            <a:ext cx="4562475" cy="1123950"/>
          </a:xfrm>
          <a:prstGeom prst="rect">
            <a:avLst/>
          </a:prstGeom>
        </p:spPr>
      </p:pic>
    </p:spTree>
    <p:extLst>
      <p:ext uri="{BB962C8B-B14F-4D97-AF65-F5344CB8AC3E}">
        <p14:creationId xmlns:p14="http://schemas.microsoft.com/office/powerpoint/2010/main" val="380429160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E283928B-8102-4268-A030-7AFFAC19119F}"/>
              </a:ext>
            </a:extLst>
          </p:cNvPr>
          <p:cNvPicPr>
            <a:picLocks noChangeAspect="1"/>
          </p:cNvPicPr>
          <p:nvPr/>
        </p:nvPicPr>
        <p:blipFill>
          <a:blip r:embed="rId2"/>
          <a:stretch>
            <a:fillRect/>
          </a:stretch>
        </p:blipFill>
        <p:spPr>
          <a:xfrm>
            <a:off x="8881509" y="1987976"/>
            <a:ext cx="2619375" cy="2752725"/>
          </a:xfrm>
          <a:prstGeom prst="rect">
            <a:avLst/>
          </a:prstGeom>
        </p:spPr>
      </p:pic>
      <p:sp>
        <p:nvSpPr>
          <p:cNvPr id="2" name="Title 1">
            <a:extLst>
              <a:ext uri="{FF2B5EF4-FFF2-40B4-BE49-F238E27FC236}">
                <a16:creationId xmlns:a16="http://schemas.microsoft.com/office/drawing/2014/main" id="{E25EF82D-BE82-4EE3-A725-8BFC11B925D2}"/>
              </a:ext>
            </a:extLst>
          </p:cNvPr>
          <p:cNvSpPr>
            <a:spLocks noGrp="1"/>
          </p:cNvSpPr>
          <p:nvPr>
            <p:ph type="title"/>
          </p:nvPr>
        </p:nvSpPr>
        <p:spPr/>
        <p:txBody>
          <a:bodyPr>
            <a:normAutofit fontScale="90000"/>
          </a:bodyPr>
          <a:lstStyle/>
          <a:p>
            <a:r>
              <a:rPr lang="en-US" dirty="0"/>
              <a:t>CSP Example 3: Scheduling – Implement 3 planes</a:t>
            </a:r>
          </a:p>
        </p:txBody>
      </p:sp>
      <p:sp>
        <p:nvSpPr>
          <p:cNvPr id="4" name="Date Placeholder 3">
            <a:extLst>
              <a:ext uri="{FF2B5EF4-FFF2-40B4-BE49-F238E27FC236}">
                <a16:creationId xmlns:a16="http://schemas.microsoft.com/office/drawing/2014/main" id="{BE09D231-3AB2-431B-826B-8E75B31CB587}"/>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970033A-B37E-4204-AF0C-A5F0EA7AF31D}"/>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E40E4DB8-CBA2-4125-8968-F214928D818E}"/>
              </a:ext>
            </a:extLst>
          </p:cNvPr>
          <p:cNvSpPr>
            <a:spLocks noGrp="1"/>
          </p:cNvSpPr>
          <p:nvPr>
            <p:ph type="sldNum" sz="quarter" idx="12"/>
          </p:nvPr>
        </p:nvSpPr>
        <p:spPr/>
        <p:txBody>
          <a:bodyPr/>
          <a:lstStyle/>
          <a:p>
            <a:fld id="{B7884E68-CE57-44C0-BE0F-84C629DF22D5}" type="slidenum">
              <a:rPr lang="en-US" smtClean="0"/>
              <a:t>82</a:t>
            </a:fld>
            <a:endParaRPr lang="en-US"/>
          </a:p>
        </p:txBody>
      </p:sp>
      <p:pic>
        <p:nvPicPr>
          <p:cNvPr id="7" name="Picture 6">
            <a:extLst>
              <a:ext uri="{FF2B5EF4-FFF2-40B4-BE49-F238E27FC236}">
                <a16:creationId xmlns:a16="http://schemas.microsoft.com/office/drawing/2014/main" id="{7B5AB840-38F0-4384-A9F9-600976411532}"/>
              </a:ext>
            </a:extLst>
          </p:cNvPr>
          <p:cNvPicPr>
            <a:picLocks noChangeAspect="1"/>
          </p:cNvPicPr>
          <p:nvPr/>
        </p:nvPicPr>
        <p:blipFill>
          <a:blip r:embed="rId3"/>
          <a:stretch>
            <a:fillRect/>
          </a:stretch>
        </p:blipFill>
        <p:spPr>
          <a:xfrm>
            <a:off x="703839" y="1987979"/>
            <a:ext cx="2619375" cy="2752725"/>
          </a:xfrm>
          <a:prstGeom prst="rect">
            <a:avLst/>
          </a:prstGeom>
        </p:spPr>
      </p:pic>
      <p:pic>
        <p:nvPicPr>
          <p:cNvPr id="10" name="Picture 9">
            <a:extLst>
              <a:ext uri="{FF2B5EF4-FFF2-40B4-BE49-F238E27FC236}">
                <a16:creationId xmlns:a16="http://schemas.microsoft.com/office/drawing/2014/main" id="{5E327A27-FAB3-41F0-A6F7-8701EB51A717}"/>
              </a:ext>
            </a:extLst>
          </p:cNvPr>
          <p:cNvPicPr>
            <a:picLocks noChangeAspect="1"/>
          </p:cNvPicPr>
          <p:nvPr/>
        </p:nvPicPr>
        <p:blipFill>
          <a:blip r:embed="rId4"/>
          <a:stretch>
            <a:fillRect/>
          </a:stretch>
        </p:blipFill>
        <p:spPr>
          <a:xfrm>
            <a:off x="4786312" y="1987978"/>
            <a:ext cx="2619375" cy="2752725"/>
          </a:xfrm>
          <a:prstGeom prst="rect">
            <a:avLst/>
          </a:prstGeom>
        </p:spPr>
      </p:pic>
      <p:sp>
        <p:nvSpPr>
          <p:cNvPr id="13" name="Arrow: Right 12">
            <a:extLst>
              <a:ext uri="{FF2B5EF4-FFF2-40B4-BE49-F238E27FC236}">
                <a16:creationId xmlns:a16="http://schemas.microsoft.com/office/drawing/2014/main" id="{C775A302-F68B-4255-AD7A-7D8B104FABD7}"/>
              </a:ext>
            </a:extLst>
          </p:cNvPr>
          <p:cNvSpPr/>
          <p:nvPr/>
        </p:nvSpPr>
        <p:spPr>
          <a:xfrm>
            <a:off x="3813774" y="3223062"/>
            <a:ext cx="612742" cy="365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FB6A87CD-D4C7-4989-A53F-A42038A36591}"/>
              </a:ext>
            </a:extLst>
          </p:cNvPr>
          <p:cNvSpPr/>
          <p:nvPr/>
        </p:nvSpPr>
        <p:spPr>
          <a:xfrm>
            <a:off x="7896248" y="3223062"/>
            <a:ext cx="612742" cy="365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7">
            <a:extLst>
              <a:ext uri="{FF2B5EF4-FFF2-40B4-BE49-F238E27FC236}">
                <a16:creationId xmlns:a16="http://schemas.microsoft.com/office/drawing/2014/main" id="{897B75F5-6039-4BCB-AA0A-60AA109D9E71}"/>
              </a:ext>
            </a:extLst>
          </p:cNvPr>
          <p:cNvSpPr>
            <a:spLocks noGrp="1"/>
          </p:cNvSpPr>
          <p:nvPr>
            <p:ph idx="1"/>
          </p:nvPr>
        </p:nvSpPr>
        <p:spPr>
          <a:xfrm>
            <a:off x="304800" y="1228153"/>
            <a:ext cx="10950804" cy="5021979"/>
          </a:xfrm>
        </p:spPr>
        <p:txBody>
          <a:bodyPr>
            <a:normAutofit/>
          </a:bodyPr>
          <a:lstStyle/>
          <a:p>
            <a:pPr marL="487347" lvl="1" indent="-342900">
              <a:buFont typeface="Wingdings" panose="05000000000000000000" pitchFamily="2" charset="2"/>
              <a:buChar char="v"/>
            </a:pPr>
            <a:r>
              <a:rPr lang="en-US" sz="2400" cap="none" dirty="0"/>
              <a:t>CSP Using backtracking algorithm: </a:t>
            </a:r>
            <a:endParaRPr lang="en-US" sz="2400" dirty="0"/>
          </a:p>
          <a:p>
            <a:pPr marL="487347" lvl="1" indent="-342900">
              <a:buFont typeface="Wingdings" panose="05000000000000000000" pitchFamily="2" charset="2"/>
              <a:buChar char="v"/>
            </a:pPr>
            <a:endParaRPr lang="en-US" sz="2400" cap="none" dirty="0"/>
          </a:p>
        </p:txBody>
      </p:sp>
      <p:pic>
        <p:nvPicPr>
          <p:cNvPr id="11" name="Picture 10">
            <a:extLst>
              <a:ext uri="{FF2B5EF4-FFF2-40B4-BE49-F238E27FC236}">
                <a16:creationId xmlns:a16="http://schemas.microsoft.com/office/drawing/2014/main" id="{DDBA6859-0020-4D8E-BCB3-8B0F8E0B2B33}"/>
              </a:ext>
            </a:extLst>
          </p:cNvPr>
          <p:cNvPicPr>
            <a:picLocks noChangeAspect="1"/>
          </p:cNvPicPr>
          <p:nvPr/>
        </p:nvPicPr>
        <p:blipFill>
          <a:blip r:embed="rId5"/>
          <a:stretch>
            <a:fillRect/>
          </a:stretch>
        </p:blipFill>
        <p:spPr>
          <a:xfrm>
            <a:off x="3946515" y="5021121"/>
            <a:ext cx="4562475" cy="1123950"/>
          </a:xfrm>
          <a:prstGeom prst="rect">
            <a:avLst/>
          </a:prstGeom>
        </p:spPr>
      </p:pic>
    </p:spTree>
    <p:extLst>
      <p:ext uri="{BB962C8B-B14F-4D97-AF65-F5344CB8AC3E}">
        <p14:creationId xmlns:p14="http://schemas.microsoft.com/office/powerpoint/2010/main" val="255215494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748CC496-DDD6-4EF5-AAD1-4E2C13D527E9}"/>
              </a:ext>
            </a:extLst>
          </p:cNvPr>
          <p:cNvPicPr>
            <a:picLocks noChangeAspect="1"/>
          </p:cNvPicPr>
          <p:nvPr/>
        </p:nvPicPr>
        <p:blipFill>
          <a:blip r:embed="rId2"/>
          <a:stretch>
            <a:fillRect/>
          </a:stretch>
        </p:blipFill>
        <p:spPr>
          <a:xfrm>
            <a:off x="8868785" y="1369142"/>
            <a:ext cx="2619375" cy="2752725"/>
          </a:xfrm>
          <a:prstGeom prst="rect">
            <a:avLst/>
          </a:prstGeom>
        </p:spPr>
      </p:pic>
      <p:pic>
        <p:nvPicPr>
          <p:cNvPr id="15" name="Picture 14">
            <a:extLst>
              <a:ext uri="{FF2B5EF4-FFF2-40B4-BE49-F238E27FC236}">
                <a16:creationId xmlns:a16="http://schemas.microsoft.com/office/drawing/2014/main" id="{E5BC37F3-2469-4694-9F52-7F4E6ABE5E7C}"/>
              </a:ext>
            </a:extLst>
          </p:cNvPr>
          <p:cNvPicPr>
            <a:picLocks noChangeAspect="1"/>
          </p:cNvPicPr>
          <p:nvPr/>
        </p:nvPicPr>
        <p:blipFill>
          <a:blip r:embed="rId3"/>
          <a:stretch>
            <a:fillRect/>
          </a:stretch>
        </p:blipFill>
        <p:spPr>
          <a:xfrm>
            <a:off x="4786312" y="1369143"/>
            <a:ext cx="2619375" cy="2752725"/>
          </a:xfrm>
          <a:prstGeom prst="rect">
            <a:avLst/>
          </a:prstGeom>
        </p:spPr>
      </p:pic>
      <p:pic>
        <p:nvPicPr>
          <p:cNvPr id="13" name="Picture 12">
            <a:extLst>
              <a:ext uri="{FF2B5EF4-FFF2-40B4-BE49-F238E27FC236}">
                <a16:creationId xmlns:a16="http://schemas.microsoft.com/office/drawing/2014/main" id="{1F1670EC-B8F7-427E-9373-40F2EBC6BFC3}"/>
              </a:ext>
            </a:extLst>
          </p:cNvPr>
          <p:cNvPicPr>
            <a:picLocks noChangeAspect="1"/>
          </p:cNvPicPr>
          <p:nvPr/>
        </p:nvPicPr>
        <p:blipFill>
          <a:blip r:embed="rId4"/>
          <a:stretch>
            <a:fillRect/>
          </a:stretch>
        </p:blipFill>
        <p:spPr>
          <a:xfrm>
            <a:off x="703839" y="1369143"/>
            <a:ext cx="2619375" cy="2752725"/>
          </a:xfrm>
          <a:prstGeom prst="rect">
            <a:avLst/>
          </a:prstGeom>
        </p:spPr>
      </p:pic>
      <p:sp>
        <p:nvSpPr>
          <p:cNvPr id="2" name="Title 1">
            <a:extLst>
              <a:ext uri="{FF2B5EF4-FFF2-40B4-BE49-F238E27FC236}">
                <a16:creationId xmlns:a16="http://schemas.microsoft.com/office/drawing/2014/main" id="{E25EF82D-BE82-4EE3-A725-8BFC11B925D2}"/>
              </a:ext>
            </a:extLst>
          </p:cNvPr>
          <p:cNvSpPr>
            <a:spLocks noGrp="1"/>
          </p:cNvSpPr>
          <p:nvPr>
            <p:ph type="title"/>
          </p:nvPr>
        </p:nvSpPr>
        <p:spPr/>
        <p:txBody>
          <a:bodyPr>
            <a:normAutofit fontScale="90000"/>
          </a:bodyPr>
          <a:lstStyle/>
          <a:p>
            <a:r>
              <a:rPr lang="en-US" dirty="0"/>
              <a:t>CSP Example 3: Scheduling – Implement </a:t>
            </a:r>
            <a:r>
              <a:rPr lang="en-US"/>
              <a:t>3 planes</a:t>
            </a:r>
            <a:endParaRPr lang="en-US" dirty="0"/>
          </a:p>
        </p:txBody>
      </p:sp>
      <p:sp>
        <p:nvSpPr>
          <p:cNvPr id="4" name="Date Placeholder 3">
            <a:extLst>
              <a:ext uri="{FF2B5EF4-FFF2-40B4-BE49-F238E27FC236}">
                <a16:creationId xmlns:a16="http://schemas.microsoft.com/office/drawing/2014/main" id="{BE09D231-3AB2-431B-826B-8E75B31CB587}"/>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970033A-B37E-4204-AF0C-A5F0EA7AF31D}"/>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E40E4DB8-CBA2-4125-8968-F214928D818E}"/>
              </a:ext>
            </a:extLst>
          </p:cNvPr>
          <p:cNvSpPr>
            <a:spLocks noGrp="1"/>
          </p:cNvSpPr>
          <p:nvPr>
            <p:ph type="sldNum" sz="quarter" idx="12"/>
          </p:nvPr>
        </p:nvSpPr>
        <p:spPr/>
        <p:txBody>
          <a:bodyPr/>
          <a:lstStyle/>
          <a:p>
            <a:fld id="{B7884E68-CE57-44C0-BE0F-84C629DF22D5}" type="slidenum">
              <a:rPr lang="en-US" smtClean="0"/>
              <a:t>83</a:t>
            </a:fld>
            <a:endParaRPr lang="en-US"/>
          </a:p>
        </p:txBody>
      </p:sp>
      <p:sp>
        <p:nvSpPr>
          <p:cNvPr id="11" name="Arrow: Right 10">
            <a:extLst>
              <a:ext uri="{FF2B5EF4-FFF2-40B4-BE49-F238E27FC236}">
                <a16:creationId xmlns:a16="http://schemas.microsoft.com/office/drawing/2014/main" id="{FBBC5710-75B5-4894-BB9E-A4D9033CD06A}"/>
              </a:ext>
            </a:extLst>
          </p:cNvPr>
          <p:cNvSpPr/>
          <p:nvPr/>
        </p:nvSpPr>
        <p:spPr>
          <a:xfrm>
            <a:off x="3813774" y="2604229"/>
            <a:ext cx="612742" cy="365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A55FD061-4382-4788-9250-7B01078BECF8}"/>
              </a:ext>
            </a:extLst>
          </p:cNvPr>
          <p:cNvSpPr/>
          <p:nvPr/>
        </p:nvSpPr>
        <p:spPr>
          <a:xfrm>
            <a:off x="7896248" y="2604229"/>
            <a:ext cx="612742" cy="365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AD859DD-07EF-483D-8C55-503A3867641B}"/>
              </a:ext>
            </a:extLst>
          </p:cNvPr>
          <p:cNvPicPr>
            <a:picLocks noChangeAspect="1"/>
          </p:cNvPicPr>
          <p:nvPr/>
        </p:nvPicPr>
        <p:blipFill>
          <a:blip r:embed="rId5"/>
          <a:stretch>
            <a:fillRect/>
          </a:stretch>
        </p:blipFill>
        <p:spPr>
          <a:xfrm>
            <a:off x="3686186" y="4743134"/>
            <a:ext cx="4562475" cy="1123950"/>
          </a:xfrm>
          <a:prstGeom prst="rect">
            <a:avLst/>
          </a:prstGeom>
        </p:spPr>
      </p:pic>
    </p:spTree>
    <p:extLst>
      <p:ext uri="{BB962C8B-B14F-4D97-AF65-F5344CB8AC3E}">
        <p14:creationId xmlns:p14="http://schemas.microsoft.com/office/powerpoint/2010/main" val="9204944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4: Sudoku Puzzle</a:t>
            </a:r>
          </a:p>
        </p:txBody>
      </p:sp>
      <p:sp>
        <p:nvSpPr>
          <p:cNvPr id="3" name="Content Placeholder 2"/>
          <p:cNvSpPr>
            <a:spLocks noGrp="1"/>
          </p:cNvSpPr>
          <p:nvPr>
            <p:ph idx="1"/>
          </p:nvPr>
        </p:nvSpPr>
        <p:spPr>
          <a:xfrm>
            <a:off x="304800" y="1228153"/>
            <a:ext cx="6855854" cy="5021979"/>
          </a:xfrm>
        </p:spPr>
        <p:txBody>
          <a:bodyPr/>
          <a:lstStyle/>
          <a:p>
            <a:r>
              <a:rPr lang="en-US" dirty="0"/>
              <a:t>The Sudoku problem objective is to fill a 9 x 9 grid with numerical digits so that each column, each row and each of the nine 3 x 3 sub-grids (also called boxes) contains one of all the digits 1 through 9.</a:t>
            </a:r>
          </a:p>
          <a:p>
            <a:r>
              <a:rPr lang="en-US" dirty="0"/>
              <a:t>A typical Sudoku puzzle is shown: </a:t>
            </a:r>
          </a:p>
          <a:p>
            <a:endParaRPr lang="en-US" dirty="0"/>
          </a:p>
        </p:txBody>
      </p:sp>
      <p:sp>
        <p:nvSpPr>
          <p:cNvPr id="4" name="Date Placeholder 3"/>
          <p:cNvSpPr>
            <a:spLocks noGrp="1"/>
          </p:cNvSpPr>
          <p:nvPr>
            <p:ph type="dt" sz="half" idx="10"/>
          </p:nvPr>
        </p:nvSpPr>
        <p:spPr/>
        <p:txBody>
          <a:bodyPr/>
          <a:lstStyle/>
          <a:p>
            <a:fld id="{B4DB07F2-0241-40DA-9A70-93E954998C04}"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84</a:t>
            </a:fld>
            <a:endParaRPr lang="en-US" dirty="0"/>
          </a:p>
        </p:txBody>
      </p:sp>
      <p:pic>
        <p:nvPicPr>
          <p:cNvPr id="7" name="Content Placeholder 12" descr="Text&#10;&#10;Description automatically generated with medium confidence">
            <a:extLst>
              <a:ext uri="{FF2B5EF4-FFF2-40B4-BE49-F238E27FC236}">
                <a16:creationId xmlns:a16="http://schemas.microsoft.com/office/drawing/2014/main" id="{B22B5A56-43D3-4A9F-AECA-0CBB26BDF73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36963" y="1438872"/>
            <a:ext cx="4350237" cy="4400098"/>
          </a:xfrm>
          <a:prstGeom prst="rect">
            <a:avLst/>
          </a:prstGeom>
        </p:spPr>
      </p:pic>
    </p:spTree>
    <p:extLst>
      <p:ext uri="{BB962C8B-B14F-4D97-AF65-F5344CB8AC3E}">
        <p14:creationId xmlns:p14="http://schemas.microsoft.com/office/powerpoint/2010/main" val="14961011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4: Sudoku Puzzle - Model</a:t>
            </a:r>
          </a:p>
        </p:txBody>
      </p:sp>
      <p:sp>
        <p:nvSpPr>
          <p:cNvPr id="3" name="Content Placeholder 2"/>
          <p:cNvSpPr>
            <a:spLocks noGrp="1"/>
          </p:cNvSpPr>
          <p:nvPr>
            <p:ph idx="1"/>
          </p:nvPr>
        </p:nvSpPr>
        <p:spPr>
          <a:xfrm>
            <a:off x="304799" y="1228153"/>
            <a:ext cx="7232163" cy="5021979"/>
          </a:xfrm>
        </p:spPr>
        <p:txBody>
          <a:bodyPr>
            <a:normAutofit fontScale="85000" lnSpcReduction="20000"/>
          </a:bodyPr>
          <a:lstStyle/>
          <a:p>
            <a:r>
              <a:rPr lang="en-US" dirty="0"/>
              <a:t>It has 81 </a:t>
            </a:r>
            <a:r>
              <a:rPr lang="en-US" dirty="0">
                <a:solidFill>
                  <a:srgbClr val="C00000"/>
                </a:solidFill>
              </a:rPr>
              <a:t>variables</a:t>
            </a:r>
            <a:r>
              <a:rPr lang="en-US" dirty="0"/>
              <a:t>: {A1, A2, ..., A9, I1, I2 , ...,  I9}</a:t>
            </a:r>
          </a:p>
          <a:p>
            <a:r>
              <a:rPr lang="en-US" dirty="0"/>
              <a:t>Empty squares </a:t>
            </a:r>
            <a:r>
              <a:rPr lang="en-US" dirty="0">
                <a:solidFill>
                  <a:srgbClr val="C00000"/>
                </a:solidFill>
              </a:rPr>
              <a:t>domain</a:t>
            </a:r>
            <a:r>
              <a:rPr lang="en-US" dirty="0"/>
              <a:t> : {1, 2, 3, 4, 5, 6, 7, 8, 9}</a:t>
            </a:r>
          </a:p>
          <a:p>
            <a:r>
              <a:rPr lang="en-US" dirty="0"/>
              <a:t>27 All different (Alldiff) </a:t>
            </a:r>
            <a:r>
              <a:rPr lang="en-US" dirty="0">
                <a:solidFill>
                  <a:srgbClr val="C00000"/>
                </a:solidFill>
              </a:rPr>
              <a:t>constraints</a:t>
            </a:r>
            <a:r>
              <a:rPr lang="en-US" dirty="0"/>
              <a:t>:</a:t>
            </a:r>
          </a:p>
          <a:p>
            <a:pPr lvl="1"/>
            <a:r>
              <a:rPr lang="en-US" dirty="0"/>
              <a:t>Rows:</a:t>
            </a:r>
          </a:p>
          <a:p>
            <a:pPr lvl="2">
              <a:buFont typeface="Wingdings" panose="05000000000000000000" pitchFamily="2" charset="2"/>
              <a:buChar char="§"/>
            </a:pPr>
            <a:r>
              <a:rPr lang="en-US" dirty="0"/>
              <a:t>Alldiff (A1, A2, A3, A4, A5, A6, A7, A8, A9)</a:t>
            </a:r>
          </a:p>
          <a:p>
            <a:pPr lvl="2">
              <a:buFont typeface="Wingdings" panose="05000000000000000000" pitchFamily="2" charset="2"/>
              <a:buChar char="§"/>
            </a:pPr>
            <a:r>
              <a:rPr lang="en-US" dirty="0"/>
              <a:t>Alldiff (B1, B2, B3, B4, B5, B6, B7, B8, B9)</a:t>
            </a:r>
          </a:p>
          <a:p>
            <a:pPr lvl="2">
              <a:buFont typeface="Wingdings" panose="05000000000000000000" pitchFamily="2" charset="2"/>
              <a:buChar char="§"/>
            </a:pPr>
            <a:r>
              <a:rPr lang="en-US" dirty="0"/>
              <a:t>···</a:t>
            </a:r>
          </a:p>
          <a:p>
            <a:pPr lvl="1"/>
            <a:r>
              <a:rPr lang="en-US" dirty="0"/>
              <a:t>Columns:</a:t>
            </a:r>
          </a:p>
          <a:p>
            <a:pPr lvl="2">
              <a:buFont typeface="Wingdings" panose="05000000000000000000" pitchFamily="2" charset="2"/>
              <a:buChar char="§"/>
            </a:pPr>
            <a:r>
              <a:rPr lang="en-US" dirty="0"/>
              <a:t>Alldiﬀ (A1, B1, C1, D1, E1, F1, G1, H1, I1)</a:t>
            </a:r>
          </a:p>
          <a:p>
            <a:pPr lvl="2">
              <a:buFont typeface="Wingdings" panose="05000000000000000000" pitchFamily="2" charset="2"/>
              <a:buChar char="§"/>
            </a:pPr>
            <a:r>
              <a:rPr lang="en-US" dirty="0"/>
              <a:t>Alldiﬀ (A2, B2, C2, D2, E2, F2, G2, H2, I2)</a:t>
            </a:r>
          </a:p>
          <a:p>
            <a:pPr lvl="2">
              <a:buFont typeface="Wingdings" panose="05000000000000000000" pitchFamily="2" charset="2"/>
              <a:buChar char="§"/>
            </a:pPr>
            <a:r>
              <a:rPr lang="en-US" dirty="0"/>
              <a:t>···</a:t>
            </a:r>
          </a:p>
          <a:p>
            <a:pPr lvl="1"/>
            <a:r>
              <a:rPr lang="en-US" dirty="0"/>
              <a:t>3x3 sub-grids</a:t>
            </a:r>
          </a:p>
          <a:p>
            <a:pPr lvl="2">
              <a:buFont typeface="Wingdings" panose="05000000000000000000" pitchFamily="2" charset="2"/>
              <a:buChar char="§"/>
            </a:pPr>
            <a:r>
              <a:rPr lang="en-US" dirty="0"/>
              <a:t>Alldiﬀ (A1, A2, A3, B1, B2, B3, C1, C2, C3)</a:t>
            </a:r>
          </a:p>
          <a:p>
            <a:pPr lvl="2">
              <a:buFont typeface="Wingdings" panose="05000000000000000000" pitchFamily="2" charset="2"/>
              <a:buChar char="§"/>
            </a:pPr>
            <a:r>
              <a:rPr lang="en-US" dirty="0"/>
              <a:t>Alldiﬀ (A4, A5, A6, B4, B5, B6, C4, C5, C6)</a:t>
            </a:r>
          </a:p>
          <a:p>
            <a:endParaRPr lang="en-US" dirty="0"/>
          </a:p>
        </p:txBody>
      </p:sp>
      <p:sp>
        <p:nvSpPr>
          <p:cNvPr id="4" name="Date Placeholder 3"/>
          <p:cNvSpPr>
            <a:spLocks noGrp="1"/>
          </p:cNvSpPr>
          <p:nvPr>
            <p:ph type="dt" sz="half" idx="10"/>
          </p:nvPr>
        </p:nvSpPr>
        <p:spPr/>
        <p:txBody>
          <a:bodyPr/>
          <a:lstStyle/>
          <a:p>
            <a:fld id="{781EF207-ACAA-40B3-B2EE-E699742DB025}"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85</a:t>
            </a:fld>
            <a:endParaRPr lang="en-US" dirty="0"/>
          </a:p>
        </p:txBody>
      </p:sp>
      <p:pic>
        <p:nvPicPr>
          <p:cNvPr id="7" name="Content Placeholder 12" descr="Text&#10;&#10;Description automatically generated with medium confidence">
            <a:extLst>
              <a:ext uri="{FF2B5EF4-FFF2-40B4-BE49-F238E27FC236}">
                <a16:creationId xmlns:a16="http://schemas.microsoft.com/office/drawing/2014/main" id="{B22B5A56-43D3-4A9F-AECA-0CBB26BDF73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36963" y="1438872"/>
            <a:ext cx="4350237" cy="4400098"/>
          </a:xfrm>
          <a:prstGeom prst="rect">
            <a:avLst/>
          </a:prstGeom>
        </p:spPr>
      </p:pic>
    </p:spTree>
    <p:extLst>
      <p:ext uri="{BB962C8B-B14F-4D97-AF65-F5344CB8AC3E}">
        <p14:creationId xmlns:p14="http://schemas.microsoft.com/office/powerpoint/2010/main" val="221616382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4: Sudoku Puzzle - Model</a:t>
            </a:r>
          </a:p>
        </p:txBody>
      </p:sp>
      <p:sp>
        <p:nvSpPr>
          <p:cNvPr id="3" name="Content Placeholder 2"/>
          <p:cNvSpPr>
            <a:spLocks noGrp="1"/>
          </p:cNvSpPr>
          <p:nvPr>
            <p:ph idx="1"/>
          </p:nvPr>
        </p:nvSpPr>
        <p:spPr>
          <a:xfrm>
            <a:off x="304800" y="1228153"/>
            <a:ext cx="7113431" cy="5021979"/>
          </a:xfrm>
        </p:spPr>
        <p:txBody>
          <a:bodyPr/>
          <a:lstStyle/>
          <a:p>
            <a:r>
              <a:rPr lang="en-US" dirty="0"/>
              <a:t>We can solve the problem by using generate-and-test method, but it will take </a:t>
            </a:r>
            <a:r>
              <a:rPr lang="en-US" dirty="0">
                <a:solidFill>
                  <a:srgbClr val="FF0000"/>
                </a:solidFill>
              </a:rPr>
              <a:t>9</a:t>
            </a:r>
            <a:r>
              <a:rPr lang="en-US" baseline="30000" dirty="0">
                <a:solidFill>
                  <a:srgbClr val="FF0000"/>
                </a:solidFill>
              </a:rPr>
              <a:t>n</a:t>
            </a:r>
            <a:r>
              <a:rPr lang="en-US" dirty="0"/>
              <a:t>, where </a:t>
            </a:r>
            <a:r>
              <a:rPr lang="en-US" dirty="0">
                <a:solidFill>
                  <a:srgbClr val="FF0000"/>
                </a:solidFill>
              </a:rPr>
              <a:t>n</a:t>
            </a:r>
            <a:r>
              <a:rPr lang="en-US" dirty="0"/>
              <a:t> is the number of unfilled boxes</a:t>
            </a:r>
          </a:p>
          <a:p>
            <a:pPr lvl="1"/>
            <a:r>
              <a:rPr lang="en-US" dirty="0"/>
              <a:t>In this example, it is </a:t>
            </a:r>
            <a:r>
              <a:rPr lang="en-US" dirty="0">
                <a:solidFill>
                  <a:srgbClr val="FF0000"/>
                </a:solidFill>
              </a:rPr>
              <a:t>9</a:t>
            </a:r>
            <a:r>
              <a:rPr lang="en-US" baseline="30000" dirty="0">
                <a:solidFill>
                  <a:srgbClr val="FF0000"/>
                </a:solidFill>
              </a:rPr>
              <a:t>49</a:t>
            </a:r>
            <a:r>
              <a:rPr lang="en-US" dirty="0"/>
              <a:t>=5.7x10</a:t>
            </a:r>
            <a:r>
              <a:rPr lang="en-US" baseline="30000" dirty="0"/>
              <a:t>46</a:t>
            </a:r>
          </a:p>
          <a:p>
            <a:r>
              <a:rPr lang="en-US" dirty="0"/>
              <a:t>Using constraint satisfaction problem, we can reduce the time.</a:t>
            </a:r>
          </a:p>
          <a:p>
            <a:endParaRPr lang="en-US" dirty="0"/>
          </a:p>
        </p:txBody>
      </p:sp>
      <p:sp>
        <p:nvSpPr>
          <p:cNvPr id="4" name="Date Placeholder 3"/>
          <p:cNvSpPr>
            <a:spLocks noGrp="1"/>
          </p:cNvSpPr>
          <p:nvPr>
            <p:ph type="dt" sz="half" idx="10"/>
          </p:nvPr>
        </p:nvSpPr>
        <p:spPr/>
        <p:txBody>
          <a:bodyPr/>
          <a:lstStyle/>
          <a:p>
            <a:fld id="{F4597FBC-3D81-4123-8487-35E16A319BF7}"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86</a:t>
            </a:fld>
            <a:endParaRPr lang="en-US" dirty="0"/>
          </a:p>
        </p:txBody>
      </p:sp>
      <p:pic>
        <p:nvPicPr>
          <p:cNvPr id="7" name="Content Placeholder 12" descr="Text&#10;&#10;Description automatically generated with medium confidence">
            <a:extLst>
              <a:ext uri="{FF2B5EF4-FFF2-40B4-BE49-F238E27FC236}">
                <a16:creationId xmlns:a16="http://schemas.microsoft.com/office/drawing/2014/main" id="{40BBE3EF-C3D7-40EF-8394-499CEF7E280F}"/>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36963" y="1438872"/>
            <a:ext cx="4350237" cy="4400098"/>
          </a:xfrm>
          <a:prstGeom prst="rect">
            <a:avLst/>
          </a:prstGeom>
        </p:spPr>
      </p:pic>
    </p:spTree>
    <p:extLst>
      <p:ext uri="{BB962C8B-B14F-4D97-AF65-F5344CB8AC3E}">
        <p14:creationId xmlns:p14="http://schemas.microsoft.com/office/powerpoint/2010/main" val="14360857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4: Sudoku Puzzle - Model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For CSP we define the following:  </a:t>
                </a:r>
              </a:p>
              <a:p>
                <a:pPr lvl="1"/>
                <a:r>
                  <a:rPr lang="en-US" dirty="0"/>
                  <a:t>The </a:t>
                </a:r>
                <a:r>
                  <a:rPr lang="en-US" dirty="0">
                    <a:solidFill>
                      <a:srgbClr val="C00000"/>
                    </a:solidFill>
                  </a:rPr>
                  <a:t>variables</a:t>
                </a:r>
                <a:r>
                  <a:rPr lang="en-US" dirty="0"/>
                  <a:t> are the empty squares</a:t>
                </a:r>
              </a:p>
              <a:p>
                <a:pPr lvl="1"/>
                <a:r>
                  <a:rPr lang="en-US" dirty="0"/>
                  <a:t>The </a:t>
                </a:r>
                <a:r>
                  <a:rPr lang="en-US" dirty="0">
                    <a:solidFill>
                      <a:srgbClr val="C00000"/>
                    </a:solidFill>
                  </a:rPr>
                  <a:t>domain</a:t>
                </a:r>
                <a:r>
                  <a:rPr lang="en-US" dirty="0"/>
                  <a:t> of each variable is {1,2,3,4,5,6,7,8,9}</a:t>
                </a:r>
              </a:p>
              <a:p>
                <a:r>
                  <a:rPr lang="en-US" dirty="0"/>
                  <a:t>The </a:t>
                </a:r>
                <a:r>
                  <a:rPr lang="en-US" dirty="0">
                    <a:solidFill>
                      <a:srgbClr val="C00000"/>
                    </a:solidFill>
                  </a:rPr>
                  <a:t>constraints</a:t>
                </a:r>
                <a:r>
                  <a:rPr lang="en-US" dirty="0"/>
                  <a:t> are:</a:t>
                </a:r>
              </a:p>
              <a:p>
                <a:pPr lvl="1"/>
                <a:r>
                  <a:rPr lang="en-US" dirty="0"/>
                  <a:t>Each numerical digit in a row is unique or we write formally  </a:t>
                </a:r>
              </a:p>
              <a:p>
                <a:pPr lvl="2"/>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𝑖</m:t>
                    </m:r>
                    <m:r>
                      <a:rPr lang="en-US" i="1" dirty="0">
                        <a:latin typeface="Cambria Math" panose="02040503050406030204" pitchFamily="18" charset="0"/>
                      </a:rPr>
                      <m:t>∈{1,…,9}  </m:t>
                    </m:r>
                  </m:oMath>
                </a14:m>
                <a:r>
                  <a:rPr lang="en-US" dirty="0" err="1"/>
                  <a:t>Alldifferent</a:t>
                </a:r>
                <a:r>
                  <a:rPr lang="en-US" dirty="0"/>
                  <a:t> </a:t>
                </a:r>
                <a14:m>
                  <m:oMath xmlns:m="http://schemas.openxmlformats.org/officeDocument/2006/math">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𝑖</m:t>
                        </m:r>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𝑖</m:t>
                        </m:r>
                        <m:r>
                          <a:rPr lang="en-US" i="1" dirty="0">
                            <a:latin typeface="Cambria Math" panose="02040503050406030204" pitchFamily="18" charset="0"/>
                          </a:rPr>
                          <m:t>2</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𝑖</m:t>
                        </m:r>
                        <m:r>
                          <a:rPr lang="en-US" i="1" dirty="0">
                            <a:latin typeface="Cambria Math" panose="02040503050406030204" pitchFamily="18" charset="0"/>
                          </a:rPr>
                          <m:t>9</m:t>
                        </m:r>
                      </m:sub>
                    </m:sSub>
                    <m:r>
                      <a:rPr lang="en-US" i="1" dirty="0">
                        <a:latin typeface="Cambria Math" panose="02040503050406030204" pitchFamily="18" charset="0"/>
                      </a:rPr>
                      <m:t>}</m:t>
                    </m:r>
                  </m:oMath>
                </a14:m>
                <a:endParaRPr lang="en-US" dirty="0"/>
              </a:p>
              <a:p>
                <a:pPr lvl="1"/>
                <a:r>
                  <a:rPr lang="en-US" dirty="0"/>
                  <a:t>Each numerical digit in a column is unique or we write formally</a:t>
                </a:r>
              </a:p>
              <a:p>
                <a:pPr lvl="2"/>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𝑗</m:t>
                    </m:r>
                    <m:r>
                      <a:rPr lang="en-US" i="1" dirty="0">
                        <a:latin typeface="Cambria Math" panose="02040503050406030204" pitchFamily="18" charset="0"/>
                      </a:rPr>
                      <m:t>∈{1,…,9}</m:t>
                    </m:r>
                  </m:oMath>
                </a14:m>
                <a:r>
                  <a:rPr lang="en-US" dirty="0"/>
                  <a:t> </a:t>
                </a:r>
                <a:r>
                  <a:rPr lang="en-US" dirty="0" err="1"/>
                  <a:t>Alldifferent</a:t>
                </a:r>
                <a:r>
                  <a:rPr lang="en-US" dirty="0"/>
                  <a:t> </a:t>
                </a:r>
                <a14:m>
                  <m:oMath xmlns:m="http://schemas.openxmlformats.org/officeDocument/2006/math">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1</m:t>
                        </m:r>
                        <m:r>
                          <a:rPr lang="en-US" i="1" dirty="0">
                            <a:latin typeface="Cambria Math" panose="02040503050406030204" pitchFamily="18" charset="0"/>
                          </a:rPr>
                          <m:t>𝑗</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2</m:t>
                        </m:r>
                        <m:r>
                          <a:rPr lang="en-US" i="1" dirty="0">
                            <a:latin typeface="Cambria Math" panose="02040503050406030204" pitchFamily="18" charset="0"/>
                          </a:rPr>
                          <m:t>𝑗</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9</m:t>
                        </m:r>
                        <m:r>
                          <a:rPr lang="en-US" i="1" dirty="0">
                            <a:latin typeface="Cambria Math" panose="02040503050406030204" pitchFamily="18" charset="0"/>
                          </a:rPr>
                          <m:t>𝑗</m:t>
                        </m:r>
                      </m:sub>
                    </m:sSub>
                    <m:r>
                      <a:rPr lang="en-US" i="1" dirty="0">
                        <a:latin typeface="Cambria Math" panose="02040503050406030204" pitchFamily="18" charset="0"/>
                      </a:rPr>
                      <m:t>}</m:t>
                    </m:r>
                  </m:oMath>
                </a14:m>
                <a:endParaRPr lang="en-US" dirty="0"/>
              </a:p>
              <a:p>
                <a:pPr lvl="1"/>
                <a:r>
                  <a:rPr lang="en-US" dirty="0"/>
                  <a:t>Each numerical digit in a sub-grid is unique or we write formally</a:t>
                </a:r>
              </a:p>
              <a:p>
                <a:pPr lvl="2">
                  <a:lnSpc>
                    <a:spcPct val="120000"/>
                  </a:lnSpc>
                </a:pPr>
                <a14:m>
                  <m:oMath xmlns:m="http://schemas.openxmlformats.org/officeDocument/2006/math">
                    <m:r>
                      <a:rPr lang="en-US">
                        <a:latin typeface="Cambria Math" panose="02040503050406030204" pitchFamily="18" charset="0"/>
                      </a:rPr>
                      <m:t>∀</m:t>
                    </m:r>
                    <m:r>
                      <a:rPr lang="en-US" i="1">
                        <a:latin typeface="Cambria Math" panose="02040503050406030204" pitchFamily="18" charset="0"/>
                      </a:rPr>
                      <m:t>𝑖</m:t>
                    </m:r>
                    <m:r>
                      <a:rPr lang="en-US">
                        <a:latin typeface="Cambria Math" panose="02040503050406030204" pitchFamily="18" charset="0"/>
                      </a:rPr>
                      <m:t>,</m:t>
                    </m:r>
                    <m:r>
                      <a:rPr lang="en-US" i="1">
                        <a:latin typeface="Cambria Math" panose="02040503050406030204" pitchFamily="18" charset="0"/>
                      </a:rPr>
                      <m:t>𝑗</m:t>
                    </m:r>
                  </m:oMath>
                </a14:m>
                <a:r>
                  <a:rPr lang="en-US" dirty="0"/>
                  <a:t> </a:t>
                </a:r>
                <a:r>
                  <a:rPr lang="en-US" dirty="0" err="1"/>
                  <a:t>Alldifferent</a:t>
                </a: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a:latin typeface="Cambria Math" panose="02040503050406030204" pitchFamily="18" charset="0"/>
                          </a:rPr>
                          <m:t>(</m:t>
                        </m:r>
                        <m:r>
                          <a:rPr lang="en-US" i="1">
                            <a:latin typeface="Cambria Math" panose="02040503050406030204" pitchFamily="18" charset="0"/>
                          </a:rPr>
                          <m:t>𝑗</m:t>
                        </m:r>
                        <m:r>
                          <a:rPr lang="en-US">
                            <a:latin typeface="Cambria Math" panose="02040503050406030204" pitchFamily="18" charset="0"/>
                          </a:rPr>
                          <m:t>+1)</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a:latin typeface="Cambria Math" panose="02040503050406030204" pitchFamily="18" charset="0"/>
                          </a:rPr>
                          <m:t>(</m:t>
                        </m:r>
                        <m:r>
                          <a:rPr lang="en-US" i="1">
                            <a:latin typeface="Cambria Math" panose="02040503050406030204" pitchFamily="18" charset="0"/>
                          </a:rPr>
                          <m:t>𝑗</m:t>
                        </m:r>
                        <m:r>
                          <a:rPr lang="en-US">
                            <a:latin typeface="Cambria Math" panose="02040503050406030204" pitchFamily="18" charset="0"/>
                          </a:rPr>
                          <m:t>+2)</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a:latin typeface="Cambria Math" panose="02040503050406030204" pitchFamily="18" charset="0"/>
                          </a:rPr>
                          <m:t>(</m:t>
                        </m:r>
                        <m:r>
                          <a:rPr lang="en-US" i="1">
                            <a:latin typeface="Cambria Math" panose="02040503050406030204" pitchFamily="18" charset="0"/>
                          </a:rPr>
                          <m:t>𝑖</m:t>
                        </m:r>
                        <m:r>
                          <a:rPr lang="en-US">
                            <a:latin typeface="Cambria Math" panose="02040503050406030204" pitchFamily="18" charset="0"/>
                          </a:rPr>
                          <m:t>+1)</m:t>
                        </m:r>
                        <m:r>
                          <a:rPr lang="en-US" i="1">
                            <a:latin typeface="Cambria Math" panose="02040503050406030204" pitchFamily="18" charset="0"/>
                          </a:rPr>
                          <m:t>𝑗</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a:latin typeface="Cambria Math" panose="02040503050406030204" pitchFamily="18" charset="0"/>
                          </a:rPr>
                          <m:t>(</m:t>
                        </m:r>
                        <m:r>
                          <a:rPr lang="en-US" i="1">
                            <a:latin typeface="Cambria Math" panose="02040503050406030204" pitchFamily="18" charset="0"/>
                          </a:rPr>
                          <m:t>𝑖</m:t>
                        </m:r>
                        <m:r>
                          <a:rPr lang="en-US">
                            <a:latin typeface="Cambria Math" panose="02040503050406030204" pitchFamily="18" charset="0"/>
                          </a:rPr>
                          <m:t>+1)(</m:t>
                        </m:r>
                        <m:r>
                          <a:rPr lang="en-US" i="1">
                            <a:latin typeface="Cambria Math" panose="02040503050406030204" pitchFamily="18" charset="0"/>
                          </a:rPr>
                          <m:t>𝑗</m:t>
                        </m:r>
                        <m:r>
                          <a:rPr lang="en-US">
                            <a:latin typeface="Cambria Math" panose="02040503050406030204" pitchFamily="18" charset="0"/>
                          </a:rPr>
                          <m:t>+1)</m:t>
                        </m:r>
                      </m:sub>
                    </m:sSub>
                    <m:r>
                      <a:rPr lang="en-US">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a:latin typeface="Cambria Math" panose="02040503050406030204" pitchFamily="18" charset="0"/>
                          </a:rPr>
                          <m:t>(</m:t>
                        </m:r>
                        <m:r>
                          <a:rPr lang="en-US" i="1">
                            <a:latin typeface="Cambria Math" panose="02040503050406030204" pitchFamily="18" charset="0"/>
                          </a:rPr>
                          <m:t>𝑖</m:t>
                        </m:r>
                        <m:r>
                          <a:rPr lang="en-US">
                            <a:latin typeface="Cambria Math" panose="02040503050406030204" pitchFamily="18" charset="0"/>
                          </a:rPr>
                          <m:t>+1)(</m:t>
                        </m:r>
                        <m:r>
                          <a:rPr lang="en-US" i="1">
                            <a:latin typeface="Cambria Math" panose="02040503050406030204" pitchFamily="18" charset="0"/>
                          </a:rPr>
                          <m:t>𝑗</m:t>
                        </m:r>
                        <m:r>
                          <a:rPr lang="en-US">
                            <a:latin typeface="Cambria Math" panose="02040503050406030204" pitchFamily="18" charset="0"/>
                          </a:rPr>
                          <m:t>+2)</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a:latin typeface="Cambria Math" panose="02040503050406030204" pitchFamily="18" charset="0"/>
                          </a:rPr>
                          <m:t>(</m:t>
                        </m:r>
                        <m:r>
                          <a:rPr lang="en-US" i="1">
                            <a:latin typeface="Cambria Math" panose="02040503050406030204" pitchFamily="18" charset="0"/>
                          </a:rPr>
                          <m:t>𝑖</m:t>
                        </m:r>
                        <m:r>
                          <a:rPr lang="en-US">
                            <a:latin typeface="Cambria Math" panose="02040503050406030204" pitchFamily="18" charset="0"/>
                          </a:rPr>
                          <m:t>+2)</m:t>
                        </m:r>
                        <m:r>
                          <a:rPr lang="en-US" i="1">
                            <a:latin typeface="Cambria Math" panose="02040503050406030204" pitchFamily="18" charset="0"/>
                          </a:rPr>
                          <m:t>𝑗</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a:latin typeface="Cambria Math" panose="02040503050406030204" pitchFamily="18" charset="0"/>
                          </a:rPr>
                          <m:t>(</m:t>
                        </m:r>
                        <m:r>
                          <a:rPr lang="en-US" i="1">
                            <a:latin typeface="Cambria Math" panose="02040503050406030204" pitchFamily="18" charset="0"/>
                          </a:rPr>
                          <m:t>𝑖</m:t>
                        </m:r>
                        <m:r>
                          <a:rPr lang="en-US">
                            <a:latin typeface="Cambria Math" panose="02040503050406030204" pitchFamily="18" charset="0"/>
                          </a:rPr>
                          <m:t>+2)(</m:t>
                        </m:r>
                        <m:r>
                          <a:rPr lang="en-US" i="1">
                            <a:latin typeface="Cambria Math" panose="02040503050406030204" pitchFamily="18" charset="0"/>
                          </a:rPr>
                          <m:t>𝑗</m:t>
                        </m:r>
                        <m:r>
                          <a:rPr lang="en-US">
                            <a:latin typeface="Cambria Math" panose="02040503050406030204" pitchFamily="18" charset="0"/>
                          </a:rPr>
                          <m:t>+1)</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a:latin typeface="Cambria Math" panose="02040503050406030204" pitchFamily="18" charset="0"/>
                          </a:rPr>
                          <m:t>(</m:t>
                        </m:r>
                        <m:r>
                          <a:rPr lang="en-US" i="1">
                            <a:latin typeface="Cambria Math" panose="02040503050406030204" pitchFamily="18" charset="0"/>
                          </a:rPr>
                          <m:t>𝑖</m:t>
                        </m:r>
                        <m:r>
                          <a:rPr lang="en-US">
                            <a:latin typeface="Cambria Math" panose="02040503050406030204" pitchFamily="18" charset="0"/>
                          </a:rPr>
                          <m:t>+2)(</m:t>
                        </m:r>
                        <m:r>
                          <a:rPr lang="en-US" i="1">
                            <a:latin typeface="Cambria Math" panose="02040503050406030204" pitchFamily="18" charset="0"/>
                          </a:rPr>
                          <m:t>𝑗</m:t>
                        </m:r>
                        <m:r>
                          <a:rPr lang="en-US">
                            <a:latin typeface="Cambria Math" panose="02040503050406030204" pitchFamily="18" charset="0"/>
                          </a:rPr>
                          <m:t>+2)</m:t>
                        </m:r>
                      </m:sub>
                    </m:sSub>
                  </m:oMath>
                </a14:m>
                <a:r>
                  <a:rPr lang="en-US" dirty="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68" t="-3519" b="-1214"/>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3139C75A-08B1-4219-9494-F02E20536ABF}"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87</a:t>
            </a:fld>
            <a:endParaRPr lang="en-US" dirty="0"/>
          </a:p>
        </p:txBody>
      </p:sp>
      <p:pic>
        <p:nvPicPr>
          <p:cNvPr id="7" name="Content Placeholder 12" descr="Text&#10;&#10;Description automatically generated with medium confidence">
            <a:extLst>
              <a:ext uri="{FF2B5EF4-FFF2-40B4-BE49-F238E27FC236}">
                <a16:creationId xmlns:a16="http://schemas.microsoft.com/office/drawing/2014/main" id="{40BBE3EF-C3D7-40EF-8394-499CEF7E280F}"/>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30409" y="1228153"/>
            <a:ext cx="1856792" cy="1878074"/>
          </a:xfrm>
          <a:prstGeom prst="rect">
            <a:avLst/>
          </a:prstGeom>
        </p:spPr>
      </p:pic>
    </p:spTree>
    <p:extLst>
      <p:ext uri="{BB962C8B-B14F-4D97-AF65-F5344CB8AC3E}">
        <p14:creationId xmlns:p14="http://schemas.microsoft.com/office/powerpoint/2010/main" val="195042050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4: Sudoku Puzzle - Model</a:t>
            </a:r>
          </a:p>
        </p:txBody>
      </p:sp>
      <p:sp>
        <p:nvSpPr>
          <p:cNvPr id="3" name="Content Placeholder 2"/>
          <p:cNvSpPr>
            <a:spLocks noGrp="1"/>
          </p:cNvSpPr>
          <p:nvPr>
            <p:ph idx="1"/>
          </p:nvPr>
        </p:nvSpPr>
        <p:spPr>
          <a:xfrm>
            <a:off x="304800" y="1228153"/>
            <a:ext cx="7113431" cy="5021979"/>
          </a:xfrm>
        </p:spPr>
        <p:txBody>
          <a:bodyPr>
            <a:normAutofit lnSpcReduction="10000"/>
          </a:bodyPr>
          <a:lstStyle/>
          <a:p>
            <a:r>
              <a:rPr lang="en-US" dirty="0"/>
              <a:t>We can define the domain of 𝐴1={1,2,3,4,5,6,7,8,9} and apply the following constraints:</a:t>
            </a:r>
          </a:p>
          <a:p>
            <a:pPr lvl="1"/>
            <a:r>
              <a:rPr lang="en-US" dirty="0"/>
              <a:t>Row constraint 𝐴1≠{3,2,6}</a:t>
            </a:r>
          </a:p>
          <a:p>
            <a:pPr lvl="1"/>
            <a:r>
              <a:rPr lang="en-US" dirty="0"/>
              <a:t>Column constraint 𝐴1≠{9,7,8}</a:t>
            </a:r>
          </a:p>
          <a:p>
            <a:pPr lvl="1"/>
            <a:r>
              <a:rPr lang="en-US" dirty="0"/>
              <a:t>Sub-grid constraint 𝐴1≠{3,9,1}</a:t>
            </a:r>
          </a:p>
          <a:p>
            <a:r>
              <a:rPr lang="en-US" dirty="0"/>
              <a:t>This </a:t>
            </a:r>
            <a:r>
              <a:rPr lang="en-US" dirty="0">
                <a:solidFill>
                  <a:srgbClr val="C00000"/>
                </a:solidFill>
              </a:rPr>
              <a:t>reduces the domain </a:t>
            </a:r>
            <a:r>
              <a:rPr lang="en-US" dirty="0"/>
              <a:t>of A1 to {4,5}</a:t>
            </a:r>
          </a:p>
          <a:p>
            <a:r>
              <a:rPr lang="en-US" dirty="0"/>
              <a:t>We keep doing this for the remaining cells and then solve the CSP problem using backtracking.</a:t>
            </a:r>
          </a:p>
          <a:p>
            <a:endParaRPr lang="en-US" dirty="0"/>
          </a:p>
        </p:txBody>
      </p:sp>
      <p:sp>
        <p:nvSpPr>
          <p:cNvPr id="4" name="Date Placeholder 3"/>
          <p:cNvSpPr>
            <a:spLocks noGrp="1"/>
          </p:cNvSpPr>
          <p:nvPr>
            <p:ph type="dt" sz="half" idx="10"/>
          </p:nvPr>
        </p:nvSpPr>
        <p:spPr/>
        <p:txBody>
          <a:bodyPr/>
          <a:lstStyle/>
          <a:p>
            <a:fld id="{F42049E7-CC81-485C-B855-58F4E03B73E2}"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88</a:t>
            </a:fld>
            <a:endParaRPr lang="en-US" dirty="0"/>
          </a:p>
        </p:txBody>
      </p:sp>
      <p:pic>
        <p:nvPicPr>
          <p:cNvPr id="7" name="Content Placeholder 12" descr="Text&#10;&#10;Description automatically generated with medium confidence">
            <a:extLst>
              <a:ext uri="{FF2B5EF4-FFF2-40B4-BE49-F238E27FC236}">
                <a16:creationId xmlns:a16="http://schemas.microsoft.com/office/drawing/2014/main" id="{40BBE3EF-C3D7-40EF-8394-499CEF7E280F}"/>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418231" y="1438871"/>
            <a:ext cx="4468969" cy="4520191"/>
          </a:xfrm>
          <a:prstGeom prst="rect">
            <a:avLst/>
          </a:prstGeom>
        </p:spPr>
      </p:pic>
    </p:spTree>
    <p:extLst>
      <p:ext uri="{BB962C8B-B14F-4D97-AF65-F5344CB8AC3E}">
        <p14:creationId xmlns:p14="http://schemas.microsoft.com/office/powerpoint/2010/main" val="288290880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Example 4: Sudoku Puzzle – Implementation </a:t>
            </a:r>
          </a:p>
        </p:txBody>
      </p:sp>
      <p:sp>
        <p:nvSpPr>
          <p:cNvPr id="3" name="Content Placeholder 2"/>
          <p:cNvSpPr>
            <a:spLocks noGrp="1"/>
          </p:cNvSpPr>
          <p:nvPr>
            <p:ph idx="1"/>
          </p:nvPr>
        </p:nvSpPr>
        <p:spPr>
          <a:xfrm>
            <a:off x="304800" y="1228153"/>
            <a:ext cx="11582400" cy="489197"/>
          </a:xfrm>
        </p:spPr>
        <p:txBody>
          <a:bodyPr>
            <a:normAutofit fontScale="92500" lnSpcReduction="10000"/>
          </a:bodyPr>
          <a:lstStyle/>
          <a:p>
            <a:r>
              <a:rPr lang="en-US" dirty="0"/>
              <a:t>The solution is then: </a:t>
            </a:r>
          </a:p>
          <a:p>
            <a:endParaRPr lang="en-US" dirty="0"/>
          </a:p>
        </p:txBody>
      </p:sp>
      <p:sp>
        <p:nvSpPr>
          <p:cNvPr id="4" name="Date Placeholder 3"/>
          <p:cNvSpPr>
            <a:spLocks noGrp="1"/>
          </p:cNvSpPr>
          <p:nvPr>
            <p:ph type="dt" sz="half" idx="10"/>
          </p:nvPr>
        </p:nvSpPr>
        <p:spPr/>
        <p:txBody>
          <a:bodyPr/>
          <a:lstStyle/>
          <a:p>
            <a:fld id="{D4735541-E2B3-4146-B5AB-C29D774B08E7}"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89</a:t>
            </a:fld>
            <a:endParaRPr lang="en-US" dirty="0"/>
          </a:p>
        </p:txBody>
      </p:sp>
      <p:pic>
        <p:nvPicPr>
          <p:cNvPr id="7" name="Content Placeholder 12" descr="Text&#10;&#10;Description automatically generated with medium confidence">
            <a:extLst>
              <a:ext uri="{FF2B5EF4-FFF2-40B4-BE49-F238E27FC236}">
                <a16:creationId xmlns:a16="http://schemas.microsoft.com/office/drawing/2014/main" id="{6FD4B5AB-6216-40E5-ABAD-A5D8937B3FA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03892" y="1635665"/>
            <a:ext cx="4350237" cy="4400098"/>
          </a:xfrm>
          <a:prstGeom prst="rect">
            <a:avLst/>
          </a:prstGeom>
        </p:spPr>
      </p:pic>
      <p:pic>
        <p:nvPicPr>
          <p:cNvPr id="8" name="Content Placeholder 14" descr="Text&#10;&#10;Description automatically generated">
            <a:extLst>
              <a:ext uri="{FF2B5EF4-FFF2-40B4-BE49-F238E27FC236}">
                <a16:creationId xmlns:a16="http://schemas.microsoft.com/office/drawing/2014/main" id="{291B192D-AE1F-44F1-A7D6-BBABC984747E}"/>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108045" y="1568535"/>
            <a:ext cx="4437921" cy="4400097"/>
          </a:xfrm>
          <a:prstGeom prst="rect">
            <a:avLst/>
          </a:prstGeom>
        </p:spPr>
      </p:pic>
      <p:sp>
        <p:nvSpPr>
          <p:cNvPr id="10" name="Right Arrow 9"/>
          <p:cNvSpPr/>
          <p:nvPr/>
        </p:nvSpPr>
        <p:spPr>
          <a:xfrm>
            <a:off x="5962261" y="3610947"/>
            <a:ext cx="578498" cy="4105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65C03A38-26FC-4F90-AE16-ADEF32068DC3}"/>
              </a:ext>
            </a:extLst>
          </p:cNvPr>
          <p:cNvSpPr txBox="1"/>
          <p:nvPr/>
        </p:nvSpPr>
        <p:spPr>
          <a:xfrm>
            <a:off x="4951415" y="3108205"/>
            <a:ext cx="2600189" cy="369332"/>
          </a:xfrm>
          <a:prstGeom prst="rect">
            <a:avLst/>
          </a:prstGeom>
          <a:noFill/>
        </p:spPr>
        <p:txBody>
          <a:bodyPr wrap="square" rtlCol="0">
            <a:spAutoFit/>
          </a:bodyPr>
          <a:lstStyle/>
          <a:p>
            <a:r>
              <a:rPr lang="en-US" dirty="0">
                <a:solidFill>
                  <a:srgbClr val="FF0000"/>
                </a:solidFill>
              </a:rPr>
              <a:t>Solved by AC-3 alone</a:t>
            </a:r>
          </a:p>
        </p:txBody>
      </p:sp>
    </p:spTree>
    <p:extLst>
      <p:ext uri="{BB962C8B-B14F-4D97-AF65-F5344CB8AC3E}">
        <p14:creationId xmlns:p14="http://schemas.microsoft.com/office/powerpoint/2010/main" val="407982674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Sudoku Puzzle – Backtracking Example </a:t>
            </a:r>
          </a:p>
        </p:txBody>
      </p:sp>
      <p:sp>
        <p:nvSpPr>
          <p:cNvPr id="4" name="Date Placeholder 3"/>
          <p:cNvSpPr>
            <a:spLocks noGrp="1"/>
          </p:cNvSpPr>
          <p:nvPr>
            <p:ph type="dt" sz="half" idx="10"/>
          </p:nvPr>
        </p:nvSpPr>
        <p:spPr/>
        <p:txBody>
          <a:bodyPr/>
          <a:lstStyle/>
          <a:p>
            <a:fld id="{8FB0ADC5-5403-46D6-8317-2F4EBEB06A34}"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90</a:t>
            </a:fld>
            <a:endParaRPr lang="en-US" dirty="0"/>
          </a:p>
        </p:txBody>
      </p:sp>
      <p:pic>
        <p:nvPicPr>
          <p:cNvPr id="7" name="Content Placeholder 14" descr="A picture containing text, crossword puzzle&#10;&#10;Description automatically generated">
            <a:extLst>
              <a:ext uri="{FF2B5EF4-FFF2-40B4-BE49-F238E27FC236}">
                <a16:creationId xmlns:a16="http://schemas.microsoft.com/office/drawing/2014/main" id="{5607A604-03F0-401C-923A-7F5CFB7316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206" y="1656468"/>
            <a:ext cx="3860754" cy="3860754"/>
          </a:xfrm>
          <a:prstGeom prst="rect">
            <a:avLst/>
          </a:prstGeom>
        </p:spPr>
      </p:pic>
      <p:sp>
        <p:nvSpPr>
          <p:cNvPr id="9" name="TextBox 8">
            <a:extLst>
              <a:ext uri="{FF2B5EF4-FFF2-40B4-BE49-F238E27FC236}">
                <a16:creationId xmlns:a16="http://schemas.microsoft.com/office/drawing/2014/main" id="{AA66435C-7653-44D5-9436-9F838AB3E0D3}"/>
              </a:ext>
            </a:extLst>
          </p:cNvPr>
          <p:cNvSpPr txBox="1"/>
          <p:nvPr/>
        </p:nvSpPr>
        <p:spPr>
          <a:xfrm>
            <a:off x="399246" y="5925487"/>
            <a:ext cx="11243256" cy="430887"/>
          </a:xfrm>
          <a:prstGeom prst="rect">
            <a:avLst/>
          </a:prstGeom>
          <a:noFill/>
        </p:spPr>
        <p:txBody>
          <a:bodyPr wrap="square" rtlCol="0">
            <a:spAutoFit/>
          </a:bodyPr>
          <a:lstStyle/>
          <a:p>
            <a:r>
              <a:rPr lang="en-US" sz="1050" dirty="0">
                <a:hlinkClick r:id="rId4"/>
              </a:rPr>
              <a:t>https://sandipanweb.wordpress.com/2017/03/17/solving-sudoku-as-a-constraint-satisfaction-problem-using-constraint-propagation-with-arc-consistency-checking-and-then-backtracking-with-minimum-remaning-value-heuristic-and-forward-checking/</a:t>
            </a:r>
            <a:r>
              <a:rPr lang="en-US" sz="1050" dirty="0"/>
              <a:t> </a:t>
            </a:r>
          </a:p>
        </p:txBody>
      </p:sp>
      <p:pic>
        <p:nvPicPr>
          <p:cNvPr id="10" name="Content Placeholder 14" descr="A picture containing text, crossword puzzle&#10;&#10;Description automatically generated">
            <a:extLst>
              <a:ext uri="{FF2B5EF4-FFF2-40B4-BE49-F238E27FC236}">
                <a16:creationId xmlns:a16="http://schemas.microsoft.com/office/drawing/2014/main" id="{ACE276AA-49BE-4233-9295-BF074B53C7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503" y="1656468"/>
            <a:ext cx="3860754" cy="3860754"/>
          </a:xfrm>
          <a:prstGeom prst="rect">
            <a:avLst/>
          </a:prstGeom>
        </p:spPr>
      </p:pic>
      <p:sp>
        <p:nvSpPr>
          <p:cNvPr id="11" name="Right Arrow 9">
            <a:extLst>
              <a:ext uri="{FF2B5EF4-FFF2-40B4-BE49-F238E27FC236}">
                <a16:creationId xmlns:a16="http://schemas.microsoft.com/office/drawing/2014/main" id="{FF891210-8B0C-4865-B5DC-33121651BB30}"/>
              </a:ext>
            </a:extLst>
          </p:cNvPr>
          <p:cNvSpPr/>
          <p:nvPr/>
        </p:nvSpPr>
        <p:spPr>
          <a:xfrm>
            <a:off x="5582117" y="3446563"/>
            <a:ext cx="578498" cy="4105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A9824BAE-8A1A-4F87-80FB-C1CD181A8F8A}"/>
              </a:ext>
            </a:extLst>
          </p:cNvPr>
          <p:cNvSpPr txBox="1"/>
          <p:nvPr/>
        </p:nvSpPr>
        <p:spPr>
          <a:xfrm>
            <a:off x="4795905" y="2696820"/>
            <a:ext cx="2600189" cy="646331"/>
          </a:xfrm>
          <a:prstGeom prst="rect">
            <a:avLst/>
          </a:prstGeom>
          <a:noFill/>
        </p:spPr>
        <p:txBody>
          <a:bodyPr wrap="square" rtlCol="0">
            <a:spAutoFit/>
          </a:bodyPr>
          <a:lstStyle/>
          <a:p>
            <a:r>
              <a:rPr lang="en-US" dirty="0">
                <a:solidFill>
                  <a:srgbClr val="FF0000"/>
                </a:solidFill>
              </a:rPr>
              <a:t>After running AC-3, no variable was assigned</a:t>
            </a:r>
          </a:p>
        </p:txBody>
      </p:sp>
    </p:spTree>
    <p:extLst>
      <p:ext uri="{BB962C8B-B14F-4D97-AF65-F5344CB8AC3E}">
        <p14:creationId xmlns:p14="http://schemas.microsoft.com/office/powerpoint/2010/main" val="87494642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Sudoku – Tree </a:t>
            </a:r>
          </a:p>
        </p:txBody>
      </p:sp>
      <p:sp>
        <p:nvSpPr>
          <p:cNvPr id="3" name="Content Placeholder 2"/>
          <p:cNvSpPr>
            <a:spLocks noGrp="1"/>
          </p:cNvSpPr>
          <p:nvPr>
            <p:ph idx="1"/>
          </p:nvPr>
        </p:nvSpPr>
        <p:spPr/>
        <p:txBody>
          <a:bodyPr/>
          <a:lstStyle/>
          <a:p>
            <a:r>
              <a:rPr lang="en-US" dirty="0"/>
              <a:t>A typical tree constructed by a computer is shown below:</a:t>
            </a:r>
          </a:p>
          <a:p>
            <a:endParaRPr lang="en-US" dirty="0"/>
          </a:p>
        </p:txBody>
      </p:sp>
      <p:sp>
        <p:nvSpPr>
          <p:cNvPr id="4" name="Date Placeholder 3"/>
          <p:cNvSpPr>
            <a:spLocks noGrp="1"/>
          </p:cNvSpPr>
          <p:nvPr>
            <p:ph type="dt" sz="half" idx="10"/>
          </p:nvPr>
        </p:nvSpPr>
        <p:spPr/>
        <p:txBody>
          <a:bodyPr/>
          <a:lstStyle/>
          <a:p>
            <a:fld id="{48F9D1A7-ECB2-4F34-BCA2-67846B495195}"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91</a:t>
            </a:fld>
            <a:endParaRPr lang="en-US" dirty="0"/>
          </a:p>
        </p:txBody>
      </p:sp>
      <p:pic>
        <p:nvPicPr>
          <p:cNvPr id="7" name="Content Placeholder 10" descr="A picture containing chart&#10;&#10;Description automatically generated">
            <a:extLst>
              <a:ext uri="{FF2B5EF4-FFF2-40B4-BE49-F238E27FC236}">
                <a16:creationId xmlns:a16="http://schemas.microsoft.com/office/drawing/2014/main" id="{658C7E82-D4FE-4BDA-9534-634BFD4A1A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445275" y="-1347971"/>
            <a:ext cx="4380236" cy="10651582"/>
          </a:xfrm>
          <a:prstGeom prst="rect">
            <a:avLst/>
          </a:prstGeom>
        </p:spPr>
      </p:pic>
      <p:sp>
        <p:nvSpPr>
          <p:cNvPr id="13" name="TextBox 12">
            <a:extLst>
              <a:ext uri="{FF2B5EF4-FFF2-40B4-BE49-F238E27FC236}">
                <a16:creationId xmlns:a16="http://schemas.microsoft.com/office/drawing/2014/main" id="{A14E79CA-2C5E-4140-905B-3567A191AD4F}"/>
              </a:ext>
            </a:extLst>
          </p:cNvPr>
          <p:cNvSpPr txBox="1"/>
          <p:nvPr/>
        </p:nvSpPr>
        <p:spPr>
          <a:xfrm>
            <a:off x="533896" y="5362827"/>
            <a:ext cx="1312025" cy="646331"/>
          </a:xfrm>
          <a:prstGeom prst="rect">
            <a:avLst/>
          </a:prstGeom>
          <a:noFill/>
        </p:spPr>
        <p:txBody>
          <a:bodyPr wrap="square" rtlCol="0">
            <a:spAutoFit/>
          </a:bodyPr>
          <a:lstStyle/>
          <a:p>
            <a:r>
              <a:rPr lang="en-US" dirty="0">
                <a:solidFill>
                  <a:srgbClr val="FF0000"/>
                </a:solidFill>
              </a:rPr>
              <a:t>Search Tree Root</a:t>
            </a:r>
          </a:p>
        </p:txBody>
      </p:sp>
      <p:cxnSp>
        <p:nvCxnSpPr>
          <p:cNvPr id="15" name="Straight Arrow Connector 14">
            <a:extLst>
              <a:ext uri="{FF2B5EF4-FFF2-40B4-BE49-F238E27FC236}">
                <a16:creationId xmlns:a16="http://schemas.microsoft.com/office/drawing/2014/main" id="{07232B0F-DCFA-4084-9C53-C3CDCA13215A}"/>
              </a:ext>
            </a:extLst>
          </p:cNvPr>
          <p:cNvCxnSpPr/>
          <p:nvPr/>
        </p:nvCxnSpPr>
        <p:spPr>
          <a:xfrm>
            <a:off x="657545" y="6056957"/>
            <a:ext cx="48288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700817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Cryptarithmetic</a:t>
            </a:r>
          </a:p>
        </p:txBody>
      </p:sp>
      <p:sp>
        <p:nvSpPr>
          <p:cNvPr id="3" name="Content Placeholder 2"/>
          <p:cNvSpPr>
            <a:spLocks noGrp="1"/>
          </p:cNvSpPr>
          <p:nvPr>
            <p:ph idx="1"/>
          </p:nvPr>
        </p:nvSpPr>
        <p:spPr>
          <a:xfrm>
            <a:off x="304800" y="1228153"/>
            <a:ext cx="8079346" cy="5021979"/>
          </a:xfrm>
        </p:spPr>
        <p:txBody>
          <a:bodyPr>
            <a:normAutofit fontScale="92500" lnSpcReduction="20000"/>
          </a:bodyPr>
          <a:lstStyle/>
          <a:p>
            <a:r>
              <a:rPr lang="en-US" dirty="0"/>
              <a:t>Given the shown expression, </a:t>
            </a:r>
            <a:r>
              <a:rPr lang="en-US" dirty="0">
                <a:solidFill>
                  <a:schemeClr val="accent6">
                    <a:lumMod val="75000"/>
                  </a:schemeClr>
                </a:solidFill>
              </a:rPr>
              <a:t>Find the value of each letter</a:t>
            </a:r>
            <a:r>
              <a:rPr lang="en-US" dirty="0"/>
              <a:t> given the following:</a:t>
            </a:r>
          </a:p>
          <a:p>
            <a:pPr marL="819143" lvl="1" indent="-514350">
              <a:buFont typeface="+mj-lt"/>
              <a:buAutoNum type="arabicPeriod"/>
            </a:pPr>
            <a:r>
              <a:rPr lang="en-US" dirty="0"/>
              <a:t>Each letter should have a </a:t>
            </a:r>
            <a:r>
              <a:rPr lang="en-US" b="1" i="1" dirty="0"/>
              <a:t>unique</a:t>
            </a:r>
            <a:r>
              <a:rPr lang="en-US" dirty="0"/>
              <a:t> and distinct value.</a:t>
            </a:r>
          </a:p>
          <a:p>
            <a:pPr marL="819143" lvl="1" indent="-514350">
              <a:buFont typeface="+mj-lt"/>
              <a:buAutoNum type="arabicPeriod"/>
            </a:pPr>
            <a:r>
              <a:rPr lang="en-US" dirty="0"/>
              <a:t>Each letter represents </a:t>
            </a:r>
            <a:r>
              <a:rPr lang="en-US" b="1" i="1" dirty="0"/>
              <a:t>only one-digit </a:t>
            </a:r>
            <a:r>
              <a:rPr lang="en-US" dirty="0"/>
              <a:t>throughout the problem.</a:t>
            </a:r>
          </a:p>
          <a:p>
            <a:pPr marL="819143" lvl="1" indent="-514350">
              <a:buFont typeface="+mj-lt"/>
              <a:buAutoNum type="arabicPeriod"/>
            </a:pPr>
            <a:r>
              <a:rPr lang="en-US" dirty="0"/>
              <a:t>Numbers must </a:t>
            </a:r>
            <a:r>
              <a:rPr lang="en-US" b="1" i="1" dirty="0"/>
              <a:t>not begin with zero</a:t>
            </a:r>
            <a:r>
              <a:rPr lang="en-US" dirty="0"/>
              <a:t> i.e., 0937 (wrong), 937 (correct).</a:t>
            </a:r>
          </a:p>
          <a:p>
            <a:pPr marL="819143" lvl="1" indent="-514350">
              <a:buFont typeface="+mj-lt"/>
              <a:buAutoNum type="arabicPeriod"/>
            </a:pPr>
            <a:r>
              <a:rPr lang="en-US" dirty="0"/>
              <a:t>There must be </a:t>
            </a:r>
            <a:r>
              <a:rPr lang="en-US" b="1" i="1" dirty="0"/>
              <a:t>only one solution </a:t>
            </a:r>
            <a:r>
              <a:rPr lang="en-US" dirty="0"/>
              <a:t>to the problem.</a:t>
            </a:r>
          </a:p>
          <a:p>
            <a:pPr marL="819143" lvl="1" indent="-514350">
              <a:buFont typeface="+mj-lt"/>
              <a:buAutoNum type="arabicPeriod"/>
            </a:pPr>
            <a:r>
              <a:rPr lang="en-US" dirty="0"/>
              <a:t>After replacing letters by their digits, the resulting </a:t>
            </a:r>
            <a:r>
              <a:rPr lang="en-US" b="1" i="1" dirty="0"/>
              <a:t>arithmetic operations must be correct</a:t>
            </a:r>
            <a:r>
              <a:rPr lang="en-US" dirty="0"/>
              <a:t>.</a:t>
            </a:r>
          </a:p>
          <a:p>
            <a:endParaRPr lang="en-US" dirty="0"/>
          </a:p>
        </p:txBody>
      </p:sp>
      <p:sp>
        <p:nvSpPr>
          <p:cNvPr id="4" name="Date Placeholder 3"/>
          <p:cNvSpPr>
            <a:spLocks noGrp="1"/>
          </p:cNvSpPr>
          <p:nvPr>
            <p:ph type="dt" sz="half" idx="10"/>
          </p:nvPr>
        </p:nvSpPr>
        <p:spPr/>
        <p:txBody>
          <a:bodyPr/>
          <a:lstStyle/>
          <a:p>
            <a:fld id="{3132AB84-0287-450A-8AA4-DB45ACEDDCDB}"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92</a:t>
            </a:fld>
            <a:endParaRPr lang="en-US" dirty="0"/>
          </a:p>
        </p:txBody>
      </p:sp>
      <p:pic>
        <p:nvPicPr>
          <p:cNvPr id="7" name="Picture 6" descr="A picture containing shape&#10;&#10;Description automatically generated">
            <a:extLst>
              <a:ext uri="{FF2B5EF4-FFF2-40B4-BE49-F238E27FC236}">
                <a16:creationId xmlns:a16="http://schemas.microsoft.com/office/drawing/2014/main" id="{B3C7E030-A81F-4DE9-BB3E-90FCD5431B24}"/>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141861" y="1954257"/>
            <a:ext cx="4050139" cy="2191380"/>
          </a:xfrm>
          <a:prstGeom prst="rect">
            <a:avLst/>
          </a:prstGeom>
        </p:spPr>
      </p:pic>
    </p:spTree>
    <p:extLst>
      <p:ext uri="{BB962C8B-B14F-4D97-AF65-F5344CB8AC3E}">
        <p14:creationId xmlns:p14="http://schemas.microsoft.com/office/powerpoint/2010/main" val="2577256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Cryptarithmetic </a:t>
            </a:r>
          </a:p>
        </p:txBody>
      </p:sp>
      <p:sp>
        <p:nvSpPr>
          <p:cNvPr id="3" name="Content Placeholder 2"/>
          <p:cNvSpPr>
            <a:spLocks noGrp="1"/>
          </p:cNvSpPr>
          <p:nvPr>
            <p:ph idx="1"/>
          </p:nvPr>
        </p:nvSpPr>
        <p:spPr>
          <a:xfrm>
            <a:off x="304799" y="1228153"/>
            <a:ext cx="8027831" cy="5021979"/>
          </a:xfrm>
        </p:spPr>
        <p:txBody>
          <a:bodyPr>
            <a:normAutofit/>
          </a:bodyPr>
          <a:lstStyle/>
          <a:p>
            <a:r>
              <a:rPr lang="en-US" dirty="0"/>
              <a:t>Start by understanding addition and identify</a:t>
            </a:r>
          </a:p>
          <a:p>
            <a:pPr lvl="1"/>
            <a:r>
              <a:rPr lang="en-US" dirty="0">
                <a:solidFill>
                  <a:srgbClr val="C00000"/>
                </a:solidFill>
              </a:rPr>
              <a:t>Variables</a:t>
            </a:r>
            <a:r>
              <a:rPr lang="en-US" dirty="0"/>
              <a:t> V= {</a:t>
            </a:r>
            <a:r>
              <a:rPr lang="en-US" i="1" dirty="0"/>
              <a:t>S</a:t>
            </a:r>
            <a:r>
              <a:rPr lang="en-US" dirty="0"/>
              <a:t>, </a:t>
            </a:r>
            <a:r>
              <a:rPr lang="en-US" i="1" dirty="0"/>
              <a:t>E</a:t>
            </a:r>
            <a:r>
              <a:rPr lang="en-US" dirty="0"/>
              <a:t>, </a:t>
            </a:r>
            <a:r>
              <a:rPr lang="en-US" i="1" dirty="0"/>
              <a:t>N</a:t>
            </a:r>
            <a:r>
              <a:rPr lang="en-US" dirty="0"/>
              <a:t>, </a:t>
            </a:r>
            <a:r>
              <a:rPr lang="en-US" i="1" dirty="0"/>
              <a:t>D</a:t>
            </a:r>
            <a:r>
              <a:rPr lang="en-US" dirty="0"/>
              <a:t>, </a:t>
            </a:r>
            <a:r>
              <a:rPr lang="en-US" i="1" dirty="0"/>
              <a:t>M</a:t>
            </a:r>
            <a:r>
              <a:rPr lang="en-US" dirty="0"/>
              <a:t>, </a:t>
            </a:r>
            <a:r>
              <a:rPr lang="en-US" i="1" dirty="0"/>
              <a:t>O</a:t>
            </a:r>
            <a:r>
              <a:rPr lang="en-US" dirty="0"/>
              <a:t>, </a:t>
            </a:r>
            <a:r>
              <a:rPr lang="en-US" i="1" dirty="0"/>
              <a:t>R</a:t>
            </a:r>
            <a:r>
              <a:rPr lang="en-US" dirty="0"/>
              <a:t>, </a:t>
            </a:r>
            <a:r>
              <a:rPr lang="en-US" i="1" dirty="0"/>
              <a:t>Y</a:t>
            </a:r>
            <a:r>
              <a:rPr lang="en-US" dirty="0"/>
              <a:t>, </a:t>
            </a:r>
            <a:r>
              <a:rPr lang="en-US" i="1" dirty="0"/>
              <a:t>c</a:t>
            </a:r>
            <a:r>
              <a:rPr lang="en-US" baseline="-25000" dirty="0"/>
              <a:t>1</a:t>
            </a:r>
            <a:r>
              <a:rPr lang="en-US" dirty="0"/>
              <a:t>, </a:t>
            </a:r>
            <a:r>
              <a:rPr lang="en-US" i="1" dirty="0"/>
              <a:t>c</a:t>
            </a:r>
            <a:r>
              <a:rPr lang="en-US" baseline="-25000" dirty="0"/>
              <a:t>2</a:t>
            </a:r>
            <a:r>
              <a:rPr lang="en-US" dirty="0"/>
              <a:t>, </a:t>
            </a:r>
            <a:r>
              <a:rPr lang="en-US" i="1" dirty="0"/>
              <a:t>c</a:t>
            </a:r>
            <a:r>
              <a:rPr lang="en-US" baseline="-25000" dirty="0"/>
              <a:t>3</a:t>
            </a:r>
            <a:r>
              <a:rPr lang="en-US" dirty="0"/>
              <a:t>, </a:t>
            </a:r>
            <a:r>
              <a:rPr lang="en-US" i="1" dirty="0"/>
              <a:t>c</a:t>
            </a:r>
            <a:r>
              <a:rPr lang="en-US" baseline="-25000" dirty="0"/>
              <a:t>4</a:t>
            </a:r>
            <a:r>
              <a:rPr lang="en-US" dirty="0"/>
              <a:t>}</a:t>
            </a:r>
          </a:p>
          <a:p>
            <a:pPr lvl="1"/>
            <a:r>
              <a:rPr lang="en-US" dirty="0"/>
              <a:t>The </a:t>
            </a:r>
            <a:r>
              <a:rPr lang="en-US" sz="3100" dirty="0">
                <a:solidFill>
                  <a:srgbClr val="C00000"/>
                </a:solidFill>
              </a:rPr>
              <a:t>domains</a:t>
            </a:r>
            <a:r>
              <a:rPr lang="en-US" dirty="0"/>
              <a:t>:</a:t>
            </a:r>
          </a:p>
          <a:p>
            <a:pPr lvl="2"/>
            <a:r>
              <a:rPr lang="en-US" dirty="0"/>
              <a:t>𝑆={0,1,2,3,4,5,6,7,8,9}; </a:t>
            </a:r>
            <a:r>
              <a:rPr lang="en-US" dirty="0">
                <a:solidFill>
                  <a:srgbClr val="0000CC"/>
                </a:solidFill>
              </a:rPr>
              <a:t>domain of variable </a:t>
            </a:r>
            <a:r>
              <a:rPr lang="en-US" sz="2800" i="1" dirty="0">
                <a:solidFill>
                  <a:srgbClr val="0000CC"/>
                </a:solidFill>
              </a:rPr>
              <a:t>S</a:t>
            </a:r>
            <a:endParaRPr lang="en-US" i="1" dirty="0">
              <a:solidFill>
                <a:srgbClr val="0000CC"/>
              </a:solidFill>
            </a:endParaRPr>
          </a:p>
          <a:p>
            <a:pPr lvl="2"/>
            <a:r>
              <a:rPr lang="en-US" i="1" dirty="0"/>
              <a:t>S =</a:t>
            </a:r>
            <a:r>
              <a:rPr lang="en-US" dirty="0"/>
              <a:t> </a:t>
            </a:r>
            <a:r>
              <a:rPr lang="en-US" i="1" dirty="0"/>
              <a:t>E =</a:t>
            </a:r>
            <a:r>
              <a:rPr lang="en-US" dirty="0"/>
              <a:t> </a:t>
            </a:r>
            <a:r>
              <a:rPr lang="en-US" i="1" dirty="0"/>
              <a:t>N =</a:t>
            </a:r>
            <a:r>
              <a:rPr lang="en-US" dirty="0"/>
              <a:t> </a:t>
            </a:r>
            <a:r>
              <a:rPr lang="en-US" i="1" dirty="0"/>
              <a:t>D =</a:t>
            </a:r>
            <a:r>
              <a:rPr lang="en-US" dirty="0"/>
              <a:t> </a:t>
            </a:r>
            <a:r>
              <a:rPr lang="en-US" i="1" dirty="0"/>
              <a:t>M =</a:t>
            </a:r>
            <a:r>
              <a:rPr lang="en-US" dirty="0"/>
              <a:t> </a:t>
            </a:r>
            <a:r>
              <a:rPr lang="en-US" i="1" dirty="0"/>
              <a:t>O =</a:t>
            </a:r>
            <a:r>
              <a:rPr lang="en-US" dirty="0"/>
              <a:t> </a:t>
            </a:r>
            <a:r>
              <a:rPr lang="en-US" i="1" dirty="0"/>
              <a:t>R =</a:t>
            </a:r>
            <a:r>
              <a:rPr lang="en-US" dirty="0"/>
              <a:t> </a:t>
            </a:r>
            <a:r>
              <a:rPr lang="en-US" i="1" dirty="0"/>
              <a:t>Y</a:t>
            </a:r>
          </a:p>
          <a:p>
            <a:pPr lvl="2"/>
            <a:r>
              <a:rPr lang="en-US" i="1" dirty="0"/>
              <a:t>c</a:t>
            </a:r>
            <a:r>
              <a:rPr lang="en-US" baseline="-25000" dirty="0"/>
              <a:t>1</a:t>
            </a:r>
            <a:r>
              <a:rPr lang="en-US" i="1" dirty="0"/>
              <a:t> = </a:t>
            </a:r>
            <a:r>
              <a:rPr lang="en-US" dirty="0"/>
              <a:t>{0,1}; </a:t>
            </a:r>
            <a:r>
              <a:rPr lang="en-US" dirty="0">
                <a:solidFill>
                  <a:srgbClr val="0000CC"/>
                </a:solidFill>
              </a:rPr>
              <a:t>domain of variable </a:t>
            </a:r>
            <a:r>
              <a:rPr lang="en-US" sz="2800" i="1" dirty="0">
                <a:solidFill>
                  <a:srgbClr val="0000CC"/>
                </a:solidFill>
              </a:rPr>
              <a:t>c</a:t>
            </a:r>
            <a:r>
              <a:rPr lang="en-US" sz="2800" i="1" baseline="-25000" dirty="0">
                <a:solidFill>
                  <a:srgbClr val="0000CC"/>
                </a:solidFill>
              </a:rPr>
              <a:t>1</a:t>
            </a:r>
            <a:endParaRPr lang="en-US" i="1" baseline="-25000" dirty="0">
              <a:solidFill>
                <a:srgbClr val="0000CC"/>
              </a:solidFill>
            </a:endParaRPr>
          </a:p>
          <a:p>
            <a:pPr lvl="2"/>
            <a:r>
              <a:rPr lang="en-US" i="1" dirty="0"/>
              <a:t>c</a:t>
            </a:r>
            <a:r>
              <a:rPr lang="en-US" baseline="-25000" dirty="0"/>
              <a:t>1 </a:t>
            </a:r>
            <a:r>
              <a:rPr lang="en-US" dirty="0"/>
              <a:t>= </a:t>
            </a:r>
            <a:r>
              <a:rPr lang="en-US" i="1" dirty="0"/>
              <a:t>c</a:t>
            </a:r>
            <a:r>
              <a:rPr lang="en-US" baseline="-25000" dirty="0"/>
              <a:t>2 </a:t>
            </a:r>
            <a:r>
              <a:rPr lang="en-US" dirty="0"/>
              <a:t>= </a:t>
            </a:r>
            <a:r>
              <a:rPr lang="en-US" i="1" dirty="0"/>
              <a:t>c</a:t>
            </a:r>
            <a:r>
              <a:rPr lang="en-US" baseline="-25000" dirty="0"/>
              <a:t>3 </a:t>
            </a:r>
            <a:r>
              <a:rPr lang="en-US" dirty="0"/>
              <a:t>= </a:t>
            </a:r>
            <a:r>
              <a:rPr lang="en-US" i="1" dirty="0"/>
              <a:t>c</a:t>
            </a:r>
            <a:r>
              <a:rPr lang="en-US" baseline="-25000" dirty="0"/>
              <a:t>4 </a:t>
            </a:r>
          </a:p>
          <a:p>
            <a:r>
              <a:rPr lang="en-US" dirty="0"/>
              <a:t>Note: We need to introduce the carry to enable solving the problem. </a:t>
            </a:r>
          </a:p>
          <a:p>
            <a:endParaRPr lang="en-US" dirty="0"/>
          </a:p>
        </p:txBody>
      </p:sp>
      <p:sp>
        <p:nvSpPr>
          <p:cNvPr id="4" name="Date Placeholder 3"/>
          <p:cNvSpPr>
            <a:spLocks noGrp="1"/>
          </p:cNvSpPr>
          <p:nvPr>
            <p:ph type="dt" sz="half" idx="10"/>
          </p:nvPr>
        </p:nvSpPr>
        <p:spPr/>
        <p:txBody>
          <a:bodyPr/>
          <a:lstStyle/>
          <a:p>
            <a:fld id="{5008AA48-116A-498C-808C-1757295434B0}"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93</a:t>
            </a:fld>
            <a:endParaRPr lang="en-US" dirty="0"/>
          </a:p>
        </p:txBody>
      </p:sp>
      <p:pic>
        <p:nvPicPr>
          <p:cNvPr id="7" name="Picture 6" descr="Text&#10;&#10;Description automatically generated with medium confidence">
            <a:extLst>
              <a:ext uri="{FF2B5EF4-FFF2-40B4-BE49-F238E27FC236}">
                <a16:creationId xmlns:a16="http://schemas.microsoft.com/office/drawing/2014/main" id="{8C81C103-AF27-4A3D-8483-FFA5EDD424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5562" y="1701094"/>
            <a:ext cx="3861943" cy="2798509"/>
          </a:xfrm>
          <a:prstGeom prst="rect">
            <a:avLst/>
          </a:prstGeom>
        </p:spPr>
      </p:pic>
    </p:spTree>
    <p:extLst>
      <p:ext uri="{BB962C8B-B14F-4D97-AF65-F5344CB8AC3E}">
        <p14:creationId xmlns:p14="http://schemas.microsoft.com/office/powerpoint/2010/main" val="103749606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CSP: Cryptarithmetic </a:t>
            </a:r>
          </a:p>
        </p:txBody>
      </p:sp>
      <p:sp>
        <p:nvSpPr>
          <p:cNvPr id="3" name="Content Placeholder 2"/>
          <p:cNvSpPr>
            <a:spLocks noGrp="1"/>
          </p:cNvSpPr>
          <p:nvPr>
            <p:ph idx="1"/>
          </p:nvPr>
        </p:nvSpPr>
        <p:spPr>
          <a:xfrm>
            <a:off x="304800" y="1228153"/>
            <a:ext cx="8055429" cy="5021979"/>
          </a:xfrm>
        </p:spPr>
        <p:txBody>
          <a:bodyPr>
            <a:normAutofit fontScale="92500" lnSpcReduction="10000"/>
          </a:bodyPr>
          <a:lstStyle/>
          <a:p>
            <a:r>
              <a:rPr lang="en-US" dirty="0">
                <a:solidFill>
                  <a:srgbClr val="C00000"/>
                </a:solidFill>
              </a:rPr>
              <a:t>Constraints</a:t>
            </a:r>
            <a:r>
              <a:rPr lang="en-US" dirty="0"/>
              <a:t>:</a:t>
            </a:r>
          </a:p>
          <a:p>
            <a:pPr marL="819143" lvl="1" indent="-514350">
              <a:buFont typeface="+mj-lt"/>
              <a:buAutoNum type="arabicPeriod"/>
            </a:pPr>
            <a:r>
              <a:rPr lang="en-US" dirty="0"/>
              <a:t>Each letter should have a unique and distinct value.</a:t>
            </a:r>
          </a:p>
          <a:p>
            <a:pPr marL="819143" lvl="1" indent="-514350">
              <a:buFont typeface="+mj-lt"/>
              <a:buAutoNum type="arabicPeriod"/>
            </a:pPr>
            <a:r>
              <a:rPr lang="en-US" dirty="0"/>
              <a:t>Each letter represents only one-digit throughout the problem.</a:t>
            </a:r>
          </a:p>
          <a:p>
            <a:pPr marL="819143" lvl="1" indent="-514350">
              <a:buFont typeface="+mj-lt"/>
              <a:buAutoNum type="arabicPeriod"/>
            </a:pPr>
            <a:r>
              <a:rPr lang="en-US" dirty="0"/>
              <a:t>Numbers must not begin with zero, i.e., 0937 (wrong), 937 (correct).</a:t>
            </a:r>
          </a:p>
          <a:p>
            <a:pPr marL="819143" lvl="1" indent="-514350">
              <a:buFont typeface="+mj-lt"/>
              <a:buAutoNum type="arabicPeriod"/>
            </a:pPr>
            <a:r>
              <a:rPr lang="en-US" dirty="0"/>
              <a:t>There must be only one solution to the problem.</a:t>
            </a:r>
          </a:p>
          <a:p>
            <a:pPr marL="819143" lvl="1" indent="-514350">
              <a:buFont typeface="+mj-lt"/>
              <a:buAutoNum type="arabicPeriod"/>
            </a:pPr>
            <a:r>
              <a:rPr lang="en-US" dirty="0"/>
              <a:t>After replacing letters by their digits, the resulting arithmetic operations must be correct. </a:t>
            </a:r>
          </a:p>
          <a:p>
            <a:endParaRPr lang="en-US" dirty="0"/>
          </a:p>
        </p:txBody>
      </p:sp>
      <p:sp>
        <p:nvSpPr>
          <p:cNvPr id="4" name="Date Placeholder 3"/>
          <p:cNvSpPr>
            <a:spLocks noGrp="1"/>
          </p:cNvSpPr>
          <p:nvPr>
            <p:ph type="dt" sz="half" idx="10"/>
          </p:nvPr>
        </p:nvSpPr>
        <p:spPr/>
        <p:txBody>
          <a:bodyPr/>
          <a:lstStyle/>
          <a:p>
            <a:fld id="{6081AD9E-31BE-4AD9-97E2-F3A26E0B3792}"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94</a:t>
            </a:fld>
            <a:endParaRPr lang="en-US" dirty="0"/>
          </a:p>
        </p:txBody>
      </p:sp>
      <p:pic>
        <p:nvPicPr>
          <p:cNvPr id="7" name="Picture 6" descr="Text&#10;&#10;Description automatically generated with medium confidence">
            <a:extLst>
              <a:ext uri="{FF2B5EF4-FFF2-40B4-BE49-F238E27FC236}">
                <a16:creationId xmlns:a16="http://schemas.microsoft.com/office/drawing/2014/main" id="{8C81C103-AF27-4A3D-8483-FFA5EDD424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5562" y="1701094"/>
            <a:ext cx="3861943" cy="2798509"/>
          </a:xfrm>
          <a:prstGeom prst="rect">
            <a:avLst/>
          </a:prstGeom>
        </p:spPr>
      </p:pic>
    </p:spTree>
    <p:extLst>
      <p:ext uri="{BB962C8B-B14F-4D97-AF65-F5344CB8AC3E}">
        <p14:creationId xmlns:p14="http://schemas.microsoft.com/office/powerpoint/2010/main" val="315719932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Text&#10;&#10;Description automatically generated with medium confidence">
            <a:extLst>
              <a:ext uri="{FF2B5EF4-FFF2-40B4-BE49-F238E27FC236}">
                <a16:creationId xmlns:a16="http://schemas.microsoft.com/office/drawing/2014/main" id="{8C81C103-AF27-4A3D-8483-FFA5EDD424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5562" y="1701094"/>
            <a:ext cx="3861943" cy="2798509"/>
          </a:xfrm>
          <a:prstGeom prst="rect">
            <a:avLst/>
          </a:prstGeom>
        </p:spPr>
      </p:pic>
      <p:sp>
        <p:nvSpPr>
          <p:cNvPr id="2" name="Title 1"/>
          <p:cNvSpPr>
            <a:spLocks noGrp="1"/>
          </p:cNvSpPr>
          <p:nvPr>
            <p:ph type="title"/>
          </p:nvPr>
        </p:nvSpPr>
        <p:spPr/>
        <p:txBody>
          <a:bodyPr>
            <a:normAutofit fontScale="90000"/>
          </a:bodyPr>
          <a:lstStyle/>
          <a:p>
            <a:r>
              <a:rPr lang="en-US" dirty="0"/>
              <a:t>CSP: Cryptarithmetic </a:t>
            </a:r>
          </a:p>
        </p:txBody>
      </p:sp>
      <p:sp>
        <p:nvSpPr>
          <p:cNvPr id="3" name="Content Placeholder 2"/>
          <p:cNvSpPr>
            <a:spLocks noGrp="1"/>
          </p:cNvSpPr>
          <p:nvPr>
            <p:ph idx="1"/>
          </p:nvPr>
        </p:nvSpPr>
        <p:spPr>
          <a:xfrm>
            <a:off x="304800" y="1228153"/>
            <a:ext cx="7464889" cy="5021979"/>
          </a:xfrm>
        </p:spPr>
        <p:txBody>
          <a:bodyPr/>
          <a:lstStyle/>
          <a:p>
            <a:r>
              <a:rPr lang="en-US" dirty="0">
                <a:solidFill>
                  <a:schemeClr val="accent6">
                    <a:lumMod val="75000"/>
                  </a:schemeClr>
                </a:solidFill>
              </a:rPr>
              <a:t>Step 1</a:t>
            </a:r>
            <a:r>
              <a:rPr lang="en-US" dirty="0"/>
              <a:t>: Using constraint (3), i.e. numbers must not begin with zero, we can say that the domain of 𝑆, 𝑀 is reduced to {1,2,3,4,5,6,7,8,9}</a:t>
            </a:r>
          </a:p>
          <a:p>
            <a:r>
              <a:rPr lang="en-US" dirty="0">
                <a:solidFill>
                  <a:schemeClr val="accent6">
                    <a:lumMod val="75000"/>
                  </a:schemeClr>
                </a:solidFill>
              </a:rPr>
              <a:t>Step 2</a:t>
            </a:r>
            <a:r>
              <a:rPr lang="en-US" dirty="0"/>
              <a:t>: Since 𝑀=𝑐</a:t>
            </a:r>
            <a:r>
              <a:rPr lang="en-US" baseline="-25000" dirty="0"/>
              <a:t>4 </a:t>
            </a:r>
            <a:r>
              <a:rPr lang="en-US" dirty="0"/>
              <a:t>, 𝑐</a:t>
            </a:r>
            <a:r>
              <a:rPr lang="en-US" baseline="-25000" dirty="0"/>
              <a:t>4</a:t>
            </a:r>
            <a:r>
              <a:rPr lang="en-US" dirty="0"/>
              <a:t> cannot be 0 because this will make 𝑀=0. Therefore, 𝑐</a:t>
            </a:r>
            <a:r>
              <a:rPr lang="en-US" baseline="-25000" dirty="0"/>
              <a:t>4</a:t>
            </a:r>
            <a:r>
              <a:rPr lang="en-US" dirty="0"/>
              <a:t>=1 and 𝑀=1 and the problem reduces to </a:t>
            </a:r>
          </a:p>
          <a:p>
            <a:endParaRPr lang="en-US" dirty="0"/>
          </a:p>
        </p:txBody>
      </p:sp>
      <p:sp>
        <p:nvSpPr>
          <p:cNvPr id="4" name="Date Placeholder 3"/>
          <p:cNvSpPr>
            <a:spLocks noGrp="1"/>
          </p:cNvSpPr>
          <p:nvPr>
            <p:ph type="dt" sz="half" idx="10"/>
          </p:nvPr>
        </p:nvSpPr>
        <p:spPr/>
        <p:txBody>
          <a:bodyPr/>
          <a:lstStyle/>
          <a:p>
            <a:fld id="{FCD2E610-2385-47F0-8520-841E30428DD3}" type="datetime1">
              <a:rPr lang="en-US" smtClean="0"/>
              <a:t>10/16/2022</a:t>
            </a:fld>
            <a:endParaRPr lang="en-US" dirty="0"/>
          </a:p>
        </p:txBody>
      </p:sp>
      <p:sp>
        <p:nvSpPr>
          <p:cNvPr id="5" name="Footer Placeholder 4"/>
          <p:cNvSpPr>
            <a:spLocks noGrp="1"/>
          </p:cNvSpPr>
          <p:nvPr>
            <p:ph type="ftr" sz="quarter" idx="11"/>
          </p:nvPr>
        </p:nvSpPr>
        <p:spPr/>
        <p:txBody>
          <a:bodyPr/>
          <a:lstStyle/>
          <a:p>
            <a:r>
              <a:rPr lang="en-US" dirty="0"/>
              <a:t>Introduction to AI</a:t>
            </a:r>
          </a:p>
        </p:txBody>
      </p:sp>
      <p:sp>
        <p:nvSpPr>
          <p:cNvPr id="6" name="Slide Number Placeholder 5"/>
          <p:cNvSpPr>
            <a:spLocks noGrp="1"/>
          </p:cNvSpPr>
          <p:nvPr>
            <p:ph type="sldNum" sz="quarter" idx="12"/>
          </p:nvPr>
        </p:nvSpPr>
        <p:spPr/>
        <p:txBody>
          <a:bodyPr/>
          <a:lstStyle/>
          <a:p>
            <a:fld id="{B7884E68-CE57-44C0-BE0F-84C629DF22D5}" type="slidenum">
              <a:rPr lang="en-US" dirty="0" smtClean="0"/>
              <a:t>95</a:t>
            </a:fld>
            <a:endParaRPr lang="en-US" dirty="0"/>
          </a:p>
        </p:txBody>
      </p:sp>
      <p:sp>
        <p:nvSpPr>
          <p:cNvPr id="11" name="TextBox 10">
            <a:extLst>
              <a:ext uri="{FF2B5EF4-FFF2-40B4-BE49-F238E27FC236}">
                <a16:creationId xmlns:a16="http://schemas.microsoft.com/office/drawing/2014/main" id="{1AADE91D-1F30-4BA8-AF05-77C5F32F4C2B}"/>
              </a:ext>
            </a:extLst>
          </p:cNvPr>
          <p:cNvSpPr txBox="1"/>
          <p:nvPr/>
        </p:nvSpPr>
        <p:spPr>
          <a:xfrm>
            <a:off x="8804649" y="1837147"/>
            <a:ext cx="339392" cy="369332"/>
          </a:xfrm>
          <a:prstGeom prst="rect">
            <a:avLst/>
          </a:prstGeom>
          <a:solidFill>
            <a:srgbClr val="FFFF00"/>
          </a:solidFill>
        </p:spPr>
        <p:txBody>
          <a:bodyPr wrap="square" rtlCol="0">
            <a:spAutoFit/>
          </a:bodyPr>
          <a:lstStyle/>
          <a:p>
            <a:r>
              <a:rPr lang="en-US" b="1" dirty="0"/>
              <a:t>1</a:t>
            </a:r>
          </a:p>
        </p:txBody>
      </p:sp>
      <p:sp>
        <p:nvSpPr>
          <p:cNvPr id="12" name="TextBox 11">
            <a:extLst>
              <a:ext uri="{FF2B5EF4-FFF2-40B4-BE49-F238E27FC236}">
                <a16:creationId xmlns:a16="http://schemas.microsoft.com/office/drawing/2014/main" id="{239C6586-F6F4-471D-919E-243765E251C3}"/>
              </a:ext>
            </a:extLst>
          </p:cNvPr>
          <p:cNvSpPr txBox="1"/>
          <p:nvPr/>
        </p:nvSpPr>
        <p:spPr>
          <a:xfrm>
            <a:off x="9453740" y="3171195"/>
            <a:ext cx="339392" cy="369332"/>
          </a:xfrm>
          <a:prstGeom prst="rect">
            <a:avLst/>
          </a:prstGeom>
          <a:solidFill>
            <a:srgbClr val="FFFF00"/>
          </a:solidFill>
        </p:spPr>
        <p:txBody>
          <a:bodyPr wrap="square" rtlCol="0">
            <a:spAutoFit/>
          </a:bodyPr>
          <a:lstStyle/>
          <a:p>
            <a:r>
              <a:rPr lang="en-US" b="1" dirty="0"/>
              <a:t>1</a:t>
            </a:r>
          </a:p>
        </p:txBody>
      </p:sp>
      <p:sp>
        <p:nvSpPr>
          <p:cNvPr id="13" name="TextBox 12">
            <a:extLst>
              <a:ext uri="{FF2B5EF4-FFF2-40B4-BE49-F238E27FC236}">
                <a16:creationId xmlns:a16="http://schemas.microsoft.com/office/drawing/2014/main" id="{ED1F6C1E-D4AF-4256-B2C1-5A92856F93AE}"/>
              </a:ext>
            </a:extLst>
          </p:cNvPr>
          <p:cNvSpPr txBox="1"/>
          <p:nvPr/>
        </p:nvSpPr>
        <p:spPr>
          <a:xfrm>
            <a:off x="8937063" y="3975100"/>
            <a:ext cx="339392" cy="369332"/>
          </a:xfrm>
          <a:prstGeom prst="rect">
            <a:avLst/>
          </a:prstGeom>
          <a:solidFill>
            <a:srgbClr val="FFFF00"/>
          </a:solidFill>
        </p:spPr>
        <p:txBody>
          <a:bodyPr wrap="square" rtlCol="0">
            <a:spAutoFit/>
          </a:bodyPr>
          <a:lstStyle/>
          <a:p>
            <a:r>
              <a:rPr lang="en-US" b="1" dirty="0"/>
              <a:t>1</a:t>
            </a:r>
          </a:p>
        </p:txBody>
      </p:sp>
      <p:sp>
        <p:nvSpPr>
          <p:cNvPr id="14" name="Rectangle 13"/>
          <p:cNvSpPr/>
          <p:nvPr/>
        </p:nvSpPr>
        <p:spPr>
          <a:xfrm>
            <a:off x="8386628" y="4873292"/>
            <a:ext cx="1872965" cy="954107"/>
          </a:xfrm>
          <a:prstGeom prst="rect">
            <a:avLst/>
          </a:prstGeom>
        </p:spPr>
        <p:txBody>
          <a:bodyPr wrap="square">
            <a:spAutoFit/>
          </a:bodyPr>
          <a:lstStyle/>
          <a:p>
            <a:pPr marL="0" lvl="2"/>
            <a:r>
              <a:rPr lang="en-US" sz="1400" dirty="0"/>
              <a:t>𝑆={2,3,4,5,6,7,8,9}</a:t>
            </a:r>
          </a:p>
          <a:p>
            <a:pPr marL="0" lvl="2"/>
            <a:r>
              <a:rPr lang="en-US" sz="1400" i="1" dirty="0"/>
              <a:t>E</a:t>
            </a:r>
            <a:r>
              <a:rPr lang="en-US" sz="1400" dirty="0"/>
              <a:t>={0,2,3,4,5,6,7,8,9}</a:t>
            </a:r>
          </a:p>
          <a:p>
            <a:pPr marL="0" lvl="2"/>
            <a:r>
              <a:rPr lang="en-US" sz="1400" i="1" dirty="0"/>
              <a:t>N</a:t>
            </a:r>
            <a:r>
              <a:rPr lang="en-US" sz="1400" dirty="0"/>
              <a:t>={0,2,3,4,5,6,7,8,9}</a:t>
            </a:r>
          </a:p>
          <a:p>
            <a:pPr marL="0" lvl="2"/>
            <a:r>
              <a:rPr lang="en-US" sz="1400" i="1" dirty="0"/>
              <a:t>D</a:t>
            </a:r>
            <a:r>
              <a:rPr lang="en-US" sz="1400" dirty="0"/>
              <a:t>={0,2,3,4,5,6,7,8,9}</a:t>
            </a:r>
          </a:p>
        </p:txBody>
      </p:sp>
      <p:sp>
        <p:nvSpPr>
          <p:cNvPr id="15" name="Rectangle 14"/>
          <p:cNvSpPr/>
          <p:nvPr/>
        </p:nvSpPr>
        <p:spPr>
          <a:xfrm>
            <a:off x="10089897" y="4873292"/>
            <a:ext cx="1866330" cy="954107"/>
          </a:xfrm>
          <a:prstGeom prst="rect">
            <a:avLst/>
          </a:prstGeom>
        </p:spPr>
        <p:txBody>
          <a:bodyPr wrap="square">
            <a:spAutoFit/>
          </a:bodyPr>
          <a:lstStyle/>
          <a:p>
            <a:pPr marL="0" lvl="2"/>
            <a:r>
              <a:rPr lang="en-US" sz="1400" i="1" dirty="0"/>
              <a:t>M</a:t>
            </a:r>
            <a:r>
              <a:rPr lang="en-US" sz="1400" dirty="0"/>
              <a:t>={</a:t>
            </a:r>
            <a:r>
              <a:rPr lang="en-US" sz="1400" b="1" dirty="0">
                <a:solidFill>
                  <a:srgbClr val="FF0000"/>
                </a:solidFill>
              </a:rPr>
              <a:t>1</a:t>
            </a:r>
            <a:r>
              <a:rPr lang="en-US" sz="1400" dirty="0"/>
              <a:t>}</a:t>
            </a:r>
          </a:p>
          <a:p>
            <a:pPr marL="0" lvl="2"/>
            <a:r>
              <a:rPr lang="en-US" sz="1400" i="1" dirty="0"/>
              <a:t>O</a:t>
            </a:r>
            <a:r>
              <a:rPr lang="en-US" sz="1400" dirty="0"/>
              <a:t>={0,2,3,4,5,6,7,8,9}</a:t>
            </a:r>
          </a:p>
          <a:p>
            <a:pPr marL="0" lvl="2"/>
            <a:r>
              <a:rPr lang="en-US" sz="1400" i="1" dirty="0"/>
              <a:t>R</a:t>
            </a:r>
            <a:r>
              <a:rPr lang="en-US" sz="1400" dirty="0"/>
              <a:t>={0,2,3,4,5,6,7,8,9}</a:t>
            </a:r>
          </a:p>
          <a:p>
            <a:pPr marL="0" lvl="2"/>
            <a:r>
              <a:rPr lang="en-US" sz="1400" i="1" dirty="0"/>
              <a:t>Y</a:t>
            </a:r>
            <a:r>
              <a:rPr lang="en-US" sz="1400" dirty="0"/>
              <a:t>={0,2,3,4,5,6,7,8,9}</a:t>
            </a:r>
          </a:p>
        </p:txBody>
      </p:sp>
      <p:sp>
        <p:nvSpPr>
          <p:cNvPr id="7" name="TextBox 6"/>
          <p:cNvSpPr txBox="1"/>
          <p:nvPr/>
        </p:nvSpPr>
        <p:spPr>
          <a:xfrm>
            <a:off x="8974345" y="5804434"/>
            <a:ext cx="2364943" cy="307777"/>
          </a:xfrm>
          <a:prstGeom prst="rect">
            <a:avLst/>
          </a:prstGeom>
          <a:noFill/>
        </p:spPr>
        <p:txBody>
          <a:bodyPr wrap="none" rtlCol="0">
            <a:spAutoFit/>
          </a:bodyPr>
          <a:lstStyle/>
          <a:p>
            <a:r>
              <a:rPr lang="en-US" sz="1400" dirty="0">
                <a:solidFill>
                  <a:srgbClr val="0033CC"/>
                </a:solidFill>
              </a:rPr>
              <a:t>Updated domains of variables</a:t>
            </a:r>
          </a:p>
        </p:txBody>
      </p:sp>
    </p:spTree>
    <p:extLst>
      <p:ext uri="{BB962C8B-B14F-4D97-AF65-F5344CB8AC3E}">
        <p14:creationId xmlns:p14="http://schemas.microsoft.com/office/powerpoint/2010/main" val="1339582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28905-8CAB-4F65-A7E3-9DF2346949AB}"/>
              </a:ext>
            </a:extLst>
          </p:cNvPr>
          <p:cNvSpPr>
            <a:spLocks noGrp="1"/>
          </p:cNvSpPr>
          <p:nvPr>
            <p:ph type="title"/>
          </p:nvPr>
        </p:nvSpPr>
        <p:spPr/>
        <p:txBody>
          <a:bodyPr>
            <a:normAutofit fontScale="90000"/>
          </a:bodyPr>
          <a:lstStyle/>
          <a:p>
            <a:r>
              <a:rPr lang="en-US" dirty="0"/>
              <a:t>CSP: Cryptarithmetic  </a:t>
            </a:r>
          </a:p>
        </p:txBody>
      </p:sp>
      <p:sp>
        <p:nvSpPr>
          <p:cNvPr id="3" name="Content Placeholder 2">
            <a:extLst>
              <a:ext uri="{FF2B5EF4-FFF2-40B4-BE49-F238E27FC236}">
                <a16:creationId xmlns:a16="http://schemas.microsoft.com/office/drawing/2014/main" id="{A38D9CFD-A00E-4078-8F3B-E7571B5A0A47}"/>
              </a:ext>
            </a:extLst>
          </p:cNvPr>
          <p:cNvSpPr>
            <a:spLocks noGrp="1"/>
          </p:cNvSpPr>
          <p:nvPr>
            <p:ph idx="1"/>
          </p:nvPr>
        </p:nvSpPr>
        <p:spPr>
          <a:xfrm>
            <a:off x="304800" y="1228153"/>
            <a:ext cx="7720457" cy="5220315"/>
          </a:xfrm>
        </p:spPr>
        <p:txBody>
          <a:bodyPr>
            <a:normAutofit lnSpcReduction="10000"/>
          </a:bodyPr>
          <a:lstStyle/>
          <a:p>
            <a:r>
              <a:rPr lang="en-US" dirty="0">
                <a:solidFill>
                  <a:schemeClr val="accent6">
                    <a:lumMod val="75000"/>
                  </a:schemeClr>
                </a:solidFill>
              </a:rPr>
              <a:t>Step 3</a:t>
            </a:r>
            <a:r>
              <a:rPr lang="en-US" b="1" dirty="0"/>
              <a:t>:</a:t>
            </a:r>
            <a:r>
              <a:rPr lang="en-US" dirty="0"/>
              <a:t> consider 𝑐</a:t>
            </a:r>
            <a:r>
              <a:rPr lang="en-US" baseline="-25000" dirty="0"/>
              <a:t>3</a:t>
            </a:r>
            <a:r>
              <a:rPr lang="en-US" dirty="0"/>
              <a:t>+𝑆+1=10+𝑂 (Note that the 10 is due to 𝑐4=1). From this equation, the domain of 𝑆 is reduced to {8,9}. Therefore, all possible cases for </a:t>
            </a:r>
            <a:r>
              <a:rPr lang="en-US" i="1" dirty="0"/>
              <a:t>c</a:t>
            </a:r>
            <a:r>
              <a:rPr lang="en-US" baseline="-25000" dirty="0"/>
              <a:t>3</a:t>
            </a:r>
            <a:r>
              <a:rPr lang="en-US" dirty="0"/>
              <a:t>, </a:t>
            </a:r>
            <a:r>
              <a:rPr lang="en-US" i="1" dirty="0"/>
              <a:t>S</a:t>
            </a:r>
            <a:r>
              <a:rPr lang="en-US" dirty="0"/>
              <a:t>, </a:t>
            </a:r>
            <a:r>
              <a:rPr lang="en-US" i="1" dirty="0"/>
              <a:t>O</a:t>
            </a:r>
            <a:r>
              <a:rPr lang="en-US" dirty="0"/>
              <a:t> are:</a:t>
            </a:r>
          </a:p>
          <a:p>
            <a:pPr lvl="1"/>
            <a:r>
              <a:rPr lang="en-US" dirty="0"/>
              <a:t>if 𝑐3=0 and 𝑆=9 then 𝑂=0</a:t>
            </a:r>
          </a:p>
          <a:p>
            <a:pPr lvl="1"/>
            <a:r>
              <a:rPr lang="en-US" dirty="0"/>
              <a:t>if 𝑐3=1 and 𝑆=8 then 𝑂=0</a:t>
            </a:r>
          </a:p>
          <a:p>
            <a:pPr lvl="1"/>
            <a:r>
              <a:rPr lang="en-US" dirty="0"/>
              <a:t>if 𝑐3=1 and 𝑆=9 then 𝑂=1, </a:t>
            </a:r>
          </a:p>
          <a:p>
            <a:pPr lvl="1"/>
            <a:r>
              <a:rPr lang="en-US" dirty="0"/>
              <a:t>A </a:t>
            </a:r>
            <a:r>
              <a:rPr lang="en-US" dirty="0">
                <a:solidFill>
                  <a:srgbClr val="FF0000"/>
                </a:solidFill>
              </a:rPr>
              <a:t>contradiction</a:t>
            </a:r>
            <a:r>
              <a:rPr lang="en-US" dirty="0"/>
              <a:t> is observed with constraint (1) where 𝑀=𝑂=1 ⇒ discard this option.</a:t>
            </a:r>
          </a:p>
          <a:p>
            <a:pPr lvl="1"/>
            <a:r>
              <a:rPr lang="en-US" dirty="0"/>
              <a:t>We will select 𝑐3=0, 𝑆=9 and 𝑂=0 and the problem reduces to:</a:t>
            </a:r>
          </a:p>
          <a:p>
            <a:pPr marL="76200" indent="0">
              <a:buNone/>
            </a:pPr>
            <a:endParaRPr lang="en-US" dirty="0"/>
          </a:p>
        </p:txBody>
      </p:sp>
      <p:sp>
        <p:nvSpPr>
          <p:cNvPr id="4" name="Date Placeholder 3">
            <a:extLst>
              <a:ext uri="{FF2B5EF4-FFF2-40B4-BE49-F238E27FC236}">
                <a16:creationId xmlns:a16="http://schemas.microsoft.com/office/drawing/2014/main" id="{0ED05FA7-46CE-43C3-964D-EA7C0412674C}"/>
              </a:ext>
            </a:extLst>
          </p:cNvPr>
          <p:cNvSpPr>
            <a:spLocks noGrp="1"/>
          </p:cNvSpPr>
          <p:nvPr>
            <p:ph type="dt" sz="half" idx="10"/>
          </p:nvPr>
        </p:nvSpPr>
        <p:spPr/>
        <p:txBody>
          <a:bodyPr/>
          <a:lstStyle/>
          <a:p>
            <a:fld id="{259B14AA-39C3-4763-BAC0-E558A882971E}" type="datetime1">
              <a:rPr lang="en-US" smtClean="0"/>
              <a:t>10/16/2022</a:t>
            </a:fld>
            <a:endParaRPr lang="en-US" dirty="0"/>
          </a:p>
        </p:txBody>
      </p:sp>
      <p:sp>
        <p:nvSpPr>
          <p:cNvPr id="5" name="Footer Placeholder 4">
            <a:extLst>
              <a:ext uri="{FF2B5EF4-FFF2-40B4-BE49-F238E27FC236}">
                <a16:creationId xmlns:a16="http://schemas.microsoft.com/office/drawing/2014/main" id="{56411E36-7743-49E3-B73C-48A9726D3B12}"/>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7915844A-1C77-43F6-B513-C23306A93385}"/>
              </a:ext>
            </a:extLst>
          </p:cNvPr>
          <p:cNvSpPr>
            <a:spLocks noGrp="1"/>
          </p:cNvSpPr>
          <p:nvPr>
            <p:ph type="sldNum" sz="quarter" idx="12"/>
          </p:nvPr>
        </p:nvSpPr>
        <p:spPr/>
        <p:txBody>
          <a:bodyPr/>
          <a:lstStyle/>
          <a:p>
            <a:fld id="{B7884E68-CE57-44C0-BE0F-84C629DF22D5}" type="slidenum">
              <a:rPr lang="en-US" dirty="0" smtClean="0"/>
              <a:t>96</a:t>
            </a:fld>
            <a:endParaRPr lang="en-US" dirty="0"/>
          </a:p>
        </p:txBody>
      </p:sp>
      <p:cxnSp>
        <p:nvCxnSpPr>
          <p:cNvPr id="10" name="Straight Connector 9">
            <a:extLst>
              <a:ext uri="{FF2B5EF4-FFF2-40B4-BE49-F238E27FC236}">
                <a16:creationId xmlns:a16="http://schemas.microsoft.com/office/drawing/2014/main" id="{685A3138-7CB9-4BC7-89A3-946C7CEE08CA}"/>
              </a:ext>
            </a:extLst>
          </p:cNvPr>
          <p:cNvCxnSpPr/>
          <p:nvPr/>
        </p:nvCxnSpPr>
        <p:spPr>
          <a:xfrm>
            <a:off x="532660" y="3994949"/>
            <a:ext cx="4678532"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pic>
        <p:nvPicPr>
          <p:cNvPr id="14" name="Picture 13" descr="A picture containing rectangle&#10;&#10;Description automatically generated">
            <a:extLst>
              <a:ext uri="{FF2B5EF4-FFF2-40B4-BE49-F238E27FC236}">
                <a16:creationId xmlns:a16="http://schemas.microsoft.com/office/drawing/2014/main" id="{33B32DFE-D70F-4D0A-AC42-116BE1B3F4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257" y="1788889"/>
            <a:ext cx="3861942" cy="2798508"/>
          </a:xfrm>
          <a:prstGeom prst="rect">
            <a:avLst/>
          </a:prstGeom>
        </p:spPr>
      </p:pic>
      <p:sp>
        <p:nvSpPr>
          <p:cNvPr id="15" name="TextBox 14">
            <a:extLst>
              <a:ext uri="{FF2B5EF4-FFF2-40B4-BE49-F238E27FC236}">
                <a16:creationId xmlns:a16="http://schemas.microsoft.com/office/drawing/2014/main" id="{53DC4B95-054B-4724-9177-E171B0DD6669}"/>
              </a:ext>
            </a:extLst>
          </p:cNvPr>
          <p:cNvSpPr txBox="1"/>
          <p:nvPr/>
        </p:nvSpPr>
        <p:spPr>
          <a:xfrm>
            <a:off x="8634953" y="1932494"/>
            <a:ext cx="339392" cy="369332"/>
          </a:xfrm>
          <a:prstGeom prst="rect">
            <a:avLst/>
          </a:prstGeom>
          <a:solidFill>
            <a:schemeClr val="bg1"/>
          </a:solidFill>
        </p:spPr>
        <p:txBody>
          <a:bodyPr wrap="square" rtlCol="0">
            <a:spAutoFit/>
          </a:bodyPr>
          <a:lstStyle/>
          <a:p>
            <a:r>
              <a:rPr lang="en-US" b="1" dirty="0"/>
              <a:t>1</a:t>
            </a:r>
          </a:p>
        </p:txBody>
      </p:sp>
      <p:sp>
        <p:nvSpPr>
          <p:cNvPr id="16" name="TextBox 15">
            <a:extLst>
              <a:ext uri="{FF2B5EF4-FFF2-40B4-BE49-F238E27FC236}">
                <a16:creationId xmlns:a16="http://schemas.microsoft.com/office/drawing/2014/main" id="{BB0621DE-4DBE-4BE1-88E6-1AED6E2DCAF7}"/>
              </a:ext>
            </a:extLst>
          </p:cNvPr>
          <p:cNvSpPr txBox="1"/>
          <p:nvPr/>
        </p:nvSpPr>
        <p:spPr>
          <a:xfrm>
            <a:off x="9323111" y="3244334"/>
            <a:ext cx="339392" cy="369332"/>
          </a:xfrm>
          <a:prstGeom prst="rect">
            <a:avLst/>
          </a:prstGeom>
          <a:solidFill>
            <a:schemeClr val="bg1"/>
          </a:solidFill>
        </p:spPr>
        <p:txBody>
          <a:bodyPr wrap="square" rtlCol="0">
            <a:spAutoFit/>
          </a:bodyPr>
          <a:lstStyle/>
          <a:p>
            <a:r>
              <a:rPr lang="en-US" b="1" dirty="0"/>
              <a:t>1</a:t>
            </a:r>
          </a:p>
        </p:txBody>
      </p:sp>
      <p:sp>
        <p:nvSpPr>
          <p:cNvPr id="17" name="TextBox 16">
            <a:extLst>
              <a:ext uri="{FF2B5EF4-FFF2-40B4-BE49-F238E27FC236}">
                <a16:creationId xmlns:a16="http://schemas.microsoft.com/office/drawing/2014/main" id="{AFD99453-83C2-4C98-82D5-DD37AA7CE358}"/>
              </a:ext>
            </a:extLst>
          </p:cNvPr>
          <p:cNvSpPr txBox="1"/>
          <p:nvPr/>
        </p:nvSpPr>
        <p:spPr>
          <a:xfrm>
            <a:off x="8804649" y="4072379"/>
            <a:ext cx="339392" cy="369332"/>
          </a:xfrm>
          <a:prstGeom prst="rect">
            <a:avLst/>
          </a:prstGeom>
          <a:solidFill>
            <a:schemeClr val="bg1"/>
          </a:solidFill>
        </p:spPr>
        <p:txBody>
          <a:bodyPr wrap="square" rtlCol="0">
            <a:spAutoFit/>
          </a:bodyPr>
          <a:lstStyle/>
          <a:p>
            <a:r>
              <a:rPr lang="en-US" b="1" dirty="0"/>
              <a:t>1</a:t>
            </a:r>
          </a:p>
        </p:txBody>
      </p:sp>
      <p:sp>
        <p:nvSpPr>
          <p:cNvPr id="18" name="TextBox 17">
            <a:extLst>
              <a:ext uri="{FF2B5EF4-FFF2-40B4-BE49-F238E27FC236}">
                <a16:creationId xmlns:a16="http://schemas.microsoft.com/office/drawing/2014/main" id="{13AC62E0-F322-415D-8AB7-31DC4F9476A7}"/>
              </a:ext>
            </a:extLst>
          </p:cNvPr>
          <p:cNvSpPr txBox="1"/>
          <p:nvPr/>
        </p:nvSpPr>
        <p:spPr>
          <a:xfrm>
            <a:off x="9323111" y="2576602"/>
            <a:ext cx="339392" cy="369332"/>
          </a:xfrm>
          <a:prstGeom prst="rect">
            <a:avLst/>
          </a:prstGeom>
          <a:solidFill>
            <a:srgbClr val="FFFF00"/>
          </a:solidFill>
        </p:spPr>
        <p:txBody>
          <a:bodyPr wrap="square" rtlCol="0">
            <a:spAutoFit/>
          </a:bodyPr>
          <a:lstStyle/>
          <a:p>
            <a:r>
              <a:rPr lang="en-US" b="1" dirty="0"/>
              <a:t>9</a:t>
            </a:r>
          </a:p>
        </p:txBody>
      </p:sp>
      <p:sp>
        <p:nvSpPr>
          <p:cNvPr id="19" name="TextBox 18">
            <a:extLst>
              <a:ext uri="{FF2B5EF4-FFF2-40B4-BE49-F238E27FC236}">
                <a16:creationId xmlns:a16="http://schemas.microsoft.com/office/drawing/2014/main" id="{579476FA-426B-4952-B23E-E5E5B795B8BD}"/>
              </a:ext>
            </a:extLst>
          </p:cNvPr>
          <p:cNvSpPr txBox="1"/>
          <p:nvPr/>
        </p:nvSpPr>
        <p:spPr>
          <a:xfrm>
            <a:off x="9377957" y="4072379"/>
            <a:ext cx="308538" cy="369332"/>
          </a:xfrm>
          <a:prstGeom prst="rect">
            <a:avLst/>
          </a:prstGeom>
          <a:solidFill>
            <a:srgbClr val="FFFF00"/>
          </a:solidFill>
        </p:spPr>
        <p:txBody>
          <a:bodyPr wrap="square" rtlCol="0">
            <a:spAutoFit/>
          </a:bodyPr>
          <a:lstStyle/>
          <a:p>
            <a:r>
              <a:rPr lang="en-US" b="1" dirty="0"/>
              <a:t>0</a:t>
            </a:r>
          </a:p>
        </p:txBody>
      </p:sp>
      <p:sp>
        <p:nvSpPr>
          <p:cNvPr id="20" name="TextBox 19">
            <a:extLst>
              <a:ext uri="{FF2B5EF4-FFF2-40B4-BE49-F238E27FC236}">
                <a16:creationId xmlns:a16="http://schemas.microsoft.com/office/drawing/2014/main" id="{719455F4-F987-40E2-BFA5-4F5BA7BCC874}"/>
              </a:ext>
            </a:extLst>
          </p:cNvPr>
          <p:cNvSpPr txBox="1"/>
          <p:nvPr/>
        </p:nvSpPr>
        <p:spPr>
          <a:xfrm>
            <a:off x="9251969" y="1923479"/>
            <a:ext cx="308538" cy="369332"/>
          </a:xfrm>
          <a:prstGeom prst="rect">
            <a:avLst/>
          </a:prstGeom>
          <a:solidFill>
            <a:srgbClr val="FFFF00"/>
          </a:solidFill>
        </p:spPr>
        <p:txBody>
          <a:bodyPr wrap="square" rtlCol="0">
            <a:spAutoFit/>
          </a:bodyPr>
          <a:lstStyle/>
          <a:p>
            <a:r>
              <a:rPr lang="en-US" b="1" dirty="0"/>
              <a:t>0</a:t>
            </a:r>
          </a:p>
        </p:txBody>
      </p:sp>
      <p:sp>
        <p:nvSpPr>
          <p:cNvPr id="21" name="Rectangle 20"/>
          <p:cNvSpPr/>
          <p:nvPr/>
        </p:nvSpPr>
        <p:spPr>
          <a:xfrm>
            <a:off x="8386628" y="4873292"/>
            <a:ext cx="1872965" cy="954107"/>
          </a:xfrm>
          <a:prstGeom prst="rect">
            <a:avLst/>
          </a:prstGeom>
        </p:spPr>
        <p:txBody>
          <a:bodyPr wrap="square">
            <a:spAutoFit/>
          </a:bodyPr>
          <a:lstStyle/>
          <a:p>
            <a:pPr marL="0" lvl="2"/>
            <a:r>
              <a:rPr lang="en-US" sz="1400" dirty="0"/>
              <a:t>𝑆={</a:t>
            </a:r>
            <a:r>
              <a:rPr lang="en-US" sz="1400" b="1" dirty="0">
                <a:solidFill>
                  <a:srgbClr val="FF0000"/>
                </a:solidFill>
              </a:rPr>
              <a:t>9</a:t>
            </a:r>
            <a:r>
              <a:rPr lang="en-US" sz="1400" dirty="0"/>
              <a:t>}</a:t>
            </a:r>
          </a:p>
          <a:p>
            <a:pPr marL="0" lvl="2"/>
            <a:r>
              <a:rPr lang="en-US" sz="1400" i="1" dirty="0"/>
              <a:t>E</a:t>
            </a:r>
            <a:r>
              <a:rPr lang="en-US" sz="1400" dirty="0"/>
              <a:t>={2,3,4,5,6,7,8}</a:t>
            </a:r>
          </a:p>
          <a:p>
            <a:pPr marL="0" lvl="2"/>
            <a:r>
              <a:rPr lang="en-US" sz="1400" i="1" dirty="0"/>
              <a:t>N</a:t>
            </a:r>
            <a:r>
              <a:rPr lang="en-US" sz="1400" dirty="0"/>
              <a:t>={2,3,4,5,6,7,8}</a:t>
            </a:r>
          </a:p>
          <a:p>
            <a:pPr marL="0" lvl="2"/>
            <a:r>
              <a:rPr lang="en-US" sz="1400" i="1" dirty="0"/>
              <a:t>D</a:t>
            </a:r>
            <a:r>
              <a:rPr lang="en-US" sz="1400" dirty="0"/>
              <a:t>={2,3,4,5,6,7,8}</a:t>
            </a:r>
          </a:p>
        </p:txBody>
      </p:sp>
      <p:sp>
        <p:nvSpPr>
          <p:cNvPr id="22" name="Rectangle 21"/>
          <p:cNvSpPr/>
          <p:nvPr/>
        </p:nvSpPr>
        <p:spPr>
          <a:xfrm>
            <a:off x="10089897" y="4873292"/>
            <a:ext cx="1866330" cy="954107"/>
          </a:xfrm>
          <a:prstGeom prst="rect">
            <a:avLst/>
          </a:prstGeom>
        </p:spPr>
        <p:txBody>
          <a:bodyPr wrap="square">
            <a:spAutoFit/>
          </a:bodyPr>
          <a:lstStyle/>
          <a:p>
            <a:pPr marL="0" lvl="2"/>
            <a:r>
              <a:rPr lang="en-US" sz="1400" i="1" dirty="0"/>
              <a:t>M</a:t>
            </a:r>
            <a:r>
              <a:rPr lang="en-US" sz="1400" dirty="0"/>
              <a:t>={</a:t>
            </a:r>
            <a:r>
              <a:rPr lang="en-US" sz="1400" b="1" dirty="0">
                <a:solidFill>
                  <a:srgbClr val="FF0000"/>
                </a:solidFill>
              </a:rPr>
              <a:t>1</a:t>
            </a:r>
            <a:r>
              <a:rPr lang="en-US" sz="1400" dirty="0"/>
              <a:t>}</a:t>
            </a:r>
          </a:p>
          <a:p>
            <a:pPr marL="0" lvl="2"/>
            <a:r>
              <a:rPr lang="en-US" sz="1400" i="1" dirty="0"/>
              <a:t>O</a:t>
            </a:r>
            <a:r>
              <a:rPr lang="en-US" sz="1400" dirty="0"/>
              <a:t>={</a:t>
            </a:r>
            <a:r>
              <a:rPr lang="en-US" sz="1400" b="1" dirty="0">
                <a:solidFill>
                  <a:srgbClr val="FF0000"/>
                </a:solidFill>
              </a:rPr>
              <a:t>0</a:t>
            </a:r>
            <a:r>
              <a:rPr lang="en-US" sz="1400" dirty="0"/>
              <a:t>}</a:t>
            </a:r>
          </a:p>
          <a:p>
            <a:pPr marL="0" lvl="2"/>
            <a:r>
              <a:rPr lang="en-US" sz="1400" i="1" dirty="0"/>
              <a:t>R</a:t>
            </a:r>
            <a:r>
              <a:rPr lang="en-US" sz="1400" dirty="0"/>
              <a:t>={2,3,4,5,6,7,8}</a:t>
            </a:r>
          </a:p>
          <a:p>
            <a:pPr marL="0" lvl="2"/>
            <a:r>
              <a:rPr lang="en-US" sz="1400" i="1" dirty="0"/>
              <a:t>Y</a:t>
            </a:r>
            <a:r>
              <a:rPr lang="en-US" sz="1400" dirty="0"/>
              <a:t>={2,3,4,5,6,7,8}</a:t>
            </a:r>
          </a:p>
        </p:txBody>
      </p:sp>
      <p:sp>
        <p:nvSpPr>
          <p:cNvPr id="23" name="TextBox 22"/>
          <p:cNvSpPr txBox="1"/>
          <p:nvPr/>
        </p:nvSpPr>
        <p:spPr>
          <a:xfrm>
            <a:off x="8974345" y="5774923"/>
            <a:ext cx="2364943" cy="307777"/>
          </a:xfrm>
          <a:prstGeom prst="rect">
            <a:avLst/>
          </a:prstGeom>
          <a:noFill/>
        </p:spPr>
        <p:txBody>
          <a:bodyPr wrap="none" rtlCol="0">
            <a:spAutoFit/>
          </a:bodyPr>
          <a:lstStyle/>
          <a:p>
            <a:r>
              <a:rPr lang="en-US" sz="1400" dirty="0">
                <a:solidFill>
                  <a:srgbClr val="0033CC"/>
                </a:solidFill>
              </a:rPr>
              <a:t>Updated domains of variables</a:t>
            </a:r>
          </a:p>
        </p:txBody>
      </p:sp>
      <p:sp>
        <p:nvSpPr>
          <p:cNvPr id="24" name="TextBox 23">
            <a:extLst>
              <a:ext uri="{FF2B5EF4-FFF2-40B4-BE49-F238E27FC236}">
                <a16:creationId xmlns:a16="http://schemas.microsoft.com/office/drawing/2014/main" id="{579476FA-426B-4952-B23E-E5E5B795B8BD}"/>
              </a:ext>
            </a:extLst>
          </p:cNvPr>
          <p:cNvSpPr txBox="1"/>
          <p:nvPr/>
        </p:nvSpPr>
        <p:spPr>
          <a:xfrm>
            <a:off x="9893782" y="3244334"/>
            <a:ext cx="308538" cy="369332"/>
          </a:xfrm>
          <a:prstGeom prst="rect">
            <a:avLst/>
          </a:prstGeom>
          <a:solidFill>
            <a:srgbClr val="FFFF00"/>
          </a:solidFill>
        </p:spPr>
        <p:txBody>
          <a:bodyPr wrap="square" rtlCol="0">
            <a:spAutoFit/>
          </a:bodyPr>
          <a:lstStyle/>
          <a:p>
            <a:r>
              <a:rPr lang="en-US" b="1" dirty="0"/>
              <a:t>0</a:t>
            </a:r>
          </a:p>
        </p:txBody>
      </p:sp>
      <p:sp>
        <p:nvSpPr>
          <p:cNvPr id="25" name="TextBox 24">
            <a:extLst>
              <a:ext uri="{FF2B5EF4-FFF2-40B4-BE49-F238E27FC236}">
                <a16:creationId xmlns:a16="http://schemas.microsoft.com/office/drawing/2014/main" id="{1AADE91D-1F30-4BA8-AF05-77C5F32F4C2B}"/>
              </a:ext>
            </a:extLst>
          </p:cNvPr>
          <p:cNvSpPr txBox="1"/>
          <p:nvPr/>
        </p:nvSpPr>
        <p:spPr>
          <a:xfrm>
            <a:off x="8634953" y="1932494"/>
            <a:ext cx="339392" cy="369332"/>
          </a:xfrm>
          <a:prstGeom prst="rect">
            <a:avLst/>
          </a:prstGeom>
          <a:solidFill>
            <a:srgbClr val="FFFF00"/>
          </a:solidFill>
        </p:spPr>
        <p:txBody>
          <a:bodyPr wrap="square" rtlCol="0">
            <a:spAutoFit/>
          </a:bodyPr>
          <a:lstStyle/>
          <a:p>
            <a:r>
              <a:rPr lang="en-US" b="1" dirty="0"/>
              <a:t>1</a:t>
            </a:r>
          </a:p>
        </p:txBody>
      </p:sp>
      <p:sp>
        <p:nvSpPr>
          <p:cNvPr id="26" name="TextBox 25">
            <a:extLst>
              <a:ext uri="{FF2B5EF4-FFF2-40B4-BE49-F238E27FC236}">
                <a16:creationId xmlns:a16="http://schemas.microsoft.com/office/drawing/2014/main" id="{239C6586-F6F4-471D-919E-243765E251C3}"/>
              </a:ext>
            </a:extLst>
          </p:cNvPr>
          <p:cNvSpPr txBox="1"/>
          <p:nvPr/>
        </p:nvSpPr>
        <p:spPr>
          <a:xfrm>
            <a:off x="9269055" y="3244334"/>
            <a:ext cx="339392" cy="369332"/>
          </a:xfrm>
          <a:prstGeom prst="rect">
            <a:avLst/>
          </a:prstGeom>
          <a:solidFill>
            <a:srgbClr val="FFFF00"/>
          </a:solidFill>
        </p:spPr>
        <p:txBody>
          <a:bodyPr wrap="square" rtlCol="0">
            <a:spAutoFit/>
          </a:bodyPr>
          <a:lstStyle/>
          <a:p>
            <a:r>
              <a:rPr lang="en-US" b="1" dirty="0"/>
              <a:t>1</a:t>
            </a:r>
          </a:p>
        </p:txBody>
      </p:sp>
      <p:sp>
        <p:nvSpPr>
          <p:cNvPr id="27" name="TextBox 26">
            <a:extLst>
              <a:ext uri="{FF2B5EF4-FFF2-40B4-BE49-F238E27FC236}">
                <a16:creationId xmlns:a16="http://schemas.microsoft.com/office/drawing/2014/main" id="{ED1F6C1E-D4AF-4256-B2C1-5A92856F93AE}"/>
              </a:ext>
            </a:extLst>
          </p:cNvPr>
          <p:cNvSpPr txBox="1"/>
          <p:nvPr/>
        </p:nvSpPr>
        <p:spPr>
          <a:xfrm>
            <a:off x="8744010" y="4072379"/>
            <a:ext cx="339392" cy="369332"/>
          </a:xfrm>
          <a:prstGeom prst="rect">
            <a:avLst/>
          </a:prstGeom>
          <a:solidFill>
            <a:srgbClr val="FFFF00"/>
          </a:solidFill>
        </p:spPr>
        <p:txBody>
          <a:bodyPr wrap="square" rtlCol="0">
            <a:spAutoFit/>
          </a:bodyPr>
          <a:lstStyle/>
          <a:p>
            <a:r>
              <a:rPr lang="en-US" b="1" dirty="0"/>
              <a:t>1</a:t>
            </a:r>
          </a:p>
        </p:txBody>
      </p:sp>
    </p:spTree>
    <p:extLst>
      <p:ext uri="{BB962C8B-B14F-4D97-AF65-F5344CB8AC3E}">
        <p14:creationId xmlns:p14="http://schemas.microsoft.com/office/powerpoint/2010/main" val="255078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4"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28905-8CAB-4F65-A7E3-9DF2346949AB}"/>
              </a:ext>
            </a:extLst>
          </p:cNvPr>
          <p:cNvSpPr>
            <a:spLocks noGrp="1"/>
          </p:cNvSpPr>
          <p:nvPr>
            <p:ph type="title"/>
          </p:nvPr>
        </p:nvSpPr>
        <p:spPr/>
        <p:txBody>
          <a:bodyPr>
            <a:normAutofit fontScale="90000"/>
          </a:bodyPr>
          <a:lstStyle/>
          <a:p>
            <a:r>
              <a:rPr lang="en-US" dirty="0"/>
              <a:t>CSP: Cryptarithmetic  </a:t>
            </a:r>
          </a:p>
        </p:txBody>
      </p:sp>
      <p:sp>
        <p:nvSpPr>
          <p:cNvPr id="3" name="Content Placeholder 2">
            <a:extLst>
              <a:ext uri="{FF2B5EF4-FFF2-40B4-BE49-F238E27FC236}">
                <a16:creationId xmlns:a16="http://schemas.microsoft.com/office/drawing/2014/main" id="{A38D9CFD-A00E-4078-8F3B-E7571B5A0A47}"/>
              </a:ext>
            </a:extLst>
          </p:cNvPr>
          <p:cNvSpPr>
            <a:spLocks noGrp="1"/>
          </p:cNvSpPr>
          <p:nvPr>
            <p:ph idx="1"/>
          </p:nvPr>
        </p:nvSpPr>
        <p:spPr>
          <a:xfrm>
            <a:off x="304800" y="1228153"/>
            <a:ext cx="7445406" cy="5021979"/>
          </a:xfrm>
        </p:spPr>
        <p:txBody>
          <a:bodyPr>
            <a:normAutofit/>
          </a:bodyPr>
          <a:lstStyle/>
          <a:p>
            <a:r>
              <a:rPr lang="en-US" dirty="0">
                <a:solidFill>
                  <a:schemeClr val="accent6">
                    <a:lumMod val="75000"/>
                  </a:schemeClr>
                </a:solidFill>
              </a:rPr>
              <a:t>Step 4</a:t>
            </a:r>
            <a:r>
              <a:rPr lang="en-US" dirty="0"/>
              <a:t>: consider the equation 𝑐2+𝐸=𝑁. It has two possible solutions:</a:t>
            </a:r>
          </a:p>
          <a:p>
            <a:pPr lvl="1"/>
            <a:r>
              <a:rPr lang="en-US" dirty="0"/>
              <a:t>if 𝑐</a:t>
            </a:r>
            <a:r>
              <a:rPr lang="en-US" baseline="-25000" dirty="0"/>
              <a:t>2</a:t>
            </a:r>
            <a:r>
              <a:rPr lang="en-US" dirty="0"/>
              <a:t>=0 then we have 𝐸=𝑁, this </a:t>
            </a:r>
            <a:r>
              <a:rPr lang="en-US" dirty="0">
                <a:solidFill>
                  <a:srgbClr val="FF0000"/>
                </a:solidFill>
              </a:rPr>
              <a:t>contradicts</a:t>
            </a:r>
            <a:r>
              <a:rPr lang="en-US" dirty="0"/>
              <a:t> with constraint (1), i.e. Each letter should have a unique and distinct value → </a:t>
            </a:r>
            <a:r>
              <a:rPr lang="en-US" dirty="0">
                <a:solidFill>
                  <a:srgbClr val="FF0000"/>
                </a:solidFill>
              </a:rPr>
              <a:t>discard this option</a:t>
            </a:r>
            <a:r>
              <a:rPr lang="en-US" dirty="0"/>
              <a:t>.</a:t>
            </a:r>
          </a:p>
          <a:p>
            <a:pPr lvl="1"/>
            <a:r>
              <a:rPr lang="en-US" dirty="0"/>
              <a:t>𝑐</a:t>
            </a:r>
            <a:r>
              <a:rPr lang="en-US" baseline="-25000" dirty="0"/>
              <a:t>2</a:t>
            </a:r>
            <a:r>
              <a:rPr lang="en-US" dirty="0"/>
              <a:t>=1 then we have 1+𝐸=𝑁</a:t>
            </a:r>
          </a:p>
          <a:p>
            <a:pPr lvl="1"/>
            <a:endParaRPr lang="en-US" dirty="0"/>
          </a:p>
          <a:p>
            <a:pPr lvl="1"/>
            <a:endParaRPr lang="en-US" dirty="0"/>
          </a:p>
        </p:txBody>
      </p:sp>
      <p:sp>
        <p:nvSpPr>
          <p:cNvPr id="4" name="Date Placeholder 3">
            <a:extLst>
              <a:ext uri="{FF2B5EF4-FFF2-40B4-BE49-F238E27FC236}">
                <a16:creationId xmlns:a16="http://schemas.microsoft.com/office/drawing/2014/main" id="{0ED05FA7-46CE-43C3-964D-EA7C0412674C}"/>
              </a:ext>
            </a:extLst>
          </p:cNvPr>
          <p:cNvSpPr>
            <a:spLocks noGrp="1"/>
          </p:cNvSpPr>
          <p:nvPr>
            <p:ph type="dt" sz="half" idx="10"/>
          </p:nvPr>
        </p:nvSpPr>
        <p:spPr/>
        <p:txBody>
          <a:bodyPr/>
          <a:lstStyle/>
          <a:p>
            <a:fld id="{AB4A0B9C-4CB9-4925-A60D-5C0FF3F5A793}" type="datetime1">
              <a:rPr lang="en-US" smtClean="0"/>
              <a:t>10/16/2022</a:t>
            </a:fld>
            <a:endParaRPr lang="en-US" dirty="0"/>
          </a:p>
        </p:txBody>
      </p:sp>
      <p:sp>
        <p:nvSpPr>
          <p:cNvPr id="5" name="Footer Placeholder 4">
            <a:extLst>
              <a:ext uri="{FF2B5EF4-FFF2-40B4-BE49-F238E27FC236}">
                <a16:creationId xmlns:a16="http://schemas.microsoft.com/office/drawing/2014/main" id="{56411E36-7743-49E3-B73C-48A9726D3B12}"/>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7915844A-1C77-43F6-B513-C23306A93385}"/>
              </a:ext>
            </a:extLst>
          </p:cNvPr>
          <p:cNvSpPr>
            <a:spLocks noGrp="1"/>
          </p:cNvSpPr>
          <p:nvPr>
            <p:ph type="sldNum" sz="quarter" idx="12"/>
          </p:nvPr>
        </p:nvSpPr>
        <p:spPr/>
        <p:txBody>
          <a:bodyPr/>
          <a:lstStyle/>
          <a:p>
            <a:fld id="{B7884E68-CE57-44C0-BE0F-84C629DF22D5}" type="slidenum">
              <a:rPr lang="en-US" dirty="0" smtClean="0"/>
              <a:t>97</a:t>
            </a:fld>
            <a:endParaRPr lang="en-US" dirty="0"/>
          </a:p>
        </p:txBody>
      </p:sp>
      <p:pic>
        <p:nvPicPr>
          <p:cNvPr id="14" name="Picture 13" descr="A picture containing rectangle&#10;&#10;Description automatically generated">
            <a:extLst>
              <a:ext uri="{FF2B5EF4-FFF2-40B4-BE49-F238E27FC236}">
                <a16:creationId xmlns:a16="http://schemas.microsoft.com/office/drawing/2014/main" id="{33B32DFE-D70F-4D0A-AC42-116BE1B3F4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257" y="1788889"/>
            <a:ext cx="3861942" cy="2798508"/>
          </a:xfrm>
          <a:prstGeom prst="rect">
            <a:avLst/>
          </a:prstGeom>
        </p:spPr>
      </p:pic>
      <p:sp>
        <p:nvSpPr>
          <p:cNvPr id="7" name="TextBox 6">
            <a:extLst>
              <a:ext uri="{FF2B5EF4-FFF2-40B4-BE49-F238E27FC236}">
                <a16:creationId xmlns:a16="http://schemas.microsoft.com/office/drawing/2014/main" id="{8562998D-3C82-440F-8F09-2AB52503F952}"/>
              </a:ext>
            </a:extLst>
          </p:cNvPr>
          <p:cNvSpPr txBox="1"/>
          <p:nvPr/>
        </p:nvSpPr>
        <p:spPr>
          <a:xfrm>
            <a:off x="9860438" y="1913641"/>
            <a:ext cx="339392" cy="369332"/>
          </a:xfrm>
          <a:prstGeom prst="rect">
            <a:avLst/>
          </a:prstGeom>
          <a:solidFill>
            <a:srgbClr val="FFFF00"/>
          </a:solidFill>
        </p:spPr>
        <p:txBody>
          <a:bodyPr wrap="square" rtlCol="0">
            <a:spAutoFit/>
          </a:bodyPr>
          <a:lstStyle/>
          <a:p>
            <a:r>
              <a:rPr lang="en-US" b="1" dirty="0"/>
              <a:t>1</a:t>
            </a:r>
          </a:p>
        </p:txBody>
      </p:sp>
      <p:sp>
        <p:nvSpPr>
          <p:cNvPr id="11" name="TextBox 10">
            <a:extLst>
              <a:ext uri="{FF2B5EF4-FFF2-40B4-BE49-F238E27FC236}">
                <a16:creationId xmlns:a16="http://schemas.microsoft.com/office/drawing/2014/main" id="{89D97A27-C481-4E2F-85B3-21F9ECF02A82}"/>
              </a:ext>
            </a:extLst>
          </p:cNvPr>
          <p:cNvSpPr txBox="1"/>
          <p:nvPr/>
        </p:nvSpPr>
        <p:spPr>
          <a:xfrm>
            <a:off x="8634953" y="1932494"/>
            <a:ext cx="339392" cy="369332"/>
          </a:xfrm>
          <a:prstGeom prst="rect">
            <a:avLst/>
          </a:prstGeom>
          <a:solidFill>
            <a:schemeClr val="bg1"/>
          </a:solidFill>
        </p:spPr>
        <p:txBody>
          <a:bodyPr wrap="square" rtlCol="0">
            <a:spAutoFit/>
          </a:bodyPr>
          <a:lstStyle/>
          <a:p>
            <a:r>
              <a:rPr lang="en-US" b="1" dirty="0"/>
              <a:t>1</a:t>
            </a:r>
          </a:p>
        </p:txBody>
      </p:sp>
      <p:sp>
        <p:nvSpPr>
          <p:cNvPr id="12" name="TextBox 11">
            <a:extLst>
              <a:ext uri="{FF2B5EF4-FFF2-40B4-BE49-F238E27FC236}">
                <a16:creationId xmlns:a16="http://schemas.microsoft.com/office/drawing/2014/main" id="{2E114722-D9D8-4E3C-9286-E1F78454AA80}"/>
              </a:ext>
            </a:extLst>
          </p:cNvPr>
          <p:cNvSpPr txBox="1"/>
          <p:nvPr/>
        </p:nvSpPr>
        <p:spPr>
          <a:xfrm>
            <a:off x="9323111" y="3244334"/>
            <a:ext cx="339392" cy="369332"/>
          </a:xfrm>
          <a:prstGeom prst="rect">
            <a:avLst/>
          </a:prstGeom>
          <a:solidFill>
            <a:schemeClr val="bg1"/>
          </a:solidFill>
        </p:spPr>
        <p:txBody>
          <a:bodyPr wrap="square" rtlCol="0">
            <a:spAutoFit/>
          </a:bodyPr>
          <a:lstStyle/>
          <a:p>
            <a:r>
              <a:rPr lang="en-US" b="1" dirty="0"/>
              <a:t>1</a:t>
            </a:r>
          </a:p>
        </p:txBody>
      </p:sp>
      <p:sp>
        <p:nvSpPr>
          <p:cNvPr id="13" name="TextBox 12">
            <a:extLst>
              <a:ext uri="{FF2B5EF4-FFF2-40B4-BE49-F238E27FC236}">
                <a16:creationId xmlns:a16="http://schemas.microsoft.com/office/drawing/2014/main" id="{3E4F43EB-4FAD-43B3-B8E6-F08727AB4113}"/>
              </a:ext>
            </a:extLst>
          </p:cNvPr>
          <p:cNvSpPr txBox="1"/>
          <p:nvPr/>
        </p:nvSpPr>
        <p:spPr>
          <a:xfrm>
            <a:off x="8804649" y="4072379"/>
            <a:ext cx="339392" cy="369332"/>
          </a:xfrm>
          <a:prstGeom prst="rect">
            <a:avLst/>
          </a:prstGeom>
          <a:solidFill>
            <a:schemeClr val="bg1"/>
          </a:solidFill>
        </p:spPr>
        <p:txBody>
          <a:bodyPr wrap="square" rtlCol="0">
            <a:spAutoFit/>
          </a:bodyPr>
          <a:lstStyle/>
          <a:p>
            <a:r>
              <a:rPr lang="en-US" b="1" dirty="0"/>
              <a:t>1</a:t>
            </a:r>
          </a:p>
        </p:txBody>
      </p:sp>
      <p:sp>
        <p:nvSpPr>
          <p:cNvPr id="15" name="TextBox 14">
            <a:extLst>
              <a:ext uri="{FF2B5EF4-FFF2-40B4-BE49-F238E27FC236}">
                <a16:creationId xmlns:a16="http://schemas.microsoft.com/office/drawing/2014/main" id="{0E084643-858A-4187-AB81-CEAE7D63981E}"/>
              </a:ext>
            </a:extLst>
          </p:cNvPr>
          <p:cNvSpPr txBox="1"/>
          <p:nvPr/>
        </p:nvSpPr>
        <p:spPr>
          <a:xfrm>
            <a:off x="9323111" y="2576602"/>
            <a:ext cx="339392" cy="369332"/>
          </a:xfrm>
          <a:prstGeom prst="rect">
            <a:avLst/>
          </a:prstGeom>
          <a:solidFill>
            <a:schemeClr val="bg1"/>
          </a:solidFill>
        </p:spPr>
        <p:txBody>
          <a:bodyPr wrap="square" rtlCol="0">
            <a:spAutoFit/>
          </a:bodyPr>
          <a:lstStyle/>
          <a:p>
            <a:r>
              <a:rPr lang="en-US" b="1" dirty="0"/>
              <a:t>9</a:t>
            </a:r>
          </a:p>
        </p:txBody>
      </p:sp>
      <p:sp>
        <p:nvSpPr>
          <p:cNvPr id="16" name="TextBox 15">
            <a:extLst>
              <a:ext uri="{FF2B5EF4-FFF2-40B4-BE49-F238E27FC236}">
                <a16:creationId xmlns:a16="http://schemas.microsoft.com/office/drawing/2014/main" id="{E21DFCC7-A727-4745-AC5F-1D289B5EEF54}"/>
              </a:ext>
            </a:extLst>
          </p:cNvPr>
          <p:cNvSpPr txBox="1"/>
          <p:nvPr/>
        </p:nvSpPr>
        <p:spPr>
          <a:xfrm>
            <a:off x="9377957" y="4072379"/>
            <a:ext cx="308538" cy="369332"/>
          </a:xfrm>
          <a:prstGeom prst="rect">
            <a:avLst/>
          </a:prstGeom>
          <a:solidFill>
            <a:schemeClr val="bg1"/>
          </a:solidFill>
        </p:spPr>
        <p:txBody>
          <a:bodyPr wrap="square" rtlCol="0">
            <a:spAutoFit/>
          </a:bodyPr>
          <a:lstStyle/>
          <a:p>
            <a:r>
              <a:rPr lang="en-US" b="1" dirty="0"/>
              <a:t>0</a:t>
            </a:r>
          </a:p>
        </p:txBody>
      </p:sp>
      <p:sp>
        <p:nvSpPr>
          <p:cNvPr id="17" name="TextBox 16">
            <a:extLst>
              <a:ext uri="{FF2B5EF4-FFF2-40B4-BE49-F238E27FC236}">
                <a16:creationId xmlns:a16="http://schemas.microsoft.com/office/drawing/2014/main" id="{B75D3952-C267-4FBD-A8DC-3D6EB03FD9D1}"/>
              </a:ext>
            </a:extLst>
          </p:cNvPr>
          <p:cNvSpPr txBox="1"/>
          <p:nvPr/>
        </p:nvSpPr>
        <p:spPr>
          <a:xfrm>
            <a:off x="9251969" y="1923479"/>
            <a:ext cx="308538" cy="369332"/>
          </a:xfrm>
          <a:prstGeom prst="rect">
            <a:avLst/>
          </a:prstGeom>
          <a:solidFill>
            <a:schemeClr val="bg1"/>
          </a:solidFill>
        </p:spPr>
        <p:txBody>
          <a:bodyPr wrap="square" rtlCol="0">
            <a:spAutoFit/>
          </a:bodyPr>
          <a:lstStyle/>
          <a:p>
            <a:r>
              <a:rPr lang="en-US" b="1" dirty="0"/>
              <a:t>0</a:t>
            </a:r>
          </a:p>
        </p:txBody>
      </p:sp>
      <p:sp>
        <p:nvSpPr>
          <p:cNvPr id="18" name="Rectangle 17"/>
          <p:cNvSpPr/>
          <p:nvPr/>
        </p:nvSpPr>
        <p:spPr>
          <a:xfrm>
            <a:off x="8386628" y="4873292"/>
            <a:ext cx="1872965" cy="954107"/>
          </a:xfrm>
          <a:prstGeom prst="rect">
            <a:avLst/>
          </a:prstGeom>
        </p:spPr>
        <p:txBody>
          <a:bodyPr wrap="square">
            <a:spAutoFit/>
          </a:bodyPr>
          <a:lstStyle/>
          <a:p>
            <a:pPr marL="0" lvl="2"/>
            <a:r>
              <a:rPr lang="en-US" sz="1400" dirty="0"/>
              <a:t>𝑆={</a:t>
            </a:r>
            <a:r>
              <a:rPr lang="en-US" sz="1400" b="1" dirty="0">
                <a:solidFill>
                  <a:srgbClr val="FF0000"/>
                </a:solidFill>
              </a:rPr>
              <a:t>9</a:t>
            </a:r>
            <a:r>
              <a:rPr lang="en-US" sz="1400" dirty="0"/>
              <a:t>}</a:t>
            </a:r>
          </a:p>
          <a:p>
            <a:pPr marL="0" lvl="2"/>
            <a:r>
              <a:rPr lang="en-US" sz="1400" i="1" dirty="0"/>
              <a:t>E</a:t>
            </a:r>
            <a:r>
              <a:rPr lang="en-US" sz="1400" dirty="0"/>
              <a:t>={2,3,4,5,6,7,8}</a:t>
            </a:r>
          </a:p>
          <a:p>
            <a:pPr marL="0" lvl="2"/>
            <a:r>
              <a:rPr lang="en-US" sz="1400" i="1" dirty="0"/>
              <a:t>N</a:t>
            </a:r>
            <a:r>
              <a:rPr lang="en-US" sz="1400" dirty="0"/>
              <a:t>={2,3,4,5,6,7,8}</a:t>
            </a:r>
          </a:p>
          <a:p>
            <a:pPr marL="0" lvl="2"/>
            <a:r>
              <a:rPr lang="en-US" sz="1400" i="1" dirty="0"/>
              <a:t>D</a:t>
            </a:r>
            <a:r>
              <a:rPr lang="en-US" sz="1400" dirty="0"/>
              <a:t>={2,3,4,5,6,7,8}</a:t>
            </a:r>
          </a:p>
        </p:txBody>
      </p:sp>
      <p:sp>
        <p:nvSpPr>
          <p:cNvPr id="19" name="Rectangle 18"/>
          <p:cNvSpPr/>
          <p:nvPr/>
        </p:nvSpPr>
        <p:spPr>
          <a:xfrm>
            <a:off x="10089897" y="4873292"/>
            <a:ext cx="1866330" cy="954107"/>
          </a:xfrm>
          <a:prstGeom prst="rect">
            <a:avLst/>
          </a:prstGeom>
        </p:spPr>
        <p:txBody>
          <a:bodyPr wrap="square">
            <a:spAutoFit/>
          </a:bodyPr>
          <a:lstStyle/>
          <a:p>
            <a:pPr marL="0" lvl="2"/>
            <a:r>
              <a:rPr lang="en-US" sz="1400" i="1" dirty="0"/>
              <a:t>M</a:t>
            </a:r>
            <a:r>
              <a:rPr lang="en-US" sz="1400" dirty="0"/>
              <a:t>={</a:t>
            </a:r>
            <a:r>
              <a:rPr lang="en-US" sz="1400" b="1" dirty="0">
                <a:solidFill>
                  <a:srgbClr val="FF0000"/>
                </a:solidFill>
              </a:rPr>
              <a:t>1</a:t>
            </a:r>
            <a:r>
              <a:rPr lang="en-US" sz="1400" dirty="0"/>
              <a:t>}</a:t>
            </a:r>
          </a:p>
          <a:p>
            <a:pPr marL="0" lvl="2"/>
            <a:r>
              <a:rPr lang="en-US" sz="1400" i="1" dirty="0"/>
              <a:t>O</a:t>
            </a:r>
            <a:r>
              <a:rPr lang="en-US" sz="1400" dirty="0"/>
              <a:t>={</a:t>
            </a:r>
            <a:r>
              <a:rPr lang="en-US" sz="1400" b="1" dirty="0">
                <a:solidFill>
                  <a:srgbClr val="FF0000"/>
                </a:solidFill>
              </a:rPr>
              <a:t>0</a:t>
            </a:r>
            <a:r>
              <a:rPr lang="en-US" sz="1400" dirty="0"/>
              <a:t>}</a:t>
            </a:r>
          </a:p>
          <a:p>
            <a:pPr marL="0" lvl="2"/>
            <a:r>
              <a:rPr lang="en-US" sz="1400" i="1" dirty="0"/>
              <a:t>R</a:t>
            </a:r>
            <a:r>
              <a:rPr lang="en-US" sz="1400" dirty="0"/>
              <a:t>={2,3,4,5,6,7,8}</a:t>
            </a:r>
          </a:p>
          <a:p>
            <a:pPr marL="0" lvl="2"/>
            <a:r>
              <a:rPr lang="en-US" sz="1400" i="1" dirty="0"/>
              <a:t>Y</a:t>
            </a:r>
            <a:r>
              <a:rPr lang="en-US" sz="1400" dirty="0"/>
              <a:t>={2,3,4,5,6,7,8}</a:t>
            </a:r>
          </a:p>
        </p:txBody>
      </p:sp>
      <p:sp>
        <p:nvSpPr>
          <p:cNvPr id="20" name="TextBox 19"/>
          <p:cNvSpPr txBox="1"/>
          <p:nvPr/>
        </p:nvSpPr>
        <p:spPr>
          <a:xfrm>
            <a:off x="8907425" y="5805517"/>
            <a:ext cx="2364943" cy="307777"/>
          </a:xfrm>
          <a:prstGeom prst="rect">
            <a:avLst/>
          </a:prstGeom>
          <a:noFill/>
        </p:spPr>
        <p:txBody>
          <a:bodyPr wrap="none" rtlCol="0">
            <a:spAutoFit/>
          </a:bodyPr>
          <a:lstStyle/>
          <a:p>
            <a:r>
              <a:rPr lang="en-US" sz="1400" dirty="0">
                <a:solidFill>
                  <a:srgbClr val="0033CC"/>
                </a:solidFill>
              </a:rPr>
              <a:t>Updated domains of variables</a:t>
            </a:r>
          </a:p>
        </p:txBody>
      </p:sp>
      <p:sp>
        <p:nvSpPr>
          <p:cNvPr id="21" name="TextBox 20">
            <a:extLst>
              <a:ext uri="{FF2B5EF4-FFF2-40B4-BE49-F238E27FC236}">
                <a16:creationId xmlns:a16="http://schemas.microsoft.com/office/drawing/2014/main" id="{53DC4B95-054B-4724-9177-E171B0DD6669}"/>
              </a:ext>
            </a:extLst>
          </p:cNvPr>
          <p:cNvSpPr txBox="1"/>
          <p:nvPr/>
        </p:nvSpPr>
        <p:spPr>
          <a:xfrm>
            <a:off x="8634953" y="1932494"/>
            <a:ext cx="339392" cy="369332"/>
          </a:xfrm>
          <a:prstGeom prst="rect">
            <a:avLst/>
          </a:prstGeom>
          <a:solidFill>
            <a:schemeClr val="bg1"/>
          </a:solidFill>
        </p:spPr>
        <p:txBody>
          <a:bodyPr wrap="square" rtlCol="0">
            <a:spAutoFit/>
          </a:bodyPr>
          <a:lstStyle/>
          <a:p>
            <a:r>
              <a:rPr lang="en-US" b="1" dirty="0"/>
              <a:t>1</a:t>
            </a:r>
          </a:p>
        </p:txBody>
      </p:sp>
      <p:sp>
        <p:nvSpPr>
          <p:cNvPr id="22" name="TextBox 21">
            <a:extLst>
              <a:ext uri="{FF2B5EF4-FFF2-40B4-BE49-F238E27FC236}">
                <a16:creationId xmlns:a16="http://schemas.microsoft.com/office/drawing/2014/main" id="{BB0621DE-4DBE-4BE1-88E6-1AED6E2DCAF7}"/>
              </a:ext>
            </a:extLst>
          </p:cNvPr>
          <p:cNvSpPr txBox="1"/>
          <p:nvPr/>
        </p:nvSpPr>
        <p:spPr>
          <a:xfrm>
            <a:off x="9323111" y="3244334"/>
            <a:ext cx="339392" cy="369332"/>
          </a:xfrm>
          <a:prstGeom prst="rect">
            <a:avLst/>
          </a:prstGeom>
          <a:solidFill>
            <a:schemeClr val="bg1"/>
          </a:solidFill>
        </p:spPr>
        <p:txBody>
          <a:bodyPr wrap="square" rtlCol="0">
            <a:spAutoFit/>
          </a:bodyPr>
          <a:lstStyle/>
          <a:p>
            <a:r>
              <a:rPr lang="en-US" b="1" dirty="0"/>
              <a:t>1</a:t>
            </a:r>
          </a:p>
        </p:txBody>
      </p:sp>
      <p:sp>
        <p:nvSpPr>
          <p:cNvPr id="23" name="TextBox 22">
            <a:extLst>
              <a:ext uri="{FF2B5EF4-FFF2-40B4-BE49-F238E27FC236}">
                <a16:creationId xmlns:a16="http://schemas.microsoft.com/office/drawing/2014/main" id="{AFD99453-83C2-4C98-82D5-DD37AA7CE358}"/>
              </a:ext>
            </a:extLst>
          </p:cNvPr>
          <p:cNvSpPr txBox="1"/>
          <p:nvPr/>
        </p:nvSpPr>
        <p:spPr>
          <a:xfrm>
            <a:off x="8804649" y="4072379"/>
            <a:ext cx="339392" cy="369332"/>
          </a:xfrm>
          <a:prstGeom prst="rect">
            <a:avLst/>
          </a:prstGeom>
          <a:solidFill>
            <a:schemeClr val="bg1"/>
          </a:solidFill>
        </p:spPr>
        <p:txBody>
          <a:bodyPr wrap="square" rtlCol="0">
            <a:spAutoFit/>
          </a:bodyPr>
          <a:lstStyle/>
          <a:p>
            <a:r>
              <a:rPr lang="en-US" b="1" dirty="0"/>
              <a:t>1</a:t>
            </a:r>
          </a:p>
        </p:txBody>
      </p:sp>
      <p:sp>
        <p:nvSpPr>
          <p:cNvPr id="24" name="TextBox 23">
            <a:extLst>
              <a:ext uri="{FF2B5EF4-FFF2-40B4-BE49-F238E27FC236}">
                <a16:creationId xmlns:a16="http://schemas.microsoft.com/office/drawing/2014/main" id="{13AC62E0-F322-415D-8AB7-31DC4F9476A7}"/>
              </a:ext>
            </a:extLst>
          </p:cNvPr>
          <p:cNvSpPr txBox="1"/>
          <p:nvPr/>
        </p:nvSpPr>
        <p:spPr>
          <a:xfrm>
            <a:off x="9271633" y="2576602"/>
            <a:ext cx="339392" cy="369332"/>
          </a:xfrm>
          <a:prstGeom prst="rect">
            <a:avLst/>
          </a:prstGeom>
          <a:solidFill>
            <a:srgbClr val="FFFF00"/>
          </a:solidFill>
        </p:spPr>
        <p:txBody>
          <a:bodyPr wrap="square" rtlCol="0">
            <a:spAutoFit/>
          </a:bodyPr>
          <a:lstStyle/>
          <a:p>
            <a:r>
              <a:rPr lang="en-US" b="1" dirty="0"/>
              <a:t>9</a:t>
            </a:r>
          </a:p>
        </p:txBody>
      </p:sp>
      <p:sp>
        <p:nvSpPr>
          <p:cNvPr id="25" name="TextBox 24">
            <a:extLst>
              <a:ext uri="{FF2B5EF4-FFF2-40B4-BE49-F238E27FC236}">
                <a16:creationId xmlns:a16="http://schemas.microsoft.com/office/drawing/2014/main" id="{579476FA-426B-4952-B23E-E5E5B795B8BD}"/>
              </a:ext>
            </a:extLst>
          </p:cNvPr>
          <p:cNvSpPr txBox="1"/>
          <p:nvPr/>
        </p:nvSpPr>
        <p:spPr>
          <a:xfrm>
            <a:off x="9377957" y="4072379"/>
            <a:ext cx="308538" cy="369332"/>
          </a:xfrm>
          <a:prstGeom prst="rect">
            <a:avLst/>
          </a:prstGeom>
          <a:solidFill>
            <a:srgbClr val="FFFF00"/>
          </a:solidFill>
        </p:spPr>
        <p:txBody>
          <a:bodyPr wrap="square" rtlCol="0">
            <a:spAutoFit/>
          </a:bodyPr>
          <a:lstStyle/>
          <a:p>
            <a:r>
              <a:rPr lang="en-US" b="1" dirty="0"/>
              <a:t>0</a:t>
            </a:r>
          </a:p>
        </p:txBody>
      </p:sp>
      <p:sp>
        <p:nvSpPr>
          <p:cNvPr id="26" name="TextBox 25">
            <a:extLst>
              <a:ext uri="{FF2B5EF4-FFF2-40B4-BE49-F238E27FC236}">
                <a16:creationId xmlns:a16="http://schemas.microsoft.com/office/drawing/2014/main" id="{719455F4-F987-40E2-BFA5-4F5BA7BCC874}"/>
              </a:ext>
            </a:extLst>
          </p:cNvPr>
          <p:cNvSpPr txBox="1"/>
          <p:nvPr/>
        </p:nvSpPr>
        <p:spPr>
          <a:xfrm>
            <a:off x="9251969" y="1923479"/>
            <a:ext cx="308538" cy="369332"/>
          </a:xfrm>
          <a:prstGeom prst="rect">
            <a:avLst/>
          </a:prstGeom>
          <a:solidFill>
            <a:srgbClr val="FFFF00"/>
          </a:solidFill>
        </p:spPr>
        <p:txBody>
          <a:bodyPr wrap="square" rtlCol="0">
            <a:spAutoFit/>
          </a:bodyPr>
          <a:lstStyle/>
          <a:p>
            <a:r>
              <a:rPr lang="en-US" b="1" dirty="0"/>
              <a:t>0</a:t>
            </a:r>
          </a:p>
        </p:txBody>
      </p:sp>
      <p:sp>
        <p:nvSpPr>
          <p:cNvPr id="27" name="TextBox 26">
            <a:extLst>
              <a:ext uri="{FF2B5EF4-FFF2-40B4-BE49-F238E27FC236}">
                <a16:creationId xmlns:a16="http://schemas.microsoft.com/office/drawing/2014/main" id="{579476FA-426B-4952-B23E-E5E5B795B8BD}"/>
              </a:ext>
            </a:extLst>
          </p:cNvPr>
          <p:cNvSpPr txBox="1"/>
          <p:nvPr/>
        </p:nvSpPr>
        <p:spPr>
          <a:xfrm>
            <a:off x="9893782" y="3244334"/>
            <a:ext cx="308538" cy="369332"/>
          </a:xfrm>
          <a:prstGeom prst="rect">
            <a:avLst/>
          </a:prstGeom>
          <a:solidFill>
            <a:srgbClr val="FFFF00"/>
          </a:solidFill>
        </p:spPr>
        <p:txBody>
          <a:bodyPr wrap="square" rtlCol="0">
            <a:spAutoFit/>
          </a:bodyPr>
          <a:lstStyle/>
          <a:p>
            <a:r>
              <a:rPr lang="en-US" b="1" dirty="0"/>
              <a:t>0</a:t>
            </a:r>
          </a:p>
        </p:txBody>
      </p:sp>
      <p:sp>
        <p:nvSpPr>
          <p:cNvPr id="28" name="TextBox 27">
            <a:extLst>
              <a:ext uri="{FF2B5EF4-FFF2-40B4-BE49-F238E27FC236}">
                <a16:creationId xmlns:a16="http://schemas.microsoft.com/office/drawing/2014/main" id="{1AADE91D-1F30-4BA8-AF05-77C5F32F4C2B}"/>
              </a:ext>
            </a:extLst>
          </p:cNvPr>
          <p:cNvSpPr txBox="1"/>
          <p:nvPr/>
        </p:nvSpPr>
        <p:spPr>
          <a:xfrm>
            <a:off x="8634953" y="1932494"/>
            <a:ext cx="339392" cy="369332"/>
          </a:xfrm>
          <a:prstGeom prst="rect">
            <a:avLst/>
          </a:prstGeom>
          <a:solidFill>
            <a:srgbClr val="FFFF00"/>
          </a:solidFill>
        </p:spPr>
        <p:txBody>
          <a:bodyPr wrap="square" rtlCol="0">
            <a:spAutoFit/>
          </a:bodyPr>
          <a:lstStyle/>
          <a:p>
            <a:r>
              <a:rPr lang="en-US" b="1" dirty="0"/>
              <a:t>1</a:t>
            </a:r>
          </a:p>
        </p:txBody>
      </p:sp>
      <p:sp>
        <p:nvSpPr>
          <p:cNvPr id="29" name="TextBox 28">
            <a:extLst>
              <a:ext uri="{FF2B5EF4-FFF2-40B4-BE49-F238E27FC236}">
                <a16:creationId xmlns:a16="http://schemas.microsoft.com/office/drawing/2014/main" id="{239C6586-F6F4-471D-919E-243765E251C3}"/>
              </a:ext>
            </a:extLst>
          </p:cNvPr>
          <p:cNvSpPr txBox="1"/>
          <p:nvPr/>
        </p:nvSpPr>
        <p:spPr>
          <a:xfrm>
            <a:off x="9269055" y="3244334"/>
            <a:ext cx="339392" cy="369332"/>
          </a:xfrm>
          <a:prstGeom prst="rect">
            <a:avLst/>
          </a:prstGeom>
          <a:solidFill>
            <a:srgbClr val="FFFF00"/>
          </a:solidFill>
        </p:spPr>
        <p:txBody>
          <a:bodyPr wrap="square" rtlCol="0">
            <a:spAutoFit/>
          </a:bodyPr>
          <a:lstStyle/>
          <a:p>
            <a:r>
              <a:rPr lang="en-US" b="1" dirty="0"/>
              <a:t>1</a:t>
            </a:r>
          </a:p>
        </p:txBody>
      </p:sp>
      <p:sp>
        <p:nvSpPr>
          <p:cNvPr id="30" name="TextBox 29">
            <a:extLst>
              <a:ext uri="{FF2B5EF4-FFF2-40B4-BE49-F238E27FC236}">
                <a16:creationId xmlns:a16="http://schemas.microsoft.com/office/drawing/2014/main" id="{ED1F6C1E-D4AF-4256-B2C1-5A92856F93AE}"/>
              </a:ext>
            </a:extLst>
          </p:cNvPr>
          <p:cNvSpPr txBox="1"/>
          <p:nvPr/>
        </p:nvSpPr>
        <p:spPr>
          <a:xfrm>
            <a:off x="8744010" y="4072379"/>
            <a:ext cx="339392" cy="369332"/>
          </a:xfrm>
          <a:prstGeom prst="rect">
            <a:avLst/>
          </a:prstGeom>
          <a:solidFill>
            <a:srgbClr val="FFFF00"/>
          </a:solidFill>
        </p:spPr>
        <p:txBody>
          <a:bodyPr wrap="square" rtlCol="0">
            <a:spAutoFit/>
          </a:bodyPr>
          <a:lstStyle/>
          <a:p>
            <a:r>
              <a:rPr lang="en-US" b="1" dirty="0"/>
              <a:t>1</a:t>
            </a:r>
          </a:p>
        </p:txBody>
      </p:sp>
    </p:spTree>
    <p:extLst>
      <p:ext uri="{BB962C8B-B14F-4D97-AF65-F5344CB8AC3E}">
        <p14:creationId xmlns:p14="http://schemas.microsoft.com/office/powerpoint/2010/main" val="2905608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28905-8CAB-4F65-A7E3-9DF2346949AB}"/>
              </a:ext>
            </a:extLst>
          </p:cNvPr>
          <p:cNvSpPr>
            <a:spLocks noGrp="1"/>
          </p:cNvSpPr>
          <p:nvPr>
            <p:ph type="title"/>
          </p:nvPr>
        </p:nvSpPr>
        <p:spPr/>
        <p:txBody>
          <a:bodyPr>
            <a:normAutofit fontScale="90000"/>
          </a:bodyPr>
          <a:lstStyle/>
          <a:p>
            <a:r>
              <a:rPr lang="en-US" dirty="0"/>
              <a:t>CSP: Cryptarithmetic  </a:t>
            </a:r>
          </a:p>
        </p:txBody>
      </p:sp>
      <p:sp>
        <p:nvSpPr>
          <p:cNvPr id="3" name="Content Placeholder 2">
            <a:extLst>
              <a:ext uri="{FF2B5EF4-FFF2-40B4-BE49-F238E27FC236}">
                <a16:creationId xmlns:a16="http://schemas.microsoft.com/office/drawing/2014/main" id="{A38D9CFD-A00E-4078-8F3B-E7571B5A0A47}"/>
              </a:ext>
            </a:extLst>
          </p:cNvPr>
          <p:cNvSpPr>
            <a:spLocks noGrp="1"/>
          </p:cNvSpPr>
          <p:nvPr>
            <p:ph idx="1"/>
          </p:nvPr>
        </p:nvSpPr>
        <p:spPr>
          <a:xfrm>
            <a:off x="304799" y="1228153"/>
            <a:ext cx="7879426" cy="5021979"/>
          </a:xfrm>
        </p:spPr>
        <p:txBody>
          <a:bodyPr>
            <a:normAutofit/>
          </a:bodyPr>
          <a:lstStyle/>
          <a:p>
            <a:r>
              <a:rPr lang="en-US" dirty="0">
                <a:solidFill>
                  <a:schemeClr val="accent6">
                    <a:lumMod val="75000"/>
                  </a:schemeClr>
                </a:solidFill>
              </a:rPr>
              <a:t>Step 5</a:t>
            </a:r>
            <a:r>
              <a:rPr lang="en-US" dirty="0"/>
              <a:t>: Consider 𝑐</a:t>
            </a:r>
            <a:r>
              <a:rPr lang="en-US" baseline="-25000" dirty="0"/>
              <a:t>1</a:t>
            </a:r>
            <a:r>
              <a:rPr lang="en-US" dirty="0"/>
              <a:t>+𝑁+𝑅=10+𝐸. Using </a:t>
            </a:r>
            <a:r>
              <a:rPr lang="en-US" dirty="0">
                <a:solidFill>
                  <a:schemeClr val="accent6">
                    <a:lumMod val="75000"/>
                  </a:schemeClr>
                </a:solidFill>
              </a:rPr>
              <a:t>Step 4</a:t>
            </a:r>
            <a:r>
              <a:rPr lang="en-US" dirty="0"/>
              <a:t>, (1+𝐸=𝑁), then substituting above we get 𝑐1+𝑅=9.</a:t>
            </a:r>
          </a:p>
          <a:p>
            <a:pPr lvl="1"/>
            <a:r>
              <a:rPr lang="en-US" dirty="0"/>
              <a:t>Selecting 𝑐</a:t>
            </a:r>
            <a:r>
              <a:rPr lang="en-US" i="0" baseline="-25000" dirty="0">
                <a:latin typeface="+mj-lt"/>
              </a:rPr>
              <a:t>1</a:t>
            </a:r>
            <a:r>
              <a:rPr lang="en-US" dirty="0"/>
              <a:t>=0 will result with 𝑅=9, </a:t>
            </a:r>
            <a:r>
              <a:rPr lang="en-US" dirty="0">
                <a:solidFill>
                  <a:srgbClr val="FF0000"/>
                </a:solidFill>
              </a:rPr>
              <a:t>contradicts</a:t>
            </a:r>
            <a:r>
              <a:rPr lang="en-US" dirty="0"/>
              <a:t> with constraint (1) since we have already chosen 𝑆=9, </a:t>
            </a:r>
            <a:r>
              <a:rPr lang="en-US" dirty="0">
                <a:solidFill>
                  <a:srgbClr val="FF0000"/>
                </a:solidFill>
              </a:rPr>
              <a:t>discard the option.</a:t>
            </a:r>
          </a:p>
          <a:p>
            <a:pPr lvl="1"/>
            <a:r>
              <a:rPr lang="en-US" dirty="0"/>
              <a:t>Thus, selecting 𝑐</a:t>
            </a:r>
            <a:r>
              <a:rPr lang="en-US" baseline="-25000" dirty="0"/>
              <a:t>1</a:t>
            </a:r>
            <a:r>
              <a:rPr lang="en-US" dirty="0"/>
              <a:t>=1 will result with 𝑅=8 and the problem reduces to: </a:t>
            </a:r>
          </a:p>
        </p:txBody>
      </p:sp>
      <p:sp>
        <p:nvSpPr>
          <p:cNvPr id="4" name="Date Placeholder 3">
            <a:extLst>
              <a:ext uri="{FF2B5EF4-FFF2-40B4-BE49-F238E27FC236}">
                <a16:creationId xmlns:a16="http://schemas.microsoft.com/office/drawing/2014/main" id="{0ED05FA7-46CE-43C3-964D-EA7C0412674C}"/>
              </a:ext>
            </a:extLst>
          </p:cNvPr>
          <p:cNvSpPr>
            <a:spLocks noGrp="1"/>
          </p:cNvSpPr>
          <p:nvPr>
            <p:ph type="dt" sz="half" idx="10"/>
          </p:nvPr>
        </p:nvSpPr>
        <p:spPr/>
        <p:txBody>
          <a:bodyPr/>
          <a:lstStyle/>
          <a:p>
            <a:fld id="{76557B32-468C-458A-A406-8B04E4AFC419}" type="datetime1">
              <a:rPr lang="en-US" smtClean="0"/>
              <a:t>10/16/2022</a:t>
            </a:fld>
            <a:endParaRPr lang="en-US" dirty="0"/>
          </a:p>
        </p:txBody>
      </p:sp>
      <p:sp>
        <p:nvSpPr>
          <p:cNvPr id="5" name="Footer Placeholder 4">
            <a:extLst>
              <a:ext uri="{FF2B5EF4-FFF2-40B4-BE49-F238E27FC236}">
                <a16:creationId xmlns:a16="http://schemas.microsoft.com/office/drawing/2014/main" id="{56411E36-7743-49E3-B73C-48A9726D3B12}"/>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7915844A-1C77-43F6-B513-C23306A93385}"/>
              </a:ext>
            </a:extLst>
          </p:cNvPr>
          <p:cNvSpPr>
            <a:spLocks noGrp="1"/>
          </p:cNvSpPr>
          <p:nvPr>
            <p:ph type="sldNum" sz="quarter" idx="12"/>
          </p:nvPr>
        </p:nvSpPr>
        <p:spPr/>
        <p:txBody>
          <a:bodyPr/>
          <a:lstStyle/>
          <a:p>
            <a:fld id="{B7884E68-CE57-44C0-BE0F-84C629DF22D5}" type="slidenum">
              <a:rPr lang="en-US" dirty="0" smtClean="0"/>
              <a:t>98</a:t>
            </a:fld>
            <a:endParaRPr lang="en-US" dirty="0"/>
          </a:p>
        </p:txBody>
      </p:sp>
      <p:pic>
        <p:nvPicPr>
          <p:cNvPr id="14" name="Picture 13" descr="A picture containing rectangle&#10;&#10;Description automatically generated">
            <a:extLst>
              <a:ext uri="{FF2B5EF4-FFF2-40B4-BE49-F238E27FC236}">
                <a16:creationId xmlns:a16="http://schemas.microsoft.com/office/drawing/2014/main" id="{33B32DFE-D70F-4D0A-AC42-116BE1B3F4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257" y="1788889"/>
            <a:ext cx="3861942" cy="2798508"/>
          </a:xfrm>
          <a:prstGeom prst="rect">
            <a:avLst/>
          </a:prstGeom>
        </p:spPr>
      </p:pic>
      <p:sp>
        <p:nvSpPr>
          <p:cNvPr id="7" name="TextBox 6">
            <a:extLst>
              <a:ext uri="{FF2B5EF4-FFF2-40B4-BE49-F238E27FC236}">
                <a16:creationId xmlns:a16="http://schemas.microsoft.com/office/drawing/2014/main" id="{8562998D-3C82-440F-8F09-2AB52503F952}"/>
              </a:ext>
            </a:extLst>
          </p:cNvPr>
          <p:cNvSpPr txBox="1"/>
          <p:nvPr/>
        </p:nvSpPr>
        <p:spPr>
          <a:xfrm>
            <a:off x="9860438" y="1913641"/>
            <a:ext cx="339392" cy="369332"/>
          </a:xfrm>
          <a:prstGeom prst="rect">
            <a:avLst/>
          </a:prstGeom>
          <a:solidFill>
            <a:schemeClr val="bg1"/>
          </a:solidFill>
        </p:spPr>
        <p:txBody>
          <a:bodyPr wrap="square" rtlCol="0">
            <a:spAutoFit/>
          </a:bodyPr>
          <a:lstStyle/>
          <a:p>
            <a:r>
              <a:rPr lang="en-US" b="1" dirty="0"/>
              <a:t>1</a:t>
            </a:r>
          </a:p>
        </p:txBody>
      </p:sp>
      <p:sp>
        <p:nvSpPr>
          <p:cNvPr id="11" name="TextBox 10">
            <a:extLst>
              <a:ext uri="{FF2B5EF4-FFF2-40B4-BE49-F238E27FC236}">
                <a16:creationId xmlns:a16="http://schemas.microsoft.com/office/drawing/2014/main" id="{89D97A27-C481-4E2F-85B3-21F9ECF02A82}"/>
              </a:ext>
            </a:extLst>
          </p:cNvPr>
          <p:cNvSpPr txBox="1"/>
          <p:nvPr/>
        </p:nvSpPr>
        <p:spPr>
          <a:xfrm>
            <a:off x="8634953" y="1932494"/>
            <a:ext cx="339392" cy="369332"/>
          </a:xfrm>
          <a:prstGeom prst="rect">
            <a:avLst/>
          </a:prstGeom>
          <a:solidFill>
            <a:schemeClr val="bg1"/>
          </a:solidFill>
        </p:spPr>
        <p:txBody>
          <a:bodyPr wrap="square" rtlCol="0">
            <a:spAutoFit/>
          </a:bodyPr>
          <a:lstStyle/>
          <a:p>
            <a:r>
              <a:rPr lang="en-US" b="1" dirty="0"/>
              <a:t>1</a:t>
            </a:r>
          </a:p>
        </p:txBody>
      </p:sp>
      <p:sp>
        <p:nvSpPr>
          <p:cNvPr id="12" name="TextBox 11">
            <a:extLst>
              <a:ext uri="{FF2B5EF4-FFF2-40B4-BE49-F238E27FC236}">
                <a16:creationId xmlns:a16="http://schemas.microsoft.com/office/drawing/2014/main" id="{2E114722-D9D8-4E3C-9286-E1F78454AA80}"/>
              </a:ext>
            </a:extLst>
          </p:cNvPr>
          <p:cNvSpPr txBox="1"/>
          <p:nvPr/>
        </p:nvSpPr>
        <p:spPr>
          <a:xfrm>
            <a:off x="9323111" y="3244334"/>
            <a:ext cx="339392" cy="369332"/>
          </a:xfrm>
          <a:prstGeom prst="rect">
            <a:avLst/>
          </a:prstGeom>
          <a:solidFill>
            <a:schemeClr val="bg1"/>
          </a:solidFill>
        </p:spPr>
        <p:txBody>
          <a:bodyPr wrap="square" rtlCol="0">
            <a:spAutoFit/>
          </a:bodyPr>
          <a:lstStyle/>
          <a:p>
            <a:r>
              <a:rPr lang="en-US" b="1" dirty="0"/>
              <a:t>1</a:t>
            </a:r>
          </a:p>
        </p:txBody>
      </p:sp>
      <p:sp>
        <p:nvSpPr>
          <p:cNvPr id="13" name="TextBox 12">
            <a:extLst>
              <a:ext uri="{FF2B5EF4-FFF2-40B4-BE49-F238E27FC236}">
                <a16:creationId xmlns:a16="http://schemas.microsoft.com/office/drawing/2014/main" id="{3E4F43EB-4FAD-43B3-B8E6-F08727AB4113}"/>
              </a:ext>
            </a:extLst>
          </p:cNvPr>
          <p:cNvSpPr txBox="1"/>
          <p:nvPr/>
        </p:nvSpPr>
        <p:spPr>
          <a:xfrm>
            <a:off x="8804649" y="4072379"/>
            <a:ext cx="339392" cy="369332"/>
          </a:xfrm>
          <a:prstGeom prst="rect">
            <a:avLst/>
          </a:prstGeom>
          <a:solidFill>
            <a:schemeClr val="bg1"/>
          </a:solidFill>
        </p:spPr>
        <p:txBody>
          <a:bodyPr wrap="square" rtlCol="0">
            <a:spAutoFit/>
          </a:bodyPr>
          <a:lstStyle/>
          <a:p>
            <a:r>
              <a:rPr lang="en-US" b="1" dirty="0"/>
              <a:t>1</a:t>
            </a:r>
          </a:p>
        </p:txBody>
      </p:sp>
      <p:sp>
        <p:nvSpPr>
          <p:cNvPr id="15" name="TextBox 14">
            <a:extLst>
              <a:ext uri="{FF2B5EF4-FFF2-40B4-BE49-F238E27FC236}">
                <a16:creationId xmlns:a16="http://schemas.microsoft.com/office/drawing/2014/main" id="{0E084643-858A-4187-AB81-CEAE7D63981E}"/>
              </a:ext>
            </a:extLst>
          </p:cNvPr>
          <p:cNvSpPr txBox="1"/>
          <p:nvPr/>
        </p:nvSpPr>
        <p:spPr>
          <a:xfrm>
            <a:off x="9323111" y="2576602"/>
            <a:ext cx="339392" cy="369332"/>
          </a:xfrm>
          <a:prstGeom prst="rect">
            <a:avLst/>
          </a:prstGeom>
          <a:solidFill>
            <a:schemeClr val="bg1"/>
          </a:solidFill>
        </p:spPr>
        <p:txBody>
          <a:bodyPr wrap="square" rtlCol="0">
            <a:spAutoFit/>
          </a:bodyPr>
          <a:lstStyle/>
          <a:p>
            <a:r>
              <a:rPr lang="en-US" b="1" dirty="0"/>
              <a:t>9</a:t>
            </a:r>
          </a:p>
        </p:txBody>
      </p:sp>
      <p:sp>
        <p:nvSpPr>
          <p:cNvPr id="16" name="TextBox 15">
            <a:extLst>
              <a:ext uri="{FF2B5EF4-FFF2-40B4-BE49-F238E27FC236}">
                <a16:creationId xmlns:a16="http://schemas.microsoft.com/office/drawing/2014/main" id="{E21DFCC7-A727-4745-AC5F-1D289B5EEF54}"/>
              </a:ext>
            </a:extLst>
          </p:cNvPr>
          <p:cNvSpPr txBox="1"/>
          <p:nvPr/>
        </p:nvSpPr>
        <p:spPr>
          <a:xfrm>
            <a:off x="9377957" y="4072379"/>
            <a:ext cx="308538" cy="369332"/>
          </a:xfrm>
          <a:prstGeom prst="rect">
            <a:avLst/>
          </a:prstGeom>
          <a:solidFill>
            <a:schemeClr val="bg1"/>
          </a:solidFill>
        </p:spPr>
        <p:txBody>
          <a:bodyPr wrap="square" rtlCol="0">
            <a:spAutoFit/>
          </a:bodyPr>
          <a:lstStyle/>
          <a:p>
            <a:r>
              <a:rPr lang="en-US" b="1" dirty="0"/>
              <a:t>0</a:t>
            </a:r>
          </a:p>
        </p:txBody>
      </p:sp>
      <p:sp>
        <p:nvSpPr>
          <p:cNvPr id="17" name="TextBox 16">
            <a:extLst>
              <a:ext uri="{FF2B5EF4-FFF2-40B4-BE49-F238E27FC236}">
                <a16:creationId xmlns:a16="http://schemas.microsoft.com/office/drawing/2014/main" id="{B75D3952-C267-4FBD-A8DC-3D6EB03FD9D1}"/>
              </a:ext>
            </a:extLst>
          </p:cNvPr>
          <p:cNvSpPr txBox="1"/>
          <p:nvPr/>
        </p:nvSpPr>
        <p:spPr>
          <a:xfrm>
            <a:off x="9251969" y="1923479"/>
            <a:ext cx="308538" cy="369332"/>
          </a:xfrm>
          <a:prstGeom prst="rect">
            <a:avLst/>
          </a:prstGeom>
          <a:solidFill>
            <a:schemeClr val="bg1"/>
          </a:solidFill>
        </p:spPr>
        <p:txBody>
          <a:bodyPr wrap="square" rtlCol="0">
            <a:spAutoFit/>
          </a:bodyPr>
          <a:lstStyle/>
          <a:p>
            <a:r>
              <a:rPr lang="en-US" b="1" dirty="0"/>
              <a:t>0</a:t>
            </a:r>
          </a:p>
        </p:txBody>
      </p:sp>
      <p:sp>
        <p:nvSpPr>
          <p:cNvPr id="18" name="TextBox 17">
            <a:extLst>
              <a:ext uri="{FF2B5EF4-FFF2-40B4-BE49-F238E27FC236}">
                <a16:creationId xmlns:a16="http://schemas.microsoft.com/office/drawing/2014/main" id="{44EBD341-E5D6-4525-A6BA-FA75C5845804}"/>
              </a:ext>
            </a:extLst>
          </p:cNvPr>
          <p:cNvSpPr txBox="1"/>
          <p:nvPr/>
        </p:nvSpPr>
        <p:spPr>
          <a:xfrm>
            <a:off x="10408921" y="1913641"/>
            <a:ext cx="339392" cy="369332"/>
          </a:xfrm>
          <a:prstGeom prst="rect">
            <a:avLst/>
          </a:prstGeom>
          <a:solidFill>
            <a:srgbClr val="FFFF00"/>
          </a:solidFill>
        </p:spPr>
        <p:txBody>
          <a:bodyPr wrap="square" rtlCol="0">
            <a:spAutoFit/>
          </a:bodyPr>
          <a:lstStyle/>
          <a:p>
            <a:r>
              <a:rPr lang="en-US" b="1" dirty="0"/>
              <a:t>1</a:t>
            </a:r>
          </a:p>
        </p:txBody>
      </p:sp>
      <p:sp>
        <p:nvSpPr>
          <p:cNvPr id="19" name="TextBox 18">
            <a:extLst>
              <a:ext uri="{FF2B5EF4-FFF2-40B4-BE49-F238E27FC236}">
                <a16:creationId xmlns:a16="http://schemas.microsoft.com/office/drawing/2014/main" id="{3777FF2D-F801-43E7-961C-165B62B98F53}"/>
              </a:ext>
            </a:extLst>
          </p:cNvPr>
          <p:cNvSpPr txBox="1"/>
          <p:nvPr/>
        </p:nvSpPr>
        <p:spPr>
          <a:xfrm>
            <a:off x="10435459" y="3244334"/>
            <a:ext cx="339392" cy="369332"/>
          </a:xfrm>
          <a:prstGeom prst="rect">
            <a:avLst/>
          </a:prstGeom>
          <a:solidFill>
            <a:srgbClr val="FFFF00"/>
          </a:solidFill>
        </p:spPr>
        <p:txBody>
          <a:bodyPr wrap="square" rtlCol="0">
            <a:spAutoFit/>
          </a:bodyPr>
          <a:lstStyle/>
          <a:p>
            <a:r>
              <a:rPr lang="en-US" b="1" dirty="0"/>
              <a:t>8</a:t>
            </a:r>
          </a:p>
        </p:txBody>
      </p:sp>
      <p:sp>
        <p:nvSpPr>
          <p:cNvPr id="20" name="Rectangle 19"/>
          <p:cNvSpPr/>
          <p:nvPr/>
        </p:nvSpPr>
        <p:spPr>
          <a:xfrm>
            <a:off x="8386628" y="4873292"/>
            <a:ext cx="1872965" cy="954107"/>
          </a:xfrm>
          <a:prstGeom prst="rect">
            <a:avLst/>
          </a:prstGeom>
        </p:spPr>
        <p:txBody>
          <a:bodyPr wrap="square">
            <a:spAutoFit/>
          </a:bodyPr>
          <a:lstStyle/>
          <a:p>
            <a:pPr marL="0" lvl="2"/>
            <a:r>
              <a:rPr lang="en-US" sz="1400" dirty="0"/>
              <a:t>𝑆={</a:t>
            </a:r>
            <a:r>
              <a:rPr lang="en-US" sz="1400" b="1" dirty="0">
                <a:solidFill>
                  <a:srgbClr val="FF0000"/>
                </a:solidFill>
              </a:rPr>
              <a:t>9</a:t>
            </a:r>
            <a:r>
              <a:rPr lang="en-US" sz="1400" dirty="0"/>
              <a:t>}</a:t>
            </a:r>
          </a:p>
          <a:p>
            <a:pPr marL="0" lvl="2"/>
            <a:r>
              <a:rPr lang="en-US" sz="1400" i="1" dirty="0"/>
              <a:t>E</a:t>
            </a:r>
            <a:r>
              <a:rPr lang="en-US" sz="1400" dirty="0"/>
              <a:t>={2,3,4,5,6,7}</a:t>
            </a:r>
          </a:p>
          <a:p>
            <a:pPr marL="0" lvl="2"/>
            <a:r>
              <a:rPr lang="en-US" sz="1400" i="1" dirty="0"/>
              <a:t>N</a:t>
            </a:r>
            <a:r>
              <a:rPr lang="en-US" sz="1400" dirty="0"/>
              <a:t>={2,3,4,5,6,7}</a:t>
            </a:r>
          </a:p>
          <a:p>
            <a:pPr marL="0" lvl="2"/>
            <a:r>
              <a:rPr lang="en-US" sz="1400" i="1" dirty="0"/>
              <a:t>D</a:t>
            </a:r>
            <a:r>
              <a:rPr lang="en-US" sz="1400" dirty="0"/>
              <a:t>={2,3,4,5,6,7}</a:t>
            </a:r>
          </a:p>
        </p:txBody>
      </p:sp>
      <p:sp>
        <p:nvSpPr>
          <p:cNvPr id="21" name="Rectangle 20"/>
          <p:cNvSpPr/>
          <p:nvPr/>
        </p:nvSpPr>
        <p:spPr>
          <a:xfrm>
            <a:off x="10089897" y="4873292"/>
            <a:ext cx="1866330" cy="954107"/>
          </a:xfrm>
          <a:prstGeom prst="rect">
            <a:avLst/>
          </a:prstGeom>
        </p:spPr>
        <p:txBody>
          <a:bodyPr wrap="square">
            <a:spAutoFit/>
          </a:bodyPr>
          <a:lstStyle/>
          <a:p>
            <a:pPr marL="0" lvl="2"/>
            <a:r>
              <a:rPr lang="en-US" sz="1400" i="1" dirty="0"/>
              <a:t>M</a:t>
            </a:r>
            <a:r>
              <a:rPr lang="en-US" sz="1400" dirty="0"/>
              <a:t>={</a:t>
            </a:r>
            <a:r>
              <a:rPr lang="en-US" sz="1400" b="1" dirty="0">
                <a:solidFill>
                  <a:srgbClr val="FF0000"/>
                </a:solidFill>
              </a:rPr>
              <a:t>1</a:t>
            </a:r>
            <a:r>
              <a:rPr lang="en-US" sz="1400" dirty="0"/>
              <a:t>}</a:t>
            </a:r>
          </a:p>
          <a:p>
            <a:pPr marL="0" lvl="2"/>
            <a:r>
              <a:rPr lang="en-US" sz="1400" i="1" dirty="0"/>
              <a:t>O</a:t>
            </a:r>
            <a:r>
              <a:rPr lang="en-US" sz="1400" dirty="0"/>
              <a:t>={</a:t>
            </a:r>
            <a:r>
              <a:rPr lang="en-US" sz="1400" b="1" dirty="0">
                <a:solidFill>
                  <a:srgbClr val="FF0000"/>
                </a:solidFill>
              </a:rPr>
              <a:t>0</a:t>
            </a:r>
            <a:r>
              <a:rPr lang="en-US" sz="1400" dirty="0"/>
              <a:t>}</a:t>
            </a:r>
          </a:p>
          <a:p>
            <a:pPr marL="0" lvl="2"/>
            <a:r>
              <a:rPr lang="en-US" sz="1400" i="1" dirty="0"/>
              <a:t>R</a:t>
            </a:r>
            <a:r>
              <a:rPr lang="en-US" sz="1400" dirty="0"/>
              <a:t>={</a:t>
            </a:r>
            <a:r>
              <a:rPr lang="en-US" sz="1400" b="1" dirty="0">
                <a:solidFill>
                  <a:srgbClr val="FF0000"/>
                </a:solidFill>
              </a:rPr>
              <a:t>8</a:t>
            </a:r>
            <a:r>
              <a:rPr lang="en-US" sz="1400" dirty="0"/>
              <a:t>}</a:t>
            </a:r>
          </a:p>
          <a:p>
            <a:pPr marL="0" lvl="2"/>
            <a:r>
              <a:rPr lang="en-US" sz="1400" i="1" dirty="0"/>
              <a:t>Y</a:t>
            </a:r>
            <a:r>
              <a:rPr lang="en-US" sz="1400" dirty="0"/>
              <a:t>={2,3,4,5,6,7}</a:t>
            </a:r>
          </a:p>
        </p:txBody>
      </p:sp>
      <p:sp>
        <p:nvSpPr>
          <p:cNvPr id="22" name="TextBox 21"/>
          <p:cNvSpPr txBox="1"/>
          <p:nvPr/>
        </p:nvSpPr>
        <p:spPr>
          <a:xfrm>
            <a:off x="8847662" y="5805517"/>
            <a:ext cx="2364943" cy="307777"/>
          </a:xfrm>
          <a:prstGeom prst="rect">
            <a:avLst/>
          </a:prstGeom>
          <a:noFill/>
        </p:spPr>
        <p:txBody>
          <a:bodyPr wrap="none" rtlCol="0">
            <a:spAutoFit/>
          </a:bodyPr>
          <a:lstStyle/>
          <a:p>
            <a:r>
              <a:rPr lang="en-US" sz="1400" dirty="0">
                <a:solidFill>
                  <a:srgbClr val="0033CC"/>
                </a:solidFill>
              </a:rPr>
              <a:t>Updated domains of variables</a:t>
            </a:r>
          </a:p>
        </p:txBody>
      </p:sp>
      <p:sp>
        <p:nvSpPr>
          <p:cNvPr id="23" name="TextBox 22">
            <a:extLst>
              <a:ext uri="{FF2B5EF4-FFF2-40B4-BE49-F238E27FC236}">
                <a16:creationId xmlns:a16="http://schemas.microsoft.com/office/drawing/2014/main" id="{8562998D-3C82-440F-8F09-2AB52503F952}"/>
              </a:ext>
            </a:extLst>
          </p:cNvPr>
          <p:cNvSpPr txBox="1"/>
          <p:nvPr/>
        </p:nvSpPr>
        <p:spPr>
          <a:xfrm>
            <a:off x="9860438" y="1913641"/>
            <a:ext cx="339392" cy="369332"/>
          </a:xfrm>
          <a:prstGeom prst="rect">
            <a:avLst/>
          </a:prstGeom>
          <a:solidFill>
            <a:srgbClr val="FFFF00"/>
          </a:solidFill>
        </p:spPr>
        <p:txBody>
          <a:bodyPr wrap="square" rtlCol="0">
            <a:spAutoFit/>
          </a:bodyPr>
          <a:lstStyle/>
          <a:p>
            <a:r>
              <a:rPr lang="en-US" b="1" dirty="0"/>
              <a:t>1</a:t>
            </a:r>
          </a:p>
        </p:txBody>
      </p:sp>
      <p:sp>
        <p:nvSpPr>
          <p:cNvPr id="24" name="TextBox 23">
            <a:extLst>
              <a:ext uri="{FF2B5EF4-FFF2-40B4-BE49-F238E27FC236}">
                <a16:creationId xmlns:a16="http://schemas.microsoft.com/office/drawing/2014/main" id="{89D97A27-C481-4E2F-85B3-21F9ECF02A82}"/>
              </a:ext>
            </a:extLst>
          </p:cNvPr>
          <p:cNvSpPr txBox="1"/>
          <p:nvPr/>
        </p:nvSpPr>
        <p:spPr>
          <a:xfrm>
            <a:off x="8634953" y="1932494"/>
            <a:ext cx="339392" cy="369332"/>
          </a:xfrm>
          <a:prstGeom prst="rect">
            <a:avLst/>
          </a:prstGeom>
          <a:solidFill>
            <a:schemeClr val="bg1"/>
          </a:solidFill>
        </p:spPr>
        <p:txBody>
          <a:bodyPr wrap="square" rtlCol="0">
            <a:spAutoFit/>
          </a:bodyPr>
          <a:lstStyle/>
          <a:p>
            <a:r>
              <a:rPr lang="en-US" b="1" dirty="0"/>
              <a:t>1</a:t>
            </a:r>
          </a:p>
        </p:txBody>
      </p:sp>
      <p:sp>
        <p:nvSpPr>
          <p:cNvPr id="25" name="TextBox 24">
            <a:extLst>
              <a:ext uri="{FF2B5EF4-FFF2-40B4-BE49-F238E27FC236}">
                <a16:creationId xmlns:a16="http://schemas.microsoft.com/office/drawing/2014/main" id="{2E114722-D9D8-4E3C-9286-E1F78454AA80}"/>
              </a:ext>
            </a:extLst>
          </p:cNvPr>
          <p:cNvSpPr txBox="1"/>
          <p:nvPr/>
        </p:nvSpPr>
        <p:spPr>
          <a:xfrm>
            <a:off x="9323111" y="3244334"/>
            <a:ext cx="339392" cy="369332"/>
          </a:xfrm>
          <a:prstGeom prst="rect">
            <a:avLst/>
          </a:prstGeom>
          <a:solidFill>
            <a:schemeClr val="bg1"/>
          </a:solidFill>
        </p:spPr>
        <p:txBody>
          <a:bodyPr wrap="square" rtlCol="0">
            <a:spAutoFit/>
          </a:bodyPr>
          <a:lstStyle/>
          <a:p>
            <a:r>
              <a:rPr lang="en-US" b="1" dirty="0"/>
              <a:t>1</a:t>
            </a:r>
          </a:p>
        </p:txBody>
      </p:sp>
      <p:sp>
        <p:nvSpPr>
          <p:cNvPr id="26" name="TextBox 25">
            <a:extLst>
              <a:ext uri="{FF2B5EF4-FFF2-40B4-BE49-F238E27FC236}">
                <a16:creationId xmlns:a16="http://schemas.microsoft.com/office/drawing/2014/main" id="{3E4F43EB-4FAD-43B3-B8E6-F08727AB4113}"/>
              </a:ext>
            </a:extLst>
          </p:cNvPr>
          <p:cNvSpPr txBox="1"/>
          <p:nvPr/>
        </p:nvSpPr>
        <p:spPr>
          <a:xfrm>
            <a:off x="8804649" y="4072379"/>
            <a:ext cx="339392" cy="369332"/>
          </a:xfrm>
          <a:prstGeom prst="rect">
            <a:avLst/>
          </a:prstGeom>
          <a:solidFill>
            <a:schemeClr val="bg1"/>
          </a:solidFill>
        </p:spPr>
        <p:txBody>
          <a:bodyPr wrap="square" rtlCol="0">
            <a:spAutoFit/>
          </a:bodyPr>
          <a:lstStyle/>
          <a:p>
            <a:r>
              <a:rPr lang="en-US" b="1" dirty="0"/>
              <a:t>1</a:t>
            </a:r>
          </a:p>
        </p:txBody>
      </p:sp>
      <p:sp>
        <p:nvSpPr>
          <p:cNvPr id="27" name="TextBox 26">
            <a:extLst>
              <a:ext uri="{FF2B5EF4-FFF2-40B4-BE49-F238E27FC236}">
                <a16:creationId xmlns:a16="http://schemas.microsoft.com/office/drawing/2014/main" id="{0E084643-858A-4187-AB81-CEAE7D63981E}"/>
              </a:ext>
            </a:extLst>
          </p:cNvPr>
          <p:cNvSpPr txBox="1"/>
          <p:nvPr/>
        </p:nvSpPr>
        <p:spPr>
          <a:xfrm>
            <a:off x="9323111" y="2576602"/>
            <a:ext cx="339392" cy="369332"/>
          </a:xfrm>
          <a:prstGeom prst="rect">
            <a:avLst/>
          </a:prstGeom>
          <a:solidFill>
            <a:schemeClr val="bg1"/>
          </a:solidFill>
        </p:spPr>
        <p:txBody>
          <a:bodyPr wrap="square" rtlCol="0">
            <a:spAutoFit/>
          </a:bodyPr>
          <a:lstStyle/>
          <a:p>
            <a:r>
              <a:rPr lang="en-US" b="1" dirty="0"/>
              <a:t>9</a:t>
            </a:r>
          </a:p>
        </p:txBody>
      </p:sp>
      <p:sp>
        <p:nvSpPr>
          <p:cNvPr id="28" name="TextBox 27">
            <a:extLst>
              <a:ext uri="{FF2B5EF4-FFF2-40B4-BE49-F238E27FC236}">
                <a16:creationId xmlns:a16="http://schemas.microsoft.com/office/drawing/2014/main" id="{E21DFCC7-A727-4745-AC5F-1D289B5EEF54}"/>
              </a:ext>
            </a:extLst>
          </p:cNvPr>
          <p:cNvSpPr txBox="1"/>
          <p:nvPr/>
        </p:nvSpPr>
        <p:spPr>
          <a:xfrm>
            <a:off x="9377957" y="4072379"/>
            <a:ext cx="308538" cy="369332"/>
          </a:xfrm>
          <a:prstGeom prst="rect">
            <a:avLst/>
          </a:prstGeom>
          <a:solidFill>
            <a:schemeClr val="bg1"/>
          </a:solidFill>
        </p:spPr>
        <p:txBody>
          <a:bodyPr wrap="square" rtlCol="0">
            <a:spAutoFit/>
          </a:bodyPr>
          <a:lstStyle/>
          <a:p>
            <a:r>
              <a:rPr lang="en-US" b="1" dirty="0"/>
              <a:t>0</a:t>
            </a:r>
          </a:p>
        </p:txBody>
      </p:sp>
      <p:sp>
        <p:nvSpPr>
          <p:cNvPr id="29" name="TextBox 28">
            <a:extLst>
              <a:ext uri="{FF2B5EF4-FFF2-40B4-BE49-F238E27FC236}">
                <a16:creationId xmlns:a16="http://schemas.microsoft.com/office/drawing/2014/main" id="{B75D3952-C267-4FBD-A8DC-3D6EB03FD9D1}"/>
              </a:ext>
            </a:extLst>
          </p:cNvPr>
          <p:cNvSpPr txBox="1"/>
          <p:nvPr/>
        </p:nvSpPr>
        <p:spPr>
          <a:xfrm>
            <a:off x="9251969" y="1923479"/>
            <a:ext cx="308538" cy="369332"/>
          </a:xfrm>
          <a:prstGeom prst="rect">
            <a:avLst/>
          </a:prstGeom>
          <a:solidFill>
            <a:schemeClr val="bg1"/>
          </a:solidFill>
        </p:spPr>
        <p:txBody>
          <a:bodyPr wrap="square" rtlCol="0">
            <a:spAutoFit/>
          </a:bodyPr>
          <a:lstStyle/>
          <a:p>
            <a:r>
              <a:rPr lang="en-US" b="1" dirty="0"/>
              <a:t>0</a:t>
            </a:r>
          </a:p>
        </p:txBody>
      </p:sp>
      <p:sp>
        <p:nvSpPr>
          <p:cNvPr id="30" name="TextBox 29">
            <a:extLst>
              <a:ext uri="{FF2B5EF4-FFF2-40B4-BE49-F238E27FC236}">
                <a16:creationId xmlns:a16="http://schemas.microsoft.com/office/drawing/2014/main" id="{53DC4B95-054B-4724-9177-E171B0DD6669}"/>
              </a:ext>
            </a:extLst>
          </p:cNvPr>
          <p:cNvSpPr txBox="1"/>
          <p:nvPr/>
        </p:nvSpPr>
        <p:spPr>
          <a:xfrm>
            <a:off x="8634953" y="1932494"/>
            <a:ext cx="339392" cy="369332"/>
          </a:xfrm>
          <a:prstGeom prst="rect">
            <a:avLst/>
          </a:prstGeom>
          <a:solidFill>
            <a:schemeClr val="bg1"/>
          </a:solidFill>
        </p:spPr>
        <p:txBody>
          <a:bodyPr wrap="square" rtlCol="0">
            <a:spAutoFit/>
          </a:bodyPr>
          <a:lstStyle/>
          <a:p>
            <a:r>
              <a:rPr lang="en-US" b="1" dirty="0"/>
              <a:t>1</a:t>
            </a:r>
          </a:p>
        </p:txBody>
      </p:sp>
      <p:sp>
        <p:nvSpPr>
          <p:cNvPr id="31" name="TextBox 30">
            <a:extLst>
              <a:ext uri="{FF2B5EF4-FFF2-40B4-BE49-F238E27FC236}">
                <a16:creationId xmlns:a16="http://schemas.microsoft.com/office/drawing/2014/main" id="{BB0621DE-4DBE-4BE1-88E6-1AED6E2DCAF7}"/>
              </a:ext>
            </a:extLst>
          </p:cNvPr>
          <p:cNvSpPr txBox="1"/>
          <p:nvPr/>
        </p:nvSpPr>
        <p:spPr>
          <a:xfrm>
            <a:off x="9323111" y="3244334"/>
            <a:ext cx="339392" cy="369332"/>
          </a:xfrm>
          <a:prstGeom prst="rect">
            <a:avLst/>
          </a:prstGeom>
          <a:solidFill>
            <a:schemeClr val="bg1"/>
          </a:solidFill>
        </p:spPr>
        <p:txBody>
          <a:bodyPr wrap="square" rtlCol="0">
            <a:spAutoFit/>
          </a:bodyPr>
          <a:lstStyle/>
          <a:p>
            <a:r>
              <a:rPr lang="en-US" b="1" dirty="0"/>
              <a:t>1</a:t>
            </a:r>
          </a:p>
        </p:txBody>
      </p:sp>
      <p:sp>
        <p:nvSpPr>
          <p:cNvPr id="32" name="TextBox 31">
            <a:extLst>
              <a:ext uri="{FF2B5EF4-FFF2-40B4-BE49-F238E27FC236}">
                <a16:creationId xmlns:a16="http://schemas.microsoft.com/office/drawing/2014/main" id="{AFD99453-83C2-4C98-82D5-DD37AA7CE358}"/>
              </a:ext>
            </a:extLst>
          </p:cNvPr>
          <p:cNvSpPr txBox="1"/>
          <p:nvPr/>
        </p:nvSpPr>
        <p:spPr>
          <a:xfrm>
            <a:off x="8804649" y="4072379"/>
            <a:ext cx="339392" cy="369332"/>
          </a:xfrm>
          <a:prstGeom prst="rect">
            <a:avLst/>
          </a:prstGeom>
          <a:solidFill>
            <a:schemeClr val="bg1"/>
          </a:solidFill>
        </p:spPr>
        <p:txBody>
          <a:bodyPr wrap="square" rtlCol="0">
            <a:spAutoFit/>
          </a:bodyPr>
          <a:lstStyle/>
          <a:p>
            <a:r>
              <a:rPr lang="en-US" b="1" dirty="0"/>
              <a:t>1</a:t>
            </a:r>
          </a:p>
        </p:txBody>
      </p:sp>
      <p:sp>
        <p:nvSpPr>
          <p:cNvPr id="33" name="TextBox 32">
            <a:extLst>
              <a:ext uri="{FF2B5EF4-FFF2-40B4-BE49-F238E27FC236}">
                <a16:creationId xmlns:a16="http://schemas.microsoft.com/office/drawing/2014/main" id="{13AC62E0-F322-415D-8AB7-31DC4F9476A7}"/>
              </a:ext>
            </a:extLst>
          </p:cNvPr>
          <p:cNvSpPr txBox="1"/>
          <p:nvPr/>
        </p:nvSpPr>
        <p:spPr>
          <a:xfrm>
            <a:off x="9271633" y="2576602"/>
            <a:ext cx="339392" cy="369332"/>
          </a:xfrm>
          <a:prstGeom prst="rect">
            <a:avLst/>
          </a:prstGeom>
          <a:solidFill>
            <a:srgbClr val="FFFF00"/>
          </a:solidFill>
        </p:spPr>
        <p:txBody>
          <a:bodyPr wrap="square" rtlCol="0">
            <a:spAutoFit/>
          </a:bodyPr>
          <a:lstStyle/>
          <a:p>
            <a:r>
              <a:rPr lang="en-US" b="1" dirty="0"/>
              <a:t>9</a:t>
            </a:r>
          </a:p>
        </p:txBody>
      </p:sp>
      <p:sp>
        <p:nvSpPr>
          <p:cNvPr id="34" name="TextBox 33">
            <a:extLst>
              <a:ext uri="{FF2B5EF4-FFF2-40B4-BE49-F238E27FC236}">
                <a16:creationId xmlns:a16="http://schemas.microsoft.com/office/drawing/2014/main" id="{579476FA-426B-4952-B23E-E5E5B795B8BD}"/>
              </a:ext>
            </a:extLst>
          </p:cNvPr>
          <p:cNvSpPr txBox="1"/>
          <p:nvPr/>
        </p:nvSpPr>
        <p:spPr>
          <a:xfrm>
            <a:off x="9377957" y="4072379"/>
            <a:ext cx="308538" cy="369332"/>
          </a:xfrm>
          <a:prstGeom prst="rect">
            <a:avLst/>
          </a:prstGeom>
          <a:solidFill>
            <a:srgbClr val="FFFF00"/>
          </a:solidFill>
        </p:spPr>
        <p:txBody>
          <a:bodyPr wrap="square" rtlCol="0">
            <a:spAutoFit/>
          </a:bodyPr>
          <a:lstStyle/>
          <a:p>
            <a:r>
              <a:rPr lang="en-US" b="1" dirty="0"/>
              <a:t>0</a:t>
            </a:r>
          </a:p>
        </p:txBody>
      </p:sp>
      <p:sp>
        <p:nvSpPr>
          <p:cNvPr id="35" name="TextBox 34">
            <a:extLst>
              <a:ext uri="{FF2B5EF4-FFF2-40B4-BE49-F238E27FC236}">
                <a16:creationId xmlns:a16="http://schemas.microsoft.com/office/drawing/2014/main" id="{719455F4-F987-40E2-BFA5-4F5BA7BCC874}"/>
              </a:ext>
            </a:extLst>
          </p:cNvPr>
          <p:cNvSpPr txBox="1"/>
          <p:nvPr/>
        </p:nvSpPr>
        <p:spPr>
          <a:xfrm>
            <a:off x="9251969" y="1923479"/>
            <a:ext cx="308538" cy="369332"/>
          </a:xfrm>
          <a:prstGeom prst="rect">
            <a:avLst/>
          </a:prstGeom>
          <a:solidFill>
            <a:srgbClr val="FFFF00"/>
          </a:solidFill>
        </p:spPr>
        <p:txBody>
          <a:bodyPr wrap="square" rtlCol="0">
            <a:spAutoFit/>
          </a:bodyPr>
          <a:lstStyle/>
          <a:p>
            <a:r>
              <a:rPr lang="en-US" b="1" dirty="0"/>
              <a:t>0</a:t>
            </a:r>
          </a:p>
        </p:txBody>
      </p:sp>
      <p:sp>
        <p:nvSpPr>
          <p:cNvPr id="36" name="TextBox 35">
            <a:extLst>
              <a:ext uri="{FF2B5EF4-FFF2-40B4-BE49-F238E27FC236}">
                <a16:creationId xmlns:a16="http://schemas.microsoft.com/office/drawing/2014/main" id="{579476FA-426B-4952-B23E-E5E5B795B8BD}"/>
              </a:ext>
            </a:extLst>
          </p:cNvPr>
          <p:cNvSpPr txBox="1"/>
          <p:nvPr/>
        </p:nvSpPr>
        <p:spPr>
          <a:xfrm>
            <a:off x="9893782" y="3244334"/>
            <a:ext cx="308538" cy="369332"/>
          </a:xfrm>
          <a:prstGeom prst="rect">
            <a:avLst/>
          </a:prstGeom>
          <a:solidFill>
            <a:srgbClr val="FFFF00"/>
          </a:solidFill>
        </p:spPr>
        <p:txBody>
          <a:bodyPr wrap="square" rtlCol="0">
            <a:spAutoFit/>
          </a:bodyPr>
          <a:lstStyle/>
          <a:p>
            <a:r>
              <a:rPr lang="en-US" b="1" dirty="0"/>
              <a:t>0</a:t>
            </a:r>
          </a:p>
        </p:txBody>
      </p:sp>
      <p:sp>
        <p:nvSpPr>
          <p:cNvPr id="37" name="TextBox 36">
            <a:extLst>
              <a:ext uri="{FF2B5EF4-FFF2-40B4-BE49-F238E27FC236}">
                <a16:creationId xmlns:a16="http://schemas.microsoft.com/office/drawing/2014/main" id="{1AADE91D-1F30-4BA8-AF05-77C5F32F4C2B}"/>
              </a:ext>
            </a:extLst>
          </p:cNvPr>
          <p:cNvSpPr txBox="1"/>
          <p:nvPr/>
        </p:nvSpPr>
        <p:spPr>
          <a:xfrm>
            <a:off x="8634953" y="1932494"/>
            <a:ext cx="339392" cy="369332"/>
          </a:xfrm>
          <a:prstGeom prst="rect">
            <a:avLst/>
          </a:prstGeom>
          <a:solidFill>
            <a:srgbClr val="FFFF00"/>
          </a:solidFill>
        </p:spPr>
        <p:txBody>
          <a:bodyPr wrap="square" rtlCol="0">
            <a:spAutoFit/>
          </a:bodyPr>
          <a:lstStyle/>
          <a:p>
            <a:r>
              <a:rPr lang="en-US" b="1" dirty="0"/>
              <a:t>1</a:t>
            </a:r>
          </a:p>
        </p:txBody>
      </p:sp>
      <p:sp>
        <p:nvSpPr>
          <p:cNvPr id="38" name="TextBox 37">
            <a:extLst>
              <a:ext uri="{FF2B5EF4-FFF2-40B4-BE49-F238E27FC236}">
                <a16:creationId xmlns:a16="http://schemas.microsoft.com/office/drawing/2014/main" id="{239C6586-F6F4-471D-919E-243765E251C3}"/>
              </a:ext>
            </a:extLst>
          </p:cNvPr>
          <p:cNvSpPr txBox="1"/>
          <p:nvPr/>
        </p:nvSpPr>
        <p:spPr>
          <a:xfrm>
            <a:off x="9269055" y="3244334"/>
            <a:ext cx="339392" cy="369332"/>
          </a:xfrm>
          <a:prstGeom prst="rect">
            <a:avLst/>
          </a:prstGeom>
          <a:solidFill>
            <a:srgbClr val="FFFF00"/>
          </a:solidFill>
        </p:spPr>
        <p:txBody>
          <a:bodyPr wrap="square" rtlCol="0">
            <a:spAutoFit/>
          </a:bodyPr>
          <a:lstStyle/>
          <a:p>
            <a:r>
              <a:rPr lang="en-US" b="1" dirty="0"/>
              <a:t>1</a:t>
            </a:r>
          </a:p>
        </p:txBody>
      </p:sp>
      <p:sp>
        <p:nvSpPr>
          <p:cNvPr id="39" name="TextBox 38">
            <a:extLst>
              <a:ext uri="{FF2B5EF4-FFF2-40B4-BE49-F238E27FC236}">
                <a16:creationId xmlns:a16="http://schemas.microsoft.com/office/drawing/2014/main" id="{ED1F6C1E-D4AF-4256-B2C1-5A92856F93AE}"/>
              </a:ext>
            </a:extLst>
          </p:cNvPr>
          <p:cNvSpPr txBox="1"/>
          <p:nvPr/>
        </p:nvSpPr>
        <p:spPr>
          <a:xfrm>
            <a:off x="8744010" y="4072379"/>
            <a:ext cx="339392" cy="369332"/>
          </a:xfrm>
          <a:prstGeom prst="rect">
            <a:avLst/>
          </a:prstGeom>
          <a:solidFill>
            <a:srgbClr val="FFFF00"/>
          </a:solidFill>
        </p:spPr>
        <p:txBody>
          <a:bodyPr wrap="square" rtlCol="0">
            <a:spAutoFit/>
          </a:bodyPr>
          <a:lstStyle/>
          <a:p>
            <a:r>
              <a:rPr lang="en-US" b="1" dirty="0"/>
              <a:t>1</a:t>
            </a:r>
          </a:p>
        </p:txBody>
      </p:sp>
    </p:spTree>
    <p:extLst>
      <p:ext uri="{BB962C8B-B14F-4D97-AF65-F5344CB8AC3E}">
        <p14:creationId xmlns:p14="http://schemas.microsoft.com/office/powerpoint/2010/main" val="1306676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28905-8CAB-4F65-A7E3-9DF2346949AB}"/>
              </a:ext>
            </a:extLst>
          </p:cNvPr>
          <p:cNvSpPr>
            <a:spLocks noGrp="1"/>
          </p:cNvSpPr>
          <p:nvPr>
            <p:ph type="title"/>
          </p:nvPr>
        </p:nvSpPr>
        <p:spPr/>
        <p:txBody>
          <a:bodyPr>
            <a:normAutofit fontScale="90000"/>
          </a:bodyPr>
          <a:lstStyle/>
          <a:p>
            <a:r>
              <a:rPr lang="en-US" dirty="0"/>
              <a:t>CSP: Cryptarithmetic  </a:t>
            </a:r>
          </a:p>
        </p:txBody>
      </p:sp>
      <p:sp>
        <p:nvSpPr>
          <p:cNvPr id="3" name="Content Placeholder 2">
            <a:extLst>
              <a:ext uri="{FF2B5EF4-FFF2-40B4-BE49-F238E27FC236}">
                <a16:creationId xmlns:a16="http://schemas.microsoft.com/office/drawing/2014/main" id="{A38D9CFD-A00E-4078-8F3B-E7571B5A0A47}"/>
              </a:ext>
            </a:extLst>
          </p:cNvPr>
          <p:cNvSpPr>
            <a:spLocks noGrp="1"/>
          </p:cNvSpPr>
          <p:nvPr>
            <p:ph idx="1"/>
          </p:nvPr>
        </p:nvSpPr>
        <p:spPr>
          <a:xfrm>
            <a:off x="304800" y="1228153"/>
            <a:ext cx="7445406" cy="5021979"/>
          </a:xfrm>
        </p:spPr>
        <p:txBody>
          <a:bodyPr>
            <a:normAutofit lnSpcReduction="10000"/>
          </a:bodyPr>
          <a:lstStyle/>
          <a:p>
            <a:r>
              <a:rPr lang="en-US" dirty="0">
                <a:solidFill>
                  <a:schemeClr val="accent6">
                    <a:lumMod val="75000"/>
                  </a:schemeClr>
                </a:solidFill>
              </a:rPr>
              <a:t>Step 6</a:t>
            </a:r>
            <a:r>
              <a:rPr lang="en-US" dirty="0"/>
              <a:t>: Consider the equation 𝐷+𝐸=10+𝑌, since the numbers 0,1,8 and 9 are taken, we need two numbers that generate a sum greater than 9. The remaining options are:</a:t>
            </a:r>
          </a:p>
          <a:p>
            <a:pPr lvl="1"/>
            <a:r>
              <a:rPr lang="en-US" dirty="0"/>
              <a:t>𝐷=3 and 𝐸=7 that makes 𝐷+𝐸=10 and 𝑌=0, but since 𝑂=0 has already been selected, </a:t>
            </a:r>
            <a:r>
              <a:rPr lang="en-US" dirty="0">
                <a:solidFill>
                  <a:srgbClr val="FF0000"/>
                </a:solidFill>
              </a:rPr>
              <a:t>discard this option</a:t>
            </a:r>
          </a:p>
          <a:p>
            <a:pPr lvl="1"/>
            <a:r>
              <a:rPr lang="en-US" dirty="0"/>
              <a:t>𝐷=4 and 𝐸=7 that makes 𝐷+𝐸= 11 and 𝑌=1, but since 𝑀=1 has already been selected, </a:t>
            </a:r>
            <a:r>
              <a:rPr lang="en-US" dirty="0">
                <a:solidFill>
                  <a:srgbClr val="FF0000"/>
                </a:solidFill>
              </a:rPr>
              <a:t>discard this option</a:t>
            </a:r>
          </a:p>
          <a:p>
            <a:pPr lvl="1"/>
            <a:r>
              <a:rPr lang="en-US" dirty="0"/>
              <a:t>𝐷=5 and 𝐸=7 that makes 𝑌=2</a:t>
            </a:r>
          </a:p>
        </p:txBody>
      </p:sp>
      <p:sp>
        <p:nvSpPr>
          <p:cNvPr id="4" name="Date Placeholder 3">
            <a:extLst>
              <a:ext uri="{FF2B5EF4-FFF2-40B4-BE49-F238E27FC236}">
                <a16:creationId xmlns:a16="http://schemas.microsoft.com/office/drawing/2014/main" id="{0ED05FA7-46CE-43C3-964D-EA7C0412674C}"/>
              </a:ext>
            </a:extLst>
          </p:cNvPr>
          <p:cNvSpPr>
            <a:spLocks noGrp="1"/>
          </p:cNvSpPr>
          <p:nvPr>
            <p:ph type="dt" sz="half" idx="10"/>
          </p:nvPr>
        </p:nvSpPr>
        <p:spPr/>
        <p:txBody>
          <a:bodyPr/>
          <a:lstStyle/>
          <a:p>
            <a:fld id="{F1CBF497-3364-44DF-B6A8-911FBFE66C65}" type="datetime1">
              <a:rPr lang="en-US" smtClean="0"/>
              <a:t>10/16/2022</a:t>
            </a:fld>
            <a:endParaRPr lang="en-US" dirty="0"/>
          </a:p>
        </p:txBody>
      </p:sp>
      <p:sp>
        <p:nvSpPr>
          <p:cNvPr id="5" name="Footer Placeholder 4">
            <a:extLst>
              <a:ext uri="{FF2B5EF4-FFF2-40B4-BE49-F238E27FC236}">
                <a16:creationId xmlns:a16="http://schemas.microsoft.com/office/drawing/2014/main" id="{56411E36-7743-49E3-B73C-48A9726D3B12}"/>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7915844A-1C77-43F6-B513-C23306A93385}"/>
              </a:ext>
            </a:extLst>
          </p:cNvPr>
          <p:cNvSpPr>
            <a:spLocks noGrp="1"/>
          </p:cNvSpPr>
          <p:nvPr>
            <p:ph type="sldNum" sz="quarter" idx="12"/>
          </p:nvPr>
        </p:nvSpPr>
        <p:spPr/>
        <p:txBody>
          <a:bodyPr/>
          <a:lstStyle/>
          <a:p>
            <a:fld id="{B7884E68-CE57-44C0-BE0F-84C629DF22D5}" type="slidenum">
              <a:rPr lang="en-US" dirty="0" smtClean="0"/>
              <a:t>99</a:t>
            </a:fld>
            <a:endParaRPr lang="en-US" dirty="0"/>
          </a:p>
        </p:txBody>
      </p:sp>
      <p:pic>
        <p:nvPicPr>
          <p:cNvPr id="14" name="Picture 13" descr="A picture containing rectangle&#10;&#10;Description automatically generated">
            <a:extLst>
              <a:ext uri="{FF2B5EF4-FFF2-40B4-BE49-F238E27FC236}">
                <a16:creationId xmlns:a16="http://schemas.microsoft.com/office/drawing/2014/main" id="{33B32DFE-D70F-4D0A-AC42-116BE1B3F4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257" y="1788889"/>
            <a:ext cx="3861942" cy="2798508"/>
          </a:xfrm>
          <a:prstGeom prst="rect">
            <a:avLst/>
          </a:prstGeom>
        </p:spPr>
      </p:pic>
      <p:sp>
        <p:nvSpPr>
          <p:cNvPr id="7" name="TextBox 6">
            <a:extLst>
              <a:ext uri="{FF2B5EF4-FFF2-40B4-BE49-F238E27FC236}">
                <a16:creationId xmlns:a16="http://schemas.microsoft.com/office/drawing/2014/main" id="{8562998D-3C82-440F-8F09-2AB52503F952}"/>
              </a:ext>
            </a:extLst>
          </p:cNvPr>
          <p:cNvSpPr txBox="1"/>
          <p:nvPr/>
        </p:nvSpPr>
        <p:spPr>
          <a:xfrm>
            <a:off x="9860438" y="1913641"/>
            <a:ext cx="339392" cy="369332"/>
          </a:xfrm>
          <a:prstGeom prst="rect">
            <a:avLst/>
          </a:prstGeom>
          <a:solidFill>
            <a:schemeClr val="bg1"/>
          </a:solidFill>
        </p:spPr>
        <p:txBody>
          <a:bodyPr wrap="square" rtlCol="0">
            <a:spAutoFit/>
          </a:bodyPr>
          <a:lstStyle/>
          <a:p>
            <a:r>
              <a:rPr lang="en-US" b="1" dirty="0"/>
              <a:t>1</a:t>
            </a:r>
          </a:p>
        </p:txBody>
      </p:sp>
      <p:sp>
        <p:nvSpPr>
          <p:cNvPr id="11" name="TextBox 10">
            <a:extLst>
              <a:ext uri="{FF2B5EF4-FFF2-40B4-BE49-F238E27FC236}">
                <a16:creationId xmlns:a16="http://schemas.microsoft.com/office/drawing/2014/main" id="{89D97A27-C481-4E2F-85B3-21F9ECF02A82}"/>
              </a:ext>
            </a:extLst>
          </p:cNvPr>
          <p:cNvSpPr txBox="1"/>
          <p:nvPr/>
        </p:nvSpPr>
        <p:spPr>
          <a:xfrm>
            <a:off x="8634953" y="1932494"/>
            <a:ext cx="339392" cy="369332"/>
          </a:xfrm>
          <a:prstGeom prst="rect">
            <a:avLst/>
          </a:prstGeom>
          <a:solidFill>
            <a:schemeClr val="bg1"/>
          </a:solidFill>
        </p:spPr>
        <p:txBody>
          <a:bodyPr wrap="square" rtlCol="0">
            <a:spAutoFit/>
          </a:bodyPr>
          <a:lstStyle/>
          <a:p>
            <a:r>
              <a:rPr lang="en-US" b="1" dirty="0"/>
              <a:t>1</a:t>
            </a:r>
          </a:p>
        </p:txBody>
      </p:sp>
      <p:sp>
        <p:nvSpPr>
          <p:cNvPr id="12" name="TextBox 11">
            <a:extLst>
              <a:ext uri="{FF2B5EF4-FFF2-40B4-BE49-F238E27FC236}">
                <a16:creationId xmlns:a16="http://schemas.microsoft.com/office/drawing/2014/main" id="{2E114722-D9D8-4E3C-9286-E1F78454AA80}"/>
              </a:ext>
            </a:extLst>
          </p:cNvPr>
          <p:cNvSpPr txBox="1"/>
          <p:nvPr/>
        </p:nvSpPr>
        <p:spPr>
          <a:xfrm>
            <a:off x="9323111" y="3244334"/>
            <a:ext cx="339392" cy="369332"/>
          </a:xfrm>
          <a:prstGeom prst="rect">
            <a:avLst/>
          </a:prstGeom>
          <a:solidFill>
            <a:schemeClr val="bg1"/>
          </a:solidFill>
        </p:spPr>
        <p:txBody>
          <a:bodyPr wrap="square" rtlCol="0">
            <a:spAutoFit/>
          </a:bodyPr>
          <a:lstStyle/>
          <a:p>
            <a:r>
              <a:rPr lang="en-US" b="1" dirty="0"/>
              <a:t>1</a:t>
            </a:r>
          </a:p>
        </p:txBody>
      </p:sp>
      <p:sp>
        <p:nvSpPr>
          <p:cNvPr id="13" name="TextBox 12">
            <a:extLst>
              <a:ext uri="{FF2B5EF4-FFF2-40B4-BE49-F238E27FC236}">
                <a16:creationId xmlns:a16="http://schemas.microsoft.com/office/drawing/2014/main" id="{3E4F43EB-4FAD-43B3-B8E6-F08727AB4113}"/>
              </a:ext>
            </a:extLst>
          </p:cNvPr>
          <p:cNvSpPr txBox="1"/>
          <p:nvPr/>
        </p:nvSpPr>
        <p:spPr>
          <a:xfrm>
            <a:off x="8804649" y="4072379"/>
            <a:ext cx="339392" cy="369332"/>
          </a:xfrm>
          <a:prstGeom prst="rect">
            <a:avLst/>
          </a:prstGeom>
          <a:solidFill>
            <a:schemeClr val="bg1"/>
          </a:solidFill>
        </p:spPr>
        <p:txBody>
          <a:bodyPr wrap="square" rtlCol="0">
            <a:spAutoFit/>
          </a:bodyPr>
          <a:lstStyle/>
          <a:p>
            <a:r>
              <a:rPr lang="en-US" b="1" dirty="0"/>
              <a:t>1</a:t>
            </a:r>
          </a:p>
        </p:txBody>
      </p:sp>
      <p:sp>
        <p:nvSpPr>
          <p:cNvPr id="15" name="TextBox 14">
            <a:extLst>
              <a:ext uri="{FF2B5EF4-FFF2-40B4-BE49-F238E27FC236}">
                <a16:creationId xmlns:a16="http://schemas.microsoft.com/office/drawing/2014/main" id="{0E084643-858A-4187-AB81-CEAE7D63981E}"/>
              </a:ext>
            </a:extLst>
          </p:cNvPr>
          <p:cNvSpPr txBox="1"/>
          <p:nvPr/>
        </p:nvSpPr>
        <p:spPr>
          <a:xfrm>
            <a:off x="9323111" y="2576602"/>
            <a:ext cx="339392" cy="369332"/>
          </a:xfrm>
          <a:prstGeom prst="rect">
            <a:avLst/>
          </a:prstGeom>
          <a:solidFill>
            <a:schemeClr val="bg1"/>
          </a:solidFill>
        </p:spPr>
        <p:txBody>
          <a:bodyPr wrap="square" rtlCol="0">
            <a:spAutoFit/>
          </a:bodyPr>
          <a:lstStyle/>
          <a:p>
            <a:r>
              <a:rPr lang="en-US" b="1" dirty="0"/>
              <a:t>9</a:t>
            </a:r>
          </a:p>
        </p:txBody>
      </p:sp>
      <p:sp>
        <p:nvSpPr>
          <p:cNvPr id="16" name="TextBox 15">
            <a:extLst>
              <a:ext uri="{FF2B5EF4-FFF2-40B4-BE49-F238E27FC236}">
                <a16:creationId xmlns:a16="http://schemas.microsoft.com/office/drawing/2014/main" id="{E21DFCC7-A727-4745-AC5F-1D289B5EEF54}"/>
              </a:ext>
            </a:extLst>
          </p:cNvPr>
          <p:cNvSpPr txBox="1"/>
          <p:nvPr/>
        </p:nvSpPr>
        <p:spPr>
          <a:xfrm>
            <a:off x="9377957" y="4072379"/>
            <a:ext cx="308538" cy="369332"/>
          </a:xfrm>
          <a:prstGeom prst="rect">
            <a:avLst/>
          </a:prstGeom>
          <a:solidFill>
            <a:schemeClr val="bg1"/>
          </a:solidFill>
        </p:spPr>
        <p:txBody>
          <a:bodyPr wrap="square" rtlCol="0">
            <a:spAutoFit/>
          </a:bodyPr>
          <a:lstStyle/>
          <a:p>
            <a:r>
              <a:rPr lang="en-US" b="1" dirty="0"/>
              <a:t>0</a:t>
            </a:r>
          </a:p>
        </p:txBody>
      </p:sp>
      <p:sp>
        <p:nvSpPr>
          <p:cNvPr id="17" name="TextBox 16">
            <a:extLst>
              <a:ext uri="{FF2B5EF4-FFF2-40B4-BE49-F238E27FC236}">
                <a16:creationId xmlns:a16="http://schemas.microsoft.com/office/drawing/2014/main" id="{B75D3952-C267-4FBD-A8DC-3D6EB03FD9D1}"/>
              </a:ext>
            </a:extLst>
          </p:cNvPr>
          <p:cNvSpPr txBox="1"/>
          <p:nvPr/>
        </p:nvSpPr>
        <p:spPr>
          <a:xfrm>
            <a:off x="9251969" y="1923479"/>
            <a:ext cx="308538" cy="369332"/>
          </a:xfrm>
          <a:prstGeom prst="rect">
            <a:avLst/>
          </a:prstGeom>
          <a:solidFill>
            <a:schemeClr val="bg1"/>
          </a:solidFill>
        </p:spPr>
        <p:txBody>
          <a:bodyPr wrap="square" rtlCol="0">
            <a:spAutoFit/>
          </a:bodyPr>
          <a:lstStyle/>
          <a:p>
            <a:r>
              <a:rPr lang="en-US" b="1" dirty="0"/>
              <a:t>0</a:t>
            </a:r>
          </a:p>
        </p:txBody>
      </p:sp>
      <p:sp>
        <p:nvSpPr>
          <p:cNvPr id="18" name="TextBox 17">
            <a:extLst>
              <a:ext uri="{FF2B5EF4-FFF2-40B4-BE49-F238E27FC236}">
                <a16:creationId xmlns:a16="http://schemas.microsoft.com/office/drawing/2014/main" id="{44EBD341-E5D6-4525-A6BA-FA75C5845804}"/>
              </a:ext>
            </a:extLst>
          </p:cNvPr>
          <p:cNvSpPr txBox="1"/>
          <p:nvPr/>
        </p:nvSpPr>
        <p:spPr>
          <a:xfrm>
            <a:off x="10408921" y="1913641"/>
            <a:ext cx="339392" cy="369332"/>
          </a:xfrm>
          <a:prstGeom prst="rect">
            <a:avLst/>
          </a:prstGeom>
          <a:solidFill>
            <a:schemeClr val="bg1"/>
          </a:solidFill>
        </p:spPr>
        <p:txBody>
          <a:bodyPr wrap="square" rtlCol="0">
            <a:spAutoFit/>
          </a:bodyPr>
          <a:lstStyle/>
          <a:p>
            <a:r>
              <a:rPr lang="en-US" b="1" dirty="0"/>
              <a:t>1</a:t>
            </a:r>
          </a:p>
        </p:txBody>
      </p:sp>
      <p:sp>
        <p:nvSpPr>
          <p:cNvPr id="19" name="TextBox 18">
            <a:extLst>
              <a:ext uri="{FF2B5EF4-FFF2-40B4-BE49-F238E27FC236}">
                <a16:creationId xmlns:a16="http://schemas.microsoft.com/office/drawing/2014/main" id="{3777FF2D-F801-43E7-961C-165B62B98F53}"/>
              </a:ext>
            </a:extLst>
          </p:cNvPr>
          <p:cNvSpPr txBox="1"/>
          <p:nvPr/>
        </p:nvSpPr>
        <p:spPr>
          <a:xfrm>
            <a:off x="10435459" y="3244334"/>
            <a:ext cx="339392" cy="369332"/>
          </a:xfrm>
          <a:prstGeom prst="rect">
            <a:avLst/>
          </a:prstGeom>
          <a:solidFill>
            <a:schemeClr val="bg1"/>
          </a:solidFill>
        </p:spPr>
        <p:txBody>
          <a:bodyPr wrap="square" rtlCol="0">
            <a:spAutoFit/>
          </a:bodyPr>
          <a:lstStyle/>
          <a:p>
            <a:r>
              <a:rPr lang="en-US" b="1" dirty="0"/>
              <a:t>8</a:t>
            </a:r>
          </a:p>
        </p:txBody>
      </p:sp>
      <p:sp>
        <p:nvSpPr>
          <p:cNvPr id="20" name="TextBox 19">
            <a:extLst>
              <a:ext uri="{FF2B5EF4-FFF2-40B4-BE49-F238E27FC236}">
                <a16:creationId xmlns:a16="http://schemas.microsoft.com/office/drawing/2014/main" id="{87E36543-B407-4486-B041-60AE50D073B6}"/>
              </a:ext>
            </a:extLst>
          </p:cNvPr>
          <p:cNvSpPr txBox="1"/>
          <p:nvPr/>
        </p:nvSpPr>
        <p:spPr>
          <a:xfrm>
            <a:off x="11031343" y="2576602"/>
            <a:ext cx="308538" cy="369332"/>
          </a:xfrm>
          <a:prstGeom prst="rect">
            <a:avLst/>
          </a:prstGeom>
          <a:solidFill>
            <a:srgbClr val="FFFF00"/>
          </a:solidFill>
        </p:spPr>
        <p:txBody>
          <a:bodyPr wrap="square" rtlCol="0">
            <a:spAutoFit/>
          </a:bodyPr>
          <a:lstStyle/>
          <a:p>
            <a:r>
              <a:rPr lang="en-US" b="1" dirty="0"/>
              <a:t>5</a:t>
            </a:r>
          </a:p>
        </p:txBody>
      </p:sp>
      <p:sp>
        <p:nvSpPr>
          <p:cNvPr id="21" name="TextBox 20">
            <a:extLst>
              <a:ext uri="{FF2B5EF4-FFF2-40B4-BE49-F238E27FC236}">
                <a16:creationId xmlns:a16="http://schemas.microsoft.com/office/drawing/2014/main" id="{7EED7165-45A0-46B4-8DD1-88699418635A}"/>
              </a:ext>
            </a:extLst>
          </p:cNvPr>
          <p:cNvSpPr txBox="1"/>
          <p:nvPr/>
        </p:nvSpPr>
        <p:spPr>
          <a:xfrm>
            <a:off x="11052967" y="3245213"/>
            <a:ext cx="308538" cy="369332"/>
          </a:xfrm>
          <a:prstGeom prst="rect">
            <a:avLst/>
          </a:prstGeom>
          <a:solidFill>
            <a:srgbClr val="FFFF00"/>
          </a:solidFill>
        </p:spPr>
        <p:txBody>
          <a:bodyPr wrap="square" rtlCol="0">
            <a:spAutoFit/>
          </a:bodyPr>
          <a:lstStyle/>
          <a:p>
            <a:r>
              <a:rPr lang="en-US" b="1" dirty="0"/>
              <a:t>7</a:t>
            </a:r>
          </a:p>
        </p:txBody>
      </p:sp>
      <p:sp>
        <p:nvSpPr>
          <p:cNvPr id="22" name="TextBox 21">
            <a:extLst>
              <a:ext uri="{FF2B5EF4-FFF2-40B4-BE49-F238E27FC236}">
                <a16:creationId xmlns:a16="http://schemas.microsoft.com/office/drawing/2014/main" id="{F8998B6F-603A-4211-95BF-EEF8DB1ECDB5}"/>
              </a:ext>
            </a:extLst>
          </p:cNvPr>
          <p:cNvSpPr txBox="1"/>
          <p:nvPr/>
        </p:nvSpPr>
        <p:spPr>
          <a:xfrm>
            <a:off x="11075827" y="4082504"/>
            <a:ext cx="308538" cy="369332"/>
          </a:xfrm>
          <a:prstGeom prst="rect">
            <a:avLst/>
          </a:prstGeom>
          <a:solidFill>
            <a:srgbClr val="FFFF00"/>
          </a:solidFill>
        </p:spPr>
        <p:txBody>
          <a:bodyPr wrap="square" rtlCol="0">
            <a:spAutoFit/>
          </a:bodyPr>
          <a:lstStyle/>
          <a:p>
            <a:r>
              <a:rPr lang="en-US" b="1" dirty="0"/>
              <a:t>2</a:t>
            </a:r>
          </a:p>
        </p:txBody>
      </p:sp>
      <p:sp>
        <p:nvSpPr>
          <p:cNvPr id="23" name="Rectangle 22"/>
          <p:cNvSpPr/>
          <p:nvPr/>
        </p:nvSpPr>
        <p:spPr>
          <a:xfrm>
            <a:off x="8386628" y="4873292"/>
            <a:ext cx="1872965" cy="954107"/>
          </a:xfrm>
          <a:prstGeom prst="rect">
            <a:avLst/>
          </a:prstGeom>
        </p:spPr>
        <p:txBody>
          <a:bodyPr wrap="square">
            <a:spAutoFit/>
          </a:bodyPr>
          <a:lstStyle/>
          <a:p>
            <a:pPr marL="0" lvl="2"/>
            <a:r>
              <a:rPr lang="en-US" sz="1400" dirty="0"/>
              <a:t>𝑆={</a:t>
            </a:r>
            <a:r>
              <a:rPr lang="en-US" sz="1400" b="1" dirty="0">
                <a:solidFill>
                  <a:srgbClr val="FF0000"/>
                </a:solidFill>
              </a:rPr>
              <a:t>9</a:t>
            </a:r>
            <a:r>
              <a:rPr lang="en-US" sz="1400" dirty="0"/>
              <a:t>}</a:t>
            </a:r>
          </a:p>
          <a:p>
            <a:pPr marL="0" lvl="2"/>
            <a:r>
              <a:rPr lang="en-US" sz="1400" i="1" dirty="0"/>
              <a:t>E</a:t>
            </a:r>
            <a:r>
              <a:rPr lang="en-US" sz="1400" dirty="0"/>
              <a:t>={</a:t>
            </a:r>
            <a:r>
              <a:rPr lang="en-US" sz="1400" b="1" dirty="0">
                <a:solidFill>
                  <a:srgbClr val="FF0000"/>
                </a:solidFill>
              </a:rPr>
              <a:t>7</a:t>
            </a:r>
            <a:r>
              <a:rPr lang="en-US" sz="1400" dirty="0"/>
              <a:t>}</a:t>
            </a:r>
          </a:p>
          <a:p>
            <a:pPr marL="0" lvl="2"/>
            <a:r>
              <a:rPr lang="en-US" sz="1400" i="1" dirty="0"/>
              <a:t>N</a:t>
            </a:r>
            <a:r>
              <a:rPr lang="en-US" sz="1400" dirty="0"/>
              <a:t>={3,4,6}</a:t>
            </a:r>
          </a:p>
          <a:p>
            <a:pPr marL="0" lvl="2"/>
            <a:r>
              <a:rPr lang="en-US" sz="1400" i="1" dirty="0"/>
              <a:t>D</a:t>
            </a:r>
            <a:r>
              <a:rPr lang="en-US" sz="1400" dirty="0"/>
              <a:t>={</a:t>
            </a:r>
            <a:r>
              <a:rPr lang="en-US" sz="1400" b="1" dirty="0">
                <a:solidFill>
                  <a:srgbClr val="FF0000"/>
                </a:solidFill>
              </a:rPr>
              <a:t>5</a:t>
            </a:r>
            <a:r>
              <a:rPr lang="en-US" sz="1400" dirty="0"/>
              <a:t>}</a:t>
            </a:r>
          </a:p>
        </p:txBody>
      </p:sp>
      <p:sp>
        <p:nvSpPr>
          <p:cNvPr id="24" name="Rectangle 23"/>
          <p:cNvSpPr/>
          <p:nvPr/>
        </p:nvSpPr>
        <p:spPr>
          <a:xfrm>
            <a:off x="10089897" y="4873292"/>
            <a:ext cx="1866330" cy="954107"/>
          </a:xfrm>
          <a:prstGeom prst="rect">
            <a:avLst/>
          </a:prstGeom>
        </p:spPr>
        <p:txBody>
          <a:bodyPr wrap="square">
            <a:spAutoFit/>
          </a:bodyPr>
          <a:lstStyle/>
          <a:p>
            <a:pPr marL="0" lvl="2"/>
            <a:r>
              <a:rPr lang="en-US" sz="1400" i="1" dirty="0"/>
              <a:t>M</a:t>
            </a:r>
            <a:r>
              <a:rPr lang="en-US" sz="1400" dirty="0"/>
              <a:t>={</a:t>
            </a:r>
            <a:r>
              <a:rPr lang="en-US" sz="1400" b="1" dirty="0">
                <a:solidFill>
                  <a:srgbClr val="FF0000"/>
                </a:solidFill>
              </a:rPr>
              <a:t>1</a:t>
            </a:r>
            <a:r>
              <a:rPr lang="en-US" sz="1400" dirty="0"/>
              <a:t>}</a:t>
            </a:r>
          </a:p>
          <a:p>
            <a:pPr marL="0" lvl="2"/>
            <a:r>
              <a:rPr lang="en-US" sz="1400" i="1" dirty="0"/>
              <a:t>O</a:t>
            </a:r>
            <a:r>
              <a:rPr lang="en-US" sz="1400" dirty="0"/>
              <a:t>={</a:t>
            </a:r>
            <a:r>
              <a:rPr lang="en-US" sz="1400" b="1" dirty="0">
                <a:solidFill>
                  <a:srgbClr val="FF0000"/>
                </a:solidFill>
              </a:rPr>
              <a:t>0</a:t>
            </a:r>
            <a:r>
              <a:rPr lang="en-US" sz="1400" dirty="0"/>
              <a:t>}</a:t>
            </a:r>
          </a:p>
          <a:p>
            <a:pPr marL="0" lvl="2"/>
            <a:r>
              <a:rPr lang="en-US" sz="1400" i="1" dirty="0"/>
              <a:t>R</a:t>
            </a:r>
            <a:r>
              <a:rPr lang="en-US" sz="1400" dirty="0"/>
              <a:t>={</a:t>
            </a:r>
            <a:r>
              <a:rPr lang="en-US" sz="1400" b="1" dirty="0">
                <a:solidFill>
                  <a:srgbClr val="FF0000"/>
                </a:solidFill>
              </a:rPr>
              <a:t>8</a:t>
            </a:r>
            <a:r>
              <a:rPr lang="en-US" sz="1400" dirty="0"/>
              <a:t>}</a:t>
            </a:r>
          </a:p>
          <a:p>
            <a:pPr marL="0" lvl="2"/>
            <a:r>
              <a:rPr lang="en-US" sz="1400" i="1" dirty="0"/>
              <a:t>Y</a:t>
            </a:r>
            <a:r>
              <a:rPr lang="en-US" sz="1400" dirty="0"/>
              <a:t>={</a:t>
            </a:r>
            <a:r>
              <a:rPr lang="en-US" sz="1400" b="1" dirty="0">
                <a:solidFill>
                  <a:srgbClr val="FF0000"/>
                </a:solidFill>
              </a:rPr>
              <a:t>2</a:t>
            </a:r>
            <a:r>
              <a:rPr lang="en-US" sz="1400" dirty="0"/>
              <a:t>}</a:t>
            </a:r>
          </a:p>
        </p:txBody>
      </p:sp>
      <p:sp>
        <p:nvSpPr>
          <p:cNvPr id="25" name="TextBox 24">
            <a:extLst>
              <a:ext uri="{FF2B5EF4-FFF2-40B4-BE49-F238E27FC236}">
                <a16:creationId xmlns:a16="http://schemas.microsoft.com/office/drawing/2014/main" id="{7EED7165-45A0-46B4-8DD1-88699418635A}"/>
              </a:ext>
            </a:extLst>
          </p:cNvPr>
          <p:cNvSpPr txBox="1"/>
          <p:nvPr/>
        </p:nvSpPr>
        <p:spPr>
          <a:xfrm>
            <a:off x="10466313" y="4082504"/>
            <a:ext cx="308538" cy="369332"/>
          </a:xfrm>
          <a:prstGeom prst="rect">
            <a:avLst/>
          </a:prstGeom>
          <a:solidFill>
            <a:srgbClr val="FFFF00"/>
          </a:solidFill>
        </p:spPr>
        <p:txBody>
          <a:bodyPr wrap="square" rtlCol="0">
            <a:spAutoFit/>
          </a:bodyPr>
          <a:lstStyle/>
          <a:p>
            <a:r>
              <a:rPr lang="en-US" b="1" dirty="0"/>
              <a:t>7</a:t>
            </a:r>
          </a:p>
        </p:txBody>
      </p:sp>
      <p:sp>
        <p:nvSpPr>
          <p:cNvPr id="26" name="TextBox 25">
            <a:extLst>
              <a:ext uri="{FF2B5EF4-FFF2-40B4-BE49-F238E27FC236}">
                <a16:creationId xmlns:a16="http://schemas.microsoft.com/office/drawing/2014/main" id="{7EED7165-45A0-46B4-8DD1-88699418635A}"/>
              </a:ext>
            </a:extLst>
          </p:cNvPr>
          <p:cNvSpPr txBox="1"/>
          <p:nvPr/>
        </p:nvSpPr>
        <p:spPr>
          <a:xfrm>
            <a:off x="9860438" y="2562614"/>
            <a:ext cx="308538" cy="369332"/>
          </a:xfrm>
          <a:prstGeom prst="rect">
            <a:avLst/>
          </a:prstGeom>
          <a:solidFill>
            <a:srgbClr val="FFFF00"/>
          </a:solidFill>
        </p:spPr>
        <p:txBody>
          <a:bodyPr wrap="square" rtlCol="0">
            <a:spAutoFit/>
          </a:bodyPr>
          <a:lstStyle/>
          <a:p>
            <a:r>
              <a:rPr lang="en-US" b="1" dirty="0"/>
              <a:t>7</a:t>
            </a:r>
          </a:p>
        </p:txBody>
      </p:sp>
      <p:sp>
        <p:nvSpPr>
          <p:cNvPr id="27" name="TextBox 26"/>
          <p:cNvSpPr txBox="1"/>
          <p:nvPr/>
        </p:nvSpPr>
        <p:spPr>
          <a:xfrm>
            <a:off x="8842293" y="5805517"/>
            <a:ext cx="2364943" cy="307777"/>
          </a:xfrm>
          <a:prstGeom prst="rect">
            <a:avLst/>
          </a:prstGeom>
          <a:noFill/>
        </p:spPr>
        <p:txBody>
          <a:bodyPr wrap="none" rtlCol="0">
            <a:spAutoFit/>
          </a:bodyPr>
          <a:lstStyle/>
          <a:p>
            <a:r>
              <a:rPr lang="en-US" sz="1400" dirty="0">
                <a:solidFill>
                  <a:srgbClr val="0033CC"/>
                </a:solidFill>
              </a:rPr>
              <a:t>Updated domains of variables</a:t>
            </a:r>
          </a:p>
        </p:txBody>
      </p:sp>
      <p:sp>
        <p:nvSpPr>
          <p:cNvPr id="28" name="TextBox 27">
            <a:extLst>
              <a:ext uri="{FF2B5EF4-FFF2-40B4-BE49-F238E27FC236}">
                <a16:creationId xmlns:a16="http://schemas.microsoft.com/office/drawing/2014/main" id="{8562998D-3C82-440F-8F09-2AB52503F952}"/>
              </a:ext>
            </a:extLst>
          </p:cNvPr>
          <p:cNvSpPr txBox="1"/>
          <p:nvPr/>
        </p:nvSpPr>
        <p:spPr>
          <a:xfrm>
            <a:off x="9860438" y="1913641"/>
            <a:ext cx="339392" cy="369332"/>
          </a:xfrm>
          <a:prstGeom prst="rect">
            <a:avLst/>
          </a:prstGeom>
          <a:solidFill>
            <a:srgbClr val="FFFF00"/>
          </a:solidFill>
        </p:spPr>
        <p:txBody>
          <a:bodyPr wrap="square" rtlCol="0">
            <a:spAutoFit/>
          </a:bodyPr>
          <a:lstStyle/>
          <a:p>
            <a:r>
              <a:rPr lang="en-US" b="1" dirty="0"/>
              <a:t>1</a:t>
            </a:r>
          </a:p>
        </p:txBody>
      </p:sp>
      <p:sp>
        <p:nvSpPr>
          <p:cNvPr id="29" name="TextBox 28">
            <a:extLst>
              <a:ext uri="{FF2B5EF4-FFF2-40B4-BE49-F238E27FC236}">
                <a16:creationId xmlns:a16="http://schemas.microsoft.com/office/drawing/2014/main" id="{89D97A27-C481-4E2F-85B3-21F9ECF02A82}"/>
              </a:ext>
            </a:extLst>
          </p:cNvPr>
          <p:cNvSpPr txBox="1"/>
          <p:nvPr/>
        </p:nvSpPr>
        <p:spPr>
          <a:xfrm>
            <a:off x="8634953" y="1932494"/>
            <a:ext cx="339392" cy="369332"/>
          </a:xfrm>
          <a:prstGeom prst="rect">
            <a:avLst/>
          </a:prstGeom>
          <a:solidFill>
            <a:schemeClr val="bg1"/>
          </a:solidFill>
        </p:spPr>
        <p:txBody>
          <a:bodyPr wrap="square" rtlCol="0">
            <a:spAutoFit/>
          </a:bodyPr>
          <a:lstStyle/>
          <a:p>
            <a:r>
              <a:rPr lang="en-US" b="1" dirty="0"/>
              <a:t>1</a:t>
            </a:r>
          </a:p>
        </p:txBody>
      </p:sp>
      <p:sp>
        <p:nvSpPr>
          <p:cNvPr id="30" name="TextBox 29">
            <a:extLst>
              <a:ext uri="{FF2B5EF4-FFF2-40B4-BE49-F238E27FC236}">
                <a16:creationId xmlns:a16="http://schemas.microsoft.com/office/drawing/2014/main" id="{2E114722-D9D8-4E3C-9286-E1F78454AA80}"/>
              </a:ext>
            </a:extLst>
          </p:cNvPr>
          <p:cNvSpPr txBox="1"/>
          <p:nvPr/>
        </p:nvSpPr>
        <p:spPr>
          <a:xfrm>
            <a:off x="9323111" y="3244334"/>
            <a:ext cx="339392" cy="369332"/>
          </a:xfrm>
          <a:prstGeom prst="rect">
            <a:avLst/>
          </a:prstGeom>
          <a:solidFill>
            <a:schemeClr val="bg1"/>
          </a:solidFill>
        </p:spPr>
        <p:txBody>
          <a:bodyPr wrap="square" rtlCol="0">
            <a:spAutoFit/>
          </a:bodyPr>
          <a:lstStyle/>
          <a:p>
            <a:r>
              <a:rPr lang="en-US" b="1" dirty="0"/>
              <a:t>1</a:t>
            </a:r>
          </a:p>
        </p:txBody>
      </p:sp>
      <p:sp>
        <p:nvSpPr>
          <p:cNvPr id="31" name="TextBox 30">
            <a:extLst>
              <a:ext uri="{FF2B5EF4-FFF2-40B4-BE49-F238E27FC236}">
                <a16:creationId xmlns:a16="http://schemas.microsoft.com/office/drawing/2014/main" id="{3E4F43EB-4FAD-43B3-B8E6-F08727AB4113}"/>
              </a:ext>
            </a:extLst>
          </p:cNvPr>
          <p:cNvSpPr txBox="1"/>
          <p:nvPr/>
        </p:nvSpPr>
        <p:spPr>
          <a:xfrm>
            <a:off x="8804649" y="4072379"/>
            <a:ext cx="339392" cy="369332"/>
          </a:xfrm>
          <a:prstGeom prst="rect">
            <a:avLst/>
          </a:prstGeom>
          <a:solidFill>
            <a:schemeClr val="bg1"/>
          </a:solidFill>
        </p:spPr>
        <p:txBody>
          <a:bodyPr wrap="square" rtlCol="0">
            <a:spAutoFit/>
          </a:bodyPr>
          <a:lstStyle/>
          <a:p>
            <a:r>
              <a:rPr lang="en-US" b="1" dirty="0"/>
              <a:t>1</a:t>
            </a:r>
          </a:p>
        </p:txBody>
      </p:sp>
      <p:sp>
        <p:nvSpPr>
          <p:cNvPr id="32" name="TextBox 31">
            <a:extLst>
              <a:ext uri="{FF2B5EF4-FFF2-40B4-BE49-F238E27FC236}">
                <a16:creationId xmlns:a16="http://schemas.microsoft.com/office/drawing/2014/main" id="{0E084643-858A-4187-AB81-CEAE7D63981E}"/>
              </a:ext>
            </a:extLst>
          </p:cNvPr>
          <p:cNvSpPr txBox="1"/>
          <p:nvPr/>
        </p:nvSpPr>
        <p:spPr>
          <a:xfrm>
            <a:off x="9323111" y="2576602"/>
            <a:ext cx="339392" cy="369332"/>
          </a:xfrm>
          <a:prstGeom prst="rect">
            <a:avLst/>
          </a:prstGeom>
          <a:solidFill>
            <a:schemeClr val="bg1"/>
          </a:solidFill>
        </p:spPr>
        <p:txBody>
          <a:bodyPr wrap="square" rtlCol="0">
            <a:spAutoFit/>
          </a:bodyPr>
          <a:lstStyle/>
          <a:p>
            <a:r>
              <a:rPr lang="en-US" b="1" dirty="0"/>
              <a:t>9</a:t>
            </a:r>
          </a:p>
        </p:txBody>
      </p:sp>
      <p:sp>
        <p:nvSpPr>
          <p:cNvPr id="33" name="TextBox 32">
            <a:extLst>
              <a:ext uri="{FF2B5EF4-FFF2-40B4-BE49-F238E27FC236}">
                <a16:creationId xmlns:a16="http://schemas.microsoft.com/office/drawing/2014/main" id="{E21DFCC7-A727-4745-AC5F-1D289B5EEF54}"/>
              </a:ext>
            </a:extLst>
          </p:cNvPr>
          <p:cNvSpPr txBox="1"/>
          <p:nvPr/>
        </p:nvSpPr>
        <p:spPr>
          <a:xfrm>
            <a:off x="9377957" y="4072379"/>
            <a:ext cx="308538" cy="369332"/>
          </a:xfrm>
          <a:prstGeom prst="rect">
            <a:avLst/>
          </a:prstGeom>
          <a:solidFill>
            <a:schemeClr val="bg1"/>
          </a:solidFill>
        </p:spPr>
        <p:txBody>
          <a:bodyPr wrap="square" rtlCol="0">
            <a:spAutoFit/>
          </a:bodyPr>
          <a:lstStyle/>
          <a:p>
            <a:r>
              <a:rPr lang="en-US" b="1" dirty="0"/>
              <a:t>0</a:t>
            </a:r>
          </a:p>
        </p:txBody>
      </p:sp>
      <p:sp>
        <p:nvSpPr>
          <p:cNvPr id="34" name="TextBox 33">
            <a:extLst>
              <a:ext uri="{FF2B5EF4-FFF2-40B4-BE49-F238E27FC236}">
                <a16:creationId xmlns:a16="http://schemas.microsoft.com/office/drawing/2014/main" id="{B75D3952-C267-4FBD-A8DC-3D6EB03FD9D1}"/>
              </a:ext>
            </a:extLst>
          </p:cNvPr>
          <p:cNvSpPr txBox="1"/>
          <p:nvPr/>
        </p:nvSpPr>
        <p:spPr>
          <a:xfrm>
            <a:off x="9251969" y="1923479"/>
            <a:ext cx="308538" cy="369332"/>
          </a:xfrm>
          <a:prstGeom prst="rect">
            <a:avLst/>
          </a:prstGeom>
          <a:solidFill>
            <a:schemeClr val="bg1"/>
          </a:solidFill>
        </p:spPr>
        <p:txBody>
          <a:bodyPr wrap="square" rtlCol="0">
            <a:spAutoFit/>
          </a:bodyPr>
          <a:lstStyle/>
          <a:p>
            <a:r>
              <a:rPr lang="en-US" b="1" dirty="0"/>
              <a:t>0</a:t>
            </a:r>
          </a:p>
        </p:txBody>
      </p:sp>
      <p:sp>
        <p:nvSpPr>
          <p:cNvPr id="35" name="TextBox 34">
            <a:extLst>
              <a:ext uri="{FF2B5EF4-FFF2-40B4-BE49-F238E27FC236}">
                <a16:creationId xmlns:a16="http://schemas.microsoft.com/office/drawing/2014/main" id="{53DC4B95-054B-4724-9177-E171B0DD6669}"/>
              </a:ext>
            </a:extLst>
          </p:cNvPr>
          <p:cNvSpPr txBox="1"/>
          <p:nvPr/>
        </p:nvSpPr>
        <p:spPr>
          <a:xfrm>
            <a:off x="8634953" y="1932494"/>
            <a:ext cx="339392" cy="369332"/>
          </a:xfrm>
          <a:prstGeom prst="rect">
            <a:avLst/>
          </a:prstGeom>
          <a:solidFill>
            <a:schemeClr val="bg1"/>
          </a:solidFill>
        </p:spPr>
        <p:txBody>
          <a:bodyPr wrap="square" rtlCol="0">
            <a:spAutoFit/>
          </a:bodyPr>
          <a:lstStyle/>
          <a:p>
            <a:r>
              <a:rPr lang="en-US" b="1" dirty="0"/>
              <a:t>1</a:t>
            </a:r>
          </a:p>
        </p:txBody>
      </p:sp>
      <p:sp>
        <p:nvSpPr>
          <p:cNvPr id="36" name="TextBox 35">
            <a:extLst>
              <a:ext uri="{FF2B5EF4-FFF2-40B4-BE49-F238E27FC236}">
                <a16:creationId xmlns:a16="http://schemas.microsoft.com/office/drawing/2014/main" id="{BB0621DE-4DBE-4BE1-88E6-1AED6E2DCAF7}"/>
              </a:ext>
            </a:extLst>
          </p:cNvPr>
          <p:cNvSpPr txBox="1"/>
          <p:nvPr/>
        </p:nvSpPr>
        <p:spPr>
          <a:xfrm>
            <a:off x="9323111" y="3244334"/>
            <a:ext cx="339392" cy="369332"/>
          </a:xfrm>
          <a:prstGeom prst="rect">
            <a:avLst/>
          </a:prstGeom>
          <a:solidFill>
            <a:schemeClr val="bg1"/>
          </a:solidFill>
        </p:spPr>
        <p:txBody>
          <a:bodyPr wrap="square" rtlCol="0">
            <a:spAutoFit/>
          </a:bodyPr>
          <a:lstStyle/>
          <a:p>
            <a:r>
              <a:rPr lang="en-US" b="1" dirty="0"/>
              <a:t>1</a:t>
            </a:r>
          </a:p>
        </p:txBody>
      </p:sp>
      <p:sp>
        <p:nvSpPr>
          <p:cNvPr id="37" name="TextBox 36">
            <a:extLst>
              <a:ext uri="{FF2B5EF4-FFF2-40B4-BE49-F238E27FC236}">
                <a16:creationId xmlns:a16="http://schemas.microsoft.com/office/drawing/2014/main" id="{AFD99453-83C2-4C98-82D5-DD37AA7CE358}"/>
              </a:ext>
            </a:extLst>
          </p:cNvPr>
          <p:cNvSpPr txBox="1"/>
          <p:nvPr/>
        </p:nvSpPr>
        <p:spPr>
          <a:xfrm>
            <a:off x="8804649" y="4072379"/>
            <a:ext cx="339392" cy="369332"/>
          </a:xfrm>
          <a:prstGeom prst="rect">
            <a:avLst/>
          </a:prstGeom>
          <a:solidFill>
            <a:schemeClr val="bg1"/>
          </a:solidFill>
        </p:spPr>
        <p:txBody>
          <a:bodyPr wrap="square" rtlCol="0">
            <a:spAutoFit/>
          </a:bodyPr>
          <a:lstStyle/>
          <a:p>
            <a:r>
              <a:rPr lang="en-US" b="1" dirty="0"/>
              <a:t>1</a:t>
            </a:r>
          </a:p>
        </p:txBody>
      </p:sp>
      <p:sp>
        <p:nvSpPr>
          <p:cNvPr id="38" name="TextBox 37">
            <a:extLst>
              <a:ext uri="{FF2B5EF4-FFF2-40B4-BE49-F238E27FC236}">
                <a16:creationId xmlns:a16="http://schemas.microsoft.com/office/drawing/2014/main" id="{13AC62E0-F322-415D-8AB7-31DC4F9476A7}"/>
              </a:ext>
            </a:extLst>
          </p:cNvPr>
          <p:cNvSpPr txBox="1"/>
          <p:nvPr/>
        </p:nvSpPr>
        <p:spPr>
          <a:xfrm>
            <a:off x="9271633" y="2576602"/>
            <a:ext cx="339392" cy="369332"/>
          </a:xfrm>
          <a:prstGeom prst="rect">
            <a:avLst/>
          </a:prstGeom>
          <a:solidFill>
            <a:srgbClr val="FFFF00"/>
          </a:solidFill>
        </p:spPr>
        <p:txBody>
          <a:bodyPr wrap="square" rtlCol="0">
            <a:spAutoFit/>
          </a:bodyPr>
          <a:lstStyle/>
          <a:p>
            <a:r>
              <a:rPr lang="en-US" b="1" dirty="0"/>
              <a:t>9</a:t>
            </a:r>
          </a:p>
        </p:txBody>
      </p:sp>
      <p:sp>
        <p:nvSpPr>
          <p:cNvPr id="39" name="TextBox 38">
            <a:extLst>
              <a:ext uri="{FF2B5EF4-FFF2-40B4-BE49-F238E27FC236}">
                <a16:creationId xmlns:a16="http://schemas.microsoft.com/office/drawing/2014/main" id="{579476FA-426B-4952-B23E-E5E5B795B8BD}"/>
              </a:ext>
            </a:extLst>
          </p:cNvPr>
          <p:cNvSpPr txBox="1"/>
          <p:nvPr/>
        </p:nvSpPr>
        <p:spPr>
          <a:xfrm>
            <a:off x="9377957" y="4072379"/>
            <a:ext cx="308538" cy="369332"/>
          </a:xfrm>
          <a:prstGeom prst="rect">
            <a:avLst/>
          </a:prstGeom>
          <a:solidFill>
            <a:srgbClr val="FFFF00"/>
          </a:solidFill>
        </p:spPr>
        <p:txBody>
          <a:bodyPr wrap="square" rtlCol="0">
            <a:spAutoFit/>
          </a:bodyPr>
          <a:lstStyle/>
          <a:p>
            <a:r>
              <a:rPr lang="en-US" b="1" dirty="0"/>
              <a:t>0</a:t>
            </a:r>
          </a:p>
        </p:txBody>
      </p:sp>
      <p:sp>
        <p:nvSpPr>
          <p:cNvPr id="40" name="TextBox 39">
            <a:extLst>
              <a:ext uri="{FF2B5EF4-FFF2-40B4-BE49-F238E27FC236}">
                <a16:creationId xmlns:a16="http://schemas.microsoft.com/office/drawing/2014/main" id="{719455F4-F987-40E2-BFA5-4F5BA7BCC874}"/>
              </a:ext>
            </a:extLst>
          </p:cNvPr>
          <p:cNvSpPr txBox="1"/>
          <p:nvPr/>
        </p:nvSpPr>
        <p:spPr>
          <a:xfrm>
            <a:off x="9251969" y="1923479"/>
            <a:ext cx="308538" cy="369332"/>
          </a:xfrm>
          <a:prstGeom prst="rect">
            <a:avLst/>
          </a:prstGeom>
          <a:solidFill>
            <a:srgbClr val="FFFF00"/>
          </a:solidFill>
        </p:spPr>
        <p:txBody>
          <a:bodyPr wrap="square" rtlCol="0">
            <a:spAutoFit/>
          </a:bodyPr>
          <a:lstStyle/>
          <a:p>
            <a:r>
              <a:rPr lang="en-US" b="1" dirty="0"/>
              <a:t>0</a:t>
            </a:r>
          </a:p>
        </p:txBody>
      </p:sp>
      <p:sp>
        <p:nvSpPr>
          <p:cNvPr id="41" name="TextBox 40">
            <a:extLst>
              <a:ext uri="{FF2B5EF4-FFF2-40B4-BE49-F238E27FC236}">
                <a16:creationId xmlns:a16="http://schemas.microsoft.com/office/drawing/2014/main" id="{579476FA-426B-4952-B23E-E5E5B795B8BD}"/>
              </a:ext>
            </a:extLst>
          </p:cNvPr>
          <p:cNvSpPr txBox="1"/>
          <p:nvPr/>
        </p:nvSpPr>
        <p:spPr>
          <a:xfrm>
            <a:off x="9893782" y="3244334"/>
            <a:ext cx="308538" cy="369332"/>
          </a:xfrm>
          <a:prstGeom prst="rect">
            <a:avLst/>
          </a:prstGeom>
          <a:solidFill>
            <a:srgbClr val="FFFF00"/>
          </a:solidFill>
        </p:spPr>
        <p:txBody>
          <a:bodyPr wrap="square" rtlCol="0">
            <a:spAutoFit/>
          </a:bodyPr>
          <a:lstStyle/>
          <a:p>
            <a:r>
              <a:rPr lang="en-US" b="1" dirty="0"/>
              <a:t>0</a:t>
            </a:r>
          </a:p>
        </p:txBody>
      </p:sp>
      <p:sp>
        <p:nvSpPr>
          <p:cNvPr id="42" name="TextBox 41">
            <a:extLst>
              <a:ext uri="{FF2B5EF4-FFF2-40B4-BE49-F238E27FC236}">
                <a16:creationId xmlns:a16="http://schemas.microsoft.com/office/drawing/2014/main" id="{1AADE91D-1F30-4BA8-AF05-77C5F32F4C2B}"/>
              </a:ext>
            </a:extLst>
          </p:cNvPr>
          <p:cNvSpPr txBox="1"/>
          <p:nvPr/>
        </p:nvSpPr>
        <p:spPr>
          <a:xfrm>
            <a:off x="8634953" y="1932494"/>
            <a:ext cx="339392" cy="369332"/>
          </a:xfrm>
          <a:prstGeom prst="rect">
            <a:avLst/>
          </a:prstGeom>
          <a:solidFill>
            <a:srgbClr val="FFFF00"/>
          </a:solidFill>
        </p:spPr>
        <p:txBody>
          <a:bodyPr wrap="square" rtlCol="0">
            <a:spAutoFit/>
          </a:bodyPr>
          <a:lstStyle/>
          <a:p>
            <a:r>
              <a:rPr lang="en-US" b="1" dirty="0"/>
              <a:t>1</a:t>
            </a:r>
          </a:p>
        </p:txBody>
      </p:sp>
      <p:sp>
        <p:nvSpPr>
          <p:cNvPr id="43" name="TextBox 42">
            <a:extLst>
              <a:ext uri="{FF2B5EF4-FFF2-40B4-BE49-F238E27FC236}">
                <a16:creationId xmlns:a16="http://schemas.microsoft.com/office/drawing/2014/main" id="{239C6586-F6F4-471D-919E-243765E251C3}"/>
              </a:ext>
            </a:extLst>
          </p:cNvPr>
          <p:cNvSpPr txBox="1"/>
          <p:nvPr/>
        </p:nvSpPr>
        <p:spPr>
          <a:xfrm>
            <a:off x="9269055" y="3244334"/>
            <a:ext cx="339392" cy="369332"/>
          </a:xfrm>
          <a:prstGeom prst="rect">
            <a:avLst/>
          </a:prstGeom>
          <a:solidFill>
            <a:srgbClr val="FFFF00"/>
          </a:solidFill>
        </p:spPr>
        <p:txBody>
          <a:bodyPr wrap="square" rtlCol="0">
            <a:spAutoFit/>
          </a:bodyPr>
          <a:lstStyle/>
          <a:p>
            <a:r>
              <a:rPr lang="en-US" b="1" dirty="0"/>
              <a:t>1</a:t>
            </a:r>
          </a:p>
        </p:txBody>
      </p:sp>
      <p:sp>
        <p:nvSpPr>
          <p:cNvPr id="44" name="TextBox 43">
            <a:extLst>
              <a:ext uri="{FF2B5EF4-FFF2-40B4-BE49-F238E27FC236}">
                <a16:creationId xmlns:a16="http://schemas.microsoft.com/office/drawing/2014/main" id="{ED1F6C1E-D4AF-4256-B2C1-5A92856F93AE}"/>
              </a:ext>
            </a:extLst>
          </p:cNvPr>
          <p:cNvSpPr txBox="1"/>
          <p:nvPr/>
        </p:nvSpPr>
        <p:spPr>
          <a:xfrm>
            <a:off x="8744010" y="4072379"/>
            <a:ext cx="339392" cy="369332"/>
          </a:xfrm>
          <a:prstGeom prst="rect">
            <a:avLst/>
          </a:prstGeom>
          <a:solidFill>
            <a:srgbClr val="FFFF00"/>
          </a:solidFill>
        </p:spPr>
        <p:txBody>
          <a:bodyPr wrap="square" rtlCol="0">
            <a:spAutoFit/>
          </a:bodyPr>
          <a:lstStyle/>
          <a:p>
            <a:r>
              <a:rPr lang="en-US" b="1" dirty="0"/>
              <a:t>1</a:t>
            </a:r>
          </a:p>
        </p:txBody>
      </p:sp>
      <p:sp>
        <p:nvSpPr>
          <p:cNvPr id="45" name="TextBox 44">
            <a:extLst>
              <a:ext uri="{FF2B5EF4-FFF2-40B4-BE49-F238E27FC236}">
                <a16:creationId xmlns:a16="http://schemas.microsoft.com/office/drawing/2014/main" id="{44EBD341-E5D6-4525-A6BA-FA75C5845804}"/>
              </a:ext>
            </a:extLst>
          </p:cNvPr>
          <p:cNvSpPr txBox="1"/>
          <p:nvPr/>
        </p:nvSpPr>
        <p:spPr>
          <a:xfrm>
            <a:off x="10405480" y="1910851"/>
            <a:ext cx="339392" cy="369332"/>
          </a:xfrm>
          <a:prstGeom prst="rect">
            <a:avLst/>
          </a:prstGeom>
          <a:solidFill>
            <a:srgbClr val="FFFF00"/>
          </a:solidFill>
        </p:spPr>
        <p:txBody>
          <a:bodyPr wrap="square" rtlCol="0">
            <a:spAutoFit/>
          </a:bodyPr>
          <a:lstStyle/>
          <a:p>
            <a:r>
              <a:rPr lang="en-US" b="1" dirty="0"/>
              <a:t>1</a:t>
            </a:r>
          </a:p>
        </p:txBody>
      </p:sp>
      <p:sp>
        <p:nvSpPr>
          <p:cNvPr id="46" name="TextBox 45">
            <a:extLst>
              <a:ext uri="{FF2B5EF4-FFF2-40B4-BE49-F238E27FC236}">
                <a16:creationId xmlns:a16="http://schemas.microsoft.com/office/drawing/2014/main" id="{3777FF2D-F801-43E7-961C-165B62B98F53}"/>
              </a:ext>
            </a:extLst>
          </p:cNvPr>
          <p:cNvSpPr txBox="1"/>
          <p:nvPr/>
        </p:nvSpPr>
        <p:spPr>
          <a:xfrm>
            <a:off x="10449465" y="3227961"/>
            <a:ext cx="339392" cy="369332"/>
          </a:xfrm>
          <a:prstGeom prst="rect">
            <a:avLst/>
          </a:prstGeom>
          <a:solidFill>
            <a:srgbClr val="FFFF00"/>
          </a:solidFill>
        </p:spPr>
        <p:txBody>
          <a:bodyPr wrap="square" rtlCol="0">
            <a:spAutoFit/>
          </a:bodyPr>
          <a:lstStyle/>
          <a:p>
            <a:r>
              <a:rPr lang="en-US" b="1" dirty="0"/>
              <a:t>8</a:t>
            </a:r>
          </a:p>
        </p:txBody>
      </p:sp>
    </p:spTree>
    <p:extLst>
      <p:ext uri="{BB962C8B-B14F-4D97-AF65-F5344CB8AC3E}">
        <p14:creationId xmlns:p14="http://schemas.microsoft.com/office/powerpoint/2010/main" val="999805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5" grpId="0" animBg="1"/>
      <p:bldP spid="26"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28905-8CAB-4F65-A7E3-9DF2346949AB}"/>
              </a:ext>
            </a:extLst>
          </p:cNvPr>
          <p:cNvSpPr>
            <a:spLocks noGrp="1"/>
          </p:cNvSpPr>
          <p:nvPr>
            <p:ph type="title"/>
          </p:nvPr>
        </p:nvSpPr>
        <p:spPr/>
        <p:txBody>
          <a:bodyPr>
            <a:normAutofit fontScale="90000"/>
          </a:bodyPr>
          <a:lstStyle/>
          <a:p>
            <a:r>
              <a:rPr lang="en-US" dirty="0"/>
              <a:t>CSP: Cryptarithmetic  </a:t>
            </a:r>
          </a:p>
        </p:txBody>
      </p:sp>
      <p:sp>
        <p:nvSpPr>
          <p:cNvPr id="3" name="Content Placeholder 2">
            <a:extLst>
              <a:ext uri="{FF2B5EF4-FFF2-40B4-BE49-F238E27FC236}">
                <a16:creationId xmlns:a16="http://schemas.microsoft.com/office/drawing/2014/main" id="{A38D9CFD-A00E-4078-8F3B-E7571B5A0A47}"/>
              </a:ext>
            </a:extLst>
          </p:cNvPr>
          <p:cNvSpPr>
            <a:spLocks noGrp="1"/>
          </p:cNvSpPr>
          <p:nvPr>
            <p:ph idx="1"/>
          </p:nvPr>
        </p:nvSpPr>
        <p:spPr>
          <a:xfrm>
            <a:off x="304799" y="1228153"/>
            <a:ext cx="7726893" cy="5021979"/>
          </a:xfrm>
        </p:spPr>
        <p:txBody>
          <a:bodyPr>
            <a:normAutofit/>
          </a:bodyPr>
          <a:lstStyle/>
          <a:p>
            <a:r>
              <a:rPr lang="en-US" dirty="0">
                <a:solidFill>
                  <a:schemeClr val="accent6">
                    <a:lumMod val="75000"/>
                  </a:schemeClr>
                </a:solidFill>
              </a:rPr>
              <a:t>Step 7</a:t>
            </a:r>
            <a:r>
              <a:rPr lang="en-US" dirty="0"/>
              <a:t>: Going back to </a:t>
            </a:r>
            <a:r>
              <a:rPr lang="en-US" dirty="0">
                <a:solidFill>
                  <a:schemeClr val="accent6">
                    <a:lumMod val="75000"/>
                  </a:schemeClr>
                </a:solidFill>
              </a:rPr>
              <a:t>Step 4</a:t>
            </a:r>
            <a:r>
              <a:rPr lang="en-US" dirty="0"/>
              <a:t>, (1+𝐸=𝑁), and substituting 𝐸=7 makes 𝑁=8, this </a:t>
            </a:r>
            <a:r>
              <a:rPr lang="en-US" dirty="0">
                <a:solidFill>
                  <a:srgbClr val="FF0000"/>
                </a:solidFill>
              </a:rPr>
              <a:t>contradicts</a:t>
            </a:r>
            <a:r>
              <a:rPr lang="en-US" dirty="0"/>
              <a:t> with constraint (1)→ </a:t>
            </a:r>
            <a:r>
              <a:rPr lang="en-US" dirty="0">
                <a:solidFill>
                  <a:srgbClr val="FF0000"/>
                </a:solidFill>
              </a:rPr>
              <a:t>backtrack</a:t>
            </a:r>
          </a:p>
          <a:p>
            <a:r>
              <a:rPr lang="en-US" dirty="0"/>
              <a:t>Select 𝐸=5 that makes </a:t>
            </a:r>
          </a:p>
          <a:p>
            <a:pPr lvl="1"/>
            <a:r>
              <a:rPr lang="en-US" dirty="0"/>
              <a:t>𝑁= 1+𝐸=6, </a:t>
            </a:r>
          </a:p>
          <a:p>
            <a:pPr lvl="1"/>
            <a:r>
              <a:rPr lang="en-US" dirty="0"/>
              <a:t>𝐷= 7 </a:t>
            </a:r>
          </a:p>
          <a:p>
            <a:pPr lvl="1"/>
            <a:r>
              <a:rPr lang="en-US" dirty="0"/>
              <a:t>𝑌=2 (no change)</a:t>
            </a:r>
          </a:p>
          <a:p>
            <a:r>
              <a:rPr lang="en-US" dirty="0"/>
              <a:t>The final solution then becomes:</a:t>
            </a:r>
          </a:p>
        </p:txBody>
      </p:sp>
      <p:sp>
        <p:nvSpPr>
          <p:cNvPr id="4" name="Date Placeholder 3">
            <a:extLst>
              <a:ext uri="{FF2B5EF4-FFF2-40B4-BE49-F238E27FC236}">
                <a16:creationId xmlns:a16="http://schemas.microsoft.com/office/drawing/2014/main" id="{0ED05FA7-46CE-43C3-964D-EA7C0412674C}"/>
              </a:ext>
            </a:extLst>
          </p:cNvPr>
          <p:cNvSpPr>
            <a:spLocks noGrp="1"/>
          </p:cNvSpPr>
          <p:nvPr>
            <p:ph type="dt" sz="half" idx="10"/>
          </p:nvPr>
        </p:nvSpPr>
        <p:spPr/>
        <p:txBody>
          <a:bodyPr/>
          <a:lstStyle/>
          <a:p>
            <a:fld id="{68705484-146F-4BAC-A5A0-06647E0DBDF5}" type="datetime1">
              <a:rPr lang="en-US" smtClean="0"/>
              <a:t>10/16/2022</a:t>
            </a:fld>
            <a:endParaRPr lang="en-US" dirty="0"/>
          </a:p>
        </p:txBody>
      </p:sp>
      <p:sp>
        <p:nvSpPr>
          <p:cNvPr id="5" name="Footer Placeholder 4">
            <a:extLst>
              <a:ext uri="{FF2B5EF4-FFF2-40B4-BE49-F238E27FC236}">
                <a16:creationId xmlns:a16="http://schemas.microsoft.com/office/drawing/2014/main" id="{56411E36-7743-49E3-B73C-48A9726D3B12}"/>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7915844A-1C77-43F6-B513-C23306A93385}"/>
              </a:ext>
            </a:extLst>
          </p:cNvPr>
          <p:cNvSpPr>
            <a:spLocks noGrp="1"/>
          </p:cNvSpPr>
          <p:nvPr>
            <p:ph type="sldNum" sz="quarter" idx="12"/>
          </p:nvPr>
        </p:nvSpPr>
        <p:spPr/>
        <p:txBody>
          <a:bodyPr/>
          <a:lstStyle/>
          <a:p>
            <a:fld id="{B7884E68-CE57-44C0-BE0F-84C629DF22D5}" type="slidenum">
              <a:rPr lang="en-US" dirty="0" smtClean="0"/>
              <a:t>100</a:t>
            </a:fld>
            <a:endParaRPr lang="en-US" dirty="0"/>
          </a:p>
        </p:txBody>
      </p:sp>
      <p:pic>
        <p:nvPicPr>
          <p:cNvPr id="14" name="Picture 13" descr="A picture containing rectangle&#10;&#10;Description automatically generated">
            <a:extLst>
              <a:ext uri="{FF2B5EF4-FFF2-40B4-BE49-F238E27FC236}">
                <a16:creationId xmlns:a16="http://schemas.microsoft.com/office/drawing/2014/main" id="{33B32DFE-D70F-4D0A-AC42-116BE1B3F4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257" y="1788889"/>
            <a:ext cx="3861942" cy="2798508"/>
          </a:xfrm>
          <a:prstGeom prst="rect">
            <a:avLst/>
          </a:prstGeom>
        </p:spPr>
      </p:pic>
      <p:sp>
        <p:nvSpPr>
          <p:cNvPr id="7" name="TextBox 6">
            <a:extLst>
              <a:ext uri="{FF2B5EF4-FFF2-40B4-BE49-F238E27FC236}">
                <a16:creationId xmlns:a16="http://schemas.microsoft.com/office/drawing/2014/main" id="{8562998D-3C82-440F-8F09-2AB52503F952}"/>
              </a:ext>
            </a:extLst>
          </p:cNvPr>
          <p:cNvSpPr txBox="1"/>
          <p:nvPr/>
        </p:nvSpPr>
        <p:spPr>
          <a:xfrm>
            <a:off x="9860438" y="1913641"/>
            <a:ext cx="339392" cy="369332"/>
          </a:xfrm>
          <a:prstGeom prst="rect">
            <a:avLst/>
          </a:prstGeom>
          <a:solidFill>
            <a:schemeClr val="bg1"/>
          </a:solidFill>
        </p:spPr>
        <p:txBody>
          <a:bodyPr wrap="square" rtlCol="0">
            <a:spAutoFit/>
          </a:bodyPr>
          <a:lstStyle/>
          <a:p>
            <a:r>
              <a:rPr lang="en-US" b="1" dirty="0"/>
              <a:t>1</a:t>
            </a:r>
          </a:p>
        </p:txBody>
      </p:sp>
      <p:sp>
        <p:nvSpPr>
          <p:cNvPr id="11" name="TextBox 10">
            <a:extLst>
              <a:ext uri="{FF2B5EF4-FFF2-40B4-BE49-F238E27FC236}">
                <a16:creationId xmlns:a16="http://schemas.microsoft.com/office/drawing/2014/main" id="{89D97A27-C481-4E2F-85B3-21F9ECF02A82}"/>
              </a:ext>
            </a:extLst>
          </p:cNvPr>
          <p:cNvSpPr txBox="1"/>
          <p:nvPr/>
        </p:nvSpPr>
        <p:spPr>
          <a:xfrm>
            <a:off x="8634953" y="1932494"/>
            <a:ext cx="339392" cy="369332"/>
          </a:xfrm>
          <a:prstGeom prst="rect">
            <a:avLst/>
          </a:prstGeom>
          <a:solidFill>
            <a:schemeClr val="bg1"/>
          </a:solidFill>
        </p:spPr>
        <p:txBody>
          <a:bodyPr wrap="square" rtlCol="0">
            <a:spAutoFit/>
          </a:bodyPr>
          <a:lstStyle/>
          <a:p>
            <a:r>
              <a:rPr lang="en-US" b="1" dirty="0"/>
              <a:t>1</a:t>
            </a:r>
          </a:p>
        </p:txBody>
      </p:sp>
      <p:sp>
        <p:nvSpPr>
          <p:cNvPr id="12" name="TextBox 11">
            <a:extLst>
              <a:ext uri="{FF2B5EF4-FFF2-40B4-BE49-F238E27FC236}">
                <a16:creationId xmlns:a16="http://schemas.microsoft.com/office/drawing/2014/main" id="{2E114722-D9D8-4E3C-9286-E1F78454AA80}"/>
              </a:ext>
            </a:extLst>
          </p:cNvPr>
          <p:cNvSpPr txBox="1"/>
          <p:nvPr/>
        </p:nvSpPr>
        <p:spPr>
          <a:xfrm>
            <a:off x="9323111" y="3244334"/>
            <a:ext cx="339392" cy="369332"/>
          </a:xfrm>
          <a:prstGeom prst="rect">
            <a:avLst/>
          </a:prstGeom>
          <a:solidFill>
            <a:schemeClr val="bg1"/>
          </a:solidFill>
        </p:spPr>
        <p:txBody>
          <a:bodyPr wrap="square" rtlCol="0">
            <a:spAutoFit/>
          </a:bodyPr>
          <a:lstStyle/>
          <a:p>
            <a:r>
              <a:rPr lang="en-US" b="1" dirty="0"/>
              <a:t>1</a:t>
            </a:r>
          </a:p>
        </p:txBody>
      </p:sp>
      <p:sp>
        <p:nvSpPr>
          <p:cNvPr id="13" name="TextBox 12">
            <a:extLst>
              <a:ext uri="{FF2B5EF4-FFF2-40B4-BE49-F238E27FC236}">
                <a16:creationId xmlns:a16="http://schemas.microsoft.com/office/drawing/2014/main" id="{3E4F43EB-4FAD-43B3-B8E6-F08727AB4113}"/>
              </a:ext>
            </a:extLst>
          </p:cNvPr>
          <p:cNvSpPr txBox="1"/>
          <p:nvPr/>
        </p:nvSpPr>
        <p:spPr>
          <a:xfrm>
            <a:off x="8804649" y="4072379"/>
            <a:ext cx="339392" cy="369332"/>
          </a:xfrm>
          <a:prstGeom prst="rect">
            <a:avLst/>
          </a:prstGeom>
          <a:solidFill>
            <a:schemeClr val="bg1"/>
          </a:solidFill>
        </p:spPr>
        <p:txBody>
          <a:bodyPr wrap="square" rtlCol="0">
            <a:spAutoFit/>
          </a:bodyPr>
          <a:lstStyle/>
          <a:p>
            <a:r>
              <a:rPr lang="en-US" b="1" dirty="0"/>
              <a:t>1</a:t>
            </a:r>
          </a:p>
        </p:txBody>
      </p:sp>
      <p:sp>
        <p:nvSpPr>
          <p:cNvPr id="15" name="TextBox 14">
            <a:extLst>
              <a:ext uri="{FF2B5EF4-FFF2-40B4-BE49-F238E27FC236}">
                <a16:creationId xmlns:a16="http://schemas.microsoft.com/office/drawing/2014/main" id="{0E084643-858A-4187-AB81-CEAE7D63981E}"/>
              </a:ext>
            </a:extLst>
          </p:cNvPr>
          <p:cNvSpPr txBox="1"/>
          <p:nvPr/>
        </p:nvSpPr>
        <p:spPr>
          <a:xfrm>
            <a:off x="9323111" y="2576602"/>
            <a:ext cx="339392" cy="369332"/>
          </a:xfrm>
          <a:prstGeom prst="rect">
            <a:avLst/>
          </a:prstGeom>
          <a:solidFill>
            <a:schemeClr val="bg1"/>
          </a:solidFill>
        </p:spPr>
        <p:txBody>
          <a:bodyPr wrap="square" rtlCol="0">
            <a:spAutoFit/>
          </a:bodyPr>
          <a:lstStyle/>
          <a:p>
            <a:r>
              <a:rPr lang="en-US" b="1" dirty="0"/>
              <a:t>9</a:t>
            </a:r>
          </a:p>
        </p:txBody>
      </p:sp>
      <p:sp>
        <p:nvSpPr>
          <p:cNvPr id="16" name="TextBox 15">
            <a:extLst>
              <a:ext uri="{FF2B5EF4-FFF2-40B4-BE49-F238E27FC236}">
                <a16:creationId xmlns:a16="http://schemas.microsoft.com/office/drawing/2014/main" id="{E21DFCC7-A727-4745-AC5F-1D289B5EEF54}"/>
              </a:ext>
            </a:extLst>
          </p:cNvPr>
          <p:cNvSpPr txBox="1"/>
          <p:nvPr/>
        </p:nvSpPr>
        <p:spPr>
          <a:xfrm>
            <a:off x="9377957" y="4072379"/>
            <a:ext cx="308538" cy="369332"/>
          </a:xfrm>
          <a:prstGeom prst="rect">
            <a:avLst/>
          </a:prstGeom>
          <a:solidFill>
            <a:schemeClr val="bg1"/>
          </a:solidFill>
        </p:spPr>
        <p:txBody>
          <a:bodyPr wrap="square" rtlCol="0">
            <a:spAutoFit/>
          </a:bodyPr>
          <a:lstStyle/>
          <a:p>
            <a:r>
              <a:rPr lang="en-US" b="1" dirty="0"/>
              <a:t>0</a:t>
            </a:r>
          </a:p>
        </p:txBody>
      </p:sp>
      <p:sp>
        <p:nvSpPr>
          <p:cNvPr id="17" name="TextBox 16">
            <a:extLst>
              <a:ext uri="{FF2B5EF4-FFF2-40B4-BE49-F238E27FC236}">
                <a16:creationId xmlns:a16="http://schemas.microsoft.com/office/drawing/2014/main" id="{B75D3952-C267-4FBD-A8DC-3D6EB03FD9D1}"/>
              </a:ext>
            </a:extLst>
          </p:cNvPr>
          <p:cNvSpPr txBox="1"/>
          <p:nvPr/>
        </p:nvSpPr>
        <p:spPr>
          <a:xfrm>
            <a:off x="9251969" y="1923479"/>
            <a:ext cx="308538" cy="369332"/>
          </a:xfrm>
          <a:prstGeom prst="rect">
            <a:avLst/>
          </a:prstGeom>
          <a:solidFill>
            <a:schemeClr val="bg1"/>
          </a:solidFill>
        </p:spPr>
        <p:txBody>
          <a:bodyPr wrap="square" rtlCol="0">
            <a:spAutoFit/>
          </a:bodyPr>
          <a:lstStyle/>
          <a:p>
            <a:r>
              <a:rPr lang="en-US" b="1" dirty="0"/>
              <a:t>0</a:t>
            </a:r>
          </a:p>
        </p:txBody>
      </p:sp>
      <p:sp>
        <p:nvSpPr>
          <p:cNvPr id="18" name="TextBox 17">
            <a:extLst>
              <a:ext uri="{FF2B5EF4-FFF2-40B4-BE49-F238E27FC236}">
                <a16:creationId xmlns:a16="http://schemas.microsoft.com/office/drawing/2014/main" id="{44EBD341-E5D6-4525-A6BA-FA75C5845804}"/>
              </a:ext>
            </a:extLst>
          </p:cNvPr>
          <p:cNvSpPr txBox="1"/>
          <p:nvPr/>
        </p:nvSpPr>
        <p:spPr>
          <a:xfrm>
            <a:off x="10408921" y="1913641"/>
            <a:ext cx="339392" cy="369332"/>
          </a:xfrm>
          <a:prstGeom prst="rect">
            <a:avLst/>
          </a:prstGeom>
          <a:solidFill>
            <a:schemeClr val="bg1"/>
          </a:solidFill>
        </p:spPr>
        <p:txBody>
          <a:bodyPr wrap="square" rtlCol="0">
            <a:spAutoFit/>
          </a:bodyPr>
          <a:lstStyle/>
          <a:p>
            <a:r>
              <a:rPr lang="en-US" b="1" dirty="0"/>
              <a:t>1</a:t>
            </a:r>
          </a:p>
        </p:txBody>
      </p:sp>
      <p:sp>
        <p:nvSpPr>
          <p:cNvPr id="19" name="TextBox 18">
            <a:extLst>
              <a:ext uri="{FF2B5EF4-FFF2-40B4-BE49-F238E27FC236}">
                <a16:creationId xmlns:a16="http://schemas.microsoft.com/office/drawing/2014/main" id="{3777FF2D-F801-43E7-961C-165B62B98F53}"/>
              </a:ext>
            </a:extLst>
          </p:cNvPr>
          <p:cNvSpPr txBox="1"/>
          <p:nvPr/>
        </p:nvSpPr>
        <p:spPr>
          <a:xfrm>
            <a:off x="10435459" y="3244334"/>
            <a:ext cx="339392" cy="369332"/>
          </a:xfrm>
          <a:prstGeom prst="rect">
            <a:avLst/>
          </a:prstGeom>
          <a:solidFill>
            <a:schemeClr val="bg1"/>
          </a:solidFill>
        </p:spPr>
        <p:txBody>
          <a:bodyPr wrap="square" rtlCol="0">
            <a:spAutoFit/>
          </a:bodyPr>
          <a:lstStyle/>
          <a:p>
            <a:r>
              <a:rPr lang="en-US" b="1" dirty="0"/>
              <a:t>8</a:t>
            </a:r>
          </a:p>
        </p:txBody>
      </p:sp>
      <p:sp>
        <p:nvSpPr>
          <p:cNvPr id="20" name="TextBox 19">
            <a:extLst>
              <a:ext uri="{FF2B5EF4-FFF2-40B4-BE49-F238E27FC236}">
                <a16:creationId xmlns:a16="http://schemas.microsoft.com/office/drawing/2014/main" id="{87E36543-B407-4486-B041-60AE50D073B6}"/>
              </a:ext>
            </a:extLst>
          </p:cNvPr>
          <p:cNvSpPr txBox="1"/>
          <p:nvPr/>
        </p:nvSpPr>
        <p:spPr>
          <a:xfrm>
            <a:off x="11036002" y="3239294"/>
            <a:ext cx="308538" cy="369332"/>
          </a:xfrm>
          <a:prstGeom prst="rect">
            <a:avLst/>
          </a:prstGeom>
          <a:solidFill>
            <a:srgbClr val="FFC000"/>
          </a:solidFill>
        </p:spPr>
        <p:txBody>
          <a:bodyPr wrap="square" rtlCol="0">
            <a:spAutoFit/>
          </a:bodyPr>
          <a:lstStyle/>
          <a:p>
            <a:r>
              <a:rPr lang="en-US" b="1" dirty="0"/>
              <a:t>5</a:t>
            </a:r>
          </a:p>
        </p:txBody>
      </p:sp>
      <p:sp>
        <p:nvSpPr>
          <p:cNvPr id="21" name="TextBox 20">
            <a:extLst>
              <a:ext uri="{FF2B5EF4-FFF2-40B4-BE49-F238E27FC236}">
                <a16:creationId xmlns:a16="http://schemas.microsoft.com/office/drawing/2014/main" id="{7EED7165-45A0-46B4-8DD1-88699418635A}"/>
              </a:ext>
            </a:extLst>
          </p:cNvPr>
          <p:cNvSpPr txBox="1"/>
          <p:nvPr/>
        </p:nvSpPr>
        <p:spPr>
          <a:xfrm>
            <a:off x="11006147" y="2587271"/>
            <a:ext cx="308538" cy="369332"/>
          </a:xfrm>
          <a:prstGeom prst="rect">
            <a:avLst/>
          </a:prstGeom>
          <a:solidFill>
            <a:srgbClr val="FFC000"/>
          </a:solidFill>
        </p:spPr>
        <p:txBody>
          <a:bodyPr wrap="square" rtlCol="0">
            <a:spAutoFit/>
          </a:bodyPr>
          <a:lstStyle/>
          <a:p>
            <a:r>
              <a:rPr lang="en-US" b="1" dirty="0"/>
              <a:t>7</a:t>
            </a:r>
          </a:p>
        </p:txBody>
      </p:sp>
      <p:sp>
        <p:nvSpPr>
          <p:cNvPr id="22" name="TextBox 21">
            <a:extLst>
              <a:ext uri="{FF2B5EF4-FFF2-40B4-BE49-F238E27FC236}">
                <a16:creationId xmlns:a16="http://schemas.microsoft.com/office/drawing/2014/main" id="{F8998B6F-603A-4211-95BF-EEF8DB1ECDB5}"/>
              </a:ext>
            </a:extLst>
          </p:cNvPr>
          <p:cNvSpPr txBox="1"/>
          <p:nvPr/>
        </p:nvSpPr>
        <p:spPr>
          <a:xfrm>
            <a:off x="11075827" y="4082504"/>
            <a:ext cx="308538" cy="369332"/>
          </a:xfrm>
          <a:prstGeom prst="rect">
            <a:avLst/>
          </a:prstGeom>
          <a:solidFill>
            <a:schemeClr val="bg1"/>
          </a:solidFill>
        </p:spPr>
        <p:txBody>
          <a:bodyPr wrap="square" rtlCol="0">
            <a:spAutoFit/>
          </a:bodyPr>
          <a:lstStyle/>
          <a:p>
            <a:r>
              <a:rPr lang="en-US" b="1" dirty="0"/>
              <a:t>2</a:t>
            </a:r>
          </a:p>
        </p:txBody>
      </p:sp>
      <p:sp>
        <p:nvSpPr>
          <p:cNvPr id="23" name="TextBox 22">
            <a:extLst>
              <a:ext uri="{FF2B5EF4-FFF2-40B4-BE49-F238E27FC236}">
                <a16:creationId xmlns:a16="http://schemas.microsoft.com/office/drawing/2014/main" id="{0069495D-13C3-4772-9EB0-2E357E853E66}"/>
              </a:ext>
            </a:extLst>
          </p:cNvPr>
          <p:cNvSpPr txBox="1"/>
          <p:nvPr/>
        </p:nvSpPr>
        <p:spPr>
          <a:xfrm>
            <a:off x="10408921" y="2560342"/>
            <a:ext cx="308538" cy="369332"/>
          </a:xfrm>
          <a:prstGeom prst="rect">
            <a:avLst/>
          </a:prstGeom>
          <a:solidFill>
            <a:srgbClr val="FFFF00"/>
          </a:solidFill>
        </p:spPr>
        <p:txBody>
          <a:bodyPr wrap="square" rtlCol="0">
            <a:spAutoFit/>
          </a:bodyPr>
          <a:lstStyle/>
          <a:p>
            <a:r>
              <a:rPr lang="en-US" b="1" dirty="0"/>
              <a:t>6</a:t>
            </a:r>
          </a:p>
        </p:txBody>
      </p:sp>
      <p:sp>
        <p:nvSpPr>
          <p:cNvPr id="26" name="TextBox 25">
            <a:extLst>
              <a:ext uri="{FF2B5EF4-FFF2-40B4-BE49-F238E27FC236}">
                <a16:creationId xmlns:a16="http://schemas.microsoft.com/office/drawing/2014/main" id="{D3AD3506-8EF3-494C-AD5C-F0C535904DBC}"/>
              </a:ext>
            </a:extLst>
          </p:cNvPr>
          <p:cNvSpPr txBox="1"/>
          <p:nvPr/>
        </p:nvSpPr>
        <p:spPr>
          <a:xfrm>
            <a:off x="9957964" y="4082504"/>
            <a:ext cx="308538" cy="369332"/>
          </a:xfrm>
          <a:prstGeom prst="rect">
            <a:avLst/>
          </a:prstGeom>
          <a:solidFill>
            <a:srgbClr val="FFFF00"/>
          </a:solidFill>
        </p:spPr>
        <p:txBody>
          <a:bodyPr wrap="square" rtlCol="0">
            <a:spAutoFit/>
          </a:bodyPr>
          <a:lstStyle/>
          <a:p>
            <a:r>
              <a:rPr lang="en-US" b="1" dirty="0"/>
              <a:t>6</a:t>
            </a:r>
          </a:p>
        </p:txBody>
      </p:sp>
      <p:sp>
        <p:nvSpPr>
          <p:cNvPr id="27" name="Rectangle 26"/>
          <p:cNvSpPr/>
          <p:nvPr/>
        </p:nvSpPr>
        <p:spPr>
          <a:xfrm>
            <a:off x="8386628" y="4873292"/>
            <a:ext cx="1872965" cy="954107"/>
          </a:xfrm>
          <a:prstGeom prst="rect">
            <a:avLst/>
          </a:prstGeom>
        </p:spPr>
        <p:txBody>
          <a:bodyPr wrap="square">
            <a:spAutoFit/>
          </a:bodyPr>
          <a:lstStyle/>
          <a:p>
            <a:pPr marL="0" lvl="2"/>
            <a:r>
              <a:rPr lang="en-US" sz="1400" dirty="0"/>
              <a:t>𝑆={</a:t>
            </a:r>
            <a:r>
              <a:rPr lang="en-US" sz="1400" b="1" dirty="0">
                <a:solidFill>
                  <a:srgbClr val="FF0000"/>
                </a:solidFill>
              </a:rPr>
              <a:t>9</a:t>
            </a:r>
            <a:r>
              <a:rPr lang="en-US" sz="1400" dirty="0"/>
              <a:t>}</a:t>
            </a:r>
          </a:p>
          <a:p>
            <a:pPr marL="0" lvl="2"/>
            <a:r>
              <a:rPr lang="en-US" sz="1400" i="1" dirty="0"/>
              <a:t>E</a:t>
            </a:r>
            <a:r>
              <a:rPr lang="en-US" sz="1400" dirty="0"/>
              <a:t>={</a:t>
            </a:r>
            <a:r>
              <a:rPr lang="en-US" sz="1400" b="1" dirty="0">
                <a:solidFill>
                  <a:srgbClr val="0033CC"/>
                </a:solidFill>
              </a:rPr>
              <a:t>5</a:t>
            </a:r>
            <a:r>
              <a:rPr lang="en-US" sz="1400" dirty="0"/>
              <a:t>}</a:t>
            </a:r>
          </a:p>
          <a:p>
            <a:pPr marL="0" lvl="2"/>
            <a:r>
              <a:rPr lang="en-US" sz="1400" i="1" dirty="0"/>
              <a:t>N</a:t>
            </a:r>
            <a:r>
              <a:rPr lang="en-US" sz="1400" dirty="0"/>
              <a:t>={</a:t>
            </a:r>
            <a:r>
              <a:rPr lang="en-US" sz="1400" b="1" dirty="0">
                <a:solidFill>
                  <a:srgbClr val="FF0000"/>
                </a:solidFill>
              </a:rPr>
              <a:t>6</a:t>
            </a:r>
            <a:r>
              <a:rPr lang="en-US" sz="1400" dirty="0"/>
              <a:t>}</a:t>
            </a:r>
          </a:p>
          <a:p>
            <a:pPr marL="0" lvl="2"/>
            <a:r>
              <a:rPr lang="en-US" sz="1400" i="1" dirty="0"/>
              <a:t>D</a:t>
            </a:r>
            <a:r>
              <a:rPr lang="en-US" sz="1400" dirty="0"/>
              <a:t>={</a:t>
            </a:r>
            <a:r>
              <a:rPr lang="en-US" sz="1400" b="1" dirty="0">
                <a:solidFill>
                  <a:srgbClr val="0033CC"/>
                </a:solidFill>
              </a:rPr>
              <a:t>7</a:t>
            </a:r>
            <a:r>
              <a:rPr lang="en-US" sz="1400" dirty="0"/>
              <a:t>}</a:t>
            </a:r>
          </a:p>
        </p:txBody>
      </p:sp>
      <p:sp>
        <p:nvSpPr>
          <p:cNvPr id="28" name="Rectangle 27"/>
          <p:cNvSpPr/>
          <p:nvPr/>
        </p:nvSpPr>
        <p:spPr>
          <a:xfrm>
            <a:off x="10089897" y="4873292"/>
            <a:ext cx="1866330" cy="954107"/>
          </a:xfrm>
          <a:prstGeom prst="rect">
            <a:avLst/>
          </a:prstGeom>
        </p:spPr>
        <p:txBody>
          <a:bodyPr wrap="square">
            <a:spAutoFit/>
          </a:bodyPr>
          <a:lstStyle/>
          <a:p>
            <a:pPr marL="0" lvl="2"/>
            <a:r>
              <a:rPr lang="en-US" sz="1400" i="1" dirty="0"/>
              <a:t>M</a:t>
            </a:r>
            <a:r>
              <a:rPr lang="en-US" sz="1400" dirty="0"/>
              <a:t>={</a:t>
            </a:r>
            <a:r>
              <a:rPr lang="en-US" sz="1400" b="1" dirty="0">
                <a:solidFill>
                  <a:srgbClr val="FF0000"/>
                </a:solidFill>
              </a:rPr>
              <a:t>1</a:t>
            </a:r>
            <a:r>
              <a:rPr lang="en-US" sz="1400" dirty="0"/>
              <a:t>}</a:t>
            </a:r>
          </a:p>
          <a:p>
            <a:pPr marL="0" lvl="2"/>
            <a:r>
              <a:rPr lang="en-US" sz="1400" i="1" dirty="0"/>
              <a:t>O</a:t>
            </a:r>
            <a:r>
              <a:rPr lang="en-US" sz="1400" dirty="0"/>
              <a:t>={</a:t>
            </a:r>
            <a:r>
              <a:rPr lang="en-US" sz="1400" b="1" dirty="0">
                <a:solidFill>
                  <a:srgbClr val="FF0000"/>
                </a:solidFill>
              </a:rPr>
              <a:t>0</a:t>
            </a:r>
            <a:r>
              <a:rPr lang="en-US" sz="1400" dirty="0"/>
              <a:t>}</a:t>
            </a:r>
          </a:p>
          <a:p>
            <a:pPr marL="0" lvl="2"/>
            <a:r>
              <a:rPr lang="en-US" sz="1400" i="1" dirty="0"/>
              <a:t>R</a:t>
            </a:r>
            <a:r>
              <a:rPr lang="en-US" sz="1400" dirty="0"/>
              <a:t>={</a:t>
            </a:r>
            <a:r>
              <a:rPr lang="en-US" sz="1400" b="1" dirty="0">
                <a:solidFill>
                  <a:srgbClr val="FF0000"/>
                </a:solidFill>
              </a:rPr>
              <a:t>8</a:t>
            </a:r>
            <a:r>
              <a:rPr lang="en-US" sz="1400" dirty="0"/>
              <a:t>}</a:t>
            </a:r>
          </a:p>
          <a:p>
            <a:pPr marL="0" lvl="2"/>
            <a:r>
              <a:rPr lang="en-US" sz="1400" i="1" dirty="0"/>
              <a:t>Y</a:t>
            </a:r>
            <a:r>
              <a:rPr lang="en-US" sz="1400" dirty="0"/>
              <a:t>={</a:t>
            </a:r>
            <a:r>
              <a:rPr lang="en-US" sz="1400" b="1" dirty="0">
                <a:solidFill>
                  <a:srgbClr val="FF0000"/>
                </a:solidFill>
              </a:rPr>
              <a:t>2</a:t>
            </a:r>
            <a:r>
              <a:rPr lang="en-US" sz="1400" dirty="0"/>
              <a:t>}</a:t>
            </a:r>
          </a:p>
        </p:txBody>
      </p:sp>
      <p:sp>
        <p:nvSpPr>
          <p:cNvPr id="29" name="TextBox 28">
            <a:extLst>
              <a:ext uri="{FF2B5EF4-FFF2-40B4-BE49-F238E27FC236}">
                <a16:creationId xmlns:a16="http://schemas.microsoft.com/office/drawing/2014/main" id="{87E36543-B407-4486-B041-60AE50D073B6}"/>
              </a:ext>
            </a:extLst>
          </p:cNvPr>
          <p:cNvSpPr txBox="1"/>
          <p:nvPr/>
        </p:nvSpPr>
        <p:spPr>
          <a:xfrm>
            <a:off x="9866602" y="2576602"/>
            <a:ext cx="308538" cy="369332"/>
          </a:xfrm>
          <a:prstGeom prst="rect">
            <a:avLst/>
          </a:prstGeom>
          <a:solidFill>
            <a:srgbClr val="FFC000"/>
          </a:solidFill>
        </p:spPr>
        <p:txBody>
          <a:bodyPr wrap="square" rtlCol="0">
            <a:spAutoFit/>
          </a:bodyPr>
          <a:lstStyle/>
          <a:p>
            <a:r>
              <a:rPr lang="en-US" b="1" dirty="0"/>
              <a:t>5</a:t>
            </a:r>
          </a:p>
        </p:txBody>
      </p:sp>
      <p:sp>
        <p:nvSpPr>
          <p:cNvPr id="30" name="TextBox 29">
            <a:extLst>
              <a:ext uri="{FF2B5EF4-FFF2-40B4-BE49-F238E27FC236}">
                <a16:creationId xmlns:a16="http://schemas.microsoft.com/office/drawing/2014/main" id="{87E36543-B407-4486-B041-60AE50D073B6}"/>
              </a:ext>
            </a:extLst>
          </p:cNvPr>
          <p:cNvSpPr txBox="1"/>
          <p:nvPr/>
        </p:nvSpPr>
        <p:spPr>
          <a:xfrm>
            <a:off x="10478309" y="4082504"/>
            <a:ext cx="308538" cy="369332"/>
          </a:xfrm>
          <a:prstGeom prst="rect">
            <a:avLst/>
          </a:prstGeom>
          <a:solidFill>
            <a:srgbClr val="FFC000"/>
          </a:solidFill>
        </p:spPr>
        <p:txBody>
          <a:bodyPr wrap="square" rtlCol="0">
            <a:spAutoFit/>
          </a:bodyPr>
          <a:lstStyle/>
          <a:p>
            <a:r>
              <a:rPr lang="en-US" b="1" dirty="0"/>
              <a:t>5</a:t>
            </a:r>
          </a:p>
        </p:txBody>
      </p:sp>
      <p:sp>
        <p:nvSpPr>
          <p:cNvPr id="8" name="Right Arrow 7"/>
          <p:cNvSpPr/>
          <p:nvPr/>
        </p:nvSpPr>
        <p:spPr>
          <a:xfrm>
            <a:off x="6400800" y="5206482"/>
            <a:ext cx="1492898" cy="4105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p:cNvSpPr txBox="1"/>
          <p:nvPr/>
        </p:nvSpPr>
        <p:spPr>
          <a:xfrm>
            <a:off x="8742316" y="5804434"/>
            <a:ext cx="2364943" cy="307777"/>
          </a:xfrm>
          <a:prstGeom prst="rect">
            <a:avLst/>
          </a:prstGeom>
          <a:noFill/>
        </p:spPr>
        <p:txBody>
          <a:bodyPr wrap="none" rtlCol="0">
            <a:spAutoFit/>
          </a:bodyPr>
          <a:lstStyle/>
          <a:p>
            <a:r>
              <a:rPr lang="en-US" sz="1400" dirty="0">
                <a:solidFill>
                  <a:srgbClr val="0033CC"/>
                </a:solidFill>
              </a:rPr>
              <a:t>Updated domains of variables</a:t>
            </a:r>
          </a:p>
        </p:txBody>
      </p:sp>
      <p:sp>
        <p:nvSpPr>
          <p:cNvPr id="32" name="TextBox 31">
            <a:extLst>
              <a:ext uri="{FF2B5EF4-FFF2-40B4-BE49-F238E27FC236}">
                <a16:creationId xmlns:a16="http://schemas.microsoft.com/office/drawing/2014/main" id="{8562998D-3C82-440F-8F09-2AB52503F952}"/>
              </a:ext>
            </a:extLst>
          </p:cNvPr>
          <p:cNvSpPr txBox="1"/>
          <p:nvPr/>
        </p:nvSpPr>
        <p:spPr>
          <a:xfrm>
            <a:off x="9860438" y="1913641"/>
            <a:ext cx="339392" cy="369332"/>
          </a:xfrm>
          <a:prstGeom prst="rect">
            <a:avLst/>
          </a:prstGeom>
          <a:solidFill>
            <a:schemeClr val="bg1"/>
          </a:solidFill>
        </p:spPr>
        <p:txBody>
          <a:bodyPr wrap="square" rtlCol="0">
            <a:spAutoFit/>
          </a:bodyPr>
          <a:lstStyle/>
          <a:p>
            <a:r>
              <a:rPr lang="en-US" b="1" dirty="0"/>
              <a:t>1</a:t>
            </a:r>
          </a:p>
        </p:txBody>
      </p:sp>
      <p:sp>
        <p:nvSpPr>
          <p:cNvPr id="33" name="TextBox 32">
            <a:extLst>
              <a:ext uri="{FF2B5EF4-FFF2-40B4-BE49-F238E27FC236}">
                <a16:creationId xmlns:a16="http://schemas.microsoft.com/office/drawing/2014/main" id="{89D97A27-C481-4E2F-85B3-21F9ECF02A82}"/>
              </a:ext>
            </a:extLst>
          </p:cNvPr>
          <p:cNvSpPr txBox="1"/>
          <p:nvPr/>
        </p:nvSpPr>
        <p:spPr>
          <a:xfrm>
            <a:off x="8634953" y="1932494"/>
            <a:ext cx="339392" cy="369332"/>
          </a:xfrm>
          <a:prstGeom prst="rect">
            <a:avLst/>
          </a:prstGeom>
          <a:solidFill>
            <a:schemeClr val="bg1"/>
          </a:solidFill>
        </p:spPr>
        <p:txBody>
          <a:bodyPr wrap="square" rtlCol="0">
            <a:spAutoFit/>
          </a:bodyPr>
          <a:lstStyle/>
          <a:p>
            <a:r>
              <a:rPr lang="en-US" b="1" dirty="0"/>
              <a:t>1</a:t>
            </a:r>
          </a:p>
        </p:txBody>
      </p:sp>
      <p:sp>
        <p:nvSpPr>
          <p:cNvPr id="34" name="TextBox 33">
            <a:extLst>
              <a:ext uri="{FF2B5EF4-FFF2-40B4-BE49-F238E27FC236}">
                <a16:creationId xmlns:a16="http://schemas.microsoft.com/office/drawing/2014/main" id="{B75D3952-C267-4FBD-A8DC-3D6EB03FD9D1}"/>
              </a:ext>
            </a:extLst>
          </p:cNvPr>
          <p:cNvSpPr txBox="1"/>
          <p:nvPr/>
        </p:nvSpPr>
        <p:spPr>
          <a:xfrm>
            <a:off x="9251969" y="1923479"/>
            <a:ext cx="308538" cy="369332"/>
          </a:xfrm>
          <a:prstGeom prst="rect">
            <a:avLst/>
          </a:prstGeom>
          <a:solidFill>
            <a:schemeClr val="bg1"/>
          </a:solidFill>
        </p:spPr>
        <p:txBody>
          <a:bodyPr wrap="square" rtlCol="0">
            <a:spAutoFit/>
          </a:bodyPr>
          <a:lstStyle/>
          <a:p>
            <a:r>
              <a:rPr lang="en-US" b="1" dirty="0"/>
              <a:t>0</a:t>
            </a:r>
          </a:p>
        </p:txBody>
      </p:sp>
      <p:sp>
        <p:nvSpPr>
          <p:cNvPr id="35" name="TextBox 34">
            <a:extLst>
              <a:ext uri="{FF2B5EF4-FFF2-40B4-BE49-F238E27FC236}">
                <a16:creationId xmlns:a16="http://schemas.microsoft.com/office/drawing/2014/main" id="{44EBD341-E5D6-4525-A6BA-FA75C5845804}"/>
              </a:ext>
            </a:extLst>
          </p:cNvPr>
          <p:cNvSpPr txBox="1"/>
          <p:nvPr/>
        </p:nvSpPr>
        <p:spPr>
          <a:xfrm>
            <a:off x="10408921" y="1913641"/>
            <a:ext cx="339392" cy="369332"/>
          </a:xfrm>
          <a:prstGeom prst="rect">
            <a:avLst/>
          </a:prstGeom>
          <a:solidFill>
            <a:schemeClr val="bg1"/>
          </a:solidFill>
        </p:spPr>
        <p:txBody>
          <a:bodyPr wrap="square" rtlCol="0">
            <a:spAutoFit/>
          </a:bodyPr>
          <a:lstStyle/>
          <a:p>
            <a:r>
              <a:rPr lang="en-US" b="1" dirty="0"/>
              <a:t>1</a:t>
            </a:r>
          </a:p>
        </p:txBody>
      </p:sp>
      <p:sp>
        <p:nvSpPr>
          <p:cNvPr id="36" name="TextBox 35">
            <a:extLst>
              <a:ext uri="{FF2B5EF4-FFF2-40B4-BE49-F238E27FC236}">
                <a16:creationId xmlns:a16="http://schemas.microsoft.com/office/drawing/2014/main" id="{8562998D-3C82-440F-8F09-2AB52503F952}"/>
              </a:ext>
            </a:extLst>
          </p:cNvPr>
          <p:cNvSpPr txBox="1"/>
          <p:nvPr/>
        </p:nvSpPr>
        <p:spPr>
          <a:xfrm>
            <a:off x="9860438" y="1913641"/>
            <a:ext cx="339392" cy="369332"/>
          </a:xfrm>
          <a:prstGeom prst="rect">
            <a:avLst/>
          </a:prstGeom>
          <a:solidFill>
            <a:srgbClr val="FFFF00"/>
          </a:solidFill>
        </p:spPr>
        <p:txBody>
          <a:bodyPr wrap="square" rtlCol="0">
            <a:spAutoFit/>
          </a:bodyPr>
          <a:lstStyle/>
          <a:p>
            <a:r>
              <a:rPr lang="en-US" b="1" dirty="0"/>
              <a:t>1</a:t>
            </a:r>
          </a:p>
        </p:txBody>
      </p:sp>
      <p:sp>
        <p:nvSpPr>
          <p:cNvPr id="37" name="TextBox 36">
            <a:extLst>
              <a:ext uri="{FF2B5EF4-FFF2-40B4-BE49-F238E27FC236}">
                <a16:creationId xmlns:a16="http://schemas.microsoft.com/office/drawing/2014/main" id="{89D97A27-C481-4E2F-85B3-21F9ECF02A82}"/>
              </a:ext>
            </a:extLst>
          </p:cNvPr>
          <p:cNvSpPr txBox="1"/>
          <p:nvPr/>
        </p:nvSpPr>
        <p:spPr>
          <a:xfrm>
            <a:off x="8634953" y="1932494"/>
            <a:ext cx="339392" cy="369332"/>
          </a:xfrm>
          <a:prstGeom prst="rect">
            <a:avLst/>
          </a:prstGeom>
          <a:solidFill>
            <a:schemeClr val="bg1"/>
          </a:solidFill>
        </p:spPr>
        <p:txBody>
          <a:bodyPr wrap="square" rtlCol="0">
            <a:spAutoFit/>
          </a:bodyPr>
          <a:lstStyle/>
          <a:p>
            <a:r>
              <a:rPr lang="en-US" b="1" dirty="0"/>
              <a:t>1</a:t>
            </a:r>
          </a:p>
        </p:txBody>
      </p:sp>
      <p:sp>
        <p:nvSpPr>
          <p:cNvPr id="38" name="TextBox 37">
            <a:extLst>
              <a:ext uri="{FF2B5EF4-FFF2-40B4-BE49-F238E27FC236}">
                <a16:creationId xmlns:a16="http://schemas.microsoft.com/office/drawing/2014/main" id="{B75D3952-C267-4FBD-A8DC-3D6EB03FD9D1}"/>
              </a:ext>
            </a:extLst>
          </p:cNvPr>
          <p:cNvSpPr txBox="1"/>
          <p:nvPr/>
        </p:nvSpPr>
        <p:spPr>
          <a:xfrm>
            <a:off x="9251969" y="1923479"/>
            <a:ext cx="308538" cy="369332"/>
          </a:xfrm>
          <a:prstGeom prst="rect">
            <a:avLst/>
          </a:prstGeom>
          <a:solidFill>
            <a:schemeClr val="bg1"/>
          </a:solidFill>
        </p:spPr>
        <p:txBody>
          <a:bodyPr wrap="square" rtlCol="0">
            <a:spAutoFit/>
          </a:bodyPr>
          <a:lstStyle/>
          <a:p>
            <a:r>
              <a:rPr lang="en-US" b="1" dirty="0"/>
              <a:t>0</a:t>
            </a:r>
          </a:p>
        </p:txBody>
      </p:sp>
      <p:sp>
        <p:nvSpPr>
          <p:cNvPr id="39" name="TextBox 38">
            <a:extLst>
              <a:ext uri="{FF2B5EF4-FFF2-40B4-BE49-F238E27FC236}">
                <a16:creationId xmlns:a16="http://schemas.microsoft.com/office/drawing/2014/main" id="{53DC4B95-054B-4724-9177-E171B0DD6669}"/>
              </a:ext>
            </a:extLst>
          </p:cNvPr>
          <p:cNvSpPr txBox="1"/>
          <p:nvPr/>
        </p:nvSpPr>
        <p:spPr>
          <a:xfrm>
            <a:off x="8634953" y="1932494"/>
            <a:ext cx="339392" cy="369332"/>
          </a:xfrm>
          <a:prstGeom prst="rect">
            <a:avLst/>
          </a:prstGeom>
          <a:solidFill>
            <a:schemeClr val="bg1"/>
          </a:solidFill>
        </p:spPr>
        <p:txBody>
          <a:bodyPr wrap="square" rtlCol="0">
            <a:spAutoFit/>
          </a:bodyPr>
          <a:lstStyle/>
          <a:p>
            <a:r>
              <a:rPr lang="en-US" b="1" dirty="0"/>
              <a:t>1</a:t>
            </a:r>
          </a:p>
        </p:txBody>
      </p:sp>
      <p:sp>
        <p:nvSpPr>
          <p:cNvPr id="40" name="TextBox 39">
            <a:extLst>
              <a:ext uri="{FF2B5EF4-FFF2-40B4-BE49-F238E27FC236}">
                <a16:creationId xmlns:a16="http://schemas.microsoft.com/office/drawing/2014/main" id="{719455F4-F987-40E2-BFA5-4F5BA7BCC874}"/>
              </a:ext>
            </a:extLst>
          </p:cNvPr>
          <p:cNvSpPr txBox="1"/>
          <p:nvPr/>
        </p:nvSpPr>
        <p:spPr>
          <a:xfrm>
            <a:off x="9251969" y="1923479"/>
            <a:ext cx="308538" cy="369332"/>
          </a:xfrm>
          <a:prstGeom prst="rect">
            <a:avLst/>
          </a:prstGeom>
          <a:solidFill>
            <a:srgbClr val="FFFF00"/>
          </a:solidFill>
        </p:spPr>
        <p:txBody>
          <a:bodyPr wrap="square" rtlCol="0">
            <a:spAutoFit/>
          </a:bodyPr>
          <a:lstStyle/>
          <a:p>
            <a:r>
              <a:rPr lang="en-US" b="1" dirty="0"/>
              <a:t>0</a:t>
            </a:r>
          </a:p>
        </p:txBody>
      </p:sp>
      <p:sp>
        <p:nvSpPr>
          <p:cNvPr id="41" name="TextBox 40">
            <a:extLst>
              <a:ext uri="{FF2B5EF4-FFF2-40B4-BE49-F238E27FC236}">
                <a16:creationId xmlns:a16="http://schemas.microsoft.com/office/drawing/2014/main" id="{1AADE91D-1F30-4BA8-AF05-77C5F32F4C2B}"/>
              </a:ext>
            </a:extLst>
          </p:cNvPr>
          <p:cNvSpPr txBox="1"/>
          <p:nvPr/>
        </p:nvSpPr>
        <p:spPr>
          <a:xfrm>
            <a:off x="8634953" y="1932494"/>
            <a:ext cx="339392" cy="369332"/>
          </a:xfrm>
          <a:prstGeom prst="rect">
            <a:avLst/>
          </a:prstGeom>
          <a:solidFill>
            <a:srgbClr val="FFFF00"/>
          </a:solidFill>
        </p:spPr>
        <p:txBody>
          <a:bodyPr wrap="square" rtlCol="0">
            <a:spAutoFit/>
          </a:bodyPr>
          <a:lstStyle/>
          <a:p>
            <a:r>
              <a:rPr lang="en-US" b="1" dirty="0"/>
              <a:t>1</a:t>
            </a:r>
          </a:p>
        </p:txBody>
      </p:sp>
      <p:sp>
        <p:nvSpPr>
          <p:cNvPr id="42" name="TextBox 41">
            <a:extLst>
              <a:ext uri="{FF2B5EF4-FFF2-40B4-BE49-F238E27FC236}">
                <a16:creationId xmlns:a16="http://schemas.microsoft.com/office/drawing/2014/main" id="{44EBD341-E5D6-4525-A6BA-FA75C5845804}"/>
              </a:ext>
            </a:extLst>
          </p:cNvPr>
          <p:cNvSpPr txBox="1"/>
          <p:nvPr/>
        </p:nvSpPr>
        <p:spPr>
          <a:xfrm>
            <a:off x="10405480" y="1910851"/>
            <a:ext cx="339392" cy="369332"/>
          </a:xfrm>
          <a:prstGeom prst="rect">
            <a:avLst/>
          </a:prstGeom>
          <a:solidFill>
            <a:srgbClr val="FFFF00"/>
          </a:solidFill>
        </p:spPr>
        <p:txBody>
          <a:bodyPr wrap="square" rtlCol="0">
            <a:spAutoFit/>
          </a:bodyPr>
          <a:lstStyle/>
          <a:p>
            <a:r>
              <a:rPr lang="en-US" b="1" dirty="0"/>
              <a:t>1</a:t>
            </a:r>
          </a:p>
        </p:txBody>
      </p:sp>
      <p:sp>
        <p:nvSpPr>
          <p:cNvPr id="43" name="TextBox 42">
            <a:extLst>
              <a:ext uri="{FF2B5EF4-FFF2-40B4-BE49-F238E27FC236}">
                <a16:creationId xmlns:a16="http://schemas.microsoft.com/office/drawing/2014/main" id="{2E114722-D9D8-4E3C-9286-E1F78454AA80}"/>
              </a:ext>
            </a:extLst>
          </p:cNvPr>
          <p:cNvSpPr txBox="1"/>
          <p:nvPr/>
        </p:nvSpPr>
        <p:spPr>
          <a:xfrm>
            <a:off x="9323111" y="3244334"/>
            <a:ext cx="339392" cy="369332"/>
          </a:xfrm>
          <a:prstGeom prst="rect">
            <a:avLst/>
          </a:prstGeom>
          <a:solidFill>
            <a:schemeClr val="bg1"/>
          </a:solidFill>
        </p:spPr>
        <p:txBody>
          <a:bodyPr wrap="square" rtlCol="0">
            <a:spAutoFit/>
          </a:bodyPr>
          <a:lstStyle/>
          <a:p>
            <a:r>
              <a:rPr lang="en-US" b="1" dirty="0"/>
              <a:t>1</a:t>
            </a:r>
          </a:p>
        </p:txBody>
      </p:sp>
      <p:sp>
        <p:nvSpPr>
          <p:cNvPr id="44" name="TextBox 43">
            <a:extLst>
              <a:ext uri="{FF2B5EF4-FFF2-40B4-BE49-F238E27FC236}">
                <a16:creationId xmlns:a16="http://schemas.microsoft.com/office/drawing/2014/main" id="{3777FF2D-F801-43E7-961C-165B62B98F53}"/>
              </a:ext>
            </a:extLst>
          </p:cNvPr>
          <p:cNvSpPr txBox="1"/>
          <p:nvPr/>
        </p:nvSpPr>
        <p:spPr>
          <a:xfrm>
            <a:off x="10435459" y="3244334"/>
            <a:ext cx="339392" cy="369332"/>
          </a:xfrm>
          <a:prstGeom prst="rect">
            <a:avLst/>
          </a:prstGeom>
          <a:solidFill>
            <a:schemeClr val="bg1"/>
          </a:solidFill>
        </p:spPr>
        <p:txBody>
          <a:bodyPr wrap="square" rtlCol="0">
            <a:spAutoFit/>
          </a:bodyPr>
          <a:lstStyle/>
          <a:p>
            <a:r>
              <a:rPr lang="en-US" b="1" dirty="0"/>
              <a:t>8</a:t>
            </a:r>
          </a:p>
        </p:txBody>
      </p:sp>
      <p:sp>
        <p:nvSpPr>
          <p:cNvPr id="45" name="TextBox 44">
            <a:extLst>
              <a:ext uri="{FF2B5EF4-FFF2-40B4-BE49-F238E27FC236}">
                <a16:creationId xmlns:a16="http://schemas.microsoft.com/office/drawing/2014/main" id="{2E114722-D9D8-4E3C-9286-E1F78454AA80}"/>
              </a:ext>
            </a:extLst>
          </p:cNvPr>
          <p:cNvSpPr txBox="1"/>
          <p:nvPr/>
        </p:nvSpPr>
        <p:spPr>
          <a:xfrm>
            <a:off x="9323111" y="3244334"/>
            <a:ext cx="339392" cy="369332"/>
          </a:xfrm>
          <a:prstGeom prst="rect">
            <a:avLst/>
          </a:prstGeom>
          <a:solidFill>
            <a:schemeClr val="bg1"/>
          </a:solidFill>
        </p:spPr>
        <p:txBody>
          <a:bodyPr wrap="square" rtlCol="0">
            <a:spAutoFit/>
          </a:bodyPr>
          <a:lstStyle/>
          <a:p>
            <a:r>
              <a:rPr lang="en-US" b="1" dirty="0"/>
              <a:t>1</a:t>
            </a:r>
          </a:p>
        </p:txBody>
      </p:sp>
      <p:sp>
        <p:nvSpPr>
          <p:cNvPr id="46" name="TextBox 45">
            <a:extLst>
              <a:ext uri="{FF2B5EF4-FFF2-40B4-BE49-F238E27FC236}">
                <a16:creationId xmlns:a16="http://schemas.microsoft.com/office/drawing/2014/main" id="{BB0621DE-4DBE-4BE1-88E6-1AED6E2DCAF7}"/>
              </a:ext>
            </a:extLst>
          </p:cNvPr>
          <p:cNvSpPr txBox="1"/>
          <p:nvPr/>
        </p:nvSpPr>
        <p:spPr>
          <a:xfrm>
            <a:off x="9323111" y="3244334"/>
            <a:ext cx="339392" cy="369332"/>
          </a:xfrm>
          <a:prstGeom prst="rect">
            <a:avLst/>
          </a:prstGeom>
          <a:solidFill>
            <a:schemeClr val="bg1"/>
          </a:solidFill>
        </p:spPr>
        <p:txBody>
          <a:bodyPr wrap="square" rtlCol="0">
            <a:spAutoFit/>
          </a:bodyPr>
          <a:lstStyle/>
          <a:p>
            <a:r>
              <a:rPr lang="en-US" b="1" dirty="0"/>
              <a:t>1</a:t>
            </a:r>
          </a:p>
        </p:txBody>
      </p:sp>
      <p:sp>
        <p:nvSpPr>
          <p:cNvPr id="47" name="TextBox 46">
            <a:extLst>
              <a:ext uri="{FF2B5EF4-FFF2-40B4-BE49-F238E27FC236}">
                <a16:creationId xmlns:a16="http://schemas.microsoft.com/office/drawing/2014/main" id="{579476FA-426B-4952-B23E-E5E5B795B8BD}"/>
              </a:ext>
            </a:extLst>
          </p:cNvPr>
          <p:cNvSpPr txBox="1"/>
          <p:nvPr/>
        </p:nvSpPr>
        <p:spPr>
          <a:xfrm>
            <a:off x="9893782" y="3244334"/>
            <a:ext cx="308538" cy="369332"/>
          </a:xfrm>
          <a:prstGeom prst="rect">
            <a:avLst/>
          </a:prstGeom>
          <a:solidFill>
            <a:srgbClr val="FFFF00"/>
          </a:solidFill>
        </p:spPr>
        <p:txBody>
          <a:bodyPr wrap="square" rtlCol="0">
            <a:spAutoFit/>
          </a:bodyPr>
          <a:lstStyle/>
          <a:p>
            <a:r>
              <a:rPr lang="en-US" b="1" dirty="0"/>
              <a:t>0</a:t>
            </a:r>
          </a:p>
        </p:txBody>
      </p:sp>
      <p:sp>
        <p:nvSpPr>
          <p:cNvPr id="48" name="TextBox 47">
            <a:extLst>
              <a:ext uri="{FF2B5EF4-FFF2-40B4-BE49-F238E27FC236}">
                <a16:creationId xmlns:a16="http://schemas.microsoft.com/office/drawing/2014/main" id="{239C6586-F6F4-471D-919E-243765E251C3}"/>
              </a:ext>
            </a:extLst>
          </p:cNvPr>
          <p:cNvSpPr txBox="1"/>
          <p:nvPr/>
        </p:nvSpPr>
        <p:spPr>
          <a:xfrm>
            <a:off x="9269055" y="3244334"/>
            <a:ext cx="339392" cy="369332"/>
          </a:xfrm>
          <a:prstGeom prst="rect">
            <a:avLst/>
          </a:prstGeom>
          <a:solidFill>
            <a:srgbClr val="FFFF00"/>
          </a:solidFill>
        </p:spPr>
        <p:txBody>
          <a:bodyPr wrap="square" rtlCol="0">
            <a:spAutoFit/>
          </a:bodyPr>
          <a:lstStyle/>
          <a:p>
            <a:r>
              <a:rPr lang="en-US" b="1" dirty="0"/>
              <a:t>1</a:t>
            </a:r>
          </a:p>
        </p:txBody>
      </p:sp>
      <p:sp>
        <p:nvSpPr>
          <p:cNvPr id="49" name="TextBox 48">
            <a:extLst>
              <a:ext uri="{FF2B5EF4-FFF2-40B4-BE49-F238E27FC236}">
                <a16:creationId xmlns:a16="http://schemas.microsoft.com/office/drawing/2014/main" id="{3777FF2D-F801-43E7-961C-165B62B98F53}"/>
              </a:ext>
            </a:extLst>
          </p:cNvPr>
          <p:cNvSpPr txBox="1"/>
          <p:nvPr/>
        </p:nvSpPr>
        <p:spPr>
          <a:xfrm>
            <a:off x="10449465" y="3227961"/>
            <a:ext cx="339392" cy="369332"/>
          </a:xfrm>
          <a:prstGeom prst="rect">
            <a:avLst/>
          </a:prstGeom>
          <a:solidFill>
            <a:srgbClr val="FFFF00"/>
          </a:solidFill>
        </p:spPr>
        <p:txBody>
          <a:bodyPr wrap="square" rtlCol="0">
            <a:spAutoFit/>
          </a:bodyPr>
          <a:lstStyle/>
          <a:p>
            <a:r>
              <a:rPr lang="en-US" b="1" dirty="0"/>
              <a:t>8</a:t>
            </a:r>
          </a:p>
        </p:txBody>
      </p:sp>
      <p:sp>
        <p:nvSpPr>
          <p:cNvPr id="50" name="TextBox 49">
            <a:extLst>
              <a:ext uri="{FF2B5EF4-FFF2-40B4-BE49-F238E27FC236}">
                <a16:creationId xmlns:a16="http://schemas.microsoft.com/office/drawing/2014/main" id="{13AC62E0-F322-415D-8AB7-31DC4F9476A7}"/>
              </a:ext>
            </a:extLst>
          </p:cNvPr>
          <p:cNvSpPr txBox="1"/>
          <p:nvPr/>
        </p:nvSpPr>
        <p:spPr>
          <a:xfrm>
            <a:off x="9271633" y="2576602"/>
            <a:ext cx="339392" cy="369332"/>
          </a:xfrm>
          <a:prstGeom prst="rect">
            <a:avLst/>
          </a:prstGeom>
          <a:solidFill>
            <a:srgbClr val="FFFF00"/>
          </a:solidFill>
        </p:spPr>
        <p:txBody>
          <a:bodyPr wrap="square" rtlCol="0">
            <a:spAutoFit/>
          </a:bodyPr>
          <a:lstStyle/>
          <a:p>
            <a:r>
              <a:rPr lang="en-US" b="1" dirty="0"/>
              <a:t>9</a:t>
            </a:r>
          </a:p>
        </p:txBody>
      </p:sp>
      <p:sp>
        <p:nvSpPr>
          <p:cNvPr id="51" name="TextBox 50">
            <a:extLst>
              <a:ext uri="{FF2B5EF4-FFF2-40B4-BE49-F238E27FC236}">
                <a16:creationId xmlns:a16="http://schemas.microsoft.com/office/drawing/2014/main" id="{3E4F43EB-4FAD-43B3-B8E6-F08727AB4113}"/>
              </a:ext>
            </a:extLst>
          </p:cNvPr>
          <p:cNvSpPr txBox="1"/>
          <p:nvPr/>
        </p:nvSpPr>
        <p:spPr>
          <a:xfrm>
            <a:off x="8804649" y="4072379"/>
            <a:ext cx="339392" cy="369332"/>
          </a:xfrm>
          <a:prstGeom prst="rect">
            <a:avLst/>
          </a:prstGeom>
          <a:solidFill>
            <a:schemeClr val="bg1"/>
          </a:solidFill>
        </p:spPr>
        <p:txBody>
          <a:bodyPr wrap="square" rtlCol="0">
            <a:spAutoFit/>
          </a:bodyPr>
          <a:lstStyle/>
          <a:p>
            <a:r>
              <a:rPr lang="en-US" b="1" dirty="0"/>
              <a:t>1</a:t>
            </a:r>
          </a:p>
        </p:txBody>
      </p:sp>
      <p:sp>
        <p:nvSpPr>
          <p:cNvPr id="52" name="TextBox 51">
            <a:extLst>
              <a:ext uri="{FF2B5EF4-FFF2-40B4-BE49-F238E27FC236}">
                <a16:creationId xmlns:a16="http://schemas.microsoft.com/office/drawing/2014/main" id="{E21DFCC7-A727-4745-AC5F-1D289B5EEF54}"/>
              </a:ext>
            </a:extLst>
          </p:cNvPr>
          <p:cNvSpPr txBox="1"/>
          <p:nvPr/>
        </p:nvSpPr>
        <p:spPr>
          <a:xfrm>
            <a:off x="9377957" y="4072379"/>
            <a:ext cx="308538" cy="369332"/>
          </a:xfrm>
          <a:prstGeom prst="rect">
            <a:avLst/>
          </a:prstGeom>
          <a:solidFill>
            <a:schemeClr val="bg1"/>
          </a:solidFill>
        </p:spPr>
        <p:txBody>
          <a:bodyPr wrap="square" rtlCol="0">
            <a:spAutoFit/>
          </a:bodyPr>
          <a:lstStyle/>
          <a:p>
            <a:r>
              <a:rPr lang="en-US" b="1" dirty="0"/>
              <a:t>0</a:t>
            </a:r>
          </a:p>
        </p:txBody>
      </p:sp>
      <p:sp>
        <p:nvSpPr>
          <p:cNvPr id="53" name="TextBox 52">
            <a:extLst>
              <a:ext uri="{FF2B5EF4-FFF2-40B4-BE49-F238E27FC236}">
                <a16:creationId xmlns:a16="http://schemas.microsoft.com/office/drawing/2014/main" id="{3E4F43EB-4FAD-43B3-B8E6-F08727AB4113}"/>
              </a:ext>
            </a:extLst>
          </p:cNvPr>
          <p:cNvSpPr txBox="1"/>
          <p:nvPr/>
        </p:nvSpPr>
        <p:spPr>
          <a:xfrm>
            <a:off x="8804649" y="4072379"/>
            <a:ext cx="339392" cy="369332"/>
          </a:xfrm>
          <a:prstGeom prst="rect">
            <a:avLst/>
          </a:prstGeom>
          <a:solidFill>
            <a:schemeClr val="bg1"/>
          </a:solidFill>
        </p:spPr>
        <p:txBody>
          <a:bodyPr wrap="square" rtlCol="0">
            <a:spAutoFit/>
          </a:bodyPr>
          <a:lstStyle/>
          <a:p>
            <a:r>
              <a:rPr lang="en-US" b="1" dirty="0"/>
              <a:t>1</a:t>
            </a:r>
          </a:p>
        </p:txBody>
      </p:sp>
      <p:sp>
        <p:nvSpPr>
          <p:cNvPr id="54" name="TextBox 53">
            <a:extLst>
              <a:ext uri="{FF2B5EF4-FFF2-40B4-BE49-F238E27FC236}">
                <a16:creationId xmlns:a16="http://schemas.microsoft.com/office/drawing/2014/main" id="{E21DFCC7-A727-4745-AC5F-1D289B5EEF54}"/>
              </a:ext>
            </a:extLst>
          </p:cNvPr>
          <p:cNvSpPr txBox="1"/>
          <p:nvPr/>
        </p:nvSpPr>
        <p:spPr>
          <a:xfrm>
            <a:off x="9377957" y="4072379"/>
            <a:ext cx="308538" cy="369332"/>
          </a:xfrm>
          <a:prstGeom prst="rect">
            <a:avLst/>
          </a:prstGeom>
          <a:solidFill>
            <a:schemeClr val="bg1"/>
          </a:solidFill>
        </p:spPr>
        <p:txBody>
          <a:bodyPr wrap="square" rtlCol="0">
            <a:spAutoFit/>
          </a:bodyPr>
          <a:lstStyle/>
          <a:p>
            <a:r>
              <a:rPr lang="en-US" b="1" dirty="0"/>
              <a:t>0</a:t>
            </a:r>
          </a:p>
        </p:txBody>
      </p:sp>
      <p:sp>
        <p:nvSpPr>
          <p:cNvPr id="55" name="TextBox 54">
            <a:extLst>
              <a:ext uri="{FF2B5EF4-FFF2-40B4-BE49-F238E27FC236}">
                <a16:creationId xmlns:a16="http://schemas.microsoft.com/office/drawing/2014/main" id="{AFD99453-83C2-4C98-82D5-DD37AA7CE358}"/>
              </a:ext>
            </a:extLst>
          </p:cNvPr>
          <p:cNvSpPr txBox="1"/>
          <p:nvPr/>
        </p:nvSpPr>
        <p:spPr>
          <a:xfrm>
            <a:off x="8804649" y="4072379"/>
            <a:ext cx="339392" cy="369332"/>
          </a:xfrm>
          <a:prstGeom prst="rect">
            <a:avLst/>
          </a:prstGeom>
          <a:solidFill>
            <a:schemeClr val="bg1"/>
          </a:solidFill>
        </p:spPr>
        <p:txBody>
          <a:bodyPr wrap="square" rtlCol="0">
            <a:spAutoFit/>
          </a:bodyPr>
          <a:lstStyle/>
          <a:p>
            <a:r>
              <a:rPr lang="en-US" b="1" dirty="0"/>
              <a:t>1</a:t>
            </a:r>
          </a:p>
        </p:txBody>
      </p:sp>
      <p:sp>
        <p:nvSpPr>
          <p:cNvPr id="56" name="TextBox 55">
            <a:extLst>
              <a:ext uri="{FF2B5EF4-FFF2-40B4-BE49-F238E27FC236}">
                <a16:creationId xmlns:a16="http://schemas.microsoft.com/office/drawing/2014/main" id="{579476FA-426B-4952-B23E-E5E5B795B8BD}"/>
              </a:ext>
            </a:extLst>
          </p:cNvPr>
          <p:cNvSpPr txBox="1"/>
          <p:nvPr/>
        </p:nvSpPr>
        <p:spPr>
          <a:xfrm>
            <a:off x="9377957" y="4072379"/>
            <a:ext cx="308538" cy="369332"/>
          </a:xfrm>
          <a:prstGeom prst="rect">
            <a:avLst/>
          </a:prstGeom>
          <a:solidFill>
            <a:srgbClr val="FFFF00"/>
          </a:solidFill>
        </p:spPr>
        <p:txBody>
          <a:bodyPr wrap="square" rtlCol="0">
            <a:spAutoFit/>
          </a:bodyPr>
          <a:lstStyle/>
          <a:p>
            <a:r>
              <a:rPr lang="en-US" b="1" dirty="0"/>
              <a:t>0</a:t>
            </a:r>
          </a:p>
        </p:txBody>
      </p:sp>
      <p:sp>
        <p:nvSpPr>
          <p:cNvPr id="57" name="TextBox 56">
            <a:extLst>
              <a:ext uri="{FF2B5EF4-FFF2-40B4-BE49-F238E27FC236}">
                <a16:creationId xmlns:a16="http://schemas.microsoft.com/office/drawing/2014/main" id="{ED1F6C1E-D4AF-4256-B2C1-5A92856F93AE}"/>
              </a:ext>
            </a:extLst>
          </p:cNvPr>
          <p:cNvSpPr txBox="1"/>
          <p:nvPr/>
        </p:nvSpPr>
        <p:spPr>
          <a:xfrm>
            <a:off x="8744010" y="4072379"/>
            <a:ext cx="339392" cy="369332"/>
          </a:xfrm>
          <a:prstGeom prst="rect">
            <a:avLst/>
          </a:prstGeom>
          <a:solidFill>
            <a:srgbClr val="FFFF00"/>
          </a:solidFill>
        </p:spPr>
        <p:txBody>
          <a:bodyPr wrap="square" rtlCol="0">
            <a:spAutoFit/>
          </a:bodyPr>
          <a:lstStyle/>
          <a:p>
            <a:r>
              <a:rPr lang="en-US" b="1" dirty="0"/>
              <a:t>1</a:t>
            </a:r>
          </a:p>
        </p:txBody>
      </p:sp>
      <p:sp>
        <p:nvSpPr>
          <p:cNvPr id="58" name="TextBox 57">
            <a:extLst>
              <a:ext uri="{FF2B5EF4-FFF2-40B4-BE49-F238E27FC236}">
                <a16:creationId xmlns:a16="http://schemas.microsoft.com/office/drawing/2014/main" id="{F8998B6F-603A-4211-95BF-EEF8DB1ECDB5}"/>
              </a:ext>
            </a:extLst>
          </p:cNvPr>
          <p:cNvSpPr txBox="1"/>
          <p:nvPr/>
        </p:nvSpPr>
        <p:spPr>
          <a:xfrm>
            <a:off x="11070313" y="4065967"/>
            <a:ext cx="308538" cy="369332"/>
          </a:xfrm>
          <a:prstGeom prst="rect">
            <a:avLst/>
          </a:prstGeom>
          <a:solidFill>
            <a:srgbClr val="FFFF00"/>
          </a:solidFill>
        </p:spPr>
        <p:txBody>
          <a:bodyPr wrap="square" rtlCol="0">
            <a:spAutoFit/>
          </a:bodyPr>
          <a:lstStyle/>
          <a:p>
            <a:r>
              <a:rPr lang="en-US" b="1" dirty="0"/>
              <a:t>2</a:t>
            </a:r>
          </a:p>
        </p:txBody>
      </p:sp>
    </p:spTree>
    <p:extLst>
      <p:ext uri="{BB962C8B-B14F-4D97-AF65-F5344CB8AC3E}">
        <p14:creationId xmlns:p14="http://schemas.microsoft.com/office/powerpoint/2010/main" val="4082033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E96C1-94EC-4180-834D-33E9024A0B14}"/>
              </a:ext>
            </a:extLst>
          </p:cNvPr>
          <p:cNvSpPr>
            <a:spLocks noGrp="1"/>
          </p:cNvSpPr>
          <p:nvPr>
            <p:ph type="title"/>
          </p:nvPr>
        </p:nvSpPr>
        <p:spPr/>
        <p:txBody>
          <a:bodyPr>
            <a:normAutofit fontScale="90000"/>
          </a:bodyPr>
          <a:lstStyle/>
          <a:p>
            <a:r>
              <a:rPr lang="en-US" dirty="0"/>
              <a:t>Cryptarithmetic Puzzles Program </a:t>
            </a:r>
          </a:p>
        </p:txBody>
      </p:sp>
      <p:sp>
        <p:nvSpPr>
          <p:cNvPr id="3" name="Content Placeholder 2">
            <a:extLst>
              <a:ext uri="{FF2B5EF4-FFF2-40B4-BE49-F238E27FC236}">
                <a16:creationId xmlns:a16="http://schemas.microsoft.com/office/drawing/2014/main" id="{C60A949A-E079-4413-8D9B-41FB690DBBFF}"/>
              </a:ext>
            </a:extLst>
          </p:cNvPr>
          <p:cNvSpPr>
            <a:spLocks noGrp="1"/>
          </p:cNvSpPr>
          <p:nvPr>
            <p:ph idx="1"/>
          </p:nvPr>
        </p:nvSpPr>
        <p:spPr/>
        <p:txBody>
          <a:bodyPr/>
          <a:lstStyle/>
          <a:p>
            <a:r>
              <a:rPr lang="en-US" dirty="0">
                <a:solidFill>
                  <a:schemeClr val="accent6">
                    <a:lumMod val="75000"/>
                  </a:schemeClr>
                </a:solidFill>
              </a:rPr>
              <a:t>Summary of the problem</a:t>
            </a:r>
            <a:r>
              <a:rPr lang="en-US" dirty="0"/>
              <a:t>:  A cryptarithmetic puzzle is a mathematical exercise where the digits of some numbers are represented by letters (or symbols). Each letter represents a unique digit. The goal is to find the digits such that a given mathematical equation is verified.</a:t>
            </a:r>
          </a:p>
          <a:p>
            <a:r>
              <a:rPr lang="en-US" dirty="0"/>
              <a:t>Example:</a:t>
            </a:r>
          </a:p>
        </p:txBody>
      </p:sp>
      <p:sp>
        <p:nvSpPr>
          <p:cNvPr id="4" name="Date Placeholder 3">
            <a:extLst>
              <a:ext uri="{FF2B5EF4-FFF2-40B4-BE49-F238E27FC236}">
                <a16:creationId xmlns:a16="http://schemas.microsoft.com/office/drawing/2014/main" id="{9F30AA26-5EB0-46D0-9B02-98E044A1C297}"/>
              </a:ext>
            </a:extLst>
          </p:cNvPr>
          <p:cNvSpPr>
            <a:spLocks noGrp="1"/>
          </p:cNvSpPr>
          <p:nvPr>
            <p:ph type="dt" sz="half" idx="10"/>
          </p:nvPr>
        </p:nvSpPr>
        <p:spPr/>
        <p:txBody>
          <a:bodyPr/>
          <a:lstStyle/>
          <a:p>
            <a:fld id="{A8C53398-941A-49CB-99D7-B9A28CCB72FA}" type="datetime1">
              <a:rPr lang="en-US" smtClean="0"/>
              <a:t>10/16/2022</a:t>
            </a:fld>
            <a:endParaRPr lang="en-US" dirty="0"/>
          </a:p>
        </p:txBody>
      </p:sp>
      <p:sp>
        <p:nvSpPr>
          <p:cNvPr id="5" name="Footer Placeholder 4">
            <a:extLst>
              <a:ext uri="{FF2B5EF4-FFF2-40B4-BE49-F238E27FC236}">
                <a16:creationId xmlns:a16="http://schemas.microsoft.com/office/drawing/2014/main" id="{428B3628-A198-458A-9BFA-BFB1BA26A0D9}"/>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A6B631DE-5005-49F0-9A45-C2C0E2ABEC17}"/>
              </a:ext>
            </a:extLst>
          </p:cNvPr>
          <p:cNvSpPr>
            <a:spLocks noGrp="1"/>
          </p:cNvSpPr>
          <p:nvPr>
            <p:ph type="sldNum" sz="quarter" idx="12"/>
          </p:nvPr>
        </p:nvSpPr>
        <p:spPr/>
        <p:txBody>
          <a:bodyPr/>
          <a:lstStyle/>
          <a:p>
            <a:fld id="{B7884E68-CE57-44C0-BE0F-84C629DF22D5}" type="slidenum">
              <a:rPr lang="en-US" dirty="0" smtClean="0"/>
              <a:t>101</a:t>
            </a:fld>
            <a:endParaRPr lang="en-US" dirty="0"/>
          </a:p>
        </p:txBody>
      </p:sp>
      <p:sp>
        <p:nvSpPr>
          <p:cNvPr id="7" name="TextBox 6">
            <a:extLst>
              <a:ext uri="{FF2B5EF4-FFF2-40B4-BE49-F238E27FC236}">
                <a16:creationId xmlns:a16="http://schemas.microsoft.com/office/drawing/2014/main" id="{AD669B46-BFEA-42AE-BCF1-DF581ED49E7B}"/>
              </a:ext>
            </a:extLst>
          </p:cNvPr>
          <p:cNvSpPr txBox="1"/>
          <p:nvPr/>
        </p:nvSpPr>
        <p:spPr>
          <a:xfrm>
            <a:off x="2929472" y="3970421"/>
            <a:ext cx="2213810" cy="1938992"/>
          </a:xfrm>
          <a:prstGeom prst="rect">
            <a:avLst/>
          </a:prstGeom>
          <a:noFill/>
        </p:spPr>
        <p:txBody>
          <a:bodyPr wrap="square" rtlCol="0">
            <a:spAutoFit/>
          </a:bodyPr>
          <a:lstStyle/>
          <a:p>
            <a:r>
              <a:rPr lang="en-US" sz="2400" b="1" dirty="0">
                <a:latin typeface="Courier New" panose="02070309020205020404" pitchFamily="49" charset="0"/>
                <a:cs typeface="Courier New" panose="02070309020205020404" pitchFamily="49" charset="0"/>
              </a:rPr>
              <a:t>      CP</a:t>
            </a:r>
          </a:p>
          <a:p>
            <a:r>
              <a:rPr lang="en-US" sz="2400" b="1" dirty="0">
                <a:latin typeface="Courier New" panose="02070309020205020404" pitchFamily="49" charset="0"/>
                <a:cs typeface="Courier New" panose="02070309020205020404" pitchFamily="49" charset="0"/>
              </a:rPr>
              <a:t>+     IS</a:t>
            </a:r>
          </a:p>
          <a:p>
            <a:r>
              <a:rPr lang="en-US" sz="2400" b="1" dirty="0">
                <a:latin typeface="Courier New" panose="02070309020205020404" pitchFamily="49" charset="0"/>
                <a:cs typeface="Courier New" panose="02070309020205020404" pitchFamily="49" charset="0"/>
              </a:rPr>
              <a:t>+    FUN</a:t>
            </a:r>
          </a:p>
          <a:p>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TRUE</a:t>
            </a:r>
          </a:p>
        </p:txBody>
      </p:sp>
    </p:spTree>
    <p:extLst>
      <p:ext uri="{BB962C8B-B14F-4D97-AF65-F5344CB8AC3E}">
        <p14:creationId xmlns:p14="http://schemas.microsoft.com/office/powerpoint/2010/main" val="367152367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E96C1-94EC-4180-834D-33E9024A0B14}"/>
              </a:ext>
            </a:extLst>
          </p:cNvPr>
          <p:cNvSpPr>
            <a:spLocks noGrp="1"/>
          </p:cNvSpPr>
          <p:nvPr>
            <p:ph type="title"/>
          </p:nvPr>
        </p:nvSpPr>
        <p:spPr/>
        <p:txBody>
          <a:bodyPr>
            <a:normAutofit fontScale="90000"/>
          </a:bodyPr>
          <a:lstStyle/>
          <a:p>
            <a:r>
              <a:rPr lang="en-US" dirty="0"/>
              <a:t>Cryptarithmetic Puzzles Program </a:t>
            </a:r>
          </a:p>
        </p:txBody>
      </p:sp>
      <p:sp>
        <p:nvSpPr>
          <p:cNvPr id="3" name="Content Placeholder 2">
            <a:extLst>
              <a:ext uri="{FF2B5EF4-FFF2-40B4-BE49-F238E27FC236}">
                <a16:creationId xmlns:a16="http://schemas.microsoft.com/office/drawing/2014/main" id="{C60A949A-E079-4413-8D9B-41FB690DBBFF}"/>
              </a:ext>
            </a:extLst>
          </p:cNvPr>
          <p:cNvSpPr>
            <a:spLocks noGrp="1"/>
          </p:cNvSpPr>
          <p:nvPr>
            <p:ph idx="1"/>
          </p:nvPr>
        </p:nvSpPr>
        <p:spPr/>
        <p:txBody>
          <a:bodyPr>
            <a:normAutofit lnSpcReduction="10000"/>
          </a:bodyPr>
          <a:lstStyle/>
          <a:p>
            <a:r>
              <a:rPr lang="en-US" dirty="0"/>
              <a:t>One assignment (Solution) of letters to digits yields the following equation:</a:t>
            </a:r>
          </a:p>
          <a:p>
            <a:endParaRPr lang="en-US" dirty="0"/>
          </a:p>
          <a:p>
            <a:endParaRPr lang="en-US" dirty="0"/>
          </a:p>
          <a:p>
            <a:endParaRPr lang="en-US" dirty="0"/>
          </a:p>
          <a:p>
            <a:endParaRPr lang="en-US" dirty="0"/>
          </a:p>
          <a:p>
            <a:endParaRPr lang="en-US" dirty="0"/>
          </a:p>
          <a:p>
            <a:r>
              <a:rPr lang="en-US" dirty="0"/>
              <a:t>There are other answers to this problem. We'll show how to find all solutions next.</a:t>
            </a:r>
          </a:p>
        </p:txBody>
      </p:sp>
      <p:sp>
        <p:nvSpPr>
          <p:cNvPr id="4" name="Date Placeholder 3">
            <a:extLst>
              <a:ext uri="{FF2B5EF4-FFF2-40B4-BE49-F238E27FC236}">
                <a16:creationId xmlns:a16="http://schemas.microsoft.com/office/drawing/2014/main" id="{9F30AA26-5EB0-46D0-9B02-98E044A1C297}"/>
              </a:ext>
            </a:extLst>
          </p:cNvPr>
          <p:cNvSpPr>
            <a:spLocks noGrp="1"/>
          </p:cNvSpPr>
          <p:nvPr>
            <p:ph type="dt" sz="half" idx="10"/>
          </p:nvPr>
        </p:nvSpPr>
        <p:spPr/>
        <p:txBody>
          <a:bodyPr/>
          <a:lstStyle/>
          <a:p>
            <a:fld id="{4C8D8BAA-1E48-4351-B108-D109371C6DBD}" type="datetime1">
              <a:rPr lang="en-US" smtClean="0"/>
              <a:t>10/16/2022</a:t>
            </a:fld>
            <a:endParaRPr lang="en-US" dirty="0"/>
          </a:p>
        </p:txBody>
      </p:sp>
      <p:sp>
        <p:nvSpPr>
          <p:cNvPr id="5" name="Footer Placeholder 4">
            <a:extLst>
              <a:ext uri="{FF2B5EF4-FFF2-40B4-BE49-F238E27FC236}">
                <a16:creationId xmlns:a16="http://schemas.microsoft.com/office/drawing/2014/main" id="{428B3628-A198-458A-9BFA-BFB1BA26A0D9}"/>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A6B631DE-5005-49F0-9A45-C2C0E2ABEC17}"/>
              </a:ext>
            </a:extLst>
          </p:cNvPr>
          <p:cNvSpPr>
            <a:spLocks noGrp="1"/>
          </p:cNvSpPr>
          <p:nvPr>
            <p:ph type="sldNum" sz="quarter" idx="12"/>
          </p:nvPr>
        </p:nvSpPr>
        <p:spPr/>
        <p:txBody>
          <a:bodyPr/>
          <a:lstStyle/>
          <a:p>
            <a:fld id="{B7884E68-CE57-44C0-BE0F-84C629DF22D5}" type="slidenum">
              <a:rPr lang="en-US" dirty="0" smtClean="0"/>
              <a:t>102</a:t>
            </a:fld>
            <a:endParaRPr lang="en-US" dirty="0"/>
          </a:p>
        </p:txBody>
      </p:sp>
      <p:sp>
        <p:nvSpPr>
          <p:cNvPr id="7" name="TextBox 6">
            <a:extLst>
              <a:ext uri="{FF2B5EF4-FFF2-40B4-BE49-F238E27FC236}">
                <a16:creationId xmlns:a16="http://schemas.microsoft.com/office/drawing/2014/main" id="{AD669B46-BFEA-42AE-BCF1-DF581ED49E7B}"/>
              </a:ext>
            </a:extLst>
          </p:cNvPr>
          <p:cNvSpPr txBox="1"/>
          <p:nvPr/>
        </p:nvSpPr>
        <p:spPr>
          <a:xfrm>
            <a:off x="2777072" y="2432764"/>
            <a:ext cx="2213810" cy="1938992"/>
          </a:xfrm>
          <a:prstGeom prst="rect">
            <a:avLst/>
          </a:prstGeom>
          <a:noFill/>
        </p:spPr>
        <p:txBody>
          <a:bodyPr wrap="square" rtlCol="0">
            <a:spAutoFit/>
          </a:bodyPr>
          <a:lstStyle/>
          <a:p>
            <a:r>
              <a:rPr lang="en-US" sz="2400" b="1" dirty="0">
                <a:latin typeface="Courier New" panose="02070309020205020404" pitchFamily="49" charset="0"/>
                <a:cs typeface="Courier New" panose="02070309020205020404" pitchFamily="49" charset="0"/>
              </a:rPr>
              <a:t>      CP</a:t>
            </a:r>
          </a:p>
          <a:p>
            <a:r>
              <a:rPr lang="en-US" sz="2400" b="1" dirty="0">
                <a:latin typeface="Courier New" panose="02070309020205020404" pitchFamily="49" charset="0"/>
                <a:cs typeface="Courier New" panose="02070309020205020404" pitchFamily="49" charset="0"/>
              </a:rPr>
              <a:t>+     IS</a:t>
            </a:r>
          </a:p>
          <a:p>
            <a:r>
              <a:rPr lang="en-US" sz="2400" b="1" dirty="0">
                <a:latin typeface="Courier New" panose="02070309020205020404" pitchFamily="49" charset="0"/>
                <a:cs typeface="Courier New" panose="02070309020205020404" pitchFamily="49" charset="0"/>
              </a:rPr>
              <a:t>+    FUN</a:t>
            </a:r>
          </a:p>
          <a:p>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TRUE</a:t>
            </a:r>
          </a:p>
        </p:txBody>
      </p:sp>
      <p:sp>
        <p:nvSpPr>
          <p:cNvPr id="8" name="TextBox 7">
            <a:extLst>
              <a:ext uri="{FF2B5EF4-FFF2-40B4-BE49-F238E27FC236}">
                <a16:creationId xmlns:a16="http://schemas.microsoft.com/office/drawing/2014/main" id="{05DAB557-E861-4516-AF78-0D7E9C3E6C81}"/>
              </a:ext>
            </a:extLst>
          </p:cNvPr>
          <p:cNvSpPr txBox="1"/>
          <p:nvPr/>
        </p:nvSpPr>
        <p:spPr>
          <a:xfrm>
            <a:off x="6837036" y="2432764"/>
            <a:ext cx="1671954" cy="1938992"/>
          </a:xfrm>
          <a:prstGeom prst="rect">
            <a:avLst/>
          </a:prstGeom>
          <a:noFill/>
        </p:spPr>
        <p:txBody>
          <a:bodyPr wrap="square" rtlCol="0">
            <a:spAutoFit/>
          </a:bodyPr>
          <a:lstStyle/>
          <a:p>
            <a:r>
              <a:rPr lang="en-US" sz="2400" b="1" dirty="0">
                <a:latin typeface="Courier New" panose="02070309020205020404" pitchFamily="49" charset="0"/>
                <a:cs typeface="Courier New" panose="02070309020205020404" pitchFamily="49" charset="0"/>
              </a:rPr>
              <a:t>      23</a:t>
            </a:r>
          </a:p>
          <a:p>
            <a:r>
              <a:rPr lang="en-US" sz="2400" b="1" dirty="0">
                <a:latin typeface="Courier New" panose="02070309020205020404" pitchFamily="49" charset="0"/>
                <a:cs typeface="Courier New" panose="02070309020205020404" pitchFamily="49" charset="0"/>
              </a:rPr>
              <a:t>+     74</a:t>
            </a:r>
          </a:p>
          <a:p>
            <a:r>
              <a:rPr lang="en-US" sz="2400" b="1" dirty="0">
                <a:latin typeface="Courier New" panose="02070309020205020404" pitchFamily="49" charset="0"/>
                <a:cs typeface="Courier New" panose="02070309020205020404" pitchFamily="49" charset="0"/>
              </a:rPr>
              <a:t>+    968</a:t>
            </a:r>
          </a:p>
          <a:p>
            <a:r>
              <a:rPr lang="en-US" sz="2400" b="1" dirty="0">
                <a:latin typeface="Courier New" panose="02070309020205020404" pitchFamily="49" charset="0"/>
                <a:cs typeface="Courier New" panose="02070309020205020404" pitchFamily="49" charset="0"/>
              </a:rPr>
              <a:t>--------</a:t>
            </a:r>
          </a:p>
          <a:p>
            <a:r>
              <a:rPr lang="en-US" sz="2400" b="1" dirty="0">
                <a:latin typeface="Courier New" panose="02070309020205020404" pitchFamily="49" charset="0"/>
                <a:cs typeface="Courier New" panose="02070309020205020404" pitchFamily="49" charset="0"/>
              </a:rPr>
              <a:t>=   1065</a:t>
            </a:r>
          </a:p>
        </p:txBody>
      </p:sp>
      <p:sp>
        <p:nvSpPr>
          <p:cNvPr id="9" name="Arrow: Right 8">
            <a:extLst>
              <a:ext uri="{FF2B5EF4-FFF2-40B4-BE49-F238E27FC236}">
                <a16:creationId xmlns:a16="http://schemas.microsoft.com/office/drawing/2014/main" id="{F070F621-A46D-4FA8-97F4-7E0DA6784337}"/>
              </a:ext>
            </a:extLst>
          </p:cNvPr>
          <p:cNvSpPr/>
          <p:nvPr/>
        </p:nvSpPr>
        <p:spPr>
          <a:xfrm>
            <a:off x="5354965" y="3092118"/>
            <a:ext cx="741035" cy="4932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4992118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E96C1-94EC-4180-834D-33E9024A0B14}"/>
              </a:ext>
            </a:extLst>
          </p:cNvPr>
          <p:cNvSpPr>
            <a:spLocks noGrp="1"/>
          </p:cNvSpPr>
          <p:nvPr>
            <p:ph type="title"/>
          </p:nvPr>
        </p:nvSpPr>
        <p:spPr/>
        <p:txBody>
          <a:bodyPr>
            <a:normAutofit fontScale="90000"/>
          </a:bodyPr>
          <a:lstStyle/>
          <a:p>
            <a:r>
              <a:rPr lang="en-US" dirty="0"/>
              <a:t>Cryptarithmetic Puzzles Library  </a:t>
            </a:r>
          </a:p>
        </p:txBody>
      </p:sp>
      <p:sp>
        <p:nvSpPr>
          <p:cNvPr id="3" name="Content Placeholder 2">
            <a:extLst>
              <a:ext uri="{FF2B5EF4-FFF2-40B4-BE49-F238E27FC236}">
                <a16:creationId xmlns:a16="http://schemas.microsoft.com/office/drawing/2014/main" id="{C60A949A-E079-4413-8D9B-41FB690DBBFF}"/>
              </a:ext>
            </a:extLst>
          </p:cNvPr>
          <p:cNvSpPr>
            <a:spLocks noGrp="1"/>
          </p:cNvSpPr>
          <p:nvPr>
            <p:ph idx="1"/>
          </p:nvPr>
        </p:nvSpPr>
        <p:spPr/>
        <p:txBody>
          <a:bodyPr>
            <a:normAutofit lnSpcReduction="10000"/>
          </a:bodyPr>
          <a:lstStyle/>
          <a:p>
            <a:pPr rtl="0"/>
            <a:r>
              <a:rPr lang="en-US" dirty="0"/>
              <a:t>To run the code we will be discussing, you need to install a library to run the code given below. To install, open the command prompt and type the following:</a:t>
            </a:r>
          </a:p>
          <a:p>
            <a:pPr marL="457200" lvl="1" indent="0" rtl="0">
              <a:buNone/>
            </a:pPr>
            <a:r>
              <a:rPr lang="en-US" dirty="0"/>
              <a:t>	</a:t>
            </a:r>
            <a:r>
              <a:rPr lang="en-US" sz="3000" b="1" dirty="0">
                <a:latin typeface="Courier New" panose="02070309020205020404" pitchFamily="49" charset="0"/>
                <a:cs typeface="Courier New" panose="02070309020205020404" pitchFamily="49" charset="0"/>
              </a:rPr>
              <a:t>python -m pip install --upgrade --user ortools</a:t>
            </a:r>
            <a:endParaRPr lang="en-US" b="1" dirty="0">
              <a:latin typeface="Courier New" panose="02070309020205020404" pitchFamily="49" charset="0"/>
              <a:cs typeface="Courier New" panose="02070309020205020404" pitchFamily="49" charset="0"/>
            </a:endParaRPr>
          </a:p>
          <a:p>
            <a:pPr marL="504825" lvl="1" indent="0">
              <a:buNone/>
            </a:pPr>
            <a:r>
              <a:rPr lang="en-US" dirty="0"/>
              <a:t>Press Enter and wait until it finishes</a:t>
            </a:r>
          </a:p>
          <a:p>
            <a:pPr marL="504825" lvl="1" indent="0">
              <a:buNone/>
            </a:pPr>
            <a:endParaRPr lang="en-US" b="1" dirty="0"/>
          </a:p>
          <a:p>
            <a:pPr marL="504825" lvl="1" indent="0">
              <a:buNone/>
            </a:pPr>
            <a:r>
              <a:rPr lang="en-US" dirty="0"/>
              <a:t>OR (from a notebook) </a:t>
            </a:r>
            <a:r>
              <a:rPr lang="en-US" sz="3000" b="1" dirty="0">
                <a:latin typeface="Courier New" panose="02070309020205020404" pitchFamily="49" charset="0"/>
                <a:cs typeface="Courier New" panose="02070309020205020404" pitchFamily="49" charset="0"/>
              </a:rPr>
              <a:t>!pip install </a:t>
            </a:r>
            <a:r>
              <a:rPr lang="en-US" sz="3000" b="1" dirty="0" err="1">
                <a:latin typeface="Courier New" panose="02070309020205020404" pitchFamily="49" charset="0"/>
                <a:cs typeface="Courier New" panose="02070309020205020404" pitchFamily="49" charset="0"/>
              </a:rPr>
              <a:t>ortools</a:t>
            </a:r>
            <a:endParaRPr lang="en-US" sz="3000" b="1" dirty="0">
              <a:latin typeface="Courier New" panose="02070309020205020404" pitchFamily="49" charset="0"/>
              <a:cs typeface="Courier New" panose="02070309020205020404" pitchFamily="49" charset="0"/>
            </a:endParaRPr>
          </a:p>
          <a:p>
            <a:pPr marL="504825" lvl="1" indent="0">
              <a:buNone/>
            </a:pPr>
            <a:endParaRPr lang="en-US" b="1" dirty="0"/>
          </a:p>
          <a:p>
            <a:pPr marL="457200" indent="-457200"/>
            <a:r>
              <a:rPr lang="en-US" dirty="0"/>
              <a:t>Note: you may need to load the notebook again for the tool to work or run the server again depending on your machine.</a:t>
            </a:r>
            <a:endParaRPr lang="en-US" b="1" dirty="0"/>
          </a:p>
          <a:p>
            <a:endParaRPr lang="en-US" dirty="0"/>
          </a:p>
        </p:txBody>
      </p:sp>
      <p:sp>
        <p:nvSpPr>
          <p:cNvPr id="4" name="Date Placeholder 3">
            <a:extLst>
              <a:ext uri="{FF2B5EF4-FFF2-40B4-BE49-F238E27FC236}">
                <a16:creationId xmlns:a16="http://schemas.microsoft.com/office/drawing/2014/main" id="{9F30AA26-5EB0-46D0-9B02-98E044A1C297}"/>
              </a:ext>
            </a:extLst>
          </p:cNvPr>
          <p:cNvSpPr>
            <a:spLocks noGrp="1"/>
          </p:cNvSpPr>
          <p:nvPr>
            <p:ph type="dt" sz="half" idx="10"/>
          </p:nvPr>
        </p:nvSpPr>
        <p:spPr/>
        <p:txBody>
          <a:bodyPr/>
          <a:lstStyle/>
          <a:p>
            <a:fld id="{0AF1537E-83B6-4C7F-B0C1-8CA1AC53112C}" type="datetime1">
              <a:rPr lang="en-US" smtClean="0"/>
              <a:t>10/16/2022</a:t>
            </a:fld>
            <a:endParaRPr lang="en-US" dirty="0"/>
          </a:p>
        </p:txBody>
      </p:sp>
      <p:sp>
        <p:nvSpPr>
          <p:cNvPr id="5" name="Footer Placeholder 4">
            <a:extLst>
              <a:ext uri="{FF2B5EF4-FFF2-40B4-BE49-F238E27FC236}">
                <a16:creationId xmlns:a16="http://schemas.microsoft.com/office/drawing/2014/main" id="{428B3628-A198-458A-9BFA-BFB1BA26A0D9}"/>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A6B631DE-5005-49F0-9A45-C2C0E2ABEC17}"/>
              </a:ext>
            </a:extLst>
          </p:cNvPr>
          <p:cNvSpPr>
            <a:spLocks noGrp="1"/>
          </p:cNvSpPr>
          <p:nvPr>
            <p:ph type="sldNum" sz="quarter" idx="12"/>
          </p:nvPr>
        </p:nvSpPr>
        <p:spPr/>
        <p:txBody>
          <a:bodyPr/>
          <a:lstStyle/>
          <a:p>
            <a:fld id="{B7884E68-CE57-44C0-BE0F-84C629DF22D5}" type="slidenum">
              <a:rPr lang="en-US" dirty="0" smtClean="0"/>
              <a:t>103</a:t>
            </a:fld>
            <a:endParaRPr lang="en-US" dirty="0"/>
          </a:p>
        </p:txBody>
      </p:sp>
    </p:spTree>
    <p:extLst>
      <p:ext uri="{BB962C8B-B14F-4D97-AF65-F5344CB8AC3E}">
        <p14:creationId xmlns:p14="http://schemas.microsoft.com/office/powerpoint/2010/main" val="41829052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E96C1-94EC-4180-834D-33E9024A0B14}"/>
              </a:ext>
            </a:extLst>
          </p:cNvPr>
          <p:cNvSpPr>
            <a:spLocks noGrp="1"/>
          </p:cNvSpPr>
          <p:nvPr>
            <p:ph type="title"/>
          </p:nvPr>
        </p:nvSpPr>
        <p:spPr/>
        <p:txBody>
          <a:bodyPr>
            <a:normAutofit fontScale="90000"/>
          </a:bodyPr>
          <a:lstStyle/>
          <a:p>
            <a:r>
              <a:rPr lang="en-US" dirty="0"/>
              <a:t>Cryptarithmetic Puzzles Modeling </a:t>
            </a:r>
          </a:p>
        </p:txBody>
      </p:sp>
      <p:sp>
        <p:nvSpPr>
          <p:cNvPr id="3" name="Content Placeholder 2">
            <a:extLst>
              <a:ext uri="{FF2B5EF4-FFF2-40B4-BE49-F238E27FC236}">
                <a16:creationId xmlns:a16="http://schemas.microsoft.com/office/drawing/2014/main" id="{C60A949A-E079-4413-8D9B-41FB690DBBFF}"/>
              </a:ext>
            </a:extLst>
          </p:cNvPr>
          <p:cNvSpPr>
            <a:spLocks noGrp="1"/>
          </p:cNvSpPr>
          <p:nvPr>
            <p:ph idx="1"/>
          </p:nvPr>
        </p:nvSpPr>
        <p:spPr/>
        <p:txBody>
          <a:bodyPr>
            <a:normAutofit/>
          </a:bodyPr>
          <a:lstStyle/>
          <a:p>
            <a:r>
              <a:rPr lang="en-US" dirty="0"/>
              <a:t>As with any CSP, we start by identifying variables and constraints. </a:t>
            </a:r>
          </a:p>
          <a:p>
            <a:pPr lvl="1"/>
            <a:r>
              <a:rPr lang="en-US" dirty="0"/>
              <a:t>The </a:t>
            </a:r>
            <a:r>
              <a:rPr lang="en-US" dirty="0">
                <a:solidFill>
                  <a:srgbClr val="C00000"/>
                </a:solidFill>
              </a:rPr>
              <a:t>variables</a:t>
            </a:r>
            <a:r>
              <a:rPr lang="en-US" dirty="0"/>
              <a:t> are the letters, which can take on any single digit value</a:t>
            </a:r>
          </a:p>
          <a:p>
            <a:pPr lvl="2"/>
            <a:r>
              <a:rPr lang="en-US" dirty="0"/>
              <a:t>V={C, P, I, S, F, U, N, T, R, E}</a:t>
            </a:r>
          </a:p>
          <a:p>
            <a:pPr lvl="1"/>
            <a:r>
              <a:rPr lang="en-US" dirty="0"/>
              <a:t>Note that there will be no repeating variable. Also, the values of the variables are single digits, therefore the </a:t>
            </a:r>
            <a:r>
              <a:rPr lang="en-US" dirty="0">
                <a:solidFill>
                  <a:srgbClr val="C00000"/>
                </a:solidFill>
              </a:rPr>
              <a:t>domain</a:t>
            </a:r>
            <a:r>
              <a:rPr lang="en-US" dirty="0"/>
              <a:t> is 0 to 9. </a:t>
            </a:r>
          </a:p>
          <a:p>
            <a:r>
              <a:rPr lang="en-US" dirty="0"/>
              <a:t>Follow the steps to program your machine to solve the cryptarithmetic problems. </a:t>
            </a:r>
          </a:p>
          <a:p>
            <a:pPr lvl="1"/>
            <a:endParaRPr lang="en-US" b="1" dirty="0"/>
          </a:p>
          <a:p>
            <a:endParaRPr lang="en-US" dirty="0"/>
          </a:p>
        </p:txBody>
      </p:sp>
      <p:sp>
        <p:nvSpPr>
          <p:cNvPr id="4" name="Date Placeholder 3">
            <a:extLst>
              <a:ext uri="{FF2B5EF4-FFF2-40B4-BE49-F238E27FC236}">
                <a16:creationId xmlns:a16="http://schemas.microsoft.com/office/drawing/2014/main" id="{9F30AA26-5EB0-46D0-9B02-98E044A1C297}"/>
              </a:ext>
            </a:extLst>
          </p:cNvPr>
          <p:cNvSpPr>
            <a:spLocks noGrp="1"/>
          </p:cNvSpPr>
          <p:nvPr>
            <p:ph type="dt" sz="half" idx="10"/>
          </p:nvPr>
        </p:nvSpPr>
        <p:spPr/>
        <p:txBody>
          <a:bodyPr/>
          <a:lstStyle/>
          <a:p>
            <a:fld id="{D9B5A9E4-7C0D-41E5-B019-CD1ECED05757}" type="datetime1">
              <a:rPr lang="en-US" smtClean="0"/>
              <a:t>10/16/2022</a:t>
            </a:fld>
            <a:endParaRPr lang="en-US" dirty="0"/>
          </a:p>
        </p:txBody>
      </p:sp>
      <p:sp>
        <p:nvSpPr>
          <p:cNvPr id="5" name="Footer Placeholder 4">
            <a:extLst>
              <a:ext uri="{FF2B5EF4-FFF2-40B4-BE49-F238E27FC236}">
                <a16:creationId xmlns:a16="http://schemas.microsoft.com/office/drawing/2014/main" id="{428B3628-A198-458A-9BFA-BFB1BA26A0D9}"/>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A6B631DE-5005-49F0-9A45-C2C0E2ABEC17}"/>
              </a:ext>
            </a:extLst>
          </p:cNvPr>
          <p:cNvSpPr>
            <a:spLocks noGrp="1"/>
          </p:cNvSpPr>
          <p:nvPr>
            <p:ph type="sldNum" sz="quarter" idx="12"/>
          </p:nvPr>
        </p:nvSpPr>
        <p:spPr/>
        <p:txBody>
          <a:bodyPr/>
          <a:lstStyle/>
          <a:p>
            <a:fld id="{B7884E68-CE57-44C0-BE0F-84C629DF22D5}" type="slidenum">
              <a:rPr lang="en-US" dirty="0" smtClean="0"/>
              <a:t>104</a:t>
            </a:fld>
            <a:endParaRPr lang="en-US" dirty="0"/>
          </a:p>
        </p:txBody>
      </p:sp>
    </p:spTree>
    <p:extLst>
      <p:ext uri="{BB962C8B-B14F-4D97-AF65-F5344CB8AC3E}">
        <p14:creationId xmlns:p14="http://schemas.microsoft.com/office/powerpoint/2010/main" val="344358088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E96C1-94EC-4180-834D-33E9024A0B14}"/>
              </a:ext>
            </a:extLst>
          </p:cNvPr>
          <p:cNvSpPr>
            <a:spLocks noGrp="1"/>
          </p:cNvSpPr>
          <p:nvPr>
            <p:ph type="title"/>
          </p:nvPr>
        </p:nvSpPr>
        <p:spPr/>
        <p:txBody>
          <a:bodyPr>
            <a:normAutofit fontScale="90000"/>
          </a:bodyPr>
          <a:lstStyle/>
          <a:p>
            <a:r>
              <a:rPr lang="en-US" dirty="0"/>
              <a:t>Cryptarithmetic Puzzles Code </a:t>
            </a:r>
          </a:p>
        </p:txBody>
      </p:sp>
      <p:sp>
        <p:nvSpPr>
          <p:cNvPr id="3" name="Content Placeholder 2">
            <a:extLst>
              <a:ext uri="{FF2B5EF4-FFF2-40B4-BE49-F238E27FC236}">
                <a16:creationId xmlns:a16="http://schemas.microsoft.com/office/drawing/2014/main" id="{C60A949A-E079-4413-8D9B-41FB690DBBFF}"/>
              </a:ext>
            </a:extLst>
          </p:cNvPr>
          <p:cNvSpPr>
            <a:spLocks noGrp="1"/>
          </p:cNvSpPr>
          <p:nvPr>
            <p:ph idx="1"/>
          </p:nvPr>
        </p:nvSpPr>
        <p:spPr>
          <a:xfrm>
            <a:off x="304800" y="1228153"/>
            <a:ext cx="5964025" cy="5021979"/>
          </a:xfrm>
        </p:spPr>
        <p:txBody>
          <a:bodyPr>
            <a:normAutofit/>
          </a:bodyPr>
          <a:lstStyle/>
          <a:p>
            <a:r>
              <a:rPr lang="en-US" dirty="0">
                <a:solidFill>
                  <a:schemeClr val="accent6">
                    <a:lumMod val="75000"/>
                  </a:schemeClr>
                </a:solidFill>
              </a:rPr>
              <a:t>Step 1</a:t>
            </a:r>
            <a:r>
              <a:rPr lang="en-US" dirty="0"/>
              <a:t>: Import the required libraries.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Date Placeholder 3">
            <a:extLst>
              <a:ext uri="{FF2B5EF4-FFF2-40B4-BE49-F238E27FC236}">
                <a16:creationId xmlns:a16="http://schemas.microsoft.com/office/drawing/2014/main" id="{9F30AA26-5EB0-46D0-9B02-98E044A1C297}"/>
              </a:ext>
            </a:extLst>
          </p:cNvPr>
          <p:cNvSpPr>
            <a:spLocks noGrp="1"/>
          </p:cNvSpPr>
          <p:nvPr>
            <p:ph type="dt" sz="half" idx="10"/>
          </p:nvPr>
        </p:nvSpPr>
        <p:spPr/>
        <p:txBody>
          <a:bodyPr/>
          <a:lstStyle/>
          <a:p>
            <a:fld id="{8996D4CF-C75A-499E-82C5-B4DCD19720F8}" type="datetime1">
              <a:rPr lang="en-US" smtClean="0"/>
              <a:t>10/16/2022</a:t>
            </a:fld>
            <a:endParaRPr lang="en-US" dirty="0"/>
          </a:p>
        </p:txBody>
      </p:sp>
      <p:sp>
        <p:nvSpPr>
          <p:cNvPr id="5" name="Footer Placeholder 4">
            <a:extLst>
              <a:ext uri="{FF2B5EF4-FFF2-40B4-BE49-F238E27FC236}">
                <a16:creationId xmlns:a16="http://schemas.microsoft.com/office/drawing/2014/main" id="{428B3628-A198-458A-9BFA-BFB1BA26A0D9}"/>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A6B631DE-5005-49F0-9A45-C2C0E2ABEC17}"/>
              </a:ext>
            </a:extLst>
          </p:cNvPr>
          <p:cNvSpPr>
            <a:spLocks noGrp="1"/>
          </p:cNvSpPr>
          <p:nvPr>
            <p:ph type="sldNum" sz="quarter" idx="12"/>
          </p:nvPr>
        </p:nvSpPr>
        <p:spPr/>
        <p:txBody>
          <a:bodyPr/>
          <a:lstStyle/>
          <a:p>
            <a:fld id="{B7884E68-CE57-44C0-BE0F-84C629DF22D5}" type="slidenum">
              <a:rPr lang="en-US" dirty="0" smtClean="0"/>
              <a:t>105</a:t>
            </a:fld>
            <a:endParaRPr lang="en-US" dirty="0"/>
          </a:p>
        </p:txBody>
      </p:sp>
      <p:sp>
        <p:nvSpPr>
          <p:cNvPr id="9" name="Content Placeholder 8">
            <a:extLst>
              <a:ext uri="{FF2B5EF4-FFF2-40B4-BE49-F238E27FC236}">
                <a16:creationId xmlns:a16="http://schemas.microsoft.com/office/drawing/2014/main" id="{4223E61F-176E-4AFE-8BED-73BE7F105B94}"/>
              </a:ext>
            </a:extLst>
          </p:cNvPr>
          <p:cNvSpPr>
            <a:spLocks noGrp="1"/>
          </p:cNvSpPr>
          <p:nvPr>
            <p:ph sz="half" idx="4294967295"/>
          </p:nvPr>
        </p:nvSpPr>
        <p:spPr>
          <a:xfrm>
            <a:off x="6268825" y="1946249"/>
            <a:ext cx="5791200" cy="3981515"/>
          </a:xfrm>
          <a:solidFill>
            <a:schemeClr val="bg1">
              <a:lumMod val="95000"/>
            </a:schemeClr>
          </a:solidFill>
          <a:ln>
            <a:solidFill>
              <a:schemeClr val="accent1">
                <a:shade val="50000"/>
              </a:schemeClr>
            </a:solidFill>
          </a:ln>
        </p:spPr>
        <p:txBody>
          <a:bodyPr>
            <a:normAutofit fontScale="47500" lnSpcReduction="20000"/>
          </a:bodyPr>
          <a:lstStyle/>
          <a:p>
            <a:pPr>
              <a:spcBef>
                <a:spcPts val="200"/>
              </a:spcBef>
            </a:pPr>
            <a:r>
              <a:rPr lang="en-US" sz="3800" dirty="0">
                <a:latin typeface="Courier New" panose="02070309020205020404" pitchFamily="49" charset="0"/>
                <a:cs typeface="Courier New" panose="02070309020205020404" pitchFamily="49" charset="0"/>
              </a:rPr>
              <a:t>base = 10</a:t>
            </a:r>
          </a:p>
          <a:p>
            <a:pPr>
              <a:spcBef>
                <a:spcPts val="200"/>
              </a:spcBef>
            </a:pPr>
            <a:r>
              <a:rPr lang="en-US" sz="3800" dirty="0">
                <a:latin typeface="Courier New" panose="02070309020205020404" pitchFamily="49" charset="0"/>
                <a:cs typeface="Courier New" panose="02070309020205020404" pitchFamily="49" charset="0"/>
              </a:rPr>
              <a:t>c = model.NewIntVar(1, 9, 'C')</a:t>
            </a:r>
          </a:p>
          <a:p>
            <a:pPr>
              <a:spcBef>
                <a:spcPts val="200"/>
              </a:spcBef>
            </a:pPr>
            <a:r>
              <a:rPr lang="en-US" sz="3800" dirty="0">
                <a:latin typeface="Courier New" panose="02070309020205020404" pitchFamily="49" charset="0"/>
                <a:cs typeface="Courier New" panose="02070309020205020404" pitchFamily="49" charset="0"/>
              </a:rPr>
              <a:t>p = model.NewIntVar(0, 9, 'P')</a:t>
            </a:r>
          </a:p>
          <a:p>
            <a:pPr>
              <a:spcBef>
                <a:spcPts val="200"/>
              </a:spcBef>
            </a:pPr>
            <a:r>
              <a:rPr lang="en-US" sz="3800" dirty="0">
                <a:latin typeface="Courier New" panose="02070309020205020404" pitchFamily="49" charset="0"/>
                <a:cs typeface="Courier New" panose="02070309020205020404" pitchFamily="49" charset="0"/>
              </a:rPr>
              <a:t>i = model.NewIntVar(1, 9, 'I')</a:t>
            </a:r>
          </a:p>
          <a:p>
            <a:pPr>
              <a:spcBef>
                <a:spcPts val="200"/>
              </a:spcBef>
            </a:pPr>
            <a:r>
              <a:rPr lang="en-US" sz="3800" dirty="0">
                <a:latin typeface="Courier New" panose="02070309020205020404" pitchFamily="49" charset="0"/>
                <a:cs typeface="Courier New" panose="02070309020205020404" pitchFamily="49" charset="0"/>
              </a:rPr>
              <a:t>s = model.NewIntVar(0, 9, 'S')</a:t>
            </a:r>
          </a:p>
          <a:p>
            <a:pPr>
              <a:spcBef>
                <a:spcPts val="200"/>
              </a:spcBef>
            </a:pPr>
            <a:r>
              <a:rPr lang="en-US" sz="3800" dirty="0">
                <a:latin typeface="Courier New" panose="02070309020205020404" pitchFamily="49" charset="0"/>
                <a:cs typeface="Courier New" panose="02070309020205020404" pitchFamily="49" charset="0"/>
              </a:rPr>
              <a:t>f = model.NewIntVar(1, 9, 'F')</a:t>
            </a:r>
          </a:p>
          <a:p>
            <a:pPr>
              <a:spcBef>
                <a:spcPts val="200"/>
              </a:spcBef>
            </a:pPr>
            <a:r>
              <a:rPr lang="en-US" sz="3800" dirty="0">
                <a:latin typeface="Courier New" panose="02070309020205020404" pitchFamily="49" charset="0"/>
                <a:cs typeface="Courier New" panose="02070309020205020404" pitchFamily="49" charset="0"/>
              </a:rPr>
              <a:t>u = model.NewIntVar(0, 9, 'U')</a:t>
            </a:r>
          </a:p>
          <a:p>
            <a:pPr>
              <a:spcBef>
                <a:spcPts val="200"/>
              </a:spcBef>
            </a:pPr>
            <a:r>
              <a:rPr lang="en-US" sz="3800" dirty="0">
                <a:latin typeface="Courier New" panose="02070309020205020404" pitchFamily="49" charset="0"/>
                <a:cs typeface="Courier New" panose="02070309020205020404" pitchFamily="49" charset="0"/>
              </a:rPr>
              <a:t>n = model.NewIntVar(0, 9, 'N')</a:t>
            </a:r>
          </a:p>
          <a:p>
            <a:pPr>
              <a:spcBef>
                <a:spcPts val="200"/>
              </a:spcBef>
            </a:pPr>
            <a:r>
              <a:rPr lang="en-US" sz="3800" dirty="0">
                <a:latin typeface="Courier New" panose="02070309020205020404" pitchFamily="49" charset="0"/>
                <a:cs typeface="Courier New" panose="02070309020205020404" pitchFamily="49" charset="0"/>
              </a:rPr>
              <a:t>t = model.NewIntVar(1, 9, 'T')</a:t>
            </a:r>
          </a:p>
          <a:p>
            <a:pPr>
              <a:spcBef>
                <a:spcPts val="200"/>
              </a:spcBef>
            </a:pPr>
            <a:r>
              <a:rPr lang="en-US" sz="3800" dirty="0">
                <a:latin typeface="Courier New" panose="02070309020205020404" pitchFamily="49" charset="0"/>
                <a:cs typeface="Courier New" panose="02070309020205020404" pitchFamily="49" charset="0"/>
              </a:rPr>
              <a:t>r = model.NewIntVar(0, 9, 'R')</a:t>
            </a:r>
          </a:p>
          <a:p>
            <a:pPr>
              <a:spcBef>
                <a:spcPts val="200"/>
              </a:spcBef>
            </a:pPr>
            <a:r>
              <a:rPr lang="en-US" sz="3800" dirty="0">
                <a:latin typeface="Courier New" panose="02070309020205020404" pitchFamily="49" charset="0"/>
                <a:cs typeface="Courier New" panose="02070309020205020404" pitchFamily="49" charset="0"/>
              </a:rPr>
              <a:t>e = model.NewIntVar(0, 9, 'E')</a:t>
            </a:r>
          </a:p>
          <a:p>
            <a:pPr>
              <a:spcBef>
                <a:spcPts val="200"/>
              </a:spcBef>
            </a:pPr>
            <a:r>
              <a:rPr lang="en-US" sz="3800" i="1" dirty="0">
                <a:solidFill>
                  <a:srgbClr val="00B050"/>
                </a:solidFill>
                <a:latin typeface="Courier New" panose="02070309020205020404" pitchFamily="49" charset="0"/>
                <a:cs typeface="Courier New" panose="02070309020205020404" pitchFamily="49" charset="0"/>
              </a:rPr>
              <a:t># We need to group variables in a list to use the constraint AllDifferent.</a:t>
            </a:r>
          </a:p>
          <a:p>
            <a:pPr>
              <a:spcBef>
                <a:spcPts val="200"/>
              </a:spcBef>
            </a:pPr>
            <a:r>
              <a:rPr lang="en-US" sz="3800" dirty="0">
                <a:latin typeface="Courier New" panose="02070309020205020404" pitchFamily="49" charset="0"/>
                <a:cs typeface="Courier New" panose="02070309020205020404" pitchFamily="49" charset="0"/>
              </a:rPr>
              <a:t>letters = [c, p, i, s, f, u, n, t, r, e]</a:t>
            </a:r>
          </a:p>
          <a:p>
            <a:pPr>
              <a:spcBef>
                <a:spcPts val="200"/>
              </a:spcBef>
            </a:pPr>
            <a:r>
              <a:rPr lang="en-US" sz="3800" i="1" dirty="0">
                <a:solidFill>
                  <a:srgbClr val="00B050"/>
                </a:solidFill>
                <a:latin typeface="Courier New" panose="02070309020205020404" pitchFamily="49" charset="0"/>
                <a:cs typeface="Courier New" panose="02070309020205020404" pitchFamily="49" charset="0"/>
              </a:rPr>
              <a:t># Verify that we have enough digits.</a:t>
            </a:r>
          </a:p>
          <a:p>
            <a:pPr>
              <a:spcBef>
                <a:spcPts val="200"/>
              </a:spcBef>
            </a:pPr>
            <a:r>
              <a:rPr lang="en-US" sz="3800" dirty="0">
                <a:latin typeface="Courier New" panose="02070309020205020404" pitchFamily="49" charset="0"/>
                <a:cs typeface="Courier New" panose="02070309020205020404" pitchFamily="49" charset="0"/>
              </a:rPr>
              <a:t>assert base &gt;= len(letters)</a:t>
            </a:r>
          </a:p>
          <a:p>
            <a:endParaRPr lang="en-US" sz="1400" dirty="0"/>
          </a:p>
        </p:txBody>
      </p:sp>
      <p:sp>
        <p:nvSpPr>
          <p:cNvPr id="7" name="TextBox 6">
            <a:extLst>
              <a:ext uri="{FF2B5EF4-FFF2-40B4-BE49-F238E27FC236}">
                <a16:creationId xmlns:a16="http://schemas.microsoft.com/office/drawing/2014/main" id="{CE23304D-2C38-4EE9-BB17-D27812F13B68}"/>
              </a:ext>
            </a:extLst>
          </p:cNvPr>
          <p:cNvSpPr txBox="1"/>
          <p:nvPr/>
        </p:nvSpPr>
        <p:spPr>
          <a:xfrm>
            <a:off x="534862" y="2144212"/>
            <a:ext cx="5561138" cy="646331"/>
          </a:xfrm>
          <a:prstGeom prst="rect">
            <a:avLst/>
          </a:prstGeom>
          <a:solidFill>
            <a:schemeClr val="bg1">
              <a:lumMod val="95000"/>
            </a:schemeClr>
          </a:solidFill>
        </p:spPr>
        <p:txBody>
          <a:bodyPr wrap="none" rtlCol="0">
            <a:spAutoFit/>
          </a:bodyPr>
          <a:lstStyle/>
          <a:p>
            <a:r>
              <a:rPr lang="sv-SE" b="1" dirty="0">
                <a:solidFill>
                  <a:srgbClr val="00B050"/>
                </a:solidFill>
                <a:latin typeface="Courier New" panose="02070309020205020404" pitchFamily="49" charset="0"/>
                <a:cs typeface="Courier New" panose="02070309020205020404" pitchFamily="49" charset="0"/>
              </a:rPr>
              <a:t>from</a:t>
            </a:r>
            <a:r>
              <a:rPr lang="sv-SE" dirty="0">
                <a:latin typeface="Courier New" panose="02070309020205020404" pitchFamily="49" charset="0"/>
                <a:cs typeface="Courier New" panose="02070309020205020404" pitchFamily="49" charset="0"/>
              </a:rPr>
              <a:t> ortools.sat.python </a:t>
            </a:r>
            <a:r>
              <a:rPr lang="sv-SE" b="1" dirty="0">
                <a:solidFill>
                  <a:srgbClr val="00B050"/>
                </a:solidFill>
                <a:latin typeface="Courier New" panose="02070309020205020404" pitchFamily="49" charset="0"/>
                <a:cs typeface="Courier New" panose="02070309020205020404" pitchFamily="49" charset="0"/>
              </a:rPr>
              <a:t>import</a:t>
            </a:r>
            <a:r>
              <a:rPr lang="sv-SE" dirty="0">
                <a:latin typeface="Courier New" panose="02070309020205020404" pitchFamily="49" charset="0"/>
                <a:cs typeface="Courier New" panose="02070309020205020404" pitchFamily="49" charset="0"/>
              </a:rPr>
              <a:t> cp_model</a:t>
            </a:r>
          </a:p>
          <a:p>
            <a:r>
              <a:rPr lang="sv-SE" dirty="0">
                <a:latin typeface="Courier New" panose="02070309020205020404" pitchFamily="49" charset="0"/>
                <a:cs typeface="Courier New" panose="02070309020205020404" pitchFamily="49" charset="0"/>
              </a:rPr>
              <a:t>model = cp_model.CpModel()</a:t>
            </a:r>
            <a:endParaRPr lang="en-US" dirty="0">
              <a:latin typeface="Courier New" panose="02070309020205020404" pitchFamily="49" charset="0"/>
              <a:cs typeface="Courier New" panose="02070309020205020404" pitchFamily="49" charset="0"/>
            </a:endParaRPr>
          </a:p>
        </p:txBody>
      </p:sp>
      <p:sp>
        <p:nvSpPr>
          <p:cNvPr id="8" name="TextBox 7">
            <a:extLst>
              <a:ext uri="{FF2B5EF4-FFF2-40B4-BE49-F238E27FC236}">
                <a16:creationId xmlns:a16="http://schemas.microsoft.com/office/drawing/2014/main" id="{4CEEE9A3-CC7D-457D-ABDF-033EBC3526F1}"/>
              </a:ext>
            </a:extLst>
          </p:cNvPr>
          <p:cNvSpPr txBox="1"/>
          <p:nvPr/>
        </p:nvSpPr>
        <p:spPr>
          <a:xfrm>
            <a:off x="905617" y="2790543"/>
            <a:ext cx="184731" cy="369332"/>
          </a:xfrm>
          <a:prstGeom prst="rect">
            <a:avLst/>
          </a:prstGeom>
          <a:noFill/>
        </p:spPr>
        <p:txBody>
          <a:bodyPr wrap="none" rtlCol="0">
            <a:spAutoFit/>
          </a:bodyPr>
          <a:lstStyle/>
          <a:p>
            <a:endParaRPr lang="en-US" dirty="0">
              <a:latin typeface="Courier New" panose="02070309020205020404" pitchFamily="49" charset="0"/>
              <a:cs typeface="Courier New" panose="02070309020205020404" pitchFamily="49" charset="0"/>
            </a:endParaRPr>
          </a:p>
        </p:txBody>
      </p:sp>
      <p:sp>
        <p:nvSpPr>
          <p:cNvPr id="10" name="TextBox 9">
            <a:extLst>
              <a:ext uri="{FF2B5EF4-FFF2-40B4-BE49-F238E27FC236}">
                <a16:creationId xmlns:a16="http://schemas.microsoft.com/office/drawing/2014/main" id="{7D766A60-5236-47C8-BD65-D70CB940C63E}"/>
              </a:ext>
            </a:extLst>
          </p:cNvPr>
          <p:cNvSpPr txBox="1"/>
          <p:nvPr/>
        </p:nvSpPr>
        <p:spPr>
          <a:xfrm>
            <a:off x="6381946" y="1241907"/>
            <a:ext cx="5112810" cy="861774"/>
          </a:xfrm>
          <a:prstGeom prst="rect">
            <a:avLst/>
          </a:prstGeom>
          <a:noFill/>
        </p:spPr>
        <p:txBody>
          <a:bodyPr wrap="none" rtlCol="0">
            <a:spAutoFit/>
          </a:bodyPr>
          <a:lstStyle/>
          <a:p>
            <a:pPr marL="233363" indent="-223838">
              <a:buClr>
                <a:srgbClr val="0070C0"/>
              </a:buClr>
              <a:buFont typeface="Arial" panose="020B0604020202020204" pitchFamily="34" charset="0"/>
              <a:buChar char="•"/>
            </a:pPr>
            <a:r>
              <a:rPr lang="en-US" sz="3200" dirty="0">
                <a:solidFill>
                  <a:schemeClr val="accent6">
                    <a:lumMod val="75000"/>
                  </a:schemeClr>
                </a:solidFill>
              </a:rPr>
              <a:t>Step 2</a:t>
            </a:r>
            <a:r>
              <a:rPr lang="en-US" sz="3200" dirty="0"/>
              <a:t>: Set up the variables</a:t>
            </a:r>
          </a:p>
          <a:p>
            <a:endParaRPr lang="en-US" dirty="0"/>
          </a:p>
        </p:txBody>
      </p:sp>
    </p:spTree>
    <p:extLst>
      <p:ext uri="{BB962C8B-B14F-4D97-AF65-F5344CB8AC3E}">
        <p14:creationId xmlns:p14="http://schemas.microsoft.com/office/powerpoint/2010/main" val="376956495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E96C1-94EC-4180-834D-33E9024A0B14}"/>
              </a:ext>
            </a:extLst>
          </p:cNvPr>
          <p:cNvSpPr>
            <a:spLocks noGrp="1"/>
          </p:cNvSpPr>
          <p:nvPr>
            <p:ph type="title"/>
          </p:nvPr>
        </p:nvSpPr>
        <p:spPr/>
        <p:txBody>
          <a:bodyPr>
            <a:normAutofit fontScale="90000"/>
          </a:bodyPr>
          <a:lstStyle/>
          <a:p>
            <a:r>
              <a:rPr lang="en-US" dirty="0"/>
              <a:t>Cryptarithmetic Puzzles Code </a:t>
            </a:r>
          </a:p>
        </p:txBody>
      </p:sp>
      <p:sp>
        <p:nvSpPr>
          <p:cNvPr id="3" name="Content Placeholder 2">
            <a:extLst>
              <a:ext uri="{FF2B5EF4-FFF2-40B4-BE49-F238E27FC236}">
                <a16:creationId xmlns:a16="http://schemas.microsoft.com/office/drawing/2014/main" id="{C60A949A-E079-4413-8D9B-41FB690DBBFF}"/>
              </a:ext>
            </a:extLst>
          </p:cNvPr>
          <p:cNvSpPr>
            <a:spLocks noGrp="1"/>
          </p:cNvSpPr>
          <p:nvPr>
            <p:ph idx="1"/>
          </p:nvPr>
        </p:nvSpPr>
        <p:spPr>
          <a:xfrm>
            <a:off x="304800" y="1228154"/>
            <a:ext cx="11582400" cy="3381554"/>
          </a:xfrm>
        </p:spPr>
        <p:txBody>
          <a:bodyPr>
            <a:normAutofit fontScale="92500" lnSpcReduction="10000"/>
          </a:bodyPr>
          <a:lstStyle/>
          <a:p>
            <a:r>
              <a:rPr lang="en-US" dirty="0">
                <a:solidFill>
                  <a:schemeClr val="accent6">
                    <a:lumMod val="75000"/>
                  </a:schemeClr>
                </a:solidFill>
              </a:rPr>
              <a:t>Step 3</a:t>
            </a:r>
            <a:r>
              <a:rPr lang="en-US" dirty="0"/>
              <a:t>: Identify the </a:t>
            </a:r>
            <a:r>
              <a:rPr lang="en-US" dirty="0">
                <a:solidFill>
                  <a:srgbClr val="C00000"/>
                </a:solidFill>
              </a:rPr>
              <a:t>constraints</a:t>
            </a:r>
          </a:p>
          <a:p>
            <a:pPr lvl="1"/>
            <a:r>
              <a:rPr lang="en-US" dirty="0"/>
              <a:t>The variables are letters and can take on a single digit value</a:t>
            </a:r>
          </a:p>
          <a:p>
            <a:pPr lvl="1"/>
            <a:r>
              <a:rPr lang="en-US" dirty="0"/>
              <a:t>Therefore, we can establish the following constraints</a:t>
            </a:r>
          </a:p>
          <a:p>
            <a:pPr marL="914400" lvl="1" indent="-457200">
              <a:buFont typeface="Wingdings" panose="05000000000000000000" pitchFamily="2" charset="2"/>
              <a:buChar char="§"/>
            </a:pPr>
            <a:r>
              <a:rPr lang="en-US" dirty="0"/>
              <a:t>CP + IS + FUN = TRUE</a:t>
            </a:r>
          </a:p>
          <a:p>
            <a:pPr marL="914400" lvl="1" indent="-457200">
              <a:buFont typeface="Wingdings" panose="05000000000000000000" pitchFamily="2" charset="2"/>
              <a:buChar char="§"/>
            </a:pPr>
            <a:r>
              <a:rPr lang="en-US" dirty="0"/>
              <a:t>Each of the letters must be a different digit</a:t>
            </a:r>
          </a:p>
          <a:p>
            <a:pPr marL="914400" lvl="1" indent="-457200">
              <a:buFont typeface="Wingdings" panose="05000000000000000000" pitchFamily="2" charset="2"/>
              <a:buChar char="§"/>
            </a:pPr>
            <a:r>
              <a:rPr lang="en-US" dirty="0"/>
              <a:t>C, I, F, T ≠ 0 (since leading digit in a number is not zero)</a:t>
            </a:r>
          </a:p>
          <a:p>
            <a:pPr lvl="1"/>
            <a:r>
              <a:rPr lang="en-US" dirty="0"/>
              <a:t>The code below defines the constraints and the objective function</a:t>
            </a:r>
          </a:p>
          <a:p>
            <a:pPr lvl="1"/>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Date Placeholder 3">
            <a:extLst>
              <a:ext uri="{FF2B5EF4-FFF2-40B4-BE49-F238E27FC236}">
                <a16:creationId xmlns:a16="http://schemas.microsoft.com/office/drawing/2014/main" id="{9F30AA26-5EB0-46D0-9B02-98E044A1C297}"/>
              </a:ext>
            </a:extLst>
          </p:cNvPr>
          <p:cNvSpPr>
            <a:spLocks noGrp="1"/>
          </p:cNvSpPr>
          <p:nvPr>
            <p:ph type="dt" sz="half" idx="10"/>
          </p:nvPr>
        </p:nvSpPr>
        <p:spPr/>
        <p:txBody>
          <a:bodyPr/>
          <a:lstStyle/>
          <a:p>
            <a:fld id="{2CA27144-8F6C-4E8A-91EE-CDFA582206E8}" type="datetime1">
              <a:rPr lang="en-US" smtClean="0"/>
              <a:t>10/16/2022</a:t>
            </a:fld>
            <a:endParaRPr lang="en-US" dirty="0"/>
          </a:p>
        </p:txBody>
      </p:sp>
      <p:sp>
        <p:nvSpPr>
          <p:cNvPr id="5" name="Footer Placeholder 4">
            <a:extLst>
              <a:ext uri="{FF2B5EF4-FFF2-40B4-BE49-F238E27FC236}">
                <a16:creationId xmlns:a16="http://schemas.microsoft.com/office/drawing/2014/main" id="{428B3628-A198-458A-9BFA-BFB1BA26A0D9}"/>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A6B631DE-5005-49F0-9A45-C2C0E2ABEC17}"/>
              </a:ext>
            </a:extLst>
          </p:cNvPr>
          <p:cNvSpPr>
            <a:spLocks noGrp="1"/>
          </p:cNvSpPr>
          <p:nvPr>
            <p:ph type="sldNum" sz="quarter" idx="12"/>
          </p:nvPr>
        </p:nvSpPr>
        <p:spPr/>
        <p:txBody>
          <a:bodyPr/>
          <a:lstStyle/>
          <a:p>
            <a:fld id="{B7884E68-CE57-44C0-BE0F-84C629DF22D5}" type="slidenum">
              <a:rPr lang="en-US" dirty="0" smtClean="0"/>
              <a:t>106</a:t>
            </a:fld>
            <a:endParaRPr lang="en-US" dirty="0"/>
          </a:p>
        </p:txBody>
      </p:sp>
      <p:sp>
        <p:nvSpPr>
          <p:cNvPr id="9" name="Content Placeholder 8">
            <a:extLst>
              <a:ext uri="{FF2B5EF4-FFF2-40B4-BE49-F238E27FC236}">
                <a16:creationId xmlns:a16="http://schemas.microsoft.com/office/drawing/2014/main" id="{4223E61F-176E-4AFE-8BED-73BE7F105B94}"/>
              </a:ext>
            </a:extLst>
          </p:cNvPr>
          <p:cNvSpPr>
            <a:spLocks noGrp="1"/>
          </p:cNvSpPr>
          <p:nvPr>
            <p:ph sz="half" idx="4294967295"/>
          </p:nvPr>
        </p:nvSpPr>
        <p:spPr>
          <a:xfrm>
            <a:off x="304800" y="4505248"/>
            <a:ext cx="11755224" cy="1666849"/>
          </a:xfrm>
          <a:solidFill>
            <a:schemeClr val="bg1">
              <a:lumMod val="95000"/>
            </a:schemeClr>
          </a:solidFill>
          <a:ln>
            <a:solidFill>
              <a:schemeClr val="accent1">
                <a:shade val="50000"/>
              </a:schemeClr>
            </a:solidFill>
          </a:ln>
        </p:spPr>
        <p:txBody>
          <a:bodyPr>
            <a:normAutofit fontScale="92500" lnSpcReduction="20000"/>
          </a:bodyPr>
          <a:lstStyle/>
          <a:p>
            <a:pPr>
              <a:spcBef>
                <a:spcPts val="200"/>
              </a:spcBef>
            </a:pPr>
            <a:r>
              <a:rPr lang="en-US" sz="1800" i="1" dirty="0">
                <a:solidFill>
                  <a:srgbClr val="00B050"/>
                </a:solidFill>
                <a:latin typeface="Courier New" panose="02070309020205020404" pitchFamily="49" charset="0"/>
                <a:cs typeface="Courier New" panose="02070309020205020404" pitchFamily="49" charset="0"/>
              </a:rPr>
              <a:t># </a:t>
            </a:r>
            <a:r>
              <a:rPr lang="en-US" sz="2300" i="1" dirty="0">
                <a:solidFill>
                  <a:srgbClr val="00B050"/>
                </a:solidFill>
                <a:latin typeface="Courier New" panose="02070309020205020404" pitchFamily="49" charset="0"/>
                <a:cs typeface="Courier New" panose="02070309020205020404" pitchFamily="49" charset="0"/>
              </a:rPr>
              <a:t>Define the constraints</a:t>
            </a:r>
          </a:p>
          <a:p>
            <a:pPr>
              <a:spcBef>
                <a:spcPts val="200"/>
              </a:spcBef>
            </a:pPr>
            <a:r>
              <a:rPr lang="en-US" sz="2300" dirty="0">
                <a:latin typeface="Courier New" panose="02070309020205020404" pitchFamily="49" charset="0"/>
                <a:cs typeface="Courier New" panose="02070309020205020404" pitchFamily="49" charset="0"/>
              </a:rPr>
              <a:t>model.AddAllDifferent(letters)</a:t>
            </a:r>
          </a:p>
          <a:p>
            <a:pPr>
              <a:spcBef>
                <a:spcPts val="200"/>
              </a:spcBef>
            </a:pPr>
            <a:endParaRPr lang="en-US" sz="2300" dirty="0">
              <a:latin typeface="Courier New" panose="02070309020205020404" pitchFamily="49" charset="0"/>
              <a:cs typeface="Courier New" panose="02070309020205020404" pitchFamily="49" charset="0"/>
            </a:endParaRPr>
          </a:p>
          <a:p>
            <a:pPr>
              <a:spcBef>
                <a:spcPts val="200"/>
              </a:spcBef>
            </a:pPr>
            <a:r>
              <a:rPr lang="en-US" sz="2300" i="1" dirty="0">
                <a:solidFill>
                  <a:srgbClr val="00B050"/>
                </a:solidFill>
                <a:latin typeface="Courier New" panose="02070309020205020404" pitchFamily="49" charset="0"/>
                <a:cs typeface="Courier New" panose="02070309020205020404" pitchFamily="49" charset="0"/>
              </a:rPr>
              <a:t># CP + IS + FUN = TRUE</a:t>
            </a:r>
          </a:p>
          <a:p>
            <a:pPr>
              <a:spcBef>
                <a:spcPts val="200"/>
              </a:spcBef>
            </a:pPr>
            <a:r>
              <a:rPr lang="en-US" sz="2300" dirty="0">
                <a:latin typeface="Courier New" panose="02070309020205020404" pitchFamily="49" charset="0"/>
                <a:cs typeface="Courier New" panose="02070309020205020404" pitchFamily="49" charset="0"/>
              </a:rPr>
              <a:t>model.Add(c * 10 + p + i * 10 + s + f * 10**2 + u * 10 + n == t * 10**3 + r * 10**2 + u * 10 + e)</a:t>
            </a:r>
          </a:p>
        </p:txBody>
      </p:sp>
      <p:sp>
        <p:nvSpPr>
          <p:cNvPr id="8" name="TextBox 7">
            <a:extLst>
              <a:ext uri="{FF2B5EF4-FFF2-40B4-BE49-F238E27FC236}">
                <a16:creationId xmlns:a16="http://schemas.microsoft.com/office/drawing/2014/main" id="{4CEEE9A3-CC7D-457D-ABDF-033EBC3526F1}"/>
              </a:ext>
            </a:extLst>
          </p:cNvPr>
          <p:cNvSpPr txBox="1"/>
          <p:nvPr/>
        </p:nvSpPr>
        <p:spPr>
          <a:xfrm>
            <a:off x="905617" y="2790543"/>
            <a:ext cx="184731" cy="369332"/>
          </a:xfrm>
          <a:prstGeom prst="rect">
            <a:avLst/>
          </a:prstGeom>
          <a:noFill/>
        </p:spPr>
        <p:txBody>
          <a:bodyPr wrap="none" rtlCol="0">
            <a:spAutoFit/>
          </a:bodyPr>
          <a:lstStyle/>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6909028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E96C1-94EC-4180-834D-33E9024A0B14}"/>
              </a:ext>
            </a:extLst>
          </p:cNvPr>
          <p:cNvSpPr>
            <a:spLocks noGrp="1"/>
          </p:cNvSpPr>
          <p:nvPr>
            <p:ph type="title"/>
          </p:nvPr>
        </p:nvSpPr>
        <p:spPr/>
        <p:txBody>
          <a:bodyPr>
            <a:normAutofit fontScale="90000"/>
          </a:bodyPr>
          <a:lstStyle/>
          <a:p>
            <a:r>
              <a:rPr lang="en-US" dirty="0"/>
              <a:t>Cryptarithmetic Puzzles Code </a:t>
            </a:r>
          </a:p>
        </p:txBody>
      </p:sp>
      <p:sp>
        <p:nvSpPr>
          <p:cNvPr id="3" name="Content Placeholder 2">
            <a:extLst>
              <a:ext uri="{FF2B5EF4-FFF2-40B4-BE49-F238E27FC236}">
                <a16:creationId xmlns:a16="http://schemas.microsoft.com/office/drawing/2014/main" id="{C60A949A-E079-4413-8D9B-41FB690DBBFF}"/>
              </a:ext>
            </a:extLst>
          </p:cNvPr>
          <p:cNvSpPr>
            <a:spLocks noGrp="1"/>
          </p:cNvSpPr>
          <p:nvPr>
            <p:ph idx="1"/>
          </p:nvPr>
        </p:nvSpPr>
        <p:spPr>
          <a:xfrm>
            <a:off x="304800" y="1228154"/>
            <a:ext cx="11582400" cy="1401924"/>
          </a:xfrm>
        </p:spPr>
        <p:txBody>
          <a:bodyPr>
            <a:normAutofit lnSpcReduction="10000"/>
          </a:bodyPr>
          <a:lstStyle/>
          <a:p>
            <a:r>
              <a:rPr lang="en-US" dirty="0"/>
              <a:t>Step 4:Printing all Solutions</a:t>
            </a:r>
          </a:p>
          <a:p>
            <a:pPr lvl="1"/>
            <a:r>
              <a:rPr lang="en-US" dirty="0"/>
              <a:t>We want the solver to print solutions as it finds them. The code below does that: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Date Placeholder 3">
            <a:extLst>
              <a:ext uri="{FF2B5EF4-FFF2-40B4-BE49-F238E27FC236}">
                <a16:creationId xmlns:a16="http://schemas.microsoft.com/office/drawing/2014/main" id="{9F30AA26-5EB0-46D0-9B02-98E044A1C297}"/>
              </a:ext>
            </a:extLst>
          </p:cNvPr>
          <p:cNvSpPr>
            <a:spLocks noGrp="1"/>
          </p:cNvSpPr>
          <p:nvPr>
            <p:ph type="dt" sz="half" idx="10"/>
          </p:nvPr>
        </p:nvSpPr>
        <p:spPr/>
        <p:txBody>
          <a:bodyPr/>
          <a:lstStyle/>
          <a:p>
            <a:fld id="{5B067B18-2660-4FB6-9D43-6B257A2908A7}" type="datetime1">
              <a:rPr lang="en-US" smtClean="0"/>
              <a:t>10/16/2022</a:t>
            </a:fld>
            <a:endParaRPr lang="en-US" dirty="0"/>
          </a:p>
        </p:txBody>
      </p:sp>
      <p:sp>
        <p:nvSpPr>
          <p:cNvPr id="5" name="Footer Placeholder 4">
            <a:extLst>
              <a:ext uri="{FF2B5EF4-FFF2-40B4-BE49-F238E27FC236}">
                <a16:creationId xmlns:a16="http://schemas.microsoft.com/office/drawing/2014/main" id="{428B3628-A198-458A-9BFA-BFB1BA26A0D9}"/>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A6B631DE-5005-49F0-9A45-C2C0E2ABEC17}"/>
              </a:ext>
            </a:extLst>
          </p:cNvPr>
          <p:cNvSpPr>
            <a:spLocks noGrp="1"/>
          </p:cNvSpPr>
          <p:nvPr>
            <p:ph type="sldNum" sz="quarter" idx="12"/>
          </p:nvPr>
        </p:nvSpPr>
        <p:spPr/>
        <p:txBody>
          <a:bodyPr/>
          <a:lstStyle/>
          <a:p>
            <a:fld id="{B7884E68-CE57-44C0-BE0F-84C629DF22D5}" type="slidenum">
              <a:rPr lang="en-US" dirty="0" smtClean="0"/>
              <a:t>107</a:t>
            </a:fld>
            <a:endParaRPr lang="en-US" dirty="0"/>
          </a:p>
        </p:txBody>
      </p:sp>
      <p:sp>
        <p:nvSpPr>
          <p:cNvPr id="9" name="Content Placeholder 8">
            <a:extLst>
              <a:ext uri="{FF2B5EF4-FFF2-40B4-BE49-F238E27FC236}">
                <a16:creationId xmlns:a16="http://schemas.microsoft.com/office/drawing/2014/main" id="{4223E61F-176E-4AFE-8BED-73BE7F105B94}"/>
              </a:ext>
            </a:extLst>
          </p:cNvPr>
          <p:cNvSpPr>
            <a:spLocks noGrp="1"/>
          </p:cNvSpPr>
          <p:nvPr>
            <p:ph sz="half" idx="4294967295"/>
          </p:nvPr>
        </p:nvSpPr>
        <p:spPr>
          <a:xfrm>
            <a:off x="304800" y="2479250"/>
            <a:ext cx="11755224" cy="3762930"/>
          </a:xfrm>
          <a:solidFill>
            <a:schemeClr val="bg1">
              <a:lumMod val="95000"/>
            </a:schemeClr>
          </a:solidFill>
          <a:ln>
            <a:solidFill>
              <a:schemeClr val="accent1">
                <a:shade val="50000"/>
              </a:schemeClr>
            </a:solidFill>
          </a:ln>
        </p:spPr>
        <p:txBody>
          <a:bodyPr>
            <a:normAutofit fontScale="92500" lnSpcReduction="10000"/>
          </a:bodyPr>
          <a:lstStyle/>
          <a:p>
            <a:pPr>
              <a:spcBef>
                <a:spcPts val="200"/>
              </a:spcBef>
            </a:pPr>
            <a:r>
              <a:rPr lang="en-US" sz="1600" i="1" dirty="0">
                <a:solidFill>
                  <a:srgbClr val="00B050"/>
                </a:solidFill>
                <a:latin typeface="Courier New" panose="02070309020205020404" pitchFamily="49" charset="0"/>
                <a:cs typeface="Courier New" panose="02070309020205020404" pitchFamily="49" charset="0"/>
              </a:rPr>
              <a:t># Solution Printer Class</a:t>
            </a:r>
          </a:p>
          <a:p>
            <a:pPr>
              <a:spcBef>
                <a:spcPts val="200"/>
              </a:spcBef>
            </a:pPr>
            <a:r>
              <a:rPr lang="en-US" sz="1600" dirty="0">
                <a:latin typeface="Courier New" panose="02070309020205020404" pitchFamily="49" charset="0"/>
                <a:cs typeface="Courier New" panose="02070309020205020404" pitchFamily="49" charset="0"/>
              </a:rPr>
              <a:t>class VarArraySolutionPrinter(cp_model.CpSolverSolutionCallback):  </a:t>
            </a:r>
          </a:p>
          <a:p>
            <a:pPr>
              <a:spcBef>
                <a:spcPts val="200"/>
              </a:spcBef>
            </a:pPr>
            <a:r>
              <a:rPr lang="en-US" sz="1600" dirty="0">
                <a:latin typeface="Courier New" panose="02070309020205020404" pitchFamily="49" charset="0"/>
                <a:cs typeface="Courier New" panose="02070309020205020404" pitchFamily="49" charset="0"/>
              </a:rPr>
              <a:t>    def __init__(self, variables):</a:t>
            </a:r>
          </a:p>
          <a:p>
            <a:pPr>
              <a:spcBef>
                <a:spcPts val="200"/>
              </a:spcBef>
            </a:pPr>
            <a:r>
              <a:rPr lang="en-US" sz="1600" dirty="0">
                <a:latin typeface="Courier New" panose="02070309020205020404" pitchFamily="49" charset="0"/>
                <a:cs typeface="Courier New" panose="02070309020205020404" pitchFamily="49" charset="0"/>
              </a:rPr>
              <a:t>        cp_model.CpSolverSolutionCallback.__init__(self)</a:t>
            </a:r>
          </a:p>
          <a:p>
            <a:pPr>
              <a:spcBef>
                <a:spcPts val="200"/>
              </a:spcBef>
            </a:pPr>
            <a:r>
              <a:rPr lang="en-US" sz="1600" dirty="0">
                <a:latin typeface="Courier New" panose="02070309020205020404" pitchFamily="49" charset="0"/>
                <a:cs typeface="Courier New" panose="02070309020205020404" pitchFamily="49" charset="0"/>
              </a:rPr>
              <a:t>        self.__variables = variables</a:t>
            </a:r>
          </a:p>
          <a:p>
            <a:pPr>
              <a:spcBef>
                <a:spcPts val="200"/>
              </a:spcBef>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self.__solution_count</a:t>
            </a:r>
            <a:r>
              <a:rPr lang="en-US" sz="1600" dirty="0">
                <a:latin typeface="Courier New" panose="02070309020205020404" pitchFamily="49" charset="0"/>
                <a:cs typeface="Courier New" panose="02070309020205020404" pitchFamily="49" charset="0"/>
              </a:rPr>
              <a:t> = 0</a:t>
            </a:r>
          </a:p>
          <a:p>
            <a:pPr>
              <a:spcBef>
                <a:spcPts val="200"/>
              </a:spcBef>
            </a:pPr>
            <a:r>
              <a:rPr lang="en-US" sz="1600" dirty="0">
                <a:latin typeface="Courier New" panose="02070309020205020404" pitchFamily="49" charset="0"/>
                <a:cs typeface="Courier New" panose="02070309020205020404" pitchFamily="49" charset="0"/>
              </a:rPr>
              <a:t>    </a:t>
            </a:r>
          </a:p>
          <a:p>
            <a:pPr>
              <a:spcBef>
                <a:spcPts val="200"/>
              </a:spcBef>
            </a:pPr>
            <a:r>
              <a:rPr lang="en-US" sz="1600" dirty="0">
                <a:latin typeface="Courier New" panose="02070309020205020404" pitchFamily="49" charset="0"/>
                <a:cs typeface="Courier New" panose="02070309020205020404" pitchFamily="49" charset="0"/>
              </a:rPr>
              <a:t>    def on_solution_callback(self):</a:t>
            </a:r>
          </a:p>
          <a:p>
            <a:pPr>
              <a:spcBef>
                <a:spcPts val="200"/>
              </a:spcBef>
            </a:pPr>
            <a:r>
              <a:rPr lang="en-US" sz="1600" dirty="0">
                <a:latin typeface="Courier New" panose="02070309020205020404" pitchFamily="49" charset="0"/>
                <a:cs typeface="Courier New" panose="02070309020205020404" pitchFamily="49" charset="0"/>
              </a:rPr>
              <a:t>        self.__solution_count += 1</a:t>
            </a:r>
          </a:p>
          <a:p>
            <a:pPr>
              <a:spcBef>
                <a:spcPts val="200"/>
              </a:spcBef>
            </a:pPr>
            <a:r>
              <a:rPr lang="en-US" sz="1600" dirty="0">
                <a:latin typeface="Courier New" panose="02070309020205020404" pitchFamily="49" charset="0"/>
                <a:cs typeface="Courier New" panose="02070309020205020404" pitchFamily="49" charset="0"/>
              </a:rPr>
              <a:t>        for v in self.__variables:</a:t>
            </a:r>
          </a:p>
          <a:p>
            <a:pPr>
              <a:spcBef>
                <a:spcPts val="200"/>
              </a:spcBef>
            </a:pPr>
            <a:r>
              <a:rPr lang="en-US" sz="1600" dirty="0">
                <a:latin typeface="Courier New" panose="02070309020205020404" pitchFamily="49" charset="0"/>
                <a:cs typeface="Courier New" panose="02070309020205020404" pitchFamily="49" charset="0"/>
              </a:rPr>
              <a:t>            print('%s=%i ' %(v, self.Value(v)), end='')</a:t>
            </a:r>
          </a:p>
          <a:p>
            <a:pPr>
              <a:spcBef>
                <a:spcPts val="200"/>
              </a:spcBef>
            </a:pPr>
            <a:r>
              <a:rPr lang="en-US" sz="1600" dirty="0">
                <a:latin typeface="Courier New" panose="02070309020205020404" pitchFamily="49" charset="0"/>
                <a:cs typeface="Courier New" panose="02070309020205020404" pitchFamily="49" charset="0"/>
              </a:rPr>
              <a:t>        print()</a:t>
            </a:r>
          </a:p>
          <a:p>
            <a:pPr>
              <a:spcBef>
                <a:spcPts val="200"/>
              </a:spcBef>
            </a:pPr>
            <a:r>
              <a:rPr lang="en-US" sz="1600" dirty="0">
                <a:latin typeface="Courier New" panose="02070309020205020404" pitchFamily="49" charset="0"/>
                <a:cs typeface="Courier New" panose="02070309020205020404" pitchFamily="49" charset="0"/>
              </a:rPr>
              <a:t>    </a:t>
            </a:r>
          </a:p>
          <a:p>
            <a:pPr>
              <a:spcBef>
                <a:spcPts val="200"/>
              </a:spcBef>
            </a:pPr>
            <a:r>
              <a:rPr lang="en-US" sz="1600" dirty="0">
                <a:latin typeface="Courier New" panose="02070309020205020404" pitchFamily="49" charset="0"/>
                <a:cs typeface="Courier New" panose="02070309020205020404" pitchFamily="49" charset="0"/>
              </a:rPr>
              <a:t>    def solution_count(self):</a:t>
            </a:r>
          </a:p>
          <a:p>
            <a:pPr>
              <a:spcBef>
                <a:spcPts val="200"/>
              </a:spcBef>
            </a:pPr>
            <a:r>
              <a:rPr lang="en-US" sz="1600" dirty="0">
                <a:latin typeface="Courier New" panose="02070309020205020404" pitchFamily="49" charset="0"/>
                <a:cs typeface="Courier New" panose="02070309020205020404" pitchFamily="49" charset="0"/>
              </a:rPr>
              <a:t>        return self.__solution_count</a:t>
            </a:r>
          </a:p>
        </p:txBody>
      </p:sp>
      <p:sp>
        <p:nvSpPr>
          <p:cNvPr id="8" name="TextBox 7">
            <a:extLst>
              <a:ext uri="{FF2B5EF4-FFF2-40B4-BE49-F238E27FC236}">
                <a16:creationId xmlns:a16="http://schemas.microsoft.com/office/drawing/2014/main" id="{4CEEE9A3-CC7D-457D-ABDF-033EBC3526F1}"/>
              </a:ext>
            </a:extLst>
          </p:cNvPr>
          <p:cNvSpPr txBox="1"/>
          <p:nvPr/>
        </p:nvSpPr>
        <p:spPr>
          <a:xfrm>
            <a:off x="905617" y="2790543"/>
            <a:ext cx="184731" cy="369332"/>
          </a:xfrm>
          <a:prstGeom prst="rect">
            <a:avLst/>
          </a:prstGeom>
          <a:noFill/>
        </p:spPr>
        <p:txBody>
          <a:bodyPr wrap="none" rtlCol="0">
            <a:spAutoFit/>
          </a:bodyPr>
          <a:lstStyle/>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4774420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E96C1-94EC-4180-834D-33E9024A0B14}"/>
              </a:ext>
            </a:extLst>
          </p:cNvPr>
          <p:cNvSpPr>
            <a:spLocks noGrp="1"/>
          </p:cNvSpPr>
          <p:nvPr>
            <p:ph type="title"/>
          </p:nvPr>
        </p:nvSpPr>
        <p:spPr/>
        <p:txBody>
          <a:bodyPr>
            <a:normAutofit fontScale="90000"/>
          </a:bodyPr>
          <a:lstStyle/>
          <a:p>
            <a:r>
              <a:rPr lang="en-US" dirty="0"/>
              <a:t>Cryptarithmetic Puzzles Code </a:t>
            </a:r>
          </a:p>
        </p:txBody>
      </p:sp>
      <p:sp>
        <p:nvSpPr>
          <p:cNvPr id="3" name="Content Placeholder 2">
            <a:extLst>
              <a:ext uri="{FF2B5EF4-FFF2-40B4-BE49-F238E27FC236}">
                <a16:creationId xmlns:a16="http://schemas.microsoft.com/office/drawing/2014/main" id="{C60A949A-E079-4413-8D9B-41FB690DBBFF}"/>
              </a:ext>
            </a:extLst>
          </p:cNvPr>
          <p:cNvSpPr>
            <a:spLocks noGrp="1"/>
          </p:cNvSpPr>
          <p:nvPr>
            <p:ph idx="1"/>
          </p:nvPr>
        </p:nvSpPr>
        <p:spPr>
          <a:xfrm>
            <a:off x="304800" y="1228153"/>
            <a:ext cx="11582400" cy="5021817"/>
          </a:xfrm>
        </p:spPr>
        <p:txBody>
          <a:bodyPr>
            <a:normAutofit/>
          </a:bodyPr>
          <a:lstStyle/>
          <a:p>
            <a:r>
              <a:rPr lang="en-US" dirty="0">
                <a:solidFill>
                  <a:schemeClr val="accent6">
                    <a:lumMod val="75000"/>
                  </a:schemeClr>
                </a:solidFill>
              </a:rPr>
              <a:t>Step 5</a:t>
            </a:r>
            <a:r>
              <a:rPr lang="en-US" dirty="0"/>
              <a:t>: Invoke the Solver and call the printer.</a:t>
            </a:r>
          </a:p>
          <a:p>
            <a:endParaRPr lang="en-US" dirty="0"/>
          </a:p>
          <a:p>
            <a:endParaRPr lang="en-US" dirty="0"/>
          </a:p>
          <a:p>
            <a:r>
              <a:rPr lang="en-US" dirty="0"/>
              <a:t>Sample Run</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Date Placeholder 3">
            <a:extLst>
              <a:ext uri="{FF2B5EF4-FFF2-40B4-BE49-F238E27FC236}">
                <a16:creationId xmlns:a16="http://schemas.microsoft.com/office/drawing/2014/main" id="{9F30AA26-5EB0-46D0-9B02-98E044A1C297}"/>
              </a:ext>
            </a:extLst>
          </p:cNvPr>
          <p:cNvSpPr>
            <a:spLocks noGrp="1"/>
          </p:cNvSpPr>
          <p:nvPr>
            <p:ph type="dt" sz="half" idx="10"/>
          </p:nvPr>
        </p:nvSpPr>
        <p:spPr/>
        <p:txBody>
          <a:bodyPr/>
          <a:lstStyle/>
          <a:p>
            <a:fld id="{47D0267E-6436-4CA3-8234-CBAF7E8807BB}" type="datetime1">
              <a:rPr lang="en-US" smtClean="0"/>
              <a:t>10/16/2022</a:t>
            </a:fld>
            <a:endParaRPr lang="en-US" dirty="0"/>
          </a:p>
        </p:txBody>
      </p:sp>
      <p:sp>
        <p:nvSpPr>
          <p:cNvPr id="5" name="Footer Placeholder 4">
            <a:extLst>
              <a:ext uri="{FF2B5EF4-FFF2-40B4-BE49-F238E27FC236}">
                <a16:creationId xmlns:a16="http://schemas.microsoft.com/office/drawing/2014/main" id="{428B3628-A198-458A-9BFA-BFB1BA26A0D9}"/>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A6B631DE-5005-49F0-9A45-C2C0E2ABEC17}"/>
              </a:ext>
            </a:extLst>
          </p:cNvPr>
          <p:cNvSpPr>
            <a:spLocks noGrp="1"/>
          </p:cNvSpPr>
          <p:nvPr>
            <p:ph type="sldNum" sz="quarter" idx="12"/>
          </p:nvPr>
        </p:nvSpPr>
        <p:spPr/>
        <p:txBody>
          <a:bodyPr/>
          <a:lstStyle/>
          <a:p>
            <a:fld id="{B7884E68-CE57-44C0-BE0F-84C629DF22D5}" type="slidenum">
              <a:rPr lang="en-US" dirty="0" smtClean="0"/>
              <a:t>108</a:t>
            </a:fld>
            <a:endParaRPr lang="en-US" dirty="0"/>
          </a:p>
        </p:txBody>
      </p:sp>
      <p:sp>
        <p:nvSpPr>
          <p:cNvPr id="9" name="Content Placeholder 8">
            <a:extLst>
              <a:ext uri="{FF2B5EF4-FFF2-40B4-BE49-F238E27FC236}">
                <a16:creationId xmlns:a16="http://schemas.microsoft.com/office/drawing/2014/main" id="{4223E61F-176E-4AFE-8BED-73BE7F105B94}"/>
              </a:ext>
            </a:extLst>
          </p:cNvPr>
          <p:cNvSpPr>
            <a:spLocks noGrp="1"/>
          </p:cNvSpPr>
          <p:nvPr>
            <p:ph sz="half" idx="4294967295"/>
          </p:nvPr>
        </p:nvSpPr>
        <p:spPr>
          <a:xfrm>
            <a:off x="304800" y="1688253"/>
            <a:ext cx="11755224" cy="1286956"/>
          </a:xfrm>
          <a:solidFill>
            <a:schemeClr val="bg1">
              <a:lumMod val="95000"/>
            </a:schemeClr>
          </a:solidFill>
          <a:ln>
            <a:solidFill>
              <a:schemeClr val="accent1">
                <a:shade val="50000"/>
              </a:schemeClr>
            </a:solidFill>
          </a:ln>
        </p:spPr>
        <p:txBody>
          <a:bodyPr>
            <a:normAutofit/>
          </a:bodyPr>
          <a:lstStyle/>
          <a:p>
            <a:pPr>
              <a:spcBef>
                <a:spcPts val="200"/>
              </a:spcBef>
            </a:pPr>
            <a:r>
              <a:rPr lang="en-US" sz="1800" i="1" dirty="0">
                <a:solidFill>
                  <a:srgbClr val="00B050"/>
                </a:solidFill>
                <a:latin typeface="Courier New" panose="02070309020205020404" pitchFamily="49" charset="0"/>
                <a:cs typeface="Courier New" panose="02070309020205020404" pitchFamily="49" charset="0"/>
              </a:rPr>
              <a:t># Call the solver</a:t>
            </a:r>
          </a:p>
          <a:p>
            <a:pPr>
              <a:spcBef>
                <a:spcPts val="200"/>
              </a:spcBef>
            </a:pPr>
            <a:r>
              <a:rPr lang="en-US" sz="1800" dirty="0">
                <a:latin typeface="Courier New" panose="02070309020205020404" pitchFamily="49" charset="0"/>
                <a:cs typeface="Courier New" panose="02070309020205020404" pitchFamily="49" charset="0"/>
              </a:rPr>
              <a:t>solver = cp_model.CpSolver() </a:t>
            </a:r>
          </a:p>
          <a:p>
            <a:pPr>
              <a:spcBef>
                <a:spcPts val="200"/>
              </a:spcBef>
            </a:pPr>
            <a:r>
              <a:rPr lang="en-US" sz="1800" dirty="0">
                <a:latin typeface="Courier New" panose="02070309020205020404" pitchFamily="49" charset="0"/>
                <a:cs typeface="Courier New" panose="02070309020205020404" pitchFamily="49" charset="0"/>
              </a:rPr>
              <a:t>solution_printer = VarArraySolutionPrinter(letters)</a:t>
            </a:r>
          </a:p>
          <a:p>
            <a:pPr>
              <a:spcBef>
                <a:spcPts val="200"/>
              </a:spcBef>
            </a:pPr>
            <a:r>
              <a:rPr lang="en-US" sz="1800" dirty="0">
                <a:latin typeface="Courier New" panose="02070309020205020404" pitchFamily="49" charset="0"/>
                <a:cs typeface="Courier New" panose="02070309020205020404" pitchFamily="49" charset="0"/>
              </a:rPr>
              <a:t>status =  solver.SearchForAllSolutions(model, solution_printer)</a:t>
            </a:r>
          </a:p>
        </p:txBody>
      </p:sp>
      <p:sp>
        <p:nvSpPr>
          <p:cNvPr id="8" name="TextBox 7">
            <a:extLst>
              <a:ext uri="{FF2B5EF4-FFF2-40B4-BE49-F238E27FC236}">
                <a16:creationId xmlns:a16="http://schemas.microsoft.com/office/drawing/2014/main" id="{4CEEE9A3-CC7D-457D-ABDF-033EBC3526F1}"/>
              </a:ext>
            </a:extLst>
          </p:cNvPr>
          <p:cNvSpPr txBox="1"/>
          <p:nvPr/>
        </p:nvSpPr>
        <p:spPr>
          <a:xfrm>
            <a:off x="905617" y="2790543"/>
            <a:ext cx="184731" cy="369332"/>
          </a:xfrm>
          <a:prstGeom prst="rect">
            <a:avLst/>
          </a:prstGeom>
          <a:noFill/>
        </p:spPr>
        <p:txBody>
          <a:bodyPr wrap="none" rtlCol="0">
            <a:spAutoFit/>
          </a:bodyPr>
          <a:lstStyle/>
          <a:p>
            <a:endParaRPr lang="en-US" dirty="0">
              <a:latin typeface="Courier New" panose="02070309020205020404" pitchFamily="49" charset="0"/>
              <a:cs typeface="Courier New" panose="02070309020205020404" pitchFamily="49" charset="0"/>
            </a:endParaRPr>
          </a:p>
        </p:txBody>
      </p:sp>
      <p:sp>
        <p:nvSpPr>
          <p:cNvPr id="10" name="Content Placeholder 8">
            <a:extLst>
              <a:ext uri="{FF2B5EF4-FFF2-40B4-BE49-F238E27FC236}">
                <a16:creationId xmlns:a16="http://schemas.microsoft.com/office/drawing/2014/main" id="{4FDE0DE9-A63A-495D-B6F2-3B14CE994B3F}"/>
              </a:ext>
            </a:extLst>
          </p:cNvPr>
          <p:cNvSpPr txBox="1">
            <a:spLocks/>
          </p:cNvSpPr>
          <p:nvPr/>
        </p:nvSpPr>
        <p:spPr>
          <a:xfrm>
            <a:off x="304800" y="3563332"/>
            <a:ext cx="11755224" cy="2686638"/>
          </a:xfrm>
          <a:prstGeom prst="rect">
            <a:avLst/>
          </a:prstGeom>
          <a:solidFill>
            <a:schemeClr val="bg1">
              <a:lumMod val="95000"/>
            </a:schemeClr>
          </a:solidFill>
          <a:ln>
            <a:solidFill>
              <a:schemeClr val="accent1">
                <a:shade val="50000"/>
              </a:schemeClr>
            </a:solidFill>
          </a:ln>
        </p:spPr>
        <p:txBody>
          <a:bodyPr vert="horz" lIns="0" tIns="45720" rIns="0" bIns="45720" rtlCol="0">
            <a:normAutofit fontScale="92500" lnSpcReduction="20000"/>
          </a:bodyPr>
          <a:lstStyle>
            <a:lvl1pPr marL="91438" indent="-91438" algn="l" defTabSz="914377"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kern="1200">
                <a:solidFill>
                  <a:schemeClr val="tx1"/>
                </a:solidFill>
                <a:latin typeface="+mn-lt"/>
                <a:ea typeface="+mn-ea"/>
                <a:cs typeface="+mn-cs"/>
              </a:defRPr>
            </a:lvl1pPr>
            <a:lvl2pPr marL="384038" indent="-182875"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566914" indent="-18287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3pPr>
            <a:lvl4pPr marL="749789" indent="-182875"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4pPr>
            <a:lvl5pPr marL="932665" indent="-182875"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C=6 P=4 I=3 S=5 F=9 U=2 N=8 T=1 R=0 E=7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C=3 P=4 I=6 S=5 F=9 U=2 N=8 T=1 R=0 E=7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C=3 P=4 I=6 S=8 F=9 U=2 N=5 T=1 R=0 E=7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C=3 P=2 I=6 S=7 F=9 U=8 N=5 T=1 R=0 E=4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C=3 P=2 I=6 S=5 F=9 U=8 N=7 T=1 R=0 E=4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C=2 P=3 I=7 S=6 F=9 U=8 N=5 T=1 R=0 E=4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C=2 P=3 I=7 S=4 F=9 U=6 N=8 T=1 R=0 E=5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C=2 P=3 I=7 S=5 F=9 U=4 N=8 T=1 R=0 E=6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C=2 P=3 I=7 S=8 F=9 U=4 N=5 T=1 R=0 E=6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C=2 P=3 I=7 S=8 F=9 U=6 N=4 T=1 R=0 E=5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C=2 P=3 I=7 S=5 F=9 U=8 N=6 T=1 R=0 E=4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C=7 P=3 I=2 S=5 F=9 U=8 N=6 T=1 R=0 E=4 </a:t>
            </a:r>
          </a:p>
        </p:txBody>
      </p:sp>
    </p:spTree>
    <p:extLst>
      <p:ext uri="{BB962C8B-B14F-4D97-AF65-F5344CB8AC3E}">
        <p14:creationId xmlns:p14="http://schemas.microsoft.com/office/powerpoint/2010/main" val="249392520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E96C1-94EC-4180-834D-33E9024A0B14}"/>
              </a:ext>
            </a:extLst>
          </p:cNvPr>
          <p:cNvSpPr>
            <a:spLocks noGrp="1"/>
          </p:cNvSpPr>
          <p:nvPr>
            <p:ph type="title"/>
          </p:nvPr>
        </p:nvSpPr>
        <p:spPr/>
        <p:txBody>
          <a:bodyPr>
            <a:normAutofit fontScale="90000"/>
          </a:bodyPr>
          <a:lstStyle/>
          <a:p>
            <a:r>
              <a:rPr lang="en-US" dirty="0"/>
              <a:t>Cryptarithmetic Puzzles Code </a:t>
            </a:r>
          </a:p>
        </p:txBody>
      </p:sp>
      <p:sp>
        <p:nvSpPr>
          <p:cNvPr id="3" name="Content Placeholder 2">
            <a:extLst>
              <a:ext uri="{FF2B5EF4-FFF2-40B4-BE49-F238E27FC236}">
                <a16:creationId xmlns:a16="http://schemas.microsoft.com/office/drawing/2014/main" id="{C60A949A-E079-4413-8D9B-41FB690DBBFF}"/>
              </a:ext>
            </a:extLst>
          </p:cNvPr>
          <p:cNvSpPr>
            <a:spLocks noGrp="1"/>
          </p:cNvSpPr>
          <p:nvPr>
            <p:ph idx="1"/>
          </p:nvPr>
        </p:nvSpPr>
        <p:spPr>
          <a:xfrm>
            <a:off x="304800" y="1228153"/>
            <a:ext cx="11582400" cy="5021817"/>
          </a:xfrm>
        </p:spPr>
        <p:txBody>
          <a:bodyPr>
            <a:normAutofit/>
          </a:bodyPr>
          <a:lstStyle/>
          <a:p>
            <a:r>
              <a:rPr lang="en-US" dirty="0">
                <a:solidFill>
                  <a:schemeClr val="accent6">
                    <a:lumMod val="75000"/>
                  </a:schemeClr>
                </a:solidFill>
              </a:rPr>
              <a:t>Step 6</a:t>
            </a:r>
            <a:r>
              <a:rPr lang="en-US" dirty="0"/>
              <a:t>: Analyze Data:</a:t>
            </a:r>
          </a:p>
          <a:p>
            <a:endParaRPr lang="en-US" sz="2400" dirty="0"/>
          </a:p>
          <a:p>
            <a:endParaRPr lang="en-US" sz="2400" dirty="0"/>
          </a:p>
          <a:p>
            <a:endParaRPr lang="en-US" dirty="0"/>
          </a:p>
          <a:p>
            <a:r>
              <a:rPr lang="en-US" dirty="0">
                <a:solidFill>
                  <a:schemeClr val="accent6">
                    <a:lumMod val="75000"/>
                  </a:schemeClr>
                </a:solidFill>
              </a:rPr>
              <a:t>Result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Date Placeholder 3">
            <a:extLst>
              <a:ext uri="{FF2B5EF4-FFF2-40B4-BE49-F238E27FC236}">
                <a16:creationId xmlns:a16="http://schemas.microsoft.com/office/drawing/2014/main" id="{9F30AA26-5EB0-46D0-9B02-98E044A1C297}"/>
              </a:ext>
            </a:extLst>
          </p:cNvPr>
          <p:cNvSpPr>
            <a:spLocks noGrp="1"/>
          </p:cNvSpPr>
          <p:nvPr>
            <p:ph type="dt" sz="half" idx="10"/>
          </p:nvPr>
        </p:nvSpPr>
        <p:spPr/>
        <p:txBody>
          <a:bodyPr/>
          <a:lstStyle/>
          <a:p>
            <a:fld id="{86DD7566-6000-4FF6-A03C-7A6F113C8002}" type="datetime1">
              <a:rPr lang="en-US" smtClean="0"/>
              <a:t>10/16/2022</a:t>
            </a:fld>
            <a:endParaRPr lang="en-US" dirty="0"/>
          </a:p>
        </p:txBody>
      </p:sp>
      <p:sp>
        <p:nvSpPr>
          <p:cNvPr id="5" name="Footer Placeholder 4">
            <a:extLst>
              <a:ext uri="{FF2B5EF4-FFF2-40B4-BE49-F238E27FC236}">
                <a16:creationId xmlns:a16="http://schemas.microsoft.com/office/drawing/2014/main" id="{428B3628-A198-458A-9BFA-BFB1BA26A0D9}"/>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A6B631DE-5005-49F0-9A45-C2C0E2ABEC17}"/>
              </a:ext>
            </a:extLst>
          </p:cNvPr>
          <p:cNvSpPr>
            <a:spLocks noGrp="1"/>
          </p:cNvSpPr>
          <p:nvPr>
            <p:ph type="sldNum" sz="quarter" idx="12"/>
          </p:nvPr>
        </p:nvSpPr>
        <p:spPr/>
        <p:txBody>
          <a:bodyPr/>
          <a:lstStyle/>
          <a:p>
            <a:fld id="{B7884E68-CE57-44C0-BE0F-84C629DF22D5}" type="slidenum">
              <a:rPr lang="en-US" dirty="0" smtClean="0"/>
              <a:t>109</a:t>
            </a:fld>
            <a:endParaRPr lang="en-US" dirty="0"/>
          </a:p>
        </p:txBody>
      </p:sp>
      <p:sp>
        <p:nvSpPr>
          <p:cNvPr id="9" name="Content Placeholder 8">
            <a:extLst>
              <a:ext uri="{FF2B5EF4-FFF2-40B4-BE49-F238E27FC236}">
                <a16:creationId xmlns:a16="http://schemas.microsoft.com/office/drawing/2014/main" id="{4223E61F-176E-4AFE-8BED-73BE7F105B94}"/>
              </a:ext>
            </a:extLst>
          </p:cNvPr>
          <p:cNvSpPr>
            <a:spLocks noGrp="1"/>
          </p:cNvSpPr>
          <p:nvPr>
            <p:ph sz="half" idx="4294967295"/>
          </p:nvPr>
        </p:nvSpPr>
        <p:spPr>
          <a:xfrm>
            <a:off x="304800" y="1688252"/>
            <a:ext cx="11755224" cy="1740748"/>
          </a:xfrm>
          <a:solidFill>
            <a:schemeClr val="bg1">
              <a:lumMod val="95000"/>
            </a:schemeClr>
          </a:solidFill>
          <a:ln>
            <a:solidFill>
              <a:schemeClr val="accent1">
                <a:shade val="50000"/>
              </a:schemeClr>
            </a:solidFill>
          </a:ln>
        </p:spPr>
        <p:txBody>
          <a:bodyPr>
            <a:normAutofit fontScale="92500" lnSpcReduction="20000"/>
          </a:bodyPr>
          <a:lstStyle/>
          <a:p>
            <a:pPr>
              <a:spcBef>
                <a:spcPts val="200"/>
              </a:spcBef>
            </a:pPr>
            <a:r>
              <a:rPr lang="en-US" sz="1800" dirty="0">
                <a:latin typeface="Courier New" panose="02070309020205020404" pitchFamily="49" charset="0"/>
                <a:cs typeface="Courier New" panose="02070309020205020404" pitchFamily="49" charset="0"/>
              </a:rPr>
              <a:t>print()</a:t>
            </a:r>
          </a:p>
          <a:p>
            <a:pPr>
              <a:spcBef>
                <a:spcPts val="200"/>
              </a:spcBef>
            </a:pPr>
            <a:r>
              <a:rPr lang="en-US" sz="1800" dirty="0">
                <a:latin typeface="Courier New" panose="02070309020205020404" pitchFamily="49" charset="0"/>
                <a:cs typeface="Courier New" panose="02070309020205020404" pitchFamily="49" charset="0"/>
              </a:rPr>
              <a:t>print('Statistics')</a:t>
            </a:r>
          </a:p>
          <a:p>
            <a:pPr>
              <a:spcBef>
                <a:spcPts val="200"/>
              </a:spcBef>
            </a:pPr>
            <a:r>
              <a:rPr lang="en-US" sz="1800" dirty="0">
                <a:latin typeface="Courier New" panose="02070309020205020404" pitchFamily="49" charset="0"/>
                <a:cs typeface="Courier New" panose="02070309020205020404" pitchFamily="49" charset="0"/>
              </a:rPr>
              <a:t>print('  - status          : %s' % solver.StatusName(status))</a:t>
            </a:r>
          </a:p>
          <a:p>
            <a:pPr>
              <a:spcBef>
                <a:spcPts val="200"/>
              </a:spcBef>
            </a:pPr>
            <a:r>
              <a:rPr lang="en-US" sz="1800" dirty="0">
                <a:latin typeface="Courier New" panose="02070309020205020404" pitchFamily="49" charset="0"/>
                <a:cs typeface="Courier New" panose="02070309020205020404" pitchFamily="49" charset="0"/>
              </a:rPr>
              <a:t>print('  - conflicts       : %i' % solver.NumConflicts())</a:t>
            </a:r>
          </a:p>
          <a:p>
            <a:pPr>
              <a:spcBef>
                <a:spcPts val="200"/>
              </a:spcBef>
            </a:pPr>
            <a:r>
              <a:rPr lang="en-US" sz="1800" dirty="0">
                <a:latin typeface="Courier New" panose="02070309020205020404" pitchFamily="49" charset="0"/>
                <a:cs typeface="Courier New" panose="02070309020205020404" pitchFamily="49" charset="0"/>
              </a:rPr>
              <a:t>print('  - branches        : %i' % solver.NumBranches())</a:t>
            </a:r>
          </a:p>
          <a:p>
            <a:pPr>
              <a:spcBef>
                <a:spcPts val="200"/>
              </a:spcBef>
            </a:pPr>
            <a:r>
              <a:rPr lang="en-US" sz="1800" dirty="0">
                <a:latin typeface="Courier New" panose="02070309020205020404" pitchFamily="49" charset="0"/>
                <a:cs typeface="Courier New" panose="02070309020205020404" pitchFamily="49" charset="0"/>
              </a:rPr>
              <a:t>print('  - wall time       : %f s' % solver.WallTime())</a:t>
            </a:r>
          </a:p>
          <a:p>
            <a:pPr>
              <a:spcBef>
                <a:spcPts val="200"/>
              </a:spcBef>
            </a:pPr>
            <a:r>
              <a:rPr lang="en-US" sz="1800" dirty="0">
                <a:latin typeface="Courier New" panose="02070309020205020404" pitchFamily="49" charset="0"/>
                <a:cs typeface="Courier New" panose="02070309020205020404" pitchFamily="49" charset="0"/>
              </a:rPr>
              <a:t>print('  - solutions found : %i' % solution_printer.solution_count())</a:t>
            </a:r>
          </a:p>
        </p:txBody>
      </p:sp>
      <p:sp>
        <p:nvSpPr>
          <p:cNvPr id="8" name="TextBox 7">
            <a:extLst>
              <a:ext uri="{FF2B5EF4-FFF2-40B4-BE49-F238E27FC236}">
                <a16:creationId xmlns:a16="http://schemas.microsoft.com/office/drawing/2014/main" id="{4CEEE9A3-CC7D-457D-ABDF-033EBC3526F1}"/>
              </a:ext>
            </a:extLst>
          </p:cNvPr>
          <p:cNvSpPr txBox="1"/>
          <p:nvPr/>
        </p:nvSpPr>
        <p:spPr>
          <a:xfrm>
            <a:off x="905617" y="2790543"/>
            <a:ext cx="184731" cy="369332"/>
          </a:xfrm>
          <a:prstGeom prst="rect">
            <a:avLst/>
          </a:prstGeom>
          <a:noFill/>
        </p:spPr>
        <p:txBody>
          <a:bodyPr wrap="none" rtlCol="0">
            <a:spAutoFit/>
          </a:bodyPr>
          <a:lstStyle/>
          <a:p>
            <a:endParaRPr lang="en-US" dirty="0">
              <a:latin typeface="Courier New" panose="02070309020205020404" pitchFamily="49" charset="0"/>
              <a:cs typeface="Courier New" panose="02070309020205020404" pitchFamily="49" charset="0"/>
            </a:endParaRPr>
          </a:p>
        </p:txBody>
      </p:sp>
      <p:sp>
        <p:nvSpPr>
          <p:cNvPr id="10" name="Content Placeholder 8">
            <a:extLst>
              <a:ext uri="{FF2B5EF4-FFF2-40B4-BE49-F238E27FC236}">
                <a16:creationId xmlns:a16="http://schemas.microsoft.com/office/drawing/2014/main" id="{4FDE0DE9-A63A-495D-B6F2-3B14CE994B3F}"/>
              </a:ext>
            </a:extLst>
          </p:cNvPr>
          <p:cNvSpPr txBox="1">
            <a:spLocks/>
          </p:cNvSpPr>
          <p:nvPr/>
        </p:nvSpPr>
        <p:spPr>
          <a:xfrm>
            <a:off x="304800" y="4126650"/>
            <a:ext cx="11755224" cy="2123319"/>
          </a:xfrm>
          <a:prstGeom prst="rect">
            <a:avLst/>
          </a:prstGeom>
          <a:solidFill>
            <a:schemeClr val="accent3">
              <a:lumMod val="20000"/>
              <a:lumOff val="80000"/>
            </a:schemeClr>
          </a:solidFill>
          <a:ln>
            <a:solidFill>
              <a:schemeClr val="accent1">
                <a:shade val="50000"/>
              </a:schemeClr>
            </a:solidFill>
          </a:ln>
        </p:spPr>
        <p:txBody>
          <a:bodyPr vert="horz" lIns="0" tIns="45720" rIns="0" bIns="45720" rtlCol="0">
            <a:normAutofit/>
          </a:bodyPr>
          <a:lstStyle>
            <a:lvl1pPr marL="91438" indent="-91438" algn="l" defTabSz="914377"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kern="1200">
                <a:solidFill>
                  <a:schemeClr val="tx1"/>
                </a:solidFill>
                <a:latin typeface="+mn-lt"/>
                <a:ea typeface="+mn-ea"/>
                <a:cs typeface="+mn-cs"/>
              </a:defRPr>
            </a:lvl1pPr>
            <a:lvl2pPr marL="384038" indent="-182875"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566914" indent="-18287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3pPr>
            <a:lvl4pPr marL="749789" indent="-182875"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4pPr>
            <a:lvl5pPr marL="932665" indent="-182875"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Statistics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 status          : OPTIMAL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 conflicts       : 179</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 branches        : 828</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 wall time       : 0.071651 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 solutions found : 72</a:t>
            </a:r>
          </a:p>
        </p:txBody>
      </p:sp>
    </p:spTree>
    <p:extLst>
      <p:ext uri="{BB962C8B-B14F-4D97-AF65-F5344CB8AC3E}">
        <p14:creationId xmlns:p14="http://schemas.microsoft.com/office/powerpoint/2010/main" val="351552609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4ACD5-BCBD-4447-A70A-1200002407D5}"/>
              </a:ext>
            </a:extLst>
          </p:cNvPr>
          <p:cNvSpPr>
            <a:spLocks noGrp="1"/>
          </p:cNvSpPr>
          <p:nvPr>
            <p:ph type="title"/>
          </p:nvPr>
        </p:nvSpPr>
        <p:spPr/>
        <p:txBody>
          <a:bodyPr>
            <a:normAutofit fontScale="90000"/>
          </a:bodyPr>
          <a:lstStyle/>
          <a:p>
            <a:r>
              <a:rPr lang="en-US" dirty="0"/>
              <a:t>Conclusion </a:t>
            </a:r>
          </a:p>
        </p:txBody>
      </p:sp>
      <p:sp>
        <p:nvSpPr>
          <p:cNvPr id="3" name="Content Placeholder 2">
            <a:extLst>
              <a:ext uri="{FF2B5EF4-FFF2-40B4-BE49-F238E27FC236}">
                <a16:creationId xmlns:a16="http://schemas.microsoft.com/office/drawing/2014/main" id="{28C7DADB-4CB4-4AC9-AFE0-8F2BEAF33344}"/>
              </a:ext>
            </a:extLst>
          </p:cNvPr>
          <p:cNvSpPr>
            <a:spLocks noGrp="1"/>
          </p:cNvSpPr>
          <p:nvPr>
            <p:ph idx="1"/>
          </p:nvPr>
        </p:nvSpPr>
        <p:spPr/>
        <p:txBody>
          <a:bodyPr>
            <a:normAutofit/>
          </a:bodyPr>
          <a:lstStyle/>
          <a:p>
            <a:r>
              <a:rPr lang="en-US" dirty="0"/>
              <a:t>Constraint Satisfaction Problems consist of variables, associated with finite domains, and constraints which are binary relations specifying permissible value pairs.</a:t>
            </a:r>
          </a:p>
          <a:p>
            <a:r>
              <a:rPr lang="en-US" dirty="0"/>
              <a:t>In CSP, the objective is finding a solution for a problem where you need to satisfy some constraints. This has numerous real life applications including, e.g., scheduling and timetabling.</a:t>
            </a:r>
          </a:p>
          <a:p>
            <a:r>
              <a:rPr lang="en-US" dirty="0"/>
              <a:t>Backtracking search assigns values to variables one-by-one, and backtracks when there is an inconsistent assignment.</a:t>
            </a:r>
          </a:p>
          <a:p>
            <a:r>
              <a:rPr lang="en-US" dirty="0"/>
              <a:t>Improvements such as forward checking, MRV and arc consistency reduce the size of the CSP search space. </a:t>
            </a:r>
          </a:p>
        </p:txBody>
      </p:sp>
      <p:sp>
        <p:nvSpPr>
          <p:cNvPr id="4" name="Date Placeholder 3">
            <a:extLst>
              <a:ext uri="{FF2B5EF4-FFF2-40B4-BE49-F238E27FC236}">
                <a16:creationId xmlns:a16="http://schemas.microsoft.com/office/drawing/2014/main" id="{358F6BEB-F62A-4C43-8CA9-DEBE61E826E0}"/>
              </a:ext>
            </a:extLst>
          </p:cNvPr>
          <p:cNvSpPr>
            <a:spLocks noGrp="1"/>
          </p:cNvSpPr>
          <p:nvPr>
            <p:ph type="dt" sz="half" idx="10"/>
          </p:nvPr>
        </p:nvSpPr>
        <p:spPr/>
        <p:txBody>
          <a:bodyPr/>
          <a:lstStyle/>
          <a:p>
            <a:fld id="{3DD0F9F3-D7E9-46CA-9B02-698150B2C1F4}" type="datetime1">
              <a:rPr lang="en-US" smtClean="0"/>
              <a:t>10/16/2022</a:t>
            </a:fld>
            <a:endParaRPr lang="en-US" dirty="0"/>
          </a:p>
        </p:txBody>
      </p:sp>
      <p:sp>
        <p:nvSpPr>
          <p:cNvPr id="5" name="Footer Placeholder 4">
            <a:extLst>
              <a:ext uri="{FF2B5EF4-FFF2-40B4-BE49-F238E27FC236}">
                <a16:creationId xmlns:a16="http://schemas.microsoft.com/office/drawing/2014/main" id="{895F9B3D-577C-44F9-B255-525B5EA527D9}"/>
              </a:ext>
            </a:extLst>
          </p:cNvPr>
          <p:cNvSpPr>
            <a:spLocks noGrp="1"/>
          </p:cNvSpPr>
          <p:nvPr>
            <p:ph type="ftr" sz="quarter" idx="11"/>
          </p:nvPr>
        </p:nvSpPr>
        <p:spPr/>
        <p:txBody>
          <a:bodyPr/>
          <a:lstStyle/>
          <a:p>
            <a:r>
              <a:rPr lang="en-US" dirty="0"/>
              <a:t>Introduction to AI</a:t>
            </a:r>
          </a:p>
        </p:txBody>
      </p:sp>
      <p:sp>
        <p:nvSpPr>
          <p:cNvPr id="6" name="Slide Number Placeholder 5">
            <a:extLst>
              <a:ext uri="{FF2B5EF4-FFF2-40B4-BE49-F238E27FC236}">
                <a16:creationId xmlns:a16="http://schemas.microsoft.com/office/drawing/2014/main" id="{6C27C355-5669-4C4A-9C7E-AE80175BAC3E}"/>
              </a:ext>
            </a:extLst>
          </p:cNvPr>
          <p:cNvSpPr>
            <a:spLocks noGrp="1"/>
          </p:cNvSpPr>
          <p:nvPr>
            <p:ph type="sldNum" sz="quarter" idx="12"/>
          </p:nvPr>
        </p:nvSpPr>
        <p:spPr/>
        <p:txBody>
          <a:bodyPr/>
          <a:lstStyle/>
          <a:p>
            <a:fld id="{B7884E68-CE57-44C0-BE0F-84C629DF22D5}" type="slidenum">
              <a:rPr lang="en-US" dirty="0" smtClean="0"/>
              <a:t>110</a:t>
            </a:fld>
            <a:endParaRPr lang="en-US" dirty="0"/>
          </a:p>
        </p:txBody>
      </p:sp>
    </p:spTree>
    <p:extLst>
      <p:ext uri="{BB962C8B-B14F-4D97-AF65-F5344CB8AC3E}">
        <p14:creationId xmlns:p14="http://schemas.microsoft.com/office/powerpoint/2010/main" val="1917405079"/>
      </p:ext>
    </p:extLst>
  </p:cSld>
  <p:clrMapOvr>
    <a:masterClrMapping/>
  </p:clrMapOvr>
</p:sld>
</file>

<file path=ppt/theme/theme1.xml><?xml version="1.0" encoding="utf-8"?>
<a:theme xmlns:a="http://schemas.openxmlformats.org/drawingml/2006/main" name="COE292-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COE292-Theme" id="{AA9EC02E-8640-4E8B-ABAB-102FD008F986}" vid="{377DF88B-3CFC-44E3-A6D0-0AB6D06236E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081cb61-e398-45dc-bffa-660ef38892cf">
      <Terms xmlns="http://schemas.microsoft.com/office/infopath/2007/PartnerControls"/>
    </lcf76f155ced4ddcb4097134ff3c332f>
    <TaxCatchAll xmlns="7f717406-bcf4-4632-a055-a82e9b771829" xsi:nil="true"/>
  </documentManagement>
</p:properties>
</file>

<file path=customXml/item3.xml><?xml version="1.0" encoding="utf-8"?>
<sisl xmlns:xsd="http://www.w3.org/2001/XMLSchema" xmlns:xsi="http://www.w3.org/2001/XMLSchema-instance" xmlns="http://www.boldonjames.com/2008/01/sie/internal/label" sislVersion="0" policy="f9677ce1-080b-4051-a037-2610debe14cb" origin="userSelected">
  <element uid="id_classification_nonbusiness" value=""/>
</sisl>
</file>

<file path=customXml/item4.xml><?xml version="1.0" encoding="utf-8"?>
<ct:contentTypeSchema xmlns:ct="http://schemas.microsoft.com/office/2006/metadata/contentType" xmlns:ma="http://schemas.microsoft.com/office/2006/metadata/properties/metaAttributes" ct:_="" ma:_="" ma:contentTypeName="Document" ma:contentTypeID="0x0101006DF943E3E632C44B8B036E58FE4F1402" ma:contentTypeVersion="8" ma:contentTypeDescription="Create a new document." ma:contentTypeScope="" ma:versionID="2a7674b1c7cde56c681aea59d3593d6b">
  <xsd:schema xmlns:xsd="http://www.w3.org/2001/XMLSchema" xmlns:xs="http://www.w3.org/2001/XMLSchema" xmlns:p="http://schemas.microsoft.com/office/2006/metadata/properties" xmlns:ns2="c081cb61-e398-45dc-bffa-660ef38892cf" xmlns:ns3="7f717406-bcf4-4632-a055-a82e9b771829" targetNamespace="http://schemas.microsoft.com/office/2006/metadata/properties" ma:root="true" ma:fieldsID="0141e17e6b00f212db42f54b6eb82f65" ns2:_="" ns3:_="">
    <xsd:import namespace="c081cb61-e398-45dc-bffa-660ef38892cf"/>
    <xsd:import namespace="7f717406-bcf4-4632-a055-a82e9b771829"/>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81cb61-e398-45dc-bffa-660ef38892c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87f4d030-a2bd-4159-b459-856363f4e7ee"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f717406-bcf4-4632-a055-a82e9b771829"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1851412b-5534-4d74-ac80-39f416b630ce}" ma:internalName="TaxCatchAll" ma:showField="CatchAllData" ma:web="7f717406-bcf4-4632-a055-a82e9b7718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688187-AC25-40D2-B9AD-907C499D91AB}">
  <ds:schemaRefs>
    <ds:schemaRef ds:uri="http://schemas.microsoft.com/sharepoint/v3/contenttype/forms"/>
  </ds:schemaRefs>
</ds:datastoreItem>
</file>

<file path=customXml/itemProps2.xml><?xml version="1.0" encoding="utf-8"?>
<ds:datastoreItem xmlns:ds="http://schemas.openxmlformats.org/officeDocument/2006/customXml" ds:itemID="{2965551B-CA23-45D0-B42A-7E341AF308FC}">
  <ds:schemaRefs>
    <ds:schemaRef ds:uri="http://schemas.microsoft.com/office/2006/metadata/properties"/>
    <ds:schemaRef ds:uri="http://purl.org/dc/terms/"/>
    <ds:schemaRef ds:uri="http://purl.org/dc/elements/1.1/"/>
    <ds:schemaRef ds:uri="c081cb61-e398-45dc-bffa-660ef38892cf"/>
    <ds:schemaRef ds:uri="7f717406-bcf4-4632-a055-a82e9b771829"/>
    <ds:schemaRef ds:uri="http://schemas.microsoft.com/office/infopath/2007/PartnerControls"/>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FC5840F9-8E8C-47B2-9C77-A2A212180A14}">
  <ds:schemaRefs>
    <ds:schemaRef ds:uri="http://www.w3.org/2001/XMLSchema"/>
    <ds:schemaRef ds:uri="http://www.boldonjames.com/2008/01/sie/internal/label"/>
  </ds:schemaRefs>
</ds:datastoreItem>
</file>

<file path=customXml/itemProps4.xml><?xml version="1.0" encoding="utf-8"?>
<ds:datastoreItem xmlns:ds="http://schemas.openxmlformats.org/officeDocument/2006/customXml" ds:itemID="{CF17C89A-43FD-4FC2-A149-EC95C82E580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81cb61-e398-45dc-bffa-660ef38892cf"/>
    <ds:schemaRef ds:uri="7f717406-bcf4-4632-a055-a82e9b7718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COE292-Theme</Template>
  <TotalTime>20427</TotalTime>
  <Words>10286</Words>
  <Application>Microsoft Office PowerPoint</Application>
  <PresentationFormat>Widescreen</PresentationFormat>
  <Paragraphs>1835</Paragraphs>
  <Slides>110</Slides>
  <Notes>96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110</vt:i4>
      </vt:variant>
    </vt:vector>
  </HeadingPairs>
  <TitlesOfParts>
    <vt:vector size="121" baseType="lpstr">
      <vt:lpstr>Arial</vt:lpstr>
      <vt:lpstr>Calibri</vt:lpstr>
      <vt:lpstr>Calibri (Body)</vt:lpstr>
      <vt:lpstr>Calibri Light</vt:lpstr>
      <vt:lpstr>Cambria Math</vt:lpstr>
      <vt:lpstr>Corbel</vt:lpstr>
      <vt:lpstr>Courier New</vt:lpstr>
      <vt:lpstr>Segoe Print</vt:lpstr>
      <vt:lpstr>Times New Roman</vt:lpstr>
      <vt:lpstr>Wingdings</vt:lpstr>
      <vt:lpstr>COE292-Theme</vt:lpstr>
      <vt:lpstr>PowerPoint Presentation</vt:lpstr>
      <vt:lpstr>Outline</vt:lpstr>
      <vt:lpstr>Introduction</vt:lpstr>
      <vt:lpstr>Defining Constraint Satisfaction Problems</vt:lpstr>
      <vt:lpstr>Defining Constraint Satisfaction Problems</vt:lpstr>
      <vt:lpstr>Defining Constraint Satisfaction Problems</vt:lpstr>
      <vt:lpstr>Real-World Examples of CSPs</vt:lpstr>
      <vt:lpstr>CSPs as Search Problems</vt:lpstr>
      <vt:lpstr>Backtracking Search</vt:lpstr>
      <vt:lpstr>Backtracking Search algorithm</vt:lpstr>
      <vt:lpstr>Solving CSPs using Backtracking Search</vt:lpstr>
      <vt:lpstr>CSP Example 1 </vt:lpstr>
      <vt:lpstr>CSP Example 1 - Solution </vt:lpstr>
      <vt:lpstr>CSP Example 1 - Solution </vt:lpstr>
      <vt:lpstr>CSP Example 1 - Solution </vt:lpstr>
      <vt:lpstr>CSP Example 1 - Solution </vt:lpstr>
      <vt:lpstr>CSP Example 1 - Solution </vt:lpstr>
      <vt:lpstr>CSP Examples 1: Solution’s search tree </vt:lpstr>
      <vt:lpstr>Map Coloring</vt:lpstr>
      <vt:lpstr>CSP Example 2: Map Coloring</vt:lpstr>
      <vt:lpstr>CSP Example 2: Map Coloring</vt:lpstr>
      <vt:lpstr>CSP Examples 2: Map-coloring – Backtracking </vt:lpstr>
      <vt:lpstr>CSP Examples 2: Map-coloring – Backtracking</vt:lpstr>
      <vt:lpstr>CSP Examples 2: Map-coloring – Backtracking</vt:lpstr>
      <vt:lpstr>CSP Examples 2: Map-coloring – Backtracking</vt:lpstr>
      <vt:lpstr>CSP Examples 2: Map-coloring – Backtracking</vt:lpstr>
      <vt:lpstr>CSP Examples 2: Map-coloring – Backtracking</vt:lpstr>
      <vt:lpstr>CSP Examples 2: Map-coloring – Backtracking</vt:lpstr>
      <vt:lpstr>CSP Examples 2: Map-coloring – Backtracking</vt:lpstr>
      <vt:lpstr>CSP Example 2: Backtracking Algorithm Summary</vt:lpstr>
      <vt:lpstr>CSP Example 2: Backtracking Algorithm Summary</vt:lpstr>
      <vt:lpstr>CSP Example 2: Backtracking Algorithm Summary</vt:lpstr>
      <vt:lpstr>Problems with Backtracking Search</vt:lpstr>
      <vt:lpstr>Improving Backtracking Search</vt:lpstr>
      <vt:lpstr>Backtracking - Forward Checking</vt:lpstr>
      <vt:lpstr>CSP Example 2: Map Coloring - Forward Checking</vt:lpstr>
      <vt:lpstr>CSP Example 2: Map Coloring - Forward Checking</vt:lpstr>
      <vt:lpstr>CSP Example 2: Map Coloring - Forward Checking</vt:lpstr>
      <vt:lpstr>CSP Example 2: Map Coloring - Forward Checking</vt:lpstr>
      <vt:lpstr>CSP Example 2: Map Coloring - Forward Checking</vt:lpstr>
      <vt:lpstr>CSP Example 2: Map Coloring - Forward Checking</vt:lpstr>
      <vt:lpstr>CSP Example 2: Map Coloring - Forward Checking</vt:lpstr>
      <vt:lpstr>CSP Example 2: Map Coloring - Forward Checking - Summary</vt:lpstr>
      <vt:lpstr>CSP Example 2: Map Coloring - Forward Checking - Summary</vt:lpstr>
      <vt:lpstr>Backtracking with Minimum Remaining Values (MRV)</vt:lpstr>
      <vt:lpstr>CSP Examples 2: Map Coloring - MRV</vt:lpstr>
      <vt:lpstr>CSP Examples 2: Map Coloring - MRV</vt:lpstr>
      <vt:lpstr>CSP Examples 2: Map Coloring - MRV</vt:lpstr>
      <vt:lpstr>CSP Examples 2: Map Coloring - MRV</vt:lpstr>
      <vt:lpstr>CSP Examples 2: Map Coloring - MRV</vt:lpstr>
      <vt:lpstr>CSP Examples 2: Map Coloring - MRV</vt:lpstr>
      <vt:lpstr>CSP Examples 2: Map Coloring - MRV</vt:lpstr>
      <vt:lpstr>CSP Examples 2: Map Coloring - MRV</vt:lpstr>
      <vt:lpstr>CSP Examples 2: Map Coloring - MRV</vt:lpstr>
      <vt:lpstr>Consistency</vt:lpstr>
      <vt:lpstr>Constraint Graph </vt:lpstr>
      <vt:lpstr>Consistency of a Single Arc</vt:lpstr>
      <vt:lpstr>Consistency of a Single Arc</vt:lpstr>
      <vt:lpstr>Consistency of an Entire CSP</vt:lpstr>
      <vt:lpstr>Arc Consistency – AC-3 Algorithm</vt:lpstr>
      <vt:lpstr>Arc Consistency – AC-3 algorithm</vt:lpstr>
      <vt:lpstr>AC-3 algorithm - Implementation </vt:lpstr>
      <vt:lpstr>AC-3 algorithm - Implementation </vt:lpstr>
      <vt:lpstr>AC-3 algorithm - Implementation </vt:lpstr>
      <vt:lpstr>AC-3 algorithm - Implementation </vt:lpstr>
      <vt:lpstr>AC-3 algorithm - Implementation </vt:lpstr>
      <vt:lpstr>AC-3 algorithm - Implementation </vt:lpstr>
      <vt:lpstr>AC-3 algorithm - Implementation </vt:lpstr>
      <vt:lpstr>AC-3 algorithm - Implementation </vt:lpstr>
      <vt:lpstr>AC-3 algorithm - Implementation - Summary</vt:lpstr>
      <vt:lpstr>AC-3 algorithm - Implementation - Summary</vt:lpstr>
      <vt:lpstr>AC-3 algorithm - Implementation - Summary</vt:lpstr>
      <vt:lpstr>CSP Example 3: Scheduling </vt:lpstr>
      <vt:lpstr>CSP Example 3: Scheduling </vt:lpstr>
      <vt:lpstr>CSP Example 3: Scheduling </vt:lpstr>
      <vt:lpstr>CSP Example 3: Scheduling – Representation </vt:lpstr>
      <vt:lpstr>CSP Examples 3: Scheduling – Select a Model  </vt:lpstr>
      <vt:lpstr>CSP Example 3: Scheduling – Implement </vt:lpstr>
      <vt:lpstr>CSP Example 3: Scheduling – Implement 2 planes  </vt:lpstr>
      <vt:lpstr>CSP Example 3: Scheduling – Implement 2 planes </vt:lpstr>
      <vt:lpstr>CSP Example 3: Scheduling – Implement 2 planes </vt:lpstr>
      <vt:lpstr>CSP Example 3: Scheduling – Implement 3 planes</vt:lpstr>
      <vt:lpstr>CSP Example 3: Scheduling – Implement 3 planes</vt:lpstr>
      <vt:lpstr>CSP Example 4: Sudoku Puzzle</vt:lpstr>
      <vt:lpstr>CSP Example 4: Sudoku Puzzle - Model</vt:lpstr>
      <vt:lpstr>CSP Example 4: Sudoku Puzzle - Model</vt:lpstr>
      <vt:lpstr>CSP Example 4: Sudoku Puzzle - Model</vt:lpstr>
      <vt:lpstr>CSP Example 4: Sudoku Puzzle - Model</vt:lpstr>
      <vt:lpstr>CSP Example 4: Sudoku Puzzle – Implementation </vt:lpstr>
      <vt:lpstr>CSP: Sudoku Puzzle – Backtracking Example </vt:lpstr>
      <vt:lpstr>CSP: Sudoku – Tree </vt:lpstr>
      <vt:lpstr>CSP: Cryptarithmetic</vt:lpstr>
      <vt:lpstr>CSP: Cryptarithmetic </vt:lpstr>
      <vt:lpstr>CSP: Cryptarithmetic </vt:lpstr>
      <vt:lpstr>CSP: Cryptarithmetic </vt:lpstr>
      <vt:lpstr>CSP: Cryptarithmetic  </vt:lpstr>
      <vt:lpstr>CSP: Cryptarithmetic  </vt:lpstr>
      <vt:lpstr>CSP: Cryptarithmetic  </vt:lpstr>
      <vt:lpstr>CSP: Cryptarithmetic  </vt:lpstr>
      <vt:lpstr>CSP: Cryptarithmetic  </vt:lpstr>
      <vt:lpstr>Cryptarithmetic Puzzles Program </vt:lpstr>
      <vt:lpstr>Cryptarithmetic Puzzles Program </vt:lpstr>
      <vt:lpstr>Cryptarithmetic Puzzles Library  </vt:lpstr>
      <vt:lpstr>Cryptarithmetic Puzzles Modeling </vt:lpstr>
      <vt:lpstr>Cryptarithmetic Puzzles Code </vt:lpstr>
      <vt:lpstr>Cryptarithmetic Puzzles Code </vt:lpstr>
      <vt:lpstr>Cryptarithmetic Puzzles Code </vt:lpstr>
      <vt:lpstr>Cryptarithmetic Puzzles Code </vt:lpstr>
      <vt:lpstr>Cryptarithmetic Puzzles Code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Abdulaziz Yagoub Mahmoud Barnawi</dc:creator>
  <cp:lastModifiedBy>Abdulaziz Yagoub Barnawi</cp:lastModifiedBy>
  <cp:revision>545</cp:revision>
  <dcterms:created xsi:type="dcterms:W3CDTF">2022-01-09T15:26:41Z</dcterms:created>
  <dcterms:modified xsi:type="dcterms:W3CDTF">2022-10-16T10:34:12Z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0x0101006DF943E3E632C44B8B036E58FE4F1402</vt:lpwstr>
  </property>
  <property fmtid="{D5CDD505-2E9C-101B-9397-08002B2CF9AE}" pid="3" name="MediaServiceImageTags">
    <vt:lpwstr/>
  </property>
  <property fmtid="{D5CDD505-2E9C-101B-9397-08002B2CF9AE}" pid="4" name="docIndexRef">
    <vt:lpwstr>72f08746-7def-4178-b1ae-8f405fcb2ff3</vt:lpwstr>
  </property>
  <property fmtid="{D5CDD505-2E9C-101B-9397-08002B2CF9AE}" pid="5" name="bjClsUserRVM">
    <vt:lpwstr>[]</vt:lpwstr>
  </property>
  <property fmtid="{D5CDD505-2E9C-101B-9397-08002B2CF9AE}" pid="6" name="bjSaver">
    <vt:lpwstr>fu0dv9rnluInsNnD9ZD5YBRjU2JporR1</vt:lpwstr>
  </property>
  <property fmtid="{D5CDD505-2E9C-101B-9397-08002B2CF9AE}" pid="7" name="bjDocumentLabelXML">
    <vt:lpwstr>&lt;?xml version="1.0" encoding="us-ascii"?&gt;&lt;sisl xmlns:xsd="http://www.w3.org/2001/XMLSchema" xmlns:xsi="http://www.w3.org/2001/XMLSchema-instance" sislVersion="0" policy="f9677ce1-080b-4051-a037-2610debe14cb" origin="userSelected" xmlns="http://www.boldonj</vt:lpwstr>
  </property>
  <property fmtid="{D5CDD505-2E9C-101B-9397-08002B2CF9AE}" pid="8" name="bjDocumentLabelXML-0">
    <vt:lpwstr>ames.com/2008/01/sie/internal/label"&gt;&lt;element uid="id_classification_nonbusiness" value="" /&gt;&lt;/sisl&gt;</vt:lpwstr>
  </property>
  <property fmtid="{D5CDD505-2E9C-101B-9397-08002B2CF9AE}" pid="9" name="bjDocumentSecurityLabel">
    <vt:lpwstr>Public</vt:lpwstr>
  </property>
</Properties>
</file>