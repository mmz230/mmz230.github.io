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9"/>
  </p:notesMasterIdLst>
  <p:sldIdLst>
    <p:sldId id="257" r:id="rId6"/>
    <p:sldId id="258" r:id="rId7"/>
    <p:sldId id="259" r:id="rId8"/>
    <p:sldId id="551" r:id="rId9"/>
    <p:sldId id="260" r:id="rId10"/>
    <p:sldId id="548" r:id="rId11"/>
    <p:sldId id="549" r:id="rId12"/>
    <p:sldId id="290" r:id="rId13"/>
    <p:sldId id="269" r:id="rId14"/>
    <p:sldId id="303" r:id="rId15"/>
    <p:sldId id="270" r:id="rId16"/>
    <p:sldId id="271" r:id="rId17"/>
    <p:sldId id="292" r:id="rId18"/>
    <p:sldId id="273" r:id="rId19"/>
    <p:sldId id="274" r:id="rId20"/>
    <p:sldId id="279" r:id="rId21"/>
    <p:sldId id="275" r:id="rId22"/>
    <p:sldId id="278" r:id="rId23"/>
    <p:sldId id="304" r:id="rId24"/>
    <p:sldId id="276" r:id="rId25"/>
    <p:sldId id="280" r:id="rId26"/>
    <p:sldId id="293" r:id="rId27"/>
    <p:sldId id="294" r:id="rId28"/>
    <p:sldId id="277" r:id="rId29"/>
    <p:sldId id="281" r:id="rId30"/>
    <p:sldId id="305" r:id="rId31"/>
    <p:sldId id="295" r:id="rId32"/>
    <p:sldId id="296" r:id="rId33"/>
    <p:sldId id="297" r:id="rId34"/>
    <p:sldId id="471" r:id="rId35"/>
    <p:sldId id="299" r:id="rId36"/>
    <p:sldId id="300" r:id="rId37"/>
    <p:sldId id="301" r:id="rId38"/>
    <p:sldId id="306" r:id="rId39"/>
    <p:sldId id="307" r:id="rId40"/>
    <p:sldId id="313" r:id="rId41"/>
    <p:sldId id="308" r:id="rId42"/>
    <p:sldId id="309" r:id="rId43"/>
    <p:sldId id="310" r:id="rId44"/>
    <p:sldId id="311" r:id="rId45"/>
    <p:sldId id="312" r:id="rId46"/>
    <p:sldId id="322" r:id="rId47"/>
    <p:sldId id="323" r:id="rId48"/>
    <p:sldId id="324" r:id="rId49"/>
    <p:sldId id="326" r:id="rId50"/>
    <p:sldId id="489" r:id="rId51"/>
    <p:sldId id="505" r:id="rId52"/>
    <p:sldId id="507" r:id="rId53"/>
    <p:sldId id="508" r:id="rId54"/>
    <p:sldId id="509" r:id="rId55"/>
    <p:sldId id="510" r:id="rId56"/>
    <p:sldId id="511" r:id="rId57"/>
    <p:sldId id="512" r:id="rId58"/>
    <p:sldId id="513" r:id="rId59"/>
    <p:sldId id="514" r:id="rId60"/>
    <p:sldId id="520" r:id="rId61"/>
    <p:sldId id="521" r:id="rId62"/>
    <p:sldId id="523" r:id="rId63"/>
    <p:sldId id="522" r:id="rId64"/>
    <p:sldId id="550" r:id="rId65"/>
    <p:sldId id="525" r:id="rId66"/>
    <p:sldId id="526" r:id="rId67"/>
    <p:sldId id="527" r:id="rId68"/>
    <p:sldId id="528" r:id="rId69"/>
    <p:sldId id="529" r:id="rId70"/>
    <p:sldId id="530" r:id="rId71"/>
    <p:sldId id="531" r:id="rId72"/>
    <p:sldId id="532" r:id="rId73"/>
    <p:sldId id="537" r:id="rId74"/>
    <p:sldId id="533" r:id="rId75"/>
    <p:sldId id="534" r:id="rId76"/>
    <p:sldId id="535" r:id="rId77"/>
    <p:sldId id="536" r:id="rId7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 Jabbar Siddiqui" initials="AJS" lastIdx="2" clrIdx="0">
    <p:extLst>
      <p:ext uri="{19B8F6BF-5375-455C-9EA6-DF929625EA0E}">
        <p15:presenceInfo xmlns:p15="http://schemas.microsoft.com/office/powerpoint/2012/main" userId="S-1-5-21-1454471165-1383384898-1801674531-174930" providerId="AD"/>
      </p:ext>
    </p:extLst>
  </p:cmAuthor>
  <p:cmAuthor id="2" name="Akram Fadhl N. Ahmed" initials="AFNA" lastIdx="6" clrIdx="1">
    <p:extLst>
      <p:ext uri="{19B8F6BF-5375-455C-9EA6-DF929625EA0E}">
        <p15:presenceInfo xmlns:p15="http://schemas.microsoft.com/office/powerpoint/2012/main" userId="Akram Fadhl N. Ahme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263"/>
    <a:srgbClr val="0000CC"/>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36" autoAdjust="0"/>
    <p:restoredTop sz="94660"/>
  </p:normalViewPr>
  <p:slideViewPr>
    <p:cSldViewPr snapToGrid="0">
      <p:cViewPr varScale="1">
        <p:scale>
          <a:sx n="62" d="100"/>
          <a:sy n="62" d="100"/>
        </p:scale>
        <p:origin x="860"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notesMaster" Target="notesMasters/notesMaster1.xml"/><Relationship Id="rId5" Type="http://schemas.openxmlformats.org/officeDocument/2006/relationships/slideMaster" Target="slideMasters/slideMaster1.xml"/><Relationship Id="rId61" Type="http://schemas.openxmlformats.org/officeDocument/2006/relationships/slide" Target="slides/slide56.xml"/><Relationship Id="rId82"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2B948-17DE-4318-A223-FEB17B8C2DD8}" type="datetimeFigureOut">
              <a:rPr lang="en-US" smtClean="0"/>
              <a:t>9/29/2022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1AEB7-B41F-48E3-BCC6-652836A69C2D}" type="slidenum">
              <a:rPr lang="en-US" smtClean="0"/>
              <a:t>‹#›</a:t>
            </a:fld>
            <a:endParaRPr lang="en-US"/>
          </a:p>
        </p:txBody>
      </p:sp>
    </p:spTree>
    <p:extLst>
      <p:ext uri="{BB962C8B-B14F-4D97-AF65-F5344CB8AC3E}">
        <p14:creationId xmlns:p14="http://schemas.microsoft.com/office/powerpoint/2010/main" val="142587795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a:t>
            </a:fld>
            <a:endParaRPr lang="en-US"/>
          </a:p>
        </p:txBody>
      </p:sp>
    </p:spTree>
    <p:extLst>
      <p:ext uri="{BB962C8B-B14F-4D97-AF65-F5344CB8AC3E}">
        <p14:creationId xmlns:p14="http://schemas.microsoft.com/office/powerpoint/2010/main" val="3095980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a:t>
            </a:fld>
            <a:endParaRPr lang="en-US"/>
          </a:p>
        </p:txBody>
      </p:sp>
    </p:spTree>
    <p:extLst>
      <p:ext uri="{BB962C8B-B14F-4D97-AF65-F5344CB8AC3E}">
        <p14:creationId xmlns:p14="http://schemas.microsoft.com/office/powerpoint/2010/main" val="1471443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Knowledge-based agents are those agents who have the capability of maintaining an internal state of knowledge, reason over that knowledge, update their knowledge after observations and take actions. These agents can represent the world with some formal representation and act intelligently</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a:t>
            </a:fld>
            <a:endParaRPr lang="en-US"/>
          </a:p>
        </p:txBody>
      </p:sp>
    </p:spTree>
    <p:extLst>
      <p:ext uri="{BB962C8B-B14F-4D97-AF65-F5344CB8AC3E}">
        <p14:creationId xmlns:p14="http://schemas.microsoft.com/office/powerpoint/2010/main" val="1321882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5</a:t>
            </a:fld>
            <a:endParaRPr lang="en-US"/>
          </a:p>
        </p:txBody>
      </p:sp>
    </p:spTree>
    <p:extLst>
      <p:ext uri="{BB962C8B-B14F-4D97-AF65-F5344CB8AC3E}">
        <p14:creationId xmlns:p14="http://schemas.microsoft.com/office/powerpoint/2010/main" val="4102562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Inferential knowledge approach represents knowledge in the form of formal logics.</a:t>
            </a:r>
          </a:p>
          <a:p>
            <a:r>
              <a:rPr lang="en-US" dirty="0"/>
              <a:t>This approach can be used to derive more facts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7</a:t>
            </a:fld>
            <a:endParaRPr lang="en-US"/>
          </a:p>
        </p:txBody>
      </p:sp>
    </p:spTree>
    <p:extLst>
      <p:ext uri="{BB962C8B-B14F-4D97-AF65-F5344CB8AC3E}">
        <p14:creationId xmlns:p14="http://schemas.microsoft.com/office/powerpoint/2010/main" val="928000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8</a:t>
            </a:fld>
            <a:endParaRPr lang="en-US"/>
          </a:p>
        </p:txBody>
      </p:sp>
    </p:spTree>
    <p:extLst>
      <p:ext uri="{BB962C8B-B14F-4D97-AF65-F5344CB8AC3E}">
        <p14:creationId xmlns:p14="http://schemas.microsoft.com/office/powerpoint/2010/main" val="636985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9</a:t>
            </a:fld>
            <a:endParaRPr lang="en-US"/>
          </a:p>
        </p:txBody>
      </p:sp>
    </p:spTree>
    <p:extLst>
      <p:ext uri="{BB962C8B-B14F-4D97-AF65-F5344CB8AC3E}">
        <p14:creationId xmlns:p14="http://schemas.microsoft.com/office/powerpoint/2010/main" val="13174698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10</a:t>
            </a:fld>
            <a:endParaRPr lang="en-US"/>
          </a:p>
        </p:txBody>
      </p:sp>
    </p:spTree>
    <p:extLst>
      <p:ext uri="{BB962C8B-B14F-4D97-AF65-F5344CB8AC3E}">
        <p14:creationId xmlns:p14="http://schemas.microsoft.com/office/powerpoint/2010/main" val="1577551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11</a:t>
            </a:fld>
            <a:endParaRPr lang="en-US"/>
          </a:p>
        </p:txBody>
      </p:sp>
    </p:spTree>
    <p:extLst>
      <p:ext uri="{BB962C8B-B14F-4D97-AF65-F5344CB8AC3E}">
        <p14:creationId xmlns:p14="http://schemas.microsoft.com/office/powerpoint/2010/main" val="1834972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12</a:t>
            </a:fld>
            <a:endParaRPr lang="en-US"/>
          </a:p>
        </p:txBody>
      </p:sp>
    </p:spTree>
    <p:extLst>
      <p:ext uri="{BB962C8B-B14F-4D97-AF65-F5344CB8AC3E}">
        <p14:creationId xmlns:p14="http://schemas.microsoft.com/office/powerpoint/2010/main" val="4189581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13</a:t>
            </a:fld>
            <a:endParaRPr lang="en-US"/>
          </a:p>
        </p:txBody>
      </p:sp>
    </p:spTree>
    <p:extLst>
      <p:ext uri="{BB962C8B-B14F-4D97-AF65-F5344CB8AC3E}">
        <p14:creationId xmlns:p14="http://schemas.microsoft.com/office/powerpoint/2010/main" val="2910633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14</a:t>
            </a:fld>
            <a:endParaRPr lang="en-US"/>
          </a:p>
        </p:txBody>
      </p:sp>
    </p:spTree>
    <p:extLst>
      <p:ext uri="{BB962C8B-B14F-4D97-AF65-F5344CB8AC3E}">
        <p14:creationId xmlns:p14="http://schemas.microsoft.com/office/powerpoint/2010/main" val="1388060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15</a:t>
            </a:fld>
            <a:endParaRPr lang="en-US"/>
          </a:p>
        </p:txBody>
      </p:sp>
    </p:spTree>
    <p:extLst>
      <p:ext uri="{BB962C8B-B14F-4D97-AF65-F5344CB8AC3E}">
        <p14:creationId xmlns:p14="http://schemas.microsoft.com/office/powerpoint/2010/main" val="5018270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16</a:t>
            </a:fld>
            <a:endParaRPr lang="en-US"/>
          </a:p>
        </p:txBody>
      </p:sp>
    </p:spTree>
    <p:extLst>
      <p:ext uri="{BB962C8B-B14F-4D97-AF65-F5344CB8AC3E}">
        <p14:creationId xmlns:p14="http://schemas.microsoft.com/office/powerpoint/2010/main" val="1144764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17</a:t>
            </a:fld>
            <a:endParaRPr lang="en-US"/>
          </a:p>
        </p:txBody>
      </p:sp>
    </p:spTree>
    <p:extLst>
      <p:ext uri="{BB962C8B-B14F-4D97-AF65-F5344CB8AC3E}">
        <p14:creationId xmlns:p14="http://schemas.microsoft.com/office/powerpoint/2010/main" val="3544894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18</a:t>
            </a:fld>
            <a:endParaRPr lang="en-US"/>
          </a:p>
        </p:txBody>
      </p:sp>
    </p:spTree>
    <p:extLst>
      <p:ext uri="{BB962C8B-B14F-4D97-AF65-F5344CB8AC3E}">
        <p14:creationId xmlns:p14="http://schemas.microsoft.com/office/powerpoint/2010/main" val="1417608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19</a:t>
            </a:fld>
            <a:endParaRPr lang="en-US"/>
          </a:p>
        </p:txBody>
      </p:sp>
    </p:spTree>
    <p:extLst>
      <p:ext uri="{BB962C8B-B14F-4D97-AF65-F5344CB8AC3E}">
        <p14:creationId xmlns:p14="http://schemas.microsoft.com/office/powerpoint/2010/main" val="1547647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20</a:t>
            </a:fld>
            <a:endParaRPr lang="en-US"/>
          </a:p>
        </p:txBody>
      </p:sp>
    </p:spTree>
    <p:extLst>
      <p:ext uri="{BB962C8B-B14F-4D97-AF65-F5344CB8AC3E}">
        <p14:creationId xmlns:p14="http://schemas.microsoft.com/office/powerpoint/2010/main" val="1472804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21</a:t>
            </a:fld>
            <a:endParaRPr lang="en-US"/>
          </a:p>
        </p:txBody>
      </p:sp>
    </p:spTree>
    <p:extLst>
      <p:ext uri="{BB962C8B-B14F-4D97-AF65-F5344CB8AC3E}">
        <p14:creationId xmlns:p14="http://schemas.microsoft.com/office/powerpoint/2010/main" val="3722401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22</a:t>
            </a:fld>
            <a:endParaRPr lang="en-US"/>
          </a:p>
        </p:txBody>
      </p:sp>
    </p:spTree>
    <p:extLst>
      <p:ext uri="{BB962C8B-B14F-4D97-AF65-F5344CB8AC3E}">
        <p14:creationId xmlns:p14="http://schemas.microsoft.com/office/powerpoint/2010/main" val="3852586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23</a:t>
            </a:fld>
            <a:endParaRPr lang="en-US"/>
          </a:p>
        </p:txBody>
      </p:sp>
    </p:spTree>
    <p:extLst>
      <p:ext uri="{BB962C8B-B14F-4D97-AF65-F5344CB8AC3E}">
        <p14:creationId xmlns:p14="http://schemas.microsoft.com/office/powerpoint/2010/main" val="3217141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24</a:t>
            </a:fld>
            <a:endParaRPr lang="en-US"/>
          </a:p>
        </p:txBody>
      </p:sp>
    </p:spTree>
    <p:extLst>
      <p:ext uri="{BB962C8B-B14F-4D97-AF65-F5344CB8AC3E}">
        <p14:creationId xmlns:p14="http://schemas.microsoft.com/office/powerpoint/2010/main" val="91328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25</a:t>
            </a:fld>
            <a:endParaRPr lang="en-US"/>
          </a:p>
        </p:txBody>
      </p:sp>
    </p:spTree>
    <p:extLst>
      <p:ext uri="{BB962C8B-B14F-4D97-AF65-F5344CB8AC3E}">
        <p14:creationId xmlns:p14="http://schemas.microsoft.com/office/powerpoint/2010/main" val="14613457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26</a:t>
            </a:fld>
            <a:endParaRPr lang="en-US"/>
          </a:p>
        </p:txBody>
      </p:sp>
    </p:spTree>
    <p:extLst>
      <p:ext uri="{BB962C8B-B14F-4D97-AF65-F5344CB8AC3E}">
        <p14:creationId xmlns:p14="http://schemas.microsoft.com/office/powerpoint/2010/main" val="3780680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27</a:t>
            </a:fld>
            <a:endParaRPr lang="en-US"/>
          </a:p>
        </p:txBody>
      </p:sp>
    </p:spTree>
    <p:extLst>
      <p:ext uri="{BB962C8B-B14F-4D97-AF65-F5344CB8AC3E}">
        <p14:creationId xmlns:p14="http://schemas.microsoft.com/office/powerpoint/2010/main" val="30430442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28</a:t>
            </a:fld>
            <a:endParaRPr lang="en-US"/>
          </a:p>
        </p:txBody>
      </p:sp>
    </p:spTree>
    <p:extLst>
      <p:ext uri="{BB962C8B-B14F-4D97-AF65-F5344CB8AC3E}">
        <p14:creationId xmlns:p14="http://schemas.microsoft.com/office/powerpoint/2010/main" val="377702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29</a:t>
            </a:fld>
            <a:endParaRPr lang="en-US"/>
          </a:p>
        </p:txBody>
      </p:sp>
    </p:spTree>
    <p:extLst>
      <p:ext uri="{BB962C8B-B14F-4D97-AF65-F5344CB8AC3E}">
        <p14:creationId xmlns:p14="http://schemas.microsoft.com/office/powerpoint/2010/main" val="31462774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30</a:t>
            </a:fld>
            <a:endParaRPr lang="en-US"/>
          </a:p>
        </p:txBody>
      </p:sp>
    </p:spTree>
    <p:extLst>
      <p:ext uri="{BB962C8B-B14F-4D97-AF65-F5344CB8AC3E}">
        <p14:creationId xmlns:p14="http://schemas.microsoft.com/office/powerpoint/2010/main" val="3916826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31</a:t>
            </a:fld>
            <a:endParaRPr lang="en-US"/>
          </a:p>
        </p:txBody>
      </p:sp>
    </p:spTree>
    <p:extLst>
      <p:ext uri="{BB962C8B-B14F-4D97-AF65-F5344CB8AC3E}">
        <p14:creationId xmlns:p14="http://schemas.microsoft.com/office/powerpoint/2010/main" val="478149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32</a:t>
            </a:fld>
            <a:endParaRPr lang="en-US"/>
          </a:p>
        </p:txBody>
      </p:sp>
    </p:spTree>
    <p:extLst>
      <p:ext uri="{BB962C8B-B14F-4D97-AF65-F5344CB8AC3E}">
        <p14:creationId xmlns:p14="http://schemas.microsoft.com/office/powerpoint/2010/main" val="17285771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33</a:t>
            </a:fld>
            <a:endParaRPr lang="en-US"/>
          </a:p>
        </p:txBody>
      </p:sp>
    </p:spTree>
    <p:extLst>
      <p:ext uri="{BB962C8B-B14F-4D97-AF65-F5344CB8AC3E}">
        <p14:creationId xmlns:p14="http://schemas.microsoft.com/office/powerpoint/2010/main" val="3508597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34</a:t>
            </a:fld>
            <a:endParaRPr lang="en-US"/>
          </a:p>
        </p:txBody>
      </p:sp>
    </p:spTree>
    <p:extLst>
      <p:ext uri="{BB962C8B-B14F-4D97-AF65-F5344CB8AC3E}">
        <p14:creationId xmlns:p14="http://schemas.microsoft.com/office/powerpoint/2010/main" val="17426653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35</a:t>
            </a:fld>
            <a:endParaRPr lang="en-US"/>
          </a:p>
        </p:txBody>
      </p:sp>
    </p:spTree>
    <p:extLst>
      <p:ext uri="{BB962C8B-B14F-4D97-AF65-F5344CB8AC3E}">
        <p14:creationId xmlns:p14="http://schemas.microsoft.com/office/powerpoint/2010/main" val="15909373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36</a:t>
            </a:fld>
            <a:endParaRPr lang="en-US"/>
          </a:p>
        </p:txBody>
      </p:sp>
    </p:spTree>
    <p:extLst>
      <p:ext uri="{BB962C8B-B14F-4D97-AF65-F5344CB8AC3E}">
        <p14:creationId xmlns:p14="http://schemas.microsoft.com/office/powerpoint/2010/main" val="20962145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37</a:t>
            </a:fld>
            <a:endParaRPr lang="en-US"/>
          </a:p>
        </p:txBody>
      </p:sp>
    </p:spTree>
    <p:extLst>
      <p:ext uri="{BB962C8B-B14F-4D97-AF65-F5344CB8AC3E}">
        <p14:creationId xmlns:p14="http://schemas.microsoft.com/office/powerpoint/2010/main" val="5568496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38</a:t>
            </a:fld>
            <a:endParaRPr lang="en-US"/>
          </a:p>
        </p:txBody>
      </p:sp>
    </p:spTree>
    <p:extLst>
      <p:ext uri="{BB962C8B-B14F-4D97-AF65-F5344CB8AC3E}">
        <p14:creationId xmlns:p14="http://schemas.microsoft.com/office/powerpoint/2010/main" val="31661071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39</a:t>
            </a:fld>
            <a:endParaRPr lang="en-US"/>
          </a:p>
        </p:txBody>
      </p:sp>
    </p:spTree>
    <p:extLst>
      <p:ext uri="{BB962C8B-B14F-4D97-AF65-F5344CB8AC3E}">
        <p14:creationId xmlns:p14="http://schemas.microsoft.com/office/powerpoint/2010/main" val="11662560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40</a:t>
            </a:fld>
            <a:endParaRPr lang="en-US"/>
          </a:p>
        </p:txBody>
      </p:sp>
    </p:spTree>
    <p:extLst>
      <p:ext uri="{BB962C8B-B14F-4D97-AF65-F5344CB8AC3E}">
        <p14:creationId xmlns:p14="http://schemas.microsoft.com/office/powerpoint/2010/main" val="10817582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41</a:t>
            </a:fld>
            <a:endParaRPr lang="en-US"/>
          </a:p>
        </p:txBody>
      </p:sp>
    </p:spTree>
    <p:extLst>
      <p:ext uri="{BB962C8B-B14F-4D97-AF65-F5344CB8AC3E}">
        <p14:creationId xmlns:p14="http://schemas.microsoft.com/office/powerpoint/2010/main" val="35761373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61</a:t>
            </a:fld>
            <a:endParaRPr lang="en-US"/>
          </a:p>
        </p:txBody>
      </p:sp>
    </p:spTree>
    <p:extLst>
      <p:ext uri="{BB962C8B-B14F-4D97-AF65-F5344CB8AC3E}">
        <p14:creationId xmlns:p14="http://schemas.microsoft.com/office/powerpoint/2010/main" val="13237264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62</a:t>
            </a:fld>
            <a:endParaRPr lang="en-US"/>
          </a:p>
        </p:txBody>
      </p:sp>
    </p:spTree>
    <p:extLst>
      <p:ext uri="{BB962C8B-B14F-4D97-AF65-F5344CB8AC3E}">
        <p14:creationId xmlns:p14="http://schemas.microsoft.com/office/powerpoint/2010/main" val="4875911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63</a:t>
            </a:fld>
            <a:endParaRPr lang="en-US"/>
          </a:p>
        </p:txBody>
      </p:sp>
    </p:spTree>
    <p:extLst>
      <p:ext uri="{BB962C8B-B14F-4D97-AF65-F5344CB8AC3E}">
        <p14:creationId xmlns:p14="http://schemas.microsoft.com/office/powerpoint/2010/main" val="10840184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64</a:t>
            </a:fld>
            <a:endParaRPr lang="en-US"/>
          </a:p>
        </p:txBody>
      </p:sp>
    </p:spTree>
    <p:extLst>
      <p:ext uri="{BB962C8B-B14F-4D97-AF65-F5344CB8AC3E}">
        <p14:creationId xmlns:p14="http://schemas.microsoft.com/office/powerpoint/2010/main" val="1379757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65</a:t>
            </a:fld>
            <a:endParaRPr lang="en-US"/>
          </a:p>
        </p:txBody>
      </p:sp>
    </p:spTree>
    <p:extLst>
      <p:ext uri="{BB962C8B-B14F-4D97-AF65-F5344CB8AC3E}">
        <p14:creationId xmlns:p14="http://schemas.microsoft.com/office/powerpoint/2010/main" val="13297868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66</a:t>
            </a:fld>
            <a:endParaRPr lang="en-US"/>
          </a:p>
        </p:txBody>
      </p:sp>
    </p:spTree>
    <p:extLst>
      <p:ext uri="{BB962C8B-B14F-4D97-AF65-F5344CB8AC3E}">
        <p14:creationId xmlns:p14="http://schemas.microsoft.com/office/powerpoint/2010/main" val="642813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67</a:t>
            </a:fld>
            <a:endParaRPr lang="en-US"/>
          </a:p>
        </p:txBody>
      </p:sp>
    </p:spTree>
    <p:extLst>
      <p:ext uri="{BB962C8B-B14F-4D97-AF65-F5344CB8AC3E}">
        <p14:creationId xmlns:p14="http://schemas.microsoft.com/office/powerpoint/2010/main" val="24222488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68</a:t>
            </a:fld>
            <a:endParaRPr lang="en-US"/>
          </a:p>
        </p:txBody>
      </p:sp>
    </p:spTree>
    <p:extLst>
      <p:ext uri="{BB962C8B-B14F-4D97-AF65-F5344CB8AC3E}">
        <p14:creationId xmlns:p14="http://schemas.microsoft.com/office/powerpoint/2010/main" val="33103553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69</a:t>
            </a:fld>
            <a:endParaRPr lang="en-US"/>
          </a:p>
        </p:txBody>
      </p:sp>
    </p:spTree>
    <p:extLst>
      <p:ext uri="{BB962C8B-B14F-4D97-AF65-F5344CB8AC3E}">
        <p14:creationId xmlns:p14="http://schemas.microsoft.com/office/powerpoint/2010/main" val="42599215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70</a:t>
            </a:fld>
            <a:endParaRPr lang="en-US"/>
          </a:p>
        </p:txBody>
      </p:sp>
    </p:spTree>
    <p:extLst>
      <p:ext uri="{BB962C8B-B14F-4D97-AF65-F5344CB8AC3E}">
        <p14:creationId xmlns:p14="http://schemas.microsoft.com/office/powerpoint/2010/main" val="28636228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71</a:t>
            </a:fld>
            <a:endParaRPr lang="en-US"/>
          </a:p>
        </p:txBody>
      </p:sp>
    </p:spTree>
    <p:extLst>
      <p:ext uri="{BB962C8B-B14F-4D97-AF65-F5344CB8AC3E}">
        <p14:creationId xmlns:p14="http://schemas.microsoft.com/office/powerpoint/2010/main" val="24860184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72</a:t>
            </a:fld>
            <a:endParaRPr lang="en-US"/>
          </a:p>
        </p:txBody>
      </p:sp>
    </p:spTree>
    <p:extLst>
      <p:ext uri="{BB962C8B-B14F-4D97-AF65-F5344CB8AC3E}">
        <p14:creationId xmlns:p14="http://schemas.microsoft.com/office/powerpoint/2010/main" val="23554146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EB1AEB7-B41F-48E3-BCC6-652836A69C2D}" type="slidenum">
              <a:rPr lang="en-US" smtClean="0"/>
              <a:t>73</a:t>
            </a:fld>
            <a:endParaRPr lang="en-US"/>
          </a:p>
        </p:txBody>
      </p:sp>
    </p:spTree>
    <p:extLst>
      <p:ext uri="{BB962C8B-B14F-4D97-AF65-F5344CB8AC3E}">
        <p14:creationId xmlns:p14="http://schemas.microsoft.com/office/powerpoint/2010/main" val="34946675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rgbClr val="006600">
              <a:alpha val="70588"/>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10"/>
          </p:nvPr>
        </p:nvSpPr>
        <p:spPr/>
        <p:txBody>
          <a:bodyPr/>
          <a:lstStyle>
            <a:lvl1pPr>
              <a:defRPr sz="1600">
                <a:solidFill>
                  <a:schemeClr val="bg1"/>
                </a:solidFill>
              </a:defRPr>
            </a:lvl1pPr>
          </a:lstStyle>
          <a:p>
            <a:fld id="{8763C1FE-A311-4D90-BBBB-DA04667BABC9}" type="datetime1">
              <a:rPr lang="en-US" smtClean="0"/>
              <a:t>9/29/2022</a:t>
            </a:fld>
            <a:endParaRPr lang="en-US"/>
          </a:p>
        </p:txBody>
      </p:sp>
      <p:sp>
        <p:nvSpPr>
          <p:cNvPr id="5" name="Footer Placeholder 4"/>
          <p:cNvSpPr>
            <a:spLocks noGrp="1"/>
          </p:cNvSpPr>
          <p:nvPr>
            <p:ph type="ftr" sz="quarter" idx="11"/>
          </p:nvPr>
        </p:nvSpPr>
        <p:spPr/>
        <p:txBody>
          <a:bodyPr/>
          <a:lstStyle>
            <a:lvl1pPr>
              <a:defRPr sz="1600">
                <a:solidFill>
                  <a:schemeClr val="bg1"/>
                </a:solidFill>
              </a:defRPr>
            </a:lvl1pPr>
          </a:lstStyle>
          <a:p>
            <a:r>
              <a:rPr lang="en-US"/>
              <a:t>Introduction to AI</a:t>
            </a:r>
          </a:p>
        </p:txBody>
      </p:sp>
      <p:sp>
        <p:nvSpPr>
          <p:cNvPr id="6" name="Slide Number Placeholder 5"/>
          <p:cNvSpPr>
            <a:spLocks noGrp="1"/>
          </p:cNvSpPr>
          <p:nvPr>
            <p:ph type="sldNum" sz="quarter" idx="12"/>
          </p:nvPr>
        </p:nvSpPr>
        <p:spPr/>
        <p:txBody>
          <a:bodyPr/>
          <a:lstStyle>
            <a:lvl1pPr>
              <a:defRPr sz="1600">
                <a:solidFill>
                  <a:schemeClr val="bg1"/>
                </a:solidFill>
              </a:defRPr>
            </a:lvl1pPr>
          </a:lstStyle>
          <a:p>
            <a:fld id="{75B1DB82-35C9-4076-A5B8-0781B30E89ED}" type="slidenum">
              <a:rPr lang="en-US" smtClean="0"/>
              <a:t>‹#›</a:t>
            </a:fld>
            <a:endParaRPr lang="en-US"/>
          </a:p>
        </p:txBody>
      </p:sp>
      <p:sp>
        <p:nvSpPr>
          <p:cNvPr id="15" name="Text Placeholder 14"/>
          <p:cNvSpPr>
            <a:spLocks noGrp="1"/>
          </p:cNvSpPr>
          <p:nvPr>
            <p:ph type="body" sz="quarter" idx="13"/>
          </p:nvPr>
        </p:nvSpPr>
        <p:spPr>
          <a:xfrm>
            <a:off x="624572" y="4749800"/>
            <a:ext cx="11277600" cy="914400"/>
          </a:xfrm>
        </p:spPr>
        <p:txBody>
          <a:bodyPr>
            <a:noAutofit/>
          </a:bodyPr>
          <a:lstStyle>
            <a:lvl4pPr marL="156629" indent="0" algn="ctr">
              <a:buNone/>
              <a:defRPr sz="4267" baseline="0"/>
            </a:lvl4pPr>
          </a:lstStyle>
          <a:p>
            <a:pPr lvl="0"/>
            <a:r>
              <a:rPr lang="en-US"/>
              <a:t>Edit Master text styles</a:t>
            </a:r>
          </a:p>
        </p:txBody>
      </p:sp>
      <p:sp>
        <p:nvSpPr>
          <p:cNvPr id="16" name="TextBox 15"/>
          <p:cNvSpPr txBox="1"/>
          <p:nvPr/>
        </p:nvSpPr>
        <p:spPr>
          <a:xfrm>
            <a:off x="455628" y="5660231"/>
            <a:ext cx="11277600" cy="379656"/>
          </a:xfrm>
          <a:prstGeom prst="rect">
            <a:avLst/>
          </a:prstGeom>
          <a:noFill/>
        </p:spPr>
        <p:txBody>
          <a:bodyPr wrap="square" rtlCol="0">
            <a:spAutoFit/>
          </a:bodyPr>
          <a:lstStyle/>
          <a:p>
            <a:pPr algn="ctr"/>
            <a:r>
              <a:rPr lang="en-US" sz="1867" dirty="0">
                <a:solidFill>
                  <a:srgbClr val="996600"/>
                </a:solidFill>
              </a:rPr>
              <a:t>Content on these slides was mostly developed by Dr. Akram F. Ahmed, COE Dept.</a:t>
            </a:r>
          </a:p>
        </p:txBody>
      </p:sp>
      <p:sp>
        <p:nvSpPr>
          <p:cNvPr id="17" name="TextBox 16"/>
          <p:cNvSpPr txBox="1"/>
          <p:nvPr/>
        </p:nvSpPr>
        <p:spPr>
          <a:xfrm>
            <a:off x="609600" y="548799"/>
            <a:ext cx="11277600" cy="1528752"/>
          </a:xfrm>
          <a:prstGeom prst="rect">
            <a:avLst/>
          </a:prstGeom>
          <a:noFill/>
        </p:spPr>
        <p:txBody>
          <a:bodyPr wrap="square" lIns="0" rIns="0" rtlCol="0">
            <a:spAutoFit/>
          </a:bodyPr>
          <a:lstStyle/>
          <a:p>
            <a:pPr algn="ctr"/>
            <a:r>
              <a:rPr lang="en-US" sz="4667" dirty="0">
                <a:solidFill>
                  <a:srgbClr val="008000"/>
                </a:solidFill>
              </a:rPr>
              <a:t>COE 292</a:t>
            </a:r>
          </a:p>
          <a:p>
            <a:pPr algn="ctr"/>
            <a:r>
              <a:rPr lang="en-US" sz="4667" dirty="0">
                <a:solidFill>
                  <a:srgbClr val="008000"/>
                </a:solidFill>
              </a:rPr>
              <a:t> Introduction to Artificial Intelligence</a:t>
            </a:r>
          </a:p>
        </p:txBody>
      </p:sp>
      <p:grpSp>
        <p:nvGrpSpPr>
          <p:cNvPr id="13" name="Group 12">
            <a:extLst>
              <a:ext uri="{FF2B5EF4-FFF2-40B4-BE49-F238E27FC236}">
                <a16:creationId xmlns:a16="http://schemas.microsoft.com/office/drawing/2014/main" id="{FBBAFCE8-2EF7-4D77-AE15-DC2F91554DC0}"/>
              </a:ext>
            </a:extLst>
          </p:cNvPr>
          <p:cNvGrpSpPr/>
          <p:nvPr/>
        </p:nvGrpSpPr>
        <p:grpSpPr>
          <a:xfrm>
            <a:off x="4106513" y="2173992"/>
            <a:ext cx="4313719" cy="2474208"/>
            <a:chOff x="1" y="1"/>
            <a:chExt cx="9155896" cy="5173261"/>
          </a:xfrm>
        </p:grpSpPr>
        <p:sp>
          <p:nvSpPr>
            <p:cNvPr id="14" name="Rectangle 13">
              <a:extLst>
                <a:ext uri="{FF2B5EF4-FFF2-40B4-BE49-F238E27FC236}">
                  <a16:creationId xmlns:a16="http://schemas.microsoft.com/office/drawing/2014/main" id="{965C01A5-4EF1-4D2D-931F-790FAC34A3DC}"/>
                </a:ext>
              </a:extLst>
            </p:cNvPr>
            <p:cNvSpPr>
              <a:spLocks noChangeArrowheads="1"/>
            </p:cNvSpPr>
            <p:nvPr/>
          </p:nvSpPr>
          <p:spPr bwMode="auto">
            <a:xfrm>
              <a:off x="2756297" y="1479947"/>
              <a:ext cx="3649266" cy="2215754"/>
            </a:xfrm>
            <a:prstGeom prst="rect">
              <a:avLst/>
            </a:prstGeom>
            <a:noFill/>
            <a:ln w="60325" cap="flat">
              <a:solidFill>
                <a:srgbClr val="00A64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nvGrpSpPr>
            <p:cNvPr id="18" name="Group 17"/>
            <p:cNvGrpSpPr/>
            <p:nvPr/>
          </p:nvGrpSpPr>
          <p:grpSpPr>
            <a:xfrm>
              <a:off x="1" y="1"/>
              <a:ext cx="9155896" cy="5173261"/>
              <a:chOff x="0" y="0"/>
              <a:chExt cx="12207875" cy="6897688"/>
            </a:xfrm>
          </p:grpSpPr>
          <p:sp>
            <p:nvSpPr>
              <p:cNvPr id="21" name="Freeform 20">
                <a:extLst>
                  <a:ext uri="{FF2B5EF4-FFF2-40B4-BE49-F238E27FC236}">
                    <a16:creationId xmlns:a16="http://schemas.microsoft.com/office/drawing/2014/main" id="{B0E1781B-2A28-4946-82E3-F0738AF0F2DA}"/>
                  </a:ext>
                </a:extLst>
              </p:cNvPr>
              <p:cNvSpPr>
                <a:spLocks noEditPoints="1"/>
              </p:cNvSpPr>
              <p:nvPr/>
            </p:nvSpPr>
            <p:spPr bwMode="auto">
              <a:xfrm>
                <a:off x="330200" y="234473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2" name="Freeform 21">
                <a:extLst>
                  <a:ext uri="{FF2B5EF4-FFF2-40B4-BE49-F238E27FC236}">
                    <a16:creationId xmlns:a16="http://schemas.microsoft.com/office/drawing/2014/main" id="{FF33298A-962D-4868-9F85-4F813DCFD817}"/>
                  </a:ext>
                </a:extLst>
              </p:cNvPr>
              <p:cNvSpPr>
                <a:spLocks/>
              </p:cNvSpPr>
              <p:nvPr/>
            </p:nvSpPr>
            <p:spPr bwMode="auto">
              <a:xfrm>
                <a:off x="5611813" y="5299075"/>
                <a:ext cx="514350" cy="461963"/>
              </a:xfrm>
              <a:custGeom>
                <a:avLst/>
                <a:gdLst>
                  <a:gd name="T0" fmla="*/ 324 w 324"/>
                  <a:gd name="T1" fmla="*/ 291 h 291"/>
                  <a:gd name="T2" fmla="*/ 0 w 324"/>
                  <a:gd name="T3" fmla="*/ 291 h 291"/>
                  <a:gd name="T4" fmla="*/ 0 w 324"/>
                  <a:gd name="T5" fmla="*/ 0 h 291"/>
                  <a:gd name="T6" fmla="*/ 57 w 324"/>
                  <a:gd name="T7" fmla="*/ 0 h 291"/>
                  <a:gd name="T8" fmla="*/ 57 w 324"/>
                  <a:gd name="T9" fmla="*/ 233 h 291"/>
                  <a:gd name="T10" fmla="*/ 267 w 324"/>
                  <a:gd name="T11" fmla="*/ 233 h 291"/>
                  <a:gd name="T12" fmla="*/ 267 w 324"/>
                  <a:gd name="T13" fmla="*/ 0 h 291"/>
                  <a:gd name="T14" fmla="*/ 324 w 324"/>
                  <a:gd name="T15" fmla="*/ 0 h 291"/>
                  <a:gd name="T16" fmla="*/ 324 w 324"/>
                  <a:gd name="T17"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4" h="291">
                    <a:moveTo>
                      <a:pt x="324" y="291"/>
                    </a:moveTo>
                    <a:lnTo>
                      <a:pt x="0" y="291"/>
                    </a:lnTo>
                    <a:lnTo>
                      <a:pt x="0" y="0"/>
                    </a:lnTo>
                    <a:lnTo>
                      <a:pt x="57" y="0"/>
                    </a:lnTo>
                    <a:lnTo>
                      <a:pt x="57" y="233"/>
                    </a:lnTo>
                    <a:lnTo>
                      <a:pt x="267" y="233"/>
                    </a:lnTo>
                    <a:lnTo>
                      <a:pt x="267" y="0"/>
                    </a:lnTo>
                    <a:lnTo>
                      <a:pt x="324" y="0"/>
                    </a:lnTo>
                    <a:lnTo>
                      <a:pt x="324" y="29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3" name="Freeform 22">
                <a:extLst>
                  <a:ext uri="{FF2B5EF4-FFF2-40B4-BE49-F238E27FC236}">
                    <a16:creationId xmlns:a16="http://schemas.microsoft.com/office/drawing/2014/main" id="{60D3C279-BB5B-4DAC-A416-F7E9D5EFD71F}"/>
                  </a:ext>
                </a:extLst>
              </p:cNvPr>
              <p:cNvSpPr>
                <a:spLocks/>
              </p:cNvSpPr>
              <p:nvPr/>
            </p:nvSpPr>
            <p:spPr bwMode="auto">
              <a:xfrm>
                <a:off x="3890963" y="5299074"/>
                <a:ext cx="1395413" cy="1558925"/>
              </a:xfrm>
              <a:custGeom>
                <a:avLst/>
                <a:gdLst>
                  <a:gd name="T0" fmla="*/ 58 w 879"/>
                  <a:gd name="T1" fmla="*/ 877 h 877"/>
                  <a:gd name="T2" fmla="*/ 0 w 879"/>
                  <a:gd name="T3" fmla="*/ 877 h 877"/>
                  <a:gd name="T4" fmla="*/ 0 w 879"/>
                  <a:gd name="T5" fmla="*/ 615 h 877"/>
                  <a:gd name="T6" fmla="*/ 821 w 879"/>
                  <a:gd name="T7" fmla="*/ 615 h 877"/>
                  <a:gd name="T8" fmla="*/ 821 w 879"/>
                  <a:gd name="T9" fmla="*/ 0 h 877"/>
                  <a:gd name="T10" fmla="*/ 879 w 879"/>
                  <a:gd name="T11" fmla="*/ 0 h 877"/>
                  <a:gd name="T12" fmla="*/ 879 w 879"/>
                  <a:gd name="T13" fmla="*/ 672 h 877"/>
                  <a:gd name="T14" fmla="*/ 58 w 879"/>
                  <a:gd name="T15" fmla="*/ 672 h 877"/>
                  <a:gd name="T16" fmla="*/ 58 w 879"/>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9" h="877">
                    <a:moveTo>
                      <a:pt x="58" y="877"/>
                    </a:moveTo>
                    <a:lnTo>
                      <a:pt x="0" y="877"/>
                    </a:lnTo>
                    <a:lnTo>
                      <a:pt x="0" y="615"/>
                    </a:lnTo>
                    <a:lnTo>
                      <a:pt x="821" y="615"/>
                    </a:lnTo>
                    <a:lnTo>
                      <a:pt x="821" y="0"/>
                    </a:lnTo>
                    <a:lnTo>
                      <a:pt x="879" y="0"/>
                    </a:lnTo>
                    <a:lnTo>
                      <a:pt x="879" y="672"/>
                    </a:lnTo>
                    <a:lnTo>
                      <a:pt x="58" y="672"/>
                    </a:lnTo>
                    <a:lnTo>
                      <a:pt x="58"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4" name="Freeform 23">
                <a:extLst>
                  <a:ext uri="{FF2B5EF4-FFF2-40B4-BE49-F238E27FC236}">
                    <a16:creationId xmlns:a16="http://schemas.microsoft.com/office/drawing/2014/main" id="{9ABD3A90-6B58-459F-9E4F-9BF49BDA97CA}"/>
                  </a:ext>
                </a:extLst>
              </p:cNvPr>
              <p:cNvSpPr>
                <a:spLocks/>
              </p:cNvSpPr>
              <p:nvPr/>
            </p:nvSpPr>
            <p:spPr bwMode="auto">
              <a:xfrm>
                <a:off x="1363663" y="5253038"/>
                <a:ext cx="3057525" cy="803275"/>
              </a:xfrm>
              <a:custGeom>
                <a:avLst/>
                <a:gdLst>
                  <a:gd name="T0" fmla="*/ 1270 w 1926"/>
                  <a:gd name="T1" fmla="*/ 506 h 506"/>
                  <a:gd name="T2" fmla="*/ 0 w 1926"/>
                  <a:gd name="T3" fmla="*/ 506 h 506"/>
                  <a:gd name="T4" fmla="*/ 0 w 1926"/>
                  <a:gd name="T5" fmla="*/ 448 h 506"/>
                  <a:gd name="T6" fmla="*/ 1251 w 1926"/>
                  <a:gd name="T7" fmla="*/ 448 h 506"/>
                  <a:gd name="T8" fmla="*/ 1893 w 1926"/>
                  <a:gd name="T9" fmla="*/ 0 h 506"/>
                  <a:gd name="T10" fmla="*/ 1926 w 1926"/>
                  <a:gd name="T11" fmla="*/ 45 h 506"/>
                  <a:gd name="T12" fmla="*/ 1270 w 1926"/>
                  <a:gd name="T13" fmla="*/ 506 h 506"/>
                </a:gdLst>
                <a:ahLst/>
                <a:cxnLst>
                  <a:cxn ang="0">
                    <a:pos x="T0" y="T1"/>
                  </a:cxn>
                  <a:cxn ang="0">
                    <a:pos x="T2" y="T3"/>
                  </a:cxn>
                  <a:cxn ang="0">
                    <a:pos x="T4" y="T5"/>
                  </a:cxn>
                  <a:cxn ang="0">
                    <a:pos x="T6" y="T7"/>
                  </a:cxn>
                  <a:cxn ang="0">
                    <a:pos x="T8" y="T9"/>
                  </a:cxn>
                  <a:cxn ang="0">
                    <a:pos x="T10" y="T11"/>
                  </a:cxn>
                  <a:cxn ang="0">
                    <a:pos x="T12" y="T13"/>
                  </a:cxn>
                </a:cxnLst>
                <a:rect l="0" t="0" r="r" b="b"/>
                <a:pathLst>
                  <a:path w="1926" h="506">
                    <a:moveTo>
                      <a:pt x="1270" y="506"/>
                    </a:moveTo>
                    <a:lnTo>
                      <a:pt x="0" y="506"/>
                    </a:lnTo>
                    <a:lnTo>
                      <a:pt x="0" y="448"/>
                    </a:lnTo>
                    <a:lnTo>
                      <a:pt x="1251" y="448"/>
                    </a:lnTo>
                    <a:lnTo>
                      <a:pt x="1893" y="0"/>
                    </a:lnTo>
                    <a:lnTo>
                      <a:pt x="1926" y="45"/>
                    </a:lnTo>
                    <a:lnTo>
                      <a:pt x="1270" y="50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5" name="Freeform 24">
                <a:extLst>
                  <a:ext uri="{FF2B5EF4-FFF2-40B4-BE49-F238E27FC236}">
                    <a16:creationId xmlns:a16="http://schemas.microsoft.com/office/drawing/2014/main" id="{49882A93-2455-4BE3-A203-B5A7C2A1C477}"/>
                  </a:ext>
                </a:extLst>
              </p:cNvPr>
              <p:cNvSpPr>
                <a:spLocks noEditPoints="1"/>
              </p:cNvSpPr>
              <p:nvPr/>
            </p:nvSpPr>
            <p:spPr bwMode="auto">
              <a:xfrm>
                <a:off x="947738" y="531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6" name="Freeform 25">
                <a:extLst>
                  <a:ext uri="{FF2B5EF4-FFF2-40B4-BE49-F238E27FC236}">
                    <a16:creationId xmlns:a16="http://schemas.microsoft.com/office/drawing/2014/main" id="{35DFB328-1E5F-418E-A936-CB01C3AA709B}"/>
                  </a:ext>
                </a:extLst>
              </p:cNvPr>
              <p:cNvSpPr>
                <a:spLocks noEditPoints="1"/>
              </p:cNvSpPr>
              <p:nvPr/>
            </p:nvSpPr>
            <p:spPr bwMode="auto">
              <a:xfrm>
                <a:off x="1106488" y="58435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7" name="Freeform 26">
                <a:extLst>
                  <a:ext uri="{FF2B5EF4-FFF2-40B4-BE49-F238E27FC236}">
                    <a16:creationId xmlns:a16="http://schemas.microsoft.com/office/drawing/2014/main" id="{95D8B28B-BCAA-44F1-AD44-3672123F35E0}"/>
                  </a:ext>
                </a:extLst>
              </p:cNvPr>
              <p:cNvSpPr>
                <a:spLocks noEditPoints="1"/>
              </p:cNvSpPr>
              <p:nvPr/>
            </p:nvSpPr>
            <p:spPr bwMode="auto">
              <a:xfrm>
                <a:off x="488950" y="58435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8" name="Freeform 27">
                <a:extLst>
                  <a:ext uri="{FF2B5EF4-FFF2-40B4-BE49-F238E27FC236}">
                    <a16:creationId xmlns:a16="http://schemas.microsoft.com/office/drawing/2014/main" id="{1F6A1139-BE1A-4B03-AA8C-7F2B97B761A2}"/>
                  </a:ext>
                </a:extLst>
              </p:cNvPr>
              <p:cNvSpPr>
                <a:spLocks noEditPoints="1"/>
              </p:cNvSpPr>
              <p:nvPr/>
            </p:nvSpPr>
            <p:spPr bwMode="auto">
              <a:xfrm>
                <a:off x="207963" y="531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29" name="Freeform 28">
                <a:extLst>
                  <a:ext uri="{FF2B5EF4-FFF2-40B4-BE49-F238E27FC236}">
                    <a16:creationId xmlns:a16="http://schemas.microsoft.com/office/drawing/2014/main" id="{4E287759-C4C4-4DEE-98A8-665AF5456666}"/>
                  </a:ext>
                </a:extLst>
              </p:cNvPr>
              <p:cNvSpPr>
                <a:spLocks noEditPoints="1"/>
              </p:cNvSpPr>
              <p:nvPr/>
            </p:nvSpPr>
            <p:spPr bwMode="auto">
              <a:xfrm>
                <a:off x="795338" y="40608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0" name="Freeform 29">
                <a:extLst>
                  <a:ext uri="{FF2B5EF4-FFF2-40B4-BE49-F238E27FC236}">
                    <a16:creationId xmlns:a16="http://schemas.microsoft.com/office/drawing/2014/main" id="{2A155A82-29DD-449B-AD04-F49B115E905C}"/>
                  </a:ext>
                </a:extLst>
              </p:cNvPr>
              <p:cNvSpPr>
                <a:spLocks noEditPoints="1"/>
              </p:cNvSpPr>
              <p:nvPr/>
            </p:nvSpPr>
            <p:spPr bwMode="auto">
              <a:xfrm>
                <a:off x="215900"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1" name="Freeform 30">
                <a:extLst>
                  <a:ext uri="{FF2B5EF4-FFF2-40B4-BE49-F238E27FC236}">
                    <a16:creationId xmlns:a16="http://schemas.microsoft.com/office/drawing/2014/main" id="{F2D8B5A2-0D89-4949-97BC-3DE1F189530B}"/>
                  </a:ext>
                </a:extLst>
              </p:cNvPr>
              <p:cNvSpPr>
                <a:spLocks noEditPoints="1"/>
              </p:cNvSpPr>
              <p:nvPr/>
            </p:nvSpPr>
            <p:spPr bwMode="auto">
              <a:xfrm>
                <a:off x="5702300" y="58848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2" name="Freeform 31">
                <a:extLst>
                  <a:ext uri="{FF2B5EF4-FFF2-40B4-BE49-F238E27FC236}">
                    <a16:creationId xmlns:a16="http://schemas.microsoft.com/office/drawing/2014/main" id="{2CBAABB5-83DD-4C08-B1E9-A2BB23824662}"/>
                  </a:ext>
                </a:extLst>
              </p:cNvPr>
              <p:cNvSpPr>
                <a:spLocks noEditPoints="1"/>
              </p:cNvSpPr>
              <p:nvPr/>
            </p:nvSpPr>
            <p:spPr bwMode="auto">
              <a:xfrm>
                <a:off x="4641850" y="57642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3" name="Rectangle 32">
                <a:extLst>
                  <a:ext uri="{FF2B5EF4-FFF2-40B4-BE49-F238E27FC236}">
                    <a16:creationId xmlns:a16="http://schemas.microsoft.com/office/drawing/2014/main" id="{43FF8BDC-3425-4474-AFB3-B276B1798C37}"/>
                  </a:ext>
                </a:extLst>
              </p:cNvPr>
              <p:cNvSpPr>
                <a:spLocks noChangeArrowheads="1"/>
              </p:cNvSpPr>
              <p:nvPr/>
            </p:nvSpPr>
            <p:spPr bwMode="auto">
              <a:xfrm>
                <a:off x="6461125" y="5299074"/>
                <a:ext cx="90488" cy="155892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4" name="Freeform 33">
                <a:extLst>
                  <a:ext uri="{FF2B5EF4-FFF2-40B4-BE49-F238E27FC236}">
                    <a16:creationId xmlns:a16="http://schemas.microsoft.com/office/drawing/2014/main" id="{C2E6FEB6-D1EE-4D9E-B90D-68B902C4B803}"/>
                  </a:ext>
                </a:extLst>
              </p:cNvPr>
              <p:cNvSpPr>
                <a:spLocks/>
              </p:cNvSpPr>
              <p:nvPr/>
            </p:nvSpPr>
            <p:spPr bwMode="auto">
              <a:xfrm>
                <a:off x="6884988" y="5299074"/>
                <a:ext cx="1481138" cy="1558925"/>
              </a:xfrm>
              <a:custGeom>
                <a:avLst/>
                <a:gdLst>
                  <a:gd name="T0" fmla="*/ 933 w 933"/>
                  <a:gd name="T1" fmla="*/ 877 h 877"/>
                  <a:gd name="T2" fmla="*/ 876 w 933"/>
                  <a:gd name="T3" fmla="*/ 877 h 877"/>
                  <a:gd name="T4" fmla="*/ 876 w 933"/>
                  <a:gd name="T5" fmla="*/ 467 h 877"/>
                  <a:gd name="T6" fmla="*/ 0 w 933"/>
                  <a:gd name="T7" fmla="*/ 467 h 877"/>
                  <a:gd name="T8" fmla="*/ 0 w 933"/>
                  <a:gd name="T9" fmla="*/ 0 h 877"/>
                  <a:gd name="T10" fmla="*/ 57 w 933"/>
                  <a:gd name="T11" fmla="*/ 0 h 877"/>
                  <a:gd name="T12" fmla="*/ 57 w 933"/>
                  <a:gd name="T13" fmla="*/ 410 h 877"/>
                  <a:gd name="T14" fmla="*/ 933 w 933"/>
                  <a:gd name="T15" fmla="*/ 410 h 877"/>
                  <a:gd name="T16" fmla="*/ 933 w 933"/>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877">
                    <a:moveTo>
                      <a:pt x="933" y="877"/>
                    </a:moveTo>
                    <a:lnTo>
                      <a:pt x="876" y="877"/>
                    </a:lnTo>
                    <a:lnTo>
                      <a:pt x="876" y="467"/>
                    </a:lnTo>
                    <a:lnTo>
                      <a:pt x="0" y="467"/>
                    </a:lnTo>
                    <a:lnTo>
                      <a:pt x="0" y="0"/>
                    </a:lnTo>
                    <a:lnTo>
                      <a:pt x="57" y="0"/>
                    </a:lnTo>
                    <a:lnTo>
                      <a:pt x="57" y="410"/>
                    </a:lnTo>
                    <a:lnTo>
                      <a:pt x="933" y="410"/>
                    </a:lnTo>
                    <a:lnTo>
                      <a:pt x="933"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5" name="Freeform 34">
                <a:extLst>
                  <a:ext uri="{FF2B5EF4-FFF2-40B4-BE49-F238E27FC236}">
                    <a16:creationId xmlns:a16="http://schemas.microsoft.com/office/drawing/2014/main" id="{7E7AFE70-76AA-46DB-A091-97BB05C35744}"/>
                  </a:ext>
                </a:extLst>
              </p:cNvPr>
              <p:cNvSpPr>
                <a:spLocks/>
              </p:cNvSpPr>
              <p:nvPr/>
            </p:nvSpPr>
            <p:spPr bwMode="auto">
              <a:xfrm>
                <a:off x="7308850" y="5299074"/>
                <a:ext cx="1481138" cy="1558925"/>
              </a:xfrm>
              <a:custGeom>
                <a:avLst/>
                <a:gdLst>
                  <a:gd name="T0" fmla="*/ 933 w 933"/>
                  <a:gd name="T1" fmla="*/ 877 h 877"/>
                  <a:gd name="T2" fmla="*/ 876 w 933"/>
                  <a:gd name="T3" fmla="*/ 877 h 877"/>
                  <a:gd name="T4" fmla="*/ 876 w 933"/>
                  <a:gd name="T5" fmla="*/ 314 h 877"/>
                  <a:gd name="T6" fmla="*/ 0 w 933"/>
                  <a:gd name="T7" fmla="*/ 314 h 877"/>
                  <a:gd name="T8" fmla="*/ 0 w 933"/>
                  <a:gd name="T9" fmla="*/ 0 h 877"/>
                  <a:gd name="T10" fmla="*/ 57 w 933"/>
                  <a:gd name="T11" fmla="*/ 0 h 877"/>
                  <a:gd name="T12" fmla="*/ 57 w 933"/>
                  <a:gd name="T13" fmla="*/ 257 h 877"/>
                  <a:gd name="T14" fmla="*/ 933 w 933"/>
                  <a:gd name="T15" fmla="*/ 257 h 877"/>
                  <a:gd name="T16" fmla="*/ 933 w 933"/>
                  <a:gd name="T17" fmla="*/ 877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877">
                    <a:moveTo>
                      <a:pt x="933" y="877"/>
                    </a:moveTo>
                    <a:lnTo>
                      <a:pt x="876" y="877"/>
                    </a:lnTo>
                    <a:lnTo>
                      <a:pt x="876" y="314"/>
                    </a:lnTo>
                    <a:lnTo>
                      <a:pt x="0" y="314"/>
                    </a:lnTo>
                    <a:lnTo>
                      <a:pt x="0" y="0"/>
                    </a:lnTo>
                    <a:lnTo>
                      <a:pt x="57" y="0"/>
                    </a:lnTo>
                    <a:lnTo>
                      <a:pt x="57" y="257"/>
                    </a:lnTo>
                    <a:lnTo>
                      <a:pt x="933" y="257"/>
                    </a:lnTo>
                    <a:lnTo>
                      <a:pt x="933" y="8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6" name="Rectangle 35">
                <a:extLst>
                  <a:ext uri="{FF2B5EF4-FFF2-40B4-BE49-F238E27FC236}">
                    <a16:creationId xmlns:a16="http://schemas.microsoft.com/office/drawing/2014/main" id="{EF39BA17-4B01-4639-9BCF-7638759CA2C9}"/>
                  </a:ext>
                </a:extLst>
              </p:cNvPr>
              <p:cNvSpPr>
                <a:spLocks noChangeArrowheads="1"/>
              </p:cNvSpPr>
              <p:nvPr/>
            </p:nvSpPr>
            <p:spPr bwMode="auto">
              <a:xfrm>
                <a:off x="5824538" y="6173788"/>
                <a:ext cx="90488" cy="684212"/>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7" name="Freeform 36">
                <a:extLst>
                  <a:ext uri="{FF2B5EF4-FFF2-40B4-BE49-F238E27FC236}">
                    <a16:creationId xmlns:a16="http://schemas.microsoft.com/office/drawing/2014/main" id="{E1BAEDAA-B346-4E93-859E-74FEDB940F9C}"/>
                  </a:ext>
                </a:extLst>
              </p:cNvPr>
              <p:cNvSpPr>
                <a:spLocks noEditPoints="1"/>
              </p:cNvSpPr>
              <p:nvPr/>
            </p:nvSpPr>
            <p:spPr bwMode="auto">
              <a:xfrm>
                <a:off x="10150475" y="6049963"/>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8" name="Freeform 37">
                <a:extLst>
                  <a:ext uri="{FF2B5EF4-FFF2-40B4-BE49-F238E27FC236}">
                    <a16:creationId xmlns:a16="http://schemas.microsoft.com/office/drawing/2014/main" id="{4496FB95-FF48-44C5-8A84-EA25F0DE2BAE}"/>
                  </a:ext>
                </a:extLst>
              </p:cNvPr>
              <p:cNvSpPr>
                <a:spLocks noEditPoints="1"/>
              </p:cNvSpPr>
              <p:nvPr/>
            </p:nvSpPr>
            <p:spPr bwMode="auto">
              <a:xfrm>
                <a:off x="10150475" y="42195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39" name="Freeform 38">
                <a:extLst>
                  <a:ext uri="{FF2B5EF4-FFF2-40B4-BE49-F238E27FC236}">
                    <a16:creationId xmlns:a16="http://schemas.microsoft.com/office/drawing/2014/main" id="{276B9B64-9131-4AAE-B9FF-E412E55817B0}"/>
                  </a:ext>
                </a:extLst>
              </p:cNvPr>
              <p:cNvSpPr>
                <a:spLocks noEditPoints="1"/>
              </p:cNvSpPr>
              <p:nvPr/>
            </p:nvSpPr>
            <p:spPr bwMode="auto">
              <a:xfrm>
                <a:off x="10150475" y="48863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0" name="Freeform 39">
                <a:extLst>
                  <a:ext uri="{FF2B5EF4-FFF2-40B4-BE49-F238E27FC236}">
                    <a16:creationId xmlns:a16="http://schemas.microsoft.com/office/drawing/2014/main" id="{7581C431-7708-454E-A880-F28093B6CF47}"/>
                  </a:ext>
                </a:extLst>
              </p:cNvPr>
              <p:cNvSpPr>
                <a:spLocks noEditPoints="1"/>
              </p:cNvSpPr>
              <p:nvPr/>
            </p:nvSpPr>
            <p:spPr bwMode="auto">
              <a:xfrm>
                <a:off x="10150475" y="31480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1" name="Rectangle 40">
                <a:extLst>
                  <a:ext uri="{FF2B5EF4-FFF2-40B4-BE49-F238E27FC236}">
                    <a16:creationId xmlns:a16="http://schemas.microsoft.com/office/drawing/2014/main" id="{D2E8318B-BB50-4792-855D-70AAF9E01B88}"/>
                  </a:ext>
                </a:extLst>
              </p:cNvPr>
              <p:cNvSpPr>
                <a:spLocks noChangeArrowheads="1"/>
              </p:cNvSpPr>
              <p:nvPr/>
            </p:nvSpPr>
            <p:spPr bwMode="auto">
              <a:xfrm>
                <a:off x="10272713" y="6337300"/>
                <a:ext cx="90488" cy="520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2" name="Freeform 41">
                <a:extLst>
                  <a:ext uri="{FF2B5EF4-FFF2-40B4-BE49-F238E27FC236}">
                    <a16:creationId xmlns:a16="http://schemas.microsoft.com/office/drawing/2014/main" id="{A6E29741-B7FB-4378-9F65-6B22B6393FD8}"/>
                  </a:ext>
                </a:extLst>
              </p:cNvPr>
              <p:cNvSpPr>
                <a:spLocks noEditPoints="1"/>
              </p:cNvSpPr>
              <p:nvPr/>
            </p:nvSpPr>
            <p:spPr bwMode="auto">
              <a:xfrm>
                <a:off x="10533063" y="65643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3" name="Rectangle 42">
                <a:extLst>
                  <a:ext uri="{FF2B5EF4-FFF2-40B4-BE49-F238E27FC236}">
                    <a16:creationId xmlns:a16="http://schemas.microsoft.com/office/drawing/2014/main" id="{C5CF7F24-F480-4687-9E3F-9F527758D8AD}"/>
                  </a:ext>
                </a:extLst>
              </p:cNvPr>
              <p:cNvSpPr>
                <a:spLocks noChangeArrowheads="1"/>
              </p:cNvSpPr>
              <p:nvPr/>
            </p:nvSpPr>
            <p:spPr bwMode="auto">
              <a:xfrm>
                <a:off x="10655300" y="5784850"/>
                <a:ext cx="90488" cy="8255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4" name="Rectangle 43">
                <a:extLst>
                  <a:ext uri="{FF2B5EF4-FFF2-40B4-BE49-F238E27FC236}">
                    <a16:creationId xmlns:a16="http://schemas.microsoft.com/office/drawing/2014/main" id="{5301977F-C754-47C5-AA24-960811674C8A}"/>
                  </a:ext>
                </a:extLst>
              </p:cNvPr>
              <p:cNvSpPr>
                <a:spLocks noChangeArrowheads="1"/>
              </p:cNvSpPr>
              <p:nvPr/>
            </p:nvSpPr>
            <p:spPr bwMode="auto">
              <a:xfrm>
                <a:off x="4762500" y="5299075"/>
                <a:ext cx="90488" cy="5365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5" name="Rectangle 44">
                <a:extLst>
                  <a:ext uri="{FF2B5EF4-FFF2-40B4-BE49-F238E27FC236}">
                    <a16:creationId xmlns:a16="http://schemas.microsoft.com/office/drawing/2014/main" id="{D00554FD-DAB0-46D1-A428-30427AF02EEE}"/>
                  </a:ext>
                </a:extLst>
              </p:cNvPr>
              <p:cNvSpPr>
                <a:spLocks noChangeArrowheads="1"/>
              </p:cNvSpPr>
              <p:nvPr/>
            </p:nvSpPr>
            <p:spPr bwMode="auto">
              <a:xfrm>
                <a:off x="10272713" y="3386138"/>
                <a:ext cx="90488" cy="8778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6" name="Freeform 45">
                <a:extLst>
                  <a:ext uri="{FF2B5EF4-FFF2-40B4-BE49-F238E27FC236}">
                    <a16:creationId xmlns:a16="http://schemas.microsoft.com/office/drawing/2014/main" id="{ED93F65E-E922-4B58-9CCF-C7BABEDDAEA9}"/>
                  </a:ext>
                </a:extLst>
              </p:cNvPr>
              <p:cNvSpPr>
                <a:spLocks noEditPoints="1"/>
              </p:cNvSpPr>
              <p:nvPr/>
            </p:nvSpPr>
            <p:spPr bwMode="auto">
              <a:xfrm>
                <a:off x="10150475" y="25717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7" name="Freeform 46">
                <a:extLst>
                  <a:ext uri="{FF2B5EF4-FFF2-40B4-BE49-F238E27FC236}">
                    <a16:creationId xmlns:a16="http://schemas.microsoft.com/office/drawing/2014/main" id="{8D7DC1AB-0DE0-4711-88EB-94F03254755D}"/>
                  </a:ext>
                </a:extLst>
              </p:cNvPr>
              <p:cNvSpPr>
                <a:spLocks noEditPoints="1"/>
              </p:cNvSpPr>
              <p:nvPr/>
            </p:nvSpPr>
            <p:spPr bwMode="auto">
              <a:xfrm>
                <a:off x="10150475" y="15001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8" name="Freeform 47">
                <a:extLst>
                  <a:ext uri="{FF2B5EF4-FFF2-40B4-BE49-F238E27FC236}">
                    <a16:creationId xmlns:a16="http://schemas.microsoft.com/office/drawing/2014/main" id="{059E3498-692E-4B0D-A35B-ACFF56981E00}"/>
                  </a:ext>
                </a:extLst>
              </p:cNvPr>
              <p:cNvSpPr>
                <a:spLocks noEditPoints="1"/>
              </p:cNvSpPr>
              <p:nvPr/>
            </p:nvSpPr>
            <p:spPr bwMode="auto">
              <a:xfrm>
                <a:off x="4217988" y="4937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9" y="0"/>
                      <a:pt x="88" y="19"/>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49" name="Freeform 48">
                <a:extLst>
                  <a:ext uri="{FF2B5EF4-FFF2-40B4-BE49-F238E27FC236}">
                    <a16:creationId xmlns:a16="http://schemas.microsoft.com/office/drawing/2014/main" id="{78E17970-4FF5-4BF7-8202-CAFF63919C45}"/>
                  </a:ext>
                </a:extLst>
              </p:cNvPr>
              <p:cNvSpPr>
                <a:spLocks noEditPoints="1"/>
              </p:cNvSpPr>
              <p:nvPr/>
            </p:nvSpPr>
            <p:spPr bwMode="auto">
              <a:xfrm>
                <a:off x="1489075" y="19288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2" y="24"/>
                      <a:pt x="24" y="33"/>
                      <a:pt x="24" y="44"/>
                    </a:cubicBezTo>
                    <a:cubicBezTo>
                      <a:pt x="24" y="55"/>
                      <a:pt x="32"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0" name="Freeform 49">
                <a:extLst>
                  <a:ext uri="{FF2B5EF4-FFF2-40B4-BE49-F238E27FC236}">
                    <a16:creationId xmlns:a16="http://schemas.microsoft.com/office/drawing/2014/main" id="{249D29B8-38D6-4376-B97F-22469EB14898}"/>
                  </a:ext>
                </a:extLst>
              </p:cNvPr>
              <p:cNvSpPr>
                <a:spLocks noEditPoints="1"/>
              </p:cNvSpPr>
              <p:nvPr/>
            </p:nvSpPr>
            <p:spPr bwMode="auto">
              <a:xfrm>
                <a:off x="10393363" y="5080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1" name="Rectangle 50">
                <a:extLst>
                  <a:ext uri="{FF2B5EF4-FFF2-40B4-BE49-F238E27FC236}">
                    <a16:creationId xmlns:a16="http://schemas.microsoft.com/office/drawing/2014/main" id="{08DA4A68-B020-46A0-9DAC-0026F78A529F}"/>
                  </a:ext>
                </a:extLst>
              </p:cNvPr>
              <p:cNvSpPr>
                <a:spLocks noChangeArrowheads="1"/>
              </p:cNvSpPr>
              <p:nvPr/>
            </p:nvSpPr>
            <p:spPr bwMode="auto">
              <a:xfrm>
                <a:off x="10272713" y="1743075"/>
                <a:ext cx="90488" cy="8747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2" name="Freeform 51">
                <a:extLst>
                  <a:ext uri="{FF2B5EF4-FFF2-40B4-BE49-F238E27FC236}">
                    <a16:creationId xmlns:a16="http://schemas.microsoft.com/office/drawing/2014/main" id="{D38154DF-11ED-44D4-97EC-5F1C2DE7876D}"/>
                  </a:ext>
                </a:extLst>
              </p:cNvPr>
              <p:cNvSpPr>
                <a:spLocks noEditPoints="1"/>
              </p:cNvSpPr>
              <p:nvPr/>
            </p:nvSpPr>
            <p:spPr bwMode="auto">
              <a:xfrm>
                <a:off x="3508375" y="7810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3" name="Rectangle 52">
                <a:extLst>
                  <a:ext uri="{FF2B5EF4-FFF2-40B4-BE49-F238E27FC236}">
                    <a16:creationId xmlns:a16="http://schemas.microsoft.com/office/drawing/2014/main" id="{15B6BD74-0BD5-463F-B5FA-E61B17F97C3C}"/>
                  </a:ext>
                </a:extLst>
              </p:cNvPr>
              <p:cNvSpPr>
                <a:spLocks noChangeArrowheads="1"/>
              </p:cNvSpPr>
              <p:nvPr/>
            </p:nvSpPr>
            <p:spPr bwMode="auto">
              <a:xfrm>
                <a:off x="3630613" y="0"/>
                <a:ext cx="90488" cy="827087"/>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4" name="Freeform 53">
                <a:extLst>
                  <a:ext uri="{FF2B5EF4-FFF2-40B4-BE49-F238E27FC236}">
                    <a16:creationId xmlns:a16="http://schemas.microsoft.com/office/drawing/2014/main" id="{C8347EAE-1694-4A39-947E-57064CC46AB2}"/>
                  </a:ext>
                </a:extLst>
              </p:cNvPr>
              <p:cNvSpPr>
                <a:spLocks noEditPoints="1"/>
              </p:cNvSpPr>
              <p:nvPr/>
            </p:nvSpPr>
            <p:spPr bwMode="auto">
              <a:xfrm>
                <a:off x="330200" y="234473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5" name="Freeform 54">
                <a:extLst>
                  <a:ext uri="{FF2B5EF4-FFF2-40B4-BE49-F238E27FC236}">
                    <a16:creationId xmlns:a16="http://schemas.microsoft.com/office/drawing/2014/main" id="{175C7674-BCFC-4CEA-928B-19E69913E7A0}"/>
                  </a:ext>
                </a:extLst>
              </p:cNvPr>
              <p:cNvSpPr>
                <a:spLocks noEditPoints="1"/>
              </p:cNvSpPr>
              <p:nvPr/>
            </p:nvSpPr>
            <p:spPr bwMode="auto">
              <a:xfrm>
                <a:off x="330200" y="12700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6" name="Rectangle 55">
                <a:extLst>
                  <a:ext uri="{FF2B5EF4-FFF2-40B4-BE49-F238E27FC236}">
                    <a16:creationId xmlns:a16="http://schemas.microsoft.com/office/drawing/2014/main" id="{62024AD6-50A7-4F40-AEEB-08E26FBE666A}"/>
                  </a:ext>
                </a:extLst>
              </p:cNvPr>
              <p:cNvSpPr>
                <a:spLocks noChangeArrowheads="1"/>
              </p:cNvSpPr>
              <p:nvPr/>
            </p:nvSpPr>
            <p:spPr bwMode="auto">
              <a:xfrm>
                <a:off x="450850" y="1511300"/>
                <a:ext cx="90488" cy="8794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7" name="Freeform 56">
                <a:extLst>
                  <a:ext uri="{FF2B5EF4-FFF2-40B4-BE49-F238E27FC236}">
                    <a16:creationId xmlns:a16="http://schemas.microsoft.com/office/drawing/2014/main" id="{DB4EF13E-DBD0-4744-9529-B52EBFCF454A}"/>
                  </a:ext>
                </a:extLst>
              </p:cNvPr>
              <p:cNvSpPr>
                <a:spLocks noEditPoints="1"/>
              </p:cNvSpPr>
              <p:nvPr/>
            </p:nvSpPr>
            <p:spPr bwMode="auto">
              <a:xfrm>
                <a:off x="330200" y="5762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8" name="Rectangle 57">
                <a:extLst>
                  <a:ext uri="{FF2B5EF4-FFF2-40B4-BE49-F238E27FC236}">
                    <a16:creationId xmlns:a16="http://schemas.microsoft.com/office/drawing/2014/main" id="{696600C0-B38A-45E4-87AA-35E515E14E26}"/>
                  </a:ext>
                </a:extLst>
              </p:cNvPr>
              <p:cNvSpPr>
                <a:spLocks noChangeArrowheads="1"/>
              </p:cNvSpPr>
              <p:nvPr/>
            </p:nvSpPr>
            <p:spPr bwMode="auto">
              <a:xfrm>
                <a:off x="450850" y="0"/>
                <a:ext cx="90488" cy="6223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59" name="Freeform 58">
                <a:extLst>
                  <a:ext uri="{FF2B5EF4-FFF2-40B4-BE49-F238E27FC236}">
                    <a16:creationId xmlns:a16="http://schemas.microsoft.com/office/drawing/2014/main" id="{D1363D1B-4325-437A-9EA4-AD21040F329A}"/>
                  </a:ext>
                </a:extLst>
              </p:cNvPr>
              <p:cNvSpPr>
                <a:spLocks noEditPoints="1"/>
              </p:cNvSpPr>
              <p:nvPr/>
            </p:nvSpPr>
            <p:spPr bwMode="auto">
              <a:xfrm>
                <a:off x="11199813" y="251936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0" name="Rectangle 59">
                <a:extLst>
                  <a:ext uri="{FF2B5EF4-FFF2-40B4-BE49-F238E27FC236}">
                    <a16:creationId xmlns:a16="http://schemas.microsoft.com/office/drawing/2014/main" id="{EA069C20-9137-45BC-8E8B-76DE88571DAD}"/>
                  </a:ext>
                </a:extLst>
              </p:cNvPr>
              <p:cNvSpPr>
                <a:spLocks noChangeArrowheads="1"/>
              </p:cNvSpPr>
              <p:nvPr/>
            </p:nvSpPr>
            <p:spPr bwMode="auto">
              <a:xfrm>
                <a:off x="11322050" y="2806700"/>
                <a:ext cx="90488" cy="18669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1" name="Freeform 60">
                <a:extLst>
                  <a:ext uri="{FF2B5EF4-FFF2-40B4-BE49-F238E27FC236}">
                    <a16:creationId xmlns:a16="http://schemas.microsoft.com/office/drawing/2014/main" id="{0BD43229-65BD-4B2F-A95A-558BA028993B}"/>
                  </a:ext>
                </a:extLst>
              </p:cNvPr>
              <p:cNvSpPr>
                <a:spLocks/>
              </p:cNvSpPr>
              <p:nvPr/>
            </p:nvSpPr>
            <p:spPr bwMode="auto">
              <a:xfrm>
                <a:off x="10612438" y="679450"/>
                <a:ext cx="1579562" cy="415925"/>
              </a:xfrm>
              <a:custGeom>
                <a:avLst/>
                <a:gdLst>
                  <a:gd name="T0" fmla="*/ 934 w 934"/>
                  <a:gd name="T1" fmla="*/ 262 h 262"/>
                  <a:gd name="T2" fmla="*/ 308 w 934"/>
                  <a:gd name="T3" fmla="*/ 262 h 262"/>
                  <a:gd name="T4" fmla="*/ 0 w 934"/>
                  <a:gd name="T5" fmla="*/ 47 h 262"/>
                  <a:gd name="T6" fmla="*/ 34 w 934"/>
                  <a:gd name="T7" fmla="*/ 0 h 262"/>
                  <a:gd name="T8" fmla="*/ 325 w 934"/>
                  <a:gd name="T9" fmla="*/ 205 h 262"/>
                  <a:gd name="T10" fmla="*/ 934 w 934"/>
                  <a:gd name="T11" fmla="*/ 205 h 262"/>
                  <a:gd name="T12" fmla="*/ 934 w 934"/>
                  <a:gd name="T13" fmla="*/ 262 h 262"/>
                </a:gdLst>
                <a:ahLst/>
                <a:cxnLst>
                  <a:cxn ang="0">
                    <a:pos x="T0" y="T1"/>
                  </a:cxn>
                  <a:cxn ang="0">
                    <a:pos x="T2" y="T3"/>
                  </a:cxn>
                  <a:cxn ang="0">
                    <a:pos x="T4" y="T5"/>
                  </a:cxn>
                  <a:cxn ang="0">
                    <a:pos x="T6" y="T7"/>
                  </a:cxn>
                  <a:cxn ang="0">
                    <a:pos x="T8" y="T9"/>
                  </a:cxn>
                  <a:cxn ang="0">
                    <a:pos x="T10" y="T11"/>
                  </a:cxn>
                  <a:cxn ang="0">
                    <a:pos x="T12" y="T13"/>
                  </a:cxn>
                </a:cxnLst>
                <a:rect l="0" t="0" r="r" b="b"/>
                <a:pathLst>
                  <a:path w="934" h="262">
                    <a:moveTo>
                      <a:pt x="934" y="262"/>
                    </a:moveTo>
                    <a:lnTo>
                      <a:pt x="308" y="262"/>
                    </a:lnTo>
                    <a:lnTo>
                      <a:pt x="0" y="47"/>
                    </a:lnTo>
                    <a:lnTo>
                      <a:pt x="34" y="0"/>
                    </a:lnTo>
                    <a:lnTo>
                      <a:pt x="325" y="205"/>
                    </a:lnTo>
                    <a:lnTo>
                      <a:pt x="934" y="205"/>
                    </a:lnTo>
                    <a:lnTo>
                      <a:pt x="934" y="26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2" name="Freeform 61">
                <a:extLst>
                  <a:ext uri="{FF2B5EF4-FFF2-40B4-BE49-F238E27FC236}">
                    <a16:creationId xmlns:a16="http://schemas.microsoft.com/office/drawing/2014/main" id="{95146E0B-94B0-4131-99A1-E3B0B1C70388}"/>
                  </a:ext>
                </a:extLst>
              </p:cNvPr>
              <p:cNvSpPr>
                <a:spLocks noEditPoints="1"/>
              </p:cNvSpPr>
              <p:nvPr/>
            </p:nvSpPr>
            <p:spPr bwMode="auto">
              <a:xfrm>
                <a:off x="10988675" y="18859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3" name="Freeform 62">
                <a:extLst>
                  <a:ext uri="{FF2B5EF4-FFF2-40B4-BE49-F238E27FC236}">
                    <a16:creationId xmlns:a16="http://schemas.microsoft.com/office/drawing/2014/main" id="{3948B8C7-6DAE-4078-AF75-A61FB92A022F}"/>
                  </a:ext>
                </a:extLst>
              </p:cNvPr>
              <p:cNvSpPr>
                <a:spLocks/>
              </p:cNvSpPr>
              <p:nvPr/>
            </p:nvSpPr>
            <p:spPr bwMode="auto">
              <a:xfrm>
                <a:off x="11207750" y="2057400"/>
                <a:ext cx="1000125" cy="2082800"/>
              </a:xfrm>
              <a:custGeom>
                <a:avLst/>
                <a:gdLst>
                  <a:gd name="T0" fmla="*/ 599 w 630"/>
                  <a:gd name="T1" fmla="*/ 1312 h 1312"/>
                  <a:gd name="T2" fmla="*/ 287 w 630"/>
                  <a:gd name="T3" fmla="*/ 1092 h 1312"/>
                  <a:gd name="T4" fmla="*/ 287 w 630"/>
                  <a:gd name="T5" fmla="*/ 627 h 1312"/>
                  <a:gd name="T6" fmla="*/ 289 w 630"/>
                  <a:gd name="T7" fmla="*/ 627 h 1312"/>
                  <a:gd name="T8" fmla="*/ 289 w 630"/>
                  <a:gd name="T9" fmla="*/ 248 h 1312"/>
                  <a:gd name="T10" fmla="*/ 0 w 630"/>
                  <a:gd name="T11" fmla="*/ 47 h 1312"/>
                  <a:gd name="T12" fmla="*/ 34 w 630"/>
                  <a:gd name="T13" fmla="*/ 0 h 1312"/>
                  <a:gd name="T14" fmla="*/ 346 w 630"/>
                  <a:gd name="T15" fmla="*/ 219 h 1312"/>
                  <a:gd name="T16" fmla="*/ 346 w 630"/>
                  <a:gd name="T17" fmla="*/ 684 h 1312"/>
                  <a:gd name="T18" fmla="*/ 344 w 630"/>
                  <a:gd name="T19" fmla="*/ 684 h 1312"/>
                  <a:gd name="T20" fmla="*/ 344 w 630"/>
                  <a:gd name="T21" fmla="*/ 1064 h 1312"/>
                  <a:gd name="T22" fmla="*/ 630 w 630"/>
                  <a:gd name="T23" fmla="*/ 1264 h 1312"/>
                  <a:gd name="T24" fmla="*/ 599 w 630"/>
                  <a:gd name="T25" fmla="*/ 1312 h 1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0" h="1312">
                    <a:moveTo>
                      <a:pt x="599" y="1312"/>
                    </a:moveTo>
                    <a:lnTo>
                      <a:pt x="287" y="1092"/>
                    </a:lnTo>
                    <a:lnTo>
                      <a:pt x="287" y="627"/>
                    </a:lnTo>
                    <a:lnTo>
                      <a:pt x="289" y="627"/>
                    </a:lnTo>
                    <a:lnTo>
                      <a:pt x="289" y="248"/>
                    </a:lnTo>
                    <a:lnTo>
                      <a:pt x="0" y="47"/>
                    </a:lnTo>
                    <a:lnTo>
                      <a:pt x="34" y="0"/>
                    </a:lnTo>
                    <a:lnTo>
                      <a:pt x="346" y="219"/>
                    </a:lnTo>
                    <a:lnTo>
                      <a:pt x="346" y="684"/>
                    </a:lnTo>
                    <a:lnTo>
                      <a:pt x="344" y="684"/>
                    </a:lnTo>
                    <a:lnTo>
                      <a:pt x="344" y="1064"/>
                    </a:lnTo>
                    <a:lnTo>
                      <a:pt x="630" y="1264"/>
                    </a:lnTo>
                    <a:lnTo>
                      <a:pt x="599" y="131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4" name="Freeform 63">
                <a:extLst>
                  <a:ext uri="{FF2B5EF4-FFF2-40B4-BE49-F238E27FC236}">
                    <a16:creationId xmlns:a16="http://schemas.microsoft.com/office/drawing/2014/main" id="{C37C1290-C35E-4FF3-8738-2A5095FBE7FF}"/>
                  </a:ext>
                </a:extLst>
              </p:cNvPr>
              <p:cNvSpPr>
                <a:spLocks noEditPoints="1"/>
              </p:cNvSpPr>
              <p:nvPr/>
            </p:nvSpPr>
            <p:spPr bwMode="auto">
              <a:xfrm>
                <a:off x="11322050" y="488632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5" name="Freeform 64">
                <a:extLst>
                  <a:ext uri="{FF2B5EF4-FFF2-40B4-BE49-F238E27FC236}">
                    <a16:creationId xmlns:a16="http://schemas.microsoft.com/office/drawing/2014/main" id="{7129FBFD-E0AF-47A6-A6AC-4E4EC37889DA}"/>
                  </a:ext>
                </a:extLst>
              </p:cNvPr>
              <p:cNvSpPr>
                <a:spLocks noEditPoints="1"/>
              </p:cNvSpPr>
              <p:nvPr/>
            </p:nvSpPr>
            <p:spPr bwMode="auto">
              <a:xfrm>
                <a:off x="10814050" y="41656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6" name="Freeform 65">
                <a:extLst>
                  <a:ext uri="{FF2B5EF4-FFF2-40B4-BE49-F238E27FC236}">
                    <a16:creationId xmlns:a16="http://schemas.microsoft.com/office/drawing/2014/main" id="{98139BEA-E093-4187-9E74-ED925AA442BA}"/>
                  </a:ext>
                </a:extLst>
              </p:cNvPr>
              <p:cNvSpPr>
                <a:spLocks/>
              </p:cNvSpPr>
              <p:nvPr/>
            </p:nvSpPr>
            <p:spPr bwMode="auto">
              <a:xfrm>
                <a:off x="10674350" y="4102100"/>
                <a:ext cx="265113" cy="223838"/>
              </a:xfrm>
              <a:custGeom>
                <a:avLst/>
                <a:gdLst>
                  <a:gd name="T0" fmla="*/ 133 w 167"/>
                  <a:gd name="T1" fmla="*/ 141 h 141"/>
                  <a:gd name="T2" fmla="*/ 0 w 167"/>
                  <a:gd name="T3" fmla="*/ 47 h 141"/>
                  <a:gd name="T4" fmla="*/ 33 w 167"/>
                  <a:gd name="T5" fmla="*/ 0 h 141"/>
                  <a:gd name="T6" fmla="*/ 167 w 167"/>
                  <a:gd name="T7" fmla="*/ 93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7"/>
                    </a:lnTo>
                    <a:lnTo>
                      <a:pt x="33" y="0"/>
                    </a:lnTo>
                    <a:lnTo>
                      <a:pt x="167" y="93"/>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7" name="Freeform 66">
                <a:extLst>
                  <a:ext uri="{FF2B5EF4-FFF2-40B4-BE49-F238E27FC236}">
                    <a16:creationId xmlns:a16="http://schemas.microsoft.com/office/drawing/2014/main" id="{CAB512FA-1838-4739-840F-40D14B9B5790}"/>
                  </a:ext>
                </a:extLst>
              </p:cNvPr>
              <p:cNvSpPr>
                <a:spLocks noEditPoints="1"/>
              </p:cNvSpPr>
              <p:nvPr/>
            </p:nvSpPr>
            <p:spPr bwMode="auto">
              <a:xfrm>
                <a:off x="10814050" y="3648075"/>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19"/>
                      <a:pt x="20"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8" name="Freeform 67">
                <a:extLst>
                  <a:ext uri="{FF2B5EF4-FFF2-40B4-BE49-F238E27FC236}">
                    <a16:creationId xmlns:a16="http://schemas.microsoft.com/office/drawing/2014/main" id="{1130BD22-E335-4968-8533-6D3BF3CB6D35}"/>
                  </a:ext>
                </a:extLst>
              </p:cNvPr>
              <p:cNvSpPr>
                <a:spLocks/>
              </p:cNvSpPr>
              <p:nvPr/>
            </p:nvSpPr>
            <p:spPr bwMode="auto">
              <a:xfrm>
                <a:off x="10674350" y="3582988"/>
                <a:ext cx="265113" cy="223838"/>
              </a:xfrm>
              <a:custGeom>
                <a:avLst/>
                <a:gdLst>
                  <a:gd name="T0" fmla="*/ 133 w 167"/>
                  <a:gd name="T1" fmla="*/ 141 h 141"/>
                  <a:gd name="T2" fmla="*/ 0 w 167"/>
                  <a:gd name="T3" fmla="*/ 45 h 141"/>
                  <a:gd name="T4" fmla="*/ 33 w 167"/>
                  <a:gd name="T5" fmla="*/ 0 h 141"/>
                  <a:gd name="T6" fmla="*/ 167 w 167"/>
                  <a:gd name="T7" fmla="*/ 93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5"/>
                    </a:lnTo>
                    <a:lnTo>
                      <a:pt x="33" y="0"/>
                    </a:lnTo>
                    <a:lnTo>
                      <a:pt x="167" y="93"/>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69" name="Freeform 68">
                <a:extLst>
                  <a:ext uri="{FF2B5EF4-FFF2-40B4-BE49-F238E27FC236}">
                    <a16:creationId xmlns:a16="http://schemas.microsoft.com/office/drawing/2014/main" id="{9F96E7DA-7B79-473D-BDC5-E43145ECF4B1}"/>
                  </a:ext>
                </a:extLst>
              </p:cNvPr>
              <p:cNvSpPr>
                <a:spLocks noEditPoints="1"/>
              </p:cNvSpPr>
              <p:nvPr/>
            </p:nvSpPr>
            <p:spPr bwMode="auto">
              <a:xfrm>
                <a:off x="10814050" y="31242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9"/>
                      <a:pt x="0" y="44"/>
                    </a:cubicBezTo>
                    <a:cubicBezTo>
                      <a:pt x="0" y="20"/>
                      <a:pt x="20"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0" name="Freeform 69">
                <a:extLst>
                  <a:ext uri="{FF2B5EF4-FFF2-40B4-BE49-F238E27FC236}">
                    <a16:creationId xmlns:a16="http://schemas.microsoft.com/office/drawing/2014/main" id="{2D9491AE-5070-4E5C-91CF-8A07DAB1D84B}"/>
                  </a:ext>
                </a:extLst>
              </p:cNvPr>
              <p:cNvSpPr>
                <a:spLocks/>
              </p:cNvSpPr>
              <p:nvPr/>
            </p:nvSpPr>
            <p:spPr bwMode="auto">
              <a:xfrm>
                <a:off x="10674350" y="3060700"/>
                <a:ext cx="265113" cy="223838"/>
              </a:xfrm>
              <a:custGeom>
                <a:avLst/>
                <a:gdLst>
                  <a:gd name="T0" fmla="*/ 133 w 167"/>
                  <a:gd name="T1" fmla="*/ 141 h 141"/>
                  <a:gd name="T2" fmla="*/ 0 w 167"/>
                  <a:gd name="T3" fmla="*/ 48 h 141"/>
                  <a:gd name="T4" fmla="*/ 33 w 167"/>
                  <a:gd name="T5" fmla="*/ 0 h 141"/>
                  <a:gd name="T6" fmla="*/ 167 w 167"/>
                  <a:gd name="T7" fmla="*/ 95 h 141"/>
                  <a:gd name="T8" fmla="*/ 133 w 167"/>
                  <a:gd name="T9" fmla="*/ 141 h 141"/>
                </a:gdLst>
                <a:ahLst/>
                <a:cxnLst>
                  <a:cxn ang="0">
                    <a:pos x="T0" y="T1"/>
                  </a:cxn>
                  <a:cxn ang="0">
                    <a:pos x="T2" y="T3"/>
                  </a:cxn>
                  <a:cxn ang="0">
                    <a:pos x="T4" y="T5"/>
                  </a:cxn>
                  <a:cxn ang="0">
                    <a:pos x="T6" y="T7"/>
                  </a:cxn>
                  <a:cxn ang="0">
                    <a:pos x="T8" y="T9"/>
                  </a:cxn>
                </a:cxnLst>
                <a:rect l="0" t="0" r="r" b="b"/>
                <a:pathLst>
                  <a:path w="167" h="141">
                    <a:moveTo>
                      <a:pt x="133" y="141"/>
                    </a:moveTo>
                    <a:lnTo>
                      <a:pt x="0" y="48"/>
                    </a:lnTo>
                    <a:lnTo>
                      <a:pt x="33" y="0"/>
                    </a:lnTo>
                    <a:lnTo>
                      <a:pt x="167" y="95"/>
                    </a:lnTo>
                    <a:lnTo>
                      <a:pt x="133" y="14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1" name="Rectangle 70">
                <a:extLst>
                  <a:ext uri="{FF2B5EF4-FFF2-40B4-BE49-F238E27FC236}">
                    <a16:creationId xmlns:a16="http://schemas.microsoft.com/office/drawing/2014/main" id="{FC01A0C4-7879-49F5-B60C-13671494649D}"/>
                  </a:ext>
                </a:extLst>
              </p:cNvPr>
              <p:cNvSpPr>
                <a:spLocks noChangeArrowheads="1"/>
              </p:cNvSpPr>
              <p:nvPr/>
            </p:nvSpPr>
            <p:spPr bwMode="auto">
              <a:xfrm>
                <a:off x="10680700" y="1620838"/>
                <a:ext cx="1511300" cy="920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2" name="Freeform 71">
                <a:extLst>
                  <a:ext uri="{FF2B5EF4-FFF2-40B4-BE49-F238E27FC236}">
                    <a16:creationId xmlns:a16="http://schemas.microsoft.com/office/drawing/2014/main" id="{64729636-3E26-4AB5-90A6-184E2D5D9FB4}"/>
                  </a:ext>
                </a:extLst>
              </p:cNvPr>
              <p:cNvSpPr>
                <a:spLocks/>
              </p:cNvSpPr>
              <p:nvPr/>
            </p:nvSpPr>
            <p:spPr bwMode="auto">
              <a:xfrm>
                <a:off x="1273175" y="4249738"/>
                <a:ext cx="2024063" cy="1271588"/>
              </a:xfrm>
              <a:custGeom>
                <a:avLst/>
                <a:gdLst>
                  <a:gd name="T0" fmla="*/ 850 w 1275"/>
                  <a:gd name="T1" fmla="*/ 801 h 801"/>
                  <a:gd name="T2" fmla="*/ 0 w 1275"/>
                  <a:gd name="T3" fmla="*/ 801 h 801"/>
                  <a:gd name="T4" fmla="*/ 0 w 1275"/>
                  <a:gd name="T5" fmla="*/ 744 h 801"/>
                  <a:gd name="T6" fmla="*/ 792 w 1275"/>
                  <a:gd name="T7" fmla="*/ 744 h 801"/>
                  <a:gd name="T8" fmla="*/ 792 w 1275"/>
                  <a:gd name="T9" fmla="*/ 0 h 801"/>
                  <a:gd name="T10" fmla="*/ 1275 w 1275"/>
                  <a:gd name="T11" fmla="*/ 0 h 801"/>
                  <a:gd name="T12" fmla="*/ 1275 w 1275"/>
                  <a:gd name="T13" fmla="*/ 57 h 801"/>
                  <a:gd name="T14" fmla="*/ 850 w 1275"/>
                  <a:gd name="T15" fmla="*/ 57 h 801"/>
                  <a:gd name="T16" fmla="*/ 850 w 1275"/>
                  <a:gd name="T17" fmla="*/ 801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5" h="801">
                    <a:moveTo>
                      <a:pt x="850" y="801"/>
                    </a:moveTo>
                    <a:lnTo>
                      <a:pt x="0" y="801"/>
                    </a:lnTo>
                    <a:lnTo>
                      <a:pt x="0" y="744"/>
                    </a:lnTo>
                    <a:lnTo>
                      <a:pt x="792" y="744"/>
                    </a:lnTo>
                    <a:lnTo>
                      <a:pt x="792" y="0"/>
                    </a:lnTo>
                    <a:lnTo>
                      <a:pt x="1275" y="0"/>
                    </a:lnTo>
                    <a:lnTo>
                      <a:pt x="1275" y="57"/>
                    </a:lnTo>
                    <a:lnTo>
                      <a:pt x="850" y="57"/>
                    </a:lnTo>
                    <a:lnTo>
                      <a:pt x="850" y="801"/>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3" name="Freeform 72">
                <a:extLst>
                  <a:ext uri="{FF2B5EF4-FFF2-40B4-BE49-F238E27FC236}">
                    <a16:creationId xmlns:a16="http://schemas.microsoft.com/office/drawing/2014/main" id="{ED6BF77E-38FC-44B3-B9ED-55E9BBAB2324}"/>
                  </a:ext>
                </a:extLst>
              </p:cNvPr>
              <p:cNvSpPr>
                <a:spLocks/>
              </p:cNvSpPr>
              <p:nvPr/>
            </p:nvSpPr>
            <p:spPr bwMode="auto">
              <a:xfrm>
                <a:off x="2724150" y="0"/>
                <a:ext cx="573088" cy="2647950"/>
              </a:xfrm>
              <a:custGeom>
                <a:avLst/>
                <a:gdLst>
                  <a:gd name="T0" fmla="*/ 0 w 361"/>
                  <a:gd name="T1" fmla="*/ 1689 h 1689"/>
                  <a:gd name="T2" fmla="*/ 0 w 361"/>
                  <a:gd name="T3" fmla="*/ 0 h 1689"/>
                  <a:gd name="T4" fmla="*/ 57 w 361"/>
                  <a:gd name="T5" fmla="*/ 0 h 1689"/>
                  <a:gd name="T6" fmla="*/ 57 w 361"/>
                  <a:gd name="T7" fmla="*/ 1632 h 1689"/>
                  <a:gd name="T8" fmla="*/ 361 w 361"/>
                  <a:gd name="T9" fmla="*/ 1632 h 1689"/>
                  <a:gd name="T10" fmla="*/ 361 w 361"/>
                  <a:gd name="T11" fmla="*/ 1689 h 1689"/>
                  <a:gd name="T12" fmla="*/ 0 w 361"/>
                  <a:gd name="T13" fmla="*/ 1689 h 1689"/>
                </a:gdLst>
                <a:ahLst/>
                <a:cxnLst>
                  <a:cxn ang="0">
                    <a:pos x="T0" y="T1"/>
                  </a:cxn>
                  <a:cxn ang="0">
                    <a:pos x="T2" y="T3"/>
                  </a:cxn>
                  <a:cxn ang="0">
                    <a:pos x="T4" y="T5"/>
                  </a:cxn>
                  <a:cxn ang="0">
                    <a:pos x="T6" y="T7"/>
                  </a:cxn>
                  <a:cxn ang="0">
                    <a:pos x="T8" y="T9"/>
                  </a:cxn>
                  <a:cxn ang="0">
                    <a:pos x="T10" y="T11"/>
                  </a:cxn>
                  <a:cxn ang="0">
                    <a:pos x="T12" y="T13"/>
                  </a:cxn>
                </a:cxnLst>
                <a:rect l="0" t="0" r="r" b="b"/>
                <a:pathLst>
                  <a:path w="361" h="1689">
                    <a:moveTo>
                      <a:pt x="0" y="1689"/>
                    </a:moveTo>
                    <a:lnTo>
                      <a:pt x="0" y="0"/>
                    </a:lnTo>
                    <a:lnTo>
                      <a:pt x="57" y="0"/>
                    </a:lnTo>
                    <a:lnTo>
                      <a:pt x="57" y="1632"/>
                    </a:lnTo>
                    <a:lnTo>
                      <a:pt x="361" y="1632"/>
                    </a:lnTo>
                    <a:lnTo>
                      <a:pt x="361" y="1689"/>
                    </a:lnTo>
                    <a:lnTo>
                      <a:pt x="0" y="1689"/>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4" name="Freeform 73">
                <a:extLst>
                  <a:ext uri="{FF2B5EF4-FFF2-40B4-BE49-F238E27FC236}">
                    <a16:creationId xmlns:a16="http://schemas.microsoft.com/office/drawing/2014/main" id="{B473B3F3-47F1-4AB3-8017-BCBA74E03F81}"/>
                  </a:ext>
                </a:extLst>
              </p:cNvPr>
              <p:cNvSpPr>
                <a:spLocks/>
              </p:cNvSpPr>
              <p:nvPr/>
            </p:nvSpPr>
            <p:spPr bwMode="auto">
              <a:xfrm>
                <a:off x="0" y="3829050"/>
                <a:ext cx="3297238" cy="1273175"/>
              </a:xfrm>
              <a:custGeom>
                <a:avLst/>
                <a:gdLst>
                  <a:gd name="T0" fmla="*/ 1387 w 1996"/>
                  <a:gd name="T1" fmla="*/ 802 h 802"/>
                  <a:gd name="T2" fmla="*/ 0 w 1996"/>
                  <a:gd name="T3" fmla="*/ 802 h 802"/>
                  <a:gd name="T4" fmla="*/ 0 w 1996"/>
                  <a:gd name="T5" fmla="*/ 744 h 802"/>
                  <a:gd name="T6" fmla="*/ 1330 w 1996"/>
                  <a:gd name="T7" fmla="*/ 744 h 802"/>
                  <a:gd name="T8" fmla="*/ 1330 w 1996"/>
                  <a:gd name="T9" fmla="*/ 0 h 802"/>
                  <a:gd name="T10" fmla="*/ 1996 w 1996"/>
                  <a:gd name="T11" fmla="*/ 0 h 802"/>
                  <a:gd name="T12" fmla="*/ 1996 w 1996"/>
                  <a:gd name="T13" fmla="*/ 57 h 802"/>
                  <a:gd name="T14" fmla="*/ 1387 w 1996"/>
                  <a:gd name="T15" fmla="*/ 57 h 802"/>
                  <a:gd name="T16" fmla="*/ 1387 w 1996"/>
                  <a:gd name="T17" fmla="*/ 802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6" h="802">
                    <a:moveTo>
                      <a:pt x="1387" y="802"/>
                    </a:moveTo>
                    <a:lnTo>
                      <a:pt x="0" y="802"/>
                    </a:lnTo>
                    <a:lnTo>
                      <a:pt x="0" y="744"/>
                    </a:lnTo>
                    <a:lnTo>
                      <a:pt x="1330" y="744"/>
                    </a:lnTo>
                    <a:lnTo>
                      <a:pt x="1330" y="0"/>
                    </a:lnTo>
                    <a:lnTo>
                      <a:pt x="1996" y="0"/>
                    </a:lnTo>
                    <a:lnTo>
                      <a:pt x="1996" y="57"/>
                    </a:lnTo>
                    <a:lnTo>
                      <a:pt x="1387" y="57"/>
                    </a:lnTo>
                    <a:lnTo>
                      <a:pt x="1387" y="802"/>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5" name="Freeform 74">
                <a:extLst>
                  <a:ext uri="{FF2B5EF4-FFF2-40B4-BE49-F238E27FC236}">
                    <a16:creationId xmlns:a16="http://schemas.microsoft.com/office/drawing/2014/main" id="{7CE66EF3-289C-4950-9DB0-9219D54E8205}"/>
                  </a:ext>
                </a:extLst>
              </p:cNvPr>
              <p:cNvSpPr>
                <a:spLocks/>
              </p:cNvSpPr>
              <p:nvPr/>
            </p:nvSpPr>
            <p:spPr bwMode="auto">
              <a:xfrm>
                <a:off x="457200" y="3905250"/>
                <a:ext cx="417513" cy="309563"/>
              </a:xfrm>
              <a:custGeom>
                <a:avLst/>
                <a:gdLst>
                  <a:gd name="T0" fmla="*/ 234 w 263"/>
                  <a:gd name="T1" fmla="*/ 195 h 195"/>
                  <a:gd name="T2" fmla="*/ 0 w 263"/>
                  <a:gd name="T3" fmla="*/ 47 h 195"/>
                  <a:gd name="T4" fmla="*/ 29 w 263"/>
                  <a:gd name="T5" fmla="*/ 0 h 195"/>
                  <a:gd name="T6" fmla="*/ 263 w 263"/>
                  <a:gd name="T7" fmla="*/ 145 h 195"/>
                  <a:gd name="T8" fmla="*/ 234 w 263"/>
                  <a:gd name="T9" fmla="*/ 195 h 195"/>
                </a:gdLst>
                <a:ahLst/>
                <a:cxnLst>
                  <a:cxn ang="0">
                    <a:pos x="T0" y="T1"/>
                  </a:cxn>
                  <a:cxn ang="0">
                    <a:pos x="T2" y="T3"/>
                  </a:cxn>
                  <a:cxn ang="0">
                    <a:pos x="T4" y="T5"/>
                  </a:cxn>
                  <a:cxn ang="0">
                    <a:pos x="T6" y="T7"/>
                  </a:cxn>
                  <a:cxn ang="0">
                    <a:pos x="T8" y="T9"/>
                  </a:cxn>
                </a:cxnLst>
                <a:rect l="0" t="0" r="r" b="b"/>
                <a:pathLst>
                  <a:path w="263" h="195">
                    <a:moveTo>
                      <a:pt x="234" y="195"/>
                    </a:moveTo>
                    <a:lnTo>
                      <a:pt x="0" y="47"/>
                    </a:lnTo>
                    <a:lnTo>
                      <a:pt x="29" y="0"/>
                    </a:lnTo>
                    <a:lnTo>
                      <a:pt x="263" y="145"/>
                    </a:lnTo>
                    <a:lnTo>
                      <a:pt x="234" y="19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6" name="Freeform 75">
                <a:extLst>
                  <a:ext uri="{FF2B5EF4-FFF2-40B4-BE49-F238E27FC236}">
                    <a16:creationId xmlns:a16="http://schemas.microsoft.com/office/drawing/2014/main" id="{317682EF-F710-44C2-BF31-73747B56BA7A}"/>
                  </a:ext>
                </a:extLst>
              </p:cNvPr>
              <p:cNvSpPr>
                <a:spLocks/>
              </p:cNvSpPr>
              <p:nvPr/>
            </p:nvSpPr>
            <p:spPr bwMode="auto">
              <a:xfrm>
                <a:off x="1227138" y="2692400"/>
                <a:ext cx="2070100" cy="803275"/>
              </a:xfrm>
              <a:custGeom>
                <a:avLst/>
                <a:gdLst>
                  <a:gd name="T0" fmla="*/ 1304 w 1304"/>
                  <a:gd name="T1" fmla="*/ 506 h 506"/>
                  <a:gd name="T2" fmla="*/ 275 w 1304"/>
                  <a:gd name="T3" fmla="*/ 506 h 506"/>
                  <a:gd name="T4" fmla="*/ 0 w 1304"/>
                  <a:gd name="T5" fmla="*/ 353 h 506"/>
                  <a:gd name="T6" fmla="*/ 0 w 1304"/>
                  <a:gd name="T7" fmla="*/ 0 h 506"/>
                  <a:gd name="T8" fmla="*/ 58 w 1304"/>
                  <a:gd name="T9" fmla="*/ 0 h 506"/>
                  <a:gd name="T10" fmla="*/ 58 w 1304"/>
                  <a:gd name="T11" fmla="*/ 320 h 506"/>
                  <a:gd name="T12" fmla="*/ 289 w 1304"/>
                  <a:gd name="T13" fmla="*/ 449 h 506"/>
                  <a:gd name="T14" fmla="*/ 1304 w 1304"/>
                  <a:gd name="T15" fmla="*/ 449 h 506"/>
                  <a:gd name="T16" fmla="*/ 1304 w 1304"/>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04" h="506">
                    <a:moveTo>
                      <a:pt x="1304" y="506"/>
                    </a:moveTo>
                    <a:lnTo>
                      <a:pt x="275" y="506"/>
                    </a:lnTo>
                    <a:lnTo>
                      <a:pt x="0" y="353"/>
                    </a:lnTo>
                    <a:lnTo>
                      <a:pt x="0" y="0"/>
                    </a:lnTo>
                    <a:lnTo>
                      <a:pt x="58" y="0"/>
                    </a:lnTo>
                    <a:lnTo>
                      <a:pt x="58" y="320"/>
                    </a:lnTo>
                    <a:lnTo>
                      <a:pt x="289" y="449"/>
                    </a:lnTo>
                    <a:lnTo>
                      <a:pt x="1304" y="449"/>
                    </a:lnTo>
                    <a:lnTo>
                      <a:pt x="1304" y="50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7" name="Rectangle 76">
                <a:extLst>
                  <a:ext uri="{FF2B5EF4-FFF2-40B4-BE49-F238E27FC236}">
                    <a16:creationId xmlns:a16="http://schemas.microsoft.com/office/drawing/2014/main" id="{84A00AF0-E731-446B-8322-61A5AE0FF6AE}"/>
                  </a:ext>
                </a:extLst>
              </p:cNvPr>
              <p:cNvSpPr>
                <a:spLocks noChangeArrowheads="1"/>
              </p:cNvSpPr>
              <p:nvPr/>
            </p:nvSpPr>
            <p:spPr bwMode="auto">
              <a:xfrm>
                <a:off x="4338638" y="781050"/>
                <a:ext cx="90488" cy="8286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8" name="Rectangle 77">
                <a:extLst>
                  <a:ext uri="{FF2B5EF4-FFF2-40B4-BE49-F238E27FC236}">
                    <a16:creationId xmlns:a16="http://schemas.microsoft.com/office/drawing/2014/main" id="{52EC7BA4-1633-4F98-A2A3-AE097EAE157E}"/>
                  </a:ext>
                </a:extLst>
              </p:cNvPr>
              <p:cNvSpPr>
                <a:spLocks noChangeArrowheads="1"/>
              </p:cNvSpPr>
              <p:nvPr/>
            </p:nvSpPr>
            <p:spPr bwMode="auto">
              <a:xfrm>
                <a:off x="4762500" y="0"/>
                <a:ext cx="90488" cy="160972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79" name="Rectangle 78">
                <a:extLst>
                  <a:ext uri="{FF2B5EF4-FFF2-40B4-BE49-F238E27FC236}">
                    <a16:creationId xmlns:a16="http://schemas.microsoft.com/office/drawing/2014/main" id="{F61A0D3A-8CB9-42A7-89E3-BCE78260260E}"/>
                  </a:ext>
                </a:extLst>
              </p:cNvPr>
              <p:cNvSpPr>
                <a:spLocks noChangeArrowheads="1"/>
              </p:cNvSpPr>
              <p:nvPr/>
            </p:nvSpPr>
            <p:spPr bwMode="auto">
              <a:xfrm>
                <a:off x="5187950" y="1"/>
                <a:ext cx="90488" cy="1609726"/>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0" name="Freeform 79">
                <a:extLst>
                  <a:ext uri="{FF2B5EF4-FFF2-40B4-BE49-F238E27FC236}">
                    <a16:creationId xmlns:a16="http://schemas.microsoft.com/office/drawing/2014/main" id="{19411E09-7A62-4C1A-AD96-6A81A55090B8}"/>
                  </a:ext>
                </a:extLst>
              </p:cNvPr>
              <p:cNvSpPr>
                <a:spLocks/>
              </p:cNvSpPr>
              <p:nvPr/>
            </p:nvSpPr>
            <p:spPr bwMode="auto">
              <a:xfrm>
                <a:off x="6461125" y="0"/>
                <a:ext cx="284163" cy="1609725"/>
              </a:xfrm>
              <a:custGeom>
                <a:avLst/>
                <a:gdLst>
                  <a:gd name="T0" fmla="*/ 57 w 179"/>
                  <a:gd name="T1" fmla="*/ 1035 h 1035"/>
                  <a:gd name="T2" fmla="*/ 0 w 179"/>
                  <a:gd name="T3" fmla="*/ 1035 h 1035"/>
                  <a:gd name="T4" fmla="*/ 0 w 179"/>
                  <a:gd name="T5" fmla="*/ 725 h 1035"/>
                  <a:gd name="T6" fmla="*/ 121 w 179"/>
                  <a:gd name="T7" fmla="*/ 506 h 1035"/>
                  <a:gd name="T8" fmla="*/ 121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1" y="506"/>
                    </a:lnTo>
                    <a:lnTo>
                      <a:pt x="121"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1" name="Freeform 80">
                <a:extLst>
                  <a:ext uri="{FF2B5EF4-FFF2-40B4-BE49-F238E27FC236}">
                    <a16:creationId xmlns:a16="http://schemas.microsoft.com/office/drawing/2014/main" id="{F1BC7555-0A88-4B84-AB35-D78FAFC66220}"/>
                  </a:ext>
                </a:extLst>
              </p:cNvPr>
              <p:cNvSpPr>
                <a:spLocks/>
              </p:cNvSpPr>
              <p:nvPr/>
            </p:nvSpPr>
            <p:spPr bwMode="auto">
              <a:xfrm>
                <a:off x="5842000" y="0"/>
                <a:ext cx="284163" cy="1609725"/>
              </a:xfrm>
              <a:custGeom>
                <a:avLst/>
                <a:gdLst>
                  <a:gd name="T0" fmla="*/ 179 w 179"/>
                  <a:gd name="T1" fmla="*/ 1035 h 1035"/>
                  <a:gd name="T2" fmla="*/ 122 w 179"/>
                  <a:gd name="T3" fmla="*/ 1035 h 1035"/>
                  <a:gd name="T4" fmla="*/ 122 w 179"/>
                  <a:gd name="T5" fmla="*/ 740 h 1035"/>
                  <a:gd name="T6" fmla="*/ 0 w 179"/>
                  <a:gd name="T7" fmla="*/ 520 h 1035"/>
                  <a:gd name="T8" fmla="*/ 0 w 179"/>
                  <a:gd name="T9" fmla="*/ 0 h 1035"/>
                  <a:gd name="T10" fmla="*/ 58 w 179"/>
                  <a:gd name="T11" fmla="*/ 0 h 1035"/>
                  <a:gd name="T12" fmla="*/ 58 w 179"/>
                  <a:gd name="T13" fmla="*/ 506 h 1035"/>
                  <a:gd name="T14" fmla="*/ 179 w 179"/>
                  <a:gd name="T15" fmla="*/ 725 h 1035"/>
                  <a:gd name="T16" fmla="*/ 179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179" y="1035"/>
                    </a:moveTo>
                    <a:lnTo>
                      <a:pt x="122" y="1035"/>
                    </a:lnTo>
                    <a:lnTo>
                      <a:pt x="122" y="740"/>
                    </a:lnTo>
                    <a:lnTo>
                      <a:pt x="0" y="520"/>
                    </a:lnTo>
                    <a:lnTo>
                      <a:pt x="0" y="0"/>
                    </a:lnTo>
                    <a:lnTo>
                      <a:pt x="58" y="0"/>
                    </a:lnTo>
                    <a:lnTo>
                      <a:pt x="58" y="506"/>
                    </a:lnTo>
                    <a:lnTo>
                      <a:pt x="179" y="725"/>
                    </a:lnTo>
                    <a:lnTo>
                      <a:pt x="179"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2" name="Freeform 81">
                <a:extLst>
                  <a:ext uri="{FF2B5EF4-FFF2-40B4-BE49-F238E27FC236}">
                    <a16:creationId xmlns:a16="http://schemas.microsoft.com/office/drawing/2014/main" id="{DBA56DF2-9C0C-48DA-A2C8-C1973B265D36}"/>
                  </a:ext>
                </a:extLst>
              </p:cNvPr>
              <p:cNvSpPr>
                <a:spLocks/>
              </p:cNvSpPr>
              <p:nvPr/>
            </p:nvSpPr>
            <p:spPr bwMode="auto">
              <a:xfrm>
                <a:off x="5418138" y="0"/>
                <a:ext cx="284163" cy="1609725"/>
              </a:xfrm>
              <a:custGeom>
                <a:avLst/>
                <a:gdLst>
                  <a:gd name="T0" fmla="*/ 179 w 179"/>
                  <a:gd name="T1" fmla="*/ 1035 h 1035"/>
                  <a:gd name="T2" fmla="*/ 122 w 179"/>
                  <a:gd name="T3" fmla="*/ 1035 h 1035"/>
                  <a:gd name="T4" fmla="*/ 122 w 179"/>
                  <a:gd name="T5" fmla="*/ 740 h 1035"/>
                  <a:gd name="T6" fmla="*/ 0 w 179"/>
                  <a:gd name="T7" fmla="*/ 520 h 1035"/>
                  <a:gd name="T8" fmla="*/ 0 w 179"/>
                  <a:gd name="T9" fmla="*/ 0 h 1035"/>
                  <a:gd name="T10" fmla="*/ 57 w 179"/>
                  <a:gd name="T11" fmla="*/ 0 h 1035"/>
                  <a:gd name="T12" fmla="*/ 57 w 179"/>
                  <a:gd name="T13" fmla="*/ 506 h 1035"/>
                  <a:gd name="T14" fmla="*/ 179 w 179"/>
                  <a:gd name="T15" fmla="*/ 725 h 1035"/>
                  <a:gd name="T16" fmla="*/ 179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179" y="1035"/>
                    </a:moveTo>
                    <a:lnTo>
                      <a:pt x="122" y="1035"/>
                    </a:lnTo>
                    <a:lnTo>
                      <a:pt x="122" y="740"/>
                    </a:lnTo>
                    <a:lnTo>
                      <a:pt x="0" y="520"/>
                    </a:lnTo>
                    <a:lnTo>
                      <a:pt x="0" y="0"/>
                    </a:lnTo>
                    <a:lnTo>
                      <a:pt x="57" y="0"/>
                    </a:lnTo>
                    <a:lnTo>
                      <a:pt x="57" y="506"/>
                    </a:lnTo>
                    <a:lnTo>
                      <a:pt x="179" y="725"/>
                    </a:lnTo>
                    <a:lnTo>
                      <a:pt x="179"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3" name="Freeform 82">
                <a:extLst>
                  <a:ext uri="{FF2B5EF4-FFF2-40B4-BE49-F238E27FC236}">
                    <a16:creationId xmlns:a16="http://schemas.microsoft.com/office/drawing/2014/main" id="{61897DC2-F356-407A-8F30-C047E7DA8621}"/>
                  </a:ext>
                </a:extLst>
              </p:cNvPr>
              <p:cNvSpPr>
                <a:spLocks/>
              </p:cNvSpPr>
              <p:nvPr/>
            </p:nvSpPr>
            <p:spPr bwMode="auto">
              <a:xfrm>
                <a:off x="6884988" y="0"/>
                <a:ext cx="284163" cy="1609725"/>
              </a:xfrm>
              <a:custGeom>
                <a:avLst/>
                <a:gdLst>
                  <a:gd name="T0" fmla="*/ 57 w 179"/>
                  <a:gd name="T1" fmla="*/ 1035 h 1035"/>
                  <a:gd name="T2" fmla="*/ 0 w 179"/>
                  <a:gd name="T3" fmla="*/ 1035 h 1035"/>
                  <a:gd name="T4" fmla="*/ 0 w 179"/>
                  <a:gd name="T5" fmla="*/ 725 h 1035"/>
                  <a:gd name="T6" fmla="*/ 122 w 179"/>
                  <a:gd name="T7" fmla="*/ 506 h 1035"/>
                  <a:gd name="T8" fmla="*/ 122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2" y="506"/>
                    </a:lnTo>
                    <a:lnTo>
                      <a:pt x="122"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4" name="Freeform 83">
                <a:extLst>
                  <a:ext uri="{FF2B5EF4-FFF2-40B4-BE49-F238E27FC236}">
                    <a16:creationId xmlns:a16="http://schemas.microsoft.com/office/drawing/2014/main" id="{5FDBBE59-ED6B-409D-B74A-71A9BB19DE79}"/>
                  </a:ext>
                </a:extLst>
              </p:cNvPr>
              <p:cNvSpPr>
                <a:spLocks/>
              </p:cNvSpPr>
              <p:nvPr/>
            </p:nvSpPr>
            <p:spPr bwMode="auto">
              <a:xfrm>
                <a:off x="7308850" y="0"/>
                <a:ext cx="284163" cy="1609725"/>
              </a:xfrm>
              <a:custGeom>
                <a:avLst/>
                <a:gdLst>
                  <a:gd name="T0" fmla="*/ 57 w 179"/>
                  <a:gd name="T1" fmla="*/ 1035 h 1035"/>
                  <a:gd name="T2" fmla="*/ 0 w 179"/>
                  <a:gd name="T3" fmla="*/ 1035 h 1035"/>
                  <a:gd name="T4" fmla="*/ 0 w 179"/>
                  <a:gd name="T5" fmla="*/ 725 h 1035"/>
                  <a:gd name="T6" fmla="*/ 122 w 179"/>
                  <a:gd name="T7" fmla="*/ 506 h 1035"/>
                  <a:gd name="T8" fmla="*/ 122 w 179"/>
                  <a:gd name="T9" fmla="*/ 0 h 1035"/>
                  <a:gd name="T10" fmla="*/ 179 w 179"/>
                  <a:gd name="T11" fmla="*/ 0 h 1035"/>
                  <a:gd name="T12" fmla="*/ 179 w 179"/>
                  <a:gd name="T13" fmla="*/ 520 h 1035"/>
                  <a:gd name="T14" fmla="*/ 57 w 179"/>
                  <a:gd name="T15" fmla="*/ 740 h 1035"/>
                  <a:gd name="T16" fmla="*/ 57 w 179"/>
                  <a:gd name="T17" fmla="*/ 1035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 h="1035">
                    <a:moveTo>
                      <a:pt x="57" y="1035"/>
                    </a:moveTo>
                    <a:lnTo>
                      <a:pt x="0" y="1035"/>
                    </a:lnTo>
                    <a:lnTo>
                      <a:pt x="0" y="725"/>
                    </a:lnTo>
                    <a:lnTo>
                      <a:pt x="122" y="506"/>
                    </a:lnTo>
                    <a:lnTo>
                      <a:pt x="122" y="0"/>
                    </a:lnTo>
                    <a:lnTo>
                      <a:pt x="179" y="0"/>
                    </a:lnTo>
                    <a:lnTo>
                      <a:pt x="179" y="520"/>
                    </a:lnTo>
                    <a:lnTo>
                      <a:pt x="57" y="740"/>
                    </a:lnTo>
                    <a:lnTo>
                      <a:pt x="57" y="1035"/>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5" name="Freeform 84">
                <a:extLst>
                  <a:ext uri="{FF2B5EF4-FFF2-40B4-BE49-F238E27FC236}">
                    <a16:creationId xmlns:a16="http://schemas.microsoft.com/office/drawing/2014/main" id="{0EE0B35A-A3D0-4C9B-B565-8CD90AE9A2E5}"/>
                  </a:ext>
                </a:extLst>
              </p:cNvPr>
              <p:cNvSpPr>
                <a:spLocks/>
              </p:cNvSpPr>
              <p:nvPr/>
            </p:nvSpPr>
            <p:spPr bwMode="auto">
              <a:xfrm>
                <a:off x="7732713" y="76200"/>
                <a:ext cx="2854325" cy="1544638"/>
              </a:xfrm>
              <a:custGeom>
                <a:avLst/>
                <a:gdLst>
                  <a:gd name="T0" fmla="*/ 55 w 1798"/>
                  <a:gd name="T1" fmla="*/ 973 h 973"/>
                  <a:gd name="T2" fmla="*/ 0 w 1798"/>
                  <a:gd name="T3" fmla="*/ 959 h 973"/>
                  <a:gd name="T4" fmla="*/ 134 w 1798"/>
                  <a:gd name="T5" fmla="*/ 415 h 973"/>
                  <a:gd name="T6" fmla="*/ 1132 w 1798"/>
                  <a:gd name="T7" fmla="*/ 415 h 973"/>
                  <a:gd name="T8" fmla="*/ 1767 w 1798"/>
                  <a:gd name="T9" fmla="*/ 0 h 973"/>
                  <a:gd name="T10" fmla="*/ 1798 w 1798"/>
                  <a:gd name="T11" fmla="*/ 48 h 973"/>
                  <a:gd name="T12" fmla="*/ 1149 w 1798"/>
                  <a:gd name="T13" fmla="*/ 473 h 973"/>
                  <a:gd name="T14" fmla="*/ 177 w 1798"/>
                  <a:gd name="T15" fmla="*/ 473 h 973"/>
                  <a:gd name="T16" fmla="*/ 55 w 1798"/>
                  <a:gd name="T17" fmla="*/ 973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98" h="973">
                    <a:moveTo>
                      <a:pt x="55" y="973"/>
                    </a:moveTo>
                    <a:lnTo>
                      <a:pt x="0" y="959"/>
                    </a:lnTo>
                    <a:lnTo>
                      <a:pt x="134" y="415"/>
                    </a:lnTo>
                    <a:lnTo>
                      <a:pt x="1132" y="415"/>
                    </a:lnTo>
                    <a:lnTo>
                      <a:pt x="1767" y="0"/>
                    </a:lnTo>
                    <a:lnTo>
                      <a:pt x="1798" y="48"/>
                    </a:lnTo>
                    <a:lnTo>
                      <a:pt x="1149" y="473"/>
                    </a:lnTo>
                    <a:lnTo>
                      <a:pt x="177" y="473"/>
                    </a:lnTo>
                    <a:lnTo>
                      <a:pt x="55" y="97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6" name="Freeform 85">
                <a:extLst>
                  <a:ext uri="{FF2B5EF4-FFF2-40B4-BE49-F238E27FC236}">
                    <a16:creationId xmlns:a16="http://schemas.microsoft.com/office/drawing/2014/main" id="{E8A56942-BBA2-4937-B475-87644034E554}"/>
                  </a:ext>
                </a:extLst>
              </p:cNvPr>
              <p:cNvSpPr>
                <a:spLocks/>
              </p:cNvSpPr>
              <p:nvPr/>
            </p:nvSpPr>
            <p:spPr bwMode="auto">
              <a:xfrm>
                <a:off x="1281113" y="280988"/>
                <a:ext cx="704850" cy="1768475"/>
              </a:xfrm>
              <a:custGeom>
                <a:avLst/>
                <a:gdLst>
                  <a:gd name="T0" fmla="*/ 174 w 444"/>
                  <a:gd name="T1" fmla="*/ 1114 h 1114"/>
                  <a:gd name="T2" fmla="*/ 0 w 444"/>
                  <a:gd name="T3" fmla="*/ 895 h 1114"/>
                  <a:gd name="T4" fmla="*/ 0 w 444"/>
                  <a:gd name="T5" fmla="*/ 432 h 1114"/>
                  <a:gd name="T6" fmla="*/ 401 w 444"/>
                  <a:gd name="T7" fmla="*/ 0 h 1114"/>
                  <a:gd name="T8" fmla="*/ 444 w 444"/>
                  <a:gd name="T9" fmla="*/ 38 h 1114"/>
                  <a:gd name="T10" fmla="*/ 57 w 444"/>
                  <a:gd name="T11" fmla="*/ 456 h 1114"/>
                  <a:gd name="T12" fmla="*/ 57 w 444"/>
                  <a:gd name="T13" fmla="*/ 875 h 1114"/>
                  <a:gd name="T14" fmla="*/ 219 w 444"/>
                  <a:gd name="T15" fmla="*/ 1078 h 1114"/>
                  <a:gd name="T16" fmla="*/ 174 w 444"/>
                  <a:gd name="T17" fmla="*/ 1114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1114">
                    <a:moveTo>
                      <a:pt x="174" y="1114"/>
                    </a:moveTo>
                    <a:lnTo>
                      <a:pt x="0" y="895"/>
                    </a:lnTo>
                    <a:lnTo>
                      <a:pt x="0" y="432"/>
                    </a:lnTo>
                    <a:lnTo>
                      <a:pt x="401" y="0"/>
                    </a:lnTo>
                    <a:lnTo>
                      <a:pt x="444" y="38"/>
                    </a:lnTo>
                    <a:lnTo>
                      <a:pt x="57" y="456"/>
                    </a:lnTo>
                    <a:lnTo>
                      <a:pt x="57" y="875"/>
                    </a:lnTo>
                    <a:lnTo>
                      <a:pt x="219" y="1078"/>
                    </a:lnTo>
                    <a:lnTo>
                      <a:pt x="174" y="1114"/>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7" name="Freeform 86">
                <a:extLst>
                  <a:ext uri="{FF2B5EF4-FFF2-40B4-BE49-F238E27FC236}">
                    <a16:creationId xmlns:a16="http://schemas.microsoft.com/office/drawing/2014/main" id="{F0513F09-28E8-4A3F-BECB-5757BE2D8065}"/>
                  </a:ext>
                </a:extLst>
              </p:cNvPr>
              <p:cNvSpPr>
                <a:spLocks noEditPoints="1"/>
              </p:cNvSpPr>
              <p:nvPr/>
            </p:nvSpPr>
            <p:spPr bwMode="auto">
              <a:xfrm>
                <a:off x="2109788" y="1928813"/>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8" name="Freeform 87">
                <a:extLst>
                  <a:ext uri="{FF2B5EF4-FFF2-40B4-BE49-F238E27FC236}">
                    <a16:creationId xmlns:a16="http://schemas.microsoft.com/office/drawing/2014/main" id="{A6A31E92-08B8-420C-9187-E022BA8D1FFF}"/>
                  </a:ext>
                </a:extLst>
              </p:cNvPr>
              <p:cNvSpPr>
                <a:spLocks/>
              </p:cNvSpPr>
              <p:nvPr/>
            </p:nvSpPr>
            <p:spPr bwMode="auto">
              <a:xfrm>
                <a:off x="1906588" y="114300"/>
                <a:ext cx="347663" cy="1935163"/>
              </a:xfrm>
              <a:custGeom>
                <a:avLst/>
                <a:gdLst>
                  <a:gd name="T0" fmla="*/ 174 w 219"/>
                  <a:gd name="T1" fmla="*/ 1219 h 1219"/>
                  <a:gd name="T2" fmla="*/ 0 w 219"/>
                  <a:gd name="T3" fmla="*/ 1000 h 1219"/>
                  <a:gd name="T4" fmla="*/ 0 w 219"/>
                  <a:gd name="T5" fmla="*/ 0 h 1219"/>
                  <a:gd name="T6" fmla="*/ 57 w 219"/>
                  <a:gd name="T7" fmla="*/ 0 h 1219"/>
                  <a:gd name="T8" fmla="*/ 57 w 219"/>
                  <a:gd name="T9" fmla="*/ 980 h 1219"/>
                  <a:gd name="T10" fmla="*/ 219 w 219"/>
                  <a:gd name="T11" fmla="*/ 1183 h 1219"/>
                  <a:gd name="T12" fmla="*/ 174 w 219"/>
                  <a:gd name="T13" fmla="*/ 1219 h 1219"/>
                </a:gdLst>
                <a:ahLst/>
                <a:cxnLst>
                  <a:cxn ang="0">
                    <a:pos x="T0" y="T1"/>
                  </a:cxn>
                  <a:cxn ang="0">
                    <a:pos x="T2" y="T3"/>
                  </a:cxn>
                  <a:cxn ang="0">
                    <a:pos x="T4" y="T5"/>
                  </a:cxn>
                  <a:cxn ang="0">
                    <a:pos x="T6" y="T7"/>
                  </a:cxn>
                  <a:cxn ang="0">
                    <a:pos x="T8" y="T9"/>
                  </a:cxn>
                  <a:cxn ang="0">
                    <a:pos x="T10" y="T11"/>
                  </a:cxn>
                  <a:cxn ang="0">
                    <a:pos x="T12" y="T13"/>
                  </a:cxn>
                </a:cxnLst>
                <a:rect l="0" t="0" r="r" b="b"/>
                <a:pathLst>
                  <a:path w="219" h="1219">
                    <a:moveTo>
                      <a:pt x="174" y="1219"/>
                    </a:moveTo>
                    <a:lnTo>
                      <a:pt x="0" y="1000"/>
                    </a:lnTo>
                    <a:lnTo>
                      <a:pt x="0" y="0"/>
                    </a:lnTo>
                    <a:lnTo>
                      <a:pt x="57" y="0"/>
                    </a:lnTo>
                    <a:lnTo>
                      <a:pt x="57" y="980"/>
                    </a:lnTo>
                    <a:lnTo>
                      <a:pt x="219" y="1183"/>
                    </a:lnTo>
                    <a:lnTo>
                      <a:pt x="174" y="1219"/>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89" name="Rectangle 88">
                <a:extLst>
                  <a:ext uri="{FF2B5EF4-FFF2-40B4-BE49-F238E27FC236}">
                    <a16:creationId xmlns:a16="http://schemas.microsoft.com/office/drawing/2014/main" id="{CF2EC49A-C36C-41E7-B26C-315C78D77761}"/>
                  </a:ext>
                </a:extLst>
              </p:cNvPr>
              <p:cNvSpPr>
                <a:spLocks noChangeArrowheads="1"/>
              </p:cNvSpPr>
              <p:nvPr/>
            </p:nvSpPr>
            <p:spPr bwMode="auto">
              <a:xfrm>
                <a:off x="609600" y="6130925"/>
                <a:ext cx="92075" cy="727075"/>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0" name="Freeform 89">
                <a:extLst>
                  <a:ext uri="{FF2B5EF4-FFF2-40B4-BE49-F238E27FC236}">
                    <a16:creationId xmlns:a16="http://schemas.microsoft.com/office/drawing/2014/main" id="{85F30256-9B8F-4F7A-832E-90CF2AF7E3C4}"/>
                  </a:ext>
                </a:extLst>
              </p:cNvPr>
              <p:cNvSpPr>
                <a:spLocks/>
              </p:cNvSpPr>
              <p:nvPr/>
            </p:nvSpPr>
            <p:spPr bwMode="auto">
              <a:xfrm>
                <a:off x="1106488" y="6354763"/>
                <a:ext cx="1693863" cy="503237"/>
              </a:xfrm>
              <a:custGeom>
                <a:avLst/>
                <a:gdLst>
                  <a:gd name="T0" fmla="*/ 1067 w 1067"/>
                  <a:gd name="T1" fmla="*/ 250 h 250"/>
                  <a:gd name="T2" fmla="*/ 1010 w 1067"/>
                  <a:gd name="T3" fmla="*/ 250 h 250"/>
                  <a:gd name="T4" fmla="*/ 1010 w 1067"/>
                  <a:gd name="T5" fmla="*/ 57 h 250"/>
                  <a:gd name="T6" fmla="*/ 57 w 1067"/>
                  <a:gd name="T7" fmla="*/ 57 h 250"/>
                  <a:gd name="T8" fmla="*/ 57 w 1067"/>
                  <a:gd name="T9" fmla="*/ 250 h 250"/>
                  <a:gd name="T10" fmla="*/ 0 w 1067"/>
                  <a:gd name="T11" fmla="*/ 250 h 250"/>
                  <a:gd name="T12" fmla="*/ 0 w 1067"/>
                  <a:gd name="T13" fmla="*/ 0 h 250"/>
                  <a:gd name="T14" fmla="*/ 1067 w 1067"/>
                  <a:gd name="T15" fmla="*/ 0 h 250"/>
                  <a:gd name="T16" fmla="*/ 1067 w 1067"/>
                  <a:gd name="T17"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7" h="250">
                    <a:moveTo>
                      <a:pt x="1067" y="250"/>
                    </a:moveTo>
                    <a:lnTo>
                      <a:pt x="1010" y="250"/>
                    </a:lnTo>
                    <a:lnTo>
                      <a:pt x="1010" y="57"/>
                    </a:lnTo>
                    <a:lnTo>
                      <a:pt x="57" y="57"/>
                    </a:lnTo>
                    <a:lnTo>
                      <a:pt x="57" y="250"/>
                    </a:lnTo>
                    <a:lnTo>
                      <a:pt x="0" y="250"/>
                    </a:lnTo>
                    <a:lnTo>
                      <a:pt x="0" y="0"/>
                    </a:lnTo>
                    <a:lnTo>
                      <a:pt x="1067" y="0"/>
                    </a:lnTo>
                    <a:lnTo>
                      <a:pt x="1067" y="250"/>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1" name="Freeform 90">
                <a:extLst>
                  <a:ext uri="{FF2B5EF4-FFF2-40B4-BE49-F238E27FC236}">
                    <a16:creationId xmlns:a16="http://schemas.microsoft.com/office/drawing/2014/main" id="{56238CC1-186F-4F1B-9AEB-EDE4654E00FB}"/>
                  </a:ext>
                </a:extLst>
              </p:cNvPr>
              <p:cNvSpPr>
                <a:spLocks/>
              </p:cNvSpPr>
              <p:nvPr/>
            </p:nvSpPr>
            <p:spPr bwMode="auto">
              <a:xfrm>
                <a:off x="8961438" y="1193800"/>
                <a:ext cx="1401763" cy="1454150"/>
              </a:xfrm>
              <a:custGeom>
                <a:avLst/>
                <a:gdLst>
                  <a:gd name="T0" fmla="*/ 258 w 883"/>
                  <a:gd name="T1" fmla="*/ 916 h 916"/>
                  <a:gd name="T2" fmla="*/ 0 w 883"/>
                  <a:gd name="T3" fmla="*/ 916 h 916"/>
                  <a:gd name="T4" fmla="*/ 0 w 883"/>
                  <a:gd name="T5" fmla="*/ 859 h 916"/>
                  <a:gd name="T6" fmla="*/ 200 w 883"/>
                  <a:gd name="T7" fmla="*/ 859 h 916"/>
                  <a:gd name="T8" fmla="*/ 200 w 883"/>
                  <a:gd name="T9" fmla="*/ 0 h 916"/>
                  <a:gd name="T10" fmla="*/ 883 w 883"/>
                  <a:gd name="T11" fmla="*/ 0 h 916"/>
                  <a:gd name="T12" fmla="*/ 883 w 883"/>
                  <a:gd name="T13" fmla="*/ 222 h 916"/>
                  <a:gd name="T14" fmla="*/ 826 w 883"/>
                  <a:gd name="T15" fmla="*/ 222 h 916"/>
                  <a:gd name="T16" fmla="*/ 826 w 883"/>
                  <a:gd name="T17" fmla="*/ 57 h 916"/>
                  <a:gd name="T18" fmla="*/ 258 w 883"/>
                  <a:gd name="T19" fmla="*/ 57 h 916"/>
                  <a:gd name="T20" fmla="*/ 258 w 883"/>
                  <a:gd name="T21"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83" h="916">
                    <a:moveTo>
                      <a:pt x="258" y="916"/>
                    </a:moveTo>
                    <a:lnTo>
                      <a:pt x="0" y="916"/>
                    </a:lnTo>
                    <a:lnTo>
                      <a:pt x="0" y="859"/>
                    </a:lnTo>
                    <a:lnTo>
                      <a:pt x="200" y="859"/>
                    </a:lnTo>
                    <a:lnTo>
                      <a:pt x="200" y="0"/>
                    </a:lnTo>
                    <a:lnTo>
                      <a:pt x="883" y="0"/>
                    </a:lnTo>
                    <a:lnTo>
                      <a:pt x="883" y="222"/>
                    </a:lnTo>
                    <a:lnTo>
                      <a:pt x="826" y="222"/>
                    </a:lnTo>
                    <a:lnTo>
                      <a:pt x="826" y="57"/>
                    </a:lnTo>
                    <a:lnTo>
                      <a:pt x="258" y="57"/>
                    </a:lnTo>
                    <a:lnTo>
                      <a:pt x="258" y="916"/>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2" name="Freeform 91">
                <a:extLst>
                  <a:ext uri="{FF2B5EF4-FFF2-40B4-BE49-F238E27FC236}">
                    <a16:creationId xmlns:a16="http://schemas.microsoft.com/office/drawing/2014/main" id="{B55ACEAB-87BD-4173-BFFE-3149F1A900C0}"/>
                  </a:ext>
                </a:extLst>
              </p:cNvPr>
              <p:cNvSpPr>
                <a:spLocks/>
              </p:cNvSpPr>
              <p:nvPr/>
            </p:nvSpPr>
            <p:spPr bwMode="auto">
              <a:xfrm>
                <a:off x="8961438" y="2344738"/>
                <a:ext cx="1284288" cy="727075"/>
              </a:xfrm>
              <a:custGeom>
                <a:avLst/>
                <a:gdLst>
                  <a:gd name="T0" fmla="*/ 406 w 809"/>
                  <a:gd name="T1" fmla="*/ 458 h 458"/>
                  <a:gd name="T2" fmla="*/ 0 w 809"/>
                  <a:gd name="T3" fmla="*/ 458 h 458"/>
                  <a:gd name="T4" fmla="*/ 0 w 809"/>
                  <a:gd name="T5" fmla="*/ 401 h 458"/>
                  <a:gd name="T6" fmla="*/ 348 w 809"/>
                  <a:gd name="T7" fmla="*/ 401 h 458"/>
                  <a:gd name="T8" fmla="*/ 348 w 809"/>
                  <a:gd name="T9" fmla="*/ 0 h 458"/>
                  <a:gd name="T10" fmla="*/ 577 w 809"/>
                  <a:gd name="T11" fmla="*/ 0 h 458"/>
                  <a:gd name="T12" fmla="*/ 809 w 809"/>
                  <a:gd name="T13" fmla="*/ 184 h 458"/>
                  <a:gd name="T14" fmla="*/ 773 w 809"/>
                  <a:gd name="T15" fmla="*/ 229 h 458"/>
                  <a:gd name="T16" fmla="*/ 556 w 809"/>
                  <a:gd name="T17" fmla="*/ 57 h 458"/>
                  <a:gd name="T18" fmla="*/ 406 w 809"/>
                  <a:gd name="T19" fmla="*/ 57 h 458"/>
                  <a:gd name="T20" fmla="*/ 406 w 809"/>
                  <a:gd name="T21" fmla="*/ 458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9" h="458">
                    <a:moveTo>
                      <a:pt x="406" y="458"/>
                    </a:moveTo>
                    <a:lnTo>
                      <a:pt x="0" y="458"/>
                    </a:lnTo>
                    <a:lnTo>
                      <a:pt x="0" y="401"/>
                    </a:lnTo>
                    <a:lnTo>
                      <a:pt x="348" y="401"/>
                    </a:lnTo>
                    <a:lnTo>
                      <a:pt x="348" y="0"/>
                    </a:lnTo>
                    <a:lnTo>
                      <a:pt x="577" y="0"/>
                    </a:lnTo>
                    <a:lnTo>
                      <a:pt x="809" y="184"/>
                    </a:lnTo>
                    <a:lnTo>
                      <a:pt x="773" y="229"/>
                    </a:lnTo>
                    <a:lnTo>
                      <a:pt x="556" y="57"/>
                    </a:lnTo>
                    <a:lnTo>
                      <a:pt x="406" y="57"/>
                    </a:lnTo>
                    <a:lnTo>
                      <a:pt x="406" y="458"/>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3" name="Freeform 92">
                <a:extLst>
                  <a:ext uri="{FF2B5EF4-FFF2-40B4-BE49-F238E27FC236}">
                    <a16:creationId xmlns:a16="http://schemas.microsoft.com/office/drawing/2014/main" id="{ED91C094-261C-422A-A2E9-F20835E9D782}"/>
                  </a:ext>
                </a:extLst>
              </p:cNvPr>
              <p:cNvSpPr>
                <a:spLocks/>
              </p:cNvSpPr>
              <p:nvPr/>
            </p:nvSpPr>
            <p:spPr bwMode="auto">
              <a:xfrm>
                <a:off x="8961438" y="3405188"/>
                <a:ext cx="631825" cy="514350"/>
              </a:xfrm>
              <a:custGeom>
                <a:avLst/>
                <a:gdLst>
                  <a:gd name="T0" fmla="*/ 398 w 398"/>
                  <a:gd name="T1" fmla="*/ 324 h 324"/>
                  <a:gd name="T2" fmla="*/ 0 w 398"/>
                  <a:gd name="T3" fmla="*/ 324 h 324"/>
                  <a:gd name="T4" fmla="*/ 0 w 398"/>
                  <a:gd name="T5" fmla="*/ 267 h 324"/>
                  <a:gd name="T6" fmla="*/ 341 w 398"/>
                  <a:gd name="T7" fmla="*/ 267 h 324"/>
                  <a:gd name="T8" fmla="*/ 341 w 398"/>
                  <a:gd name="T9" fmla="*/ 57 h 324"/>
                  <a:gd name="T10" fmla="*/ 0 w 398"/>
                  <a:gd name="T11" fmla="*/ 57 h 324"/>
                  <a:gd name="T12" fmla="*/ 0 w 398"/>
                  <a:gd name="T13" fmla="*/ 0 h 324"/>
                  <a:gd name="T14" fmla="*/ 398 w 398"/>
                  <a:gd name="T15" fmla="*/ 0 h 324"/>
                  <a:gd name="T16" fmla="*/ 398 w 398"/>
                  <a:gd name="T17"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8" h="324">
                    <a:moveTo>
                      <a:pt x="398" y="324"/>
                    </a:moveTo>
                    <a:lnTo>
                      <a:pt x="0" y="324"/>
                    </a:lnTo>
                    <a:lnTo>
                      <a:pt x="0" y="267"/>
                    </a:lnTo>
                    <a:lnTo>
                      <a:pt x="341" y="267"/>
                    </a:lnTo>
                    <a:lnTo>
                      <a:pt x="341" y="57"/>
                    </a:lnTo>
                    <a:lnTo>
                      <a:pt x="0" y="57"/>
                    </a:lnTo>
                    <a:lnTo>
                      <a:pt x="0" y="0"/>
                    </a:lnTo>
                    <a:lnTo>
                      <a:pt x="398" y="0"/>
                    </a:lnTo>
                    <a:lnTo>
                      <a:pt x="398" y="324"/>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94" name="Freeform 93">
                <a:extLst>
                  <a:ext uri="{FF2B5EF4-FFF2-40B4-BE49-F238E27FC236}">
                    <a16:creationId xmlns:a16="http://schemas.microsoft.com/office/drawing/2014/main" id="{993BE429-C939-4562-83C0-C1C34996BB13}"/>
                  </a:ext>
                </a:extLst>
              </p:cNvPr>
              <p:cNvSpPr>
                <a:spLocks/>
              </p:cNvSpPr>
              <p:nvPr/>
            </p:nvSpPr>
            <p:spPr bwMode="auto">
              <a:xfrm>
                <a:off x="9737725" y="4340225"/>
                <a:ext cx="458788" cy="757238"/>
              </a:xfrm>
              <a:custGeom>
                <a:avLst/>
                <a:gdLst>
                  <a:gd name="T0" fmla="*/ 289 w 289"/>
                  <a:gd name="T1" fmla="*/ 477 h 477"/>
                  <a:gd name="T2" fmla="*/ 0 w 289"/>
                  <a:gd name="T3" fmla="*/ 477 h 477"/>
                  <a:gd name="T4" fmla="*/ 0 w 289"/>
                  <a:gd name="T5" fmla="*/ 0 h 477"/>
                  <a:gd name="T6" fmla="*/ 289 w 289"/>
                  <a:gd name="T7" fmla="*/ 0 h 477"/>
                  <a:gd name="T8" fmla="*/ 289 w 289"/>
                  <a:gd name="T9" fmla="*/ 57 h 477"/>
                  <a:gd name="T10" fmla="*/ 57 w 289"/>
                  <a:gd name="T11" fmla="*/ 57 h 477"/>
                  <a:gd name="T12" fmla="*/ 57 w 289"/>
                  <a:gd name="T13" fmla="*/ 420 h 477"/>
                  <a:gd name="T14" fmla="*/ 289 w 289"/>
                  <a:gd name="T15" fmla="*/ 420 h 477"/>
                  <a:gd name="T16" fmla="*/ 289 w 289"/>
                  <a:gd name="T17"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9" h="477">
                    <a:moveTo>
                      <a:pt x="289" y="477"/>
                    </a:moveTo>
                    <a:lnTo>
                      <a:pt x="0" y="477"/>
                    </a:lnTo>
                    <a:lnTo>
                      <a:pt x="0" y="0"/>
                    </a:lnTo>
                    <a:lnTo>
                      <a:pt x="289" y="0"/>
                    </a:lnTo>
                    <a:lnTo>
                      <a:pt x="289" y="57"/>
                    </a:lnTo>
                    <a:lnTo>
                      <a:pt x="57" y="57"/>
                    </a:lnTo>
                    <a:lnTo>
                      <a:pt x="57" y="420"/>
                    </a:lnTo>
                    <a:lnTo>
                      <a:pt x="289" y="420"/>
                    </a:lnTo>
                    <a:lnTo>
                      <a:pt x="289" y="477"/>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nvGrpSpPr>
              <p:cNvPr id="95" name="Group 94">
                <a:extLst>
                  <a:ext uri="{FF2B5EF4-FFF2-40B4-BE49-F238E27FC236}">
                    <a16:creationId xmlns:a16="http://schemas.microsoft.com/office/drawing/2014/main" id="{38CED6A1-0675-433A-9689-BA0027F0031F}"/>
                  </a:ext>
                </a:extLst>
              </p:cNvPr>
              <p:cNvGrpSpPr/>
              <p:nvPr/>
            </p:nvGrpSpPr>
            <p:grpSpPr>
              <a:xfrm>
                <a:off x="4217988" y="4643438"/>
                <a:ext cx="3727450" cy="700087"/>
                <a:chOff x="4217988" y="4643438"/>
                <a:chExt cx="3727450" cy="700087"/>
              </a:xfrm>
            </p:grpSpPr>
            <p:sp>
              <p:nvSpPr>
                <p:cNvPr id="149" name="Freeform 148">
                  <a:extLst>
                    <a:ext uri="{FF2B5EF4-FFF2-40B4-BE49-F238E27FC236}">
                      <a16:creationId xmlns:a16="http://schemas.microsoft.com/office/drawing/2014/main" id="{F6E7FA45-567C-437F-8FAF-2829058B0E0B}"/>
                    </a:ext>
                  </a:extLst>
                </p:cNvPr>
                <p:cNvSpPr>
                  <a:spLocks noEditPoints="1"/>
                </p:cNvSpPr>
                <p:nvPr/>
              </p:nvSpPr>
              <p:spPr bwMode="auto">
                <a:xfrm>
                  <a:off x="4217988"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0" name="Freeform 149">
                  <a:extLst>
                    <a:ext uri="{FF2B5EF4-FFF2-40B4-BE49-F238E27FC236}">
                      <a16:creationId xmlns:a16="http://schemas.microsoft.com/office/drawing/2014/main" id="{F9C509A5-F4D0-4A3E-8F1D-042DDF2C09C7}"/>
                    </a:ext>
                  </a:extLst>
                </p:cNvPr>
                <p:cNvSpPr>
                  <a:spLocks noEditPoints="1"/>
                </p:cNvSpPr>
                <p:nvPr/>
              </p:nvSpPr>
              <p:spPr bwMode="auto">
                <a:xfrm>
                  <a:off x="464185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1" name="Freeform 150">
                  <a:extLst>
                    <a:ext uri="{FF2B5EF4-FFF2-40B4-BE49-F238E27FC236}">
                      <a16:creationId xmlns:a16="http://schemas.microsoft.com/office/drawing/2014/main" id="{65C54CAE-6857-41CF-88C7-83DAE75EB9BF}"/>
                    </a:ext>
                  </a:extLst>
                </p:cNvPr>
                <p:cNvSpPr>
                  <a:spLocks noEditPoints="1"/>
                </p:cNvSpPr>
                <p:nvPr/>
              </p:nvSpPr>
              <p:spPr bwMode="auto">
                <a:xfrm>
                  <a:off x="5065713"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2" name="Freeform 151">
                  <a:extLst>
                    <a:ext uri="{FF2B5EF4-FFF2-40B4-BE49-F238E27FC236}">
                      <a16:creationId xmlns:a16="http://schemas.microsoft.com/office/drawing/2014/main" id="{8C158AC3-E81B-4519-9C37-E1551467AE5B}"/>
                    </a:ext>
                  </a:extLst>
                </p:cNvPr>
                <p:cNvSpPr>
                  <a:spLocks noEditPoints="1"/>
                </p:cNvSpPr>
                <p:nvPr/>
              </p:nvSpPr>
              <p:spPr bwMode="auto">
                <a:xfrm>
                  <a:off x="5489575" y="5010150"/>
                  <a:ext cx="334963"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3" name="Freeform 152">
                  <a:extLst>
                    <a:ext uri="{FF2B5EF4-FFF2-40B4-BE49-F238E27FC236}">
                      <a16:creationId xmlns:a16="http://schemas.microsoft.com/office/drawing/2014/main" id="{9AFE2B00-9DF8-44C9-9A5A-E5381B74F1D0}"/>
                    </a:ext>
                  </a:extLst>
                </p:cNvPr>
                <p:cNvSpPr>
                  <a:spLocks noEditPoints="1"/>
                </p:cNvSpPr>
                <p:nvPr/>
              </p:nvSpPr>
              <p:spPr bwMode="auto">
                <a:xfrm>
                  <a:off x="5915025"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4" name="Freeform 153">
                  <a:extLst>
                    <a:ext uri="{FF2B5EF4-FFF2-40B4-BE49-F238E27FC236}">
                      <a16:creationId xmlns:a16="http://schemas.microsoft.com/office/drawing/2014/main" id="{552EB0B6-E588-4BA4-B734-E56C7E056C0E}"/>
                    </a:ext>
                  </a:extLst>
                </p:cNvPr>
                <p:cNvSpPr>
                  <a:spLocks noEditPoints="1"/>
                </p:cNvSpPr>
                <p:nvPr/>
              </p:nvSpPr>
              <p:spPr bwMode="auto">
                <a:xfrm>
                  <a:off x="6338888"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5" name="Freeform 154">
                  <a:extLst>
                    <a:ext uri="{FF2B5EF4-FFF2-40B4-BE49-F238E27FC236}">
                      <a16:creationId xmlns:a16="http://schemas.microsoft.com/office/drawing/2014/main" id="{FB8E7050-3451-4C50-AC5C-4C00099F6FD2}"/>
                    </a:ext>
                  </a:extLst>
                </p:cNvPr>
                <p:cNvSpPr>
                  <a:spLocks noEditPoints="1"/>
                </p:cNvSpPr>
                <p:nvPr/>
              </p:nvSpPr>
              <p:spPr bwMode="auto">
                <a:xfrm>
                  <a:off x="676275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6" name="Freeform 155">
                  <a:extLst>
                    <a:ext uri="{FF2B5EF4-FFF2-40B4-BE49-F238E27FC236}">
                      <a16:creationId xmlns:a16="http://schemas.microsoft.com/office/drawing/2014/main" id="{56E62FD7-056D-4230-BB8E-69DEDC7BC095}"/>
                    </a:ext>
                  </a:extLst>
                </p:cNvPr>
                <p:cNvSpPr>
                  <a:spLocks noEditPoints="1"/>
                </p:cNvSpPr>
                <p:nvPr/>
              </p:nvSpPr>
              <p:spPr bwMode="auto">
                <a:xfrm>
                  <a:off x="7188200"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7" name="Freeform 156">
                  <a:extLst>
                    <a:ext uri="{FF2B5EF4-FFF2-40B4-BE49-F238E27FC236}">
                      <a16:creationId xmlns:a16="http://schemas.microsoft.com/office/drawing/2014/main" id="{A62DAE04-03BF-4D54-9446-7E59E0ACF485}"/>
                    </a:ext>
                  </a:extLst>
                </p:cNvPr>
                <p:cNvSpPr>
                  <a:spLocks noEditPoints="1"/>
                </p:cNvSpPr>
                <p:nvPr/>
              </p:nvSpPr>
              <p:spPr bwMode="auto">
                <a:xfrm>
                  <a:off x="7612063" y="501015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8" name="Rectangle 157">
                  <a:extLst>
                    <a:ext uri="{FF2B5EF4-FFF2-40B4-BE49-F238E27FC236}">
                      <a16:creationId xmlns:a16="http://schemas.microsoft.com/office/drawing/2014/main" id="{0F8D02A5-90AF-40EC-B347-087C88945F6C}"/>
                    </a:ext>
                  </a:extLst>
                </p:cNvPr>
                <p:cNvSpPr>
                  <a:spLocks noChangeArrowheads="1"/>
                </p:cNvSpPr>
                <p:nvPr/>
              </p:nvSpPr>
              <p:spPr bwMode="auto">
                <a:xfrm>
                  <a:off x="4316413"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59" name="Rectangle 158">
                  <a:extLst>
                    <a:ext uri="{FF2B5EF4-FFF2-40B4-BE49-F238E27FC236}">
                      <a16:creationId xmlns:a16="http://schemas.microsoft.com/office/drawing/2014/main" id="{321568E7-1933-436E-A68D-969507CE5CA5}"/>
                    </a:ext>
                  </a:extLst>
                </p:cNvPr>
                <p:cNvSpPr>
                  <a:spLocks noChangeArrowheads="1"/>
                </p:cNvSpPr>
                <p:nvPr/>
              </p:nvSpPr>
              <p:spPr bwMode="auto">
                <a:xfrm>
                  <a:off x="4740275"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0" name="Rectangle 159">
                  <a:extLst>
                    <a:ext uri="{FF2B5EF4-FFF2-40B4-BE49-F238E27FC236}">
                      <a16:creationId xmlns:a16="http://schemas.microsoft.com/office/drawing/2014/main" id="{87000D23-4E17-4329-89D0-D7327C20DDD5}"/>
                    </a:ext>
                  </a:extLst>
                </p:cNvPr>
                <p:cNvSpPr>
                  <a:spLocks noChangeArrowheads="1"/>
                </p:cNvSpPr>
                <p:nvPr/>
              </p:nvSpPr>
              <p:spPr bwMode="auto">
                <a:xfrm>
                  <a:off x="5164138" y="46434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1" name="Rectangle 160">
                  <a:extLst>
                    <a:ext uri="{FF2B5EF4-FFF2-40B4-BE49-F238E27FC236}">
                      <a16:creationId xmlns:a16="http://schemas.microsoft.com/office/drawing/2014/main" id="{3C269EC3-17D5-4EA7-BEE2-99AD3D835B8A}"/>
                    </a:ext>
                  </a:extLst>
                </p:cNvPr>
                <p:cNvSpPr>
                  <a:spLocks noChangeArrowheads="1"/>
                </p:cNvSpPr>
                <p:nvPr/>
              </p:nvSpPr>
              <p:spPr bwMode="auto">
                <a:xfrm>
                  <a:off x="5584825"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2" name="Rectangle 161">
                  <a:extLst>
                    <a:ext uri="{FF2B5EF4-FFF2-40B4-BE49-F238E27FC236}">
                      <a16:creationId xmlns:a16="http://schemas.microsoft.com/office/drawing/2014/main" id="{E7D73C06-0641-4CF6-AF01-537389BBC2D8}"/>
                    </a:ext>
                  </a:extLst>
                </p:cNvPr>
                <p:cNvSpPr>
                  <a:spLocks noChangeArrowheads="1"/>
                </p:cNvSpPr>
                <p:nvPr/>
              </p:nvSpPr>
              <p:spPr bwMode="auto">
                <a:xfrm>
                  <a:off x="6008688"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3" name="Rectangle 162">
                  <a:extLst>
                    <a:ext uri="{FF2B5EF4-FFF2-40B4-BE49-F238E27FC236}">
                      <a16:creationId xmlns:a16="http://schemas.microsoft.com/office/drawing/2014/main" id="{852EFEBC-3A9F-465A-AC3E-73494E51F04D}"/>
                    </a:ext>
                  </a:extLst>
                </p:cNvPr>
                <p:cNvSpPr>
                  <a:spLocks noChangeArrowheads="1"/>
                </p:cNvSpPr>
                <p:nvPr/>
              </p:nvSpPr>
              <p:spPr bwMode="auto">
                <a:xfrm>
                  <a:off x="6434138"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4" name="Rectangle 163">
                  <a:extLst>
                    <a:ext uri="{FF2B5EF4-FFF2-40B4-BE49-F238E27FC236}">
                      <a16:creationId xmlns:a16="http://schemas.microsoft.com/office/drawing/2014/main" id="{1F49F056-B74C-4A91-8943-81A10033325C}"/>
                    </a:ext>
                  </a:extLst>
                </p:cNvPr>
                <p:cNvSpPr>
                  <a:spLocks noChangeArrowheads="1"/>
                </p:cNvSpPr>
                <p:nvPr/>
              </p:nvSpPr>
              <p:spPr bwMode="auto">
                <a:xfrm>
                  <a:off x="6858000" y="46434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5" name="Rectangle 164">
                  <a:extLst>
                    <a:ext uri="{FF2B5EF4-FFF2-40B4-BE49-F238E27FC236}">
                      <a16:creationId xmlns:a16="http://schemas.microsoft.com/office/drawing/2014/main" id="{2190DCC4-1E89-4CE5-AECA-EAA6040DA648}"/>
                    </a:ext>
                  </a:extLst>
                </p:cNvPr>
                <p:cNvSpPr>
                  <a:spLocks noChangeArrowheads="1"/>
                </p:cNvSpPr>
                <p:nvPr/>
              </p:nvSpPr>
              <p:spPr bwMode="auto">
                <a:xfrm>
                  <a:off x="7281863" y="46434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66" name="Rectangle 165">
                  <a:extLst>
                    <a:ext uri="{FF2B5EF4-FFF2-40B4-BE49-F238E27FC236}">
                      <a16:creationId xmlns:a16="http://schemas.microsoft.com/office/drawing/2014/main" id="{5537C76E-6841-49F7-BBD7-5267C80F6B62}"/>
                    </a:ext>
                  </a:extLst>
                </p:cNvPr>
                <p:cNvSpPr>
                  <a:spLocks noChangeArrowheads="1"/>
                </p:cNvSpPr>
                <p:nvPr/>
              </p:nvSpPr>
              <p:spPr bwMode="auto">
                <a:xfrm>
                  <a:off x="7707313" y="46434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grpSp>
            <p:nvGrpSpPr>
              <p:cNvPr id="96" name="Group 95">
                <a:extLst>
                  <a:ext uri="{FF2B5EF4-FFF2-40B4-BE49-F238E27FC236}">
                    <a16:creationId xmlns:a16="http://schemas.microsoft.com/office/drawing/2014/main" id="{DC4058D5-7616-4381-A43A-14911909D865}"/>
                  </a:ext>
                </a:extLst>
              </p:cNvPr>
              <p:cNvGrpSpPr/>
              <p:nvPr/>
            </p:nvGrpSpPr>
            <p:grpSpPr>
              <a:xfrm>
                <a:off x="4217988" y="1565275"/>
                <a:ext cx="3727450" cy="688976"/>
                <a:chOff x="4217988" y="1565275"/>
                <a:chExt cx="3727450" cy="688976"/>
              </a:xfrm>
            </p:grpSpPr>
            <p:sp>
              <p:nvSpPr>
                <p:cNvPr id="131" name="Freeform 130">
                  <a:extLst>
                    <a:ext uri="{FF2B5EF4-FFF2-40B4-BE49-F238E27FC236}">
                      <a16:creationId xmlns:a16="http://schemas.microsoft.com/office/drawing/2014/main" id="{4F3F766C-42DB-4307-BE61-953F4884E45E}"/>
                    </a:ext>
                  </a:extLst>
                </p:cNvPr>
                <p:cNvSpPr>
                  <a:spLocks noEditPoints="1"/>
                </p:cNvSpPr>
                <p:nvPr/>
              </p:nvSpPr>
              <p:spPr bwMode="auto">
                <a:xfrm>
                  <a:off x="4217988"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2" name="Freeform 131">
                  <a:extLst>
                    <a:ext uri="{FF2B5EF4-FFF2-40B4-BE49-F238E27FC236}">
                      <a16:creationId xmlns:a16="http://schemas.microsoft.com/office/drawing/2014/main" id="{C2FF1C07-39F5-4BBB-8862-FFB5503C30B9}"/>
                    </a:ext>
                  </a:extLst>
                </p:cNvPr>
                <p:cNvSpPr>
                  <a:spLocks noEditPoints="1"/>
                </p:cNvSpPr>
                <p:nvPr/>
              </p:nvSpPr>
              <p:spPr bwMode="auto">
                <a:xfrm>
                  <a:off x="464185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9" y="0"/>
                        <a:pt x="88" y="20"/>
                        <a:pt x="88" y="44"/>
                      </a:cubicBezTo>
                      <a:cubicBezTo>
                        <a:pt x="88" y="68"/>
                        <a:pt x="69"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3" name="Freeform 132">
                  <a:extLst>
                    <a:ext uri="{FF2B5EF4-FFF2-40B4-BE49-F238E27FC236}">
                      <a16:creationId xmlns:a16="http://schemas.microsoft.com/office/drawing/2014/main" id="{E9E26525-54DD-4D64-B4C7-FC98FFC71C7B}"/>
                    </a:ext>
                  </a:extLst>
                </p:cNvPr>
                <p:cNvSpPr>
                  <a:spLocks noEditPoints="1"/>
                </p:cNvSpPr>
                <p:nvPr/>
              </p:nvSpPr>
              <p:spPr bwMode="auto">
                <a:xfrm>
                  <a:off x="5065713"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4" name="Freeform 133">
                  <a:extLst>
                    <a:ext uri="{FF2B5EF4-FFF2-40B4-BE49-F238E27FC236}">
                      <a16:creationId xmlns:a16="http://schemas.microsoft.com/office/drawing/2014/main" id="{1344F054-3FE1-42DC-A691-74A27AF2EF4A}"/>
                    </a:ext>
                  </a:extLst>
                </p:cNvPr>
                <p:cNvSpPr>
                  <a:spLocks noEditPoints="1"/>
                </p:cNvSpPr>
                <p:nvPr/>
              </p:nvSpPr>
              <p:spPr bwMode="auto">
                <a:xfrm>
                  <a:off x="5489575" y="1565275"/>
                  <a:ext cx="334963"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5" name="Freeform 134">
                  <a:extLst>
                    <a:ext uri="{FF2B5EF4-FFF2-40B4-BE49-F238E27FC236}">
                      <a16:creationId xmlns:a16="http://schemas.microsoft.com/office/drawing/2014/main" id="{C2A5FF86-9866-4A73-A3C6-F0F04DEA4119}"/>
                    </a:ext>
                  </a:extLst>
                </p:cNvPr>
                <p:cNvSpPr>
                  <a:spLocks noEditPoints="1"/>
                </p:cNvSpPr>
                <p:nvPr/>
              </p:nvSpPr>
              <p:spPr bwMode="auto">
                <a:xfrm>
                  <a:off x="5915025"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6" name="Freeform 135">
                  <a:extLst>
                    <a:ext uri="{FF2B5EF4-FFF2-40B4-BE49-F238E27FC236}">
                      <a16:creationId xmlns:a16="http://schemas.microsoft.com/office/drawing/2014/main" id="{6F36219A-9465-403C-A12D-21076E2A71D8}"/>
                    </a:ext>
                  </a:extLst>
                </p:cNvPr>
                <p:cNvSpPr>
                  <a:spLocks noEditPoints="1"/>
                </p:cNvSpPr>
                <p:nvPr/>
              </p:nvSpPr>
              <p:spPr bwMode="auto">
                <a:xfrm>
                  <a:off x="6338888"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7" name="Freeform 136">
                  <a:extLst>
                    <a:ext uri="{FF2B5EF4-FFF2-40B4-BE49-F238E27FC236}">
                      <a16:creationId xmlns:a16="http://schemas.microsoft.com/office/drawing/2014/main" id="{E8ED73CD-E83F-4E84-9596-DBF09A61B527}"/>
                    </a:ext>
                  </a:extLst>
                </p:cNvPr>
                <p:cNvSpPr>
                  <a:spLocks noEditPoints="1"/>
                </p:cNvSpPr>
                <p:nvPr/>
              </p:nvSpPr>
              <p:spPr bwMode="auto">
                <a:xfrm>
                  <a:off x="676275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8" name="Freeform 137">
                  <a:extLst>
                    <a:ext uri="{FF2B5EF4-FFF2-40B4-BE49-F238E27FC236}">
                      <a16:creationId xmlns:a16="http://schemas.microsoft.com/office/drawing/2014/main" id="{D7C331D8-380C-4454-8F2C-0553A04452D1}"/>
                    </a:ext>
                  </a:extLst>
                </p:cNvPr>
                <p:cNvSpPr>
                  <a:spLocks noEditPoints="1"/>
                </p:cNvSpPr>
                <p:nvPr/>
              </p:nvSpPr>
              <p:spPr bwMode="auto">
                <a:xfrm>
                  <a:off x="7188200"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20" y="88"/>
                        <a:pt x="0" y="68"/>
                        <a:pt x="0" y="44"/>
                      </a:cubicBezTo>
                      <a:cubicBezTo>
                        <a:pt x="0" y="20"/>
                        <a:pt x="20"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9" name="Freeform 138">
                  <a:extLst>
                    <a:ext uri="{FF2B5EF4-FFF2-40B4-BE49-F238E27FC236}">
                      <a16:creationId xmlns:a16="http://schemas.microsoft.com/office/drawing/2014/main" id="{0C615597-AD50-4410-991B-B17D05034E2C}"/>
                    </a:ext>
                  </a:extLst>
                </p:cNvPr>
                <p:cNvSpPr>
                  <a:spLocks noEditPoints="1"/>
                </p:cNvSpPr>
                <p:nvPr/>
              </p:nvSpPr>
              <p:spPr bwMode="auto">
                <a:xfrm>
                  <a:off x="7612063" y="156527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20"/>
                        <a:pt x="19" y="0"/>
                        <a:pt x="44" y="0"/>
                      </a:cubicBezTo>
                      <a:cubicBezTo>
                        <a:pt x="68" y="0"/>
                        <a:pt x="88" y="20"/>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0" name="Rectangle 139">
                  <a:extLst>
                    <a:ext uri="{FF2B5EF4-FFF2-40B4-BE49-F238E27FC236}">
                      <a16:creationId xmlns:a16="http://schemas.microsoft.com/office/drawing/2014/main" id="{E72F5153-F280-4B7B-B59B-E672787B2D03}"/>
                    </a:ext>
                  </a:extLst>
                </p:cNvPr>
                <p:cNvSpPr>
                  <a:spLocks noChangeArrowheads="1"/>
                </p:cNvSpPr>
                <p:nvPr/>
              </p:nvSpPr>
              <p:spPr bwMode="auto">
                <a:xfrm>
                  <a:off x="4316413"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1" name="Rectangle 140">
                  <a:extLst>
                    <a:ext uri="{FF2B5EF4-FFF2-40B4-BE49-F238E27FC236}">
                      <a16:creationId xmlns:a16="http://schemas.microsoft.com/office/drawing/2014/main" id="{F67256C4-20B1-4E87-A8ED-6350778F917B}"/>
                    </a:ext>
                  </a:extLst>
                </p:cNvPr>
                <p:cNvSpPr>
                  <a:spLocks noChangeArrowheads="1"/>
                </p:cNvSpPr>
                <p:nvPr/>
              </p:nvSpPr>
              <p:spPr bwMode="auto">
                <a:xfrm>
                  <a:off x="4740275"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2" name="Rectangle 141">
                  <a:extLst>
                    <a:ext uri="{FF2B5EF4-FFF2-40B4-BE49-F238E27FC236}">
                      <a16:creationId xmlns:a16="http://schemas.microsoft.com/office/drawing/2014/main" id="{9548F5DF-FDE6-4F5C-BDB4-373137F789AE}"/>
                    </a:ext>
                  </a:extLst>
                </p:cNvPr>
                <p:cNvSpPr>
                  <a:spLocks noChangeArrowheads="1"/>
                </p:cNvSpPr>
                <p:nvPr/>
              </p:nvSpPr>
              <p:spPr bwMode="auto">
                <a:xfrm>
                  <a:off x="5164138" y="18113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3" name="Rectangle 142">
                  <a:extLst>
                    <a:ext uri="{FF2B5EF4-FFF2-40B4-BE49-F238E27FC236}">
                      <a16:creationId xmlns:a16="http://schemas.microsoft.com/office/drawing/2014/main" id="{F8EC5AA6-5978-44AF-A05C-ABDC964F6614}"/>
                    </a:ext>
                  </a:extLst>
                </p:cNvPr>
                <p:cNvSpPr>
                  <a:spLocks noChangeArrowheads="1"/>
                </p:cNvSpPr>
                <p:nvPr/>
              </p:nvSpPr>
              <p:spPr bwMode="auto">
                <a:xfrm>
                  <a:off x="5584825"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4" name="Rectangle 143">
                  <a:extLst>
                    <a:ext uri="{FF2B5EF4-FFF2-40B4-BE49-F238E27FC236}">
                      <a16:creationId xmlns:a16="http://schemas.microsoft.com/office/drawing/2014/main" id="{8D6CAC31-A3F6-49B2-831B-0B4323A76512}"/>
                    </a:ext>
                  </a:extLst>
                </p:cNvPr>
                <p:cNvSpPr>
                  <a:spLocks noChangeArrowheads="1"/>
                </p:cNvSpPr>
                <p:nvPr/>
              </p:nvSpPr>
              <p:spPr bwMode="auto">
                <a:xfrm>
                  <a:off x="6008688"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5" name="Rectangle 144">
                  <a:extLst>
                    <a:ext uri="{FF2B5EF4-FFF2-40B4-BE49-F238E27FC236}">
                      <a16:creationId xmlns:a16="http://schemas.microsoft.com/office/drawing/2014/main" id="{47DF79A9-ABC2-491E-A085-88ABB92D1F7C}"/>
                    </a:ext>
                  </a:extLst>
                </p:cNvPr>
                <p:cNvSpPr>
                  <a:spLocks noChangeArrowheads="1"/>
                </p:cNvSpPr>
                <p:nvPr/>
              </p:nvSpPr>
              <p:spPr bwMode="auto">
                <a:xfrm>
                  <a:off x="6434138"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6" name="Rectangle 145">
                  <a:extLst>
                    <a:ext uri="{FF2B5EF4-FFF2-40B4-BE49-F238E27FC236}">
                      <a16:creationId xmlns:a16="http://schemas.microsoft.com/office/drawing/2014/main" id="{FAABB74F-B4F5-4FF6-ACB5-E3B70205F1C3}"/>
                    </a:ext>
                  </a:extLst>
                </p:cNvPr>
                <p:cNvSpPr>
                  <a:spLocks noChangeArrowheads="1"/>
                </p:cNvSpPr>
                <p:nvPr/>
              </p:nvSpPr>
              <p:spPr bwMode="auto">
                <a:xfrm>
                  <a:off x="6858000" y="1811338"/>
                  <a:ext cx="144463"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7" name="Rectangle 146">
                  <a:extLst>
                    <a:ext uri="{FF2B5EF4-FFF2-40B4-BE49-F238E27FC236}">
                      <a16:creationId xmlns:a16="http://schemas.microsoft.com/office/drawing/2014/main" id="{BD00DECD-5778-43C9-A048-38E6558F35EE}"/>
                    </a:ext>
                  </a:extLst>
                </p:cNvPr>
                <p:cNvSpPr>
                  <a:spLocks noChangeArrowheads="1"/>
                </p:cNvSpPr>
                <p:nvPr/>
              </p:nvSpPr>
              <p:spPr bwMode="auto">
                <a:xfrm>
                  <a:off x="7281863" y="1811338"/>
                  <a:ext cx="141288"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48" name="Rectangle 147">
                  <a:extLst>
                    <a:ext uri="{FF2B5EF4-FFF2-40B4-BE49-F238E27FC236}">
                      <a16:creationId xmlns:a16="http://schemas.microsoft.com/office/drawing/2014/main" id="{D864C5E3-B9B4-4FB4-BCA6-4A18456609F0}"/>
                    </a:ext>
                  </a:extLst>
                </p:cNvPr>
                <p:cNvSpPr>
                  <a:spLocks noChangeArrowheads="1"/>
                </p:cNvSpPr>
                <p:nvPr/>
              </p:nvSpPr>
              <p:spPr bwMode="auto">
                <a:xfrm>
                  <a:off x="7707313" y="1811338"/>
                  <a:ext cx="139700" cy="442913"/>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grpSp>
            <p:nvGrpSpPr>
              <p:cNvPr id="97" name="Group 96">
                <a:extLst>
                  <a:ext uri="{FF2B5EF4-FFF2-40B4-BE49-F238E27FC236}">
                    <a16:creationId xmlns:a16="http://schemas.microsoft.com/office/drawing/2014/main" id="{1154766D-6818-438A-BBD2-8BAC29B64000}"/>
                  </a:ext>
                </a:extLst>
              </p:cNvPr>
              <p:cNvGrpSpPr/>
              <p:nvPr/>
            </p:nvGrpSpPr>
            <p:grpSpPr>
              <a:xfrm>
                <a:off x="3251200" y="2435225"/>
                <a:ext cx="704851" cy="2025650"/>
                <a:chOff x="3251200" y="2435225"/>
                <a:chExt cx="704851" cy="2025650"/>
              </a:xfrm>
            </p:grpSpPr>
            <p:sp>
              <p:nvSpPr>
                <p:cNvPr id="121" name="Freeform 120">
                  <a:extLst>
                    <a:ext uri="{FF2B5EF4-FFF2-40B4-BE49-F238E27FC236}">
                      <a16:creationId xmlns:a16="http://schemas.microsoft.com/office/drawing/2014/main" id="{50423E5F-4A0C-4458-B11F-149A5A757B6A}"/>
                    </a:ext>
                  </a:extLst>
                </p:cNvPr>
                <p:cNvSpPr>
                  <a:spLocks noEditPoints="1"/>
                </p:cNvSpPr>
                <p:nvPr/>
              </p:nvSpPr>
              <p:spPr bwMode="auto">
                <a:xfrm>
                  <a:off x="3251200" y="41275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9"/>
                        <a:pt x="0" y="44"/>
                      </a:cubicBezTo>
                      <a:cubicBezTo>
                        <a:pt x="0" y="20"/>
                        <a:pt x="19"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2" name="Freeform 121">
                  <a:extLst>
                    <a:ext uri="{FF2B5EF4-FFF2-40B4-BE49-F238E27FC236}">
                      <a16:creationId xmlns:a16="http://schemas.microsoft.com/office/drawing/2014/main" id="{EA918874-72BD-4D3F-9BB1-8954DC5581B6}"/>
                    </a:ext>
                  </a:extLst>
                </p:cNvPr>
                <p:cNvSpPr>
                  <a:spLocks noEditPoints="1"/>
                </p:cNvSpPr>
                <p:nvPr/>
              </p:nvSpPr>
              <p:spPr bwMode="auto">
                <a:xfrm>
                  <a:off x="3251200"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3" name="Freeform 122">
                  <a:extLst>
                    <a:ext uri="{FF2B5EF4-FFF2-40B4-BE49-F238E27FC236}">
                      <a16:creationId xmlns:a16="http://schemas.microsoft.com/office/drawing/2014/main" id="{55940E9E-6408-4D50-9DD5-72BB899906FF}"/>
                    </a:ext>
                  </a:extLst>
                </p:cNvPr>
                <p:cNvSpPr>
                  <a:spLocks noEditPoints="1"/>
                </p:cNvSpPr>
                <p:nvPr/>
              </p:nvSpPr>
              <p:spPr bwMode="auto">
                <a:xfrm>
                  <a:off x="3251200" y="3284538"/>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4" name="Freeform 123">
                  <a:extLst>
                    <a:ext uri="{FF2B5EF4-FFF2-40B4-BE49-F238E27FC236}">
                      <a16:creationId xmlns:a16="http://schemas.microsoft.com/office/drawing/2014/main" id="{911E3705-D245-4B56-983C-B42B49993A4E}"/>
                    </a:ext>
                  </a:extLst>
                </p:cNvPr>
                <p:cNvSpPr>
                  <a:spLocks noEditPoints="1"/>
                </p:cNvSpPr>
                <p:nvPr/>
              </p:nvSpPr>
              <p:spPr bwMode="auto">
                <a:xfrm>
                  <a:off x="3251200" y="28590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5" name="Freeform 124">
                  <a:extLst>
                    <a:ext uri="{FF2B5EF4-FFF2-40B4-BE49-F238E27FC236}">
                      <a16:creationId xmlns:a16="http://schemas.microsoft.com/office/drawing/2014/main" id="{1E278F16-2941-4838-A419-2DFF354BD704}"/>
                    </a:ext>
                  </a:extLst>
                </p:cNvPr>
                <p:cNvSpPr>
                  <a:spLocks noEditPoints="1"/>
                </p:cNvSpPr>
                <p:nvPr/>
              </p:nvSpPr>
              <p:spPr bwMode="auto">
                <a:xfrm>
                  <a:off x="3251200" y="243522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6" name="Rectangle 125">
                  <a:extLst>
                    <a:ext uri="{FF2B5EF4-FFF2-40B4-BE49-F238E27FC236}">
                      <a16:creationId xmlns:a16="http://schemas.microsoft.com/office/drawing/2014/main" id="{1C72D454-B6FC-4AE4-9E2B-7387C8B1742D}"/>
                    </a:ext>
                  </a:extLst>
                </p:cNvPr>
                <p:cNvSpPr>
                  <a:spLocks noChangeArrowheads="1"/>
                </p:cNvSpPr>
                <p:nvPr/>
              </p:nvSpPr>
              <p:spPr bwMode="auto">
                <a:xfrm>
                  <a:off x="3513138" y="4227513"/>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7" name="Rectangle 126">
                  <a:extLst>
                    <a:ext uri="{FF2B5EF4-FFF2-40B4-BE49-F238E27FC236}">
                      <a16:creationId xmlns:a16="http://schemas.microsoft.com/office/drawing/2014/main" id="{13B23638-FDD1-41BD-9DFB-64D76BF47C20}"/>
                    </a:ext>
                  </a:extLst>
                </p:cNvPr>
                <p:cNvSpPr>
                  <a:spLocks noChangeArrowheads="1"/>
                </p:cNvSpPr>
                <p:nvPr/>
              </p:nvSpPr>
              <p:spPr bwMode="auto">
                <a:xfrm>
                  <a:off x="3513138" y="3802063"/>
                  <a:ext cx="442913" cy="1412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8" name="Rectangle 127">
                  <a:extLst>
                    <a:ext uri="{FF2B5EF4-FFF2-40B4-BE49-F238E27FC236}">
                      <a16:creationId xmlns:a16="http://schemas.microsoft.com/office/drawing/2014/main" id="{899FAA37-CAFC-4FCC-BF72-5EFB05737A84}"/>
                    </a:ext>
                  </a:extLst>
                </p:cNvPr>
                <p:cNvSpPr>
                  <a:spLocks noChangeArrowheads="1"/>
                </p:cNvSpPr>
                <p:nvPr/>
              </p:nvSpPr>
              <p:spPr bwMode="auto">
                <a:xfrm>
                  <a:off x="3513138" y="3378200"/>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9" name="Rectangle 128">
                  <a:extLst>
                    <a:ext uri="{FF2B5EF4-FFF2-40B4-BE49-F238E27FC236}">
                      <a16:creationId xmlns:a16="http://schemas.microsoft.com/office/drawing/2014/main" id="{4B17F3A6-209B-4489-9C8C-3D751A38E9A3}"/>
                    </a:ext>
                  </a:extLst>
                </p:cNvPr>
                <p:cNvSpPr>
                  <a:spLocks noChangeArrowheads="1"/>
                </p:cNvSpPr>
                <p:nvPr/>
              </p:nvSpPr>
              <p:spPr bwMode="auto">
                <a:xfrm>
                  <a:off x="3513138" y="2954338"/>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30" name="Rectangle 129">
                  <a:extLst>
                    <a:ext uri="{FF2B5EF4-FFF2-40B4-BE49-F238E27FC236}">
                      <a16:creationId xmlns:a16="http://schemas.microsoft.com/office/drawing/2014/main" id="{98B92010-5D2C-4909-AAE3-5DEA967CEE83}"/>
                    </a:ext>
                  </a:extLst>
                </p:cNvPr>
                <p:cNvSpPr>
                  <a:spLocks noChangeArrowheads="1"/>
                </p:cNvSpPr>
                <p:nvPr/>
              </p:nvSpPr>
              <p:spPr bwMode="auto">
                <a:xfrm>
                  <a:off x="3513138" y="2530475"/>
                  <a:ext cx="442913"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grpSp>
            <p:nvGrpSpPr>
              <p:cNvPr id="98" name="Group 97">
                <a:extLst>
                  <a:ext uri="{FF2B5EF4-FFF2-40B4-BE49-F238E27FC236}">
                    <a16:creationId xmlns:a16="http://schemas.microsoft.com/office/drawing/2014/main" id="{10BE09FA-6863-4755-9C96-C0224510CD52}"/>
                  </a:ext>
                </a:extLst>
              </p:cNvPr>
              <p:cNvGrpSpPr/>
              <p:nvPr/>
            </p:nvGrpSpPr>
            <p:grpSpPr>
              <a:xfrm>
                <a:off x="8270875" y="2435225"/>
                <a:ext cx="735013" cy="2025650"/>
                <a:chOff x="8270875" y="2435225"/>
                <a:chExt cx="735013" cy="2025650"/>
              </a:xfrm>
            </p:grpSpPr>
            <p:sp>
              <p:nvSpPr>
                <p:cNvPr id="111" name="Freeform 110">
                  <a:extLst>
                    <a:ext uri="{FF2B5EF4-FFF2-40B4-BE49-F238E27FC236}">
                      <a16:creationId xmlns:a16="http://schemas.microsoft.com/office/drawing/2014/main" id="{AEBAB066-1891-4426-BBC3-3A1C1FE929FD}"/>
                    </a:ext>
                  </a:extLst>
                </p:cNvPr>
                <p:cNvSpPr>
                  <a:spLocks noEditPoints="1"/>
                </p:cNvSpPr>
                <p:nvPr/>
              </p:nvSpPr>
              <p:spPr bwMode="auto">
                <a:xfrm>
                  <a:off x="8672513" y="41275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9"/>
                        <a:pt x="0" y="44"/>
                      </a:cubicBezTo>
                      <a:cubicBezTo>
                        <a:pt x="0" y="20"/>
                        <a:pt x="19" y="0"/>
                        <a:pt x="44" y="0"/>
                      </a:cubicBezTo>
                      <a:cubicBezTo>
                        <a:pt x="68" y="0"/>
                        <a:pt x="88" y="20"/>
                        <a:pt x="88" y="44"/>
                      </a:cubicBezTo>
                      <a:cubicBezTo>
                        <a:pt x="88" y="69"/>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2" name="Freeform 111">
                  <a:extLst>
                    <a:ext uri="{FF2B5EF4-FFF2-40B4-BE49-F238E27FC236}">
                      <a16:creationId xmlns:a16="http://schemas.microsoft.com/office/drawing/2014/main" id="{96D2A1DD-DA65-4505-8649-179EA279064D}"/>
                    </a:ext>
                  </a:extLst>
                </p:cNvPr>
                <p:cNvSpPr>
                  <a:spLocks noEditPoints="1"/>
                </p:cNvSpPr>
                <p:nvPr/>
              </p:nvSpPr>
              <p:spPr bwMode="auto">
                <a:xfrm>
                  <a:off x="8672513" y="3708400"/>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2"/>
                        <a:pt x="24" y="44"/>
                      </a:cubicBezTo>
                      <a:cubicBezTo>
                        <a:pt x="24" y="55"/>
                        <a:pt x="33" y="64"/>
                        <a:pt x="44" y="64"/>
                      </a:cubicBezTo>
                      <a:cubicBezTo>
                        <a:pt x="55" y="64"/>
                        <a:pt x="64" y="55"/>
                        <a:pt x="64" y="44"/>
                      </a:cubicBezTo>
                      <a:cubicBezTo>
                        <a:pt x="64" y="32"/>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3" name="Freeform 112">
                  <a:extLst>
                    <a:ext uri="{FF2B5EF4-FFF2-40B4-BE49-F238E27FC236}">
                      <a16:creationId xmlns:a16="http://schemas.microsoft.com/office/drawing/2014/main" id="{1EA4B09B-557B-43FE-9B0F-058683FBFF03}"/>
                    </a:ext>
                  </a:extLst>
                </p:cNvPr>
                <p:cNvSpPr>
                  <a:spLocks noEditPoints="1"/>
                </p:cNvSpPr>
                <p:nvPr/>
              </p:nvSpPr>
              <p:spPr bwMode="auto">
                <a:xfrm>
                  <a:off x="8672513" y="3284538"/>
                  <a:ext cx="333375" cy="331788"/>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4" name="Freeform 113">
                  <a:extLst>
                    <a:ext uri="{FF2B5EF4-FFF2-40B4-BE49-F238E27FC236}">
                      <a16:creationId xmlns:a16="http://schemas.microsoft.com/office/drawing/2014/main" id="{E451B60A-221E-4EF4-A06F-FEE5339CC4D7}"/>
                    </a:ext>
                  </a:extLst>
                </p:cNvPr>
                <p:cNvSpPr>
                  <a:spLocks noEditPoints="1"/>
                </p:cNvSpPr>
                <p:nvPr/>
              </p:nvSpPr>
              <p:spPr bwMode="auto">
                <a:xfrm>
                  <a:off x="8672513" y="2859088"/>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5" name="Freeform 114">
                  <a:extLst>
                    <a:ext uri="{FF2B5EF4-FFF2-40B4-BE49-F238E27FC236}">
                      <a16:creationId xmlns:a16="http://schemas.microsoft.com/office/drawing/2014/main" id="{58505C88-6DD4-4B30-808D-E0B8AB78E15D}"/>
                    </a:ext>
                  </a:extLst>
                </p:cNvPr>
                <p:cNvSpPr>
                  <a:spLocks noEditPoints="1"/>
                </p:cNvSpPr>
                <p:nvPr/>
              </p:nvSpPr>
              <p:spPr bwMode="auto">
                <a:xfrm>
                  <a:off x="8672513" y="2435225"/>
                  <a:ext cx="333375" cy="333375"/>
                </a:xfrm>
                <a:custGeom>
                  <a:avLst/>
                  <a:gdLst>
                    <a:gd name="T0" fmla="*/ 44 w 88"/>
                    <a:gd name="T1" fmla="*/ 88 h 88"/>
                    <a:gd name="T2" fmla="*/ 0 w 88"/>
                    <a:gd name="T3" fmla="*/ 44 h 88"/>
                    <a:gd name="T4" fmla="*/ 44 w 88"/>
                    <a:gd name="T5" fmla="*/ 0 h 88"/>
                    <a:gd name="T6" fmla="*/ 88 w 88"/>
                    <a:gd name="T7" fmla="*/ 44 h 88"/>
                    <a:gd name="T8" fmla="*/ 44 w 88"/>
                    <a:gd name="T9" fmla="*/ 88 h 88"/>
                    <a:gd name="T10" fmla="*/ 44 w 88"/>
                    <a:gd name="T11" fmla="*/ 24 h 88"/>
                    <a:gd name="T12" fmla="*/ 24 w 88"/>
                    <a:gd name="T13" fmla="*/ 44 h 88"/>
                    <a:gd name="T14" fmla="*/ 44 w 88"/>
                    <a:gd name="T15" fmla="*/ 64 h 88"/>
                    <a:gd name="T16" fmla="*/ 64 w 88"/>
                    <a:gd name="T17" fmla="*/ 44 h 88"/>
                    <a:gd name="T18" fmla="*/ 44 w 88"/>
                    <a:gd name="T19" fmla="*/ 2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88"/>
                      </a:moveTo>
                      <a:cubicBezTo>
                        <a:pt x="19" y="88"/>
                        <a:pt x="0" y="68"/>
                        <a:pt x="0" y="44"/>
                      </a:cubicBezTo>
                      <a:cubicBezTo>
                        <a:pt x="0" y="19"/>
                        <a:pt x="19" y="0"/>
                        <a:pt x="44" y="0"/>
                      </a:cubicBezTo>
                      <a:cubicBezTo>
                        <a:pt x="68" y="0"/>
                        <a:pt x="88" y="19"/>
                        <a:pt x="88" y="44"/>
                      </a:cubicBezTo>
                      <a:cubicBezTo>
                        <a:pt x="88" y="68"/>
                        <a:pt x="68" y="88"/>
                        <a:pt x="44" y="88"/>
                      </a:cubicBezTo>
                      <a:close/>
                      <a:moveTo>
                        <a:pt x="44" y="24"/>
                      </a:moveTo>
                      <a:cubicBezTo>
                        <a:pt x="33" y="24"/>
                        <a:pt x="24" y="33"/>
                        <a:pt x="24" y="44"/>
                      </a:cubicBezTo>
                      <a:cubicBezTo>
                        <a:pt x="24" y="55"/>
                        <a:pt x="33" y="64"/>
                        <a:pt x="44" y="64"/>
                      </a:cubicBezTo>
                      <a:cubicBezTo>
                        <a:pt x="55" y="64"/>
                        <a:pt x="64" y="55"/>
                        <a:pt x="64" y="44"/>
                      </a:cubicBezTo>
                      <a:cubicBezTo>
                        <a:pt x="64" y="33"/>
                        <a:pt x="55" y="24"/>
                        <a:pt x="44" y="24"/>
                      </a:cubicBez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6" name="Rectangle 115">
                  <a:extLst>
                    <a:ext uri="{FF2B5EF4-FFF2-40B4-BE49-F238E27FC236}">
                      <a16:creationId xmlns:a16="http://schemas.microsoft.com/office/drawing/2014/main" id="{B6B51175-6D6A-4360-89C2-D64610D5E31F}"/>
                    </a:ext>
                  </a:extLst>
                </p:cNvPr>
                <p:cNvSpPr>
                  <a:spLocks noChangeArrowheads="1"/>
                </p:cNvSpPr>
                <p:nvPr/>
              </p:nvSpPr>
              <p:spPr bwMode="auto">
                <a:xfrm>
                  <a:off x="8270875" y="4227513"/>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7" name="Rectangle 116">
                  <a:extLst>
                    <a:ext uri="{FF2B5EF4-FFF2-40B4-BE49-F238E27FC236}">
                      <a16:creationId xmlns:a16="http://schemas.microsoft.com/office/drawing/2014/main" id="{96A69C26-D617-439D-8ECC-E7F152F6C537}"/>
                    </a:ext>
                  </a:extLst>
                </p:cNvPr>
                <p:cNvSpPr>
                  <a:spLocks noChangeArrowheads="1"/>
                </p:cNvSpPr>
                <p:nvPr/>
              </p:nvSpPr>
              <p:spPr bwMode="auto">
                <a:xfrm>
                  <a:off x="8270875" y="3802063"/>
                  <a:ext cx="447675" cy="141288"/>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8" name="Rectangle 117">
                  <a:extLst>
                    <a:ext uri="{FF2B5EF4-FFF2-40B4-BE49-F238E27FC236}">
                      <a16:creationId xmlns:a16="http://schemas.microsoft.com/office/drawing/2014/main" id="{FEFDE5B5-98C7-4C9A-B537-B350B7C251E2}"/>
                    </a:ext>
                  </a:extLst>
                </p:cNvPr>
                <p:cNvSpPr>
                  <a:spLocks noChangeArrowheads="1"/>
                </p:cNvSpPr>
                <p:nvPr/>
              </p:nvSpPr>
              <p:spPr bwMode="auto">
                <a:xfrm>
                  <a:off x="8270875" y="3378200"/>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9" name="Rectangle 118">
                  <a:extLst>
                    <a:ext uri="{FF2B5EF4-FFF2-40B4-BE49-F238E27FC236}">
                      <a16:creationId xmlns:a16="http://schemas.microsoft.com/office/drawing/2014/main" id="{43DEFC10-8C34-4436-A3BD-72604C289858}"/>
                    </a:ext>
                  </a:extLst>
                </p:cNvPr>
                <p:cNvSpPr>
                  <a:spLocks noChangeArrowheads="1"/>
                </p:cNvSpPr>
                <p:nvPr/>
              </p:nvSpPr>
              <p:spPr bwMode="auto">
                <a:xfrm>
                  <a:off x="8270875" y="2954338"/>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20" name="Rectangle 119">
                  <a:extLst>
                    <a:ext uri="{FF2B5EF4-FFF2-40B4-BE49-F238E27FC236}">
                      <a16:creationId xmlns:a16="http://schemas.microsoft.com/office/drawing/2014/main" id="{D31871AA-9A93-4332-8428-90D3AEDFAB01}"/>
                    </a:ext>
                  </a:extLst>
                </p:cNvPr>
                <p:cNvSpPr>
                  <a:spLocks noChangeArrowheads="1"/>
                </p:cNvSpPr>
                <p:nvPr/>
              </p:nvSpPr>
              <p:spPr bwMode="auto">
                <a:xfrm>
                  <a:off x="8270875" y="2530475"/>
                  <a:ext cx="447675" cy="139700"/>
                </a:xfrm>
                <a:prstGeom prst="rect">
                  <a:avLst/>
                </a:pr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sp>
            <p:nvSpPr>
              <p:cNvPr id="99" name="Freeform 98">
                <a:extLst>
                  <a:ext uri="{FF2B5EF4-FFF2-40B4-BE49-F238E27FC236}">
                    <a16:creationId xmlns:a16="http://schemas.microsoft.com/office/drawing/2014/main" id="{2998CDA8-96E0-4B34-9F20-3B54EA60B5B6}"/>
                  </a:ext>
                </a:extLst>
              </p:cNvPr>
              <p:cNvSpPr>
                <a:spLocks/>
              </p:cNvSpPr>
              <p:nvPr/>
            </p:nvSpPr>
            <p:spPr bwMode="auto">
              <a:xfrm>
                <a:off x="863600" y="0"/>
                <a:ext cx="2439988" cy="3071813"/>
              </a:xfrm>
              <a:custGeom>
                <a:avLst/>
                <a:gdLst>
                  <a:gd name="T0" fmla="*/ 1537 w 1537"/>
                  <a:gd name="T1" fmla="*/ 1803 h 1803"/>
                  <a:gd name="T2" fmla="*/ 910 w 1537"/>
                  <a:gd name="T3" fmla="*/ 1803 h 1803"/>
                  <a:gd name="T4" fmla="*/ 611 w 1537"/>
                  <a:gd name="T5" fmla="*/ 1593 h 1803"/>
                  <a:gd name="T6" fmla="*/ 0 w 1537"/>
                  <a:gd name="T7" fmla="*/ 1593 h 1803"/>
                  <a:gd name="T8" fmla="*/ 0 w 1537"/>
                  <a:gd name="T9" fmla="*/ 0 h 1803"/>
                  <a:gd name="T10" fmla="*/ 57 w 1537"/>
                  <a:gd name="T11" fmla="*/ 0 h 1803"/>
                  <a:gd name="T12" fmla="*/ 57 w 1537"/>
                  <a:gd name="T13" fmla="*/ 1536 h 1803"/>
                  <a:gd name="T14" fmla="*/ 628 w 1537"/>
                  <a:gd name="T15" fmla="*/ 1536 h 1803"/>
                  <a:gd name="T16" fmla="*/ 929 w 1537"/>
                  <a:gd name="T17" fmla="*/ 1746 h 1803"/>
                  <a:gd name="T18" fmla="*/ 1537 w 1537"/>
                  <a:gd name="T19" fmla="*/ 1746 h 1803"/>
                  <a:gd name="T20" fmla="*/ 1537 w 1537"/>
                  <a:gd name="T21" fmla="*/ 1803 h 1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37" h="1803">
                    <a:moveTo>
                      <a:pt x="1537" y="1803"/>
                    </a:moveTo>
                    <a:lnTo>
                      <a:pt x="910" y="1803"/>
                    </a:lnTo>
                    <a:lnTo>
                      <a:pt x="611" y="1593"/>
                    </a:lnTo>
                    <a:lnTo>
                      <a:pt x="0" y="1593"/>
                    </a:lnTo>
                    <a:lnTo>
                      <a:pt x="0" y="0"/>
                    </a:lnTo>
                    <a:lnTo>
                      <a:pt x="57" y="0"/>
                    </a:lnTo>
                    <a:lnTo>
                      <a:pt x="57" y="1536"/>
                    </a:lnTo>
                    <a:lnTo>
                      <a:pt x="628" y="1536"/>
                    </a:lnTo>
                    <a:lnTo>
                      <a:pt x="929" y="1746"/>
                    </a:lnTo>
                    <a:lnTo>
                      <a:pt x="1537" y="1746"/>
                    </a:lnTo>
                    <a:lnTo>
                      <a:pt x="1537" y="1803"/>
                    </a:lnTo>
                    <a:close/>
                  </a:path>
                </a:pathLst>
              </a:custGeom>
              <a:solidFill>
                <a:schemeClr val="bg1">
                  <a:lumMod val="65000"/>
                </a:schemeClr>
              </a:solidFill>
              <a:ln>
                <a:noFill/>
              </a:ln>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grpSp>
            <p:nvGrpSpPr>
              <p:cNvPr id="100" name="Group 99">
                <a:extLst>
                  <a:ext uri="{FF2B5EF4-FFF2-40B4-BE49-F238E27FC236}">
                    <a16:creationId xmlns:a16="http://schemas.microsoft.com/office/drawing/2014/main" id="{C63AA9E8-1120-443A-9CE6-A0A5EC088A98}"/>
                  </a:ext>
                </a:extLst>
              </p:cNvPr>
              <p:cNvGrpSpPr/>
              <p:nvPr/>
            </p:nvGrpSpPr>
            <p:grpSpPr>
              <a:xfrm>
                <a:off x="8166100" y="0"/>
                <a:ext cx="1779588" cy="431800"/>
                <a:chOff x="8166100" y="0"/>
                <a:chExt cx="1779588" cy="431800"/>
              </a:xfrm>
              <a:solidFill>
                <a:schemeClr val="bg1">
                  <a:lumMod val="65000"/>
                </a:schemeClr>
              </a:solidFill>
            </p:grpSpPr>
            <p:sp>
              <p:nvSpPr>
                <p:cNvPr id="109" name="Freeform 108">
                  <a:extLst>
                    <a:ext uri="{FF2B5EF4-FFF2-40B4-BE49-F238E27FC236}">
                      <a16:creationId xmlns:a16="http://schemas.microsoft.com/office/drawing/2014/main" id="{CB929412-D31F-41DD-A832-7D3D7F8BE7B2}"/>
                    </a:ext>
                  </a:extLst>
                </p:cNvPr>
                <p:cNvSpPr>
                  <a:spLocks/>
                </p:cNvSpPr>
                <p:nvPr/>
              </p:nvSpPr>
              <p:spPr bwMode="auto">
                <a:xfrm>
                  <a:off x="8166100" y="76200"/>
                  <a:ext cx="1779588" cy="355600"/>
                </a:xfrm>
                <a:custGeom>
                  <a:avLst/>
                  <a:gdLst>
                    <a:gd name="T0" fmla="*/ 861 w 1121"/>
                    <a:gd name="T1" fmla="*/ 224 h 224"/>
                    <a:gd name="T2" fmla="*/ 0 w 1121"/>
                    <a:gd name="T3" fmla="*/ 224 h 224"/>
                    <a:gd name="T4" fmla="*/ 0 w 1121"/>
                    <a:gd name="T5" fmla="*/ 24 h 224"/>
                    <a:gd name="T6" fmla="*/ 57 w 1121"/>
                    <a:gd name="T7" fmla="*/ 24 h 224"/>
                    <a:gd name="T8" fmla="*/ 57 w 1121"/>
                    <a:gd name="T9" fmla="*/ 167 h 224"/>
                    <a:gd name="T10" fmla="*/ 842 w 1121"/>
                    <a:gd name="T11" fmla="*/ 167 h 224"/>
                    <a:gd name="T12" fmla="*/ 1090 w 1121"/>
                    <a:gd name="T13" fmla="*/ 0 h 224"/>
                    <a:gd name="T14" fmla="*/ 1121 w 1121"/>
                    <a:gd name="T15" fmla="*/ 48 h 224"/>
                    <a:gd name="T16" fmla="*/ 861 w 1121"/>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1" h="224">
                      <a:moveTo>
                        <a:pt x="861" y="224"/>
                      </a:moveTo>
                      <a:lnTo>
                        <a:pt x="0" y="224"/>
                      </a:lnTo>
                      <a:lnTo>
                        <a:pt x="0" y="24"/>
                      </a:lnTo>
                      <a:lnTo>
                        <a:pt x="57" y="24"/>
                      </a:lnTo>
                      <a:lnTo>
                        <a:pt x="57" y="167"/>
                      </a:lnTo>
                      <a:lnTo>
                        <a:pt x="842" y="167"/>
                      </a:lnTo>
                      <a:lnTo>
                        <a:pt x="1090" y="0"/>
                      </a:lnTo>
                      <a:lnTo>
                        <a:pt x="1121" y="48"/>
                      </a:lnTo>
                      <a:lnTo>
                        <a:pt x="861"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ID" sz="1351"/>
                </a:p>
              </p:txBody>
            </p:sp>
            <p:sp>
              <p:nvSpPr>
                <p:cNvPr id="110" name="Rectangle 109">
                  <a:extLst>
                    <a:ext uri="{FF2B5EF4-FFF2-40B4-BE49-F238E27FC236}">
                      <a16:creationId xmlns:a16="http://schemas.microsoft.com/office/drawing/2014/main" id="{5C8460CB-3AC1-44C1-9EB5-145A90A57682}"/>
                    </a:ext>
                  </a:extLst>
                </p:cNvPr>
                <p:cNvSpPr/>
                <p:nvPr/>
              </p:nvSpPr>
              <p:spPr>
                <a:xfrm>
                  <a:off x="8166100" y="0"/>
                  <a:ext cx="88900" cy="2127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grpSp>
          <p:sp>
            <p:nvSpPr>
              <p:cNvPr id="101" name="Freeform: Shape 170">
                <a:extLst>
                  <a:ext uri="{FF2B5EF4-FFF2-40B4-BE49-F238E27FC236}">
                    <a16:creationId xmlns:a16="http://schemas.microsoft.com/office/drawing/2014/main" id="{1EE7338C-4BB5-4FC8-AE66-F5503EB74554}"/>
                  </a:ext>
                </a:extLst>
              </p:cNvPr>
              <p:cNvSpPr/>
              <p:nvPr/>
            </p:nvSpPr>
            <p:spPr>
              <a:xfrm>
                <a:off x="0" y="3106036"/>
                <a:ext cx="1325563" cy="1772353"/>
              </a:xfrm>
              <a:custGeom>
                <a:avLst/>
                <a:gdLst>
                  <a:gd name="connsiteX0" fmla="*/ 0 w 1325563"/>
                  <a:gd name="connsiteY0" fmla="*/ 0 h 1772353"/>
                  <a:gd name="connsiteX1" fmla="*/ 1325563 w 1325563"/>
                  <a:gd name="connsiteY1" fmla="*/ 738890 h 1772353"/>
                  <a:gd name="connsiteX2" fmla="*/ 1325563 w 1325563"/>
                  <a:gd name="connsiteY2" fmla="*/ 1772353 h 1772353"/>
                  <a:gd name="connsiteX3" fmla="*/ 0 w 1325563"/>
                  <a:gd name="connsiteY3" fmla="*/ 1772353 h 1772353"/>
                  <a:gd name="connsiteX4" fmla="*/ 0 w 1325563"/>
                  <a:gd name="connsiteY4" fmla="*/ 1681866 h 1772353"/>
                  <a:gd name="connsiteX5" fmla="*/ 1235076 w 1325563"/>
                  <a:gd name="connsiteY5" fmla="*/ 1681866 h 1772353"/>
                  <a:gd name="connsiteX6" fmla="*/ 1235076 w 1325563"/>
                  <a:gd name="connsiteY6" fmla="*/ 794453 h 1772353"/>
                  <a:gd name="connsiteX7" fmla="*/ 0 w 1325563"/>
                  <a:gd name="connsiteY7" fmla="*/ 105749 h 1772353"/>
                  <a:gd name="connsiteX8" fmla="*/ 0 w 1325563"/>
                  <a:gd name="connsiteY8" fmla="*/ 0 h 177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5563" h="1772353">
                    <a:moveTo>
                      <a:pt x="0" y="0"/>
                    </a:moveTo>
                    <a:lnTo>
                      <a:pt x="1325563" y="738890"/>
                    </a:lnTo>
                    <a:lnTo>
                      <a:pt x="1325563" y="1772353"/>
                    </a:lnTo>
                    <a:lnTo>
                      <a:pt x="0" y="1772353"/>
                    </a:lnTo>
                    <a:lnTo>
                      <a:pt x="0" y="1681866"/>
                    </a:lnTo>
                    <a:lnTo>
                      <a:pt x="1235076" y="1681866"/>
                    </a:lnTo>
                    <a:lnTo>
                      <a:pt x="1235076" y="794453"/>
                    </a:lnTo>
                    <a:lnTo>
                      <a:pt x="0" y="105749"/>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2" name="Freeform: Shape 178">
                <a:extLst>
                  <a:ext uri="{FF2B5EF4-FFF2-40B4-BE49-F238E27FC236}">
                    <a16:creationId xmlns:a16="http://schemas.microsoft.com/office/drawing/2014/main" id="{4BFB81BB-C1D9-485F-93EE-698488FC9D14}"/>
                  </a:ext>
                </a:extLst>
              </p:cNvPr>
              <p:cNvSpPr/>
              <p:nvPr/>
            </p:nvSpPr>
            <p:spPr>
              <a:xfrm>
                <a:off x="1" y="4235994"/>
                <a:ext cx="620713" cy="596356"/>
              </a:xfrm>
              <a:custGeom>
                <a:avLst/>
                <a:gdLst>
                  <a:gd name="connsiteX0" fmla="*/ 0 w 620713"/>
                  <a:gd name="connsiteY0" fmla="*/ 0 h 596356"/>
                  <a:gd name="connsiteX1" fmla="*/ 620713 w 620713"/>
                  <a:gd name="connsiteY1" fmla="*/ 286794 h 596356"/>
                  <a:gd name="connsiteX2" fmla="*/ 620713 w 620713"/>
                  <a:gd name="connsiteY2" fmla="*/ 596356 h 596356"/>
                  <a:gd name="connsiteX3" fmla="*/ 530225 w 620713"/>
                  <a:gd name="connsiteY3" fmla="*/ 596356 h 596356"/>
                  <a:gd name="connsiteX4" fmla="*/ 530225 w 620713"/>
                  <a:gd name="connsiteY4" fmla="*/ 347119 h 596356"/>
                  <a:gd name="connsiteX5" fmla="*/ 0 w 620713"/>
                  <a:gd name="connsiteY5" fmla="*/ 101828 h 596356"/>
                  <a:gd name="connsiteX6" fmla="*/ 0 w 620713"/>
                  <a:gd name="connsiteY6" fmla="*/ 0 h 59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713" h="596356">
                    <a:moveTo>
                      <a:pt x="0" y="0"/>
                    </a:moveTo>
                    <a:lnTo>
                      <a:pt x="620713" y="286794"/>
                    </a:lnTo>
                    <a:lnTo>
                      <a:pt x="620713" y="596356"/>
                    </a:lnTo>
                    <a:lnTo>
                      <a:pt x="530225" y="596356"/>
                    </a:lnTo>
                    <a:lnTo>
                      <a:pt x="530225" y="347119"/>
                    </a:lnTo>
                    <a:lnTo>
                      <a:pt x="0" y="101828"/>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3" name="Freeform: Shape 187">
                <a:extLst>
                  <a:ext uri="{FF2B5EF4-FFF2-40B4-BE49-F238E27FC236}">
                    <a16:creationId xmlns:a16="http://schemas.microsoft.com/office/drawing/2014/main" id="{2F475784-9EDC-4F26-A2EC-FEB9E78CA452}"/>
                  </a:ext>
                </a:extLst>
              </p:cNvPr>
              <p:cNvSpPr/>
              <p:nvPr/>
            </p:nvSpPr>
            <p:spPr>
              <a:xfrm flipH="1">
                <a:off x="11541126" y="5056188"/>
                <a:ext cx="647699" cy="415925"/>
              </a:xfrm>
              <a:custGeom>
                <a:avLst/>
                <a:gdLst>
                  <a:gd name="connsiteX0" fmla="*/ 593724 w 647699"/>
                  <a:gd name="connsiteY0" fmla="*/ 0 h 415925"/>
                  <a:gd name="connsiteX1" fmla="*/ 131761 w 647699"/>
                  <a:gd name="connsiteY1" fmla="*/ 325438 h 415925"/>
                  <a:gd name="connsiteX2" fmla="*/ 0 w 647699"/>
                  <a:gd name="connsiteY2" fmla="*/ 325438 h 415925"/>
                  <a:gd name="connsiteX3" fmla="*/ 0 w 647699"/>
                  <a:gd name="connsiteY3" fmla="*/ 415925 h 415925"/>
                  <a:gd name="connsiteX4" fmla="*/ 158749 w 647699"/>
                  <a:gd name="connsiteY4" fmla="*/ 415925 h 415925"/>
                  <a:gd name="connsiteX5" fmla="*/ 647699 w 647699"/>
                  <a:gd name="connsiteY5" fmla="*/ 76200 h 415925"/>
                  <a:gd name="connsiteX6" fmla="*/ 593724 w 647699"/>
                  <a:gd name="connsiteY6" fmla="*/ 0 h 415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7699" h="415925">
                    <a:moveTo>
                      <a:pt x="593724" y="0"/>
                    </a:moveTo>
                    <a:lnTo>
                      <a:pt x="131761" y="325438"/>
                    </a:lnTo>
                    <a:lnTo>
                      <a:pt x="0" y="325438"/>
                    </a:lnTo>
                    <a:lnTo>
                      <a:pt x="0" y="415925"/>
                    </a:lnTo>
                    <a:lnTo>
                      <a:pt x="158749" y="415925"/>
                    </a:lnTo>
                    <a:lnTo>
                      <a:pt x="647699" y="76200"/>
                    </a:lnTo>
                    <a:lnTo>
                      <a:pt x="593724"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4" name="Freeform: Shape 183">
                <a:extLst>
                  <a:ext uri="{FF2B5EF4-FFF2-40B4-BE49-F238E27FC236}">
                    <a16:creationId xmlns:a16="http://schemas.microsoft.com/office/drawing/2014/main" id="{4614F863-2BEF-49AD-88A9-6619AB9B5C62}"/>
                  </a:ext>
                </a:extLst>
              </p:cNvPr>
              <p:cNvSpPr/>
              <p:nvPr/>
            </p:nvSpPr>
            <p:spPr>
              <a:xfrm>
                <a:off x="10636250" y="1341438"/>
                <a:ext cx="1556543" cy="3378200"/>
              </a:xfrm>
              <a:custGeom>
                <a:avLst/>
                <a:gdLst>
                  <a:gd name="connsiteX0" fmla="*/ 0 w 1556543"/>
                  <a:gd name="connsiteY0" fmla="*/ 0 h 3378200"/>
                  <a:gd name="connsiteX1" fmla="*/ 1547742 w 1556543"/>
                  <a:gd name="connsiteY1" fmla="*/ 0 h 3378200"/>
                  <a:gd name="connsiteX2" fmla="*/ 1547742 w 1556543"/>
                  <a:gd name="connsiteY2" fmla="*/ 90488 h 3378200"/>
                  <a:gd name="connsiteX3" fmla="*/ 95997 w 1556543"/>
                  <a:gd name="connsiteY3" fmla="*/ 90488 h 3378200"/>
                  <a:gd name="connsiteX4" fmla="*/ 95997 w 1556543"/>
                  <a:gd name="connsiteY4" fmla="*/ 3286125 h 3378200"/>
                  <a:gd name="connsiteX5" fmla="*/ 1556543 w 1556543"/>
                  <a:gd name="connsiteY5" fmla="*/ 3286125 h 3378200"/>
                  <a:gd name="connsiteX6" fmla="*/ 1556543 w 1556543"/>
                  <a:gd name="connsiteY6" fmla="*/ 3378200 h 3378200"/>
                  <a:gd name="connsiteX7" fmla="*/ 0 w 1556543"/>
                  <a:gd name="connsiteY7" fmla="*/ 3378200 h 3378200"/>
                  <a:gd name="connsiteX8" fmla="*/ 0 w 1556543"/>
                  <a:gd name="connsiteY8" fmla="*/ 0 h 337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6543" h="3378200">
                    <a:moveTo>
                      <a:pt x="0" y="0"/>
                    </a:moveTo>
                    <a:lnTo>
                      <a:pt x="1547742" y="0"/>
                    </a:lnTo>
                    <a:lnTo>
                      <a:pt x="1547742" y="90488"/>
                    </a:lnTo>
                    <a:lnTo>
                      <a:pt x="95997" y="90488"/>
                    </a:lnTo>
                    <a:lnTo>
                      <a:pt x="95997" y="3286125"/>
                    </a:lnTo>
                    <a:lnTo>
                      <a:pt x="1556543" y="3286125"/>
                    </a:lnTo>
                    <a:lnTo>
                      <a:pt x="1556543" y="3378200"/>
                    </a:lnTo>
                    <a:lnTo>
                      <a:pt x="0" y="3378200"/>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5" name="Freeform: Shape 194">
                <a:extLst>
                  <a:ext uri="{FF2B5EF4-FFF2-40B4-BE49-F238E27FC236}">
                    <a16:creationId xmlns:a16="http://schemas.microsoft.com/office/drawing/2014/main" id="{6EE82D75-7D96-4AE5-870E-117E8AE9A987}"/>
                  </a:ext>
                </a:extLst>
              </p:cNvPr>
              <p:cNvSpPr/>
              <p:nvPr/>
            </p:nvSpPr>
            <p:spPr>
              <a:xfrm>
                <a:off x="7732712" y="5299075"/>
                <a:ext cx="4456113" cy="698848"/>
              </a:xfrm>
              <a:custGeom>
                <a:avLst/>
                <a:gdLst>
                  <a:gd name="connsiteX0" fmla="*/ 0 w 4456113"/>
                  <a:gd name="connsiteY0" fmla="*/ 0 h 698848"/>
                  <a:gd name="connsiteX1" fmla="*/ 93549 w 4456113"/>
                  <a:gd name="connsiteY1" fmla="*/ 0 h 698848"/>
                  <a:gd name="connsiteX2" fmla="*/ 93549 w 4456113"/>
                  <a:gd name="connsiteY2" fmla="*/ 131763 h 698848"/>
                  <a:gd name="connsiteX3" fmla="*/ 3791938 w 4456113"/>
                  <a:gd name="connsiteY3" fmla="*/ 131763 h 698848"/>
                  <a:gd name="connsiteX4" fmla="*/ 4456113 w 4456113"/>
                  <a:gd name="connsiteY4" fmla="*/ 588370 h 698848"/>
                  <a:gd name="connsiteX5" fmla="*/ 4456113 w 4456113"/>
                  <a:gd name="connsiteY5" fmla="*/ 698848 h 698848"/>
                  <a:gd name="connsiteX6" fmla="*/ 3766132 w 4456113"/>
                  <a:gd name="connsiteY6" fmla="*/ 222250 h 698848"/>
                  <a:gd name="connsiteX7" fmla="*/ 0 w 4456113"/>
                  <a:gd name="connsiteY7" fmla="*/ 222250 h 698848"/>
                  <a:gd name="connsiteX8" fmla="*/ 0 w 4456113"/>
                  <a:gd name="connsiteY8" fmla="*/ 0 h 69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56113" h="698848">
                    <a:moveTo>
                      <a:pt x="0" y="0"/>
                    </a:moveTo>
                    <a:lnTo>
                      <a:pt x="93549" y="0"/>
                    </a:lnTo>
                    <a:lnTo>
                      <a:pt x="93549" y="131763"/>
                    </a:lnTo>
                    <a:lnTo>
                      <a:pt x="3791938" y="131763"/>
                    </a:lnTo>
                    <a:lnTo>
                      <a:pt x="4456113" y="588370"/>
                    </a:lnTo>
                    <a:lnTo>
                      <a:pt x="4456113" y="698848"/>
                    </a:lnTo>
                    <a:lnTo>
                      <a:pt x="3766132" y="222250"/>
                    </a:lnTo>
                    <a:lnTo>
                      <a:pt x="0" y="222250"/>
                    </a:ln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6" name="Rectangle 105">
                <a:extLst>
                  <a:ext uri="{FF2B5EF4-FFF2-40B4-BE49-F238E27FC236}">
                    <a16:creationId xmlns:a16="http://schemas.microsoft.com/office/drawing/2014/main" id="{C9A8D692-12C2-42F2-88B4-5A9EA114D347}"/>
                  </a:ext>
                </a:extLst>
              </p:cNvPr>
              <p:cNvSpPr/>
              <p:nvPr/>
            </p:nvSpPr>
            <p:spPr>
              <a:xfrm>
                <a:off x="9931400" y="5738813"/>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7" name="Rectangle 106">
                <a:extLst>
                  <a:ext uri="{FF2B5EF4-FFF2-40B4-BE49-F238E27FC236}">
                    <a16:creationId xmlns:a16="http://schemas.microsoft.com/office/drawing/2014/main" id="{D12B4C6B-1ABF-4A08-B4CA-D38322BBF54D}"/>
                  </a:ext>
                </a:extLst>
              </p:cNvPr>
              <p:cNvSpPr/>
              <p:nvPr/>
            </p:nvSpPr>
            <p:spPr>
              <a:xfrm>
                <a:off x="10990263" y="5738813"/>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sp>
            <p:nvSpPr>
              <p:cNvPr id="108" name="Rectangle 107">
                <a:extLst>
                  <a:ext uri="{FF2B5EF4-FFF2-40B4-BE49-F238E27FC236}">
                    <a16:creationId xmlns:a16="http://schemas.microsoft.com/office/drawing/2014/main" id="{8D959865-100C-44A1-8F18-F5A72A703100}"/>
                  </a:ext>
                </a:extLst>
              </p:cNvPr>
              <p:cNvSpPr/>
              <p:nvPr/>
            </p:nvSpPr>
            <p:spPr>
              <a:xfrm rot="5400000">
                <a:off x="10475119" y="5223670"/>
                <a:ext cx="88900" cy="11191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endParaRPr lang="en-ID" sz="1351"/>
              </a:p>
            </p:txBody>
          </p:sp>
        </p:grpSp>
        <p:sp>
          <p:nvSpPr>
            <p:cNvPr id="19" name="Rectangle 18">
              <a:extLst>
                <a:ext uri="{FF2B5EF4-FFF2-40B4-BE49-F238E27FC236}">
                  <a16:creationId xmlns:a16="http://schemas.microsoft.com/office/drawing/2014/main" id="{D0708BEF-D6C0-4BD1-8412-877B4DBAF504}"/>
                </a:ext>
              </a:extLst>
            </p:cNvPr>
            <p:cNvSpPr>
              <a:spLocks noChangeArrowheads="1"/>
            </p:cNvSpPr>
            <p:nvPr/>
          </p:nvSpPr>
          <p:spPr bwMode="auto">
            <a:xfrm>
              <a:off x="2981325" y="1704975"/>
              <a:ext cx="3199210" cy="1763316"/>
            </a:xfrm>
            <a:prstGeom prst="rect">
              <a:avLst/>
            </a:prstGeom>
            <a:noFill/>
            <a:ln w="60325" cap="flat">
              <a:solidFill>
                <a:srgbClr val="00A64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ctr" anchorCtr="0" compatLnSpc="1">
              <a:prstTxWarp prst="textNoShape">
                <a:avLst/>
              </a:prstTxWarp>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ID" sz="1351" dirty="0">
                <a:solidFill>
                  <a:schemeClr val="tx1">
                    <a:lumMod val="65000"/>
                    <a:lumOff val="35000"/>
                  </a:schemeClr>
                </a:solidFill>
              </a:endParaRPr>
            </a:p>
          </p:txBody>
        </p:sp>
        <p:pic>
          <p:nvPicPr>
            <p:cNvPr id="20" name="Picture 19" descr="A picture containing monitor, computer, keyboard, table&#10;&#10;Description automatically generated">
              <a:extLst>
                <a:ext uri="{FF2B5EF4-FFF2-40B4-BE49-F238E27FC236}">
                  <a16:creationId xmlns:a16="http://schemas.microsoft.com/office/drawing/2014/main" id="{DC46C932-19EF-4690-AB35-D49ED58E47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5223" y="1796707"/>
              <a:ext cx="2332431" cy="1826585"/>
            </a:xfrm>
            <a:prstGeom prst="rect">
              <a:avLst/>
            </a:prstGeom>
          </p:spPr>
        </p:pic>
      </p:grpSp>
    </p:spTree>
    <p:extLst>
      <p:ext uri="{BB962C8B-B14F-4D97-AF65-F5344CB8AC3E}">
        <p14:creationId xmlns:p14="http://schemas.microsoft.com/office/powerpoint/2010/main" val="743955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a:solidFill>
                  <a:schemeClr val="accent6">
                    <a:lumMod val="50000"/>
                  </a:schemeClr>
                </a:solidFill>
                <a:latin typeface="Corbel" panose="020B0503020204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04800" y="1228153"/>
            <a:ext cx="11582400" cy="5021979"/>
          </a:xfrm>
        </p:spPr>
        <p:txBody>
          <a:bodyPr/>
          <a:lstStyle>
            <a:lvl1pPr marL="304792" indent="-228594">
              <a:buSzPct val="110000"/>
              <a:buFont typeface="Arial" panose="020B0604020202020204" pitchFamily="34" charset="0"/>
              <a:buChar char="•"/>
              <a:defRPr sz="3200">
                <a:solidFill>
                  <a:schemeClr val="tx1"/>
                </a:solidFill>
              </a:defRPr>
            </a:lvl1pPr>
            <a:lvl2pPr marL="609585" indent="-304792">
              <a:defRPr sz="3200">
                <a:solidFill>
                  <a:schemeClr val="tx1"/>
                </a:solidFill>
              </a:defRPr>
            </a:lvl2pPr>
            <a:lvl3pPr marL="836063" indent="-226478">
              <a:defRPr sz="2667">
                <a:solidFill>
                  <a:schemeClr val="tx1"/>
                </a:solidFill>
              </a:defRPr>
            </a:lvl3pPr>
            <a:lvl4pPr marL="1071007" indent="-234945">
              <a:defRPr sz="2400">
                <a:solidFill>
                  <a:schemeClr val="tx1"/>
                </a:solidFill>
              </a:defRPr>
            </a:lvl4pPr>
            <a:lvl5pPr marL="1297485" indent="-226478">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04801" y="6448468"/>
            <a:ext cx="2472271" cy="365125"/>
          </a:xfrm>
        </p:spPr>
        <p:txBody>
          <a:bodyPr/>
          <a:lstStyle>
            <a:lvl1pPr>
              <a:defRPr sz="1600"/>
            </a:lvl1p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lvl1pPr>
              <a:defRPr sz="1600"/>
            </a:lvl1pPr>
          </a:lstStyle>
          <a:p>
            <a:r>
              <a:rPr lang="en-US"/>
              <a:t>Introduction to AI</a:t>
            </a:r>
          </a:p>
        </p:txBody>
      </p:sp>
      <p:sp>
        <p:nvSpPr>
          <p:cNvPr id="6" name="Slide Number Placeholder 5"/>
          <p:cNvSpPr>
            <a:spLocks noGrp="1"/>
          </p:cNvSpPr>
          <p:nvPr>
            <p:ph type="sldNum" sz="quarter" idx="12"/>
          </p:nvPr>
        </p:nvSpPr>
        <p:spPr/>
        <p:txBody>
          <a:bodyPr/>
          <a:lstStyle>
            <a:lvl1pPr>
              <a:defRPr sz="1600"/>
            </a:lvl1pPr>
          </a:lstStyle>
          <a:p>
            <a:fld id="{75B1DB82-35C9-4076-A5B8-0781B30E89ED}" type="slidenum">
              <a:rPr lang="en-US" smtClean="0"/>
              <a:t>‹#›</a:t>
            </a:fld>
            <a:endParaRPr lang="en-US"/>
          </a:p>
        </p:txBody>
      </p:sp>
    </p:spTree>
    <p:extLst>
      <p:ext uri="{BB962C8B-B14F-4D97-AF65-F5344CB8AC3E}">
        <p14:creationId xmlns:p14="http://schemas.microsoft.com/office/powerpoint/2010/main" val="1206709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z="1600"/>
            </a:lvl1pPr>
          </a:lstStyle>
          <a:p>
            <a:fld id="{32A3D4D7-2170-41A3-B880-00E013DFF58E}" type="datetime1">
              <a:rPr lang="en-US" smtClean="0"/>
              <a:t>9/29/2022</a:t>
            </a:fld>
            <a:endParaRPr lang="en-US"/>
          </a:p>
        </p:txBody>
      </p:sp>
      <p:sp>
        <p:nvSpPr>
          <p:cNvPr id="5" name="Footer Placeholder 4"/>
          <p:cNvSpPr>
            <a:spLocks noGrp="1"/>
          </p:cNvSpPr>
          <p:nvPr>
            <p:ph type="ftr" sz="quarter" idx="11"/>
          </p:nvPr>
        </p:nvSpPr>
        <p:spPr/>
        <p:txBody>
          <a:bodyPr/>
          <a:lstStyle>
            <a:lvl1pPr>
              <a:defRPr sz="1600"/>
            </a:lvl1pPr>
          </a:lstStyle>
          <a:p>
            <a:r>
              <a:rPr lang="en-US"/>
              <a:t>Introduction to AI</a:t>
            </a:r>
          </a:p>
        </p:txBody>
      </p:sp>
      <p:sp>
        <p:nvSpPr>
          <p:cNvPr id="6" name="Slide Number Placeholder 5"/>
          <p:cNvSpPr>
            <a:spLocks noGrp="1"/>
          </p:cNvSpPr>
          <p:nvPr>
            <p:ph type="sldNum" sz="quarter" idx="12"/>
          </p:nvPr>
        </p:nvSpPr>
        <p:spPr/>
        <p:txBody>
          <a:bodyPr/>
          <a:lstStyle>
            <a:lvl1pPr>
              <a:defRPr sz="1600"/>
            </a:lvl1pPr>
          </a:lstStyle>
          <a:p>
            <a:fld id="{75B1DB82-35C9-4076-A5B8-0781B30E89ED}"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120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304800" y="286605"/>
            <a:ext cx="11582400" cy="703996"/>
          </a:xfrm>
        </p:spPr>
        <p:txBody>
          <a:bodyPr/>
          <a:lstStyle>
            <a:lvl1pPr>
              <a:defRPr>
                <a:solidFill>
                  <a:schemeClr val="accent6">
                    <a:lumMod val="50000"/>
                  </a:schemeClr>
                </a:solidFill>
              </a:defRPr>
            </a:lvl1pPr>
          </a:lstStyle>
          <a:p>
            <a:r>
              <a:rPr lang="en-US"/>
              <a:t>Click to edit Master title style</a:t>
            </a:r>
            <a:endParaRPr lang="en-US" dirty="0"/>
          </a:p>
        </p:txBody>
      </p:sp>
      <p:sp>
        <p:nvSpPr>
          <p:cNvPr id="3" name="Content Placeholder 2"/>
          <p:cNvSpPr>
            <a:spLocks noGrp="1"/>
          </p:cNvSpPr>
          <p:nvPr>
            <p:ph sz="half" idx="1"/>
          </p:nvPr>
        </p:nvSpPr>
        <p:spPr>
          <a:xfrm>
            <a:off x="304800" y="1193800"/>
            <a:ext cx="5689600" cy="5080000"/>
          </a:xfrm>
        </p:spPr>
        <p:txBody>
          <a:bodyPr/>
          <a:lstStyle>
            <a:lvl1pPr>
              <a:defRPr sz="3200">
                <a:solidFill>
                  <a:schemeClr val="tx1"/>
                </a:solidFill>
              </a:defRPr>
            </a:lvl1pPr>
            <a:lvl2pPr>
              <a:defRPr sz="2667">
                <a:solidFill>
                  <a:schemeClr val="tx1"/>
                </a:solidFill>
              </a:defRPr>
            </a:lvl2pPr>
            <a:lvl3pPr>
              <a:defRPr sz="2400">
                <a:solidFill>
                  <a:schemeClr val="tx1"/>
                </a:solidFill>
              </a:defRPr>
            </a:lvl3pPr>
            <a:lvl4pPr>
              <a:defRPr sz="2133">
                <a:solidFill>
                  <a:schemeClr val="tx1"/>
                </a:solidFill>
              </a:defRPr>
            </a:lvl4pPr>
            <a:lvl5pPr>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6000" y="1193800"/>
            <a:ext cx="5791200" cy="5080000"/>
          </a:xfrm>
        </p:spPr>
        <p:txBody>
          <a:bodyPr/>
          <a:lstStyle>
            <a:lvl1pPr>
              <a:defRPr sz="3200">
                <a:solidFill>
                  <a:schemeClr val="tx1"/>
                </a:solidFill>
              </a:defRPr>
            </a:lvl1pPr>
            <a:lvl2pPr>
              <a:defRPr sz="2667">
                <a:solidFill>
                  <a:schemeClr val="tx1"/>
                </a:solidFill>
              </a:defRPr>
            </a:lvl2pPr>
            <a:lvl3pPr>
              <a:defRPr sz="2400">
                <a:solidFill>
                  <a:schemeClr val="tx1"/>
                </a:solidFill>
              </a:defRPr>
            </a:lvl3pPr>
            <a:lvl4pPr>
              <a:defRPr sz="2133">
                <a:solidFill>
                  <a:schemeClr val="tx1"/>
                </a:solidFill>
              </a:defRPr>
            </a:lvl4pPr>
            <a:lvl5pPr>
              <a:defRPr sz="2133">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79017B-1767-4C05-8279-C189AA0C4571}" type="datetime1">
              <a:rPr lang="en-US" smtClean="0"/>
              <a:t>9/29/2022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363166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304800" y="279400"/>
            <a:ext cx="11582400" cy="7112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4800" y="1201995"/>
            <a:ext cx="5683795" cy="736283"/>
          </a:xfrm>
        </p:spPr>
        <p:txBody>
          <a:bodyPr lIns="91440" rIns="91440" anchor="ctr">
            <a:normAutofit/>
          </a:bodyPr>
          <a:lstStyle>
            <a:lvl1pPr marL="0" indent="0">
              <a:buNone/>
              <a:defRPr sz="2000" b="0" cap="all" baseline="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310605" y="2094962"/>
            <a:ext cx="5683795" cy="41788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1" y="1201995"/>
            <a:ext cx="5651863" cy="736283"/>
          </a:xfrm>
        </p:spPr>
        <p:txBody>
          <a:bodyPr lIns="91440" rIns="91440" anchor="ctr">
            <a:normAutofit/>
          </a:bodyPr>
          <a:lstStyle>
            <a:lvl1pPr marL="0" indent="0">
              <a:buNone/>
              <a:defRPr sz="2000" b="0" cap="all" baseline="0">
                <a:solidFill>
                  <a:schemeClr val="tx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97601" y="2133907"/>
            <a:ext cx="5651863" cy="413989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1835E7-4C2F-476A-9D16-2A05DA165C60}" type="datetime1">
              <a:rPr lang="en-US" smtClean="0"/>
              <a:t>9/29/2022</a:t>
            </a:fld>
            <a:endParaRPr lang="en-US"/>
          </a:p>
        </p:txBody>
      </p:sp>
      <p:sp>
        <p:nvSpPr>
          <p:cNvPr id="8" name="Footer Placeholder 7"/>
          <p:cNvSpPr>
            <a:spLocks noGrp="1"/>
          </p:cNvSpPr>
          <p:nvPr>
            <p:ph type="ftr" sz="quarter" idx="11"/>
          </p:nvPr>
        </p:nvSpPr>
        <p:spPr/>
        <p:txBody>
          <a:bodyPr/>
          <a:lstStyle/>
          <a:p>
            <a:r>
              <a:rPr lang="en-US"/>
              <a:t>Introduction to AI</a:t>
            </a:r>
          </a:p>
        </p:txBody>
      </p:sp>
      <p:sp>
        <p:nvSpPr>
          <p:cNvPr id="9" name="Slide Number Placeholder 8"/>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1258294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6">
                    <a:lumMod val="50000"/>
                  </a:schemeClr>
                </a:solidFill>
                <a:latin typeface="Corbel" panose="020B0503020204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0D484F-7D1D-4223-B4EB-4774EB72A1BF}" type="datetime1">
              <a:rPr lang="en-US" smtClean="0"/>
              <a:t>9/29/2022</a:t>
            </a:fld>
            <a:endParaRPr lang="en-US"/>
          </a:p>
        </p:txBody>
      </p:sp>
      <p:sp>
        <p:nvSpPr>
          <p:cNvPr id="4" name="Footer Placeholder 3"/>
          <p:cNvSpPr>
            <a:spLocks noGrp="1"/>
          </p:cNvSpPr>
          <p:nvPr>
            <p:ph type="ftr" sz="quarter" idx="11"/>
          </p:nvPr>
        </p:nvSpPr>
        <p:spPr/>
        <p:txBody>
          <a:bodyPr/>
          <a:lstStyle/>
          <a:p>
            <a:r>
              <a:rPr lang="en-US"/>
              <a:t>Introduction to AI</a:t>
            </a:r>
          </a:p>
        </p:txBody>
      </p:sp>
      <p:sp>
        <p:nvSpPr>
          <p:cNvPr id="5" name="Slide Number Placeholder 4"/>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201741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A73596E-E238-44EA-B44A-E8BBAA7C1898}" type="datetime1">
              <a:rPr lang="en-US" smtClean="0"/>
              <a:t>9/29/2022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Introduction to AI</a:t>
            </a:r>
          </a:p>
        </p:txBody>
      </p:sp>
      <p:sp>
        <p:nvSpPr>
          <p:cNvPr id="9" name="Slide Number Placeholder 8"/>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113533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a:xfrm>
            <a:off x="465513" y="6459786"/>
            <a:ext cx="2618511" cy="365125"/>
          </a:xfrm>
        </p:spPr>
        <p:txBody>
          <a:bodyPr/>
          <a:lstStyle>
            <a:lvl1pPr algn="l">
              <a:defRPr/>
            </a:lvl1pPr>
          </a:lstStyle>
          <a:p>
            <a:fld id="{265CA693-E051-489F-AD60-4836BFF8D4C0}" type="datetime1">
              <a:rPr lang="en-US" smtClean="0"/>
              <a:t>9/29/2022</a:t>
            </a:fld>
            <a:endParaRPr lang="en-US"/>
          </a:p>
        </p:txBody>
      </p:sp>
      <p:sp>
        <p:nvSpPr>
          <p:cNvPr id="6" name="Footer Placeholder 5"/>
          <p:cNvSpPr>
            <a:spLocks noGrp="1"/>
          </p:cNvSpPr>
          <p:nvPr>
            <p:ph type="ftr" sz="quarter" idx="11"/>
          </p:nvPr>
        </p:nvSpPr>
        <p:spPr>
          <a:xfrm>
            <a:off x="4800600" y="6459786"/>
            <a:ext cx="4648200" cy="365125"/>
          </a:xfrm>
        </p:spPr>
        <p:txBody>
          <a:bodyPr/>
          <a:lstStyle>
            <a:lvl1pPr algn="l">
              <a:defRPr>
                <a:solidFill>
                  <a:schemeClr val="tx2"/>
                </a:solidFill>
              </a:defRPr>
            </a:lvl1pPr>
          </a:lstStyle>
          <a:p>
            <a:r>
              <a:rPr lang="en-US"/>
              <a:t>Introduction to AI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5B1DB82-35C9-4076-A5B8-0781B30E89ED}" type="slidenum">
              <a:rPr lang="en-US" smtClean="0"/>
              <a:t>‹#›</a:t>
            </a:fld>
            <a:endParaRPr lang="en-US"/>
          </a:p>
        </p:txBody>
      </p:sp>
    </p:spTree>
    <p:extLst>
      <p:ext uri="{BB962C8B-B14F-4D97-AF65-F5344CB8AC3E}">
        <p14:creationId xmlns:p14="http://schemas.microsoft.com/office/powerpoint/2010/main" val="2288193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1"/>
            <a:ext cx="12191985" cy="4915076"/>
          </a:xfrm>
          <a:solidFill>
            <a:schemeClr val="bg2">
              <a:lumMod val="90000"/>
            </a:schemeClr>
          </a:solidFill>
        </p:spPr>
        <p:txBody>
          <a:bodyPr lIns="457200" tIns="457200"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54E5D39-2C70-49FC-8BEA-2C0469021ACB}" type="datetime1">
              <a:rPr lang="en-US" smtClean="0"/>
              <a:t>9/29/2022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324355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orbel" panose="020B0503020204020204" pitchFamily="34" charset="0"/>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234743-1993-4606-86DC-A30336869D0E}"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2590969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2301"/>
            <a:ext cx="2628900" cy="57598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2301"/>
            <a:ext cx="7734300" cy="5759899"/>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5F1C26-1B82-4B05-B2A5-72C95E92D3BF}"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a:t>
            </a:fld>
            <a:endParaRPr lang="en-US"/>
          </a:p>
        </p:txBody>
      </p:sp>
    </p:spTree>
    <p:extLst>
      <p:ext uri="{BB962C8B-B14F-4D97-AF65-F5344CB8AC3E}">
        <p14:creationId xmlns:p14="http://schemas.microsoft.com/office/powerpoint/2010/main" val="1008847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6334317"/>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04800" y="286605"/>
            <a:ext cx="11582400" cy="70399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04800" y="1210736"/>
            <a:ext cx="11582400" cy="5021979"/>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04801" y="6442483"/>
            <a:ext cx="2472271" cy="365125"/>
          </a:xfrm>
          <a:prstGeom prst="rect">
            <a:avLst/>
          </a:prstGeom>
        </p:spPr>
        <p:txBody>
          <a:bodyPr vert="horz" lIns="91440" tIns="45720" rIns="91440" bIns="45720" rtlCol="0" anchor="ctr"/>
          <a:lstStyle>
            <a:lvl1pPr algn="l">
              <a:defRPr sz="1333">
                <a:solidFill>
                  <a:schemeClr val="bg1"/>
                </a:solidFill>
              </a:defRPr>
            </a:lvl1pPr>
          </a:lstStyle>
          <a:p>
            <a:fld id="{CB0D3A30-4813-421E-868B-5102825C77AE}" type="datetime1">
              <a:rPr lang="en-US" smtClean="0"/>
              <a:t>9/29/2022</a:t>
            </a:fld>
            <a:endParaRPr lang="en-US"/>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1333" cap="all" baseline="0">
                <a:solidFill>
                  <a:schemeClr val="bg1"/>
                </a:solidFill>
              </a:defRPr>
            </a:lvl1pPr>
          </a:lstStyle>
          <a:p>
            <a:r>
              <a:rPr lang="en-US"/>
              <a:t>Introduction to AI</a:t>
            </a:r>
          </a:p>
        </p:txBody>
      </p:sp>
      <p:sp>
        <p:nvSpPr>
          <p:cNvPr id="6" name="Slide Number Placeholder 5"/>
          <p:cNvSpPr>
            <a:spLocks noGrp="1"/>
          </p:cNvSpPr>
          <p:nvPr>
            <p:ph type="sldNum" sz="quarter" idx="4"/>
          </p:nvPr>
        </p:nvSpPr>
        <p:spPr>
          <a:xfrm>
            <a:off x="10575176" y="6448468"/>
            <a:ext cx="1312025" cy="365125"/>
          </a:xfrm>
          <a:prstGeom prst="rect">
            <a:avLst/>
          </a:prstGeom>
        </p:spPr>
        <p:txBody>
          <a:bodyPr vert="horz" lIns="91440" tIns="45720" rIns="91440" bIns="45720" rtlCol="0" anchor="ctr"/>
          <a:lstStyle>
            <a:lvl1pPr algn="r">
              <a:defRPr sz="1333">
                <a:solidFill>
                  <a:schemeClr val="bg1"/>
                </a:solidFill>
              </a:defRPr>
            </a:lvl1pPr>
          </a:lstStyle>
          <a:p>
            <a:fld id="{75B1DB82-35C9-4076-A5B8-0781B30E89ED}" type="slidenum">
              <a:rPr lang="en-US" smtClean="0"/>
              <a:t>‹#›</a:t>
            </a:fld>
            <a:endParaRPr lang="en-US"/>
          </a:p>
        </p:txBody>
      </p:sp>
      <p:cxnSp>
        <p:nvCxnSpPr>
          <p:cNvPr id="10" name="Straight Connector 9"/>
          <p:cNvCxnSpPr/>
          <p:nvPr/>
        </p:nvCxnSpPr>
        <p:spPr>
          <a:xfrm>
            <a:off x="304800" y="1092200"/>
            <a:ext cx="115824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346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377" rtl="0" eaLnBrk="1" latinLnBrk="0" hangingPunct="1">
        <a:lnSpc>
          <a:spcPct val="85000"/>
        </a:lnSpc>
        <a:spcBef>
          <a:spcPct val="0"/>
        </a:spcBef>
        <a:buNone/>
        <a:defRPr sz="4800" kern="1200" spc="-51" baseline="0">
          <a:solidFill>
            <a:schemeClr val="accent6">
              <a:lumMod val="50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webster-dictionary.org/definition/Knowledg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8.wmf"/><Relationship Id="rId5" Type="http://schemas.openxmlformats.org/officeDocument/2006/relationships/oleObject" Target="../embeddings/oleObject1.bin"/><Relationship Id="rId4" Type="http://schemas.openxmlformats.org/officeDocument/2006/relationships/hyperlink" Target="http://primaryobjects.github.io/wumpus/" TargetMode="Externa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nchor="ctr"/>
          <a:lstStyle/>
          <a:p>
            <a:pPr algn="ctr"/>
            <a:r>
              <a:rPr lang="en-US" dirty="0"/>
              <a:t>Knowledge and Reasoning</a:t>
            </a:r>
          </a:p>
        </p:txBody>
      </p:sp>
      <p:sp>
        <p:nvSpPr>
          <p:cNvPr id="3" name="Date Placeholder 2"/>
          <p:cNvSpPr>
            <a:spLocks noGrp="1"/>
          </p:cNvSpPr>
          <p:nvPr>
            <p:ph type="dt" sz="half" idx="10"/>
          </p:nvPr>
        </p:nvSpPr>
        <p:spPr/>
        <p:txBody>
          <a:bodyPr/>
          <a:lstStyle/>
          <a:p>
            <a:fld id="{654C4067-A9CA-4A27-8DA7-3E08B1BB6143}" type="datetime1">
              <a:rPr lang="en-US" smtClean="0"/>
              <a:t>9/29/2022</a:t>
            </a:fld>
            <a:endParaRPr lang="en-US"/>
          </a:p>
        </p:txBody>
      </p:sp>
      <p:sp>
        <p:nvSpPr>
          <p:cNvPr id="4" name="Footer Placeholder 3"/>
          <p:cNvSpPr>
            <a:spLocks noGrp="1"/>
          </p:cNvSpPr>
          <p:nvPr>
            <p:ph type="ftr" sz="quarter" idx="11"/>
          </p:nvPr>
        </p:nvSpPr>
        <p:spPr/>
        <p:txBody>
          <a:bodyPr/>
          <a:lstStyle/>
          <a:p>
            <a:r>
              <a:rPr lang="en-US"/>
              <a:t>Introduction to AI</a:t>
            </a:r>
          </a:p>
        </p:txBody>
      </p:sp>
      <p:sp>
        <p:nvSpPr>
          <p:cNvPr id="5" name="Slide Number Placeholder 4"/>
          <p:cNvSpPr>
            <a:spLocks noGrp="1"/>
          </p:cNvSpPr>
          <p:nvPr>
            <p:ph type="sldNum" sz="quarter" idx="12"/>
          </p:nvPr>
        </p:nvSpPr>
        <p:spPr/>
        <p:txBody>
          <a:bodyPr/>
          <a:lstStyle/>
          <a:p>
            <a:fld id="{75B1DB82-35C9-4076-A5B8-0781B30E89ED}" type="slidenum">
              <a:rPr lang="en-US" smtClean="0"/>
              <a:t>1</a:t>
            </a:fld>
            <a:endParaRPr lang="en-US"/>
          </a:p>
        </p:txBody>
      </p:sp>
    </p:spTree>
    <p:extLst>
      <p:ext uri="{BB962C8B-B14F-4D97-AF65-F5344CB8AC3E}">
        <p14:creationId xmlns:p14="http://schemas.microsoft.com/office/powerpoint/2010/main" val="1492947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Objectives</a:t>
            </a:r>
          </a:p>
        </p:txBody>
      </p:sp>
      <p:sp>
        <p:nvSpPr>
          <p:cNvPr id="3" name="Content Placeholder 2"/>
          <p:cNvSpPr>
            <a:spLocks noGrp="1"/>
          </p:cNvSpPr>
          <p:nvPr>
            <p:ph idx="1"/>
          </p:nvPr>
        </p:nvSpPr>
        <p:spPr/>
        <p:txBody>
          <a:bodyPr>
            <a:normAutofit/>
          </a:bodyPr>
          <a:lstStyle/>
          <a:p>
            <a:pPr>
              <a:lnSpc>
                <a:spcPct val="100000"/>
              </a:lnSpc>
              <a:spcBef>
                <a:spcPts val="0"/>
              </a:spcBef>
              <a:spcAft>
                <a:spcPts val="0"/>
              </a:spcAft>
            </a:pPr>
            <a:r>
              <a:rPr lang="en-US" sz="4000" dirty="0"/>
              <a:t>Knowledge Representation</a:t>
            </a:r>
          </a:p>
          <a:p>
            <a:pPr>
              <a:lnSpc>
                <a:spcPct val="100000"/>
              </a:lnSpc>
              <a:spcBef>
                <a:spcPts val="0"/>
              </a:spcBef>
              <a:spcAft>
                <a:spcPts val="0"/>
              </a:spcAft>
            </a:pPr>
            <a:r>
              <a:rPr lang="en-US" sz="4000" dirty="0"/>
              <a:t>Propositional Logic</a:t>
            </a:r>
          </a:p>
          <a:p>
            <a:pPr>
              <a:lnSpc>
                <a:spcPct val="100000"/>
              </a:lnSpc>
              <a:spcBef>
                <a:spcPts val="0"/>
              </a:spcBef>
              <a:spcAft>
                <a:spcPts val="0"/>
              </a:spcAft>
            </a:pPr>
            <a:r>
              <a:rPr lang="en-US" sz="4000" dirty="0"/>
              <a:t>Rules of Inference</a:t>
            </a:r>
          </a:p>
          <a:p>
            <a:pPr>
              <a:lnSpc>
                <a:spcPct val="100000"/>
              </a:lnSpc>
              <a:spcBef>
                <a:spcPts val="0"/>
              </a:spcBef>
              <a:spcAft>
                <a:spcPts val="0"/>
              </a:spcAft>
            </a:pPr>
            <a:r>
              <a:rPr lang="en-US" sz="4000" dirty="0"/>
              <a:t>Wumpus World Example</a:t>
            </a:r>
          </a:p>
        </p:txBody>
      </p:sp>
      <p:sp>
        <p:nvSpPr>
          <p:cNvPr id="4" name="Date Placeholder 3"/>
          <p:cNvSpPr>
            <a:spLocks noGrp="1"/>
          </p:cNvSpPr>
          <p:nvPr>
            <p:ph type="dt" sz="half" idx="10"/>
          </p:nvPr>
        </p:nvSpPr>
        <p:spPr/>
        <p:txBody>
          <a:bodyPr/>
          <a:lstStyle/>
          <a:p>
            <a:fld id="{45D5AC14-F69F-470B-87F4-41DE8C843EFA}"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2</a:t>
            </a:fld>
            <a:endParaRPr lang="en-US"/>
          </a:p>
        </p:txBody>
      </p:sp>
    </p:spTree>
    <p:extLst>
      <p:ext uri="{BB962C8B-B14F-4D97-AF65-F5344CB8AC3E}">
        <p14:creationId xmlns:p14="http://schemas.microsoft.com/office/powerpoint/2010/main" val="411603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Knowledge Representation</a:t>
            </a:r>
          </a:p>
        </p:txBody>
      </p:sp>
      <p:sp>
        <p:nvSpPr>
          <p:cNvPr id="3" name="Content Placeholder 2"/>
          <p:cNvSpPr>
            <a:spLocks noGrp="1"/>
          </p:cNvSpPr>
          <p:nvPr>
            <p:ph idx="1"/>
          </p:nvPr>
        </p:nvSpPr>
        <p:spPr/>
        <p:txBody>
          <a:bodyPr>
            <a:normAutofit fontScale="85000" lnSpcReduction="20000"/>
          </a:bodyPr>
          <a:lstStyle/>
          <a:p>
            <a:pPr>
              <a:lnSpc>
                <a:spcPct val="110000"/>
              </a:lnSpc>
              <a:spcBef>
                <a:spcPts val="0"/>
              </a:spcBef>
              <a:spcAft>
                <a:spcPts val="0"/>
              </a:spcAft>
            </a:pPr>
            <a:r>
              <a:rPr lang="en-US" sz="3600" dirty="0">
                <a:solidFill>
                  <a:srgbClr val="C00000"/>
                </a:solidFill>
              </a:rPr>
              <a:t>Knowledge</a:t>
            </a:r>
            <a:r>
              <a:rPr lang="en-US" sz="3600" dirty="0"/>
              <a:t> is defined as "The act or state of </a:t>
            </a:r>
            <a:r>
              <a:rPr lang="en-US" sz="3600" i="1" dirty="0">
                <a:solidFill>
                  <a:srgbClr val="C00000"/>
                </a:solidFill>
              </a:rPr>
              <a:t>knowing</a:t>
            </a:r>
            <a:r>
              <a:rPr lang="en-US" sz="3600" dirty="0"/>
              <a:t>; clear </a:t>
            </a:r>
            <a:r>
              <a:rPr lang="en-US" sz="3600" i="1" dirty="0">
                <a:solidFill>
                  <a:srgbClr val="C00000"/>
                </a:solidFill>
              </a:rPr>
              <a:t>perception</a:t>
            </a:r>
            <a:r>
              <a:rPr lang="en-US" sz="3600" dirty="0"/>
              <a:t> of fact, truth or duty; certain apprehension." </a:t>
            </a:r>
            <a:r>
              <a:rPr lang="en-US" sz="2800" dirty="0">
                <a:solidFill>
                  <a:srgbClr val="0000CC"/>
                </a:solidFill>
              </a:rPr>
              <a:t>[</a:t>
            </a:r>
            <a:r>
              <a:rPr lang="en-US" sz="2800" dirty="0">
                <a:solidFill>
                  <a:srgbClr val="0000CC"/>
                </a:solidFill>
                <a:hlinkClick r:id="rId3"/>
              </a:rPr>
              <a:t>Webster Dictionary</a:t>
            </a:r>
            <a:r>
              <a:rPr lang="en-US" sz="2800" dirty="0">
                <a:solidFill>
                  <a:srgbClr val="0000CC"/>
                </a:solidFill>
              </a:rPr>
              <a:t>]</a:t>
            </a:r>
          </a:p>
          <a:p>
            <a:pPr marL="76198" indent="0">
              <a:lnSpc>
                <a:spcPct val="110000"/>
              </a:lnSpc>
              <a:spcBef>
                <a:spcPts val="0"/>
              </a:spcBef>
              <a:spcAft>
                <a:spcPts val="0"/>
              </a:spcAft>
              <a:buNone/>
            </a:pPr>
            <a:endParaRPr lang="en-US" sz="3600" dirty="0"/>
          </a:p>
          <a:p>
            <a:pPr>
              <a:lnSpc>
                <a:spcPct val="110000"/>
              </a:lnSpc>
              <a:spcBef>
                <a:spcPts val="0"/>
              </a:spcBef>
              <a:spcAft>
                <a:spcPts val="0"/>
              </a:spcAft>
            </a:pPr>
            <a:r>
              <a:rPr lang="en-US" sz="3600" dirty="0">
                <a:solidFill>
                  <a:schemeClr val="accent6">
                    <a:lumMod val="75000"/>
                  </a:schemeClr>
                </a:solidFill>
              </a:rPr>
              <a:t>Knowledge in AI</a:t>
            </a:r>
            <a:r>
              <a:rPr lang="en-US" sz="3600" dirty="0"/>
              <a:t> is represented using a </a:t>
            </a:r>
            <a:r>
              <a:rPr lang="en-US" sz="3600" dirty="0">
                <a:solidFill>
                  <a:srgbClr val="C00000"/>
                </a:solidFill>
              </a:rPr>
              <a:t>formal</a:t>
            </a:r>
            <a:r>
              <a:rPr lang="en-US" sz="3600" dirty="0"/>
              <a:t> </a:t>
            </a:r>
            <a:r>
              <a:rPr lang="en-US" sz="3600" dirty="0">
                <a:solidFill>
                  <a:srgbClr val="C00000"/>
                </a:solidFill>
              </a:rPr>
              <a:t>language</a:t>
            </a:r>
          </a:p>
          <a:p>
            <a:pPr marL="76198" indent="0">
              <a:lnSpc>
                <a:spcPct val="110000"/>
              </a:lnSpc>
              <a:spcBef>
                <a:spcPts val="0"/>
              </a:spcBef>
              <a:spcAft>
                <a:spcPts val="0"/>
              </a:spcAft>
              <a:buNone/>
            </a:pPr>
            <a:endParaRPr lang="en-US" sz="3600" dirty="0"/>
          </a:p>
          <a:p>
            <a:pPr>
              <a:lnSpc>
                <a:spcPct val="110000"/>
              </a:lnSpc>
              <a:spcBef>
                <a:spcPts val="0"/>
              </a:spcBef>
              <a:spcAft>
                <a:spcPts val="0"/>
              </a:spcAft>
            </a:pPr>
            <a:r>
              <a:rPr lang="en-US" sz="3600" dirty="0"/>
              <a:t>The formal language enables AI programs to perform </a:t>
            </a:r>
            <a:r>
              <a:rPr lang="en-US" sz="3600" i="1" dirty="0">
                <a:solidFill>
                  <a:srgbClr val="C00000"/>
                </a:solidFill>
              </a:rPr>
              <a:t>reasoning</a:t>
            </a:r>
            <a:r>
              <a:rPr lang="en-US" sz="3600" dirty="0"/>
              <a:t> and </a:t>
            </a:r>
            <a:r>
              <a:rPr lang="en-US" sz="3600" i="1" dirty="0">
                <a:solidFill>
                  <a:srgbClr val="C00000"/>
                </a:solidFill>
              </a:rPr>
              <a:t>logical</a:t>
            </a:r>
            <a:r>
              <a:rPr lang="en-US" sz="3600" dirty="0"/>
              <a:t> </a:t>
            </a:r>
            <a:r>
              <a:rPr lang="en-US" sz="3600" i="1" dirty="0">
                <a:solidFill>
                  <a:srgbClr val="C00000"/>
                </a:solidFill>
              </a:rPr>
              <a:t>inferences</a:t>
            </a:r>
          </a:p>
          <a:p>
            <a:pPr marL="76198" indent="0">
              <a:lnSpc>
                <a:spcPct val="110000"/>
              </a:lnSpc>
              <a:spcBef>
                <a:spcPts val="0"/>
              </a:spcBef>
              <a:spcAft>
                <a:spcPts val="0"/>
              </a:spcAft>
              <a:buNone/>
            </a:pPr>
            <a:endParaRPr lang="en-US" sz="3600" i="1" dirty="0">
              <a:solidFill>
                <a:srgbClr val="C00000"/>
              </a:solidFill>
            </a:endParaRPr>
          </a:p>
          <a:p>
            <a:pPr>
              <a:lnSpc>
                <a:spcPct val="110000"/>
              </a:lnSpc>
              <a:spcBef>
                <a:spcPts val="0"/>
              </a:spcBef>
              <a:spcAft>
                <a:spcPts val="0"/>
              </a:spcAft>
            </a:pPr>
            <a:r>
              <a:rPr lang="en-US" sz="3600" dirty="0">
                <a:solidFill>
                  <a:schemeClr val="accent6">
                    <a:lumMod val="75000"/>
                  </a:schemeClr>
                </a:solidFill>
              </a:rPr>
              <a:t>Knowledge-based Agents</a:t>
            </a:r>
            <a:endParaRPr lang="en-US" sz="3600" dirty="0"/>
          </a:p>
          <a:p>
            <a:pPr lvl="1">
              <a:lnSpc>
                <a:spcPct val="110000"/>
              </a:lnSpc>
              <a:spcBef>
                <a:spcPts val="0"/>
              </a:spcBef>
              <a:spcAft>
                <a:spcPts val="0"/>
              </a:spcAft>
            </a:pPr>
            <a:r>
              <a:rPr lang="en-US" sz="3600" i="1" dirty="0"/>
              <a:t>“agents that reason by operating on internal representations of knowledge”</a:t>
            </a:r>
          </a:p>
        </p:txBody>
      </p:sp>
      <p:sp>
        <p:nvSpPr>
          <p:cNvPr id="4" name="Date Placeholder 3"/>
          <p:cNvSpPr>
            <a:spLocks noGrp="1"/>
          </p:cNvSpPr>
          <p:nvPr>
            <p:ph type="dt" sz="half" idx="10"/>
          </p:nvPr>
        </p:nvSpPr>
        <p:spPr/>
        <p:txBody>
          <a:bodyPr/>
          <a:lstStyle/>
          <a:p>
            <a:fld id="{724E5AD5-1960-409F-A888-A43A03FC6FEA}"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a:t>
            </a:fld>
            <a:endParaRPr lang="en-US"/>
          </a:p>
        </p:txBody>
      </p:sp>
    </p:spTree>
    <p:extLst>
      <p:ext uri="{BB962C8B-B14F-4D97-AF65-F5344CB8AC3E}">
        <p14:creationId xmlns:p14="http://schemas.microsoft.com/office/powerpoint/2010/main" val="1282188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4369415" y="1531682"/>
            <a:ext cx="6676537" cy="3310980"/>
          </a:xfrm>
          <a:prstGeom prst="rect">
            <a:avLst/>
          </a:prstGeom>
        </p:spPr>
      </p:pic>
      <p:sp>
        <p:nvSpPr>
          <p:cNvPr id="2" name="Title 1"/>
          <p:cNvSpPr>
            <a:spLocks noGrp="1"/>
          </p:cNvSpPr>
          <p:nvPr>
            <p:ph type="title"/>
          </p:nvPr>
        </p:nvSpPr>
        <p:spPr/>
        <p:txBody>
          <a:bodyPr>
            <a:normAutofit fontScale="90000"/>
          </a:bodyPr>
          <a:lstStyle/>
          <a:p>
            <a:r>
              <a:rPr lang="en-US" dirty="0">
                <a:latin typeface="Corbel" panose="020B0503020204020204" pitchFamily="34" charset="0"/>
              </a:rPr>
              <a:t>Logic-Based Agent</a:t>
            </a:r>
          </a:p>
        </p:txBody>
      </p:sp>
      <p:sp>
        <p:nvSpPr>
          <p:cNvPr id="3" name="Content Placeholder 2"/>
          <p:cNvSpPr>
            <a:spLocks noGrp="1"/>
          </p:cNvSpPr>
          <p:nvPr>
            <p:ph sz="half" idx="1"/>
          </p:nvPr>
        </p:nvSpPr>
        <p:spPr/>
        <p:txBody>
          <a:bodyPr/>
          <a:lstStyle/>
          <a:p>
            <a:r>
              <a:rPr lang="en-US" dirty="0"/>
              <a:t>Using Logic to </a:t>
            </a:r>
            <a:r>
              <a:rPr lang="en-US" dirty="0">
                <a:solidFill>
                  <a:srgbClr val="FF0000"/>
                </a:solidFill>
              </a:rPr>
              <a:t>represent</a:t>
            </a:r>
            <a:r>
              <a:rPr lang="en-US" dirty="0"/>
              <a:t> the </a:t>
            </a:r>
            <a:r>
              <a:rPr lang="en-US" dirty="0">
                <a:solidFill>
                  <a:srgbClr val="FF0000"/>
                </a:solidFill>
              </a:rPr>
              <a:t>environment</a:t>
            </a:r>
            <a:r>
              <a:rPr lang="en-US" dirty="0"/>
              <a:t> (world), </a:t>
            </a:r>
            <a:r>
              <a:rPr lang="en-US" dirty="0">
                <a:solidFill>
                  <a:srgbClr val="FF0000"/>
                </a:solidFill>
              </a:rPr>
              <a:t>perceive</a:t>
            </a:r>
            <a:r>
              <a:rPr lang="en-US" dirty="0"/>
              <a:t> the environment and take rational </a:t>
            </a:r>
            <a:r>
              <a:rPr lang="en-US" dirty="0">
                <a:solidFill>
                  <a:srgbClr val="FF0000"/>
                </a:solidFill>
              </a:rPr>
              <a:t>actions</a:t>
            </a:r>
            <a:r>
              <a:rPr lang="en-US" dirty="0"/>
              <a:t>.</a:t>
            </a:r>
          </a:p>
          <a:p>
            <a:pPr>
              <a:buFont typeface="Arial" panose="020B0604020202020204" pitchFamily="34" charset="0"/>
              <a:buChar char="•"/>
            </a:pPr>
            <a:r>
              <a:rPr lang="en-US" dirty="0"/>
              <a:t> Representing knowledge</a:t>
            </a:r>
          </a:p>
          <a:p>
            <a:pPr>
              <a:buFont typeface="Arial" panose="020B0604020202020204" pitchFamily="34" charset="0"/>
              <a:buChar char="•"/>
            </a:pPr>
            <a:r>
              <a:rPr lang="en-US" dirty="0"/>
              <a:t> Reasoning</a:t>
            </a:r>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6B7A81A-058D-4C9A-AB3D-C69C2797B48B}" type="datetime1">
              <a:rPr kumimoji="0" lang="en-US" sz="16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9/29/2022</a:t>
            </a:fld>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all" spc="0" normalizeH="0" baseline="0" noProof="0">
                <a:ln>
                  <a:noFill/>
                </a:ln>
                <a:solidFill>
                  <a:prstClr val="white"/>
                </a:solidFill>
                <a:effectLst/>
                <a:uLnTx/>
                <a:uFillTx/>
                <a:latin typeface="Calibri" panose="020F0502020204030204"/>
                <a:ea typeface="+mn-ea"/>
                <a:cs typeface="+mn-cs"/>
              </a:rPr>
              <a:t>Introduction to AI</a:t>
            </a:r>
          </a:p>
        </p:txBody>
      </p:sp>
      <p:pic>
        <p:nvPicPr>
          <p:cNvPr id="9" name="Picture 8"/>
          <p:cNvPicPr>
            <a:picLocks noChangeAspect="1"/>
          </p:cNvPicPr>
          <p:nvPr/>
        </p:nvPicPr>
        <p:blipFill>
          <a:blip r:embed="rId3"/>
          <a:stretch>
            <a:fillRect/>
          </a:stretch>
        </p:blipFill>
        <p:spPr>
          <a:xfrm>
            <a:off x="10375976" y="2317917"/>
            <a:ext cx="1710423" cy="1738509"/>
          </a:xfrm>
          <a:prstGeom prst="rect">
            <a:avLst/>
          </a:prstGeom>
        </p:spPr>
      </p:pic>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884E68-CE57-44C0-BE0F-84C629DF22D5}" type="slidenum">
              <a:rPr kumimoji="0" lang="en-US" sz="16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p:cNvPicPr>
            <a:picLocks noChangeAspect="1"/>
          </p:cNvPicPr>
          <p:nvPr/>
        </p:nvPicPr>
        <p:blipFill>
          <a:blip r:embed="rId4"/>
          <a:stretch>
            <a:fillRect/>
          </a:stretch>
        </p:blipFill>
        <p:spPr>
          <a:xfrm>
            <a:off x="5925476" y="2670506"/>
            <a:ext cx="2259712" cy="1265072"/>
          </a:xfrm>
          <a:prstGeom prst="rect">
            <a:avLst/>
          </a:prstGeom>
        </p:spPr>
      </p:pic>
    </p:spTree>
    <p:extLst>
      <p:ext uri="{BB962C8B-B14F-4D97-AF65-F5344CB8AC3E}">
        <p14:creationId xmlns:p14="http://schemas.microsoft.com/office/powerpoint/2010/main" val="2195172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Knowledge Representation</a:t>
            </a:r>
          </a:p>
        </p:txBody>
      </p:sp>
      <p:sp>
        <p:nvSpPr>
          <p:cNvPr id="3" name="Content Placeholder 2"/>
          <p:cNvSpPr>
            <a:spLocks noGrp="1"/>
          </p:cNvSpPr>
          <p:nvPr>
            <p:ph idx="1"/>
          </p:nvPr>
        </p:nvSpPr>
        <p:spPr/>
        <p:txBody>
          <a:bodyPr>
            <a:normAutofit fontScale="92500" lnSpcReduction="10000"/>
          </a:bodyPr>
          <a:lstStyle/>
          <a:p>
            <a:pPr>
              <a:lnSpc>
                <a:spcPct val="100000"/>
              </a:lnSpc>
              <a:spcBef>
                <a:spcPts val="0"/>
              </a:spcBef>
              <a:spcAft>
                <a:spcPts val="0"/>
              </a:spcAft>
            </a:pPr>
            <a:r>
              <a:rPr lang="en-US" dirty="0"/>
              <a:t>The representation (formal) </a:t>
            </a:r>
            <a:r>
              <a:rPr lang="en-US" dirty="0">
                <a:solidFill>
                  <a:srgbClr val="C00000"/>
                </a:solidFill>
              </a:rPr>
              <a:t>language</a:t>
            </a:r>
            <a:r>
              <a:rPr lang="en-US" dirty="0"/>
              <a:t>  has the following important attributes:</a:t>
            </a:r>
          </a:p>
          <a:p>
            <a:pPr lvl="1">
              <a:lnSpc>
                <a:spcPct val="160000"/>
              </a:lnSpc>
              <a:spcBef>
                <a:spcPts val="0"/>
              </a:spcBef>
              <a:spcAft>
                <a:spcPts val="0"/>
              </a:spcAft>
            </a:pPr>
            <a:r>
              <a:rPr lang="en-US" b="1" dirty="0">
                <a:solidFill>
                  <a:schemeClr val="accent6">
                    <a:lumMod val="75000"/>
                  </a:schemeClr>
                </a:solidFill>
              </a:rPr>
              <a:t>Syntax</a:t>
            </a:r>
            <a:r>
              <a:rPr lang="en-US" dirty="0"/>
              <a:t>: </a:t>
            </a:r>
          </a:p>
          <a:p>
            <a:pPr lvl="2">
              <a:lnSpc>
                <a:spcPct val="100000"/>
              </a:lnSpc>
              <a:spcBef>
                <a:spcPts val="0"/>
              </a:spcBef>
              <a:spcAft>
                <a:spcPts val="0"/>
              </a:spcAft>
            </a:pPr>
            <a:r>
              <a:rPr lang="en-US" dirty="0"/>
              <a:t>how legal sentences are constructed </a:t>
            </a:r>
          </a:p>
          <a:p>
            <a:pPr lvl="2">
              <a:lnSpc>
                <a:spcPct val="100000"/>
              </a:lnSpc>
              <a:spcBef>
                <a:spcPts val="0"/>
              </a:spcBef>
              <a:spcAft>
                <a:spcPts val="0"/>
              </a:spcAft>
            </a:pPr>
            <a:r>
              <a:rPr lang="en-US" dirty="0"/>
              <a:t>which symbols can be used and how to write those symbols</a:t>
            </a:r>
          </a:p>
          <a:p>
            <a:pPr lvl="2">
              <a:lnSpc>
                <a:spcPct val="100000"/>
              </a:lnSpc>
              <a:spcBef>
                <a:spcPts val="0"/>
              </a:spcBef>
              <a:spcAft>
                <a:spcPts val="0"/>
              </a:spcAft>
            </a:pPr>
            <a:r>
              <a:rPr lang="en-US" dirty="0"/>
              <a:t>So that an agent can distinguish the correct </a:t>
            </a:r>
            <a:r>
              <a:rPr lang="en-US" dirty="0">
                <a:solidFill>
                  <a:srgbClr val="C00000"/>
                </a:solidFill>
              </a:rPr>
              <a:t>structure</a:t>
            </a:r>
            <a:r>
              <a:rPr lang="en-US" dirty="0"/>
              <a:t> from the incorrect one.</a:t>
            </a:r>
          </a:p>
          <a:p>
            <a:pPr lvl="1">
              <a:lnSpc>
                <a:spcPct val="150000"/>
              </a:lnSpc>
              <a:spcBef>
                <a:spcPts val="0"/>
              </a:spcBef>
              <a:spcAft>
                <a:spcPts val="0"/>
              </a:spcAft>
            </a:pPr>
            <a:r>
              <a:rPr lang="en-US" b="1" dirty="0">
                <a:solidFill>
                  <a:schemeClr val="accent6">
                    <a:lumMod val="75000"/>
                  </a:schemeClr>
                </a:solidFill>
              </a:rPr>
              <a:t>Semantics</a:t>
            </a:r>
            <a:r>
              <a:rPr lang="en-US" dirty="0"/>
              <a:t>: </a:t>
            </a:r>
          </a:p>
          <a:p>
            <a:pPr lvl="2">
              <a:lnSpc>
                <a:spcPct val="100000"/>
              </a:lnSpc>
              <a:spcBef>
                <a:spcPts val="0"/>
              </a:spcBef>
              <a:spcAft>
                <a:spcPts val="0"/>
              </a:spcAft>
            </a:pPr>
            <a:r>
              <a:rPr lang="en-US" dirty="0"/>
              <a:t>defines the </a:t>
            </a:r>
            <a:r>
              <a:rPr lang="en-US" dirty="0">
                <a:solidFill>
                  <a:srgbClr val="C00000"/>
                </a:solidFill>
              </a:rPr>
              <a:t>meaning </a:t>
            </a:r>
            <a:r>
              <a:rPr lang="en-US" dirty="0"/>
              <a:t>of a sentence, or rules by which a logic sentence is interpreted </a:t>
            </a:r>
          </a:p>
          <a:p>
            <a:pPr lvl="2">
              <a:lnSpc>
                <a:spcPct val="100000"/>
              </a:lnSpc>
              <a:spcBef>
                <a:spcPts val="0"/>
              </a:spcBef>
              <a:spcAft>
                <a:spcPts val="0"/>
              </a:spcAft>
            </a:pPr>
            <a:r>
              <a:rPr lang="en-US" dirty="0"/>
              <a:t>assigns a meaning to each sentence; a value true (</a:t>
            </a:r>
            <a:r>
              <a:rPr lang="en-US" i="1" dirty="0"/>
              <a:t>T</a:t>
            </a:r>
            <a:r>
              <a:rPr lang="en-US" dirty="0"/>
              <a:t>) or false (</a:t>
            </a:r>
            <a:r>
              <a:rPr lang="en-US" i="1" dirty="0"/>
              <a:t>F</a:t>
            </a:r>
            <a:r>
              <a:rPr lang="en-US" dirty="0"/>
              <a:t>)</a:t>
            </a:r>
          </a:p>
          <a:p>
            <a:pPr lvl="1">
              <a:lnSpc>
                <a:spcPct val="150000"/>
              </a:lnSpc>
              <a:spcBef>
                <a:spcPts val="0"/>
              </a:spcBef>
              <a:spcAft>
                <a:spcPts val="0"/>
              </a:spcAft>
            </a:pPr>
            <a:r>
              <a:rPr lang="en-US" b="1" dirty="0">
                <a:solidFill>
                  <a:schemeClr val="accent6">
                    <a:lumMod val="75000"/>
                  </a:schemeClr>
                </a:solidFill>
              </a:rPr>
              <a:t>Inference Rules</a:t>
            </a:r>
            <a:r>
              <a:rPr lang="en-US" dirty="0"/>
              <a:t>:</a:t>
            </a:r>
          </a:p>
          <a:p>
            <a:pPr lvl="2">
              <a:lnSpc>
                <a:spcPct val="100000"/>
              </a:lnSpc>
              <a:spcBef>
                <a:spcPts val="0"/>
              </a:spcBef>
              <a:spcAft>
                <a:spcPts val="0"/>
              </a:spcAft>
            </a:pPr>
            <a:r>
              <a:rPr lang="en-US" dirty="0"/>
              <a:t>The </a:t>
            </a:r>
            <a:r>
              <a:rPr lang="en-US" b="1" dirty="0">
                <a:solidFill>
                  <a:srgbClr val="0000CC"/>
                </a:solidFill>
              </a:rPr>
              <a:t>rules</a:t>
            </a:r>
            <a:r>
              <a:rPr lang="en-US" dirty="0"/>
              <a:t> of </a:t>
            </a:r>
            <a:r>
              <a:rPr lang="en-US" dirty="0">
                <a:solidFill>
                  <a:srgbClr val="C00000"/>
                </a:solidFill>
              </a:rPr>
              <a:t>logic</a:t>
            </a:r>
            <a:r>
              <a:rPr lang="en-US" dirty="0"/>
              <a:t> </a:t>
            </a:r>
            <a:r>
              <a:rPr lang="en-US" dirty="0">
                <a:solidFill>
                  <a:srgbClr val="C00000"/>
                </a:solidFill>
              </a:rPr>
              <a:t>inference</a:t>
            </a:r>
            <a:r>
              <a:rPr lang="en-US" dirty="0"/>
              <a:t> (manipulation)</a:t>
            </a:r>
          </a:p>
        </p:txBody>
      </p:sp>
      <p:sp>
        <p:nvSpPr>
          <p:cNvPr id="4" name="Date Placeholder 3"/>
          <p:cNvSpPr>
            <a:spLocks noGrp="1"/>
          </p:cNvSpPr>
          <p:nvPr>
            <p:ph type="dt" sz="half" idx="10"/>
          </p:nvPr>
        </p:nvSpPr>
        <p:spPr/>
        <p:txBody>
          <a:bodyPr/>
          <a:lstStyle/>
          <a:p>
            <a:fld id="{551DC481-5C3D-4929-B706-E8532DD6159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5</a:t>
            </a:fld>
            <a:endParaRPr lang="en-US"/>
          </a:p>
        </p:txBody>
      </p:sp>
    </p:spTree>
    <p:extLst>
      <p:ext uri="{BB962C8B-B14F-4D97-AF65-F5344CB8AC3E}">
        <p14:creationId xmlns:p14="http://schemas.microsoft.com/office/powerpoint/2010/main" val="1866793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39A35-F4ED-48FA-B512-3E10724AB972}"/>
              </a:ext>
            </a:extLst>
          </p:cNvPr>
          <p:cNvSpPr>
            <a:spLocks noGrp="1"/>
          </p:cNvSpPr>
          <p:nvPr>
            <p:ph type="title"/>
          </p:nvPr>
        </p:nvSpPr>
        <p:spPr/>
        <p:txBody>
          <a:bodyPr>
            <a:normAutofit fontScale="90000"/>
          </a:bodyPr>
          <a:lstStyle/>
          <a:p>
            <a:r>
              <a:rPr lang="en-US" dirty="0"/>
              <a:t>Requirements of Knowledge Representation</a:t>
            </a:r>
          </a:p>
        </p:txBody>
      </p:sp>
      <p:sp>
        <p:nvSpPr>
          <p:cNvPr id="3" name="Content Placeholder 2">
            <a:extLst>
              <a:ext uri="{FF2B5EF4-FFF2-40B4-BE49-F238E27FC236}">
                <a16:creationId xmlns:a16="http://schemas.microsoft.com/office/drawing/2014/main" id="{69FF8CE3-75E9-4C13-B157-2F965FDA9D94}"/>
              </a:ext>
            </a:extLst>
          </p:cNvPr>
          <p:cNvSpPr>
            <a:spLocks noGrp="1"/>
          </p:cNvSpPr>
          <p:nvPr>
            <p:ph idx="1"/>
          </p:nvPr>
        </p:nvSpPr>
        <p:spPr/>
        <p:txBody>
          <a:bodyPr>
            <a:normAutofit fontScale="92500" lnSpcReduction="20000"/>
          </a:bodyPr>
          <a:lstStyle/>
          <a:p>
            <a:pPr>
              <a:lnSpc>
                <a:spcPct val="110000"/>
              </a:lnSpc>
              <a:spcBef>
                <a:spcPts val="0"/>
              </a:spcBef>
              <a:spcAft>
                <a:spcPts val="0"/>
              </a:spcAft>
            </a:pPr>
            <a:r>
              <a:rPr lang="en-US" dirty="0"/>
              <a:t>A good knowledge representation system must have properties such as:</a:t>
            </a:r>
          </a:p>
          <a:p>
            <a:pPr marL="76198" indent="0">
              <a:lnSpc>
                <a:spcPct val="110000"/>
              </a:lnSpc>
              <a:spcBef>
                <a:spcPts val="0"/>
              </a:spcBef>
              <a:spcAft>
                <a:spcPts val="0"/>
              </a:spcAft>
              <a:buNone/>
            </a:pPr>
            <a:endParaRPr lang="en-US" dirty="0">
              <a:solidFill>
                <a:schemeClr val="accent6">
                  <a:lumMod val="75000"/>
                </a:schemeClr>
              </a:solidFill>
            </a:endParaRPr>
          </a:p>
          <a:p>
            <a:pPr marL="590548" indent="-514350">
              <a:lnSpc>
                <a:spcPct val="110000"/>
              </a:lnSpc>
              <a:spcBef>
                <a:spcPts val="0"/>
              </a:spcBef>
              <a:spcAft>
                <a:spcPts val="0"/>
              </a:spcAft>
              <a:buFont typeface="+mj-lt"/>
              <a:buAutoNum type="arabicPeriod"/>
            </a:pPr>
            <a:r>
              <a:rPr lang="en-US" dirty="0">
                <a:solidFill>
                  <a:schemeClr val="accent6">
                    <a:lumMod val="75000"/>
                  </a:schemeClr>
                </a:solidFill>
              </a:rPr>
              <a:t>Adequacy of Representation</a:t>
            </a:r>
            <a:r>
              <a:rPr lang="en-US" dirty="0"/>
              <a:t>: </a:t>
            </a:r>
          </a:p>
          <a:p>
            <a:pPr marL="631825" lvl="1" indent="-349250">
              <a:lnSpc>
                <a:spcPct val="110000"/>
              </a:lnSpc>
              <a:spcBef>
                <a:spcPts val="0"/>
              </a:spcBef>
              <a:spcAft>
                <a:spcPts val="0"/>
              </a:spcAft>
              <a:tabLst>
                <a:tab pos="684213" algn="l"/>
              </a:tabLst>
            </a:pPr>
            <a:r>
              <a:rPr lang="en-US" dirty="0"/>
              <a:t>It should represent </a:t>
            </a:r>
            <a:r>
              <a:rPr lang="en-US" dirty="0">
                <a:solidFill>
                  <a:srgbClr val="C00000"/>
                </a:solidFill>
              </a:rPr>
              <a:t>all kinds of knowledge </a:t>
            </a:r>
            <a:r>
              <a:rPr lang="en-US" dirty="0"/>
              <a:t>needed in the concerned AI-based system.</a:t>
            </a:r>
          </a:p>
          <a:p>
            <a:pPr marL="380991" lvl="1" indent="0">
              <a:lnSpc>
                <a:spcPct val="110000"/>
              </a:lnSpc>
              <a:spcBef>
                <a:spcPts val="0"/>
              </a:spcBef>
              <a:spcAft>
                <a:spcPts val="0"/>
              </a:spcAft>
              <a:buNone/>
            </a:pPr>
            <a:endParaRPr lang="en-US" dirty="0"/>
          </a:p>
          <a:p>
            <a:pPr marL="590548" indent="-514350">
              <a:lnSpc>
                <a:spcPct val="110000"/>
              </a:lnSpc>
              <a:spcBef>
                <a:spcPts val="0"/>
              </a:spcBef>
              <a:spcAft>
                <a:spcPts val="0"/>
              </a:spcAft>
              <a:buFont typeface="+mj-lt"/>
              <a:buAutoNum type="arabicPeriod"/>
            </a:pPr>
            <a:r>
              <a:rPr lang="en-US" dirty="0">
                <a:solidFill>
                  <a:schemeClr val="accent6">
                    <a:lumMod val="75000"/>
                  </a:schemeClr>
                </a:solidFill>
              </a:rPr>
              <a:t>Adequacy of Inference</a:t>
            </a:r>
            <a:r>
              <a:rPr lang="en-US" dirty="0"/>
              <a:t>: </a:t>
            </a:r>
          </a:p>
          <a:p>
            <a:pPr lvl="1">
              <a:lnSpc>
                <a:spcPct val="110000"/>
              </a:lnSpc>
              <a:spcBef>
                <a:spcPts val="0"/>
              </a:spcBef>
              <a:spcAft>
                <a:spcPts val="0"/>
              </a:spcAft>
            </a:pPr>
            <a:r>
              <a:rPr lang="en-US" dirty="0"/>
              <a:t>It should be able to manipulate the representational structures to produce new knowledge corresponding to the existing structure.</a:t>
            </a:r>
          </a:p>
          <a:p>
            <a:pPr lvl="1">
              <a:lnSpc>
                <a:spcPct val="110000"/>
              </a:lnSpc>
              <a:spcBef>
                <a:spcPts val="0"/>
              </a:spcBef>
              <a:spcAft>
                <a:spcPts val="0"/>
              </a:spcAft>
            </a:pPr>
            <a:r>
              <a:rPr lang="en-US" dirty="0"/>
              <a:t>All that can be inferable by manipulating the given knowledge structures should be inferred by the system when needed.</a:t>
            </a:r>
          </a:p>
        </p:txBody>
      </p:sp>
      <p:sp>
        <p:nvSpPr>
          <p:cNvPr id="4" name="Date Placeholder 3">
            <a:extLst>
              <a:ext uri="{FF2B5EF4-FFF2-40B4-BE49-F238E27FC236}">
                <a16:creationId xmlns:a16="http://schemas.microsoft.com/office/drawing/2014/main" id="{51251846-5C5E-4EBA-BE3E-585858D884D1}"/>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1A6BBE94-3D5B-4926-B404-BC8682C5D472}"/>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8C63DC6E-0CC7-4A05-9F02-35C834D84231}"/>
              </a:ext>
            </a:extLst>
          </p:cNvPr>
          <p:cNvSpPr>
            <a:spLocks noGrp="1"/>
          </p:cNvSpPr>
          <p:nvPr>
            <p:ph type="sldNum" sz="quarter" idx="12"/>
          </p:nvPr>
        </p:nvSpPr>
        <p:spPr/>
        <p:txBody>
          <a:bodyPr/>
          <a:lstStyle/>
          <a:p>
            <a:fld id="{75B1DB82-35C9-4076-A5B8-0781B30E89ED}" type="slidenum">
              <a:rPr lang="en-US" smtClean="0"/>
              <a:t>6</a:t>
            </a:fld>
            <a:endParaRPr lang="en-US"/>
          </a:p>
        </p:txBody>
      </p:sp>
    </p:spTree>
    <p:extLst>
      <p:ext uri="{BB962C8B-B14F-4D97-AF65-F5344CB8AC3E}">
        <p14:creationId xmlns:p14="http://schemas.microsoft.com/office/powerpoint/2010/main" val="427674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36983-56F3-45B6-A757-941C8021E9B5}"/>
              </a:ext>
            </a:extLst>
          </p:cNvPr>
          <p:cNvSpPr>
            <a:spLocks noGrp="1"/>
          </p:cNvSpPr>
          <p:nvPr>
            <p:ph type="title"/>
          </p:nvPr>
        </p:nvSpPr>
        <p:spPr/>
        <p:txBody>
          <a:bodyPr>
            <a:normAutofit fontScale="90000"/>
          </a:bodyPr>
          <a:lstStyle/>
          <a:p>
            <a:r>
              <a:rPr lang="en-US" dirty="0"/>
              <a:t>Requirements of Knowledge Representation</a:t>
            </a:r>
          </a:p>
        </p:txBody>
      </p:sp>
      <p:sp>
        <p:nvSpPr>
          <p:cNvPr id="3" name="Content Placeholder 2">
            <a:extLst>
              <a:ext uri="{FF2B5EF4-FFF2-40B4-BE49-F238E27FC236}">
                <a16:creationId xmlns:a16="http://schemas.microsoft.com/office/drawing/2014/main" id="{4092E1CC-1B74-4305-A95C-D56807FCA30B}"/>
              </a:ext>
            </a:extLst>
          </p:cNvPr>
          <p:cNvSpPr>
            <a:spLocks noGrp="1"/>
          </p:cNvSpPr>
          <p:nvPr>
            <p:ph idx="1"/>
          </p:nvPr>
        </p:nvSpPr>
        <p:spPr/>
        <p:txBody>
          <a:bodyPr/>
          <a:lstStyle/>
          <a:p>
            <a:pPr marL="590548" indent="-514350">
              <a:lnSpc>
                <a:spcPct val="110000"/>
              </a:lnSpc>
              <a:spcBef>
                <a:spcPts val="0"/>
              </a:spcBef>
              <a:spcAft>
                <a:spcPts val="0"/>
              </a:spcAft>
              <a:buFont typeface="+mj-lt"/>
              <a:buAutoNum type="arabicPeriod" startAt="3"/>
            </a:pPr>
            <a:r>
              <a:rPr lang="en-US" dirty="0">
                <a:solidFill>
                  <a:schemeClr val="accent6">
                    <a:lumMod val="75000"/>
                  </a:schemeClr>
                </a:solidFill>
              </a:rPr>
              <a:t>Inference Efficiency</a:t>
            </a:r>
            <a:r>
              <a:rPr lang="en-US" dirty="0"/>
              <a:t>: </a:t>
            </a:r>
          </a:p>
          <a:p>
            <a:pPr marL="631825" lvl="1" indent="-328613">
              <a:lnSpc>
                <a:spcPct val="110000"/>
              </a:lnSpc>
              <a:spcBef>
                <a:spcPts val="0"/>
              </a:spcBef>
              <a:spcAft>
                <a:spcPts val="0"/>
              </a:spcAft>
            </a:pPr>
            <a:r>
              <a:rPr lang="en-US" dirty="0"/>
              <a:t>The knowledge structures in the representation are organized so that the inferential knowledge mechanism (deductions) navigates into the most productive direction and reach the goal </a:t>
            </a:r>
            <a:r>
              <a:rPr lang="en-US" dirty="0">
                <a:solidFill>
                  <a:srgbClr val="C00000"/>
                </a:solidFill>
              </a:rPr>
              <a:t>quickly.</a:t>
            </a:r>
            <a:endParaRPr lang="en-US" dirty="0"/>
          </a:p>
          <a:p>
            <a:pPr marL="76198" indent="0">
              <a:lnSpc>
                <a:spcPct val="110000"/>
              </a:lnSpc>
              <a:spcBef>
                <a:spcPts val="0"/>
              </a:spcBef>
              <a:spcAft>
                <a:spcPts val="0"/>
              </a:spcAft>
              <a:buNone/>
            </a:pPr>
            <a:endParaRPr lang="en-US" dirty="0">
              <a:solidFill>
                <a:schemeClr val="accent6">
                  <a:lumMod val="75000"/>
                </a:schemeClr>
              </a:solidFill>
            </a:endParaRPr>
          </a:p>
          <a:p>
            <a:pPr marL="590548" indent="-514350">
              <a:lnSpc>
                <a:spcPct val="110000"/>
              </a:lnSpc>
              <a:spcBef>
                <a:spcPts val="0"/>
              </a:spcBef>
              <a:spcAft>
                <a:spcPts val="0"/>
              </a:spcAft>
              <a:buFont typeface="+mj-lt"/>
              <a:buAutoNum type="arabicPeriod" startAt="4"/>
            </a:pPr>
            <a:r>
              <a:rPr lang="en-US" dirty="0">
                <a:solidFill>
                  <a:schemeClr val="accent6">
                    <a:lumMod val="75000"/>
                  </a:schemeClr>
                </a:solidFill>
              </a:rPr>
              <a:t>Efficient Acquisition</a:t>
            </a:r>
            <a:r>
              <a:rPr lang="en-US" dirty="0"/>
              <a:t>:</a:t>
            </a:r>
          </a:p>
          <a:p>
            <a:pPr marL="573088" lvl="1" indent="-290513">
              <a:lnSpc>
                <a:spcPct val="110000"/>
              </a:lnSpc>
              <a:spcBef>
                <a:spcPts val="0"/>
              </a:spcBef>
              <a:spcAft>
                <a:spcPts val="0"/>
              </a:spcAft>
            </a:pPr>
            <a:r>
              <a:rPr lang="en-US" dirty="0"/>
              <a:t>It should be able to acquire the new information automatically and efficiently, as and when needed, and also update the knowledge regularly.</a:t>
            </a:r>
          </a:p>
        </p:txBody>
      </p:sp>
      <p:sp>
        <p:nvSpPr>
          <p:cNvPr id="4" name="Date Placeholder 3">
            <a:extLst>
              <a:ext uri="{FF2B5EF4-FFF2-40B4-BE49-F238E27FC236}">
                <a16:creationId xmlns:a16="http://schemas.microsoft.com/office/drawing/2014/main" id="{BF0A2555-35AF-466B-82E4-218C7895E685}"/>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7C30380A-A16C-4069-80A1-5F653F6654CA}"/>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D4CB1560-3979-488E-9A8E-7013DEFF4D1E}"/>
              </a:ext>
            </a:extLst>
          </p:cNvPr>
          <p:cNvSpPr>
            <a:spLocks noGrp="1"/>
          </p:cNvSpPr>
          <p:nvPr>
            <p:ph type="sldNum" sz="quarter" idx="12"/>
          </p:nvPr>
        </p:nvSpPr>
        <p:spPr/>
        <p:txBody>
          <a:bodyPr/>
          <a:lstStyle/>
          <a:p>
            <a:fld id="{75B1DB82-35C9-4076-A5B8-0781B30E89ED}" type="slidenum">
              <a:rPr lang="en-US" smtClean="0"/>
              <a:t>7</a:t>
            </a:fld>
            <a:endParaRPr lang="en-US"/>
          </a:p>
        </p:txBody>
      </p:sp>
    </p:spTree>
    <p:extLst>
      <p:ext uri="{BB962C8B-B14F-4D97-AF65-F5344CB8AC3E}">
        <p14:creationId xmlns:p14="http://schemas.microsoft.com/office/powerpoint/2010/main" val="893873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7656-B66A-4C07-B48E-7E34E2D57AA6}"/>
              </a:ext>
            </a:extLst>
          </p:cNvPr>
          <p:cNvSpPr>
            <a:spLocks noGrp="1"/>
          </p:cNvSpPr>
          <p:nvPr>
            <p:ph type="title"/>
          </p:nvPr>
        </p:nvSpPr>
        <p:spPr/>
        <p:txBody>
          <a:bodyPr>
            <a:normAutofit fontScale="90000"/>
          </a:bodyPr>
          <a:lstStyle/>
          <a:p>
            <a:r>
              <a:rPr lang="en-US" altLang="zh-TW" dirty="0">
                <a:solidFill>
                  <a:srgbClr val="134263"/>
                </a:solidFill>
              </a:rPr>
              <a:t>Mathematical Logic</a:t>
            </a:r>
            <a:endParaRPr lang="en-US" dirty="0">
              <a:solidFill>
                <a:srgbClr val="134263"/>
              </a:solidFill>
            </a:endParaRPr>
          </a:p>
        </p:txBody>
      </p:sp>
      <p:sp>
        <p:nvSpPr>
          <p:cNvPr id="3" name="Content Placeholder 2">
            <a:extLst>
              <a:ext uri="{FF2B5EF4-FFF2-40B4-BE49-F238E27FC236}">
                <a16:creationId xmlns:a16="http://schemas.microsoft.com/office/drawing/2014/main" id="{F05A3560-AD44-493E-AFC0-DA6B9591C7E0}"/>
              </a:ext>
            </a:extLst>
          </p:cNvPr>
          <p:cNvSpPr>
            <a:spLocks noGrp="1"/>
          </p:cNvSpPr>
          <p:nvPr>
            <p:ph idx="1"/>
          </p:nvPr>
        </p:nvSpPr>
        <p:spPr/>
        <p:txBody>
          <a:bodyPr>
            <a:noAutofit/>
          </a:bodyPr>
          <a:lstStyle/>
          <a:p>
            <a:pPr>
              <a:lnSpc>
                <a:spcPct val="100000"/>
              </a:lnSpc>
              <a:spcBef>
                <a:spcPts val="0"/>
              </a:spcBef>
              <a:spcAft>
                <a:spcPts val="0"/>
              </a:spcAft>
            </a:pPr>
            <a:r>
              <a:rPr lang="en-US" altLang="zh-TW" sz="3600" dirty="0"/>
              <a:t>A tool for working with </a:t>
            </a:r>
            <a:r>
              <a:rPr lang="en-US" altLang="zh-TW" sz="3600" dirty="0">
                <a:solidFill>
                  <a:srgbClr val="C00000"/>
                </a:solidFill>
              </a:rPr>
              <a:t>compound statements</a:t>
            </a:r>
            <a:r>
              <a:rPr lang="en-US" altLang="zh-TW" sz="3600" dirty="0"/>
              <a:t>, which includes:</a:t>
            </a:r>
          </a:p>
          <a:p>
            <a:pPr lvl="1">
              <a:lnSpc>
                <a:spcPct val="100000"/>
              </a:lnSpc>
              <a:spcBef>
                <a:spcPts val="0"/>
              </a:spcBef>
              <a:spcAft>
                <a:spcPts val="0"/>
              </a:spcAft>
            </a:pPr>
            <a:r>
              <a:rPr lang="en-US" altLang="zh-TW" sz="3600" dirty="0"/>
              <a:t>a </a:t>
            </a:r>
            <a:r>
              <a:rPr lang="en-US" altLang="zh-TW" sz="3600" dirty="0">
                <a:solidFill>
                  <a:srgbClr val="C00000"/>
                </a:solidFill>
              </a:rPr>
              <a:t>formal</a:t>
            </a:r>
            <a:r>
              <a:rPr lang="en-US" altLang="zh-TW" sz="3600" dirty="0"/>
              <a:t> language for expressing compound statements</a:t>
            </a:r>
          </a:p>
          <a:p>
            <a:pPr lvl="1">
              <a:lnSpc>
                <a:spcPct val="100000"/>
              </a:lnSpc>
              <a:spcBef>
                <a:spcPts val="0"/>
              </a:spcBef>
              <a:spcAft>
                <a:spcPts val="0"/>
              </a:spcAft>
            </a:pPr>
            <a:r>
              <a:rPr lang="en-US" altLang="zh-TW" sz="3600" dirty="0"/>
              <a:t>a </a:t>
            </a:r>
            <a:r>
              <a:rPr lang="en-US" altLang="zh-TW" sz="3600" dirty="0">
                <a:solidFill>
                  <a:srgbClr val="C00000"/>
                </a:solidFill>
              </a:rPr>
              <a:t>concise notation </a:t>
            </a:r>
            <a:r>
              <a:rPr lang="en-US" altLang="zh-TW" sz="3600" dirty="0"/>
              <a:t>for writing compound statements</a:t>
            </a:r>
          </a:p>
          <a:p>
            <a:pPr lvl="1">
              <a:lnSpc>
                <a:spcPct val="100000"/>
              </a:lnSpc>
              <a:spcBef>
                <a:spcPts val="0"/>
              </a:spcBef>
              <a:spcAft>
                <a:spcPts val="0"/>
              </a:spcAft>
            </a:pPr>
            <a:r>
              <a:rPr lang="en-US" altLang="zh-TW" sz="3600" dirty="0"/>
              <a:t>a </a:t>
            </a:r>
            <a:r>
              <a:rPr lang="en-US" altLang="zh-TW" sz="3600" dirty="0">
                <a:solidFill>
                  <a:srgbClr val="C00000"/>
                </a:solidFill>
              </a:rPr>
              <a:t>methodology</a:t>
            </a:r>
            <a:r>
              <a:rPr lang="en-US" altLang="zh-TW" sz="3600" dirty="0"/>
              <a:t> for objectively reasoning about the </a:t>
            </a:r>
            <a:r>
              <a:rPr lang="en-US" altLang="zh-TW" sz="3600" i="1" dirty="0"/>
              <a:t>truth</a:t>
            </a:r>
            <a:r>
              <a:rPr lang="en-US" altLang="zh-TW" sz="3600" dirty="0"/>
              <a:t> or </a:t>
            </a:r>
            <a:r>
              <a:rPr lang="en-US" altLang="zh-TW" sz="3600" i="1" dirty="0"/>
              <a:t>falsity of the </a:t>
            </a:r>
            <a:r>
              <a:rPr lang="en-US" altLang="zh-TW" sz="3600" dirty="0"/>
              <a:t>compound statements</a:t>
            </a:r>
            <a:endParaRPr lang="en-US" altLang="zh-TW" sz="3600" i="1" dirty="0"/>
          </a:p>
          <a:p>
            <a:pPr lvl="1">
              <a:lnSpc>
                <a:spcPct val="100000"/>
              </a:lnSpc>
              <a:spcBef>
                <a:spcPts val="0"/>
              </a:spcBef>
              <a:spcAft>
                <a:spcPts val="0"/>
              </a:spcAft>
            </a:pPr>
            <a:endParaRPr lang="en-US" altLang="zh-TW" sz="3600" i="1" dirty="0"/>
          </a:p>
          <a:p>
            <a:pPr>
              <a:lnSpc>
                <a:spcPct val="100000"/>
              </a:lnSpc>
              <a:spcBef>
                <a:spcPts val="0"/>
              </a:spcBef>
              <a:spcAft>
                <a:spcPts val="0"/>
              </a:spcAft>
            </a:pPr>
            <a:r>
              <a:rPr lang="en-US" altLang="zh-TW" sz="3600" dirty="0"/>
              <a:t>The foundation for expressing formal proofs in all branches of mathematics.</a:t>
            </a:r>
          </a:p>
        </p:txBody>
      </p:sp>
      <p:sp>
        <p:nvSpPr>
          <p:cNvPr id="4" name="Date Placeholder 3">
            <a:extLst>
              <a:ext uri="{FF2B5EF4-FFF2-40B4-BE49-F238E27FC236}">
                <a16:creationId xmlns:a16="http://schemas.microsoft.com/office/drawing/2014/main" id="{391347A4-22FB-4B4F-9B6C-6C967106BAB5}"/>
              </a:ext>
            </a:extLst>
          </p:cNvPr>
          <p:cNvSpPr>
            <a:spLocks noGrp="1"/>
          </p:cNvSpPr>
          <p:nvPr>
            <p:ph type="dt" sz="half" idx="10"/>
          </p:nvPr>
        </p:nvSpPr>
        <p:spPr/>
        <p:txBody>
          <a:bodyPr/>
          <a:lstStyle/>
          <a:p>
            <a:fld id="{3AB95EA1-951E-4C11-B0CE-84DE051DAD53}" type="datetime1">
              <a:rPr lang="en-US" smtClean="0"/>
              <a:t>9/29/2022</a:t>
            </a:fld>
            <a:endParaRPr lang="en-US"/>
          </a:p>
        </p:txBody>
      </p:sp>
      <p:sp>
        <p:nvSpPr>
          <p:cNvPr id="5" name="Footer Placeholder 4">
            <a:extLst>
              <a:ext uri="{FF2B5EF4-FFF2-40B4-BE49-F238E27FC236}">
                <a16:creationId xmlns:a16="http://schemas.microsoft.com/office/drawing/2014/main" id="{0F1E4798-5A44-452F-8BEE-5705FD1CC999}"/>
              </a:ext>
            </a:extLst>
          </p:cNvPr>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8</a:t>
            </a:fld>
            <a:endParaRPr lang="en-US"/>
          </a:p>
        </p:txBody>
      </p:sp>
    </p:spTree>
    <p:extLst>
      <p:ext uri="{BB962C8B-B14F-4D97-AF65-F5344CB8AC3E}">
        <p14:creationId xmlns:p14="http://schemas.microsoft.com/office/powerpoint/2010/main" val="4074234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Logic Foundations</a:t>
            </a:r>
          </a:p>
        </p:txBody>
      </p:sp>
      <p:sp>
        <p:nvSpPr>
          <p:cNvPr id="3" name="Content Placeholder 2"/>
          <p:cNvSpPr>
            <a:spLocks noGrp="1"/>
          </p:cNvSpPr>
          <p:nvPr>
            <p:ph idx="1"/>
          </p:nvPr>
        </p:nvSpPr>
        <p:spPr/>
        <p:txBody>
          <a:bodyPr>
            <a:normAutofit lnSpcReduction="10000"/>
          </a:bodyPr>
          <a:lstStyle/>
          <a:p>
            <a:pPr>
              <a:lnSpc>
                <a:spcPct val="100000"/>
              </a:lnSpc>
              <a:spcBef>
                <a:spcPts val="0"/>
              </a:spcBef>
              <a:spcAft>
                <a:spcPts val="0"/>
              </a:spcAft>
            </a:pPr>
            <a:r>
              <a:rPr lang="en-US" dirty="0"/>
              <a:t>We study logic because of the following reasons:</a:t>
            </a:r>
          </a:p>
          <a:p>
            <a:pPr marL="590548" indent="-514350">
              <a:lnSpc>
                <a:spcPct val="100000"/>
              </a:lnSpc>
              <a:spcBef>
                <a:spcPts val="0"/>
              </a:spcBef>
              <a:spcAft>
                <a:spcPts val="0"/>
              </a:spcAft>
              <a:buFont typeface="+mj-lt"/>
              <a:buAutoNum type="arabicPeriod"/>
            </a:pPr>
            <a:r>
              <a:rPr lang="en-US" sz="2800" dirty="0"/>
              <a:t>Logic deals with </a:t>
            </a:r>
            <a:r>
              <a:rPr lang="en-US" sz="2800" dirty="0">
                <a:solidFill>
                  <a:schemeClr val="accent6">
                    <a:lumMod val="75000"/>
                  </a:schemeClr>
                </a:solidFill>
              </a:rPr>
              <a:t>what</a:t>
            </a:r>
            <a:r>
              <a:rPr lang="en-US" sz="2800" dirty="0"/>
              <a:t> follows from </a:t>
            </a:r>
            <a:r>
              <a:rPr lang="en-US" sz="2800" dirty="0">
                <a:solidFill>
                  <a:srgbClr val="00B050"/>
                </a:solidFill>
              </a:rPr>
              <a:t>what</a:t>
            </a:r>
            <a:r>
              <a:rPr lang="en-US" sz="2800" dirty="0"/>
              <a:t>?</a:t>
            </a:r>
          </a:p>
          <a:p>
            <a:pPr marL="76198" lvl="2" indent="0">
              <a:lnSpc>
                <a:spcPct val="100000"/>
              </a:lnSpc>
              <a:spcBef>
                <a:spcPts val="0"/>
              </a:spcBef>
              <a:spcAft>
                <a:spcPts val="0"/>
              </a:spcAft>
              <a:buSzPct val="110000"/>
              <a:buNone/>
            </a:pPr>
            <a:r>
              <a:rPr lang="en-US" sz="2267" b="1" dirty="0"/>
              <a:t>	Example</a:t>
            </a:r>
            <a:r>
              <a:rPr lang="en-US" sz="2267" dirty="0"/>
              <a:t>: logical consequence, inference pattern, and validation of such patterns</a:t>
            </a:r>
          </a:p>
          <a:p>
            <a:pPr marL="76198" indent="0">
              <a:lnSpc>
                <a:spcPct val="100000"/>
              </a:lnSpc>
              <a:spcBef>
                <a:spcPts val="0"/>
              </a:spcBef>
              <a:spcAft>
                <a:spcPts val="0"/>
              </a:spcAft>
              <a:buNone/>
            </a:pPr>
            <a:r>
              <a:rPr lang="en-US" sz="2800" dirty="0"/>
              <a:t> </a:t>
            </a:r>
            <a:endParaRPr lang="en-US" sz="2800" dirty="0">
              <a:solidFill>
                <a:schemeClr val="accent6">
                  <a:lumMod val="75000"/>
                </a:schemeClr>
              </a:solidFill>
            </a:endParaRPr>
          </a:p>
          <a:p>
            <a:pPr marL="590548" indent="-514350">
              <a:lnSpc>
                <a:spcPct val="100000"/>
              </a:lnSpc>
              <a:spcBef>
                <a:spcPts val="0"/>
              </a:spcBef>
              <a:spcAft>
                <a:spcPts val="0"/>
              </a:spcAft>
              <a:buFont typeface="+mj-lt"/>
              <a:buAutoNum type="arabicPeriod"/>
            </a:pPr>
            <a:r>
              <a:rPr lang="en-US" sz="2800" dirty="0">
                <a:solidFill>
                  <a:schemeClr val="accent6">
                    <a:lumMod val="75000"/>
                  </a:schemeClr>
                </a:solidFill>
              </a:rPr>
              <a:t>We want to represent knowledge such that:</a:t>
            </a:r>
          </a:p>
          <a:p>
            <a:pPr lvl="1">
              <a:lnSpc>
                <a:spcPct val="100000"/>
              </a:lnSpc>
              <a:spcBef>
                <a:spcPts val="0"/>
              </a:spcBef>
              <a:spcAft>
                <a:spcPts val="0"/>
              </a:spcAft>
            </a:pPr>
            <a:r>
              <a:rPr lang="en-US" sz="2800" dirty="0"/>
              <a:t>A computer can understand our language and/or perform some intelligent tasks</a:t>
            </a:r>
          </a:p>
          <a:p>
            <a:pPr lvl="1">
              <a:lnSpc>
                <a:spcPct val="100000"/>
              </a:lnSpc>
              <a:spcBef>
                <a:spcPts val="0"/>
              </a:spcBef>
              <a:spcAft>
                <a:spcPts val="0"/>
              </a:spcAft>
            </a:pPr>
            <a:r>
              <a:rPr lang="en-US" sz="2800" dirty="0"/>
              <a:t>Identify which statement has/is a fallacious argument and what is the type of fallacy</a:t>
            </a:r>
          </a:p>
          <a:p>
            <a:pPr lvl="1">
              <a:lnSpc>
                <a:spcPct val="100000"/>
              </a:lnSpc>
              <a:spcBef>
                <a:spcPts val="0"/>
              </a:spcBef>
              <a:spcAft>
                <a:spcPts val="0"/>
              </a:spcAft>
            </a:pPr>
            <a:r>
              <a:rPr lang="en-US" sz="2800" dirty="0"/>
              <a:t>Prove theorems through deduction; to find out whether whatever is proved is correct, or whatever is obviously true has a proof. </a:t>
            </a:r>
          </a:p>
          <a:p>
            <a:pPr lvl="1">
              <a:lnSpc>
                <a:spcPct val="100000"/>
              </a:lnSpc>
              <a:spcBef>
                <a:spcPts val="0"/>
              </a:spcBef>
              <a:spcAft>
                <a:spcPts val="0"/>
              </a:spcAft>
            </a:pPr>
            <a:r>
              <a:rPr lang="en-US" sz="2800" dirty="0"/>
              <a:t>Solve some problems concerning the foundations of mathematics</a:t>
            </a:r>
          </a:p>
          <a:p>
            <a:pPr lvl="2">
              <a:lnSpc>
                <a:spcPct val="110000"/>
              </a:lnSpc>
              <a:spcBef>
                <a:spcPts val="0"/>
              </a:spcBef>
              <a:spcAft>
                <a:spcPts val="0"/>
              </a:spcAft>
            </a:pPr>
            <a:endParaRPr lang="en-US" sz="2267" dirty="0"/>
          </a:p>
        </p:txBody>
      </p:sp>
      <p:sp>
        <p:nvSpPr>
          <p:cNvPr id="4" name="Date Placeholder 3"/>
          <p:cNvSpPr>
            <a:spLocks noGrp="1"/>
          </p:cNvSpPr>
          <p:nvPr>
            <p:ph type="dt" sz="half" idx="10"/>
          </p:nvPr>
        </p:nvSpPr>
        <p:spPr/>
        <p:txBody>
          <a:bodyPr/>
          <a:lstStyle/>
          <a:p>
            <a:fld id="{7752F976-1F8E-4ACC-AF57-DC33A311CC3B}"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9</a:t>
            </a:fld>
            <a:endParaRPr lang="en-US"/>
          </a:p>
        </p:txBody>
      </p:sp>
    </p:spTree>
    <p:extLst>
      <p:ext uri="{BB962C8B-B14F-4D97-AF65-F5344CB8AC3E}">
        <p14:creationId xmlns:p14="http://schemas.microsoft.com/office/powerpoint/2010/main" val="3912118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CBAA-1A72-4A98-BC17-C467FDF0668E}"/>
              </a:ext>
            </a:extLst>
          </p:cNvPr>
          <p:cNvSpPr>
            <a:spLocks noGrp="1"/>
          </p:cNvSpPr>
          <p:nvPr>
            <p:ph type="title"/>
          </p:nvPr>
        </p:nvSpPr>
        <p:spPr/>
        <p:txBody>
          <a:bodyPr>
            <a:normAutofit fontScale="90000"/>
          </a:bodyPr>
          <a:lstStyle/>
          <a:p>
            <a:r>
              <a:rPr lang="en-US" altLang="zh-TW" dirty="0"/>
              <a:t>Propositional Logic</a:t>
            </a:r>
            <a:endParaRPr lang="en-US" dirty="0"/>
          </a:p>
        </p:txBody>
      </p:sp>
      <p:sp>
        <p:nvSpPr>
          <p:cNvPr id="3" name="Content Placeholder 2">
            <a:extLst>
              <a:ext uri="{FF2B5EF4-FFF2-40B4-BE49-F238E27FC236}">
                <a16:creationId xmlns:a16="http://schemas.microsoft.com/office/drawing/2014/main" id="{8C4D23C2-6CD2-4578-BC7B-BE218371C715}"/>
              </a:ext>
            </a:extLst>
          </p:cNvPr>
          <p:cNvSpPr>
            <a:spLocks noGrp="1"/>
          </p:cNvSpPr>
          <p:nvPr>
            <p:ph idx="1"/>
          </p:nvPr>
        </p:nvSpPr>
        <p:spPr/>
        <p:txBody>
          <a:bodyPr>
            <a:noAutofit/>
          </a:bodyPr>
          <a:lstStyle/>
          <a:p>
            <a:r>
              <a:rPr lang="en-US" altLang="zh-TW" sz="2800" dirty="0">
                <a:solidFill>
                  <a:schemeClr val="accent6">
                    <a:lumMod val="75000"/>
                  </a:schemeClr>
                </a:solidFill>
              </a:rPr>
              <a:t>Propositional Logic </a:t>
            </a:r>
            <a:r>
              <a:rPr lang="en-US" altLang="zh-TW" sz="2800" dirty="0"/>
              <a:t>is the logic of compound statements built from simpler statements using so-called </a:t>
            </a:r>
            <a:r>
              <a:rPr lang="en-US" altLang="zh-TW" sz="2800" dirty="0">
                <a:solidFill>
                  <a:srgbClr val="C00000"/>
                </a:solidFill>
              </a:rPr>
              <a:t>Boolean connectives</a:t>
            </a:r>
            <a:r>
              <a:rPr lang="en-US" altLang="zh-TW" sz="2800" dirty="0"/>
              <a:t>.</a:t>
            </a:r>
          </a:p>
          <a:p>
            <a:r>
              <a:rPr lang="en-US" altLang="zh-TW" sz="2800" dirty="0"/>
              <a:t>Some applications:</a:t>
            </a:r>
          </a:p>
          <a:p>
            <a:pPr lvl="1"/>
            <a:r>
              <a:rPr lang="en-US" altLang="zh-TW" sz="2800" dirty="0"/>
              <a:t>Design of digital logic circuits (Computer Engineering)</a:t>
            </a:r>
          </a:p>
          <a:p>
            <a:pPr lvl="1"/>
            <a:r>
              <a:rPr lang="en-US" altLang="zh-TW" sz="2800" dirty="0"/>
              <a:t>Expressing conditions in programs</a:t>
            </a:r>
          </a:p>
          <a:p>
            <a:pPr lvl="1"/>
            <a:r>
              <a:rPr lang="en-US" altLang="zh-TW" sz="2800" dirty="0"/>
              <a:t>Queries to databases &amp; search engines</a:t>
            </a:r>
          </a:p>
          <a:p>
            <a:pPr lvl="1"/>
            <a:r>
              <a:rPr lang="en-US" altLang="zh-TW" sz="2800" dirty="0"/>
              <a:t>Inference and Decision Making</a:t>
            </a:r>
          </a:p>
          <a:p>
            <a:pPr lvl="2"/>
            <a:r>
              <a:rPr lang="en-US" altLang="zh-TW" sz="2800" dirty="0"/>
              <a:t>Example: “If today is Tuesday, I have a test in English or Science. </a:t>
            </a:r>
            <a:br>
              <a:rPr lang="en-US" altLang="zh-TW" sz="2800" dirty="0"/>
            </a:br>
            <a:r>
              <a:rPr lang="en-US" altLang="zh-TW" sz="2800" dirty="0"/>
              <a:t>If my English Professor is absent, then I will not have a test in English. </a:t>
            </a:r>
            <a:br>
              <a:rPr lang="en-US" altLang="zh-TW" sz="2800" dirty="0"/>
            </a:br>
            <a:r>
              <a:rPr lang="en-US" altLang="zh-TW" sz="2800" dirty="0"/>
              <a:t>Today is Tuesday and my English Professor is absent. </a:t>
            </a:r>
            <a:br>
              <a:rPr lang="en-US" altLang="zh-TW" sz="2800" dirty="0"/>
            </a:br>
            <a:r>
              <a:rPr lang="en-US" altLang="zh-TW" sz="2800" i="1" dirty="0"/>
              <a:t>Therefore I have a test in Science.“</a:t>
            </a:r>
          </a:p>
        </p:txBody>
      </p:sp>
      <p:sp>
        <p:nvSpPr>
          <p:cNvPr id="4" name="Date Placeholder 3">
            <a:extLst>
              <a:ext uri="{FF2B5EF4-FFF2-40B4-BE49-F238E27FC236}">
                <a16:creationId xmlns:a16="http://schemas.microsoft.com/office/drawing/2014/main" id="{16F9B291-EA91-4B4B-8CA1-D474B49E065A}"/>
              </a:ext>
            </a:extLst>
          </p:cNvPr>
          <p:cNvSpPr>
            <a:spLocks noGrp="1"/>
          </p:cNvSpPr>
          <p:nvPr>
            <p:ph type="dt" sz="half" idx="10"/>
          </p:nvPr>
        </p:nvSpPr>
        <p:spPr/>
        <p:txBody>
          <a:bodyPr/>
          <a:lstStyle/>
          <a:p>
            <a:fld id="{B131792B-6588-4E83-99F8-45D9E8BA7CA6}" type="datetime1">
              <a:rPr lang="en-US" smtClean="0"/>
              <a:t>9/29/2022</a:t>
            </a:fld>
            <a:endParaRPr lang="en-US"/>
          </a:p>
        </p:txBody>
      </p:sp>
      <p:sp>
        <p:nvSpPr>
          <p:cNvPr id="5" name="Footer Placeholder 4">
            <a:extLst>
              <a:ext uri="{FF2B5EF4-FFF2-40B4-BE49-F238E27FC236}">
                <a16:creationId xmlns:a16="http://schemas.microsoft.com/office/drawing/2014/main" id="{DA57497D-FA4B-4B5D-90C1-916E1D104BCE}"/>
              </a:ext>
            </a:extLst>
          </p:cNvPr>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10</a:t>
            </a:fld>
            <a:endParaRPr lang="en-US"/>
          </a:p>
        </p:txBody>
      </p:sp>
    </p:spTree>
    <p:extLst>
      <p:ext uri="{BB962C8B-B14F-4D97-AF65-F5344CB8AC3E}">
        <p14:creationId xmlns:p14="http://schemas.microsoft.com/office/powerpoint/2010/main" val="1648996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134263"/>
                </a:solidFill>
              </a:rPr>
              <a:t>Propositional Logic </a:t>
            </a:r>
            <a:r>
              <a:rPr lang="en-US" altLang="zh-TW" dirty="0">
                <a:solidFill>
                  <a:srgbClr val="134263"/>
                </a:solidFill>
              </a:rPr>
              <a:t>Definition</a:t>
            </a:r>
            <a:endParaRPr lang="en-US" dirty="0">
              <a:solidFill>
                <a:srgbClr val="134263"/>
              </a:solidFill>
            </a:endParaRPr>
          </a:p>
        </p:txBody>
      </p:sp>
      <p:sp>
        <p:nvSpPr>
          <p:cNvPr id="3" name="Content Placeholder 2"/>
          <p:cNvSpPr>
            <a:spLocks noGrp="1"/>
          </p:cNvSpPr>
          <p:nvPr>
            <p:ph idx="1"/>
          </p:nvPr>
        </p:nvSpPr>
        <p:spPr>
          <a:ln>
            <a:solidFill>
              <a:srgbClr val="FFFF00"/>
            </a:solidFill>
          </a:ln>
        </p:spPr>
        <p:txBody>
          <a:bodyPr>
            <a:normAutofit/>
          </a:bodyPr>
          <a:lstStyle/>
          <a:p>
            <a:pPr>
              <a:lnSpc>
                <a:spcPct val="120000"/>
              </a:lnSpc>
              <a:spcBef>
                <a:spcPts val="0"/>
              </a:spcBef>
              <a:spcAft>
                <a:spcPts val="0"/>
              </a:spcAft>
            </a:pPr>
            <a:r>
              <a:rPr lang="en-US" dirty="0"/>
              <a:t>A </a:t>
            </a:r>
            <a:r>
              <a:rPr lang="en-US" b="1" dirty="0"/>
              <a:t>proposition</a:t>
            </a:r>
            <a:r>
              <a:rPr lang="en-US" dirty="0"/>
              <a:t> </a:t>
            </a:r>
            <a:r>
              <a:rPr lang="en-US" altLang="zh-TW" dirty="0"/>
              <a:t>(denoted P, Q, R, p, q, r, …) </a:t>
            </a:r>
          </a:p>
          <a:p>
            <a:pPr lvl="1">
              <a:lnSpc>
                <a:spcPct val="120000"/>
              </a:lnSpc>
              <a:spcBef>
                <a:spcPts val="0"/>
              </a:spcBef>
              <a:spcAft>
                <a:spcPts val="0"/>
              </a:spcAft>
            </a:pPr>
            <a:r>
              <a:rPr lang="en-US" dirty="0"/>
              <a:t>is a </a:t>
            </a:r>
            <a:r>
              <a:rPr lang="en-US" dirty="0">
                <a:solidFill>
                  <a:srgbClr val="FF0000"/>
                </a:solidFill>
              </a:rPr>
              <a:t>statement</a:t>
            </a:r>
            <a:r>
              <a:rPr lang="en-US" dirty="0"/>
              <a:t> </a:t>
            </a:r>
            <a:r>
              <a:rPr lang="en-US" altLang="zh-TW" dirty="0">
                <a:ea typeface="新細明體" pitchFamily="18" charset="-120"/>
              </a:rPr>
              <a:t>(</a:t>
            </a:r>
            <a:r>
              <a:rPr lang="en-US" altLang="zh-TW" i="1" dirty="0">
                <a:ea typeface="新細明體" pitchFamily="18" charset="-120"/>
              </a:rPr>
              <a:t>i.e.</a:t>
            </a:r>
            <a:r>
              <a:rPr lang="en-US" altLang="zh-TW" dirty="0">
                <a:ea typeface="新細明體" pitchFamily="18" charset="-120"/>
              </a:rPr>
              <a:t>, a declarative sentence) </a:t>
            </a:r>
            <a:endParaRPr lang="en-US" dirty="0"/>
          </a:p>
          <a:p>
            <a:pPr lvl="1">
              <a:lnSpc>
                <a:spcPct val="120000"/>
              </a:lnSpc>
              <a:spcBef>
                <a:spcPts val="0"/>
              </a:spcBef>
              <a:spcAft>
                <a:spcPts val="0"/>
              </a:spcAft>
            </a:pPr>
            <a:r>
              <a:rPr lang="en-US" dirty="0"/>
              <a:t>with some </a:t>
            </a:r>
            <a:r>
              <a:rPr lang="en-US" dirty="0">
                <a:solidFill>
                  <a:srgbClr val="FF0000"/>
                </a:solidFill>
              </a:rPr>
              <a:t>definite meaning</a:t>
            </a:r>
            <a:r>
              <a:rPr lang="en-US" dirty="0"/>
              <a:t>, (not vague or ambiguous)</a:t>
            </a:r>
          </a:p>
          <a:p>
            <a:pPr lvl="1">
              <a:lnSpc>
                <a:spcPct val="120000"/>
              </a:lnSpc>
              <a:spcBef>
                <a:spcPts val="0"/>
              </a:spcBef>
              <a:spcAft>
                <a:spcPts val="0"/>
              </a:spcAft>
            </a:pPr>
            <a:r>
              <a:rPr lang="en-US" altLang="zh-TW" dirty="0">
                <a:ea typeface="新細明體" pitchFamily="18" charset="-120"/>
              </a:rPr>
              <a:t>having a </a:t>
            </a:r>
            <a:r>
              <a:rPr lang="en-US" altLang="zh-TW" i="1" dirty="0">
                <a:solidFill>
                  <a:srgbClr val="FF0000"/>
                </a:solidFill>
                <a:ea typeface="新細明體" pitchFamily="18" charset="-120"/>
              </a:rPr>
              <a:t>truth value</a:t>
            </a:r>
            <a:r>
              <a:rPr lang="en-US" altLang="zh-TW" dirty="0">
                <a:solidFill>
                  <a:srgbClr val="FF0000"/>
                </a:solidFill>
                <a:ea typeface="新細明體" pitchFamily="18" charset="-120"/>
              </a:rPr>
              <a:t> </a:t>
            </a:r>
            <a:r>
              <a:rPr lang="en-US" altLang="zh-TW" dirty="0">
                <a:ea typeface="新細明體" pitchFamily="18" charset="-120"/>
              </a:rPr>
              <a:t>that is </a:t>
            </a:r>
            <a:r>
              <a:rPr lang="en-US" dirty="0"/>
              <a:t>either </a:t>
            </a:r>
            <a:r>
              <a:rPr lang="en-US" dirty="0">
                <a:solidFill>
                  <a:srgbClr val="00B0F0"/>
                </a:solidFill>
              </a:rPr>
              <a:t>TRUE</a:t>
            </a:r>
            <a:r>
              <a:rPr lang="en-US" dirty="0"/>
              <a:t> (</a:t>
            </a:r>
            <a:r>
              <a:rPr lang="en-US" dirty="0">
                <a:solidFill>
                  <a:srgbClr val="00B0F0"/>
                </a:solidFill>
              </a:rPr>
              <a:t>T</a:t>
            </a:r>
            <a:r>
              <a:rPr lang="en-US" dirty="0"/>
              <a:t>) or </a:t>
            </a:r>
            <a:r>
              <a:rPr lang="en-US" dirty="0">
                <a:solidFill>
                  <a:srgbClr val="FF0000"/>
                </a:solidFill>
              </a:rPr>
              <a:t>FALSE</a:t>
            </a:r>
            <a:r>
              <a:rPr lang="en-US" dirty="0"/>
              <a:t> (</a:t>
            </a:r>
            <a:r>
              <a:rPr lang="en-US" dirty="0">
                <a:solidFill>
                  <a:srgbClr val="FF0000"/>
                </a:solidFill>
              </a:rPr>
              <a:t>F</a:t>
            </a:r>
            <a:r>
              <a:rPr lang="en-US" dirty="0"/>
              <a:t>)</a:t>
            </a:r>
          </a:p>
          <a:p>
            <a:pPr lvl="2">
              <a:lnSpc>
                <a:spcPct val="120000"/>
              </a:lnSpc>
              <a:spcBef>
                <a:spcPts val="0"/>
              </a:spcBef>
              <a:spcAft>
                <a:spcPts val="0"/>
              </a:spcAft>
            </a:pPr>
            <a:r>
              <a:rPr lang="en-US" altLang="zh-TW" sz="3000" dirty="0"/>
              <a:t>it is never both, neither, or somewhere “in between!”</a:t>
            </a:r>
          </a:p>
          <a:p>
            <a:pPr lvl="2">
              <a:lnSpc>
                <a:spcPct val="120000"/>
              </a:lnSpc>
              <a:spcBef>
                <a:spcPts val="0"/>
              </a:spcBef>
              <a:spcAft>
                <a:spcPts val="0"/>
              </a:spcAft>
            </a:pPr>
            <a:r>
              <a:rPr lang="en-US" altLang="zh-TW" sz="3000" dirty="0"/>
              <a:t>however, the actual truth value might not be known and might depend on the situation or context</a:t>
            </a:r>
          </a:p>
          <a:p>
            <a:pPr marL="609585" lvl="2" indent="0">
              <a:lnSpc>
                <a:spcPct val="120000"/>
              </a:lnSpc>
              <a:spcBef>
                <a:spcPts val="0"/>
              </a:spcBef>
              <a:spcAft>
                <a:spcPts val="0"/>
              </a:spcAft>
              <a:buNone/>
            </a:pPr>
            <a:endParaRPr lang="en-US" altLang="zh-TW" dirty="0"/>
          </a:p>
          <a:p>
            <a:pPr marL="76198" indent="0">
              <a:buNone/>
            </a:pPr>
            <a:endParaRPr lang="en-US" altLang="zh-TW" dirty="0"/>
          </a:p>
        </p:txBody>
      </p:sp>
      <p:sp>
        <p:nvSpPr>
          <p:cNvPr id="4" name="Date Placeholder 3"/>
          <p:cNvSpPr>
            <a:spLocks noGrp="1"/>
          </p:cNvSpPr>
          <p:nvPr>
            <p:ph type="dt" sz="half" idx="10"/>
          </p:nvPr>
        </p:nvSpPr>
        <p:spPr/>
        <p:txBody>
          <a:bodyPr/>
          <a:lstStyle/>
          <a:p>
            <a:fld id="{6CCAB479-6B97-4E1C-AE3F-752E5980EC47}"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11</a:t>
            </a:fld>
            <a:endParaRPr lang="en-US"/>
          </a:p>
        </p:txBody>
      </p:sp>
    </p:spTree>
    <p:extLst>
      <p:ext uri="{BB962C8B-B14F-4D97-AF65-F5344CB8AC3E}">
        <p14:creationId xmlns:p14="http://schemas.microsoft.com/office/powerpoint/2010/main" val="2985959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Propositions vs. Non-Propositions</a:t>
            </a:r>
          </a:p>
        </p:txBody>
      </p:sp>
      <p:sp>
        <p:nvSpPr>
          <p:cNvPr id="3" name="Content Placeholder 2"/>
          <p:cNvSpPr>
            <a:spLocks noGrp="1"/>
          </p:cNvSpPr>
          <p:nvPr>
            <p:ph idx="1"/>
          </p:nvPr>
        </p:nvSpPr>
        <p:spPr/>
        <p:txBody>
          <a:bodyPr>
            <a:normAutofit fontScale="85000" lnSpcReduction="20000"/>
          </a:bodyPr>
          <a:lstStyle/>
          <a:p>
            <a:pPr>
              <a:lnSpc>
                <a:spcPct val="110000"/>
              </a:lnSpc>
              <a:spcBef>
                <a:spcPts val="0"/>
              </a:spcBef>
              <a:spcAft>
                <a:spcPts val="0"/>
              </a:spcAft>
            </a:pPr>
            <a:r>
              <a:rPr lang="en-US" altLang="zh-TW" b="1" dirty="0">
                <a:solidFill>
                  <a:schemeClr val="accent6">
                    <a:lumMod val="75000"/>
                  </a:schemeClr>
                </a:solidFill>
              </a:rPr>
              <a:t>Examples of Propositions</a:t>
            </a:r>
            <a:r>
              <a:rPr lang="en-US" altLang="zh-TW" dirty="0">
                <a:solidFill>
                  <a:schemeClr val="accent6">
                    <a:lumMod val="75000"/>
                  </a:schemeClr>
                </a:solidFill>
              </a:rPr>
              <a:t>:</a:t>
            </a:r>
          </a:p>
          <a:p>
            <a:pPr lvl="1">
              <a:lnSpc>
                <a:spcPct val="110000"/>
              </a:lnSpc>
              <a:spcBef>
                <a:spcPts val="0"/>
              </a:spcBef>
              <a:spcAft>
                <a:spcPts val="0"/>
              </a:spcAft>
            </a:pPr>
            <a:r>
              <a:rPr lang="en-US" altLang="zh-TW" dirty="0"/>
              <a:t>“It is raining.”  (In a given situation.)</a:t>
            </a:r>
          </a:p>
          <a:p>
            <a:pPr lvl="1">
              <a:lnSpc>
                <a:spcPct val="110000"/>
              </a:lnSpc>
              <a:spcBef>
                <a:spcPts val="0"/>
              </a:spcBef>
              <a:spcAft>
                <a:spcPts val="0"/>
              </a:spcAft>
            </a:pPr>
            <a:r>
              <a:rPr lang="en-US" altLang="zh-TW" dirty="0"/>
              <a:t>“Riyadh is the capital of Saudi Arabia.”   </a:t>
            </a:r>
          </a:p>
          <a:p>
            <a:pPr lvl="1">
              <a:lnSpc>
                <a:spcPct val="110000"/>
              </a:lnSpc>
              <a:spcBef>
                <a:spcPts val="0"/>
              </a:spcBef>
              <a:spcAft>
                <a:spcPts val="0"/>
              </a:spcAft>
            </a:pPr>
            <a:r>
              <a:rPr lang="en-US" altLang="zh-TW" dirty="0"/>
              <a:t>“1 + 2 = 3”</a:t>
            </a:r>
          </a:p>
          <a:p>
            <a:pPr marL="304793" lvl="1" indent="0">
              <a:lnSpc>
                <a:spcPct val="110000"/>
              </a:lnSpc>
              <a:spcBef>
                <a:spcPts val="0"/>
              </a:spcBef>
              <a:spcAft>
                <a:spcPts val="0"/>
              </a:spcAft>
              <a:buNone/>
            </a:pPr>
            <a:endParaRPr lang="en-US" altLang="zh-TW" dirty="0"/>
          </a:p>
          <a:p>
            <a:pPr>
              <a:lnSpc>
                <a:spcPct val="110000"/>
              </a:lnSpc>
              <a:spcBef>
                <a:spcPts val="0"/>
              </a:spcBef>
              <a:spcAft>
                <a:spcPts val="0"/>
              </a:spcAft>
            </a:pPr>
            <a:r>
              <a:rPr lang="en-US" altLang="zh-TW" b="1" dirty="0">
                <a:solidFill>
                  <a:schemeClr val="accent6">
                    <a:lumMod val="75000"/>
                  </a:schemeClr>
                </a:solidFill>
              </a:rPr>
              <a:t>Examples of Non-Propositions</a:t>
            </a:r>
            <a:r>
              <a:rPr lang="en-US" altLang="zh-TW" dirty="0">
                <a:solidFill>
                  <a:schemeClr val="accent6">
                    <a:lumMod val="75000"/>
                  </a:schemeClr>
                </a:solidFill>
              </a:rPr>
              <a:t>:</a:t>
            </a:r>
          </a:p>
          <a:p>
            <a:pPr lvl="1">
              <a:lnSpc>
                <a:spcPct val="110000"/>
              </a:lnSpc>
              <a:spcBef>
                <a:spcPts val="0"/>
              </a:spcBef>
              <a:spcAft>
                <a:spcPts val="0"/>
              </a:spcAft>
            </a:pPr>
            <a:r>
              <a:rPr lang="en-US" altLang="zh-TW" dirty="0"/>
              <a:t>“Who is there?” (interrogative, question)</a:t>
            </a:r>
          </a:p>
          <a:p>
            <a:pPr lvl="1">
              <a:lnSpc>
                <a:spcPct val="110000"/>
              </a:lnSpc>
              <a:spcBef>
                <a:spcPts val="0"/>
              </a:spcBef>
              <a:spcAft>
                <a:spcPts val="0"/>
              </a:spcAft>
            </a:pPr>
            <a:r>
              <a:rPr lang="en-US" altLang="zh-TW" dirty="0"/>
              <a:t>“Concentrate, please!” (imperative, command)</a:t>
            </a:r>
          </a:p>
          <a:p>
            <a:pPr lvl="1">
              <a:lnSpc>
                <a:spcPct val="110000"/>
              </a:lnSpc>
              <a:spcBef>
                <a:spcPts val="0"/>
              </a:spcBef>
              <a:spcAft>
                <a:spcPts val="0"/>
              </a:spcAft>
            </a:pPr>
            <a:r>
              <a:rPr lang="en-US" altLang="zh-TW" dirty="0"/>
              <a:t>“No, no, no, no, no,...” (meaningless interjection)</a:t>
            </a:r>
          </a:p>
          <a:p>
            <a:pPr lvl="1">
              <a:lnSpc>
                <a:spcPct val="110000"/>
              </a:lnSpc>
              <a:spcBef>
                <a:spcPts val="0"/>
              </a:spcBef>
              <a:spcAft>
                <a:spcPts val="0"/>
              </a:spcAft>
            </a:pPr>
            <a:r>
              <a:rPr lang="en-US" altLang="zh-TW" dirty="0"/>
              <a:t>“Just do it!” (imperative, command)</a:t>
            </a:r>
          </a:p>
          <a:p>
            <a:pPr lvl="1">
              <a:lnSpc>
                <a:spcPct val="110000"/>
              </a:lnSpc>
              <a:spcBef>
                <a:spcPts val="0"/>
              </a:spcBef>
              <a:spcAft>
                <a:spcPts val="0"/>
              </a:spcAft>
            </a:pPr>
            <a:r>
              <a:rPr lang="en-US" altLang="zh-TW" dirty="0"/>
              <a:t>“Yeah, I have no idea, whatever...” (vague)</a:t>
            </a:r>
            <a:endParaRPr lang="en-US" dirty="0"/>
          </a:p>
          <a:p>
            <a:pPr lvl="1">
              <a:lnSpc>
                <a:spcPct val="110000"/>
              </a:lnSpc>
              <a:spcBef>
                <a:spcPts val="0"/>
              </a:spcBef>
              <a:spcAft>
                <a:spcPts val="0"/>
              </a:spcAft>
            </a:pPr>
            <a:r>
              <a:rPr lang="en-US" altLang="zh-TW" dirty="0"/>
              <a:t>“1 + 2” (expression with a non-true/false value)</a:t>
            </a:r>
          </a:p>
        </p:txBody>
      </p:sp>
      <p:sp>
        <p:nvSpPr>
          <p:cNvPr id="4" name="Date Placeholder 3"/>
          <p:cNvSpPr>
            <a:spLocks noGrp="1"/>
          </p:cNvSpPr>
          <p:nvPr>
            <p:ph type="dt" sz="half" idx="10"/>
          </p:nvPr>
        </p:nvSpPr>
        <p:spPr/>
        <p:txBody>
          <a:bodyPr/>
          <a:lstStyle/>
          <a:p>
            <a:fld id="{57CF28D1-870E-4820-85A9-BA4472EBBD37}"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12</a:t>
            </a:fld>
            <a:endParaRPr lang="en-US"/>
          </a:p>
        </p:txBody>
      </p:sp>
    </p:spTree>
    <p:extLst>
      <p:ext uri="{BB962C8B-B14F-4D97-AF65-F5344CB8AC3E}">
        <p14:creationId xmlns:p14="http://schemas.microsoft.com/office/powerpoint/2010/main" val="1465534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5E836-696D-4119-A1D7-F343A1491EF6}"/>
              </a:ext>
            </a:extLst>
          </p:cNvPr>
          <p:cNvSpPr>
            <a:spLocks noGrp="1"/>
          </p:cNvSpPr>
          <p:nvPr>
            <p:ph type="title"/>
          </p:nvPr>
        </p:nvSpPr>
        <p:spPr/>
        <p:txBody>
          <a:bodyPr>
            <a:normAutofit fontScale="90000"/>
          </a:bodyPr>
          <a:lstStyle/>
          <a:p>
            <a:r>
              <a:rPr lang="en-US" altLang="zh-TW" dirty="0"/>
              <a:t>Operators/Connectives</a:t>
            </a:r>
            <a:endParaRPr lang="en-US" dirty="0"/>
          </a:p>
        </p:txBody>
      </p:sp>
      <p:sp>
        <p:nvSpPr>
          <p:cNvPr id="3" name="Content Placeholder 2">
            <a:extLst>
              <a:ext uri="{FF2B5EF4-FFF2-40B4-BE49-F238E27FC236}">
                <a16:creationId xmlns:a16="http://schemas.microsoft.com/office/drawing/2014/main" id="{52C2E4B1-F39B-4683-B1EE-797C52EBC11B}"/>
              </a:ext>
            </a:extLst>
          </p:cNvPr>
          <p:cNvSpPr>
            <a:spLocks noGrp="1"/>
          </p:cNvSpPr>
          <p:nvPr>
            <p:ph idx="1"/>
          </p:nvPr>
        </p:nvSpPr>
        <p:spPr/>
        <p:txBody>
          <a:bodyPr>
            <a:normAutofit fontScale="92500" lnSpcReduction="10000"/>
          </a:bodyPr>
          <a:lstStyle/>
          <a:p>
            <a:pPr>
              <a:lnSpc>
                <a:spcPct val="100000"/>
              </a:lnSpc>
              <a:spcBef>
                <a:spcPts val="0"/>
              </a:spcBef>
              <a:spcAft>
                <a:spcPts val="0"/>
              </a:spcAft>
            </a:pPr>
            <a:r>
              <a:rPr lang="en-US" altLang="zh-TW" dirty="0"/>
              <a:t>An operator, or connective, </a:t>
            </a:r>
            <a:r>
              <a:rPr lang="en-US" altLang="zh-TW" dirty="0">
                <a:solidFill>
                  <a:srgbClr val="C00000"/>
                </a:solidFill>
              </a:rPr>
              <a:t>combines one or more </a:t>
            </a:r>
            <a:r>
              <a:rPr lang="en-US" altLang="zh-TW" dirty="0"/>
              <a:t>operands to form a larger expression.  </a:t>
            </a:r>
          </a:p>
          <a:p>
            <a:pPr lvl="2">
              <a:lnSpc>
                <a:spcPct val="100000"/>
              </a:lnSpc>
              <a:spcBef>
                <a:spcPts val="0"/>
              </a:spcBef>
              <a:spcAft>
                <a:spcPts val="0"/>
              </a:spcAft>
            </a:pPr>
            <a:r>
              <a:rPr lang="en-US" altLang="zh-TW" sz="2800" dirty="0"/>
              <a:t>Example: </a:t>
            </a:r>
          </a:p>
          <a:p>
            <a:pPr lvl="3">
              <a:lnSpc>
                <a:spcPct val="100000"/>
              </a:lnSpc>
              <a:spcBef>
                <a:spcPts val="0"/>
              </a:spcBef>
              <a:spcAft>
                <a:spcPts val="0"/>
              </a:spcAft>
            </a:pPr>
            <a:r>
              <a:rPr lang="en-US" altLang="zh-TW" sz="2533" dirty="0"/>
              <a:t>“+” in numeric expressions</a:t>
            </a:r>
          </a:p>
          <a:p>
            <a:pPr lvl="3">
              <a:lnSpc>
                <a:spcPct val="100000"/>
              </a:lnSpc>
              <a:spcBef>
                <a:spcPts val="0"/>
              </a:spcBef>
              <a:spcAft>
                <a:spcPts val="0"/>
              </a:spcAft>
            </a:pPr>
            <a:r>
              <a:rPr lang="en-US" altLang="zh-TW" sz="2533" dirty="0"/>
              <a:t>“and” in logic expressions</a:t>
            </a:r>
          </a:p>
          <a:p>
            <a:pPr>
              <a:lnSpc>
                <a:spcPct val="100000"/>
              </a:lnSpc>
              <a:spcBef>
                <a:spcPts val="0"/>
              </a:spcBef>
              <a:spcAft>
                <a:spcPts val="0"/>
              </a:spcAft>
            </a:pPr>
            <a:endParaRPr lang="en-US" altLang="zh-TW" dirty="0"/>
          </a:p>
          <a:p>
            <a:pPr>
              <a:lnSpc>
                <a:spcPct val="100000"/>
              </a:lnSpc>
              <a:spcBef>
                <a:spcPts val="0"/>
              </a:spcBef>
              <a:spcAft>
                <a:spcPts val="0"/>
              </a:spcAft>
            </a:pPr>
            <a:r>
              <a:rPr lang="en-US" altLang="zh-TW" dirty="0"/>
              <a:t>There exist two types of operators:</a:t>
            </a:r>
          </a:p>
          <a:p>
            <a:pPr lvl="1">
              <a:lnSpc>
                <a:spcPct val="100000"/>
              </a:lnSpc>
              <a:spcBef>
                <a:spcPts val="0"/>
              </a:spcBef>
              <a:spcAft>
                <a:spcPts val="0"/>
              </a:spcAft>
            </a:pPr>
            <a:r>
              <a:rPr lang="en-US" altLang="zh-TW" dirty="0">
                <a:solidFill>
                  <a:srgbClr val="C00000"/>
                </a:solidFill>
              </a:rPr>
              <a:t>Unary</a:t>
            </a:r>
            <a:r>
              <a:rPr lang="en-US" altLang="zh-TW" dirty="0"/>
              <a:t> operators: take 1 operand (e.g., </a:t>
            </a:r>
            <a:r>
              <a:rPr lang="en-US" altLang="zh-TW" b="1" dirty="0"/>
              <a:t>−</a:t>
            </a:r>
            <a:r>
              <a:rPr lang="en-US" altLang="zh-TW" dirty="0"/>
              <a:t>3, </a:t>
            </a:r>
            <a:r>
              <a:rPr lang="en-US" altLang="zh-TW" b="1" dirty="0"/>
              <a:t>not</a:t>
            </a:r>
            <a:r>
              <a:rPr lang="en-US" altLang="zh-TW" dirty="0"/>
              <a:t>(P), </a:t>
            </a:r>
            <a:r>
              <a:rPr lang="en-US" b="1" dirty="0"/>
              <a:t>¬</a:t>
            </a:r>
            <a:r>
              <a:rPr lang="en-US" dirty="0"/>
              <a:t>P</a:t>
            </a:r>
            <a:r>
              <a:rPr lang="en-US" altLang="zh-TW" dirty="0"/>
              <a:t>)</a:t>
            </a:r>
          </a:p>
          <a:p>
            <a:pPr lvl="1">
              <a:lnSpc>
                <a:spcPct val="100000"/>
              </a:lnSpc>
              <a:spcBef>
                <a:spcPts val="0"/>
              </a:spcBef>
              <a:spcAft>
                <a:spcPts val="0"/>
              </a:spcAft>
            </a:pPr>
            <a:r>
              <a:rPr lang="en-US" altLang="zh-TW" dirty="0">
                <a:solidFill>
                  <a:srgbClr val="C00000"/>
                </a:solidFill>
              </a:rPr>
              <a:t>Binary</a:t>
            </a:r>
            <a:r>
              <a:rPr lang="en-US" altLang="zh-TW" dirty="0"/>
              <a:t> operators: take 2 operands (e.g., 3 </a:t>
            </a:r>
            <a:r>
              <a:rPr lang="en-US" altLang="zh-TW" dirty="0">
                <a:sym typeface="Symbol" pitchFamily="18" charset="2"/>
              </a:rPr>
              <a:t></a:t>
            </a:r>
            <a:r>
              <a:rPr lang="en-US" altLang="zh-TW" dirty="0"/>
              <a:t> 4, p </a:t>
            </a:r>
            <a:r>
              <a:rPr lang="en-US" altLang="zh-TW" b="1" dirty="0"/>
              <a:t>and</a:t>
            </a:r>
            <a:r>
              <a:rPr lang="en-US" altLang="zh-TW" dirty="0"/>
              <a:t> q).</a:t>
            </a:r>
          </a:p>
          <a:p>
            <a:pPr marL="304793" lvl="1" indent="0">
              <a:lnSpc>
                <a:spcPct val="100000"/>
              </a:lnSpc>
              <a:spcBef>
                <a:spcPts val="0"/>
              </a:spcBef>
              <a:spcAft>
                <a:spcPts val="0"/>
              </a:spcAft>
              <a:buNone/>
            </a:pPr>
            <a:endParaRPr lang="en-US" altLang="zh-TW" dirty="0"/>
          </a:p>
          <a:p>
            <a:pPr>
              <a:lnSpc>
                <a:spcPct val="100000"/>
              </a:lnSpc>
              <a:spcBef>
                <a:spcPts val="0"/>
              </a:spcBef>
              <a:spcAft>
                <a:spcPts val="0"/>
              </a:spcAft>
            </a:pPr>
            <a:r>
              <a:rPr lang="en-US" altLang="zh-TW" dirty="0"/>
              <a:t>Propositional, or </a:t>
            </a:r>
            <a:r>
              <a:rPr lang="en-US" altLang="zh-TW" dirty="0">
                <a:solidFill>
                  <a:srgbClr val="C00000"/>
                </a:solidFill>
              </a:rPr>
              <a:t>Boolean</a:t>
            </a:r>
            <a:r>
              <a:rPr lang="en-US" altLang="zh-TW" dirty="0"/>
              <a:t> </a:t>
            </a:r>
            <a:r>
              <a:rPr lang="en-US" altLang="zh-TW" dirty="0">
                <a:solidFill>
                  <a:srgbClr val="C00000"/>
                </a:solidFill>
              </a:rPr>
              <a:t>operators,</a:t>
            </a:r>
            <a:r>
              <a:rPr lang="en-US" altLang="zh-TW" dirty="0"/>
              <a:t> operate on propositions (or their truth values) instead of on numbers.</a:t>
            </a:r>
          </a:p>
        </p:txBody>
      </p:sp>
      <p:sp>
        <p:nvSpPr>
          <p:cNvPr id="4" name="Date Placeholder 3">
            <a:extLst>
              <a:ext uri="{FF2B5EF4-FFF2-40B4-BE49-F238E27FC236}">
                <a16:creationId xmlns:a16="http://schemas.microsoft.com/office/drawing/2014/main" id="{32ADD480-1A04-435E-B994-5B0A7E386423}"/>
              </a:ext>
            </a:extLst>
          </p:cNvPr>
          <p:cNvSpPr>
            <a:spLocks noGrp="1"/>
          </p:cNvSpPr>
          <p:nvPr>
            <p:ph type="dt" sz="half" idx="10"/>
          </p:nvPr>
        </p:nvSpPr>
        <p:spPr/>
        <p:txBody>
          <a:bodyPr/>
          <a:lstStyle/>
          <a:p>
            <a:fld id="{3FA3BCA2-83F2-44EE-BE98-3A253CD55F9F}" type="datetime1">
              <a:rPr lang="en-US" smtClean="0"/>
              <a:t>9/29/2022</a:t>
            </a:fld>
            <a:endParaRPr lang="en-US"/>
          </a:p>
        </p:txBody>
      </p:sp>
      <p:sp>
        <p:nvSpPr>
          <p:cNvPr id="5" name="Footer Placeholder 4">
            <a:extLst>
              <a:ext uri="{FF2B5EF4-FFF2-40B4-BE49-F238E27FC236}">
                <a16:creationId xmlns:a16="http://schemas.microsoft.com/office/drawing/2014/main" id="{D4EBC5A9-5375-459C-B240-2BCC2ECF4662}"/>
              </a:ext>
            </a:extLst>
          </p:cNvPr>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13</a:t>
            </a:fld>
            <a:endParaRPr lang="en-US"/>
          </a:p>
        </p:txBody>
      </p:sp>
    </p:spTree>
    <p:extLst>
      <p:ext uri="{BB962C8B-B14F-4D97-AF65-F5344CB8AC3E}">
        <p14:creationId xmlns:p14="http://schemas.microsoft.com/office/powerpoint/2010/main" val="704135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Boolean Operators</a:t>
            </a:r>
            <a:endParaRPr lang="en-US" dirty="0"/>
          </a:p>
        </p:txBody>
      </p:sp>
      <p:graphicFrame>
        <p:nvGraphicFramePr>
          <p:cNvPr id="5" name="Table 4">
            <a:extLst>
              <a:ext uri="{FF2B5EF4-FFF2-40B4-BE49-F238E27FC236}">
                <a16:creationId xmlns:a16="http://schemas.microsoft.com/office/drawing/2014/main" id="{D3430EE7-D81F-4937-8090-BB4152AECB66}"/>
              </a:ext>
            </a:extLst>
          </p:cNvPr>
          <p:cNvGraphicFramePr>
            <a:graphicFrameLocks noGrp="1"/>
          </p:cNvGraphicFramePr>
          <p:nvPr>
            <p:extLst>
              <p:ext uri="{D42A27DB-BD31-4B8C-83A1-F6EECF244321}">
                <p14:modId xmlns:p14="http://schemas.microsoft.com/office/powerpoint/2010/main" val="1475330655"/>
              </p:ext>
            </p:extLst>
          </p:nvPr>
        </p:nvGraphicFramePr>
        <p:xfrm>
          <a:off x="950248" y="1445119"/>
          <a:ext cx="10291504" cy="4053840"/>
        </p:xfrm>
        <a:graphic>
          <a:graphicData uri="http://schemas.openxmlformats.org/drawingml/2006/table">
            <a:tbl>
              <a:tblPr firstRow="1" bandRow="1">
                <a:tableStyleId>{5C22544A-7EE6-4342-B048-85BDC9FD1C3A}</a:tableStyleId>
              </a:tblPr>
              <a:tblGrid>
                <a:gridCol w="2572876">
                  <a:extLst>
                    <a:ext uri="{9D8B030D-6E8A-4147-A177-3AD203B41FA5}">
                      <a16:colId xmlns:a16="http://schemas.microsoft.com/office/drawing/2014/main" val="3729891777"/>
                    </a:ext>
                  </a:extLst>
                </a:gridCol>
                <a:gridCol w="2572876">
                  <a:extLst>
                    <a:ext uri="{9D8B030D-6E8A-4147-A177-3AD203B41FA5}">
                      <a16:colId xmlns:a16="http://schemas.microsoft.com/office/drawing/2014/main" val="1407188656"/>
                    </a:ext>
                  </a:extLst>
                </a:gridCol>
                <a:gridCol w="2572876">
                  <a:extLst>
                    <a:ext uri="{9D8B030D-6E8A-4147-A177-3AD203B41FA5}">
                      <a16:colId xmlns:a16="http://schemas.microsoft.com/office/drawing/2014/main" val="911124938"/>
                    </a:ext>
                  </a:extLst>
                </a:gridCol>
                <a:gridCol w="2572876">
                  <a:extLst>
                    <a:ext uri="{9D8B030D-6E8A-4147-A177-3AD203B41FA5}">
                      <a16:colId xmlns:a16="http://schemas.microsoft.com/office/drawing/2014/main" val="1539425371"/>
                    </a:ext>
                  </a:extLst>
                </a:gridCol>
              </a:tblGrid>
              <a:tr h="0">
                <a:tc>
                  <a:txBody>
                    <a:bodyPr/>
                    <a:lstStyle/>
                    <a:p>
                      <a:r>
                        <a:rPr lang="en-US" sz="3200" dirty="0"/>
                        <a:t>Formal Name</a:t>
                      </a:r>
                    </a:p>
                  </a:txBody>
                  <a:tcPr anchor="ctr"/>
                </a:tc>
                <a:tc>
                  <a:txBody>
                    <a:bodyPr/>
                    <a:lstStyle/>
                    <a:p>
                      <a:pPr algn="ctr"/>
                      <a:r>
                        <a:rPr lang="en-US" sz="3200" dirty="0"/>
                        <a:t>Nickname</a:t>
                      </a:r>
                    </a:p>
                  </a:txBody>
                  <a:tcPr anchor="ctr"/>
                </a:tc>
                <a:tc>
                  <a:txBody>
                    <a:bodyPr/>
                    <a:lstStyle/>
                    <a:p>
                      <a:pPr algn="ctr"/>
                      <a:r>
                        <a:rPr lang="en-US" sz="3200" dirty="0"/>
                        <a:t>Arity</a:t>
                      </a:r>
                    </a:p>
                  </a:txBody>
                  <a:tcPr anchor="ctr"/>
                </a:tc>
                <a:tc>
                  <a:txBody>
                    <a:bodyPr/>
                    <a:lstStyle/>
                    <a:p>
                      <a:pPr algn="ctr"/>
                      <a:r>
                        <a:rPr lang="en-US" sz="3200" dirty="0"/>
                        <a:t>Symbol</a:t>
                      </a:r>
                    </a:p>
                  </a:txBody>
                  <a:tcPr anchor="ctr"/>
                </a:tc>
                <a:extLst>
                  <a:ext uri="{0D108BD9-81ED-4DB2-BD59-A6C34878D82A}">
                    <a16:rowId xmlns:a16="http://schemas.microsoft.com/office/drawing/2014/main" val="732286373"/>
                  </a:ext>
                </a:extLst>
              </a:tr>
              <a:tr h="370840">
                <a:tc>
                  <a:txBody>
                    <a:bodyPr/>
                    <a:lstStyle/>
                    <a:p>
                      <a:r>
                        <a:rPr lang="en-US" sz="3200" dirty="0">
                          <a:solidFill>
                            <a:srgbClr val="0000CC"/>
                          </a:solidFill>
                        </a:rPr>
                        <a:t>Negation</a:t>
                      </a:r>
                    </a:p>
                  </a:txBody>
                  <a:tcPr/>
                </a:tc>
                <a:tc>
                  <a:txBody>
                    <a:bodyPr/>
                    <a:lstStyle/>
                    <a:p>
                      <a:pPr algn="ctr"/>
                      <a:r>
                        <a:rPr lang="en-US" sz="3200" dirty="0"/>
                        <a:t>NOT</a:t>
                      </a:r>
                    </a:p>
                  </a:txBody>
                  <a:tcPr/>
                </a:tc>
                <a:tc>
                  <a:txBody>
                    <a:bodyPr/>
                    <a:lstStyle/>
                    <a:p>
                      <a:pPr algn="ctr"/>
                      <a:r>
                        <a:rPr lang="en-US" sz="3200" dirty="0"/>
                        <a:t>Unary</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TW" sz="3200" b="1" dirty="0">
                          <a:solidFill>
                            <a:srgbClr val="FF0000"/>
                          </a:solidFill>
                          <a:latin typeface="Cambria" panose="02040503050406030204" pitchFamily="18" charset="0"/>
                          <a:ea typeface="+mn-ea"/>
                        </a:rPr>
                        <a:t>¬</a:t>
                      </a:r>
                    </a:p>
                  </a:txBody>
                  <a:tcPr/>
                </a:tc>
                <a:extLst>
                  <a:ext uri="{0D108BD9-81ED-4DB2-BD59-A6C34878D82A}">
                    <a16:rowId xmlns:a16="http://schemas.microsoft.com/office/drawing/2014/main" val="1257876520"/>
                  </a:ext>
                </a:extLst>
              </a:tr>
              <a:tr h="370840">
                <a:tc>
                  <a:txBody>
                    <a:bodyPr/>
                    <a:lstStyle/>
                    <a:p>
                      <a:r>
                        <a:rPr lang="en-US" sz="3200" dirty="0">
                          <a:solidFill>
                            <a:srgbClr val="0000CC"/>
                          </a:solidFill>
                        </a:rPr>
                        <a:t>Conjunction</a:t>
                      </a:r>
                    </a:p>
                  </a:txBody>
                  <a:tcPr/>
                </a:tc>
                <a:tc>
                  <a:txBody>
                    <a:bodyPr/>
                    <a:lstStyle/>
                    <a:p>
                      <a:pPr algn="ctr"/>
                      <a:r>
                        <a:rPr lang="en-US" sz="3200" dirty="0"/>
                        <a:t>AND</a:t>
                      </a:r>
                    </a:p>
                  </a:txBody>
                  <a:tcPr/>
                </a:tc>
                <a:tc>
                  <a:txBody>
                    <a:bodyPr/>
                    <a:lstStyle/>
                    <a:p>
                      <a:pPr algn="ctr"/>
                      <a:r>
                        <a:rPr lang="en-US" sz="3200" dirty="0"/>
                        <a:t>Binary</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TW" altLang="en-US" sz="3200" b="1" dirty="0">
                          <a:solidFill>
                            <a:srgbClr val="FF0000"/>
                          </a:solidFill>
                          <a:latin typeface="Cambria" panose="02040503050406030204" pitchFamily="18" charset="0"/>
                          <a:ea typeface="+mn-ea"/>
                          <a:sym typeface="Symbol" pitchFamily="18" charset="2"/>
                        </a:rPr>
                        <a:t></a:t>
                      </a:r>
                    </a:p>
                  </a:txBody>
                  <a:tcPr/>
                </a:tc>
                <a:extLst>
                  <a:ext uri="{0D108BD9-81ED-4DB2-BD59-A6C34878D82A}">
                    <a16:rowId xmlns:a16="http://schemas.microsoft.com/office/drawing/2014/main" val="2839813322"/>
                  </a:ext>
                </a:extLst>
              </a:tr>
              <a:tr h="370840">
                <a:tc>
                  <a:txBody>
                    <a:bodyPr/>
                    <a:lstStyle/>
                    <a:p>
                      <a:r>
                        <a:rPr lang="en-US" sz="3200" dirty="0">
                          <a:solidFill>
                            <a:srgbClr val="0000CC"/>
                          </a:solidFill>
                        </a:rPr>
                        <a:t>Disjunction</a:t>
                      </a:r>
                    </a:p>
                  </a:txBody>
                  <a:tcPr/>
                </a:tc>
                <a:tc>
                  <a:txBody>
                    <a:bodyPr/>
                    <a:lstStyle/>
                    <a:p>
                      <a:pPr algn="ctr"/>
                      <a:r>
                        <a:rPr lang="en-US" sz="3200" dirty="0"/>
                        <a:t>OR</a:t>
                      </a:r>
                    </a:p>
                  </a:txBody>
                  <a:tcPr/>
                </a:tc>
                <a:tc>
                  <a:txBody>
                    <a:bodyPr/>
                    <a:lstStyle/>
                    <a:p>
                      <a:pPr algn="ctr"/>
                      <a:r>
                        <a:rPr lang="en-US" sz="3200" dirty="0"/>
                        <a:t>Binary</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TW" altLang="en-US" sz="3200" b="1" dirty="0">
                          <a:solidFill>
                            <a:srgbClr val="FF0000"/>
                          </a:solidFill>
                          <a:latin typeface="Cambria" panose="02040503050406030204" pitchFamily="18" charset="0"/>
                          <a:ea typeface="+mn-ea"/>
                          <a:sym typeface="Symbol" pitchFamily="18" charset="2"/>
                        </a:rPr>
                        <a:t></a:t>
                      </a:r>
                    </a:p>
                  </a:txBody>
                  <a:tcPr/>
                </a:tc>
                <a:extLst>
                  <a:ext uri="{0D108BD9-81ED-4DB2-BD59-A6C34878D82A}">
                    <a16:rowId xmlns:a16="http://schemas.microsoft.com/office/drawing/2014/main" val="3070614076"/>
                  </a:ext>
                </a:extLst>
              </a:tr>
              <a:tr h="370840">
                <a:tc>
                  <a:txBody>
                    <a:bodyPr/>
                    <a:lstStyle/>
                    <a:p>
                      <a:r>
                        <a:rPr lang="en-US" sz="3200" dirty="0">
                          <a:solidFill>
                            <a:srgbClr val="0000CC"/>
                          </a:solidFill>
                        </a:rPr>
                        <a:t>Exclusive-OR</a:t>
                      </a:r>
                    </a:p>
                  </a:txBody>
                  <a:tcPr/>
                </a:tc>
                <a:tc>
                  <a:txBody>
                    <a:bodyPr/>
                    <a:lstStyle/>
                    <a:p>
                      <a:pPr algn="ctr"/>
                      <a:r>
                        <a:rPr lang="en-US" sz="3200" dirty="0"/>
                        <a:t>XOR</a:t>
                      </a:r>
                    </a:p>
                  </a:txBody>
                  <a:tcPr/>
                </a:tc>
                <a:tc>
                  <a:txBody>
                    <a:bodyPr/>
                    <a:lstStyle/>
                    <a:p>
                      <a:pPr algn="ctr"/>
                      <a:r>
                        <a:rPr lang="en-US" sz="3200" dirty="0"/>
                        <a:t>Binary</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TW" altLang="en-US" sz="3200" b="1" dirty="0">
                          <a:solidFill>
                            <a:srgbClr val="FF0000"/>
                          </a:solidFill>
                          <a:latin typeface="Cambria" panose="02040503050406030204" pitchFamily="18" charset="0"/>
                          <a:ea typeface="+mn-ea"/>
                          <a:sym typeface="Symbol" pitchFamily="18" charset="2"/>
                        </a:rPr>
                        <a:t></a:t>
                      </a:r>
                    </a:p>
                  </a:txBody>
                  <a:tcPr/>
                </a:tc>
                <a:extLst>
                  <a:ext uri="{0D108BD9-81ED-4DB2-BD59-A6C34878D82A}">
                    <a16:rowId xmlns:a16="http://schemas.microsoft.com/office/drawing/2014/main" val="1045801003"/>
                  </a:ext>
                </a:extLst>
              </a:tr>
              <a:tr h="370840">
                <a:tc>
                  <a:txBody>
                    <a:bodyPr/>
                    <a:lstStyle/>
                    <a:p>
                      <a:r>
                        <a:rPr lang="en-US" sz="3200" dirty="0">
                          <a:solidFill>
                            <a:srgbClr val="0000CC"/>
                          </a:solidFill>
                        </a:rPr>
                        <a:t>Implication</a:t>
                      </a:r>
                    </a:p>
                  </a:txBody>
                  <a:tcPr/>
                </a:tc>
                <a:tc>
                  <a:txBody>
                    <a:bodyPr/>
                    <a:lstStyle/>
                    <a:p>
                      <a:pPr algn="ctr"/>
                      <a:r>
                        <a:rPr lang="en-US" sz="3200" dirty="0"/>
                        <a:t>IMPLIES</a:t>
                      </a:r>
                    </a:p>
                  </a:txBody>
                  <a:tcPr/>
                </a:tc>
                <a:tc>
                  <a:txBody>
                    <a:bodyPr/>
                    <a:lstStyle/>
                    <a:p>
                      <a:pPr algn="ctr"/>
                      <a:r>
                        <a:rPr lang="en-US" sz="3200" dirty="0"/>
                        <a:t>Binary</a:t>
                      </a:r>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zh-TW" altLang="en-US" sz="3200" b="1" dirty="0">
                          <a:solidFill>
                            <a:srgbClr val="FF0000"/>
                          </a:solidFill>
                          <a:latin typeface="Cambria" panose="02040503050406030204" pitchFamily="18" charset="0"/>
                          <a:ea typeface="+mn-ea"/>
                          <a:sym typeface="Symbol" pitchFamily="18" charset="2"/>
                        </a:rPr>
                        <a:t></a:t>
                      </a:r>
                    </a:p>
                  </a:txBody>
                  <a:tcPr/>
                </a:tc>
                <a:extLst>
                  <a:ext uri="{0D108BD9-81ED-4DB2-BD59-A6C34878D82A}">
                    <a16:rowId xmlns:a16="http://schemas.microsoft.com/office/drawing/2014/main" val="583133731"/>
                  </a:ext>
                </a:extLst>
              </a:tr>
              <a:tr h="370840">
                <a:tc>
                  <a:txBody>
                    <a:bodyPr/>
                    <a:lstStyle/>
                    <a:p>
                      <a:r>
                        <a:rPr lang="en-US" sz="3200" dirty="0">
                          <a:solidFill>
                            <a:srgbClr val="0000CC"/>
                          </a:solidFill>
                        </a:rPr>
                        <a:t>Biconditional</a:t>
                      </a:r>
                    </a:p>
                  </a:txBody>
                  <a:tcPr/>
                </a:tc>
                <a:tc>
                  <a:txBody>
                    <a:bodyPr/>
                    <a:lstStyle/>
                    <a:p>
                      <a:pPr algn="ctr"/>
                      <a:r>
                        <a:rPr lang="en-US" sz="3200" dirty="0"/>
                        <a:t>IFF</a:t>
                      </a:r>
                    </a:p>
                  </a:txBody>
                  <a:tcPr/>
                </a:tc>
                <a:tc>
                  <a:txBody>
                    <a:bodyPr/>
                    <a:lstStyle/>
                    <a:p>
                      <a:pPr algn="ctr"/>
                      <a:r>
                        <a:rPr lang="en-US" sz="3200" dirty="0"/>
                        <a:t>Binary</a:t>
                      </a:r>
                    </a:p>
                  </a:txBody>
                  <a:tcPr/>
                </a:tc>
                <a:tc>
                  <a:txBody>
                    <a:bodyPr/>
                    <a:lstStyle/>
                    <a:p>
                      <a:pPr algn="ctr"/>
                      <a:r>
                        <a:rPr lang="en-US" altLang="zh-TW" sz="3200" b="1" dirty="0">
                          <a:solidFill>
                            <a:srgbClr val="FF0000"/>
                          </a:solidFill>
                          <a:latin typeface="Cambria" panose="02040503050406030204" pitchFamily="18" charset="0"/>
                          <a:ea typeface="+mn-ea"/>
                          <a:cs typeface="Times New Roman" pitchFamily="18" charset="0"/>
                          <a:sym typeface="Symbol" panose="05050102010706020507" pitchFamily="18" charset="2"/>
                        </a:rPr>
                        <a:t></a:t>
                      </a:r>
                      <a:endParaRPr lang="en-US" sz="3200" b="1" dirty="0">
                        <a:solidFill>
                          <a:srgbClr val="FF0000"/>
                        </a:solidFill>
                      </a:endParaRPr>
                    </a:p>
                  </a:txBody>
                  <a:tcPr/>
                </a:tc>
                <a:extLst>
                  <a:ext uri="{0D108BD9-81ED-4DB2-BD59-A6C34878D82A}">
                    <a16:rowId xmlns:a16="http://schemas.microsoft.com/office/drawing/2014/main" val="4233029353"/>
                  </a:ext>
                </a:extLst>
              </a:tr>
            </a:tbl>
          </a:graphicData>
        </a:graphic>
      </p:graphicFrame>
      <p:sp>
        <p:nvSpPr>
          <p:cNvPr id="3" name="Date Placeholder 2"/>
          <p:cNvSpPr>
            <a:spLocks noGrp="1"/>
          </p:cNvSpPr>
          <p:nvPr>
            <p:ph type="dt" sz="half" idx="10"/>
          </p:nvPr>
        </p:nvSpPr>
        <p:spPr/>
        <p:txBody>
          <a:bodyPr/>
          <a:lstStyle/>
          <a:p>
            <a:fld id="{9D2B679E-50E3-448D-996A-E8564FFA84D0}" type="datetime1">
              <a:rPr lang="en-US" smtClean="0"/>
              <a:t>9/29/2022</a:t>
            </a:fld>
            <a:endParaRPr lang="en-US"/>
          </a:p>
        </p:txBody>
      </p:sp>
      <p:sp>
        <p:nvSpPr>
          <p:cNvPr id="4" name="Footer Placeholder 3"/>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14</a:t>
            </a:fld>
            <a:endParaRPr lang="en-US"/>
          </a:p>
        </p:txBody>
      </p:sp>
    </p:spTree>
    <p:extLst>
      <p:ext uri="{BB962C8B-B14F-4D97-AF65-F5344CB8AC3E}">
        <p14:creationId xmlns:p14="http://schemas.microsoft.com/office/powerpoint/2010/main" val="3170420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The Negation Operator</a:t>
            </a:r>
            <a:r>
              <a:rPr lang="en-US" dirty="0"/>
              <a:t> (Not) </a:t>
            </a:r>
            <a:r>
              <a:rPr lang="en-US" altLang="zh-TW" dirty="0">
                <a:ea typeface="新細明體" pitchFamily="18" charset="-120"/>
              </a:rPr>
              <a:t>“¬”</a:t>
            </a:r>
            <a:endParaRPr lang="en-US" dirty="0"/>
          </a:p>
        </p:txBody>
      </p:sp>
      <p:sp>
        <p:nvSpPr>
          <p:cNvPr id="3" name="Content Placeholder 2"/>
          <p:cNvSpPr>
            <a:spLocks noGrp="1"/>
          </p:cNvSpPr>
          <p:nvPr>
            <p:ph idx="1"/>
          </p:nvPr>
        </p:nvSpPr>
        <p:spPr/>
        <p:txBody>
          <a:bodyPr>
            <a:normAutofit/>
          </a:bodyPr>
          <a:lstStyle/>
          <a:p>
            <a:r>
              <a:rPr lang="en-US" altLang="zh-TW" dirty="0"/>
              <a:t>The </a:t>
            </a:r>
            <a:r>
              <a:rPr lang="en-US" altLang="zh-TW" dirty="0">
                <a:solidFill>
                  <a:srgbClr val="C00000"/>
                </a:solidFill>
              </a:rPr>
              <a:t>unary</a:t>
            </a:r>
            <a:r>
              <a:rPr lang="en-US" altLang="zh-TW" dirty="0"/>
              <a:t> </a:t>
            </a:r>
            <a:r>
              <a:rPr lang="en-US" altLang="zh-TW" dirty="0">
                <a:solidFill>
                  <a:srgbClr val="C00000"/>
                </a:solidFill>
              </a:rPr>
              <a:t>negation</a:t>
            </a:r>
            <a:r>
              <a:rPr lang="en-US" altLang="zh-TW" dirty="0"/>
              <a:t> </a:t>
            </a:r>
            <a:r>
              <a:rPr lang="en-US" altLang="zh-TW" dirty="0">
                <a:solidFill>
                  <a:srgbClr val="C00000"/>
                </a:solidFill>
              </a:rPr>
              <a:t>operator</a:t>
            </a:r>
            <a:r>
              <a:rPr lang="en-US" altLang="zh-TW" dirty="0"/>
              <a:t> </a:t>
            </a:r>
            <a:r>
              <a:rPr lang="en-US" altLang="zh-TW" dirty="0">
                <a:solidFill>
                  <a:srgbClr val="C00000"/>
                </a:solidFill>
              </a:rPr>
              <a:t>“¬” (NOT) </a:t>
            </a:r>
            <a:r>
              <a:rPr lang="en-US" altLang="zh-TW" dirty="0"/>
              <a:t>transforms a proposition into its logical </a:t>
            </a:r>
            <a:r>
              <a:rPr lang="en-US" altLang="zh-TW" b="1" dirty="0"/>
              <a:t>negation</a:t>
            </a:r>
            <a:r>
              <a:rPr lang="en-US" altLang="zh-TW" dirty="0"/>
              <a:t>.</a:t>
            </a:r>
          </a:p>
          <a:p>
            <a:r>
              <a:rPr lang="en-US" b="1" dirty="0"/>
              <a:t>Examples</a:t>
            </a:r>
            <a:r>
              <a:rPr lang="en-US" dirty="0"/>
              <a:t>:</a:t>
            </a:r>
          </a:p>
          <a:p>
            <a:pPr lvl="1"/>
            <a:r>
              <a:rPr lang="en-US" sz="2800" dirty="0"/>
              <a:t>if </a:t>
            </a:r>
            <a:r>
              <a:rPr lang="en-US" sz="2800" i="1" dirty="0"/>
              <a:t>p</a:t>
            </a:r>
            <a:r>
              <a:rPr lang="en-US" sz="2800" dirty="0"/>
              <a:t> = “it is raining today.”, then ¬</a:t>
            </a:r>
            <a:r>
              <a:rPr lang="en-US" sz="2800" i="1" dirty="0"/>
              <a:t>p</a:t>
            </a:r>
            <a:r>
              <a:rPr lang="en-US" sz="2800" dirty="0"/>
              <a:t> = “it is not raining today.”</a:t>
            </a:r>
          </a:p>
        </p:txBody>
      </p:sp>
      <p:sp>
        <p:nvSpPr>
          <p:cNvPr id="4" name="Date Placeholder 3"/>
          <p:cNvSpPr>
            <a:spLocks noGrp="1"/>
          </p:cNvSpPr>
          <p:nvPr>
            <p:ph type="dt" sz="half" idx="10"/>
          </p:nvPr>
        </p:nvSpPr>
        <p:spPr/>
        <p:txBody>
          <a:bodyPr/>
          <a:lstStyle/>
          <a:p>
            <a:fld id="{12D77788-3F7F-4E4A-97D7-5B124D962958}"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15</a:t>
            </a:fld>
            <a:endParaRPr lang="en-US"/>
          </a:p>
        </p:txBody>
      </p:sp>
    </p:spTree>
    <p:extLst>
      <p:ext uri="{BB962C8B-B14F-4D97-AF65-F5344CB8AC3E}">
        <p14:creationId xmlns:p14="http://schemas.microsoft.com/office/powerpoint/2010/main" val="305703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The Negation Operator</a:t>
            </a:r>
            <a:r>
              <a:rPr lang="en-US" dirty="0"/>
              <a:t> (Not) </a:t>
            </a:r>
            <a:r>
              <a:rPr lang="en-US" altLang="zh-TW" dirty="0">
                <a:ea typeface="新細明體" pitchFamily="18" charset="-120"/>
              </a:rPr>
              <a:t>“¬” – Truth Table</a:t>
            </a:r>
            <a:endParaRPr lang="en-US" dirty="0"/>
          </a:p>
        </p:txBody>
      </p:sp>
      <p:sp>
        <p:nvSpPr>
          <p:cNvPr id="3" name="Content Placeholder 2"/>
          <p:cNvSpPr>
            <a:spLocks noGrp="1"/>
          </p:cNvSpPr>
          <p:nvPr>
            <p:ph idx="1"/>
          </p:nvPr>
        </p:nvSpPr>
        <p:spPr/>
        <p:txBody>
          <a:bodyPr/>
          <a:lstStyle/>
          <a:p>
            <a:r>
              <a:rPr lang="en-US" dirty="0"/>
              <a:t>A </a:t>
            </a:r>
            <a:r>
              <a:rPr lang="en-US" dirty="0">
                <a:solidFill>
                  <a:schemeClr val="accent6">
                    <a:lumMod val="75000"/>
                  </a:schemeClr>
                </a:solidFill>
              </a:rPr>
              <a:t>truth table </a:t>
            </a:r>
            <a:r>
              <a:rPr lang="en-US" dirty="0"/>
              <a:t>displays the relationships between truth values (T or F) of different propositions.</a:t>
            </a:r>
          </a:p>
          <a:p>
            <a:r>
              <a:rPr lang="en-US" dirty="0"/>
              <a:t>The truth table of the negation operator</a:t>
            </a:r>
          </a:p>
        </p:txBody>
      </p:sp>
      <p:sp>
        <p:nvSpPr>
          <p:cNvPr id="5" name="Text Box 6"/>
          <p:cNvSpPr txBox="1">
            <a:spLocks noChangeArrowheads="1"/>
          </p:cNvSpPr>
          <p:nvPr/>
        </p:nvSpPr>
        <p:spPr bwMode="auto">
          <a:xfrm>
            <a:off x="4221019" y="5435801"/>
            <a:ext cx="22929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TW" sz="2000" dirty="0">
                <a:latin typeface="Cambria" panose="02040503050406030204" pitchFamily="18" charset="0"/>
                <a:ea typeface="新細明體" pitchFamily="18" charset="-120"/>
              </a:rPr>
              <a:t>T  = </a:t>
            </a:r>
            <a:r>
              <a:rPr lang="en-US" altLang="zh-TW" sz="2000" dirty="0">
                <a:latin typeface="Cambria" panose="02040503050406030204" pitchFamily="18" charset="0"/>
                <a:ea typeface="新細明體" pitchFamily="18" charset="-120"/>
                <a:cs typeface="Times New Roman" pitchFamily="18" charset="0"/>
              </a:rPr>
              <a:t>True;  F = False</a:t>
            </a:r>
          </a:p>
        </p:txBody>
      </p:sp>
      <p:sp>
        <p:nvSpPr>
          <p:cNvPr id="10" name="Date Placeholder 9"/>
          <p:cNvSpPr>
            <a:spLocks noGrp="1"/>
          </p:cNvSpPr>
          <p:nvPr>
            <p:ph type="dt" sz="half" idx="10"/>
          </p:nvPr>
        </p:nvSpPr>
        <p:spPr/>
        <p:txBody>
          <a:bodyPr/>
          <a:lstStyle/>
          <a:p>
            <a:fld id="{1C0B27CF-3777-4553-A5EA-3EB5A92FC5E0}" type="datetime1">
              <a:rPr lang="en-US" smtClean="0"/>
              <a:t>9/29/2022</a:t>
            </a:fld>
            <a:endParaRPr lang="en-US"/>
          </a:p>
        </p:txBody>
      </p:sp>
      <p:sp>
        <p:nvSpPr>
          <p:cNvPr id="11" name="Footer Placeholder 10"/>
          <p:cNvSpPr>
            <a:spLocks noGrp="1"/>
          </p:cNvSpPr>
          <p:nvPr>
            <p:ph type="ftr" sz="quarter" idx="11"/>
          </p:nvPr>
        </p:nvSpPr>
        <p:spPr/>
        <p:txBody>
          <a:bodyPr/>
          <a:lstStyle/>
          <a:p>
            <a:r>
              <a:rPr lang="en-US"/>
              <a:t>Introduction to AI</a:t>
            </a:r>
          </a:p>
        </p:txBody>
      </p:sp>
      <p:sp>
        <p:nvSpPr>
          <p:cNvPr id="12" name="Slide Number Placeholder 11"/>
          <p:cNvSpPr>
            <a:spLocks noGrp="1"/>
          </p:cNvSpPr>
          <p:nvPr>
            <p:ph type="sldNum" sz="quarter" idx="12"/>
          </p:nvPr>
        </p:nvSpPr>
        <p:spPr/>
        <p:txBody>
          <a:bodyPr/>
          <a:lstStyle/>
          <a:p>
            <a:fld id="{75B1DB82-35C9-4076-A5B8-0781B30E89ED}" type="slidenum">
              <a:rPr lang="en-US" smtClean="0"/>
              <a:t>16</a:t>
            </a:fld>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4030405606"/>
              </p:ext>
            </p:extLst>
          </p:nvPr>
        </p:nvGraphicFramePr>
        <p:xfrm>
          <a:off x="2457749" y="3316546"/>
          <a:ext cx="5633305" cy="1705034"/>
        </p:xfrm>
        <a:graphic>
          <a:graphicData uri="http://schemas.openxmlformats.org/drawingml/2006/table">
            <a:tbl>
              <a:tblPr firstRow="1" bandRow="1">
                <a:tableStyleId>{5C22544A-7EE6-4342-B048-85BDC9FD1C3A}</a:tableStyleId>
              </a:tblPr>
              <a:tblGrid>
                <a:gridCol w="2879458">
                  <a:extLst>
                    <a:ext uri="{9D8B030D-6E8A-4147-A177-3AD203B41FA5}">
                      <a16:colId xmlns:a16="http://schemas.microsoft.com/office/drawing/2014/main" val="2460625219"/>
                    </a:ext>
                  </a:extLst>
                </a:gridCol>
                <a:gridCol w="2753847">
                  <a:extLst>
                    <a:ext uri="{9D8B030D-6E8A-4147-A177-3AD203B41FA5}">
                      <a16:colId xmlns:a16="http://schemas.microsoft.com/office/drawing/2014/main" val="1239423881"/>
                    </a:ext>
                  </a:extLst>
                </a:gridCol>
              </a:tblGrid>
              <a:tr h="424874">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TW" sz="1800" dirty="0">
                          <a:latin typeface="Cambria" panose="02040503050406030204" pitchFamily="18" charset="0"/>
                          <a:ea typeface="新細明體" pitchFamily="18" charset="-120"/>
                        </a:rPr>
                        <a:t>Operand:    P</a:t>
                      </a:r>
                    </a:p>
                  </a:txBody>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TW" sz="1800" dirty="0">
                          <a:latin typeface="Cambria" panose="02040503050406030204" pitchFamily="18" charset="0"/>
                          <a:ea typeface="新細明體" pitchFamily="18" charset="-120"/>
                        </a:rPr>
                        <a:t>Result:  </a:t>
                      </a:r>
                      <a:r>
                        <a:rPr lang="en-US" altLang="zh-TW" dirty="0">
                          <a:ea typeface="新細明體" pitchFamily="18" charset="-120"/>
                        </a:rPr>
                        <a:t>¬ </a:t>
                      </a:r>
                      <a:r>
                        <a:rPr lang="en-US" altLang="zh-TW" sz="1800" b="1" i="1" kern="1200" dirty="0">
                          <a:solidFill>
                            <a:schemeClr val="lt1"/>
                          </a:solidFill>
                          <a:latin typeface="+mn-lt"/>
                          <a:ea typeface="Cambria" panose="02040503050406030204" pitchFamily="18" charset="0"/>
                          <a:cs typeface="+mn-cs"/>
                        </a:rPr>
                        <a:t>P</a:t>
                      </a:r>
                      <a:endParaRPr lang="en-US" altLang="en-US" sz="1800" b="1" i="1" kern="1200" dirty="0">
                        <a:solidFill>
                          <a:schemeClr val="lt1"/>
                        </a:solidFill>
                        <a:latin typeface="+mn-lt"/>
                        <a:ea typeface="Cambria" panose="02040503050406030204" pitchFamily="18" charset="0"/>
                        <a:cs typeface="+mn-cs"/>
                      </a:endParaRPr>
                    </a:p>
                  </a:txBody>
                  <a:tcPr/>
                </a:tc>
                <a:extLst>
                  <a:ext uri="{0D108BD9-81ED-4DB2-BD59-A6C34878D82A}">
                    <a16:rowId xmlns:a16="http://schemas.microsoft.com/office/drawing/2014/main" val="331865760"/>
                  </a:ext>
                </a:extLst>
              </a:tr>
              <a:tr h="370840">
                <a:tc>
                  <a:txBody>
                    <a:bodyPr/>
                    <a:lstStyle/>
                    <a:p>
                      <a:pPr algn="ctr"/>
                      <a:r>
                        <a:rPr lang="en-US" sz="3600" b="1" dirty="0"/>
                        <a:t>T</a:t>
                      </a:r>
                    </a:p>
                  </a:txBody>
                  <a:tcPr/>
                </a:tc>
                <a:tc>
                  <a:txBody>
                    <a:bodyPr/>
                    <a:lstStyle/>
                    <a:p>
                      <a:pPr algn="ctr"/>
                      <a:r>
                        <a:rPr lang="en-US" sz="3600" b="1" dirty="0"/>
                        <a:t>F</a:t>
                      </a:r>
                    </a:p>
                  </a:txBody>
                  <a:tcPr/>
                </a:tc>
                <a:extLst>
                  <a:ext uri="{0D108BD9-81ED-4DB2-BD59-A6C34878D82A}">
                    <a16:rowId xmlns:a16="http://schemas.microsoft.com/office/drawing/2014/main" val="1179916784"/>
                  </a:ext>
                </a:extLst>
              </a:tr>
              <a:tr h="370840">
                <a:tc>
                  <a:txBody>
                    <a:bodyPr/>
                    <a:lstStyle/>
                    <a:p>
                      <a:pPr algn="ctr"/>
                      <a:r>
                        <a:rPr lang="en-US" sz="3600" b="1" dirty="0"/>
                        <a:t>F</a:t>
                      </a:r>
                    </a:p>
                  </a:txBody>
                  <a:tcPr/>
                </a:tc>
                <a:tc>
                  <a:txBody>
                    <a:bodyPr/>
                    <a:lstStyle/>
                    <a:p>
                      <a:pPr algn="ctr"/>
                      <a:r>
                        <a:rPr lang="en-US" sz="3600" b="1" dirty="0"/>
                        <a:t>T</a:t>
                      </a:r>
                    </a:p>
                  </a:txBody>
                  <a:tcPr/>
                </a:tc>
                <a:extLst>
                  <a:ext uri="{0D108BD9-81ED-4DB2-BD59-A6C34878D82A}">
                    <a16:rowId xmlns:a16="http://schemas.microsoft.com/office/drawing/2014/main" val="89602987"/>
                  </a:ext>
                </a:extLst>
              </a:tr>
            </a:tbl>
          </a:graphicData>
        </a:graphic>
      </p:graphicFrame>
    </p:spTree>
    <p:extLst>
      <p:ext uri="{BB962C8B-B14F-4D97-AF65-F5344CB8AC3E}">
        <p14:creationId xmlns:p14="http://schemas.microsoft.com/office/powerpoint/2010/main" val="1287567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The Conjunction Operator (AND) “</a:t>
            </a:r>
            <a:r>
              <a:rPr lang="en-US" altLang="zh-TW" dirty="0">
                <a:sym typeface="Symbol" panose="05050102010706020507" pitchFamily="18" charset="2"/>
              </a:rPr>
              <a:t>”</a:t>
            </a:r>
            <a:endParaRPr lang="en-US" dirty="0"/>
          </a:p>
        </p:txBody>
      </p:sp>
      <p:sp>
        <p:nvSpPr>
          <p:cNvPr id="3" name="Content Placeholder 2"/>
          <p:cNvSpPr>
            <a:spLocks noGrp="1"/>
          </p:cNvSpPr>
          <p:nvPr>
            <p:ph idx="1"/>
          </p:nvPr>
        </p:nvSpPr>
        <p:spPr/>
        <p:txBody>
          <a:bodyPr/>
          <a:lstStyle/>
          <a:p>
            <a:r>
              <a:rPr lang="en-US" altLang="zh-TW" dirty="0"/>
              <a:t>The </a:t>
            </a:r>
            <a:r>
              <a:rPr lang="en-US" altLang="zh-TW" dirty="0">
                <a:solidFill>
                  <a:srgbClr val="C00000"/>
                </a:solidFill>
              </a:rPr>
              <a:t>binary conjunction operator</a:t>
            </a:r>
            <a:r>
              <a:rPr lang="en-US" altLang="zh-TW" dirty="0">
                <a:solidFill>
                  <a:srgbClr val="FF0000"/>
                </a:solidFill>
              </a:rPr>
              <a:t> </a:t>
            </a:r>
            <a:r>
              <a:rPr lang="en-US" altLang="zh-TW" dirty="0">
                <a:solidFill>
                  <a:srgbClr val="C00000"/>
                </a:solidFill>
              </a:rPr>
              <a:t>“</a:t>
            </a:r>
            <a:r>
              <a:rPr lang="en-US" altLang="zh-TW" dirty="0">
                <a:solidFill>
                  <a:srgbClr val="C00000"/>
                </a:solidFill>
                <a:sym typeface="Symbol" pitchFamily="18" charset="2"/>
              </a:rPr>
              <a:t>” (AND) </a:t>
            </a:r>
            <a:r>
              <a:rPr lang="en-US" altLang="zh-TW" dirty="0">
                <a:sym typeface="Symbol" pitchFamily="18" charset="2"/>
              </a:rPr>
              <a:t>combines two propositions to form their logical </a:t>
            </a:r>
            <a:r>
              <a:rPr lang="en-US" altLang="zh-TW" b="1" dirty="0">
                <a:sym typeface="Symbol" pitchFamily="18" charset="2"/>
              </a:rPr>
              <a:t>conjunction</a:t>
            </a:r>
            <a:r>
              <a:rPr lang="en-US" altLang="zh-TW" dirty="0">
                <a:sym typeface="Symbol" pitchFamily="18" charset="2"/>
              </a:rPr>
              <a:t>.</a:t>
            </a:r>
          </a:p>
          <a:p>
            <a:r>
              <a:rPr lang="en-US" dirty="0"/>
              <a:t>Example:</a:t>
            </a:r>
          </a:p>
          <a:p>
            <a:pPr lvl="1"/>
            <a:r>
              <a:rPr lang="en-US" sz="2800" dirty="0"/>
              <a:t>If </a:t>
            </a:r>
            <a:r>
              <a:rPr lang="en-US" sz="2800" i="1" dirty="0"/>
              <a:t>p</a:t>
            </a:r>
            <a:r>
              <a:rPr lang="en-US" sz="2800" dirty="0"/>
              <a:t> = “I will have salad for lunch.” and </a:t>
            </a:r>
          </a:p>
          <a:p>
            <a:pPr marL="304793" lvl="1" indent="0">
              <a:buNone/>
            </a:pPr>
            <a:r>
              <a:rPr lang="en-US" sz="2800" i="1" dirty="0"/>
              <a:t>	q</a:t>
            </a:r>
            <a:r>
              <a:rPr lang="en-US" sz="2800" dirty="0"/>
              <a:t> = “I will have steak for dinner.”, then </a:t>
            </a:r>
          </a:p>
          <a:p>
            <a:pPr marL="304793" lvl="1" indent="0">
              <a:buNone/>
            </a:pPr>
            <a:r>
              <a:rPr lang="en-US" sz="2800" i="1" dirty="0"/>
              <a:t>	p </a:t>
            </a:r>
            <a:r>
              <a:rPr lang="en-US" altLang="zh-TW" sz="2800" dirty="0">
                <a:sym typeface="Symbol" pitchFamily="18" charset="2"/>
              </a:rPr>
              <a:t> </a:t>
            </a:r>
            <a:r>
              <a:rPr lang="en-US" sz="2800" i="1" dirty="0"/>
              <a:t>q</a:t>
            </a:r>
            <a:r>
              <a:rPr lang="en-US" sz="2800" dirty="0"/>
              <a:t> = “I will have salad for lunch, </a:t>
            </a:r>
            <a:r>
              <a:rPr lang="en-US" sz="2800" b="1" dirty="0"/>
              <a:t>and</a:t>
            </a:r>
            <a:r>
              <a:rPr lang="en-US" sz="2800" dirty="0"/>
              <a:t> I will have steak for dinner.”</a:t>
            </a:r>
          </a:p>
        </p:txBody>
      </p:sp>
      <p:sp>
        <p:nvSpPr>
          <p:cNvPr id="4" name="Date Placeholder 3"/>
          <p:cNvSpPr>
            <a:spLocks noGrp="1"/>
          </p:cNvSpPr>
          <p:nvPr>
            <p:ph type="dt" sz="half" idx="10"/>
          </p:nvPr>
        </p:nvSpPr>
        <p:spPr/>
        <p:txBody>
          <a:bodyPr/>
          <a:lstStyle/>
          <a:p>
            <a:fld id="{EFC6106A-C699-4D1E-9769-D24AD3E85FB5}"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17</a:t>
            </a:fld>
            <a:endParaRPr lang="en-US"/>
          </a:p>
        </p:txBody>
      </p:sp>
    </p:spTree>
    <p:extLst>
      <p:ext uri="{BB962C8B-B14F-4D97-AF65-F5344CB8AC3E}">
        <p14:creationId xmlns:p14="http://schemas.microsoft.com/office/powerpoint/2010/main" val="3274128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The Conjunction Operator (AND) “</a:t>
            </a:r>
            <a:r>
              <a:rPr lang="en-US" altLang="zh-TW" dirty="0">
                <a:sym typeface="Symbol" panose="05050102010706020507" pitchFamily="18" charset="2"/>
              </a:rPr>
              <a:t>” – Truth Table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228153"/>
                <a:ext cx="6742545" cy="5021979"/>
              </a:xfrm>
            </p:spPr>
            <p:txBody>
              <a:bodyPr>
                <a:noAutofit/>
              </a:bodyPr>
              <a:lstStyle/>
              <a:p>
                <a:pPr>
                  <a:lnSpc>
                    <a:spcPct val="100000"/>
                  </a:lnSpc>
                  <a:spcBef>
                    <a:spcPts val="0"/>
                  </a:spcBef>
                  <a:spcAft>
                    <a:spcPts val="0"/>
                  </a:spcAft>
                </a:pPr>
                <a:r>
                  <a:rPr lang="en-US" dirty="0"/>
                  <a:t>The conjunction of </a:t>
                </a:r>
                <a:r>
                  <a:rPr lang="en-US" b="1" i="1" dirty="0"/>
                  <a:t>n</a:t>
                </a:r>
                <a:r>
                  <a:rPr lang="en-US" b="1" dirty="0"/>
                  <a:t> </a:t>
                </a:r>
                <a:r>
                  <a:rPr lang="en-US" dirty="0"/>
                  <a:t>propositions:</a:t>
                </a:r>
              </a:p>
              <a:p>
                <a:pPr marL="304793" lvl="1" indent="0" algn="ctr">
                  <a:lnSpc>
                    <a:spcPct val="100000"/>
                  </a:lnSpc>
                  <a:spcBef>
                    <a:spcPts val="0"/>
                  </a:spcBef>
                  <a:spcAft>
                    <a:spcPts val="0"/>
                  </a:spcAft>
                  <a:buNone/>
                </a:pPr>
                <a:r>
                  <a:rPr lang="en-US" i="1" dirty="0"/>
                  <a:t>p</a:t>
                </a:r>
                <a:r>
                  <a:rPr lang="en-US" i="1" baseline="-25000" dirty="0"/>
                  <a:t>1</a:t>
                </a:r>
                <a:r>
                  <a:rPr lang="en-US" i="1" dirty="0"/>
                  <a:t>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i="1" dirty="0"/>
                  <a:t> p</a:t>
                </a:r>
                <a:r>
                  <a:rPr lang="en-US" i="1" baseline="-25000" dirty="0"/>
                  <a:t>2</a:t>
                </a:r>
                <a:r>
                  <a:rPr lang="en-US" i="1" dirty="0"/>
                  <a:t>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i="1" dirty="0"/>
                  <a:t> … </a:t>
                </a:r>
                <a14:m>
                  <m:oMath xmlns:m="http://schemas.openxmlformats.org/officeDocument/2006/math">
                    <m:r>
                      <a:rPr lang="en-US" i="1" dirty="0">
                        <a:latin typeface="Cambria Math" panose="02040503050406030204" pitchFamily="18" charset="0"/>
                        <a:ea typeface="Cambria Math" panose="02040503050406030204" pitchFamily="18" charset="0"/>
                      </a:rPr>
                      <m:t>⋀</m:t>
                    </m:r>
                  </m:oMath>
                </a14:m>
                <a:r>
                  <a:rPr lang="en-US" i="1" dirty="0"/>
                  <a:t> </a:t>
                </a:r>
                <a:r>
                  <a:rPr lang="en-US" i="1" dirty="0" err="1"/>
                  <a:t>p</a:t>
                </a:r>
                <a:r>
                  <a:rPr lang="en-US" i="1" baseline="-25000" dirty="0" err="1"/>
                  <a:t>n</a:t>
                </a:r>
                <a:r>
                  <a:rPr lang="en-US" dirty="0"/>
                  <a:t> </a:t>
                </a:r>
              </a:p>
              <a:p>
                <a:pPr marL="304793" lvl="1" indent="0">
                  <a:lnSpc>
                    <a:spcPct val="100000"/>
                  </a:lnSpc>
                  <a:spcBef>
                    <a:spcPts val="0"/>
                  </a:spcBef>
                  <a:spcAft>
                    <a:spcPts val="0"/>
                  </a:spcAft>
                  <a:buNone/>
                </a:pPr>
                <a:endParaRPr lang="en-US" dirty="0"/>
              </a:p>
              <a:p>
                <a:pPr marL="304793" lvl="1" indent="0">
                  <a:lnSpc>
                    <a:spcPct val="100000"/>
                  </a:lnSpc>
                  <a:spcBef>
                    <a:spcPts val="0"/>
                  </a:spcBef>
                  <a:spcAft>
                    <a:spcPts val="0"/>
                  </a:spcAft>
                  <a:buNone/>
                </a:pPr>
                <a:r>
                  <a:rPr lang="en-US" dirty="0"/>
                  <a:t>will have 2</a:t>
                </a:r>
                <a:r>
                  <a:rPr lang="en-US" baseline="30000" dirty="0"/>
                  <a:t>n</a:t>
                </a:r>
                <a:r>
                  <a:rPr lang="en-US" dirty="0"/>
                  <a:t> rows in its truth table</a:t>
                </a:r>
              </a:p>
              <a:p>
                <a:pPr marL="304793" lvl="1" indent="0">
                  <a:lnSpc>
                    <a:spcPct val="100000"/>
                  </a:lnSpc>
                  <a:spcBef>
                    <a:spcPts val="0"/>
                  </a:spcBef>
                  <a:spcAft>
                    <a:spcPts val="0"/>
                  </a:spcAft>
                  <a:buNone/>
                </a:pPr>
                <a:endParaRPr lang="en-US" dirty="0"/>
              </a:p>
              <a:p>
                <a:pPr>
                  <a:lnSpc>
                    <a:spcPct val="100000"/>
                  </a:lnSpc>
                  <a:spcBef>
                    <a:spcPts val="0"/>
                  </a:spcBef>
                  <a:spcAft>
                    <a:spcPts val="0"/>
                  </a:spcAft>
                </a:pPr>
                <a:r>
                  <a:rPr lang="en-US" altLang="zh-TW" dirty="0">
                    <a:solidFill>
                      <a:srgbClr val="0070C0"/>
                    </a:solidFill>
                  </a:rPr>
                  <a:t>¬ and </a:t>
                </a:r>
                <a:r>
                  <a:rPr lang="en-US" altLang="zh-TW" dirty="0">
                    <a:solidFill>
                      <a:srgbClr val="0070C0"/>
                    </a:solidFill>
                    <a:sym typeface="Symbol" pitchFamily="18" charset="2"/>
                  </a:rPr>
                  <a:t> operators used together are sufficient to express </a:t>
                </a:r>
                <a:r>
                  <a:rPr lang="en-US" altLang="zh-TW" i="1" dirty="0">
                    <a:solidFill>
                      <a:srgbClr val="0070C0"/>
                    </a:solidFill>
                    <a:sym typeface="Symbol" pitchFamily="18" charset="2"/>
                  </a:rPr>
                  <a:t>any</a:t>
                </a:r>
                <a:r>
                  <a:rPr lang="en-US" altLang="zh-TW" dirty="0">
                    <a:solidFill>
                      <a:srgbClr val="0070C0"/>
                    </a:solidFill>
                    <a:sym typeface="Symbol" pitchFamily="18" charset="2"/>
                  </a:rPr>
                  <a:t> Boolean function or truth table.</a:t>
                </a:r>
              </a:p>
              <a:p>
                <a:pPr>
                  <a:lnSpc>
                    <a:spcPct val="100000"/>
                  </a:lnSpc>
                  <a:spcBef>
                    <a:spcPts val="0"/>
                  </a:spcBef>
                  <a:spcAft>
                    <a:spcPts val="0"/>
                  </a:spcAft>
                </a:pPr>
                <a:r>
                  <a:rPr lang="en-US" altLang="zh-TW" dirty="0">
                    <a:solidFill>
                      <a:srgbClr val="0070C0"/>
                    </a:solidFill>
                    <a:sym typeface="Symbol" pitchFamily="18" charset="2"/>
                  </a:rPr>
                  <a:t>These are known as universal operators.</a:t>
                </a:r>
                <a:endParaRPr lang="en-US" altLang="zh-TW" dirty="0">
                  <a:solidFill>
                    <a:srgbClr val="0070C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228153"/>
                <a:ext cx="6742545" cy="5021979"/>
              </a:xfrm>
              <a:blipFill>
                <a:blip r:embed="rId3"/>
                <a:stretch>
                  <a:fillRect l="-2532" t="-2063" b="-2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047087738"/>
                  </p:ext>
                </p:extLst>
              </p:nvPr>
            </p:nvGraphicFramePr>
            <p:xfrm>
              <a:off x="7931392" y="2484238"/>
              <a:ext cx="3212813" cy="2509808"/>
            </p:xfrm>
            <a:graphic>
              <a:graphicData uri="http://schemas.openxmlformats.org/drawingml/2006/table">
                <a:tbl>
                  <a:tblPr firstRow="1" bandRow="1">
                    <a:tableStyleId>{8799B23B-EC83-4686-B30A-512413B5E67A}</a:tableStyleId>
                  </a:tblPr>
                  <a:tblGrid>
                    <a:gridCol w="1070588">
                      <a:extLst>
                        <a:ext uri="{9D8B030D-6E8A-4147-A177-3AD203B41FA5}">
                          <a16:colId xmlns:a16="http://schemas.microsoft.com/office/drawing/2014/main" val="20000"/>
                        </a:ext>
                      </a:extLst>
                    </a:gridCol>
                    <a:gridCol w="1071733">
                      <a:extLst>
                        <a:ext uri="{9D8B030D-6E8A-4147-A177-3AD203B41FA5}">
                          <a16:colId xmlns:a16="http://schemas.microsoft.com/office/drawing/2014/main" val="20001"/>
                        </a:ext>
                      </a:extLst>
                    </a:gridCol>
                    <a:gridCol w="107049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indent="0" algn="ctr">
                            <a:lnSpc>
                              <a:spcPct val="100000"/>
                            </a:lnSpc>
                          </a:pPr>
                          <a:r>
                            <a:rPr lang="en-US" sz="2400" i="1" dirty="0">
                              <a:latin typeface="Cambria" panose="02040503050406030204" pitchFamily="18" charset="0"/>
                              <a:ea typeface="Cambria" panose="02040503050406030204" pitchFamily="18" charset="0"/>
                            </a:rPr>
                            <a:t>p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m:t>
                              </m:r>
                            </m:oMath>
                          </a14:m>
                          <a:r>
                            <a:rPr lang="en-US" sz="2400" i="1" dirty="0">
                              <a:latin typeface="Cambria" panose="02040503050406030204" pitchFamily="18" charset="0"/>
                              <a:ea typeface="Cambria" panose="02040503050406030204" pitchFamily="18" charset="0"/>
                            </a:rPr>
                            <a:t> 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047087738"/>
                  </p:ext>
                </p:extLst>
              </p:nvPr>
            </p:nvGraphicFramePr>
            <p:xfrm>
              <a:off x="7931392" y="2484238"/>
              <a:ext cx="3212813" cy="2509808"/>
            </p:xfrm>
            <a:graphic>
              <a:graphicData uri="http://schemas.openxmlformats.org/drawingml/2006/table">
                <a:tbl>
                  <a:tblPr firstRow="1" bandRow="1">
                    <a:tableStyleId>{8799B23B-EC83-4686-B30A-512413B5E67A}</a:tableStyleId>
                  </a:tblPr>
                  <a:tblGrid>
                    <a:gridCol w="1070588">
                      <a:extLst>
                        <a:ext uri="{9D8B030D-6E8A-4147-A177-3AD203B41FA5}">
                          <a16:colId xmlns:a16="http://schemas.microsoft.com/office/drawing/2014/main" val="20000"/>
                        </a:ext>
                      </a:extLst>
                    </a:gridCol>
                    <a:gridCol w="1071733">
                      <a:extLst>
                        <a:ext uri="{9D8B030D-6E8A-4147-A177-3AD203B41FA5}">
                          <a16:colId xmlns:a16="http://schemas.microsoft.com/office/drawing/2014/main" val="20001"/>
                        </a:ext>
                      </a:extLst>
                    </a:gridCol>
                    <a:gridCol w="107049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endParaRPr lang="en-US"/>
                        </a:p>
                      </a:txBody>
                      <a:tcPr marL="0" marR="0" marT="0" marB="0" anchor="ctr">
                        <a:blipFill>
                          <a:blip r:embed="rId4"/>
                          <a:stretch>
                            <a:fillRect l="-200568" t="-4878" r="-1705" b="-425610"/>
                          </a:stretch>
                        </a:blipFill>
                      </a:tcP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smtClean="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smtClean="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smtClean="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255" algn="ctr">
                            <a:lnSpc>
                              <a:spcPct val="100000"/>
                            </a:lnSpc>
                          </a:pPr>
                          <a:r>
                            <a:rPr lang="en-US" sz="2400" b="1" dirty="0" smtClean="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mc:Fallback>
      </mc:AlternateContent>
      <p:sp>
        <p:nvSpPr>
          <p:cNvPr id="10" name="Date Placeholder 9"/>
          <p:cNvSpPr>
            <a:spLocks noGrp="1"/>
          </p:cNvSpPr>
          <p:nvPr>
            <p:ph type="dt" sz="half" idx="10"/>
          </p:nvPr>
        </p:nvSpPr>
        <p:spPr/>
        <p:txBody>
          <a:bodyPr/>
          <a:lstStyle/>
          <a:p>
            <a:fld id="{B994C84F-33E0-4437-AB99-C144B01AC4F1}" type="datetime1">
              <a:rPr lang="en-US" smtClean="0"/>
              <a:t>9/29/2022</a:t>
            </a:fld>
            <a:endParaRPr lang="en-US"/>
          </a:p>
        </p:txBody>
      </p:sp>
      <p:sp>
        <p:nvSpPr>
          <p:cNvPr id="11" name="Footer Placeholder 10"/>
          <p:cNvSpPr>
            <a:spLocks noGrp="1"/>
          </p:cNvSpPr>
          <p:nvPr>
            <p:ph type="ftr" sz="quarter" idx="11"/>
          </p:nvPr>
        </p:nvSpPr>
        <p:spPr/>
        <p:txBody>
          <a:bodyPr/>
          <a:lstStyle/>
          <a:p>
            <a:r>
              <a:rPr lang="en-US"/>
              <a:t>Introduction to AI</a:t>
            </a:r>
          </a:p>
        </p:txBody>
      </p:sp>
      <p:sp>
        <p:nvSpPr>
          <p:cNvPr id="12" name="Slide Number Placeholder 11"/>
          <p:cNvSpPr>
            <a:spLocks noGrp="1"/>
          </p:cNvSpPr>
          <p:nvPr>
            <p:ph type="sldNum" sz="quarter" idx="12"/>
          </p:nvPr>
        </p:nvSpPr>
        <p:spPr/>
        <p:txBody>
          <a:bodyPr/>
          <a:lstStyle/>
          <a:p>
            <a:fld id="{75B1DB82-35C9-4076-A5B8-0781B30E89ED}" type="slidenum">
              <a:rPr lang="en-US" smtClean="0"/>
              <a:t>18</a:t>
            </a:fld>
            <a:endParaRPr lang="en-US"/>
          </a:p>
        </p:txBody>
      </p:sp>
    </p:spTree>
    <p:extLst>
      <p:ext uri="{BB962C8B-B14F-4D97-AF65-F5344CB8AC3E}">
        <p14:creationId xmlns:p14="http://schemas.microsoft.com/office/powerpoint/2010/main" val="2643779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Conjunction Truth Table Examples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97A33F5-1D68-4D53-A3DC-44F0F05A3B98}"/>
                  </a:ext>
                </a:extLst>
              </p:cNvPr>
              <p:cNvGraphicFramePr>
                <a:graphicFrameLocks noGrp="1"/>
              </p:cNvGraphicFramePr>
              <p:nvPr>
                <p:extLst>
                  <p:ext uri="{D42A27DB-BD31-4B8C-83A1-F6EECF244321}">
                    <p14:modId xmlns:p14="http://schemas.microsoft.com/office/powerpoint/2010/main" val="3510875070"/>
                  </p:ext>
                </p:extLst>
              </p:nvPr>
            </p:nvGraphicFramePr>
            <p:xfrm>
              <a:off x="1264474" y="2332570"/>
              <a:ext cx="1396535" cy="1714500"/>
            </p:xfrm>
            <a:graphic>
              <a:graphicData uri="http://schemas.openxmlformats.org/drawingml/2006/table">
                <a:tbl>
                  <a:tblPr firstRow="1" bandRow="1">
                    <a:tableStyleId>{5C22544A-7EE6-4342-B048-85BDC9FD1C3A}</a:tableStyleId>
                  </a:tblPr>
                  <a:tblGrid>
                    <a:gridCol w="440597">
                      <a:extLst>
                        <a:ext uri="{9D8B030D-6E8A-4147-A177-3AD203B41FA5}">
                          <a16:colId xmlns:a16="http://schemas.microsoft.com/office/drawing/2014/main" val="3065536435"/>
                        </a:ext>
                      </a:extLst>
                    </a:gridCol>
                    <a:gridCol w="477969">
                      <a:extLst>
                        <a:ext uri="{9D8B030D-6E8A-4147-A177-3AD203B41FA5}">
                          <a16:colId xmlns:a16="http://schemas.microsoft.com/office/drawing/2014/main" val="2034239161"/>
                        </a:ext>
                      </a:extLst>
                    </a:gridCol>
                    <a:gridCol w="477969">
                      <a:extLst>
                        <a:ext uri="{9D8B030D-6E8A-4147-A177-3AD203B41FA5}">
                          <a16:colId xmlns:a16="http://schemas.microsoft.com/office/drawing/2014/main" val="1354784550"/>
                        </a:ext>
                      </a:extLst>
                    </a:gridCol>
                  </a:tblGrid>
                  <a:tr h="342900">
                    <a:tc>
                      <a:txBody>
                        <a:bodyPr/>
                        <a:lstStyle/>
                        <a:p>
                          <a:r>
                            <a:rPr lang="en-US" altLang="zh-TW" sz="1800" i="1" dirty="0">
                              <a:latin typeface="Cambria" panose="02040503050406030204" pitchFamily="18" charset="0"/>
                              <a:ea typeface="新細明體" pitchFamily="18" charset="-120"/>
                            </a:rPr>
                            <a:t>p</a:t>
                          </a:r>
                          <a:r>
                            <a:rPr lang="en-US" altLang="zh-TW" sz="1800" baseline="-25000" dirty="0">
                              <a:latin typeface="Cambria" panose="02040503050406030204" pitchFamily="18" charset="0"/>
                              <a:ea typeface="新細明體" pitchFamily="18" charset="-120"/>
                            </a:rPr>
                            <a:t>1</a:t>
                          </a:r>
                          <a:endParaRPr lang="en-US" sz="1800" dirty="0">
                            <a:latin typeface="Cambria" panose="02040503050406030204" pitchFamily="18" charset="0"/>
                          </a:endParaRPr>
                        </a:p>
                      </a:txBody>
                      <a:tcPr marL="68580" marR="68580" marT="34290" marB="34290"/>
                    </a:tc>
                    <a:tc>
                      <a:txBody>
                        <a:bodyPr/>
                        <a:lstStyle/>
                        <a:p>
                          <a:r>
                            <a:rPr lang="en-US" altLang="zh-TW" sz="1800" i="1" dirty="0">
                              <a:latin typeface="Cambria" panose="02040503050406030204" pitchFamily="18" charset="0"/>
                              <a:ea typeface="新細明體" pitchFamily="18" charset="-120"/>
                            </a:rPr>
                            <a:t>p</a:t>
                          </a:r>
                          <a:r>
                            <a:rPr lang="en-US" altLang="zh-TW" sz="1800" i="0" baseline="-25000" dirty="0">
                              <a:latin typeface="Cambria" panose="02040503050406030204" pitchFamily="18" charset="0"/>
                              <a:ea typeface="新細明體" pitchFamily="18" charset="-120"/>
                            </a:rPr>
                            <a:t>2</a:t>
                          </a:r>
                          <a:endParaRPr lang="en-US" sz="1800" dirty="0">
                            <a:latin typeface="Cambria" panose="02040503050406030204" pitchFamily="18" charset="0"/>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Cambria Math" panose="02040503050406030204" pitchFamily="18" charset="0"/>
                                  </a:rPr>
                                  <m:t>⋀</m:t>
                                </m:r>
                              </m:oMath>
                            </m:oMathPara>
                          </a14:m>
                          <a:endParaRPr lang="en-US" sz="1800" dirty="0">
                            <a:latin typeface="Cambria" panose="02040503050406030204" pitchFamily="18" charset="0"/>
                          </a:endParaRPr>
                        </a:p>
                      </a:txBody>
                      <a:tcPr marL="68580" marR="68580" marT="34290" marB="34290"/>
                    </a:tc>
                    <a:extLst>
                      <a:ext uri="{0D108BD9-81ED-4DB2-BD59-A6C34878D82A}">
                        <a16:rowId xmlns:a16="http://schemas.microsoft.com/office/drawing/2014/main" val="564980568"/>
                      </a:ext>
                    </a:extLst>
                  </a:tr>
                  <a:tr h="342900">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extLst>
                      <a:ext uri="{0D108BD9-81ED-4DB2-BD59-A6C34878D82A}">
                        <a16:rowId xmlns:a16="http://schemas.microsoft.com/office/drawing/2014/main" val="2435485816"/>
                      </a:ext>
                    </a:extLst>
                  </a:tr>
                  <a:tr h="342900">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extLst>
                      <a:ext uri="{0D108BD9-81ED-4DB2-BD59-A6C34878D82A}">
                        <a16:rowId xmlns:a16="http://schemas.microsoft.com/office/drawing/2014/main" val="1488749241"/>
                      </a:ext>
                    </a:extLst>
                  </a:tr>
                  <a:tr h="342900">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extLst>
                      <a:ext uri="{0D108BD9-81ED-4DB2-BD59-A6C34878D82A}">
                        <a16:rowId xmlns:a16="http://schemas.microsoft.com/office/drawing/2014/main" val="3019624671"/>
                      </a:ext>
                    </a:extLst>
                  </a:tr>
                  <a:tr h="342900">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T</a:t>
                          </a:r>
                        </a:p>
                      </a:txBody>
                      <a:tcPr marL="68580" marR="68580" marT="34290" marB="34290"/>
                    </a:tc>
                    <a:extLst>
                      <a:ext uri="{0D108BD9-81ED-4DB2-BD59-A6C34878D82A}">
                        <a16:rowId xmlns:a16="http://schemas.microsoft.com/office/drawing/2014/main" val="3720811799"/>
                      </a:ext>
                    </a:extLst>
                  </a:tr>
                </a:tbl>
              </a:graphicData>
            </a:graphic>
          </p:graphicFrame>
        </mc:Choice>
        <mc:Fallback xmlns="">
          <p:graphicFrame>
            <p:nvGraphicFramePr>
              <p:cNvPr id="4" name="Table 3">
                <a:extLst>
                  <a:ext uri="{FF2B5EF4-FFF2-40B4-BE49-F238E27FC236}">
                    <a16:creationId xmlns:a16="http://schemas.microsoft.com/office/drawing/2014/main" id="{697A33F5-1D68-4D53-A3DC-44F0F05A3B98}"/>
                  </a:ext>
                </a:extLst>
              </p:cNvPr>
              <p:cNvGraphicFramePr>
                <a:graphicFrameLocks noGrp="1"/>
              </p:cNvGraphicFramePr>
              <p:nvPr>
                <p:extLst>
                  <p:ext uri="{D42A27DB-BD31-4B8C-83A1-F6EECF244321}">
                    <p14:modId xmlns:p14="http://schemas.microsoft.com/office/powerpoint/2010/main" val="3510875070"/>
                  </p:ext>
                </p:extLst>
              </p:nvPr>
            </p:nvGraphicFramePr>
            <p:xfrm>
              <a:off x="1264474" y="2332570"/>
              <a:ext cx="1396535" cy="1714500"/>
            </p:xfrm>
            <a:graphic>
              <a:graphicData uri="http://schemas.openxmlformats.org/drawingml/2006/table">
                <a:tbl>
                  <a:tblPr firstRow="1" bandRow="1">
                    <a:tableStyleId>{5C22544A-7EE6-4342-B048-85BDC9FD1C3A}</a:tableStyleId>
                  </a:tblPr>
                  <a:tblGrid>
                    <a:gridCol w="440597">
                      <a:extLst>
                        <a:ext uri="{9D8B030D-6E8A-4147-A177-3AD203B41FA5}">
                          <a16:colId xmlns:a16="http://schemas.microsoft.com/office/drawing/2014/main" val="3065536435"/>
                        </a:ext>
                      </a:extLst>
                    </a:gridCol>
                    <a:gridCol w="477969">
                      <a:extLst>
                        <a:ext uri="{9D8B030D-6E8A-4147-A177-3AD203B41FA5}">
                          <a16:colId xmlns:a16="http://schemas.microsoft.com/office/drawing/2014/main" val="2034239161"/>
                        </a:ext>
                      </a:extLst>
                    </a:gridCol>
                    <a:gridCol w="477969">
                      <a:extLst>
                        <a:ext uri="{9D8B030D-6E8A-4147-A177-3AD203B41FA5}">
                          <a16:colId xmlns:a16="http://schemas.microsoft.com/office/drawing/2014/main" val="1354784550"/>
                        </a:ext>
                      </a:extLst>
                    </a:gridCol>
                  </a:tblGrid>
                  <a:tr h="342900">
                    <a:tc>
                      <a:txBody>
                        <a:bodyPr/>
                        <a:lstStyle/>
                        <a:p>
                          <a:r>
                            <a:rPr lang="en-US" altLang="zh-TW" sz="1800" i="1" dirty="0">
                              <a:latin typeface="Cambria" panose="02040503050406030204" pitchFamily="18" charset="0"/>
                              <a:ea typeface="新細明體" pitchFamily="18" charset="-120"/>
                            </a:rPr>
                            <a:t>p</a:t>
                          </a:r>
                          <a:r>
                            <a:rPr lang="en-US" altLang="zh-TW" sz="1800" baseline="-25000" dirty="0">
                              <a:latin typeface="Cambria" panose="02040503050406030204" pitchFamily="18" charset="0"/>
                              <a:ea typeface="新細明體" pitchFamily="18" charset="-120"/>
                            </a:rPr>
                            <a:t>1</a:t>
                          </a:r>
                          <a:endParaRPr lang="en-US" sz="1800" dirty="0">
                            <a:latin typeface="Cambria" panose="02040503050406030204" pitchFamily="18" charset="0"/>
                          </a:endParaRPr>
                        </a:p>
                      </a:txBody>
                      <a:tcPr marL="68580" marR="68580" marT="34290" marB="34290"/>
                    </a:tc>
                    <a:tc>
                      <a:txBody>
                        <a:bodyPr/>
                        <a:lstStyle/>
                        <a:p>
                          <a:r>
                            <a:rPr lang="en-US" altLang="zh-TW" sz="1800" i="1" dirty="0">
                              <a:latin typeface="Cambria" panose="02040503050406030204" pitchFamily="18" charset="0"/>
                              <a:ea typeface="新細明體" pitchFamily="18" charset="-120"/>
                            </a:rPr>
                            <a:t>p</a:t>
                          </a:r>
                          <a:r>
                            <a:rPr lang="en-US" altLang="zh-TW" sz="1800" i="0" baseline="-25000" dirty="0">
                              <a:latin typeface="Cambria" panose="02040503050406030204" pitchFamily="18" charset="0"/>
                              <a:ea typeface="新細明體" pitchFamily="18" charset="-120"/>
                            </a:rPr>
                            <a:t>2</a:t>
                          </a:r>
                          <a:endParaRPr lang="en-US" sz="1800" dirty="0">
                            <a:latin typeface="Cambria" panose="02040503050406030204" pitchFamily="18" charset="0"/>
                          </a:endParaRPr>
                        </a:p>
                      </a:txBody>
                      <a:tcPr marL="68580" marR="68580" marT="34290" marB="34290"/>
                    </a:tc>
                    <a:tc>
                      <a:txBody>
                        <a:bodyPr/>
                        <a:lstStyle/>
                        <a:p>
                          <a:endParaRPr lang="en-US"/>
                        </a:p>
                      </a:txBody>
                      <a:tcPr marL="68580" marR="68580" marT="34290" marB="34290">
                        <a:blipFill>
                          <a:blip r:embed="rId3"/>
                          <a:stretch>
                            <a:fillRect l="-192405" t="-14286" r="-5063" b="-433929"/>
                          </a:stretch>
                        </a:blipFill>
                      </a:tcPr>
                    </a:tc>
                    <a:extLst>
                      <a:ext uri="{0D108BD9-81ED-4DB2-BD59-A6C34878D82A}">
                        <a16:rowId xmlns:a16="http://schemas.microsoft.com/office/drawing/2014/main" val="564980568"/>
                      </a:ext>
                    </a:extLst>
                  </a:tr>
                  <a:tr h="342900">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extLst>
                      <a:ext uri="{0D108BD9-81ED-4DB2-BD59-A6C34878D82A}">
                        <a16:rowId xmlns:a16="http://schemas.microsoft.com/office/drawing/2014/main" val="2435485816"/>
                      </a:ext>
                    </a:extLst>
                  </a:tr>
                  <a:tr h="342900">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extLst>
                      <a:ext uri="{0D108BD9-81ED-4DB2-BD59-A6C34878D82A}">
                        <a16:rowId xmlns:a16="http://schemas.microsoft.com/office/drawing/2014/main" val="1488749241"/>
                      </a:ext>
                    </a:extLst>
                  </a:tr>
                  <a:tr h="342900">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tc>
                      <a:txBody>
                        <a:bodyPr/>
                        <a:lstStyle/>
                        <a:p>
                          <a:r>
                            <a:rPr lang="en-US" sz="1800" dirty="0">
                              <a:latin typeface="Cambria" panose="02040503050406030204" pitchFamily="18" charset="0"/>
                            </a:rPr>
                            <a:t>F</a:t>
                          </a:r>
                        </a:p>
                      </a:txBody>
                      <a:tcPr marL="68580" marR="68580" marT="34290" marB="34290"/>
                    </a:tc>
                    <a:extLst>
                      <a:ext uri="{0D108BD9-81ED-4DB2-BD59-A6C34878D82A}">
                        <a16:rowId xmlns:a16="http://schemas.microsoft.com/office/drawing/2014/main" val="3019624671"/>
                      </a:ext>
                    </a:extLst>
                  </a:tr>
                  <a:tr h="342900">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T</a:t>
                          </a:r>
                        </a:p>
                      </a:txBody>
                      <a:tcPr marL="68580" marR="68580" marT="34290" marB="34290"/>
                    </a:tc>
                    <a:tc>
                      <a:txBody>
                        <a:bodyPr/>
                        <a:lstStyle/>
                        <a:p>
                          <a:r>
                            <a:rPr lang="en-US" sz="1800" dirty="0">
                              <a:latin typeface="Cambria" panose="02040503050406030204" pitchFamily="18" charset="0"/>
                            </a:rPr>
                            <a:t>T</a:t>
                          </a:r>
                        </a:p>
                      </a:txBody>
                      <a:tcPr marL="68580" marR="68580" marT="34290" marB="34290"/>
                    </a:tc>
                    <a:extLst>
                      <a:ext uri="{0D108BD9-81ED-4DB2-BD59-A6C34878D82A}">
                        <a16:rowId xmlns:a16="http://schemas.microsoft.com/office/drawing/2014/main" val="3720811799"/>
                      </a:ext>
                    </a:extLst>
                  </a:tr>
                </a:tbl>
              </a:graphicData>
            </a:graphic>
          </p:graphicFrame>
        </mc:Fallback>
      </mc:AlternateContent>
      <p:sp>
        <p:nvSpPr>
          <p:cNvPr id="5" name="Rectangle 4">
            <a:extLst>
              <a:ext uri="{FF2B5EF4-FFF2-40B4-BE49-F238E27FC236}">
                <a16:creationId xmlns:a16="http://schemas.microsoft.com/office/drawing/2014/main" id="{3D422269-F230-4893-B44E-CD5712A7694A}"/>
              </a:ext>
            </a:extLst>
          </p:cNvPr>
          <p:cNvSpPr/>
          <p:nvPr/>
        </p:nvSpPr>
        <p:spPr>
          <a:xfrm>
            <a:off x="863920" y="4119586"/>
            <a:ext cx="1913152" cy="444417"/>
          </a:xfrm>
          <a:prstGeom prst="rect">
            <a:avLst/>
          </a:prstGeom>
        </p:spPr>
        <p:txBody>
          <a:bodyPr wrap="none">
            <a:spAutoFit/>
          </a:bodyPr>
          <a:lstStyle/>
          <a:p>
            <a:pPr>
              <a:lnSpc>
                <a:spcPct val="120000"/>
              </a:lnSpc>
            </a:pPr>
            <a:r>
              <a:rPr lang="en-US" altLang="zh-TW" sz="2100" dirty="0">
                <a:solidFill>
                  <a:srgbClr val="00A64E"/>
                </a:solidFill>
                <a:latin typeface="Cambria" panose="02040503050406030204" pitchFamily="18" charset="0"/>
                <a:ea typeface="新細明體" pitchFamily="18" charset="-120"/>
              </a:rPr>
              <a:t># rows = 2</a:t>
            </a:r>
            <a:r>
              <a:rPr lang="en-US" altLang="zh-TW" sz="2100" baseline="30000" dirty="0">
                <a:solidFill>
                  <a:srgbClr val="00A64E"/>
                </a:solidFill>
                <a:latin typeface="Cambria" panose="02040503050406030204" pitchFamily="18" charset="0"/>
                <a:ea typeface="新細明體" pitchFamily="18" charset="-120"/>
              </a:rPr>
              <a:t>2</a:t>
            </a:r>
            <a:r>
              <a:rPr lang="en-US" altLang="zh-TW" sz="2100" dirty="0">
                <a:solidFill>
                  <a:srgbClr val="00A64E"/>
                </a:solidFill>
                <a:latin typeface="Cambria" panose="02040503050406030204" pitchFamily="18" charset="0"/>
                <a:ea typeface="新細明體" pitchFamily="18" charset="-120"/>
              </a:rPr>
              <a:t> = 4</a:t>
            </a:r>
            <a:endParaRPr lang="en-US" sz="2100" dirty="0">
              <a:solidFill>
                <a:srgbClr val="00A64E"/>
              </a:solidFill>
              <a:latin typeface="Cambria" panose="02040503050406030204" pitchFamily="18" charset="0"/>
              <a:ea typeface="新細明體" pitchFamily="18" charset="-120"/>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24F1C33-0753-4F3D-9851-AAEDC61F3EF8}"/>
                  </a:ext>
                </a:extLst>
              </p:cNvPr>
              <p:cNvGraphicFramePr>
                <a:graphicFrameLocks noGrp="1"/>
              </p:cNvGraphicFramePr>
              <p:nvPr>
                <p:extLst>
                  <p:ext uri="{D42A27DB-BD31-4B8C-83A1-F6EECF244321}">
                    <p14:modId xmlns:p14="http://schemas.microsoft.com/office/powerpoint/2010/main" val="484695848"/>
                  </p:ext>
                </p:extLst>
              </p:nvPr>
            </p:nvGraphicFramePr>
            <p:xfrm>
              <a:off x="4472247" y="1779089"/>
              <a:ext cx="1527372" cy="2689860"/>
            </p:xfrm>
            <a:graphic>
              <a:graphicData uri="http://schemas.openxmlformats.org/drawingml/2006/table">
                <a:tbl>
                  <a:tblPr firstRow="1" bandRow="1">
                    <a:tableStyleId>{5C22544A-7EE6-4342-B048-85BDC9FD1C3A}</a:tableStyleId>
                  </a:tblPr>
                  <a:tblGrid>
                    <a:gridCol w="393341">
                      <a:extLst>
                        <a:ext uri="{9D8B030D-6E8A-4147-A177-3AD203B41FA5}">
                          <a16:colId xmlns:a16="http://schemas.microsoft.com/office/drawing/2014/main" val="2780090462"/>
                        </a:ext>
                      </a:extLst>
                    </a:gridCol>
                    <a:gridCol w="373225">
                      <a:extLst>
                        <a:ext uri="{9D8B030D-6E8A-4147-A177-3AD203B41FA5}">
                          <a16:colId xmlns:a16="http://schemas.microsoft.com/office/drawing/2014/main" val="3177118586"/>
                        </a:ext>
                      </a:extLst>
                    </a:gridCol>
                    <a:gridCol w="380403">
                      <a:extLst>
                        <a:ext uri="{9D8B030D-6E8A-4147-A177-3AD203B41FA5}">
                          <a16:colId xmlns:a16="http://schemas.microsoft.com/office/drawing/2014/main" val="3064314907"/>
                        </a:ext>
                      </a:extLst>
                    </a:gridCol>
                    <a:gridCol w="380403">
                      <a:extLst>
                        <a:ext uri="{9D8B030D-6E8A-4147-A177-3AD203B41FA5}">
                          <a16:colId xmlns:a16="http://schemas.microsoft.com/office/drawing/2014/main" val="504307059"/>
                        </a:ext>
                      </a:extLst>
                    </a:gridCol>
                  </a:tblGrid>
                  <a:tr h="297180">
                    <a:tc>
                      <a:txBody>
                        <a:bodyPr/>
                        <a:lstStyle/>
                        <a:p>
                          <a:r>
                            <a:rPr lang="en-US" altLang="zh-TW" sz="1500" i="1" dirty="0">
                              <a:latin typeface="Cambria" panose="02040503050406030204" pitchFamily="18" charset="0"/>
                              <a:ea typeface="新細明體" pitchFamily="18" charset="-120"/>
                            </a:rPr>
                            <a:t>p</a:t>
                          </a:r>
                          <a:r>
                            <a:rPr lang="en-US" altLang="zh-TW" sz="1500" baseline="-25000" dirty="0">
                              <a:latin typeface="Cambria" panose="02040503050406030204" pitchFamily="18" charset="0"/>
                              <a:ea typeface="新細明體" pitchFamily="18" charset="-120"/>
                            </a:rPr>
                            <a:t>1</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2</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3</a:t>
                          </a:r>
                          <a:endParaRPr lang="en-US" sz="1500" dirty="0">
                            <a:latin typeface="Cambria" panose="02040503050406030204" pitchFamily="18" charset="0"/>
                          </a:endParaRPr>
                        </a:p>
                      </a:txBody>
                      <a:tcPr marL="68580" marR="68580" marT="34290" marB="3429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ea typeface="Cambria Math" panose="02040503050406030204" pitchFamily="18" charset="0"/>
                                  </a:rPr>
                                  <m:t>⋀</m:t>
                                </m:r>
                              </m:oMath>
                            </m:oMathPara>
                          </a14:m>
                          <a:endParaRPr lang="en-US" sz="1600" dirty="0">
                            <a:latin typeface="Cambria" panose="02040503050406030204" pitchFamily="18" charset="0"/>
                          </a:endParaRPr>
                        </a:p>
                      </a:txBody>
                      <a:tcPr marL="68580" marR="68580" marT="34290" marB="34290"/>
                    </a:tc>
                    <a:extLst>
                      <a:ext uri="{0D108BD9-81ED-4DB2-BD59-A6C34878D82A}">
                        <a16:rowId xmlns:a16="http://schemas.microsoft.com/office/drawing/2014/main" val="1354149712"/>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491829653"/>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837502300"/>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075303747"/>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35327459"/>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441186023"/>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55080689"/>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573803825"/>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extLst>
                      <a:ext uri="{0D108BD9-81ED-4DB2-BD59-A6C34878D82A}">
                        <a16:rowId xmlns:a16="http://schemas.microsoft.com/office/drawing/2014/main" val="4167621896"/>
                      </a:ext>
                    </a:extLst>
                  </a:tr>
                </a:tbl>
              </a:graphicData>
            </a:graphic>
          </p:graphicFrame>
        </mc:Choice>
        <mc:Fallback xmlns="">
          <p:graphicFrame>
            <p:nvGraphicFramePr>
              <p:cNvPr id="6" name="Table 5">
                <a:extLst>
                  <a:ext uri="{FF2B5EF4-FFF2-40B4-BE49-F238E27FC236}">
                    <a16:creationId xmlns:a16="http://schemas.microsoft.com/office/drawing/2014/main" id="{724F1C33-0753-4F3D-9851-AAEDC61F3EF8}"/>
                  </a:ext>
                </a:extLst>
              </p:cNvPr>
              <p:cNvGraphicFramePr>
                <a:graphicFrameLocks noGrp="1"/>
              </p:cNvGraphicFramePr>
              <p:nvPr>
                <p:extLst>
                  <p:ext uri="{D42A27DB-BD31-4B8C-83A1-F6EECF244321}">
                    <p14:modId xmlns:p14="http://schemas.microsoft.com/office/powerpoint/2010/main" val="484695848"/>
                  </p:ext>
                </p:extLst>
              </p:nvPr>
            </p:nvGraphicFramePr>
            <p:xfrm>
              <a:off x="4472247" y="1779089"/>
              <a:ext cx="1527372" cy="2689860"/>
            </p:xfrm>
            <a:graphic>
              <a:graphicData uri="http://schemas.openxmlformats.org/drawingml/2006/table">
                <a:tbl>
                  <a:tblPr firstRow="1" bandRow="1">
                    <a:tableStyleId>{5C22544A-7EE6-4342-B048-85BDC9FD1C3A}</a:tableStyleId>
                  </a:tblPr>
                  <a:tblGrid>
                    <a:gridCol w="393341">
                      <a:extLst>
                        <a:ext uri="{9D8B030D-6E8A-4147-A177-3AD203B41FA5}">
                          <a16:colId xmlns:a16="http://schemas.microsoft.com/office/drawing/2014/main" val="2780090462"/>
                        </a:ext>
                      </a:extLst>
                    </a:gridCol>
                    <a:gridCol w="373225">
                      <a:extLst>
                        <a:ext uri="{9D8B030D-6E8A-4147-A177-3AD203B41FA5}">
                          <a16:colId xmlns:a16="http://schemas.microsoft.com/office/drawing/2014/main" val="3177118586"/>
                        </a:ext>
                      </a:extLst>
                    </a:gridCol>
                    <a:gridCol w="380403">
                      <a:extLst>
                        <a:ext uri="{9D8B030D-6E8A-4147-A177-3AD203B41FA5}">
                          <a16:colId xmlns:a16="http://schemas.microsoft.com/office/drawing/2014/main" val="3064314907"/>
                        </a:ext>
                      </a:extLst>
                    </a:gridCol>
                    <a:gridCol w="380403">
                      <a:extLst>
                        <a:ext uri="{9D8B030D-6E8A-4147-A177-3AD203B41FA5}">
                          <a16:colId xmlns:a16="http://schemas.microsoft.com/office/drawing/2014/main" val="504307059"/>
                        </a:ext>
                      </a:extLst>
                    </a:gridCol>
                  </a:tblGrid>
                  <a:tr h="312420">
                    <a:tc>
                      <a:txBody>
                        <a:bodyPr/>
                        <a:lstStyle/>
                        <a:p>
                          <a:r>
                            <a:rPr lang="en-US" altLang="zh-TW" sz="1500" i="1" dirty="0">
                              <a:latin typeface="Cambria" panose="02040503050406030204" pitchFamily="18" charset="0"/>
                              <a:ea typeface="新細明體" pitchFamily="18" charset="-120"/>
                            </a:rPr>
                            <a:t>p</a:t>
                          </a:r>
                          <a:r>
                            <a:rPr lang="en-US" altLang="zh-TW" sz="1500" baseline="-25000" dirty="0">
                              <a:latin typeface="Cambria" panose="02040503050406030204" pitchFamily="18" charset="0"/>
                              <a:ea typeface="新細明體" pitchFamily="18" charset="-120"/>
                            </a:rPr>
                            <a:t>1</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2</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3</a:t>
                          </a:r>
                          <a:endParaRPr lang="en-US" sz="1500" dirty="0">
                            <a:latin typeface="Cambria" panose="02040503050406030204" pitchFamily="18" charset="0"/>
                          </a:endParaRPr>
                        </a:p>
                      </a:txBody>
                      <a:tcPr marL="68580" marR="68580" marT="34290" marB="34290"/>
                    </a:tc>
                    <a:tc>
                      <a:txBody>
                        <a:bodyPr/>
                        <a:lstStyle/>
                        <a:p>
                          <a:endParaRPr lang="en-US"/>
                        </a:p>
                      </a:txBody>
                      <a:tcPr marL="68580" marR="68580" marT="34290" marB="34290">
                        <a:blipFill>
                          <a:blip r:embed="rId4"/>
                          <a:stretch>
                            <a:fillRect l="-301587" t="-5882" r="-6349" b="-792157"/>
                          </a:stretch>
                        </a:blipFill>
                      </a:tcPr>
                    </a:tc>
                    <a:extLst>
                      <a:ext uri="{0D108BD9-81ED-4DB2-BD59-A6C34878D82A}">
                        <a16:rowId xmlns:a16="http://schemas.microsoft.com/office/drawing/2014/main" val="1354149712"/>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491829653"/>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837502300"/>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075303747"/>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35327459"/>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441186023"/>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55080689"/>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573803825"/>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extLst>
                      <a:ext uri="{0D108BD9-81ED-4DB2-BD59-A6C34878D82A}">
                        <a16:rowId xmlns:a16="http://schemas.microsoft.com/office/drawing/2014/main" val="4167621896"/>
                      </a:ext>
                    </a:extLst>
                  </a:tr>
                </a:tbl>
              </a:graphicData>
            </a:graphic>
          </p:graphicFrame>
        </mc:Fallback>
      </mc:AlternateContent>
      <p:sp>
        <p:nvSpPr>
          <p:cNvPr id="7" name="Rectangle 6">
            <a:extLst>
              <a:ext uri="{FF2B5EF4-FFF2-40B4-BE49-F238E27FC236}">
                <a16:creationId xmlns:a16="http://schemas.microsoft.com/office/drawing/2014/main" id="{F74DACB3-9EC6-48A1-8A0B-65DE6DF375A5}"/>
              </a:ext>
            </a:extLst>
          </p:cNvPr>
          <p:cNvSpPr/>
          <p:nvPr/>
        </p:nvSpPr>
        <p:spPr>
          <a:xfrm>
            <a:off x="4086466" y="4564003"/>
            <a:ext cx="1913152" cy="444417"/>
          </a:xfrm>
          <a:prstGeom prst="rect">
            <a:avLst/>
          </a:prstGeom>
        </p:spPr>
        <p:txBody>
          <a:bodyPr wrap="none">
            <a:spAutoFit/>
          </a:bodyPr>
          <a:lstStyle/>
          <a:p>
            <a:pPr>
              <a:lnSpc>
                <a:spcPct val="120000"/>
              </a:lnSpc>
            </a:pPr>
            <a:r>
              <a:rPr lang="en-US" altLang="zh-TW" sz="2100" dirty="0">
                <a:solidFill>
                  <a:srgbClr val="00A64E"/>
                </a:solidFill>
                <a:latin typeface="Cambria" panose="02040503050406030204" pitchFamily="18" charset="0"/>
                <a:ea typeface="新細明體" pitchFamily="18" charset="-120"/>
              </a:rPr>
              <a:t># rows = 2</a:t>
            </a:r>
            <a:r>
              <a:rPr lang="en-US" altLang="zh-TW" sz="2100" baseline="30000" dirty="0">
                <a:solidFill>
                  <a:srgbClr val="00A64E"/>
                </a:solidFill>
                <a:latin typeface="Cambria" panose="02040503050406030204" pitchFamily="18" charset="0"/>
                <a:ea typeface="新細明體" pitchFamily="18" charset="-120"/>
              </a:rPr>
              <a:t>3</a:t>
            </a:r>
            <a:r>
              <a:rPr lang="en-US" altLang="zh-TW" sz="2100" dirty="0">
                <a:solidFill>
                  <a:srgbClr val="00A64E"/>
                </a:solidFill>
                <a:latin typeface="Cambria" panose="02040503050406030204" pitchFamily="18" charset="0"/>
                <a:ea typeface="新細明體" pitchFamily="18" charset="-120"/>
              </a:rPr>
              <a:t> = 8</a:t>
            </a:r>
            <a:endParaRPr lang="en-US" sz="2100" dirty="0">
              <a:solidFill>
                <a:srgbClr val="00A64E"/>
              </a:solidFill>
              <a:latin typeface="Cambria" panose="02040503050406030204" pitchFamily="18" charset="0"/>
              <a:ea typeface="新細明體" pitchFamily="18" charset="-120"/>
            </a:endParaRPr>
          </a:p>
        </p:txBody>
      </p:sp>
      <p:sp>
        <p:nvSpPr>
          <p:cNvPr id="8" name="Rectangle 7">
            <a:extLst>
              <a:ext uri="{FF2B5EF4-FFF2-40B4-BE49-F238E27FC236}">
                <a16:creationId xmlns:a16="http://schemas.microsoft.com/office/drawing/2014/main" id="{7D0639A9-9150-40D7-B488-0A12ABE1BBED}"/>
              </a:ext>
            </a:extLst>
          </p:cNvPr>
          <p:cNvSpPr/>
          <p:nvPr/>
        </p:nvSpPr>
        <p:spPr>
          <a:xfrm>
            <a:off x="9514518" y="3480060"/>
            <a:ext cx="2042995" cy="444417"/>
          </a:xfrm>
          <a:prstGeom prst="rect">
            <a:avLst/>
          </a:prstGeom>
        </p:spPr>
        <p:txBody>
          <a:bodyPr wrap="none">
            <a:spAutoFit/>
          </a:bodyPr>
          <a:lstStyle/>
          <a:p>
            <a:pPr>
              <a:lnSpc>
                <a:spcPct val="120000"/>
              </a:lnSpc>
            </a:pPr>
            <a:r>
              <a:rPr lang="en-US" altLang="zh-TW" sz="2100" dirty="0">
                <a:solidFill>
                  <a:srgbClr val="00A64E"/>
                </a:solidFill>
                <a:latin typeface="Cambria" panose="02040503050406030204" pitchFamily="18" charset="0"/>
                <a:ea typeface="新細明體" pitchFamily="18" charset="-120"/>
              </a:rPr>
              <a:t># rows = 2</a:t>
            </a:r>
            <a:r>
              <a:rPr lang="en-US" altLang="zh-TW" sz="2100" baseline="30000" dirty="0">
                <a:solidFill>
                  <a:srgbClr val="00A64E"/>
                </a:solidFill>
                <a:latin typeface="Cambria" panose="02040503050406030204" pitchFamily="18" charset="0"/>
                <a:ea typeface="新細明體" pitchFamily="18" charset="-120"/>
              </a:rPr>
              <a:t>4 </a:t>
            </a:r>
            <a:r>
              <a:rPr lang="en-US" altLang="zh-TW" sz="2100" dirty="0">
                <a:solidFill>
                  <a:srgbClr val="00A64E"/>
                </a:solidFill>
                <a:latin typeface="Cambria" panose="02040503050406030204" pitchFamily="18" charset="0"/>
                <a:ea typeface="新細明體" pitchFamily="18" charset="-120"/>
              </a:rPr>
              <a:t>= 16</a:t>
            </a:r>
            <a:endParaRPr lang="en-US" sz="2100" dirty="0">
              <a:solidFill>
                <a:srgbClr val="00A64E"/>
              </a:solidFill>
              <a:latin typeface="Cambria" panose="02040503050406030204" pitchFamily="18" charset="0"/>
            </a:endParaRP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6C0DE927-44E6-45F8-9327-198A30C05211}"/>
                  </a:ext>
                </a:extLst>
              </p:cNvPr>
              <p:cNvGraphicFramePr>
                <a:graphicFrameLocks noGrp="1"/>
              </p:cNvGraphicFramePr>
              <p:nvPr>
                <p:extLst>
                  <p:ext uri="{D42A27DB-BD31-4B8C-83A1-F6EECF244321}">
                    <p14:modId xmlns:p14="http://schemas.microsoft.com/office/powerpoint/2010/main" val="1640751734"/>
                  </p:ext>
                </p:extLst>
              </p:nvPr>
            </p:nvGraphicFramePr>
            <p:xfrm>
              <a:off x="7724070" y="1176239"/>
              <a:ext cx="1694035" cy="5067300"/>
            </p:xfrm>
            <a:graphic>
              <a:graphicData uri="http://schemas.openxmlformats.org/drawingml/2006/table">
                <a:tbl>
                  <a:tblPr firstRow="1" bandRow="1">
                    <a:tableStyleId>{5C22544A-7EE6-4342-B048-85BDC9FD1C3A}</a:tableStyleId>
                  </a:tblPr>
                  <a:tblGrid>
                    <a:gridCol w="338807">
                      <a:extLst>
                        <a:ext uri="{9D8B030D-6E8A-4147-A177-3AD203B41FA5}">
                          <a16:colId xmlns:a16="http://schemas.microsoft.com/office/drawing/2014/main" val="2780090462"/>
                        </a:ext>
                      </a:extLst>
                    </a:gridCol>
                    <a:gridCol w="338807">
                      <a:extLst>
                        <a:ext uri="{9D8B030D-6E8A-4147-A177-3AD203B41FA5}">
                          <a16:colId xmlns:a16="http://schemas.microsoft.com/office/drawing/2014/main" val="3177118586"/>
                        </a:ext>
                      </a:extLst>
                    </a:gridCol>
                    <a:gridCol w="338807">
                      <a:extLst>
                        <a:ext uri="{9D8B030D-6E8A-4147-A177-3AD203B41FA5}">
                          <a16:colId xmlns:a16="http://schemas.microsoft.com/office/drawing/2014/main" val="3064314907"/>
                        </a:ext>
                      </a:extLst>
                    </a:gridCol>
                    <a:gridCol w="338807">
                      <a:extLst>
                        <a:ext uri="{9D8B030D-6E8A-4147-A177-3AD203B41FA5}">
                          <a16:colId xmlns:a16="http://schemas.microsoft.com/office/drawing/2014/main" val="4058391200"/>
                        </a:ext>
                      </a:extLst>
                    </a:gridCol>
                    <a:gridCol w="338807">
                      <a:extLst>
                        <a:ext uri="{9D8B030D-6E8A-4147-A177-3AD203B41FA5}">
                          <a16:colId xmlns:a16="http://schemas.microsoft.com/office/drawing/2014/main" val="3945227538"/>
                        </a:ext>
                      </a:extLst>
                    </a:gridCol>
                  </a:tblGrid>
                  <a:tr h="297180">
                    <a:tc>
                      <a:txBody>
                        <a:bodyPr/>
                        <a:lstStyle/>
                        <a:p>
                          <a:r>
                            <a:rPr lang="en-US" altLang="zh-TW" sz="1500" i="1" dirty="0">
                              <a:latin typeface="Cambria" panose="02040503050406030204" pitchFamily="18" charset="0"/>
                              <a:ea typeface="新細明體" pitchFamily="18" charset="-120"/>
                            </a:rPr>
                            <a:t>p</a:t>
                          </a:r>
                          <a:r>
                            <a:rPr lang="en-US" altLang="zh-TW" sz="1500" baseline="-25000" dirty="0">
                              <a:latin typeface="Cambria" panose="02040503050406030204" pitchFamily="18" charset="0"/>
                              <a:ea typeface="新細明體" pitchFamily="18" charset="-120"/>
                            </a:rPr>
                            <a:t>1</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2</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3</a:t>
                          </a:r>
                          <a:endParaRPr lang="en-US" sz="1500" dirty="0">
                            <a:latin typeface="Cambria" panose="02040503050406030204" pitchFamily="18"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4</a:t>
                          </a:r>
                          <a:endParaRPr lang="en-US" sz="1500" dirty="0">
                            <a:latin typeface="Cambria" panose="02040503050406030204" pitchFamily="18"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ea typeface="Cambria Math" panose="02040503050406030204" pitchFamily="18" charset="0"/>
                                  </a:rPr>
                                  <m:t>⋀</m:t>
                                </m:r>
                              </m:oMath>
                            </m:oMathPara>
                          </a14:m>
                          <a:endParaRPr lang="en-US" sz="1600" dirty="0">
                            <a:latin typeface="Cambria" panose="02040503050406030204" pitchFamily="18" charset="0"/>
                          </a:endParaRPr>
                        </a:p>
                      </a:txBody>
                      <a:tcPr marL="68580" marR="68580" marT="34290" marB="34290"/>
                    </a:tc>
                    <a:extLst>
                      <a:ext uri="{0D108BD9-81ED-4DB2-BD59-A6C34878D82A}">
                        <a16:rowId xmlns:a16="http://schemas.microsoft.com/office/drawing/2014/main" val="1354149712"/>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491829653"/>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837502300"/>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075303747"/>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35327459"/>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441186023"/>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55080689"/>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573803825"/>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4167621896"/>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413403414"/>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643935323"/>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776791744"/>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963719299"/>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353444584"/>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96958936"/>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245373640"/>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extLst>
                      <a:ext uri="{0D108BD9-81ED-4DB2-BD59-A6C34878D82A}">
                        <a16:rowId xmlns:a16="http://schemas.microsoft.com/office/drawing/2014/main" val="322891090"/>
                      </a:ext>
                    </a:extLst>
                  </a:tr>
                </a:tbl>
              </a:graphicData>
            </a:graphic>
          </p:graphicFrame>
        </mc:Choice>
        <mc:Fallback xmlns="">
          <p:graphicFrame>
            <p:nvGraphicFramePr>
              <p:cNvPr id="9" name="Table 8">
                <a:extLst>
                  <a:ext uri="{FF2B5EF4-FFF2-40B4-BE49-F238E27FC236}">
                    <a16:creationId xmlns:a16="http://schemas.microsoft.com/office/drawing/2014/main" id="{6C0DE927-44E6-45F8-9327-198A30C05211}"/>
                  </a:ext>
                </a:extLst>
              </p:cNvPr>
              <p:cNvGraphicFramePr>
                <a:graphicFrameLocks noGrp="1"/>
              </p:cNvGraphicFramePr>
              <p:nvPr>
                <p:extLst>
                  <p:ext uri="{D42A27DB-BD31-4B8C-83A1-F6EECF244321}">
                    <p14:modId xmlns:p14="http://schemas.microsoft.com/office/powerpoint/2010/main" val="1640751734"/>
                  </p:ext>
                </p:extLst>
              </p:nvPr>
            </p:nvGraphicFramePr>
            <p:xfrm>
              <a:off x="7724070" y="1176239"/>
              <a:ext cx="1694035" cy="5067300"/>
            </p:xfrm>
            <a:graphic>
              <a:graphicData uri="http://schemas.openxmlformats.org/drawingml/2006/table">
                <a:tbl>
                  <a:tblPr firstRow="1" bandRow="1">
                    <a:tableStyleId>{5C22544A-7EE6-4342-B048-85BDC9FD1C3A}</a:tableStyleId>
                  </a:tblPr>
                  <a:tblGrid>
                    <a:gridCol w="338807">
                      <a:extLst>
                        <a:ext uri="{9D8B030D-6E8A-4147-A177-3AD203B41FA5}">
                          <a16:colId xmlns:a16="http://schemas.microsoft.com/office/drawing/2014/main" val="2780090462"/>
                        </a:ext>
                      </a:extLst>
                    </a:gridCol>
                    <a:gridCol w="338807">
                      <a:extLst>
                        <a:ext uri="{9D8B030D-6E8A-4147-A177-3AD203B41FA5}">
                          <a16:colId xmlns:a16="http://schemas.microsoft.com/office/drawing/2014/main" val="3177118586"/>
                        </a:ext>
                      </a:extLst>
                    </a:gridCol>
                    <a:gridCol w="338807">
                      <a:extLst>
                        <a:ext uri="{9D8B030D-6E8A-4147-A177-3AD203B41FA5}">
                          <a16:colId xmlns:a16="http://schemas.microsoft.com/office/drawing/2014/main" val="3064314907"/>
                        </a:ext>
                      </a:extLst>
                    </a:gridCol>
                    <a:gridCol w="338807">
                      <a:extLst>
                        <a:ext uri="{9D8B030D-6E8A-4147-A177-3AD203B41FA5}">
                          <a16:colId xmlns:a16="http://schemas.microsoft.com/office/drawing/2014/main" val="4058391200"/>
                        </a:ext>
                      </a:extLst>
                    </a:gridCol>
                    <a:gridCol w="338807">
                      <a:extLst>
                        <a:ext uri="{9D8B030D-6E8A-4147-A177-3AD203B41FA5}">
                          <a16:colId xmlns:a16="http://schemas.microsoft.com/office/drawing/2014/main" val="3945227538"/>
                        </a:ext>
                      </a:extLst>
                    </a:gridCol>
                  </a:tblGrid>
                  <a:tr h="312420">
                    <a:tc>
                      <a:txBody>
                        <a:bodyPr/>
                        <a:lstStyle/>
                        <a:p>
                          <a:r>
                            <a:rPr lang="en-US" altLang="zh-TW" sz="1500" i="1" dirty="0">
                              <a:latin typeface="Cambria" panose="02040503050406030204" pitchFamily="18" charset="0"/>
                              <a:ea typeface="新細明體" pitchFamily="18" charset="-120"/>
                            </a:rPr>
                            <a:t>p</a:t>
                          </a:r>
                          <a:r>
                            <a:rPr lang="en-US" altLang="zh-TW" sz="1500" baseline="-25000" dirty="0">
                              <a:latin typeface="Cambria" panose="02040503050406030204" pitchFamily="18" charset="0"/>
                              <a:ea typeface="新細明體" pitchFamily="18" charset="-120"/>
                            </a:rPr>
                            <a:t>1</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2</a:t>
                          </a:r>
                          <a:endParaRPr lang="en-US" sz="1500" dirty="0">
                            <a:latin typeface="Cambria" panose="02040503050406030204" pitchFamily="18" charset="0"/>
                          </a:endParaRPr>
                        </a:p>
                      </a:txBody>
                      <a:tcPr marL="68580" marR="68580" marT="34290" marB="34290"/>
                    </a:tc>
                    <a:tc>
                      <a:txBody>
                        <a:bodyPr/>
                        <a:lstStyle/>
                        <a:p>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3</a:t>
                          </a:r>
                          <a:endParaRPr lang="en-US" sz="1500" dirty="0">
                            <a:latin typeface="Cambria" panose="02040503050406030204" pitchFamily="18"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500" i="1" dirty="0">
                              <a:latin typeface="Cambria" panose="02040503050406030204" pitchFamily="18" charset="0"/>
                              <a:ea typeface="新細明體" pitchFamily="18" charset="-120"/>
                            </a:rPr>
                            <a:t>p</a:t>
                          </a:r>
                          <a:r>
                            <a:rPr lang="en-US" altLang="zh-TW" sz="1500" i="0" baseline="-25000" dirty="0">
                              <a:latin typeface="Cambria" panose="02040503050406030204" pitchFamily="18" charset="0"/>
                              <a:ea typeface="新細明體" pitchFamily="18" charset="-120"/>
                            </a:rPr>
                            <a:t>4</a:t>
                          </a:r>
                          <a:endParaRPr lang="en-US" sz="1500" dirty="0">
                            <a:latin typeface="Cambria" panose="02040503050406030204" pitchFamily="18" charset="0"/>
                          </a:endParaRPr>
                        </a:p>
                      </a:txBody>
                      <a:tcPr marL="68580" marR="68580" marT="34290" marB="34290"/>
                    </a:tc>
                    <a:tc>
                      <a:txBody>
                        <a:bodyPr/>
                        <a:lstStyle/>
                        <a:p>
                          <a:endParaRPr lang="en-US"/>
                        </a:p>
                      </a:txBody>
                      <a:tcPr marL="68580" marR="68580" marT="34290" marB="34290">
                        <a:blipFill>
                          <a:blip r:embed="rId5"/>
                          <a:stretch>
                            <a:fillRect l="-398214" t="-5882" r="-8929" b="-1556863"/>
                          </a:stretch>
                        </a:blipFill>
                      </a:tcPr>
                    </a:tc>
                    <a:extLst>
                      <a:ext uri="{0D108BD9-81ED-4DB2-BD59-A6C34878D82A}">
                        <a16:rowId xmlns:a16="http://schemas.microsoft.com/office/drawing/2014/main" val="1354149712"/>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491829653"/>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837502300"/>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075303747"/>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35327459"/>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441186023"/>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955080689"/>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573803825"/>
                      </a:ext>
                    </a:extLst>
                  </a:tr>
                  <a:tr h="297180">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4167621896"/>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413403414"/>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643935323"/>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1776791744"/>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963719299"/>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3353444584"/>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96958936"/>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tc>
                      <a:txBody>
                        <a:bodyPr/>
                        <a:lstStyle/>
                        <a:p>
                          <a:r>
                            <a:rPr lang="en-US" sz="1500" dirty="0">
                              <a:latin typeface="Cambria" panose="02040503050406030204" pitchFamily="18" charset="0"/>
                            </a:rPr>
                            <a:t>F</a:t>
                          </a:r>
                        </a:p>
                      </a:txBody>
                      <a:tcPr marL="68580" marR="68580" marT="34290" marB="34290"/>
                    </a:tc>
                    <a:extLst>
                      <a:ext uri="{0D108BD9-81ED-4DB2-BD59-A6C34878D82A}">
                        <a16:rowId xmlns:a16="http://schemas.microsoft.com/office/drawing/2014/main" val="2245373640"/>
                      </a:ext>
                    </a:extLst>
                  </a:tr>
                  <a:tr h="297180">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tc>
                      <a:txBody>
                        <a:bodyPr/>
                        <a:lstStyle/>
                        <a:p>
                          <a:r>
                            <a:rPr lang="en-US" sz="1500" dirty="0">
                              <a:latin typeface="Cambria" panose="02040503050406030204" pitchFamily="18" charset="0"/>
                            </a:rPr>
                            <a:t>T</a:t>
                          </a:r>
                        </a:p>
                      </a:txBody>
                      <a:tcPr marL="68580" marR="68580" marT="34290" marB="34290"/>
                    </a:tc>
                    <a:extLst>
                      <a:ext uri="{0D108BD9-81ED-4DB2-BD59-A6C34878D82A}">
                        <a16:rowId xmlns:a16="http://schemas.microsoft.com/office/drawing/2014/main" val="322891090"/>
                      </a:ext>
                    </a:extLst>
                  </a:tr>
                </a:tbl>
              </a:graphicData>
            </a:graphic>
          </p:graphicFrame>
        </mc:Fallback>
      </mc:AlternateContent>
      <p:sp>
        <p:nvSpPr>
          <p:cNvPr id="10" name="Date Placeholder 9"/>
          <p:cNvSpPr>
            <a:spLocks noGrp="1"/>
          </p:cNvSpPr>
          <p:nvPr>
            <p:ph type="dt" sz="half" idx="10"/>
          </p:nvPr>
        </p:nvSpPr>
        <p:spPr/>
        <p:txBody>
          <a:bodyPr/>
          <a:lstStyle/>
          <a:p>
            <a:fld id="{6E56B262-8FF3-4985-BF14-0158C1C91C9D}" type="datetime1">
              <a:rPr lang="en-US" smtClean="0"/>
              <a:t>9/29/2022</a:t>
            </a:fld>
            <a:endParaRPr lang="en-US"/>
          </a:p>
        </p:txBody>
      </p:sp>
      <p:sp>
        <p:nvSpPr>
          <p:cNvPr id="11" name="Footer Placeholder 10"/>
          <p:cNvSpPr>
            <a:spLocks noGrp="1"/>
          </p:cNvSpPr>
          <p:nvPr>
            <p:ph type="ftr" sz="quarter" idx="11"/>
          </p:nvPr>
        </p:nvSpPr>
        <p:spPr/>
        <p:txBody>
          <a:bodyPr/>
          <a:lstStyle/>
          <a:p>
            <a:r>
              <a:rPr lang="en-US"/>
              <a:t>Introduction to AI</a:t>
            </a:r>
          </a:p>
        </p:txBody>
      </p:sp>
      <p:sp>
        <p:nvSpPr>
          <p:cNvPr id="12" name="Slide Number Placeholder 11"/>
          <p:cNvSpPr>
            <a:spLocks noGrp="1"/>
          </p:cNvSpPr>
          <p:nvPr>
            <p:ph type="sldNum" sz="quarter" idx="12"/>
          </p:nvPr>
        </p:nvSpPr>
        <p:spPr/>
        <p:txBody>
          <a:bodyPr/>
          <a:lstStyle/>
          <a:p>
            <a:fld id="{75B1DB82-35C9-4076-A5B8-0781B30E89ED}" type="slidenum">
              <a:rPr lang="en-US" smtClean="0"/>
              <a:t>19</a:t>
            </a:fld>
            <a:endParaRPr lang="en-US"/>
          </a:p>
        </p:txBody>
      </p:sp>
      <p:sp>
        <p:nvSpPr>
          <p:cNvPr id="13" name="TextBox 12"/>
          <p:cNvSpPr txBox="1"/>
          <p:nvPr/>
        </p:nvSpPr>
        <p:spPr>
          <a:xfrm>
            <a:off x="863187" y="5548531"/>
            <a:ext cx="6604757" cy="400110"/>
          </a:xfrm>
          <a:prstGeom prst="rect">
            <a:avLst/>
          </a:prstGeom>
          <a:noFill/>
        </p:spPr>
        <p:txBody>
          <a:bodyPr wrap="none" rtlCol="0">
            <a:spAutoFit/>
          </a:bodyPr>
          <a:lstStyle/>
          <a:p>
            <a:r>
              <a:rPr lang="en-US" sz="2000" dirty="0">
                <a:solidFill>
                  <a:srgbClr val="0000CC"/>
                </a:solidFill>
              </a:rPr>
              <a:t>Generally, # rows = 2</a:t>
            </a:r>
            <a:r>
              <a:rPr lang="en-US" sz="2000" baseline="30000" dirty="0">
                <a:solidFill>
                  <a:srgbClr val="0000CC"/>
                </a:solidFill>
              </a:rPr>
              <a:t>n</a:t>
            </a:r>
            <a:r>
              <a:rPr lang="en-US" sz="2000" dirty="0">
                <a:solidFill>
                  <a:srgbClr val="0000CC"/>
                </a:solidFill>
              </a:rPr>
              <a:t>, where n is the number of propositions </a:t>
            </a:r>
          </a:p>
        </p:txBody>
      </p:sp>
    </p:spTree>
    <p:extLst>
      <p:ext uri="{BB962C8B-B14F-4D97-AF65-F5344CB8AC3E}">
        <p14:creationId xmlns:p14="http://schemas.microsoft.com/office/powerpoint/2010/main" val="408933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The </a:t>
            </a:r>
            <a:r>
              <a:rPr lang="en-US" dirty="0"/>
              <a:t>Disjunction</a:t>
            </a:r>
            <a:r>
              <a:rPr lang="en-US" altLang="zh-TW" dirty="0"/>
              <a:t> Operator </a:t>
            </a:r>
            <a:r>
              <a:rPr lang="en-US" dirty="0"/>
              <a:t>(OR) </a:t>
            </a:r>
            <a:r>
              <a:rPr lang="en-US" altLang="zh-TW" dirty="0">
                <a:ea typeface="新細明體" pitchFamily="18" charset="-120"/>
              </a:rPr>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a:lnSpc>
                    <a:spcPct val="100000"/>
                  </a:lnSpc>
                  <a:spcBef>
                    <a:spcPts val="0"/>
                  </a:spcBef>
                  <a:spcAft>
                    <a:spcPts val="0"/>
                  </a:spcAft>
                </a:pPr>
                <a:r>
                  <a:rPr lang="en-US" altLang="zh-TW" dirty="0"/>
                  <a:t>The </a:t>
                </a:r>
                <a:r>
                  <a:rPr lang="en-US" altLang="zh-TW" dirty="0">
                    <a:solidFill>
                      <a:srgbClr val="C00000"/>
                    </a:solidFill>
                  </a:rPr>
                  <a:t>binary </a:t>
                </a:r>
                <a:r>
                  <a:rPr lang="en-US" dirty="0">
                    <a:solidFill>
                      <a:srgbClr val="C00000"/>
                    </a:solidFill>
                  </a:rPr>
                  <a:t>disjunction</a:t>
                </a:r>
                <a:r>
                  <a:rPr lang="en-US" altLang="zh-TW" dirty="0">
                    <a:solidFill>
                      <a:srgbClr val="C00000"/>
                    </a:solidFill>
                  </a:rPr>
                  <a:t> operator</a:t>
                </a:r>
                <a:r>
                  <a:rPr lang="en-US" altLang="zh-TW" dirty="0">
                    <a:solidFill>
                      <a:srgbClr val="FF0000"/>
                    </a:solidFill>
                  </a:rPr>
                  <a:t> </a:t>
                </a:r>
                <a:r>
                  <a:rPr lang="en-US" altLang="zh-TW" dirty="0">
                    <a:solidFill>
                      <a:srgbClr val="C00000"/>
                    </a:solidFill>
                  </a:rPr>
                  <a:t>“</a:t>
                </a:r>
                <a:r>
                  <a:rPr lang="en-US" altLang="zh-TW" dirty="0">
                    <a:solidFill>
                      <a:srgbClr val="C00000"/>
                    </a:solidFill>
                    <a:sym typeface="Symbol" pitchFamily="18" charset="2"/>
                  </a:rPr>
                  <a:t>∨” (OR) </a:t>
                </a:r>
                <a:r>
                  <a:rPr lang="en-US" altLang="zh-TW" dirty="0">
                    <a:sym typeface="Symbol" pitchFamily="18" charset="2"/>
                  </a:rPr>
                  <a:t>combines two propositions to form their logical </a:t>
                </a:r>
                <a:r>
                  <a:rPr lang="en-US" b="1" dirty="0"/>
                  <a:t>disjunction</a:t>
                </a:r>
                <a:endParaRPr lang="en-US" b="1" dirty="0">
                  <a:solidFill>
                    <a:srgbClr val="00B0F0"/>
                  </a:solidFill>
                </a:endParaRPr>
              </a:p>
              <a:p>
                <a:pPr marL="76198" indent="0">
                  <a:lnSpc>
                    <a:spcPct val="100000"/>
                  </a:lnSpc>
                  <a:spcBef>
                    <a:spcPts val="0"/>
                  </a:spcBef>
                  <a:spcAft>
                    <a:spcPts val="0"/>
                  </a:spcAft>
                  <a:buNone/>
                </a:pPr>
                <a:endParaRPr lang="en-US" altLang="zh-TW" b="1" dirty="0">
                  <a:sym typeface="Symbol" pitchFamily="18" charset="2"/>
                </a:endParaRPr>
              </a:p>
              <a:p>
                <a:pPr>
                  <a:lnSpc>
                    <a:spcPct val="100000"/>
                  </a:lnSpc>
                  <a:spcBef>
                    <a:spcPts val="0"/>
                  </a:spcBef>
                  <a:spcAft>
                    <a:spcPts val="0"/>
                  </a:spcAft>
                </a:pPr>
                <a:r>
                  <a:rPr lang="en-US" b="1" dirty="0"/>
                  <a:t>Example</a:t>
                </a:r>
                <a:r>
                  <a:rPr lang="en-US" dirty="0"/>
                  <a:t>: </a:t>
                </a:r>
              </a:p>
              <a:p>
                <a:pPr lvl="2">
                  <a:lnSpc>
                    <a:spcPct val="100000"/>
                  </a:lnSpc>
                  <a:spcBef>
                    <a:spcPts val="0"/>
                  </a:spcBef>
                  <a:spcAft>
                    <a:spcPts val="0"/>
                  </a:spcAft>
                </a:pPr>
                <a:r>
                  <a:rPr lang="en-US" sz="2800" i="1" dirty="0"/>
                  <a:t> p</a:t>
                </a:r>
                <a:r>
                  <a:rPr lang="en-US" sz="2800" dirty="0"/>
                  <a:t> = “My car has a bad engine.” </a:t>
                </a:r>
              </a:p>
              <a:p>
                <a:pPr marL="609585" lvl="2" indent="0">
                  <a:lnSpc>
                    <a:spcPct val="100000"/>
                  </a:lnSpc>
                  <a:spcBef>
                    <a:spcPts val="0"/>
                  </a:spcBef>
                  <a:spcAft>
                    <a:spcPts val="0"/>
                  </a:spcAft>
                  <a:buNone/>
                </a:pPr>
                <a:r>
                  <a:rPr lang="en-US" sz="2800" i="1" dirty="0"/>
                  <a:t>	q</a:t>
                </a:r>
                <a:r>
                  <a:rPr lang="en-US" sz="2800" dirty="0"/>
                  <a:t> = “My car has a bad carburetor.”, then     </a:t>
                </a:r>
              </a:p>
              <a:p>
                <a:pPr marL="609585" lvl="2" indent="0">
                  <a:lnSpc>
                    <a:spcPct val="100000"/>
                  </a:lnSpc>
                  <a:spcBef>
                    <a:spcPts val="0"/>
                  </a:spcBef>
                  <a:spcAft>
                    <a:spcPts val="0"/>
                  </a:spcAft>
                  <a:buNone/>
                </a:pPr>
                <a:r>
                  <a:rPr lang="en-US" sz="2800" i="1" dirty="0"/>
                  <a:t>	p</a:t>
                </a:r>
                <a:r>
                  <a:rPr lang="en-US" sz="2800" dirty="0"/>
                  <a:t> </a:t>
                </a:r>
                <a14:m>
                  <m:oMath xmlns:m="http://schemas.openxmlformats.org/officeDocument/2006/math">
                    <m:r>
                      <a:rPr lang="en-US" sz="2800" i="1" dirty="0">
                        <a:latin typeface="Cambria Math" panose="02040503050406030204" pitchFamily="18" charset="0"/>
                        <a:ea typeface="Cambria Math" panose="02040503050406030204" pitchFamily="18" charset="0"/>
                      </a:rPr>
                      <m:t>∨</m:t>
                    </m:r>
                  </m:oMath>
                </a14:m>
                <a:r>
                  <a:rPr lang="en-US" sz="2800" dirty="0"/>
                  <a:t> </a:t>
                </a:r>
                <a:r>
                  <a:rPr lang="en-US" sz="2800" i="1" dirty="0"/>
                  <a:t>q</a:t>
                </a:r>
                <a:r>
                  <a:rPr lang="en-US" sz="2800" dirty="0"/>
                  <a:t> =“My car has a bad engine, </a:t>
                </a:r>
                <a:r>
                  <a:rPr lang="en-US" sz="2800" b="1" dirty="0"/>
                  <a:t>or</a:t>
                </a:r>
                <a:r>
                  <a:rPr lang="en-US" sz="2800" dirty="0"/>
                  <a:t> my car has a bad carburetor.”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68" t="-182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ABD1E076-5B1E-425C-B058-0B8A29027FE5}"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20</a:t>
            </a:fld>
            <a:endParaRPr lang="en-US"/>
          </a:p>
        </p:txBody>
      </p:sp>
    </p:spTree>
    <p:extLst>
      <p:ext uri="{BB962C8B-B14F-4D97-AF65-F5344CB8AC3E}">
        <p14:creationId xmlns:p14="http://schemas.microsoft.com/office/powerpoint/2010/main" val="2403292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The </a:t>
            </a:r>
            <a:r>
              <a:rPr lang="en-US" dirty="0"/>
              <a:t>Disjunction</a:t>
            </a:r>
            <a:r>
              <a:rPr lang="en-US" altLang="zh-TW" dirty="0"/>
              <a:t> Operator </a:t>
            </a:r>
            <a:r>
              <a:rPr lang="en-US" dirty="0"/>
              <a:t>(OR) </a:t>
            </a:r>
            <a:r>
              <a:rPr lang="en-US" altLang="zh-TW" dirty="0">
                <a:ea typeface="新細明體" pitchFamily="18" charset="-120"/>
              </a:rPr>
              <a:t>“∨” – Truth Table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170181"/>
                <a:ext cx="6696364" cy="5021979"/>
              </a:xfrm>
            </p:spPr>
            <p:txBody>
              <a:bodyPr>
                <a:noAutofit/>
              </a:bodyPr>
              <a:lstStyle/>
              <a:p>
                <a:pPr>
                  <a:lnSpc>
                    <a:spcPct val="100000"/>
                  </a:lnSpc>
                  <a:spcBef>
                    <a:spcPts val="0"/>
                  </a:spcBef>
                  <a:spcAft>
                    <a:spcPts val="0"/>
                  </a:spcAft>
                </a:pPr>
                <a:r>
                  <a:rPr lang="en-US" sz="2800" b="1" i="1" dirty="0"/>
                  <a:t>p</a:t>
                </a:r>
                <a:r>
                  <a:rPr lang="en-US" sz="2800" b="1" dirty="0"/>
                  <a:t> </a:t>
                </a:r>
                <a14:m>
                  <m:oMath xmlns:m="http://schemas.openxmlformats.org/officeDocument/2006/math">
                    <m:r>
                      <a:rPr lang="en-US" sz="2800" b="1" i="1" dirty="0">
                        <a:latin typeface="Cambria Math" panose="02040503050406030204" pitchFamily="18" charset="0"/>
                        <a:ea typeface="Cambria Math" panose="02040503050406030204" pitchFamily="18" charset="0"/>
                      </a:rPr>
                      <m:t>∨</m:t>
                    </m:r>
                  </m:oMath>
                </a14:m>
                <a:r>
                  <a:rPr lang="en-US" sz="2800" b="1" dirty="0"/>
                  <a:t> </a:t>
                </a:r>
                <a:r>
                  <a:rPr lang="en-US" sz="2800" b="1" i="1" dirty="0"/>
                  <a:t>q</a:t>
                </a:r>
                <a:r>
                  <a:rPr lang="en-US" sz="2800" b="1" dirty="0"/>
                  <a:t> means</a:t>
                </a:r>
                <a:r>
                  <a:rPr lang="en-US" sz="2800" dirty="0"/>
                  <a:t>:</a:t>
                </a:r>
              </a:p>
              <a:p>
                <a:pPr lvl="1">
                  <a:lnSpc>
                    <a:spcPct val="100000"/>
                  </a:lnSpc>
                  <a:spcBef>
                    <a:spcPts val="0"/>
                  </a:spcBef>
                  <a:spcAft>
                    <a:spcPts val="0"/>
                  </a:spcAft>
                </a:pPr>
                <a:r>
                  <a:rPr lang="en-US" sz="3333" i="1" dirty="0"/>
                  <a:t>p</a:t>
                </a:r>
                <a:r>
                  <a:rPr lang="en-US" sz="3333" dirty="0"/>
                  <a:t> is true, </a:t>
                </a:r>
                <a:r>
                  <a:rPr lang="en-US" sz="3333" b="1" dirty="0"/>
                  <a:t>or</a:t>
                </a:r>
                <a:r>
                  <a:rPr lang="en-US" sz="3333" dirty="0"/>
                  <a:t> </a:t>
                </a:r>
              </a:p>
              <a:p>
                <a:pPr lvl="1">
                  <a:lnSpc>
                    <a:spcPct val="100000"/>
                  </a:lnSpc>
                  <a:spcBef>
                    <a:spcPts val="0"/>
                  </a:spcBef>
                  <a:spcAft>
                    <a:spcPts val="0"/>
                  </a:spcAft>
                </a:pPr>
                <a:r>
                  <a:rPr lang="en-US" sz="3333" i="1" dirty="0"/>
                  <a:t>q</a:t>
                </a:r>
                <a:r>
                  <a:rPr lang="en-US" sz="3333" dirty="0"/>
                  <a:t> is true </a:t>
                </a:r>
                <a:r>
                  <a:rPr lang="en-US" sz="3333" b="1" dirty="0"/>
                  <a:t>or</a:t>
                </a:r>
              </a:p>
              <a:p>
                <a:pPr lvl="1">
                  <a:lnSpc>
                    <a:spcPct val="100000"/>
                  </a:lnSpc>
                  <a:spcBef>
                    <a:spcPts val="0"/>
                  </a:spcBef>
                  <a:spcAft>
                    <a:spcPts val="0"/>
                  </a:spcAft>
                </a:pPr>
                <a:r>
                  <a:rPr lang="en-US" sz="3333" b="1" dirty="0"/>
                  <a:t>both</a:t>
                </a:r>
                <a:r>
                  <a:rPr lang="en-US" sz="3333" dirty="0"/>
                  <a:t> are true!</a:t>
                </a:r>
              </a:p>
              <a:p>
                <a:pPr>
                  <a:lnSpc>
                    <a:spcPct val="100000"/>
                  </a:lnSpc>
                  <a:spcBef>
                    <a:spcPts val="0"/>
                  </a:spcBef>
                  <a:spcAft>
                    <a:spcPts val="0"/>
                  </a:spcAft>
                </a:pPr>
                <a:r>
                  <a:rPr lang="en-US" altLang="zh-TW" sz="2800" dirty="0">
                    <a:sym typeface="Symbol" pitchFamily="18" charset="2"/>
                  </a:rPr>
                  <a:t>This operator is also called </a:t>
                </a:r>
                <a:r>
                  <a:rPr lang="en-US" altLang="zh-TW" sz="2800" dirty="0">
                    <a:solidFill>
                      <a:srgbClr val="FF0000"/>
                    </a:solidFill>
                    <a:sym typeface="Symbol" pitchFamily="18" charset="2"/>
                  </a:rPr>
                  <a:t>inclusive OR</a:t>
                </a:r>
                <a:r>
                  <a:rPr lang="en-US" altLang="zh-TW" sz="2800" dirty="0">
                    <a:sym typeface="Symbol" pitchFamily="18" charset="2"/>
                  </a:rPr>
                  <a:t> because it includes the possibility that both </a:t>
                </a:r>
                <a:r>
                  <a:rPr lang="en-US" altLang="zh-TW" sz="2800" i="1" dirty="0">
                    <a:sym typeface="Symbol" pitchFamily="18" charset="2"/>
                  </a:rPr>
                  <a:t>p </a:t>
                </a:r>
                <a:r>
                  <a:rPr lang="en-US" altLang="zh-TW" sz="2800" dirty="0">
                    <a:sym typeface="Symbol" pitchFamily="18" charset="2"/>
                  </a:rPr>
                  <a:t>and q are true.</a:t>
                </a:r>
              </a:p>
              <a:p>
                <a:pPr>
                  <a:lnSpc>
                    <a:spcPct val="100000"/>
                  </a:lnSpc>
                  <a:spcBef>
                    <a:spcPts val="0"/>
                  </a:spcBef>
                  <a:spcAft>
                    <a:spcPts val="0"/>
                  </a:spcAft>
                </a:pPr>
                <a:endParaRPr lang="en-US" altLang="zh-TW" sz="2800" dirty="0">
                  <a:sym typeface="Symbol" pitchFamily="18" charset="2"/>
                </a:endParaRPr>
              </a:p>
              <a:p>
                <a:pPr>
                  <a:lnSpc>
                    <a:spcPct val="100000"/>
                  </a:lnSpc>
                  <a:spcBef>
                    <a:spcPts val="0"/>
                  </a:spcBef>
                  <a:spcAft>
                    <a:spcPts val="0"/>
                  </a:spcAft>
                </a:pPr>
                <a:r>
                  <a:rPr lang="en-US" altLang="zh-TW" sz="2800" dirty="0">
                    <a:sym typeface="Symbol" pitchFamily="18" charset="2"/>
                  </a:rPr>
                  <a:t>“</a:t>
                </a:r>
                <a:r>
                  <a:rPr lang="en-US" altLang="zh-TW" sz="2800" b="1" dirty="0"/>
                  <a:t>¬</a:t>
                </a:r>
                <a:r>
                  <a:rPr lang="en-US" altLang="zh-TW" sz="2800" dirty="0">
                    <a:sym typeface="Symbol" pitchFamily="18" charset="2"/>
                  </a:rPr>
                  <a:t>” and “</a:t>
                </a:r>
                <a:r>
                  <a:rPr lang="en-US" altLang="zh-TW" sz="2800" b="1" dirty="0">
                    <a:sym typeface="Symbol" pitchFamily="18" charset="2"/>
                  </a:rPr>
                  <a:t></a:t>
                </a:r>
                <a:r>
                  <a:rPr lang="en-US" altLang="zh-TW" sz="2800" dirty="0">
                    <a:sym typeface="Symbol" pitchFamily="18" charset="2"/>
                  </a:rPr>
                  <a:t>” when used together are also universal operators (</a:t>
                </a:r>
                <a:r>
                  <a:rPr lang="en-US" altLang="zh-TW" sz="2800" dirty="0">
                    <a:solidFill>
                      <a:schemeClr val="accent2"/>
                    </a:solidFill>
                    <a:sym typeface="Symbol" pitchFamily="18" charset="2"/>
                  </a:rPr>
                  <a:t>sufficient to express </a:t>
                </a:r>
                <a:r>
                  <a:rPr lang="en-US" altLang="zh-TW" sz="2800" i="1" dirty="0">
                    <a:solidFill>
                      <a:schemeClr val="accent2"/>
                    </a:solidFill>
                    <a:sym typeface="Symbol" pitchFamily="18" charset="2"/>
                  </a:rPr>
                  <a:t>any</a:t>
                </a:r>
                <a:r>
                  <a:rPr lang="en-US" altLang="zh-TW" sz="2800" dirty="0">
                    <a:solidFill>
                      <a:schemeClr val="accent2"/>
                    </a:solidFill>
                    <a:sym typeface="Symbol" pitchFamily="18" charset="2"/>
                  </a:rPr>
                  <a:t> Boolean function/truth table</a:t>
                </a:r>
                <a:r>
                  <a:rPr lang="en-US" altLang="zh-TW" sz="2800" dirty="0">
                    <a:sym typeface="Symbol" pitchFamily="18" charset="2"/>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170181"/>
                <a:ext cx="6696364" cy="5021979"/>
              </a:xfrm>
              <a:blipFill>
                <a:blip r:embed="rId3"/>
                <a:stretch>
                  <a:fillRect l="-2095" t="-1699" r="-2459" b="-36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725851779"/>
                  </p:ext>
                </p:extLst>
              </p:nvPr>
            </p:nvGraphicFramePr>
            <p:xfrm>
              <a:off x="7932945" y="2484238"/>
              <a:ext cx="3212813" cy="2509808"/>
            </p:xfrm>
            <a:graphic>
              <a:graphicData uri="http://schemas.openxmlformats.org/drawingml/2006/table">
                <a:tbl>
                  <a:tblPr firstRow="1" bandRow="1">
                    <a:tableStyleId>{8799B23B-EC83-4686-B30A-512413B5E67A}</a:tableStyleId>
                  </a:tblPr>
                  <a:tblGrid>
                    <a:gridCol w="1070588">
                      <a:extLst>
                        <a:ext uri="{9D8B030D-6E8A-4147-A177-3AD203B41FA5}">
                          <a16:colId xmlns:a16="http://schemas.microsoft.com/office/drawing/2014/main" val="20000"/>
                        </a:ext>
                      </a:extLst>
                    </a:gridCol>
                    <a:gridCol w="1071733">
                      <a:extLst>
                        <a:ext uri="{9D8B030D-6E8A-4147-A177-3AD203B41FA5}">
                          <a16:colId xmlns:a16="http://schemas.microsoft.com/office/drawing/2014/main" val="20001"/>
                        </a:ext>
                      </a:extLst>
                    </a:gridCol>
                    <a:gridCol w="107049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cs typeface="+mn-cs"/>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indent="0" algn="ctr">
                            <a:lnSpc>
                              <a:spcPct val="100000"/>
                            </a:lnSpc>
                          </a:pPr>
                          <a:r>
                            <a:rPr lang="en-US" sz="2400" i="1" dirty="0">
                              <a:latin typeface="Cambria" panose="02040503050406030204" pitchFamily="18" charset="0"/>
                              <a:ea typeface="Cambria" panose="02040503050406030204" pitchFamily="18" charset="0"/>
                            </a:rPr>
                            <a:t>p</a:t>
                          </a:r>
                          <a14:m>
                            <m:oMath xmlns:m="http://schemas.openxmlformats.org/officeDocument/2006/math">
                              <m:r>
                                <a:rPr lang="en-US" sz="2400" b="1" i="1" dirty="0" smtClean="0">
                                  <a:latin typeface="Cambria Math" panose="02040503050406030204" pitchFamily="18" charset="0"/>
                                  <a:ea typeface="Cambria Math" panose="02040503050406030204" pitchFamily="18" charset="0"/>
                                </a:rPr>
                                <m:t> </m:t>
                              </m:r>
                              <m:r>
                                <a:rPr lang="en-US" sz="2400" i="1" dirty="0" smtClean="0">
                                  <a:latin typeface="Cambria Math" panose="02040503050406030204" pitchFamily="18" charset="0"/>
                                  <a:ea typeface="Cambria Math" panose="02040503050406030204" pitchFamily="18" charset="0"/>
                                </a:rPr>
                                <m:t>∨</m:t>
                              </m:r>
                            </m:oMath>
                          </a14:m>
                          <a:r>
                            <a:rPr lang="en-US" sz="2400" i="1" dirty="0">
                              <a:latin typeface="Cambria" panose="02040503050406030204" pitchFamily="18" charset="0"/>
                              <a:ea typeface="Cambria" panose="02040503050406030204" pitchFamily="18" charset="0"/>
                            </a:rPr>
                            <a:t> 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725851779"/>
                  </p:ext>
                </p:extLst>
              </p:nvPr>
            </p:nvGraphicFramePr>
            <p:xfrm>
              <a:off x="7932945" y="2484238"/>
              <a:ext cx="3212813" cy="2509808"/>
            </p:xfrm>
            <a:graphic>
              <a:graphicData uri="http://schemas.openxmlformats.org/drawingml/2006/table">
                <a:tbl>
                  <a:tblPr firstRow="1" bandRow="1">
                    <a:tableStyleId>{8799B23B-EC83-4686-B30A-512413B5E67A}</a:tableStyleId>
                  </a:tblPr>
                  <a:tblGrid>
                    <a:gridCol w="1070588">
                      <a:extLst>
                        <a:ext uri="{9D8B030D-6E8A-4147-A177-3AD203B41FA5}">
                          <a16:colId xmlns:a16="http://schemas.microsoft.com/office/drawing/2014/main" val="20000"/>
                        </a:ext>
                      </a:extLst>
                    </a:gridCol>
                    <a:gridCol w="1071733">
                      <a:extLst>
                        <a:ext uri="{9D8B030D-6E8A-4147-A177-3AD203B41FA5}">
                          <a16:colId xmlns:a16="http://schemas.microsoft.com/office/drawing/2014/main" val="20001"/>
                        </a:ext>
                      </a:extLst>
                    </a:gridCol>
                    <a:gridCol w="107049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cs typeface="+mn-cs"/>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endParaRPr lang="en-US"/>
                        </a:p>
                      </a:txBody>
                      <a:tcPr marL="0" marR="0" marT="0" marB="0" anchor="ctr">
                        <a:blipFill>
                          <a:blip r:embed="rId4"/>
                          <a:stretch>
                            <a:fillRect l="-200568" t="-4878" r="-1705" b="-425610"/>
                          </a:stretch>
                        </a:blipFill>
                      </a:tcP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smtClean="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smtClean="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smtClean="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255" algn="ctr">
                            <a:lnSpc>
                              <a:spcPct val="100000"/>
                            </a:lnSpc>
                          </a:pPr>
                          <a:r>
                            <a:rPr lang="en-US" sz="2400" b="1" dirty="0" smtClean="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mc:Fallback>
      </mc:AlternateContent>
      <p:sp>
        <p:nvSpPr>
          <p:cNvPr id="9" name="Date Placeholder 8"/>
          <p:cNvSpPr>
            <a:spLocks noGrp="1"/>
          </p:cNvSpPr>
          <p:nvPr>
            <p:ph type="dt" sz="half" idx="10"/>
          </p:nvPr>
        </p:nvSpPr>
        <p:spPr/>
        <p:txBody>
          <a:bodyPr/>
          <a:lstStyle/>
          <a:p>
            <a:fld id="{ACE1A419-75F8-4308-A980-3B3A2C2861AC}" type="datetime1">
              <a:rPr lang="en-US" smtClean="0"/>
              <a:t>9/29/2022</a:t>
            </a:fld>
            <a:endParaRPr lang="en-US"/>
          </a:p>
        </p:txBody>
      </p:sp>
      <p:sp>
        <p:nvSpPr>
          <p:cNvPr id="10" name="Footer Placeholder 9"/>
          <p:cNvSpPr>
            <a:spLocks noGrp="1"/>
          </p:cNvSpPr>
          <p:nvPr>
            <p:ph type="ftr" sz="quarter" idx="11"/>
          </p:nvPr>
        </p:nvSpPr>
        <p:spPr/>
        <p:txBody>
          <a:bodyPr/>
          <a:lstStyle/>
          <a:p>
            <a:r>
              <a:rPr lang="en-US"/>
              <a:t>Introduction to AI</a:t>
            </a:r>
          </a:p>
        </p:txBody>
      </p:sp>
      <p:sp>
        <p:nvSpPr>
          <p:cNvPr id="11" name="Slide Number Placeholder 10"/>
          <p:cNvSpPr>
            <a:spLocks noGrp="1"/>
          </p:cNvSpPr>
          <p:nvPr>
            <p:ph type="sldNum" sz="quarter" idx="12"/>
          </p:nvPr>
        </p:nvSpPr>
        <p:spPr/>
        <p:txBody>
          <a:bodyPr/>
          <a:lstStyle/>
          <a:p>
            <a:fld id="{75B1DB82-35C9-4076-A5B8-0781B30E89ED}" type="slidenum">
              <a:rPr lang="en-US" smtClean="0"/>
              <a:t>21</a:t>
            </a:fld>
            <a:endParaRPr lang="en-US"/>
          </a:p>
        </p:txBody>
      </p:sp>
    </p:spTree>
    <p:extLst>
      <p:ext uri="{BB962C8B-B14F-4D97-AF65-F5344CB8AC3E}">
        <p14:creationId xmlns:p14="http://schemas.microsoft.com/office/powerpoint/2010/main" val="3606069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ea typeface="新細明體" pitchFamily="18" charset="-120"/>
              </a:rPr>
              <a:t>Nested Propositional Expressions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161521"/>
                <a:ext cx="7656946" cy="5146915"/>
              </a:xfrm>
            </p:spPr>
            <p:txBody>
              <a:bodyPr>
                <a:normAutofit fontScale="92500" lnSpcReduction="20000"/>
              </a:bodyPr>
              <a:lstStyle/>
              <a:p>
                <a:pPr>
                  <a:lnSpc>
                    <a:spcPct val="100000"/>
                  </a:lnSpc>
                  <a:spcBef>
                    <a:spcPts val="0"/>
                  </a:spcBef>
                  <a:spcAft>
                    <a:spcPts val="0"/>
                  </a:spcAft>
                </a:pPr>
                <a:r>
                  <a:rPr lang="en-US" sz="3000" dirty="0"/>
                  <a:t>A </a:t>
                </a:r>
                <a:r>
                  <a:rPr lang="en-US" sz="3000" dirty="0">
                    <a:solidFill>
                      <a:srgbClr val="C00000"/>
                    </a:solidFill>
                  </a:rPr>
                  <a:t>nested</a:t>
                </a:r>
                <a:r>
                  <a:rPr lang="en-US" sz="3000" dirty="0"/>
                  <a:t> propositional expression is constructed using several propositions connected with the operators: AND, OR, NOT</a:t>
                </a:r>
              </a:p>
              <a:p>
                <a:pPr>
                  <a:lnSpc>
                    <a:spcPct val="100000"/>
                  </a:lnSpc>
                  <a:spcBef>
                    <a:spcPts val="0"/>
                  </a:spcBef>
                  <a:spcAft>
                    <a:spcPts val="0"/>
                  </a:spcAft>
                </a:pPr>
                <a:r>
                  <a:rPr lang="en-US" sz="3000" dirty="0"/>
                  <a:t>where parentheses are used to group sub-expressions</a:t>
                </a:r>
              </a:p>
              <a:p>
                <a:pPr marL="76198" indent="0">
                  <a:lnSpc>
                    <a:spcPct val="100000"/>
                  </a:lnSpc>
                  <a:spcBef>
                    <a:spcPts val="0"/>
                  </a:spcBef>
                  <a:spcAft>
                    <a:spcPts val="0"/>
                  </a:spcAft>
                  <a:buNone/>
                </a:pPr>
                <a:endParaRPr lang="en-US" sz="3000" dirty="0"/>
              </a:p>
              <a:p>
                <a:pPr lvl="1"/>
                <a:r>
                  <a:rPr lang="en-US" sz="3000" b="1" dirty="0"/>
                  <a:t>Example</a:t>
                </a:r>
                <a:r>
                  <a:rPr lang="en-US" dirty="0"/>
                  <a:t>:</a:t>
                </a:r>
              </a:p>
              <a:p>
                <a:pPr lvl="2"/>
                <a:r>
                  <a:rPr lang="en-US" sz="2600" b="1" i="1" dirty="0"/>
                  <a:t>f </a:t>
                </a:r>
                <a14:m>
                  <m:oMath xmlns:m="http://schemas.openxmlformats.org/officeDocument/2006/math">
                    <m:r>
                      <m:rPr>
                        <m:sty m:val="p"/>
                      </m:rPr>
                      <a:rPr lang="en-US" sz="2600" dirty="0">
                        <a:latin typeface="Cambria Math" panose="02040503050406030204" pitchFamily="18" charset="0"/>
                        <a:ea typeface="Cambria Math" panose="02040503050406030204" pitchFamily="18" charset="0"/>
                      </a:rPr>
                      <m:t>V</m:t>
                    </m:r>
                  </m:oMath>
                </a14:m>
                <a:r>
                  <a:rPr lang="en-US" sz="2600" b="1" i="1" dirty="0"/>
                  <a:t> (g </a:t>
                </a:r>
                <a14:m>
                  <m:oMath xmlns:m="http://schemas.openxmlformats.org/officeDocument/2006/math">
                    <m:r>
                      <a:rPr lang="en-US" sz="2600" b="1" i="1" dirty="0">
                        <a:latin typeface="Cambria Math" panose="02040503050406030204" pitchFamily="18" charset="0"/>
                        <a:ea typeface="Cambria Math" panose="02040503050406030204" pitchFamily="18" charset="0"/>
                      </a:rPr>
                      <m:t>⋀</m:t>
                    </m:r>
                  </m:oMath>
                </a14:m>
                <a:r>
                  <a:rPr lang="en-US" sz="2600" b="1" i="1" dirty="0"/>
                  <a:t> s)</a:t>
                </a:r>
                <a:r>
                  <a:rPr lang="en-US" sz="2600" dirty="0"/>
                  <a:t> is a proposition that would mean something different than </a:t>
                </a:r>
                <a:r>
                  <a:rPr lang="en-US" sz="2600" b="1" i="1" dirty="0"/>
                  <a:t>(f </a:t>
                </a:r>
                <a14:m>
                  <m:oMath xmlns:m="http://schemas.openxmlformats.org/officeDocument/2006/math">
                    <m:r>
                      <m:rPr>
                        <m:sty m:val="p"/>
                      </m:rPr>
                      <a:rPr lang="en-US" sz="2600" dirty="0">
                        <a:latin typeface="Cambria Math" panose="02040503050406030204" pitchFamily="18" charset="0"/>
                        <a:ea typeface="Cambria Math" panose="02040503050406030204" pitchFamily="18" charset="0"/>
                      </a:rPr>
                      <m:t>V</m:t>
                    </m:r>
                  </m:oMath>
                </a14:m>
                <a:r>
                  <a:rPr lang="en-US" sz="2600" b="1" i="1" dirty="0"/>
                  <a:t> g) </a:t>
                </a:r>
                <a14:m>
                  <m:oMath xmlns:m="http://schemas.openxmlformats.org/officeDocument/2006/math">
                    <m:r>
                      <a:rPr lang="en-US" sz="2600" b="1" i="1" dirty="0">
                        <a:latin typeface="Cambria Math" panose="02040503050406030204" pitchFamily="18" charset="0"/>
                        <a:ea typeface="Cambria Math" panose="02040503050406030204" pitchFamily="18" charset="0"/>
                      </a:rPr>
                      <m:t>⋀</m:t>
                    </m:r>
                  </m:oMath>
                </a14:m>
                <a:r>
                  <a:rPr lang="en-US" sz="2600" b="1" i="1" dirty="0"/>
                  <a:t> s</a:t>
                </a:r>
                <a:endParaRPr lang="en-US" sz="2600" dirty="0"/>
              </a:p>
              <a:p>
                <a:pPr lvl="2"/>
                <a:r>
                  <a:rPr lang="en-US" sz="2600" b="1" i="1" dirty="0"/>
                  <a:t>f</a:t>
                </a:r>
                <a:r>
                  <a:rPr lang="en-US" altLang="zh-TW" sz="2600" b="1" i="1" dirty="0">
                    <a:ea typeface="新細明體" pitchFamily="18" charset="-120"/>
                    <a:sym typeface="Symbol" pitchFamily="18" charset="2"/>
                  </a:rPr>
                  <a:t> </a:t>
                </a:r>
                <a:r>
                  <a:rPr lang="en-US" altLang="zh-TW" sz="2600" dirty="0">
                    <a:ea typeface="新細明體" pitchFamily="18" charset="-120"/>
                    <a:sym typeface="Symbol" pitchFamily="18" charset="2"/>
                  </a:rPr>
                  <a:t>∨</a:t>
                </a:r>
                <a:r>
                  <a:rPr lang="en-US" altLang="zh-TW" sz="2600" b="1" dirty="0">
                    <a:cs typeface="Arial"/>
                    <a:sym typeface="Symbol" pitchFamily="18" charset="2"/>
                  </a:rPr>
                  <a:t> </a:t>
                </a:r>
                <a:r>
                  <a:rPr lang="en-US" sz="2600" b="1" i="1" dirty="0"/>
                  <a:t>g </a:t>
                </a:r>
                <a14:m>
                  <m:oMath xmlns:m="http://schemas.openxmlformats.org/officeDocument/2006/math">
                    <m:r>
                      <a:rPr lang="en-US" sz="2600" dirty="0">
                        <a:latin typeface="Cambria Math" panose="02040503050406030204" pitchFamily="18" charset="0"/>
                        <a:ea typeface="Cambria Math" panose="02040503050406030204" pitchFamily="18" charset="0"/>
                      </a:rPr>
                      <m:t>⋀</m:t>
                    </m:r>
                  </m:oMath>
                </a14:m>
                <a:r>
                  <a:rPr lang="en-US" sz="2600" b="1" i="1" dirty="0"/>
                  <a:t> s </a:t>
                </a:r>
                <a:r>
                  <a:rPr lang="en-US" sz="2600" dirty="0"/>
                  <a:t>would be ambiguous (</a:t>
                </a:r>
                <a:r>
                  <a:rPr lang="en-US" sz="2600" dirty="0">
                    <a:solidFill>
                      <a:srgbClr val="0000CC"/>
                    </a:solidFill>
                  </a:rPr>
                  <a:t>if operator precedence rules are not used</a:t>
                </a:r>
                <a:r>
                  <a:rPr lang="en-US" sz="2600" dirty="0"/>
                  <a:t>)</a:t>
                </a:r>
              </a:p>
              <a:p>
                <a:pPr>
                  <a:lnSpc>
                    <a:spcPct val="100000"/>
                  </a:lnSpc>
                  <a:spcBef>
                    <a:spcPts val="0"/>
                  </a:spcBef>
                  <a:spcAft>
                    <a:spcPts val="0"/>
                  </a:spcAft>
                </a:pPr>
                <a:endParaRPr lang="en-US" altLang="zh-TW" sz="2800" dirty="0">
                  <a:sym typeface="Symbol" pitchFamily="18" charset="2"/>
                </a:endParaRPr>
              </a:p>
              <a:p>
                <a:pPr>
                  <a:lnSpc>
                    <a:spcPct val="100000"/>
                  </a:lnSpc>
                  <a:spcBef>
                    <a:spcPts val="0"/>
                  </a:spcBef>
                  <a:spcAft>
                    <a:spcPts val="0"/>
                  </a:spcAft>
                </a:pPr>
                <a:r>
                  <a:rPr lang="en-US" altLang="zh-TW" sz="2800" dirty="0">
                    <a:sym typeface="Symbol" pitchFamily="18" charset="2"/>
                  </a:rPr>
                  <a:t>By convention, the “</a:t>
                </a:r>
                <a:r>
                  <a:rPr lang="en-US" altLang="zh-TW" sz="2800" dirty="0"/>
                  <a:t>¬” operator has </a:t>
                </a:r>
                <a:r>
                  <a:rPr lang="en-US" altLang="zh-TW" sz="2800" i="1" dirty="0"/>
                  <a:t>precedence</a:t>
                </a:r>
                <a:r>
                  <a:rPr lang="en-US" altLang="zh-TW" sz="2800" dirty="0"/>
                  <a:t> over both “</a:t>
                </a:r>
                <a:r>
                  <a:rPr lang="en-US" altLang="zh-TW" sz="2800" dirty="0">
                    <a:sym typeface="Symbol" pitchFamily="18" charset="2"/>
                  </a:rPr>
                  <a:t></a:t>
                </a:r>
                <a:r>
                  <a:rPr lang="en-US" altLang="zh-TW" sz="2800" dirty="0"/>
                  <a:t>” and “</a:t>
                </a:r>
                <a:r>
                  <a:rPr lang="en-US" altLang="zh-TW" sz="2800" dirty="0">
                    <a:sym typeface="Symbol" pitchFamily="18" charset="2"/>
                  </a:rPr>
                  <a:t>” operators:</a:t>
                </a:r>
              </a:p>
              <a:p>
                <a:pPr lvl="2">
                  <a:lnSpc>
                    <a:spcPct val="100000"/>
                  </a:lnSpc>
                  <a:spcBef>
                    <a:spcPts val="0"/>
                  </a:spcBef>
                  <a:spcAft>
                    <a:spcPts val="0"/>
                  </a:spcAft>
                </a:pPr>
                <a:r>
                  <a:rPr lang="en-US" altLang="zh-TW" sz="2800" dirty="0"/>
                  <a:t>  </a:t>
                </a:r>
                <a:r>
                  <a:rPr lang="en-US" altLang="zh-TW" sz="2800" dirty="0">
                    <a:solidFill>
                      <a:schemeClr val="accent1">
                        <a:lumMod val="75000"/>
                      </a:schemeClr>
                    </a:solidFill>
                  </a:rPr>
                  <a:t>¬</a:t>
                </a:r>
                <a:r>
                  <a:rPr lang="en-US" altLang="zh-TW" sz="2800" i="1" dirty="0">
                    <a:solidFill>
                      <a:schemeClr val="accent1">
                        <a:lumMod val="75000"/>
                      </a:schemeClr>
                    </a:solidFill>
                  </a:rPr>
                  <a:t>s </a:t>
                </a:r>
                <a:r>
                  <a:rPr lang="en-US" altLang="zh-TW" sz="2800" dirty="0">
                    <a:solidFill>
                      <a:schemeClr val="accent1">
                        <a:lumMod val="75000"/>
                      </a:schemeClr>
                    </a:solidFill>
                    <a:sym typeface="Symbol" pitchFamily="18" charset="2"/>
                  </a:rPr>
                  <a:t> </a:t>
                </a:r>
                <a:r>
                  <a:rPr lang="en-US" altLang="zh-TW" sz="2800" i="1" dirty="0">
                    <a:solidFill>
                      <a:schemeClr val="accent1">
                        <a:lumMod val="75000"/>
                      </a:schemeClr>
                    </a:solidFill>
                  </a:rPr>
                  <a:t>f</a:t>
                </a:r>
                <a:r>
                  <a:rPr lang="en-US" altLang="zh-TW" sz="2800" dirty="0">
                    <a:solidFill>
                      <a:schemeClr val="accent1">
                        <a:lumMod val="75000"/>
                      </a:schemeClr>
                    </a:solidFill>
                  </a:rPr>
                  <a:t>   </a:t>
                </a:r>
                <a:r>
                  <a:rPr lang="en-US" altLang="zh-TW" sz="2800" dirty="0"/>
                  <a:t>means   </a:t>
                </a:r>
                <a:r>
                  <a:rPr lang="en-US" altLang="zh-TW" sz="2800" dirty="0">
                    <a:solidFill>
                      <a:schemeClr val="accent1">
                        <a:lumMod val="75000"/>
                      </a:schemeClr>
                    </a:solidFill>
                  </a:rPr>
                  <a:t>(¬</a:t>
                </a:r>
                <a:r>
                  <a:rPr lang="en-US" altLang="zh-TW" sz="2800" i="1" dirty="0">
                    <a:solidFill>
                      <a:schemeClr val="accent1">
                        <a:lumMod val="75000"/>
                      </a:schemeClr>
                    </a:solidFill>
                  </a:rPr>
                  <a:t>s</a:t>
                </a:r>
                <a:r>
                  <a:rPr lang="en-US" altLang="zh-TW" sz="2800" dirty="0">
                    <a:solidFill>
                      <a:schemeClr val="accent1">
                        <a:lumMod val="75000"/>
                      </a:schemeClr>
                    </a:solidFill>
                  </a:rPr>
                  <a:t>)</a:t>
                </a:r>
                <a:r>
                  <a:rPr lang="en-US" altLang="zh-TW" sz="2800" i="1" dirty="0">
                    <a:solidFill>
                      <a:schemeClr val="accent1">
                        <a:lumMod val="75000"/>
                      </a:schemeClr>
                    </a:solidFill>
                  </a:rPr>
                  <a:t> </a:t>
                </a:r>
                <a:r>
                  <a:rPr lang="en-US" altLang="zh-TW" sz="2800" dirty="0">
                    <a:solidFill>
                      <a:schemeClr val="accent1">
                        <a:lumMod val="75000"/>
                      </a:schemeClr>
                    </a:solidFill>
                    <a:sym typeface="Symbol" pitchFamily="18" charset="2"/>
                  </a:rPr>
                  <a:t> </a:t>
                </a:r>
                <a:r>
                  <a:rPr lang="en-US" altLang="zh-TW" sz="2800" i="1" dirty="0">
                    <a:solidFill>
                      <a:schemeClr val="accent1">
                        <a:lumMod val="75000"/>
                      </a:schemeClr>
                    </a:solidFill>
                  </a:rPr>
                  <a:t>f  </a:t>
                </a:r>
                <a:r>
                  <a:rPr lang="en-US" altLang="zh-TW" sz="2800" dirty="0"/>
                  <a:t>but not   </a:t>
                </a:r>
                <a:r>
                  <a:rPr lang="en-US" altLang="zh-TW" sz="2800" dirty="0">
                    <a:solidFill>
                      <a:srgbClr val="FF0000"/>
                    </a:solidFill>
                  </a:rPr>
                  <a:t>¬ (</a:t>
                </a:r>
                <a:r>
                  <a:rPr lang="en-US" altLang="zh-TW" sz="2800" i="1" dirty="0">
                    <a:solidFill>
                      <a:srgbClr val="FF0000"/>
                    </a:solidFill>
                  </a:rPr>
                  <a:t>s </a:t>
                </a:r>
                <a:r>
                  <a:rPr lang="en-US" altLang="zh-TW" sz="2800" dirty="0">
                    <a:solidFill>
                      <a:srgbClr val="FF0000"/>
                    </a:solidFill>
                    <a:sym typeface="Symbol" pitchFamily="18" charset="2"/>
                  </a:rPr>
                  <a:t> </a:t>
                </a:r>
                <a:r>
                  <a:rPr lang="en-US" altLang="zh-TW" sz="2800" i="1" dirty="0">
                    <a:solidFill>
                      <a:srgbClr val="FF0000"/>
                    </a:solidFill>
                  </a:rPr>
                  <a:t>f</a:t>
                </a:r>
                <a:r>
                  <a:rPr lang="en-US" altLang="zh-TW" sz="2800" dirty="0">
                    <a:solidFill>
                      <a:srgbClr val="FF0000"/>
                    </a:solidFill>
                  </a:rPr>
                  <a:t>)</a:t>
                </a:r>
                <a:endParaRPr lang="en-US" sz="2800" dirty="0">
                  <a:solidFill>
                    <a:srgbClr val="FF0000"/>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161521"/>
                <a:ext cx="7656946" cy="5146915"/>
              </a:xfrm>
              <a:blipFill>
                <a:blip r:embed="rId3"/>
                <a:stretch>
                  <a:fillRect l="-1831" t="-3199" r="-2309" b="-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object 5"/>
              <p:cNvGraphicFramePr>
                <a:graphicFrameLocks noGrp="1"/>
              </p:cNvGraphicFramePr>
              <p:nvPr>
                <p:extLst>
                  <p:ext uri="{D42A27DB-BD31-4B8C-83A1-F6EECF244321}">
                    <p14:modId xmlns:p14="http://schemas.microsoft.com/office/powerpoint/2010/main" val="206718278"/>
                  </p:ext>
                </p:extLst>
              </p:nvPr>
            </p:nvGraphicFramePr>
            <p:xfrm>
              <a:off x="7961746" y="2742679"/>
              <a:ext cx="3842327" cy="1621204"/>
            </p:xfrm>
            <a:graphic>
              <a:graphicData uri="http://schemas.openxmlformats.org/drawingml/2006/table">
                <a:tbl>
                  <a:tblPr firstRow="1" bandRow="1">
                    <a:tableStyleId>{5DA37D80-6434-44D0-A028-1B22A696006F}</a:tableStyleId>
                  </a:tblPr>
                  <a:tblGrid>
                    <a:gridCol w="1930400">
                      <a:extLst>
                        <a:ext uri="{9D8B030D-6E8A-4147-A177-3AD203B41FA5}">
                          <a16:colId xmlns:a16="http://schemas.microsoft.com/office/drawing/2014/main" val="20001"/>
                        </a:ext>
                      </a:extLst>
                    </a:gridCol>
                    <a:gridCol w="1911927">
                      <a:extLst>
                        <a:ext uri="{9D8B030D-6E8A-4147-A177-3AD203B41FA5}">
                          <a16:colId xmlns:a16="http://schemas.microsoft.com/office/drawing/2014/main" val="20002"/>
                        </a:ext>
                      </a:extLst>
                    </a:gridCol>
                  </a:tblGrid>
                  <a:tr h="401341">
                    <a:tc>
                      <a:txBody>
                        <a:bodyPr/>
                        <a:lstStyle/>
                        <a:p>
                          <a:pPr marL="0" indent="0" algn="ctr">
                            <a:lnSpc>
                              <a:spcPct val="100000"/>
                            </a:lnSpc>
                          </a:pPr>
                          <a:r>
                            <a:rPr lang="en-US" sz="2400" b="0" dirty="0">
                              <a:latin typeface="+mn-lt"/>
                              <a:cs typeface="Arial"/>
                            </a:rPr>
                            <a:t>Operator</a:t>
                          </a:r>
                        </a:p>
                      </a:txBody>
                      <a:tcPr marL="0" marR="0" marT="0" marB="0" anchor="ctr"/>
                    </a:tc>
                    <a:tc>
                      <a:txBody>
                        <a:bodyPr/>
                        <a:lstStyle/>
                        <a:p>
                          <a:pPr marL="176213" indent="0">
                            <a:lnSpc>
                              <a:spcPct val="100000"/>
                            </a:lnSpc>
                          </a:pPr>
                          <a:r>
                            <a:rPr lang="en-US" sz="2400" b="0" dirty="0"/>
                            <a:t>Precedence</a:t>
                          </a:r>
                          <a:endParaRPr sz="2400" b="0" dirty="0">
                            <a:latin typeface="+mn-lt"/>
                            <a:cs typeface="Arial"/>
                          </a:endParaRPr>
                        </a:p>
                      </a:txBody>
                      <a:tcPr marL="0" marR="0" marT="0" marB="0" anchor="ctr"/>
                    </a:tc>
                    <a:extLst>
                      <a:ext uri="{0D108BD9-81ED-4DB2-BD59-A6C34878D82A}">
                        <a16:rowId xmlns:a16="http://schemas.microsoft.com/office/drawing/2014/main" val="10000"/>
                      </a:ext>
                    </a:extLst>
                  </a:tr>
                  <a:tr h="408403">
                    <a:tc>
                      <a:txBody>
                        <a:bodyPr/>
                        <a:lstStyle/>
                        <a:p>
                          <a:pPr marL="155575" marR="0" lvl="0" indent="0" algn="ctr" defTabSz="914377" rtl="0" eaLnBrk="1" fontAlgn="auto" latinLnBrk="0" hangingPunct="1">
                            <a:lnSpc>
                              <a:spcPct val="100000"/>
                            </a:lnSpc>
                            <a:spcBef>
                              <a:spcPts val="0"/>
                            </a:spcBef>
                            <a:spcAft>
                              <a:spcPts val="0"/>
                            </a:spcAft>
                            <a:buClrTx/>
                            <a:buSzTx/>
                            <a:buFontTx/>
                            <a:buNone/>
                            <a:tabLst/>
                            <a:defRPr/>
                          </a:pPr>
                          <a:r>
                            <a:rPr lang="en-US" sz="2400" b="1" dirty="0">
                              <a:solidFill>
                                <a:srgbClr val="FF0000"/>
                              </a:solidFill>
                              <a:latin typeface="+mn-lt"/>
                              <a:ea typeface="Cambria" panose="02040503050406030204" pitchFamily="18" charset="0"/>
                              <a:sym typeface="Symbol"/>
                            </a:rPr>
                            <a:t></a:t>
                          </a:r>
                          <a:endParaRPr lang="en-US" sz="2400" b="1" dirty="0">
                            <a:solidFill>
                              <a:srgbClr val="FF0000"/>
                            </a:solidFill>
                            <a:latin typeface="+mn-lt"/>
                            <a:ea typeface="Cambria" panose="02040503050406030204" pitchFamily="18" charset="0"/>
                          </a:endParaRPr>
                        </a:p>
                      </a:txBody>
                      <a:tcPr marL="0" marR="0" marT="0" marB="0"/>
                    </a:tc>
                    <a:tc>
                      <a:txBody>
                        <a:bodyPr/>
                        <a:lstStyle/>
                        <a:p>
                          <a:pPr algn="ctr"/>
                          <a:r>
                            <a:rPr lang="en-US" sz="2400" dirty="0">
                              <a:latin typeface="+mn-lt"/>
                              <a:cs typeface="Arial"/>
                            </a:rPr>
                            <a:t>1</a:t>
                          </a:r>
                          <a:endParaRPr sz="2400" dirty="0">
                            <a:latin typeface="+mn-lt"/>
                            <a:cs typeface="Arial"/>
                          </a:endParaRPr>
                        </a:p>
                      </a:txBody>
                      <a:tcPr marL="0" marR="0" marT="0" marB="0" anchor="ctr"/>
                    </a:tc>
                    <a:extLst>
                      <a:ext uri="{0D108BD9-81ED-4DB2-BD59-A6C34878D82A}">
                        <a16:rowId xmlns:a16="http://schemas.microsoft.com/office/drawing/2014/main" val="10001"/>
                      </a:ext>
                    </a:extLst>
                  </a:tr>
                  <a:tr h="409261">
                    <a:tc>
                      <a:txBody>
                        <a:bodyPr/>
                        <a:lstStyle/>
                        <a:p>
                          <a:pPr marL="155575" algn="ctr">
                            <a:lnSpc>
                              <a:spcPct val="100000"/>
                            </a:lnSpc>
                          </a:pPr>
                          <a:r>
                            <a:rPr lang="en-US" sz="2400" dirty="0">
                              <a:solidFill>
                                <a:srgbClr val="FF0000"/>
                              </a:solidFill>
                              <a:ea typeface="Cambria Math" panose="02040503050406030204" pitchFamily="18" charset="0"/>
                            </a:rPr>
                            <a:t> </a:t>
                          </a:r>
                          <a14:m>
                            <m:oMath xmlns:m="http://schemas.openxmlformats.org/officeDocument/2006/math">
                              <m:r>
                                <a:rPr lang="en-US" sz="2400" i="1" dirty="0" smtClean="0">
                                  <a:solidFill>
                                    <a:srgbClr val="FF0000"/>
                                  </a:solidFill>
                                  <a:latin typeface="Cambria Math" panose="02040503050406030204" pitchFamily="18" charset="0"/>
                                  <a:ea typeface="Cambria Math" panose="02040503050406030204" pitchFamily="18" charset="0"/>
                                </a:rPr>
                                <m:t>⋀</m:t>
                              </m:r>
                            </m:oMath>
                          </a14:m>
                          <a:endParaRPr lang="en-US" sz="2400" dirty="0">
                            <a:solidFill>
                              <a:srgbClr val="FF0000"/>
                            </a:solidFill>
                            <a:latin typeface="+mn-lt"/>
                            <a:cs typeface="Arial"/>
                          </a:endParaRPr>
                        </a:p>
                      </a:txBody>
                      <a:tcPr marL="0" marR="0" marT="0" marB="0"/>
                    </a:tc>
                    <a:tc>
                      <a:txBody>
                        <a:bodyPr/>
                        <a:lstStyle/>
                        <a:p>
                          <a:pPr algn="ctr"/>
                          <a:r>
                            <a:rPr lang="en-US" sz="2400" dirty="0">
                              <a:latin typeface="+mn-lt"/>
                              <a:cs typeface="Arial"/>
                            </a:rPr>
                            <a:t>2</a:t>
                          </a:r>
                          <a:endParaRPr sz="2400" dirty="0">
                            <a:latin typeface="+mn-lt"/>
                            <a:cs typeface="Arial"/>
                          </a:endParaRPr>
                        </a:p>
                      </a:txBody>
                      <a:tcPr marL="0" marR="0" marT="0" marB="0" anchor="ctr"/>
                    </a:tc>
                    <a:extLst>
                      <a:ext uri="{0D108BD9-81ED-4DB2-BD59-A6C34878D82A}">
                        <a16:rowId xmlns:a16="http://schemas.microsoft.com/office/drawing/2014/main" val="10002"/>
                      </a:ext>
                    </a:extLst>
                  </a:tr>
                  <a:tr h="402199">
                    <a:tc>
                      <a:txBody>
                        <a:bodyPr/>
                        <a:lstStyle/>
                        <a:p>
                          <a:pPr marL="155575" algn="ctr">
                            <a:lnSpc>
                              <a:spcPct val="100000"/>
                            </a:lnSpc>
                          </a:pPr>
                          <a:r>
                            <a:rPr lang="en-US" altLang="zh-TW" sz="2400" dirty="0">
                              <a:solidFill>
                                <a:srgbClr val="FF0000"/>
                              </a:solidFill>
                              <a:ea typeface="新細明體" pitchFamily="18" charset="-120"/>
                              <a:sym typeface="Symbol" pitchFamily="18" charset="2"/>
                            </a:rPr>
                            <a:t>∨</a:t>
                          </a:r>
                          <a:endParaRPr sz="2400" dirty="0">
                            <a:solidFill>
                              <a:srgbClr val="FF0000"/>
                            </a:solidFill>
                            <a:latin typeface="+mn-lt"/>
                            <a:cs typeface="Arial"/>
                          </a:endParaRPr>
                        </a:p>
                      </a:txBody>
                      <a:tcPr marL="0" marR="0" marT="0" marB="0"/>
                    </a:tc>
                    <a:tc>
                      <a:txBody>
                        <a:bodyPr/>
                        <a:lstStyle/>
                        <a:p>
                          <a:pPr marL="0" indent="0" algn="ctr">
                            <a:lnSpc>
                              <a:spcPct val="100000"/>
                            </a:lnSpc>
                          </a:pPr>
                          <a:r>
                            <a:rPr lang="en-US" sz="2400" dirty="0"/>
                            <a:t>3</a:t>
                          </a:r>
                          <a:endParaRPr sz="2400" dirty="0">
                            <a:latin typeface="+mn-lt"/>
                            <a:cs typeface="Arial"/>
                          </a:endParaRPr>
                        </a:p>
                      </a:txBody>
                      <a:tcPr marL="0" marR="0" marT="0" marB="0" anchor="ctr"/>
                    </a:tc>
                    <a:extLst>
                      <a:ext uri="{0D108BD9-81ED-4DB2-BD59-A6C34878D82A}">
                        <a16:rowId xmlns:a16="http://schemas.microsoft.com/office/drawing/2014/main" val="10003"/>
                      </a:ext>
                    </a:extLst>
                  </a:tr>
                </a:tbl>
              </a:graphicData>
            </a:graphic>
          </p:graphicFrame>
        </mc:Choice>
        <mc:Fallback xmlns="">
          <p:graphicFrame>
            <p:nvGraphicFramePr>
              <p:cNvPr id="4" name="object 5"/>
              <p:cNvGraphicFramePr>
                <a:graphicFrameLocks noGrp="1"/>
              </p:cNvGraphicFramePr>
              <p:nvPr>
                <p:extLst>
                  <p:ext uri="{D42A27DB-BD31-4B8C-83A1-F6EECF244321}">
                    <p14:modId xmlns:p14="http://schemas.microsoft.com/office/powerpoint/2010/main" val="206718278"/>
                  </p:ext>
                </p:extLst>
              </p:nvPr>
            </p:nvGraphicFramePr>
            <p:xfrm>
              <a:off x="7961746" y="2742679"/>
              <a:ext cx="3842327" cy="1621204"/>
            </p:xfrm>
            <a:graphic>
              <a:graphicData uri="http://schemas.openxmlformats.org/drawingml/2006/table">
                <a:tbl>
                  <a:tblPr firstRow="1" bandRow="1">
                    <a:tableStyleId>{5DA37D80-6434-44D0-A028-1B22A696006F}</a:tableStyleId>
                  </a:tblPr>
                  <a:tblGrid>
                    <a:gridCol w="1930400">
                      <a:extLst>
                        <a:ext uri="{9D8B030D-6E8A-4147-A177-3AD203B41FA5}">
                          <a16:colId xmlns:a16="http://schemas.microsoft.com/office/drawing/2014/main" val="20001"/>
                        </a:ext>
                      </a:extLst>
                    </a:gridCol>
                    <a:gridCol w="1911927">
                      <a:extLst>
                        <a:ext uri="{9D8B030D-6E8A-4147-A177-3AD203B41FA5}">
                          <a16:colId xmlns:a16="http://schemas.microsoft.com/office/drawing/2014/main" val="20002"/>
                        </a:ext>
                      </a:extLst>
                    </a:gridCol>
                  </a:tblGrid>
                  <a:tr h="401341">
                    <a:tc>
                      <a:txBody>
                        <a:bodyPr/>
                        <a:lstStyle/>
                        <a:p>
                          <a:pPr marL="0" indent="0" algn="ctr">
                            <a:lnSpc>
                              <a:spcPct val="100000"/>
                            </a:lnSpc>
                          </a:pPr>
                          <a:r>
                            <a:rPr lang="en-US" sz="2400" b="0" dirty="0">
                              <a:latin typeface="+mn-lt"/>
                              <a:cs typeface="Arial"/>
                            </a:rPr>
                            <a:t>Operator</a:t>
                          </a:r>
                        </a:p>
                      </a:txBody>
                      <a:tcPr marL="0" marR="0" marT="0" marB="0" anchor="ctr"/>
                    </a:tc>
                    <a:tc>
                      <a:txBody>
                        <a:bodyPr/>
                        <a:lstStyle/>
                        <a:p>
                          <a:pPr marL="176213" indent="0">
                            <a:lnSpc>
                              <a:spcPct val="100000"/>
                            </a:lnSpc>
                          </a:pPr>
                          <a:r>
                            <a:rPr lang="en-US" sz="2400" b="0" dirty="0"/>
                            <a:t>Precedence</a:t>
                          </a:r>
                          <a:endParaRPr sz="2400" b="0" dirty="0">
                            <a:latin typeface="+mn-lt"/>
                            <a:cs typeface="Arial"/>
                          </a:endParaRPr>
                        </a:p>
                      </a:txBody>
                      <a:tcPr marL="0" marR="0" marT="0" marB="0" anchor="ctr"/>
                    </a:tc>
                    <a:extLst>
                      <a:ext uri="{0D108BD9-81ED-4DB2-BD59-A6C34878D82A}">
                        <a16:rowId xmlns:a16="http://schemas.microsoft.com/office/drawing/2014/main" val="10000"/>
                      </a:ext>
                    </a:extLst>
                  </a:tr>
                  <a:tr h="408403">
                    <a:tc>
                      <a:txBody>
                        <a:bodyPr/>
                        <a:lstStyle/>
                        <a:p>
                          <a:pPr marL="155575" marR="0" lvl="0" indent="0" algn="ctr" defTabSz="914377" rtl="0" eaLnBrk="1" fontAlgn="auto" latinLnBrk="0" hangingPunct="1">
                            <a:lnSpc>
                              <a:spcPct val="100000"/>
                            </a:lnSpc>
                            <a:spcBef>
                              <a:spcPts val="0"/>
                            </a:spcBef>
                            <a:spcAft>
                              <a:spcPts val="0"/>
                            </a:spcAft>
                            <a:buClrTx/>
                            <a:buSzTx/>
                            <a:buFontTx/>
                            <a:buNone/>
                            <a:tabLst/>
                            <a:defRPr/>
                          </a:pPr>
                          <a:r>
                            <a:rPr lang="en-US" sz="2400" b="1" dirty="0">
                              <a:solidFill>
                                <a:srgbClr val="FF0000"/>
                              </a:solidFill>
                              <a:latin typeface="+mn-lt"/>
                              <a:ea typeface="Cambria" panose="02040503050406030204" pitchFamily="18" charset="0"/>
                              <a:sym typeface="Symbol"/>
                            </a:rPr>
                            <a:t></a:t>
                          </a:r>
                          <a:endParaRPr lang="en-US" sz="2400" b="1" dirty="0">
                            <a:solidFill>
                              <a:srgbClr val="FF0000"/>
                            </a:solidFill>
                            <a:latin typeface="+mn-lt"/>
                            <a:ea typeface="Cambria" panose="02040503050406030204" pitchFamily="18" charset="0"/>
                          </a:endParaRPr>
                        </a:p>
                      </a:txBody>
                      <a:tcPr marL="0" marR="0" marT="0" marB="0"/>
                    </a:tc>
                    <a:tc>
                      <a:txBody>
                        <a:bodyPr/>
                        <a:lstStyle/>
                        <a:p>
                          <a:pPr algn="ctr"/>
                          <a:r>
                            <a:rPr lang="en-US" sz="2400" dirty="0">
                              <a:latin typeface="+mn-lt"/>
                              <a:cs typeface="Arial"/>
                            </a:rPr>
                            <a:t>1</a:t>
                          </a:r>
                          <a:endParaRPr sz="2400" dirty="0">
                            <a:latin typeface="+mn-lt"/>
                            <a:cs typeface="Arial"/>
                          </a:endParaRPr>
                        </a:p>
                      </a:txBody>
                      <a:tcPr marL="0" marR="0" marT="0" marB="0" anchor="ctr"/>
                    </a:tc>
                    <a:extLst>
                      <a:ext uri="{0D108BD9-81ED-4DB2-BD59-A6C34878D82A}">
                        <a16:rowId xmlns:a16="http://schemas.microsoft.com/office/drawing/2014/main" val="10001"/>
                      </a:ext>
                    </a:extLst>
                  </a:tr>
                  <a:tr h="409261">
                    <a:tc>
                      <a:txBody>
                        <a:bodyPr/>
                        <a:lstStyle/>
                        <a:p>
                          <a:endParaRPr lang="en-US"/>
                        </a:p>
                      </a:txBody>
                      <a:tcPr marL="0" marR="0" marT="0" marB="0">
                        <a:blipFill>
                          <a:blip r:embed="rId4"/>
                          <a:stretch>
                            <a:fillRect l="-315" t="-213235" r="-100000" b="-136765"/>
                          </a:stretch>
                        </a:blipFill>
                      </a:tcPr>
                    </a:tc>
                    <a:tc>
                      <a:txBody>
                        <a:bodyPr/>
                        <a:lstStyle/>
                        <a:p>
                          <a:pPr algn="ctr"/>
                          <a:r>
                            <a:rPr lang="en-US" sz="2400" dirty="0">
                              <a:latin typeface="+mn-lt"/>
                              <a:cs typeface="Arial"/>
                            </a:rPr>
                            <a:t>2</a:t>
                          </a:r>
                          <a:endParaRPr sz="2400" dirty="0">
                            <a:latin typeface="+mn-lt"/>
                            <a:cs typeface="Arial"/>
                          </a:endParaRPr>
                        </a:p>
                      </a:txBody>
                      <a:tcPr marL="0" marR="0" marT="0" marB="0" anchor="ctr"/>
                    </a:tc>
                    <a:extLst>
                      <a:ext uri="{0D108BD9-81ED-4DB2-BD59-A6C34878D82A}">
                        <a16:rowId xmlns:a16="http://schemas.microsoft.com/office/drawing/2014/main" val="10002"/>
                      </a:ext>
                    </a:extLst>
                  </a:tr>
                  <a:tr h="402199">
                    <a:tc>
                      <a:txBody>
                        <a:bodyPr/>
                        <a:lstStyle/>
                        <a:p>
                          <a:pPr marL="155575" algn="ctr">
                            <a:lnSpc>
                              <a:spcPct val="100000"/>
                            </a:lnSpc>
                          </a:pPr>
                          <a:r>
                            <a:rPr lang="en-US" altLang="zh-TW" sz="2400" dirty="0">
                              <a:solidFill>
                                <a:srgbClr val="FF0000"/>
                              </a:solidFill>
                              <a:ea typeface="新細明體" pitchFamily="18" charset="-120"/>
                              <a:sym typeface="Symbol" pitchFamily="18" charset="2"/>
                            </a:rPr>
                            <a:t>∨</a:t>
                          </a:r>
                          <a:endParaRPr sz="2400" dirty="0">
                            <a:solidFill>
                              <a:srgbClr val="FF0000"/>
                            </a:solidFill>
                            <a:latin typeface="+mn-lt"/>
                            <a:cs typeface="Arial"/>
                          </a:endParaRPr>
                        </a:p>
                      </a:txBody>
                      <a:tcPr marL="0" marR="0" marT="0" marB="0"/>
                    </a:tc>
                    <a:tc>
                      <a:txBody>
                        <a:bodyPr/>
                        <a:lstStyle/>
                        <a:p>
                          <a:pPr marL="0" indent="0" algn="ctr">
                            <a:lnSpc>
                              <a:spcPct val="100000"/>
                            </a:lnSpc>
                          </a:pPr>
                          <a:r>
                            <a:rPr lang="en-US" sz="2400" dirty="0"/>
                            <a:t>3</a:t>
                          </a:r>
                          <a:endParaRPr sz="2400" dirty="0">
                            <a:latin typeface="+mn-lt"/>
                            <a:cs typeface="Arial"/>
                          </a:endParaRPr>
                        </a:p>
                      </a:txBody>
                      <a:tcPr marL="0" marR="0" marT="0" marB="0" anchor="ctr"/>
                    </a:tc>
                    <a:extLst>
                      <a:ext uri="{0D108BD9-81ED-4DB2-BD59-A6C34878D82A}">
                        <a16:rowId xmlns:a16="http://schemas.microsoft.com/office/drawing/2014/main" val="10003"/>
                      </a:ext>
                    </a:extLst>
                  </a:tr>
                </a:tbl>
              </a:graphicData>
            </a:graphic>
          </p:graphicFrame>
        </mc:Fallback>
      </mc:AlternateContent>
      <p:sp>
        <p:nvSpPr>
          <p:cNvPr id="5" name="Content Placeholder 2"/>
          <p:cNvSpPr txBox="1">
            <a:spLocks/>
          </p:cNvSpPr>
          <p:nvPr/>
        </p:nvSpPr>
        <p:spPr>
          <a:xfrm>
            <a:off x="397164" y="2990697"/>
            <a:ext cx="6320953" cy="3078879"/>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sz="2800" dirty="0"/>
          </a:p>
        </p:txBody>
      </p:sp>
      <p:sp>
        <p:nvSpPr>
          <p:cNvPr id="6" name="Date Placeholder 5"/>
          <p:cNvSpPr>
            <a:spLocks noGrp="1"/>
          </p:cNvSpPr>
          <p:nvPr>
            <p:ph type="dt" sz="half" idx="10"/>
          </p:nvPr>
        </p:nvSpPr>
        <p:spPr/>
        <p:txBody>
          <a:bodyPr/>
          <a:lstStyle/>
          <a:p>
            <a:fld id="{EF85CD63-2F2A-4930-AB8A-88176D536B54}" type="datetime1">
              <a:rPr lang="en-US" smtClean="0"/>
              <a:t>9/29/2022</a:t>
            </a:fld>
            <a:endParaRPr lang="en-US"/>
          </a:p>
        </p:txBody>
      </p:sp>
      <p:sp>
        <p:nvSpPr>
          <p:cNvPr id="7" name="Footer Placeholder 6"/>
          <p:cNvSpPr>
            <a:spLocks noGrp="1"/>
          </p:cNvSpPr>
          <p:nvPr>
            <p:ph type="ftr" sz="quarter" idx="11"/>
          </p:nvPr>
        </p:nvSpPr>
        <p:spPr/>
        <p:txBody>
          <a:bodyPr/>
          <a:lstStyle/>
          <a:p>
            <a:r>
              <a:rPr lang="en-US"/>
              <a:t>Introduction to AI</a:t>
            </a:r>
          </a:p>
        </p:txBody>
      </p:sp>
      <p:sp>
        <p:nvSpPr>
          <p:cNvPr id="8" name="Slide Number Placeholder 7"/>
          <p:cNvSpPr>
            <a:spLocks noGrp="1"/>
          </p:cNvSpPr>
          <p:nvPr>
            <p:ph type="sldNum" sz="quarter" idx="12"/>
          </p:nvPr>
        </p:nvSpPr>
        <p:spPr/>
        <p:txBody>
          <a:bodyPr/>
          <a:lstStyle/>
          <a:p>
            <a:fld id="{75B1DB82-35C9-4076-A5B8-0781B30E89ED}" type="slidenum">
              <a:rPr lang="en-US" smtClean="0"/>
              <a:t>22</a:t>
            </a:fld>
            <a:endParaRPr lang="en-US"/>
          </a:p>
        </p:txBody>
      </p:sp>
    </p:spTree>
    <p:extLst>
      <p:ext uri="{BB962C8B-B14F-4D97-AF65-F5344CB8AC3E}">
        <p14:creationId xmlns:p14="http://schemas.microsoft.com/office/powerpoint/2010/main" val="770952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ea typeface="新細明體" pitchFamily="18" charset="-120"/>
              </a:rPr>
              <a:t>Propositional Expressions - Examples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Let:</a:t>
                </a:r>
              </a:p>
              <a:p>
                <a:pPr lvl="1"/>
                <a:r>
                  <a:rPr lang="en-US" i="1" dirty="0"/>
                  <a:t>p</a:t>
                </a:r>
                <a:r>
                  <a:rPr lang="en-US" dirty="0"/>
                  <a:t> = “It rained last night”, </a:t>
                </a:r>
              </a:p>
              <a:p>
                <a:pPr lvl="1"/>
                <a:r>
                  <a:rPr lang="en-US" i="1" dirty="0"/>
                  <a:t>q</a:t>
                </a:r>
                <a:r>
                  <a:rPr lang="en-US" dirty="0"/>
                  <a:t> = “The sprinklers came on last night,” </a:t>
                </a:r>
              </a:p>
              <a:p>
                <a:pPr lvl="1"/>
                <a:r>
                  <a:rPr lang="en-US" i="1" dirty="0"/>
                  <a:t>r</a:t>
                </a:r>
                <a:r>
                  <a:rPr lang="en-US" dirty="0"/>
                  <a:t> = “The lawn was wet this morning.”</a:t>
                </a:r>
              </a:p>
              <a:p>
                <a:r>
                  <a:rPr lang="en-US" altLang="zh-TW" dirty="0">
                    <a:ea typeface="新細明體" pitchFamily="18" charset="-120"/>
                  </a:rPr>
                  <a:t>Translate each of the following into English:</a:t>
                </a:r>
              </a:p>
              <a:p>
                <a:pPr lvl="1"/>
                <a:r>
                  <a:rPr lang="pt-BR" altLang="zh-TW" sz="2800" dirty="0">
                    <a:ea typeface="新細明體" pitchFamily="18" charset="-120"/>
                  </a:rPr>
                  <a:t>¬</a:t>
                </a:r>
                <a:r>
                  <a:rPr lang="pt-BR" altLang="zh-TW" sz="2800" i="1" dirty="0">
                    <a:ea typeface="新細明體" pitchFamily="18" charset="-120"/>
                  </a:rPr>
                  <a:t>p</a:t>
                </a:r>
                <a:r>
                  <a:rPr lang="pt-BR" altLang="zh-TW" sz="2800" dirty="0">
                    <a:ea typeface="新細明體" pitchFamily="18" charset="-120"/>
                  </a:rPr>
                  <a:t>               </a:t>
                </a:r>
              </a:p>
              <a:p>
                <a:pPr lvl="1"/>
                <a:r>
                  <a:rPr lang="pt-BR" altLang="zh-TW" sz="2800" i="1" dirty="0">
                    <a:ea typeface="新細明體" pitchFamily="18" charset="-120"/>
                  </a:rPr>
                  <a:t>r</a:t>
                </a:r>
                <a:r>
                  <a:rPr lang="pt-BR" altLang="zh-TW" sz="2800" dirty="0">
                    <a:ea typeface="新細明體" pitchFamily="18" charset="-120"/>
                  </a:rPr>
                  <a:t> </a:t>
                </a:r>
                <a14:m>
                  <m:oMath xmlns:m="http://schemas.openxmlformats.org/officeDocument/2006/math">
                    <m:r>
                      <a:rPr lang="en-US" sz="2800" i="1" dirty="0">
                        <a:latin typeface="Cambria Math" panose="02040503050406030204" pitchFamily="18" charset="0"/>
                        <a:ea typeface="Cambria Math" panose="02040503050406030204" pitchFamily="18" charset="0"/>
                      </a:rPr>
                      <m:t>⋀</m:t>
                    </m:r>
                  </m:oMath>
                </a14:m>
                <a:r>
                  <a:rPr lang="pt-BR" altLang="zh-TW" sz="2800" dirty="0">
                    <a:ea typeface="新細明體" pitchFamily="18" charset="-120"/>
                  </a:rPr>
                  <a:t> ¬</a:t>
                </a:r>
                <a:r>
                  <a:rPr lang="pt-BR" altLang="zh-TW" sz="2800" i="1" dirty="0">
                    <a:ea typeface="新細明體" pitchFamily="18" charset="-120"/>
                  </a:rPr>
                  <a:t>p</a:t>
                </a:r>
                <a:r>
                  <a:rPr lang="pt-BR" altLang="zh-TW" sz="2800" dirty="0">
                    <a:ea typeface="新細明體" pitchFamily="18" charset="-120"/>
                  </a:rPr>
                  <a:t>         </a:t>
                </a:r>
              </a:p>
              <a:p>
                <a:pPr lvl="1"/>
                <a:r>
                  <a:rPr lang="pt-BR" altLang="zh-TW" sz="2800" dirty="0">
                    <a:ea typeface="新細明體" pitchFamily="18" charset="-120"/>
                  </a:rPr>
                  <a:t>¬ </a:t>
                </a:r>
                <a:r>
                  <a:rPr lang="pt-BR" altLang="zh-TW" sz="2800" i="1" dirty="0">
                    <a:ea typeface="新細明體" pitchFamily="18" charset="-120"/>
                  </a:rPr>
                  <a:t>r</a:t>
                </a:r>
                <a:r>
                  <a:rPr lang="pt-BR" altLang="zh-TW" sz="2800" dirty="0">
                    <a:ea typeface="新細明體" pitchFamily="18" charset="-120"/>
                  </a:rPr>
                  <a:t> </a:t>
                </a:r>
                <a:r>
                  <a:rPr lang="en-US" altLang="zh-TW" sz="2800" dirty="0">
                    <a:ea typeface="新細明體" pitchFamily="18" charset="-120"/>
                    <a:sym typeface="Symbol" pitchFamily="18" charset="2"/>
                  </a:rPr>
                  <a:t>∨</a:t>
                </a:r>
                <a:r>
                  <a:rPr lang="pt-BR" altLang="zh-TW" sz="2800" dirty="0">
                    <a:ea typeface="新細明體" pitchFamily="18" charset="-120"/>
                  </a:rPr>
                  <a:t> </a:t>
                </a:r>
                <a:r>
                  <a:rPr lang="pt-BR" altLang="zh-TW" sz="2800" i="1" dirty="0">
                    <a:ea typeface="新細明體" pitchFamily="18" charset="-120"/>
                  </a:rPr>
                  <a:t>p</a:t>
                </a:r>
                <a:r>
                  <a:rPr lang="pt-BR" altLang="zh-TW" sz="2800" dirty="0">
                    <a:ea typeface="新細明體" pitchFamily="18" charset="-120"/>
                  </a:rPr>
                  <a:t> </a:t>
                </a:r>
                <a:r>
                  <a:rPr lang="en-US" altLang="zh-TW" sz="2800" dirty="0">
                    <a:ea typeface="新細明體" pitchFamily="18" charset="-120"/>
                    <a:sym typeface="Symbol" pitchFamily="18" charset="2"/>
                  </a:rPr>
                  <a:t>∨</a:t>
                </a:r>
                <a:r>
                  <a:rPr lang="pt-BR" altLang="zh-TW" sz="2800" dirty="0">
                    <a:ea typeface="新細明體" pitchFamily="18" charset="-120"/>
                  </a:rPr>
                  <a:t> </a:t>
                </a:r>
                <a:r>
                  <a:rPr lang="pt-BR" altLang="zh-TW" sz="2800" i="1" dirty="0">
                    <a:ea typeface="新細明體" pitchFamily="18" charset="-120"/>
                  </a:rPr>
                  <a:t>q</a:t>
                </a:r>
                <a:endParaRPr lang="en-US" altLang="zh-TW" sz="2800" dirty="0">
                  <a:ea typeface="新細明體" pitchFamily="18" charset="-12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74" t="-3034"/>
                </a:stretch>
              </a:blipFill>
            </p:spPr>
            <p:txBody>
              <a:bodyPr/>
              <a:lstStyle/>
              <a:p>
                <a:r>
                  <a:rPr lang="en-US">
                    <a:noFill/>
                  </a:rPr>
                  <a:t> </a:t>
                </a:r>
              </a:p>
            </p:txBody>
          </p:sp>
        </mc:Fallback>
      </mc:AlternateContent>
      <p:sp>
        <p:nvSpPr>
          <p:cNvPr id="4" name="TextBox 3"/>
          <p:cNvSpPr txBox="1"/>
          <p:nvPr/>
        </p:nvSpPr>
        <p:spPr>
          <a:xfrm>
            <a:off x="2443161" y="3871340"/>
            <a:ext cx="4700587" cy="523220"/>
          </a:xfrm>
          <a:prstGeom prst="rect">
            <a:avLst/>
          </a:prstGeom>
          <a:noFill/>
        </p:spPr>
        <p:txBody>
          <a:bodyPr wrap="square" rtlCol="0">
            <a:spAutoFit/>
          </a:bodyPr>
          <a:lstStyle/>
          <a:p>
            <a:r>
              <a:rPr lang="pt-BR" altLang="zh-TW" sz="2800" dirty="0">
                <a:ea typeface="新細明體" pitchFamily="18" charset="-120"/>
              </a:rPr>
              <a:t>= </a:t>
            </a:r>
            <a:r>
              <a:rPr lang="en-US" altLang="zh-TW" sz="2800" dirty="0">
                <a:ea typeface="新細明體" pitchFamily="18" charset="-120"/>
              </a:rPr>
              <a:t>“It did </a:t>
            </a:r>
            <a:r>
              <a:rPr lang="en-US" altLang="zh-TW" sz="2800" b="1" dirty="0">
                <a:ea typeface="新細明體" pitchFamily="18" charset="-120"/>
              </a:rPr>
              <a:t>not</a:t>
            </a:r>
            <a:r>
              <a:rPr lang="en-US" altLang="zh-TW" sz="2800" dirty="0">
                <a:ea typeface="新細明體" pitchFamily="18" charset="-120"/>
              </a:rPr>
              <a:t> rain last night.”</a:t>
            </a:r>
          </a:p>
        </p:txBody>
      </p:sp>
      <p:sp>
        <p:nvSpPr>
          <p:cNvPr id="5" name="TextBox 4"/>
          <p:cNvSpPr txBox="1"/>
          <p:nvPr/>
        </p:nvSpPr>
        <p:spPr>
          <a:xfrm>
            <a:off x="2443161" y="4370502"/>
            <a:ext cx="9544088" cy="523220"/>
          </a:xfrm>
          <a:prstGeom prst="rect">
            <a:avLst/>
          </a:prstGeom>
          <a:noFill/>
        </p:spPr>
        <p:txBody>
          <a:bodyPr wrap="none" rtlCol="0">
            <a:spAutoFit/>
          </a:bodyPr>
          <a:lstStyle/>
          <a:p>
            <a:r>
              <a:rPr lang="pt-BR" altLang="zh-TW" sz="2800" dirty="0">
                <a:ea typeface="新細明體" pitchFamily="18" charset="-120"/>
              </a:rPr>
              <a:t>= “</a:t>
            </a:r>
            <a:r>
              <a:rPr lang="en-US" altLang="zh-TW" sz="2800" dirty="0">
                <a:ea typeface="新細明體" pitchFamily="18" charset="-120"/>
              </a:rPr>
              <a:t>The lawn was wet this morning, </a:t>
            </a:r>
            <a:r>
              <a:rPr lang="en-US" altLang="zh-TW" sz="2800" b="1" dirty="0">
                <a:ea typeface="新細明體" pitchFamily="18" charset="-120"/>
              </a:rPr>
              <a:t>and</a:t>
            </a:r>
            <a:r>
              <a:rPr lang="en-US" altLang="zh-TW" sz="2800" dirty="0">
                <a:ea typeface="新細明體" pitchFamily="18" charset="-120"/>
              </a:rPr>
              <a:t> it did </a:t>
            </a:r>
            <a:r>
              <a:rPr lang="en-US" altLang="zh-TW" sz="2800" b="1" dirty="0">
                <a:ea typeface="新細明體" pitchFamily="18" charset="-120"/>
              </a:rPr>
              <a:t>not</a:t>
            </a:r>
            <a:r>
              <a:rPr lang="en-US" altLang="zh-TW" sz="2800" dirty="0">
                <a:ea typeface="新細明體" pitchFamily="18" charset="-120"/>
              </a:rPr>
              <a:t> rain last night.”</a:t>
            </a:r>
          </a:p>
        </p:txBody>
      </p:sp>
      <p:sp>
        <p:nvSpPr>
          <p:cNvPr id="6" name="TextBox 5"/>
          <p:cNvSpPr txBox="1"/>
          <p:nvPr/>
        </p:nvSpPr>
        <p:spPr>
          <a:xfrm>
            <a:off x="2443161" y="4869664"/>
            <a:ext cx="9115427" cy="954107"/>
          </a:xfrm>
          <a:prstGeom prst="rect">
            <a:avLst/>
          </a:prstGeom>
          <a:noFill/>
        </p:spPr>
        <p:txBody>
          <a:bodyPr wrap="square" rtlCol="0">
            <a:spAutoFit/>
          </a:bodyPr>
          <a:lstStyle/>
          <a:p>
            <a:r>
              <a:rPr lang="pt-BR" altLang="zh-TW" sz="2800" dirty="0">
                <a:ea typeface="新細明體" pitchFamily="18" charset="-120"/>
              </a:rPr>
              <a:t>= “</a:t>
            </a:r>
            <a:r>
              <a:rPr lang="en-US" altLang="zh-TW" sz="2800" dirty="0">
                <a:ea typeface="新細明體" pitchFamily="18" charset="-120"/>
              </a:rPr>
              <a:t>The lawn was </a:t>
            </a:r>
            <a:r>
              <a:rPr lang="en-US" altLang="zh-TW" sz="2800" b="1" dirty="0">
                <a:ea typeface="新細明體" pitchFamily="18" charset="-120"/>
              </a:rPr>
              <a:t>not</a:t>
            </a:r>
            <a:r>
              <a:rPr lang="en-US" altLang="zh-TW" sz="2800" dirty="0">
                <a:ea typeface="新細明體" pitchFamily="18" charset="-120"/>
              </a:rPr>
              <a:t> wet this morning, </a:t>
            </a:r>
            <a:r>
              <a:rPr lang="en-US" altLang="zh-TW" sz="2800" b="1" dirty="0">
                <a:ea typeface="新細明體" pitchFamily="18" charset="-120"/>
              </a:rPr>
              <a:t>or</a:t>
            </a:r>
            <a:r>
              <a:rPr lang="en-US" altLang="zh-TW" sz="2800" dirty="0">
                <a:ea typeface="新細明體" pitchFamily="18" charset="-120"/>
              </a:rPr>
              <a:t> it rained last night, </a:t>
            </a:r>
            <a:r>
              <a:rPr lang="en-US" altLang="zh-TW" sz="2800" b="1" dirty="0">
                <a:ea typeface="新細明體" pitchFamily="18" charset="-120"/>
              </a:rPr>
              <a:t>or</a:t>
            </a:r>
            <a:r>
              <a:rPr lang="en-US" altLang="zh-TW" sz="2800" dirty="0">
                <a:ea typeface="新細明體" pitchFamily="18" charset="-120"/>
              </a:rPr>
              <a:t> the sprinklers came on last night.”</a:t>
            </a:r>
          </a:p>
        </p:txBody>
      </p:sp>
      <p:sp>
        <p:nvSpPr>
          <p:cNvPr id="7" name="Date Placeholder 6"/>
          <p:cNvSpPr>
            <a:spLocks noGrp="1"/>
          </p:cNvSpPr>
          <p:nvPr>
            <p:ph type="dt" sz="half" idx="10"/>
          </p:nvPr>
        </p:nvSpPr>
        <p:spPr/>
        <p:txBody>
          <a:bodyPr/>
          <a:lstStyle/>
          <a:p>
            <a:fld id="{48811406-5B36-4C77-89DF-41F3252CF6E8}" type="datetime1">
              <a:rPr lang="en-US" smtClean="0"/>
              <a:t>9/29/2022</a:t>
            </a:fld>
            <a:endParaRPr lang="en-US"/>
          </a:p>
        </p:txBody>
      </p:sp>
      <p:sp>
        <p:nvSpPr>
          <p:cNvPr id="8" name="Footer Placeholder 7"/>
          <p:cNvSpPr>
            <a:spLocks noGrp="1"/>
          </p:cNvSpPr>
          <p:nvPr>
            <p:ph type="ftr" sz="quarter" idx="11"/>
          </p:nvPr>
        </p:nvSpPr>
        <p:spPr/>
        <p:txBody>
          <a:bodyPr/>
          <a:lstStyle/>
          <a:p>
            <a:r>
              <a:rPr lang="en-US"/>
              <a:t>Introduction to AI</a:t>
            </a:r>
          </a:p>
        </p:txBody>
      </p:sp>
      <p:sp>
        <p:nvSpPr>
          <p:cNvPr id="9" name="Slide Number Placeholder 8"/>
          <p:cNvSpPr>
            <a:spLocks noGrp="1"/>
          </p:cNvSpPr>
          <p:nvPr>
            <p:ph type="sldNum" sz="quarter" idx="12"/>
          </p:nvPr>
        </p:nvSpPr>
        <p:spPr/>
        <p:txBody>
          <a:bodyPr/>
          <a:lstStyle/>
          <a:p>
            <a:fld id="{75B1DB82-35C9-4076-A5B8-0781B30E89ED}" type="slidenum">
              <a:rPr lang="en-US" smtClean="0"/>
              <a:t>23</a:t>
            </a:fld>
            <a:endParaRPr lang="en-US"/>
          </a:p>
        </p:txBody>
      </p:sp>
    </p:spTree>
    <p:extLst>
      <p:ext uri="{BB962C8B-B14F-4D97-AF65-F5344CB8AC3E}">
        <p14:creationId xmlns:p14="http://schemas.microsoft.com/office/powerpoint/2010/main" val="138297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Exclusive Disjunction </a:t>
            </a:r>
            <a:r>
              <a:rPr lang="en-US" altLang="zh-TW" dirty="0"/>
              <a:t>Operator </a:t>
            </a:r>
            <a:r>
              <a:rPr lang="en-US" dirty="0"/>
              <a:t>(XOR) </a:t>
            </a:r>
            <a:r>
              <a:rPr lang="en-US" altLang="zh-TW" dirty="0">
                <a:ea typeface="新細明體" pitchFamily="18" charset="-120"/>
              </a:rPr>
              <a:t>“</a:t>
            </a:r>
            <a:r>
              <a:rPr lang="en-US" dirty="0"/>
              <a:t>⊕</a:t>
            </a:r>
            <a:r>
              <a:rPr lang="en-US" altLang="zh-TW" dirty="0">
                <a:ea typeface="新細明體" pitchFamily="18" charset="-120"/>
                <a:sym typeface="Symbol" pitchFamily="18" charset="2"/>
              </a:rPr>
              <a:t>”</a:t>
            </a:r>
            <a:r>
              <a:rPr lang="en-US" dirty="0"/>
              <a:t> </a:t>
            </a:r>
          </a:p>
        </p:txBody>
      </p:sp>
      <p:sp>
        <p:nvSpPr>
          <p:cNvPr id="3" name="Content Placeholder 2"/>
          <p:cNvSpPr>
            <a:spLocks noGrp="1"/>
          </p:cNvSpPr>
          <p:nvPr>
            <p:ph idx="1"/>
          </p:nvPr>
        </p:nvSpPr>
        <p:spPr/>
        <p:txBody>
          <a:bodyPr/>
          <a:lstStyle/>
          <a:p>
            <a:pPr>
              <a:lnSpc>
                <a:spcPct val="100000"/>
              </a:lnSpc>
            </a:pPr>
            <a:r>
              <a:rPr lang="en-US" altLang="zh-TW" dirty="0"/>
              <a:t>The </a:t>
            </a:r>
            <a:r>
              <a:rPr lang="en-US" altLang="zh-TW" dirty="0">
                <a:solidFill>
                  <a:srgbClr val="C00000"/>
                </a:solidFill>
              </a:rPr>
              <a:t>binary exclusive-or operator “</a:t>
            </a:r>
            <a:r>
              <a:rPr lang="en-US" altLang="zh-TW" dirty="0">
                <a:solidFill>
                  <a:srgbClr val="C00000"/>
                </a:solidFill>
                <a:sym typeface="Symbol" pitchFamily="18" charset="2"/>
              </a:rPr>
              <a:t>” (XOR) </a:t>
            </a:r>
            <a:r>
              <a:rPr lang="en-US" altLang="zh-TW" dirty="0">
                <a:sym typeface="Symbol" pitchFamily="18" charset="2"/>
              </a:rPr>
              <a:t>combines two propositions to form their logical </a:t>
            </a:r>
            <a:r>
              <a:rPr lang="en-US" altLang="zh-TW" b="1" dirty="0">
                <a:sym typeface="Symbol" pitchFamily="18" charset="2"/>
              </a:rPr>
              <a:t>“exclusive or”</a:t>
            </a:r>
            <a:endParaRPr lang="en-US" altLang="zh-TW" b="1" dirty="0"/>
          </a:p>
          <a:p>
            <a:pPr lvl="1">
              <a:lnSpc>
                <a:spcPct val="100000"/>
              </a:lnSpc>
            </a:pPr>
            <a:r>
              <a:rPr lang="en-US" i="1" dirty="0"/>
              <a:t>p</a:t>
            </a:r>
            <a:r>
              <a:rPr lang="en-US" dirty="0"/>
              <a:t> = “I will earn an A+ in this course,” </a:t>
            </a:r>
          </a:p>
          <a:p>
            <a:pPr lvl="1">
              <a:lnSpc>
                <a:spcPct val="100000"/>
              </a:lnSpc>
            </a:pPr>
            <a:r>
              <a:rPr lang="en-US" i="1" dirty="0"/>
              <a:t>q</a:t>
            </a:r>
            <a:r>
              <a:rPr lang="en-US" dirty="0"/>
              <a:t> = “I will drop this course,” then </a:t>
            </a:r>
          </a:p>
          <a:p>
            <a:pPr lvl="1">
              <a:lnSpc>
                <a:spcPct val="100000"/>
              </a:lnSpc>
            </a:pPr>
            <a:r>
              <a:rPr lang="en-US" i="1" dirty="0"/>
              <a:t>p</a:t>
            </a:r>
            <a:r>
              <a:rPr lang="en-US" dirty="0"/>
              <a:t> ⊕ </a:t>
            </a:r>
            <a:r>
              <a:rPr lang="en-US" i="1" dirty="0"/>
              <a:t>q</a:t>
            </a:r>
            <a:r>
              <a:rPr lang="en-US" dirty="0"/>
              <a:t> = </a:t>
            </a:r>
          </a:p>
          <a:p>
            <a:pPr lvl="1">
              <a:lnSpc>
                <a:spcPct val="100000"/>
              </a:lnSpc>
            </a:pPr>
            <a:endParaRPr lang="en-US" dirty="0"/>
          </a:p>
        </p:txBody>
      </p:sp>
      <p:sp>
        <p:nvSpPr>
          <p:cNvPr id="4" name="Date Placeholder 3"/>
          <p:cNvSpPr>
            <a:spLocks noGrp="1"/>
          </p:cNvSpPr>
          <p:nvPr>
            <p:ph type="dt" sz="half" idx="10"/>
          </p:nvPr>
        </p:nvSpPr>
        <p:spPr/>
        <p:txBody>
          <a:bodyPr/>
          <a:lstStyle/>
          <a:p>
            <a:fld id="{BBD0905E-93F8-419E-BD1A-970662A52620}"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24</a:t>
            </a:fld>
            <a:endParaRPr lang="en-US"/>
          </a:p>
        </p:txBody>
      </p:sp>
      <p:sp>
        <p:nvSpPr>
          <p:cNvPr id="7" name="TextBox 6"/>
          <p:cNvSpPr txBox="1"/>
          <p:nvPr/>
        </p:nvSpPr>
        <p:spPr>
          <a:xfrm>
            <a:off x="2208368" y="3292386"/>
            <a:ext cx="8199489" cy="2215991"/>
          </a:xfrm>
          <a:prstGeom prst="rect">
            <a:avLst/>
          </a:prstGeom>
          <a:noFill/>
        </p:spPr>
        <p:txBody>
          <a:bodyPr wrap="none" rtlCol="0">
            <a:spAutoFit/>
          </a:bodyPr>
          <a:lstStyle/>
          <a:p>
            <a:pPr marL="0" lvl="1"/>
            <a:r>
              <a:rPr lang="en-US" sz="4000" dirty="0"/>
              <a:t>“I will either earn an A+ in this course, </a:t>
            </a:r>
            <a:br>
              <a:rPr lang="en-US" sz="4000" dirty="0"/>
            </a:br>
            <a:r>
              <a:rPr lang="en-US" sz="4000" dirty="0"/>
              <a:t>or I will drop it </a:t>
            </a:r>
            <a:br>
              <a:rPr lang="en-US" sz="4000" dirty="0"/>
            </a:br>
            <a:r>
              <a:rPr lang="en-US" sz="4000" dirty="0"/>
              <a:t>(but not both!)”</a:t>
            </a:r>
          </a:p>
          <a:p>
            <a:endParaRPr lang="en-US" dirty="0"/>
          </a:p>
        </p:txBody>
      </p:sp>
    </p:spTree>
    <p:extLst>
      <p:ext uri="{BB962C8B-B14F-4D97-AF65-F5344CB8AC3E}">
        <p14:creationId xmlns:p14="http://schemas.microsoft.com/office/powerpoint/2010/main" val="127876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The Exclusive Disjunction </a:t>
            </a:r>
            <a:r>
              <a:rPr lang="en-US" altLang="zh-TW" sz="3600" dirty="0"/>
              <a:t>Operator </a:t>
            </a:r>
            <a:r>
              <a:rPr lang="en-US" sz="3600" dirty="0"/>
              <a:t>(XOR) </a:t>
            </a:r>
            <a:r>
              <a:rPr lang="en-US" altLang="zh-TW" sz="3600" dirty="0">
                <a:ea typeface="新細明體" pitchFamily="18" charset="-120"/>
              </a:rPr>
              <a:t>“</a:t>
            </a:r>
            <a:r>
              <a:rPr lang="en-US" sz="3600" dirty="0"/>
              <a:t>⊕</a:t>
            </a:r>
            <a:r>
              <a:rPr lang="en-US" altLang="zh-TW" sz="3600" dirty="0">
                <a:ea typeface="新細明體" pitchFamily="18" charset="-120"/>
                <a:sym typeface="Symbol" pitchFamily="18" charset="2"/>
              </a:rPr>
              <a:t>”</a:t>
            </a:r>
            <a:r>
              <a:rPr lang="en-US" sz="3600" dirty="0"/>
              <a:t>  - Truth Table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228153"/>
                <a:ext cx="7518400" cy="5021979"/>
              </a:xfrm>
            </p:spPr>
            <p:txBody>
              <a:bodyPr>
                <a:normAutofit lnSpcReduction="10000"/>
              </a:bodyPr>
              <a:lstStyle/>
              <a:p>
                <a:r>
                  <a:rPr lang="en-US" altLang="zh-TW" b="1" dirty="0"/>
                  <a:t>Note</a:t>
                </a:r>
                <a:r>
                  <a:rPr lang="en-US" altLang="zh-TW" dirty="0"/>
                  <a:t>:</a:t>
                </a:r>
              </a:p>
              <a:p>
                <a:pPr lvl="1"/>
                <a:r>
                  <a:rPr lang="en-US" altLang="zh-TW" i="1" dirty="0"/>
                  <a:t>p </a:t>
                </a:r>
                <a:r>
                  <a:rPr lang="en-US" altLang="zh-TW" dirty="0">
                    <a:sym typeface="Symbol" pitchFamily="18" charset="2"/>
                  </a:rPr>
                  <a:t> </a:t>
                </a:r>
                <a:r>
                  <a:rPr lang="en-US" altLang="zh-TW" i="1" dirty="0">
                    <a:sym typeface="Symbol" pitchFamily="18" charset="2"/>
                  </a:rPr>
                  <a:t>q is TRUE (T) </a:t>
                </a:r>
                <a:r>
                  <a:rPr lang="en-US" altLang="zh-TW" dirty="0">
                    <a:sym typeface="Symbol" pitchFamily="18" charset="2"/>
                  </a:rPr>
                  <a:t>when either </a:t>
                </a:r>
                <a:r>
                  <a:rPr lang="en-US" altLang="zh-TW" i="1" dirty="0">
                    <a:sym typeface="Symbol" pitchFamily="18" charset="2"/>
                  </a:rPr>
                  <a:t>p</a:t>
                </a:r>
                <a:r>
                  <a:rPr lang="en-US" altLang="zh-TW" dirty="0">
                    <a:sym typeface="Symbol" pitchFamily="18" charset="2"/>
                  </a:rPr>
                  <a:t> is true, or </a:t>
                </a:r>
                <a:r>
                  <a:rPr lang="en-US" altLang="zh-TW" i="1" dirty="0">
                    <a:sym typeface="Symbol" pitchFamily="18" charset="2"/>
                  </a:rPr>
                  <a:t>q</a:t>
                </a:r>
                <a:r>
                  <a:rPr lang="en-US" altLang="zh-TW" dirty="0">
                    <a:sym typeface="Symbol" pitchFamily="18" charset="2"/>
                  </a:rPr>
                  <a:t> is true, but </a:t>
                </a:r>
                <a:r>
                  <a:rPr lang="en-US" altLang="zh-TW" b="1" dirty="0">
                    <a:sym typeface="Symbol" pitchFamily="18" charset="2"/>
                  </a:rPr>
                  <a:t>not both</a:t>
                </a:r>
              </a:p>
              <a:p>
                <a:pPr lvl="1"/>
                <a:endParaRPr lang="en-US" sz="2800" i="1" dirty="0"/>
              </a:p>
              <a:p>
                <a:pPr lvl="1"/>
                <a:r>
                  <a:rPr lang="en-US" sz="2800" b="1" i="1" dirty="0"/>
                  <a:t>p</a:t>
                </a:r>
                <a:r>
                  <a:rPr lang="en-US" sz="2800" b="1" dirty="0"/>
                  <a:t> ⊕ </a:t>
                </a:r>
                <a:r>
                  <a:rPr lang="en-US" sz="2800" b="1" i="1" dirty="0"/>
                  <a:t>q</a:t>
                </a:r>
                <a:r>
                  <a:rPr lang="en-US" sz="2800" b="1" dirty="0"/>
                  <a:t> </a:t>
                </a:r>
                <a:r>
                  <a:rPr lang="en-US" sz="2800" dirty="0"/>
                  <a:t>is equivalent to: </a:t>
                </a:r>
                <a:r>
                  <a:rPr lang="en-US" sz="2800" b="1" dirty="0"/>
                  <a:t>(</a:t>
                </a:r>
                <a:r>
                  <a:rPr lang="pt-BR" altLang="zh-TW" sz="2800" b="1" i="1" dirty="0">
                    <a:ea typeface="新細明體" pitchFamily="18" charset="-120"/>
                  </a:rPr>
                  <a:t>p</a:t>
                </a:r>
                <a:r>
                  <a:rPr lang="pt-BR" altLang="zh-TW" sz="2800" b="1" dirty="0">
                    <a:ea typeface="新細明體" pitchFamily="18" charset="-120"/>
                  </a:rPr>
                  <a:t> </a:t>
                </a:r>
                <a14:m>
                  <m:oMath xmlns:m="http://schemas.openxmlformats.org/officeDocument/2006/math">
                    <m:r>
                      <a:rPr lang="en-US" sz="2800" b="1" i="1" dirty="0">
                        <a:latin typeface="Cambria Math" panose="02040503050406030204" pitchFamily="18" charset="0"/>
                        <a:ea typeface="Cambria Math" panose="02040503050406030204" pitchFamily="18" charset="0"/>
                      </a:rPr>
                      <m:t>⋀</m:t>
                    </m:r>
                  </m:oMath>
                </a14:m>
                <a:r>
                  <a:rPr lang="pt-BR" altLang="zh-TW" sz="2800" b="1" dirty="0">
                    <a:ea typeface="新細明體" pitchFamily="18" charset="-120"/>
                  </a:rPr>
                  <a:t> ¬</a:t>
                </a:r>
                <a:r>
                  <a:rPr lang="pt-BR" altLang="zh-TW" sz="2800" b="1" i="1" dirty="0">
                    <a:ea typeface="新細明體" pitchFamily="18" charset="-120"/>
                  </a:rPr>
                  <a:t>q</a:t>
                </a:r>
                <a:r>
                  <a:rPr lang="pt-BR" altLang="zh-TW" sz="2800" b="1" dirty="0">
                    <a:ea typeface="新細明體" pitchFamily="18" charset="-120"/>
                  </a:rPr>
                  <a:t>) </a:t>
                </a:r>
                <a:r>
                  <a:rPr lang="en-US" altLang="zh-TW" sz="2800" b="1" dirty="0">
                    <a:ea typeface="新細明體" pitchFamily="18" charset="-120"/>
                    <a:sym typeface="Symbol" pitchFamily="18" charset="2"/>
                  </a:rPr>
                  <a:t>∨</a:t>
                </a:r>
                <a:r>
                  <a:rPr lang="pt-BR" altLang="zh-TW" sz="2800" b="1" dirty="0">
                    <a:ea typeface="新細明體" pitchFamily="18" charset="-120"/>
                  </a:rPr>
                  <a:t> (¬</a:t>
                </a:r>
                <a:r>
                  <a:rPr lang="pt-BR" altLang="zh-TW" sz="2800" b="1" i="1" dirty="0">
                    <a:ea typeface="新細明體" pitchFamily="18" charset="-120"/>
                  </a:rPr>
                  <a:t>p</a:t>
                </a:r>
                <a:r>
                  <a:rPr lang="pt-BR" altLang="zh-TW" sz="2800" b="1" dirty="0">
                    <a:ea typeface="新細明體" pitchFamily="18" charset="-120"/>
                  </a:rPr>
                  <a:t> </a:t>
                </a:r>
                <a14:m>
                  <m:oMath xmlns:m="http://schemas.openxmlformats.org/officeDocument/2006/math">
                    <m:r>
                      <a:rPr lang="en-US" sz="2800" b="1" i="1" dirty="0">
                        <a:latin typeface="Cambria Math" panose="02040503050406030204" pitchFamily="18" charset="0"/>
                        <a:ea typeface="Cambria Math" panose="02040503050406030204" pitchFamily="18" charset="0"/>
                      </a:rPr>
                      <m:t>⋀</m:t>
                    </m:r>
                  </m:oMath>
                </a14:m>
                <a:r>
                  <a:rPr lang="pt-BR" altLang="zh-TW" sz="2800" b="1" dirty="0">
                    <a:ea typeface="新細明體" pitchFamily="18" charset="-120"/>
                  </a:rPr>
                  <a:t> </a:t>
                </a:r>
                <a:r>
                  <a:rPr lang="pt-BR" altLang="zh-TW" sz="2800" b="1" i="1" dirty="0">
                    <a:ea typeface="新細明體" pitchFamily="18" charset="-120"/>
                  </a:rPr>
                  <a:t>q</a:t>
                </a:r>
                <a:r>
                  <a:rPr lang="pt-BR" altLang="zh-TW" sz="2800" b="1" dirty="0">
                    <a:ea typeface="新細明體" pitchFamily="18" charset="-120"/>
                  </a:rPr>
                  <a:t>) </a:t>
                </a:r>
              </a:p>
              <a:p>
                <a:pPr lvl="1"/>
                <a:endParaRPr lang="en-US" altLang="zh-TW" sz="2800" dirty="0">
                  <a:ea typeface="新細明體" pitchFamily="18" charset="-120"/>
                </a:endParaRPr>
              </a:p>
              <a:p>
                <a:pPr lvl="1"/>
                <a:r>
                  <a:rPr lang="en-US" altLang="zh-TW" sz="2800" b="1" dirty="0">
                    <a:ea typeface="新細明體" pitchFamily="18" charset="-120"/>
                  </a:rPr>
                  <a:t>Example</a:t>
                </a:r>
                <a:r>
                  <a:rPr lang="en-US" altLang="zh-TW" sz="2800" dirty="0">
                    <a:ea typeface="新細明體" pitchFamily="18" charset="-120"/>
                  </a:rPr>
                  <a:t>:</a:t>
                </a:r>
              </a:p>
              <a:p>
                <a:pPr lvl="2"/>
                <a:r>
                  <a:rPr lang="en-US" altLang="zh-TW" sz="2800" dirty="0">
                    <a:solidFill>
                      <a:schemeClr val="accent6">
                        <a:lumMod val="75000"/>
                      </a:schemeClr>
                    </a:solidFill>
                    <a:ea typeface="新細明體" pitchFamily="18" charset="-120"/>
                  </a:rPr>
                  <a:t>“A student can have either soup or salad, </a:t>
                </a:r>
                <a:br>
                  <a:rPr lang="en-US" altLang="zh-TW" sz="2800" dirty="0">
                    <a:solidFill>
                      <a:schemeClr val="accent6">
                        <a:lumMod val="75000"/>
                      </a:schemeClr>
                    </a:solidFill>
                    <a:ea typeface="新細明體" pitchFamily="18" charset="-120"/>
                  </a:rPr>
                </a:br>
                <a:r>
                  <a:rPr lang="en-US" altLang="zh-TW" sz="2800" dirty="0">
                    <a:solidFill>
                      <a:srgbClr val="C00000"/>
                    </a:solidFill>
                    <a:ea typeface="新細明體" pitchFamily="18" charset="-120"/>
                  </a:rPr>
                  <a:t>but not both</a:t>
                </a:r>
                <a:r>
                  <a:rPr lang="en-US" altLang="zh-TW" sz="2800" dirty="0">
                    <a:ea typeface="新細明體" pitchFamily="18" charset="-120"/>
                  </a:rPr>
                  <a:t>,</a:t>
                </a:r>
                <a:r>
                  <a:rPr lang="en-US" altLang="zh-TW" sz="2800" dirty="0">
                    <a:solidFill>
                      <a:schemeClr val="accent6">
                        <a:lumMod val="75000"/>
                      </a:schemeClr>
                    </a:solidFill>
                    <a:ea typeface="新細明體" pitchFamily="18" charset="-120"/>
                  </a:rPr>
                  <a:t> </a:t>
                </a:r>
                <a:r>
                  <a:rPr lang="en-US" altLang="zh-TW" sz="2800" dirty="0">
                    <a:ea typeface="新細明體" pitchFamily="18" charset="-120"/>
                  </a:rPr>
                  <a:t>with his/her dinner</a:t>
                </a:r>
                <a:r>
                  <a:rPr lang="en-US" altLang="zh-TW" sz="2800" dirty="0">
                    <a:solidFill>
                      <a:schemeClr val="accent6">
                        <a:lumMod val="75000"/>
                      </a:schemeClr>
                    </a:solidFill>
                    <a:ea typeface="新細明體" pitchFamily="18" charset="-120"/>
                  </a:rPr>
                  <a:t>.”</a:t>
                </a:r>
                <a:r>
                  <a:rPr lang="pt-BR" altLang="zh-TW" sz="2800" dirty="0">
                    <a:solidFill>
                      <a:schemeClr val="accent6">
                        <a:lumMod val="75000"/>
                      </a:schemeClr>
                    </a:solidFill>
                    <a:ea typeface="新細明體" pitchFamily="18" charset="-120"/>
                  </a:rPr>
                  <a:t>  </a:t>
                </a:r>
              </a:p>
              <a:p>
                <a:pPr marL="609585" lvl="2" indent="0">
                  <a:buNone/>
                </a:pPr>
                <a:r>
                  <a:rPr lang="pt-BR" altLang="zh-TW" sz="2800" dirty="0">
                    <a:solidFill>
                      <a:schemeClr val="accent6">
                        <a:lumMod val="75000"/>
                      </a:schemeClr>
                    </a:solidFill>
                    <a:ea typeface="新細明體" pitchFamily="18" charset="-120"/>
                  </a:rPr>
                  <a:t>   </a:t>
                </a:r>
              </a:p>
              <a:p>
                <a:r>
                  <a:rPr lang="en-US" altLang="zh-TW" dirty="0">
                    <a:sym typeface="Symbol" pitchFamily="18" charset="2"/>
                  </a:rPr>
                  <a:t>“</a:t>
                </a:r>
                <a:r>
                  <a:rPr lang="en-US" altLang="zh-TW" dirty="0"/>
                  <a:t>¬</a:t>
                </a:r>
                <a:r>
                  <a:rPr lang="en-US" altLang="zh-TW" dirty="0">
                    <a:sym typeface="Symbol" pitchFamily="18" charset="2"/>
                  </a:rPr>
                  <a:t>” and “” together are </a:t>
                </a:r>
                <a:r>
                  <a:rPr lang="en-US" altLang="zh-TW" b="1" dirty="0">
                    <a:sym typeface="Symbol" pitchFamily="18" charset="2"/>
                  </a:rPr>
                  <a:t>not</a:t>
                </a:r>
                <a:r>
                  <a:rPr lang="en-US" altLang="zh-TW" dirty="0">
                    <a:sym typeface="Symbol" pitchFamily="18" charset="2"/>
                  </a:rPr>
                  <a:t> universal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228153"/>
                <a:ext cx="7518400" cy="5021979"/>
              </a:xfrm>
              <a:blipFill>
                <a:blip r:embed="rId3"/>
                <a:stretch>
                  <a:fillRect l="-2271" t="-3762" r="-3650"/>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854459839"/>
              </p:ext>
            </p:extLst>
          </p:nvPr>
        </p:nvGraphicFramePr>
        <p:xfrm>
          <a:off x="7823200" y="2654003"/>
          <a:ext cx="3371850" cy="2509808"/>
        </p:xfrm>
        <a:graphic>
          <a:graphicData uri="http://schemas.openxmlformats.org/drawingml/2006/table">
            <a:tbl>
              <a:tblPr firstRow="1" bandRow="1">
                <a:tableStyleId>{8799B23B-EC83-4686-B30A-512413B5E67A}</a:tableStyleId>
              </a:tblPr>
              <a:tblGrid>
                <a:gridCol w="1123583">
                  <a:extLst>
                    <a:ext uri="{9D8B030D-6E8A-4147-A177-3AD203B41FA5}">
                      <a16:colId xmlns:a16="http://schemas.microsoft.com/office/drawing/2014/main" val="20000"/>
                    </a:ext>
                  </a:extLst>
                </a:gridCol>
                <a:gridCol w="1124785">
                  <a:extLst>
                    <a:ext uri="{9D8B030D-6E8A-4147-A177-3AD203B41FA5}">
                      <a16:colId xmlns:a16="http://schemas.microsoft.com/office/drawing/2014/main" val="20001"/>
                    </a:ext>
                  </a:extLst>
                </a:gridCol>
                <a:gridCol w="112348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a:t>
                      </a:r>
                      <a:r>
                        <a:rPr lang="en-US" sz="2400" dirty="0">
                          <a:latin typeface="Cambria" panose="02040503050406030204" pitchFamily="18" charset="0"/>
                          <a:ea typeface="Cambria" panose="02040503050406030204" pitchFamily="18" charset="0"/>
                        </a:rPr>
                        <a:t> </a:t>
                      </a:r>
                      <a:r>
                        <a:rPr lang="en-US" altLang="en-US" sz="2400" b="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a:t>
                      </a:r>
                      <a:r>
                        <a:rPr lang="en-US" sz="2400" dirty="0">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255" algn="ctr">
                        <a:lnSpc>
                          <a:spcPct val="100000"/>
                        </a:lnSpc>
                      </a:pPr>
                      <a:r>
                        <a:rPr lang="en-US" sz="2400" b="1" dirty="0">
                          <a:latin typeface="+mn-lt"/>
                          <a:cs typeface="Arial"/>
                        </a:rPr>
                        <a:t>F</a:t>
                      </a:r>
                      <a:endParaRPr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p:sp>
        <p:nvSpPr>
          <p:cNvPr id="9" name="Date Placeholder 8"/>
          <p:cNvSpPr>
            <a:spLocks noGrp="1"/>
          </p:cNvSpPr>
          <p:nvPr>
            <p:ph type="dt" sz="half" idx="10"/>
          </p:nvPr>
        </p:nvSpPr>
        <p:spPr/>
        <p:txBody>
          <a:bodyPr/>
          <a:lstStyle/>
          <a:p>
            <a:fld id="{A3976CA4-2FDD-49E6-97DD-0DF1C8A58455}" type="datetime1">
              <a:rPr lang="en-US" smtClean="0"/>
              <a:t>9/29/2022</a:t>
            </a:fld>
            <a:endParaRPr lang="en-US"/>
          </a:p>
        </p:txBody>
      </p:sp>
      <p:sp>
        <p:nvSpPr>
          <p:cNvPr id="10" name="Footer Placeholder 9"/>
          <p:cNvSpPr>
            <a:spLocks noGrp="1"/>
          </p:cNvSpPr>
          <p:nvPr>
            <p:ph type="ftr" sz="quarter" idx="11"/>
          </p:nvPr>
        </p:nvSpPr>
        <p:spPr/>
        <p:txBody>
          <a:bodyPr/>
          <a:lstStyle/>
          <a:p>
            <a:r>
              <a:rPr lang="en-US"/>
              <a:t>Introduction to AI</a:t>
            </a:r>
          </a:p>
        </p:txBody>
      </p:sp>
      <p:sp>
        <p:nvSpPr>
          <p:cNvPr id="11" name="Slide Number Placeholder 10"/>
          <p:cNvSpPr>
            <a:spLocks noGrp="1"/>
          </p:cNvSpPr>
          <p:nvPr>
            <p:ph type="sldNum" sz="quarter" idx="12"/>
          </p:nvPr>
        </p:nvSpPr>
        <p:spPr/>
        <p:txBody>
          <a:bodyPr/>
          <a:lstStyle/>
          <a:p>
            <a:fld id="{75B1DB82-35C9-4076-A5B8-0781B30E89ED}" type="slidenum">
              <a:rPr lang="en-US" smtClean="0"/>
              <a:t>25</a:t>
            </a:fld>
            <a:endParaRPr lang="en-US"/>
          </a:p>
        </p:txBody>
      </p:sp>
    </p:spTree>
    <p:extLst>
      <p:ext uri="{BB962C8B-B14F-4D97-AF65-F5344CB8AC3E}">
        <p14:creationId xmlns:p14="http://schemas.microsoft.com/office/powerpoint/2010/main" val="1321080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7F568-76FA-4F04-A45D-384AABD7BCB7}"/>
              </a:ext>
            </a:extLst>
          </p:cNvPr>
          <p:cNvSpPr>
            <a:spLocks noGrp="1"/>
          </p:cNvSpPr>
          <p:nvPr>
            <p:ph type="title"/>
          </p:nvPr>
        </p:nvSpPr>
        <p:spPr/>
        <p:txBody>
          <a:bodyPr>
            <a:normAutofit fontScale="90000"/>
          </a:bodyPr>
          <a:lstStyle/>
          <a:p>
            <a:r>
              <a:rPr lang="en-US" altLang="zh-TW" dirty="0"/>
              <a:t>Inclusive OR </a:t>
            </a:r>
            <a:r>
              <a:rPr lang="en-US" altLang="zh-TW" dirty="0">
                <a:ea typeface="新細明體" pitchFamily="18" charset="-120"/>
              </a:rPr>
              <a:t>“∨” </a:t>
            </a:r>
            <a:r>
              <a:rPr lang="en-US" altLang="zh-TW" dirty="0"/>
              <a:t>vs. Exclusive OR </a:t>
            </a:r>
            <a:r>
              <a:rPr lang="en-US" altLang="zh-TW" dirty="0">
                <a:ea typeface="新細明體" pitchFamily="18" charset="-120"/>
              </a:rPr>
              <a:t>“</a:t>
            </a:r>
            <a:r>
              <a:rPr lang="en-US" dirty="0"/>
              <a:t>⊕</a:t>
            </a:r>
            <a:r>
              <a:rPr lang="en-US" altLang="zh-TW" dirty="0">
                <a:ea typeface="新細明體" pitchFamily="18" charset="-120"/>
                <a:sym typeface="Symbol" pitchFamily="18" charset="2"/>
              </a:rPr>
              <a:t>”</a:t>
            </a:r>
            <a:r>
              <a:rPr lang="en-US" dirty="0"/>
              <a:t> </a:t>
            </a:r>
          </a:p>
        </p:txBody>
      </p:sp>
      <p:sp>
        <p:nvSpPr>
          <p:cNvPr id="3" name="Content Placeholder 2">
            <a:extLst>
              <a:ext uri="{FF2B5EF4-FFF2-40B4-BE49-F238E27FC236}">
                <a16:creationId xmlns:a16="http://schemas.microsoft.com/office/drawing/2014/main" id="{5374E141-978F-4736-BA0F-057B8F00870F}"/>
              </a:ext>
            </a:extLst>
          </p:cNvPr>
          <p:cNvSpPr>
            <a:spLocks noGrp="1"/>
          </p:cNvSpPr>
          <p:nvPr>
            <p:ph idx="1"/>
          </p:nvPr>
        </p:nvSpPr>
        <p:spPr>
          <a:xfrm>
            <a:off x="304800" y="1228153"/>
            <a:ext cx="7656945" cy="5021979"/>
          </a:xfrm>
        </p:spPr>
        <p:txBody>
          <a:bodyPr/>
          <a:lstStyle/>
          <a:p>
            <a:r>
              <a:rPr lang="en-US" altLang="zh-TW" dirty="0"/>
              <a:t>Note that the English “OR” can be ambiguous regarding the “both” case!</a:t>
            </a:r>
          </a:p>
          <a:p>
            <a:r>
              <a:rPr lang="en-US" altLang="zh-TW" dirty="0"/>
              <a:t>“Noor is a teacher </a:t>
            </a:r>
            <a:r>
              <a:rPr lang="en-US" altLang="zh-TW" b="1" dirty="0"/>
              <a:t>or</a:t>
            </a:r>
            <a:r>
              <a:rPr lang="en-US" altLang="zh-TW" dirty="0"/>
              <a:t> Noor is a writer.” </a:t>
            </a:r>
            <a:r>
              <a:rPr lang="zh-TW" altLang="en-US" b="1" dirty="0">
                <a:solidFill>
                  <a:srgbClr val="C00000"/>
                </a:solidFill>
                <a:sym typeface="Symbol" pitchFamily="18" charset="2"/>
              </a:rPr>
              <a:t></a:t>
            </a:r>
            <a:endParaRPr lang="en-US" altLang="zh-TW" b="1" dirty="0">
              <a:solidFill>
                <a:srgbClr val="C00000"/>
              </a:solidFill>
            </a:endParaRPr>
          </a:p>
          <a:p>
            <a:pPr>
              <a:tabLst>
                <a:tab pos="3255963" algn="l"/>
              </a:tabLst>
            </a:pPr>
            <a:r>
              <a:rPr lang="en-US" altLang="zh-TW" dirty="0"/>
              <a:t>“Noor is a man </a:t>
            </a:r>
            <a:r>
              <a:rPr lang="en-US" altLang="zh-TW" b="1" dirty="0"/>
              <a:t>or</a:t>
            </a:r>
            <a:r>
              <a:rPr lang="en-US" altLang="zh-TW" dirty="0"/>
              <a:t> Noor is a woman.” </a:t>
            </a:r>
            <a:r>
              <a:rPr lang="zh-TW" altLang="en-US" b="1" dirty="0">
                <a:solidFill>
                  <a:srgbClr val="C00000"/>
                </a:solidFill>
                <a:sym typeface="Symbol" pitchFamily="18" charset="2"/>
              </a:rPr>
              <a:t></a:t>
            </a:r>
            <a:endParaRPr lang="en-US" altLang="zh-TW" b="1" dirty="0">
              <a:solidFill>
                <a:srgbClr val="C00000"/>
              </a:solidFill>
              <a:sym typeface="Symbol" pitchFamily="18" charset="2"/>
            </a:endParaRPr>
          </a:p>
          <a:p>
            <a:r>
              <a:rPr lang="en-US" altLang="zh-TW" dirty="0">
                <a:sym typeface="Symbol" pitchFamily="18" charset="2"/>
              </a:rPr>
              <a:t>Need context to disambiguate the meaning!</a:t>
            </a:r>
          </a:p>
          <a:p>
            <a:r>
              <a:rPr lang="en-US" altLang="zh-TW" dirty="0">
                <a:sym typeface="Symbol" pitchFamily="18" charset="2"/>
              </a:rPr>
              <a:t>For this course, assume “or” </a:t>
            </a:r>
            <a:r>
              <a:rPr lang="en-US" altLang="zh-TW" dirty="0">
                <a:solidFill>
                  <a:srgbClr val="C00000"/>
                </a:solidFill>
                <a:sym typeface="Symbol" pitchFamily="18" charset="2"/>
              </a:rPr>
              <a:t>means inclusive. i.e. either one, or both propositions can be true </a:t>
            </a:r>
          </a:p>
        </p:txBody>
      </p:sp>
      <p:sp>
        <p:nvSpPr>
          <p:cNvPr id="4" name="Date Placeholder 3">
            <a:extLst>
              <a:ext uri="{FF2B5EF4-FFF2-40B4-BE49-F238E27FC236}">
                <a16:creationId xmlns:a16="http://schemas.microsoft.com/office/drawing/2014/main" id="{623F2E56-EC58-4FD7-AA50-2FEE92205CCB}"/>
              </a:ext>
            </a:extLst>
          </p:cNvPr>
          <p:cNvSpPr>
            <a:spLocks noGrp="1"/>
          </p:cNvSpPr>
          <p:nvPr>
            <p:ph type="dt" sz="half" idx="10"/>
          </p:nvPr>
        </p:nvSpPr>
        <p:spPr/>
        <p:txBody>
          <a:bodyPr/>
          <a:lstStyle/>
          <a:p>
            <a:fld id="{6F5EA156-7286-493C-ACC6-562F199F925A}" type="datetime1">
              <a:rPr lang="en-US" smtClean="0"/>
              <a:t>9/29/2022</a:t>
            </a:fld>
            <a:endParaRPr lang="en-US"/>
          </a:p>
        </p:txBody>
      </p:sp>
      <p:sp>
        <p:nvSpPr>
          <p:cNvPr id="5" name="Footer Placeholder 4">
            <a:extLst>
              <a:ext uri="{FF2B5EF4-FFF2-40B4-BE49-F238E27FC236}">
                <a16:creationId xmlns:a16="http://schemas.microsoft.com/office/drawing/2014/main" id="{8F632DEC-3A55-40A0-A22E-69B35295EA75}"/>
              </a:ext>
            </a:extLst>
          </p:cNvPr>
          <p:cNvSpPr>
            <a:spLocks noGrp="1"/>
          </p:cNvSpPr>
          <p:nvPr>
            <p:ph type="ftr" sz="quarter" idx="11"/>
          </p:nvPr>
        </p:nvSpPr>
        <p:spPr/>
        <p:txBody>
          <a:bodyPr/>
          <a:lstStyle/>
          <a:p>
            <a:r>
              <a:rPr lang="en-US"/>
              <a:t>Introduction to AI</a:t>
            </a:r>
          </a:p>
        </p:txBody>
      </p:sp>
      <p:graphicFrame>
        <p:nvGraphicFramePr>
          <p:cNvPr id="7" name="Table 6">
            <a:extLst>
              <a:ext uri="{FF2B5EF4-FFF2-40B4-BE49-F238E27FC236}">
                <a16:creationId xmlns:a16="http://schemas.microsoft.com/office/drawing/2014/main" id="{DCD05D0B-D241-4945-A32E-263C45404DEF}"/>
              </a:ext>
            </a:extLst>
          </p:cNvPr>
          <p:cNvGraphicFramePr>
            <a:graphicFrameLocks noGrp="1"/>
          </p:cNvGraphicFramePr>
          <p:nvPr>
            <p:extLst>
              <p:ext uri="{D42A27DB-BD31-4B8C-83A1-F6EECF244321}">
                <p14:modId xmlns:p14="http://schemas.microsoft.com/office/powerpoint/2010/main" val="896129420"/>
              </p:ext>
            </p:extLst>
          </p:nvPr>
        </p:nvGraphicFramePr>
        <p:xfrm>
          <a:off x="8285018" y="2341356"/>
          <a:ext cx="3167743" cy="2438400"/>
        </p:xfrm>
        <a:graphic>
          <a:graphicData uri="http://schemas.openxmlformats.org/drawingml/2006/table">
            <a:tbl>
              <a:tblPr firstRow="1" firstCol="1" bandRow="1" bandCol="1">
                <a:tableStyleId>{5A111915-BE36-4E01-A7E5-04B1672EAD32}</a:tableStyleId>
              </a:tblPr>
              <a:tblGrid>
                <a:gridCol w="660055">
                  <a:extLst>
                    <a:ext uri="{9D8B030D-6E8A-4147-A177-3AD203B41FA5}">
                      <a16:colId xmlns:a16="http://schemas.microsoft.com/office/drawing/2014/main" val="20000"/>
                    </a:ext>
                  </a:extLst>
                </a:gridCol>
                <a:gridCol w="660055">
                  <a:extLst>
                    <a:ext uri="{9D8B030D-6E8A-4147-A177-3AD203B41FA5}">
                      <a16:colId xmlns:a16="http://schemas.microsoft.com/office/drawing/2014/main" val="20001"/>
                    </a:ext>
                  </a:extLst>
                </a:gridCol>
                <a:gridCol w="1847633">
                  <a:extLst>
                    <a:ext uri="{9D8B030D-6E8A-4147-A177-3AD203B41FA5}">
                      <a16:colId xmlns:a16="http://schemas.microsoft.com/office/drawing/2014/main" val="20002"/>
                    </a:ext>
                  </a:extLst>
                </a:gridCol>
              </a:tblGrid>
              <a:tr h="487680">
                <a:tc>
                  <a:txBody>
                    <a:bodyPr/>
                    <a:lstStyle/>
                    <a:p>
                      <a:pPr algn="ctr">
                        <a:spcAft>
                          <a:spcPts val="0"/>
                        </a:spcAft>
                      </a:pPr>
                      <a:r>
                        <a:rPr lang="en-US" sz="2800" i="1" dirty="0">
                          <a:effectLst/>
                          <a:latin typeface="+mn-lt"/>
                        </a:rPr>
                        <a:t>p</a:t>
                      </a:r>
                      <a:endParaRPr lang="en-US" sz="2800" i="1" dirty="0">
                        <a:effectLst/>
                        <a:latin typeface="+mn-lt"/>
                        <a:ea typeface="Times New Roman" panose="02020603050405020304" pitchFamily="18" charset="0"/>
                      </a:endParaRPr>
                    </a:p>
                  </a:txBody>
                  <a:tcPr marL="68580" marR="68580" marT="0" marB="0"/>
                </a:tc>
                <a:tc>
                  <a:txBody>
                    <a:bodyPr/>
                    <a:lstStyle/>
                    <a:p>
                      <a:pPr algn="ctr">
                        <a:spcAft>
                          <a:spcPts val="0"/>
                        </a:spcAft>
                      </a:pPr>
                      <a:r>
                        <a:rPr lang="en-US" sz="2800" i="1" dirty="0">
                          <a:effectLst/>
                          <a:latin typeface="+mn-lt"/>
                        </a:rPr>
                        <a:t>q</a:t>
                      </a:r>
                      <a:endParaRPr lang="en-US" sz="2800" i="1" dirty="0">
                        <a:effectLst/>
                        <a:latin typeface="+mn-lt"/>
                        <a:ea typeface="Times New Roman" panose="02020603050405020304" pitchFamily="18" charset="0"/>
                      </a:endParaRPr>
                    </a:p>
                  </a:txBody>
                  <a:tcPr marL="68580" marR="68580" marT="0" marB="0"/>
                </a:tc>
                <a:tc>
                  <a:txBody>
                    <a:bodyPr/>
                    <a:lstStyle/>
                    <a:p>
                      <a:pPr algn="ctr">
                        <a:spcAft>
                          <a:spcPts val="0"/>
                        </a:spcAft>
                      </a:pPr>
                      <a:r>
                        <a:rPr lang="en-US" sz="2800" i="1" dirty="0">
                          <a:effectLst/>
                          <a:latin typeface="+mn-lt"/>
                        </a:rPr>
                        <a:t>p</a:t>
                      </a:r>
                      <a:r>
                        <a:rPr lang="en-US" sz="2800" dirty="0">
                          <a:effectLst/>
                          <a:latin typeface="+mn-lt"/>
                        </a:rPr>
                        <a:t> "OR" </a:t>
                      </a:r>
                      <a:r>
                        <a:rPr lang="en-US" sz="2800" i="1" dirty="0">
                          <a:effectLst/>
                          <a:latin typeface="+mn-lt"/>
                        </a:rPr>
                        <a:t>q</a:t>
                      </a:r>
                      <a:endParaRPr lang="en-US" sz="2800" i="1" dirty="0">
                        <a:effectLst/>
                        <a:latin typeface="+mn-lt"/>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87680">
                <a:tc>
                  <a:txBody>
                    <a:bodyPr/>
                    <a:lstStyle/>
                    <a:p>
                      <a:pPr algn="ctr">
                        <a:spcAft>
                          <a:spcPts val="0"/>
                        </a:spcAft>
                      </a:pPr>
                      <a:r>
                        <a:rPr lang="en-US" sz="2800" b="0" dirty="0">
                          <a:effectLst/>
                          <a:latin typeface="+mn-lt"/>
                        </a:rPr>
                        <a:t>F</a:t>
                      </a:r>
                      <a:endParaRPr lang="en-US" sz="2800" b="0" dirty="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0" dirty="0">
                          <a:effectLst/>
                          <a:latin typeface="+mn-lt"/>
                        </a:rPr>
                        <a:t>F</a:t>
                      </a:r>
                      <a:endParaRPr lang="en-US" sz="2800" b="0" dirty="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1" dirty="0">
                          <a:effectLst/>
                          <a:latin typeface="+mn-lt"/>
                        </a:rPr>
                        <a:t>F</a:t>
                      </a:r>
                      <a:endParaRPr lang="en-US" sz="2800" b="1"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87680">
                <a:tc>
                  <a:txBody>
                    <a:bodyPr/>
                    <a:lstStyle/>
                    <a:p>
                      <a:pPr algn="ctr">
                        <a:spcAft>
                          <a:spcPts val="0"/>
                        </a:spcAft>
                      </a:pPr>
                      <a:r>
                        <a:rPr lang="en-US" sz="2800" b="0" dirty="0">
                          <a:effectLst/>
                          <a:latin typeface="+mn-lt"/>
                        </a:rPr>
                        <a:t>F</a:t>
                      </a:r>
                      <a:endParaRPr lang="en-US" sz="2800" b="0" dirty="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0" dirty="0">
                          <a:effectLst/>
                          <a:latin typeface="+mn-lt"/>
                        </a:rPr>
                        <a:t>T</a:t>
                      </a:r>
                      <a:endParaRPr lang="en-US" sz="2800" b="0" dirty="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1" dirty="0">
                          <a:effectLst/>
                          <a:latin typeface="+mn-lt"/>
                        </a:rPr>
                        <a:t>T</a:t>
                      </a:r>
                      <a:endParaRPr lang="en-US" sz="2800" b="1"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87680">
                <a:tc>
                  <a:txBody>
                    <a:bodyPr/>
                    <a:lstStyle/>
                    <a:p>
                      <a:pPr algn="ctr">
                        <a:spcAft>
                          <a:spcPts val="0"/>
                        </a:spcAft>
                      </a:pPr>
                      <a:r>
                        <a:rPr lang="en-US" sz="2800" b="0">
                          <a:effectLst/>
                          <a:latin typeface="+mn-lt"/>
                        </a:rPr>
                        <a:t>T</a:t>
                      </a:r>
                      <a:endParaRPr lang="en-US" sz="2800" b="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0" dirty="0">
                          <a:effectLst/>
                          <a:latin typeface="+mn-lt"/>
                        </a:rPr>
                        <a:t>F</a:t>
                      </a:r>
                      <a:endParaRPr lang="en-US" sz="2800" b="0" dirty="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1" dirty="0">
                          <a:effectLst/>
                          <a:latin typeface="+mn-lt"/>
                        </a:rPr>
                        <a:t>T</a:t>
                      </a:r>
                      <a:endParaRPr lang="en-US" sz="2800" b="1"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87680">
                <a:tc>
                  <a:txBody>
                    <a:bodyPr/>
                    <a:lstStyle/>
                    <a:p>
                      <a:pPr algn="ctr">
                        <a:spcAft>
                          <a:spcPts val="0"/>
                        </a:spcAft>
                      </a:pPr>
                      <a:r>
                        <a:rPr lang="en-US" sz="2800" b="0">
                          <a:effectLst/>
                          <a:latin typeface="+mn-lt"/>
                        </a:rPr>
                        <a:t>T</a:t>
                      </a:r>
                      <a:endParaRPr lang="en-US" sz="2800" b="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0" dirty="0">
                          <a:effectLst/>
                          <a:latin typeface="+mn-lt"/>
                        </a:rPr>
                        <a:t>T</a:t>
                      </a:r>
                      <a:endParaRPr lang="en-US" sz="2800" b="0" dirty="0">
                        <a:effectLst/>
                        <a:latin typeface="+mn-lt"/>
                        <a:ea typeface="Times New Roman" panose="02020603050405020304" pitchFamily="18" charset="0"/>
                      </a:endParaRPr>
                    </a:p>
                  </a:txBody>
                  <a:tcPr marL="68580" marR="68580" marT="0" marB="0" anchor="ctr"/>
                </a:tc>
                <a:tc>
                  <a:txBody>
                    <a:bodyPr/>
                    <a:lstStyle/>
                    <a:p>
                      <a:pPr algn="ctr">
                        <a:spcAft>
                          <a:spcPts val="0"/>
                        </a:spcAft>
                      </a:pPr>
                      <a:r>
                        <a:rPr lang="en-US" sz="2800" b="1" dirty="0">
                          <a:effectLst/>
                          <a:latin typeface="+mn-lt"/>
                        </a:rPr>
                        <a:t>?</a:t>
                      </a:r>
                      <a:endParaRPr lang="en-US" sz="2800" b="1" dirty="0">
                        <a:effectLst/>
                        <a:latin typeface="+mn-lt"/>
                        <a:ea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8" name="Slide Number Placeholder 7"/>
          <p:cNvSpPr>
            <a:spLocks noGrp="1"/>
          </p:cNvSpPr>
          <p:nvPr>
            <p:ph type="sldNum" sz="quarter" idx="12"/>
          </p:nvPr>
        </p:nvSpPr>
        <p:spPr/>
        <p:txBody>
          <a:bodyPr/>
          <a:lstStyle/>
          <a:p>
            <a:fld id="{75B1DB82-35C9-4076-A5B8-0781B30E89ED}" type="slidenum">
              <a:rPr lang="en-US" smtClean="0"/>
              <a:t>26</a:t>
            </a:fld>
            <a:endParaRPr lang="en-US"/>
          </a:p>
        </p:txBody>
      </p:sp>
    </p:spTree>
    <p:extLst>
      <p:ext uri="{BB962C8B-B14F-4D97-AF65-F5344CB8AC3E}">
        <p14:creationId xmlns:p14="http://schemas.microsoft.com/office/powerpoint/2010/main" val="3889556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ea typeface="新細明體" pitchFamily="18" charset="-120"/>
              </a:rPr>
              <a:t>The Implication Operator (</a:t>
            </a:r>
            <a:r>
              <a:rPr lang="en-US" altLang="zh-TW" dirty="0">
                <a:ea typeface="新細明體" pitchFamily="18" charset="-120"/>
                <a:sym typeface="Symbol" pitchFamily="18" charset="2"/>
              </a:rPr>
              <a:t>implies</a:t>
            </a:r>
            <a:r>
              <a:rPr lang="en-US" altLang="zh-TW" dirty="0">
                <a:ea typeface="新細明體" pitchFamily="18" charset="-120"/>
              </a:rPr>
              <a:t>) “</a:t>
            </a:r>
            <a:r>
              <a:rPr lang="en-US" altLang="zh-TW" dirty="0">
                <a:ea typeface="新細明體" pitchFamily="18" charset="-120"/>
                <a:sym typeface="Symbol" pitchFamily="18" charset="2"/>
              </a:rPr>
              <a:t>”</a:t>
            </a:r>
            <a:endParaRPr lang="en-US" dirty="0"/>
          </a:p>
        </p:txBody>
      </p:sp>
      <p:sp>
        <p:nvSpPr>
          <p:cNvPr id="3" name="Content Placeholder 2"/>
          <p:cNvSpPr>
            <a:spLocks noGrp="1"/>
          </p:cNvSpPr>
          <p:nvPr>
            <p:ph idx="1"/>
          </p:nvPr>
        </p:nvSpPr>
        <p:spPr/>
        <p:txBody>
          <a:bodyPr/>
          <a:lstStyle/>
          <a:p>
            <a:pPr>
              <a:lnSpc>
                <a:spcPct val="100000"/>
              </a:lnSpc>
              <a:spcBef>
                <a:spcPts val="0"/>
              </a:spcBef>
              <a:spcAft>
                <a:spcPts val="0"/>
              </a:spcAft>
            </a:pPr>
            <a:endParaRPr lang="en-US" dirty="0"/>
          </a:p>
          <a:p>
            <a:pPr>
              <a:lnSpc>
                <a:spcPct val="100000"/>
              </a:lnSpc>
              <a:spcBef>
                <a:spcPts val="0"/>
              </a:spcBef>
              <a:spcAft>
                <a:spcPts val="0"/>
              </a:spcAft>
            </a:pPr>
            <a:r>
              <a:rPr lang="en-US" dirty="0">
                <a:solidFill>
                  <a:srgbClr val="C00000"/>
                </a:solidFill>
              </a:rPr>
              <a:t>The implication</a:t>
            </a:r>
            <a:r>
              <a:rPr lang="en-US" dirty="0"/>
              <a:t> </a:t>
            </a:r>
            <a:r>
              <a:rPr lang="en-US" b="1" i="1" dirty="0"/>
              <a:t>p</a:t>
            </a:r>
            <a:r>
              <a:rPr lang="en-US" b="1" dirty="0"/>
              <a:t> </a:t>
            </a:r>
            <a:r>
              <a:rPr lang="en-US" altLang="zh-TW" b="1" dirty="0">
                <a:ea typeface="新細明體" pitchFamily="18" charset="-120"/>
                <a:sym typeface="Symbol" pitchFamily="18" charset="2"/>
              </a:rPr>
              <a:t></a:t>
            </a:r>
            <a:r>
              <a:rPr lang="en-US" b="1" dirty="0"/>
              <a:t> </a:t>
            </a:r>
            <a:r>
              <a:rPr lang="en-US" b="1" i="1" dirty="0"/>
              <a:t>q</a:t>
            </a:r>
            <a:r>
              <a:rPr lang="en-US" b="1" dirty="0"/>
              <a:t> </a:t>
            </a:r>
            <a:r>
              <a:rPr lang="en-US" dirty="0"/>
              <a:t>states that </a:t>
            </a:r>
            <a:r>
              <a:rPr lang="en-US" i="1" dirty="0">
                <a:solidFill>
                  <a:srgbClr val="C00000"/>
                </a:solidFill>
              </a:rPr>
              <a:t>p</a:t>
            </a:r>
            <a:r>
              <a:rPr lang="en-US" dirty="0">
                <a:solidFill>
                  <a:srgbClr val="C00000"/>
                </a:solidFill>
              </a:rPr>
              <a:t> implies </a:t>
            </a:r>
            <a:r>
              <a:rPr lang="en-US" i="1" dirty="0">
                <a:solidFill>
                  <a:srgbClr val="C00000"/>
                </a:solidFill>
              </a:rPr>
              <a:t>q</a:t>
            </a:r>
            <a:r>
              <a:rPr lang="en-US" dirty="0"/>
              <a:t>, i.e., </a:t>
            </a:r>
          </a:p>
          <a:p>
            <a:pPr lvl="1">
              <a:lnSpc>
                <a:spcPct val="100000"/>
              </a:lnSpc>
              <a:spcBef>
                <a:spcPts val="0"/>
              </a:spcBef>
              <a:spcAft>
                <a:spcPts val="0"/>
              </a:spcAft>
            </a:pPr>
            <a:r>
              <a:rPr lang="en-US" dirty="0"/>
              <a:t>if </a:t>
            </a:r>
            <a:r>
              <a:rPr lang="en-US" i="1" dirty="0"/>
              <a:t>p</a:t>
            </a:r>
            <a:r>
              <a:rPr lang="en-US" dirty="0"/>
              <a:t> is true, then </a:t>
            </a:r>
            <a:r>
              <a:rPr lang="en-US" i="1" dirty="0"/>
              <a:t>q</a:t>
            </a:r>
            <a:r>
              <a:rPr lang="en-US" dirty="0"/>
              <a:t> is true; </a:t>
            </a:r>
            <a:endParaRPr lang="en-US" b="1" dirty="0"/>
          </a:p>
          <a:p>
            <a:pPr lvl="1">
              <a:lnSpc>
                <a:spcPct val="100000"/>
              </a:lnSpc>
              <a:spcBef>
                <a:spcPts val="0"/>
              </a:spcBef>
              <a:spcAft>
                <a:spcPts val="0"/>
              </a:spcAft>
            </a:pPr>
            <a:r>
              <a:rPr lang="en-US" b="1" dirty="0"/>
              <a:t>but, </a:t>
            </a:r>
            <a:r>
              <a:rPr lang="en-US" dirty="0"/>
              <a:t>if </a:t>
            </a:r>
            <a:r>
              <a:rPr lang="en-US" i="1" dirty="0"/>
              <a:t>p</a:t>
            </a:r>
            <a:r>
              <a:rPr lang="en-US" dirty="0"/>
              <a:t> is not true, then </a:t>
            </a:r>
            <a:r>
              <a:rPr lang="en-US" i="1" dirty="0"/>
              <a:t>q</a:t>
            </a:r>
            <a:r>
              <a:rPr lang="en-US" dirty="0"/>
              <a:t> could be either true or false</a:t>
            </a:r>
          </a:p>
          <a:p>
            <a:pPr marL="304793" lvl="1" indent="0">
              <a:lnSpc>
                <a:spcPct val="100000"/>
              </a:lnSpc>
              <a:spcBef>
                <a:spcPts val="0"/>
              </a:spcBef>
              <a:spcAft>
                <a:spcPts val="0"/>
              </a:spcAft>
              <a:buNone/>
            </a:pPr>
            <a:endParaRPr lang="en-US" dirty="0"/>
          </a:p>
          <a:p>
            <a:pPr>
              <a:lnSpc>
                <a:spcPct val="100000"/>
              </a:lnSpc>
              <a:spcBef>
                <a:spcPts val="0"/>
              </a:spcBef>
              <a:spcAft>
                <a:spcPts val="0"/>
              </a:spcAft>
            </a:pPr>
            <a:r>
              <a:rPr lang="en-US" b="1" dirty="0"/>
              <a:t>Example</a:t>
            </a:r>
          </a:p>
          <a:p>
            <a:pPr lvl="1">
              <a:lnSpc>
                <a:spcPct val="100000"/>
              </a:lnSpc>
              <a:spcBef>
                <a:spcPts val="0"/>
              </a:spcBef>
              <a:spcAft>
                <a:spcPts val="0"/>
              </a:spcAft>
            </a:pPr>
            <a:r>
              <a:rPr lang="en-US" dirty="0"/>
              <a:t>Let </a:t>
            </a:r>
            <a:r>
              <a:rPr lang="en-US" i="1" dirty="0"/>
              <a:t>p</a:t>
            </a:r>
            <a:r>
              <a:rPr lang="en-US" dirty="0"/>
              <a:t> = “You study hard.”, </a:t>
            </a:r>
          </a:p>
          <a:p>
            <a:pPr lvl="1">
              <a:lnSpc>
                <a:spcPct val="100000"/>
              </a:lnSpc>
              <a:spcBef>
                <a:spcPts val="0"/>
              </a:spcBef>
              <a:spcAft>
                <a:spcPts val="0"/>
              </a:spcAft>
            </a:pPr>
            <a:r>
              <a:rPr lang="en-US" i="1" dirty="0"/>
              <a:t>q</a:t>
            </a:r>
            <a:r>
              <a:rPr lang="en-US" dirty="0"/>
              <a:t> = “You will get a good grade.”</a:t>
            </a:r>
          </a:p>
          <a:p>
            <a:pPr lvl="1">
              <a:lnSpc>
                <a:spcPct val="100000"/>
              </a:lnSpc>
              <a:spcBef>
                <a:spcPts val="0"/>
              </a:spcBef>
              <a:spcAft>
                <a:spcPts val="0"/>
              </a:spcAft>
            </a:pPr>
            <a:r>
              <a:rPr lang="en-US" i="1" dirty="0"/>
              <a:t>p</a:t>
            </a:r>
            <a:r>
              <a:rPr lang="en-US" dirty="0"/>
              <a:t> </a:t>
            </a:r>
            <a:r>
              <a:rPr lang="en-US" altLang="zh-TW" dirty="0">
                <a:ea typeface="新細明體" pitchFamily="18" charset="-120"/>
                <a:sym typeface="Symbol" pitchFamily="18" charset="2"/>
              </a:rPr>
              <a:t> </a:t>
            </a:r>
            <a:r>
              <a:rPr lang="en-US" i="1" dirty="0"/>
              <a:t>q</a:t>
            </a:r>
            <a:r>
              <a:rPr lang="en-US" dirty="0"/>
              <a:t> = “If you study hard, </a:t>
            </a:r>
            <a:r>
              <a:rPr lang="en-US" i="1" dirty="0">
                <a:solidFill>
                  <a:srgbClr val="C00000"/>
                </a:solidFill>
              </a:rPr>
              <a:t>then</a:t>
            </a:r>
            <a:r>
              <a:rPr lang="en-US" dirty="0"/>
              <a:t> you will get a good grade.” (else, it could go either way)</a:t>
            </a:r>
          </a:p>
        </p:txBody>
      </p:sp>
      <p:grpSp>
        <p:nvGrpSpPr>
          <p:cNvPr id="4" name="Group 3"/>
          <p:cNvGrpSpPr/>
          <p:nvPr/>
        </p:nvGrpSpPr>
        <p:grpSpPr>
          <a:xfrm>
            <a:off x="2490469" y="1350131"/>
            <a:ext cx="1099916" cy="571500"/>
            <a:chOff x="2133600" y="1004889"/>
            <a:chExt cx="1466555" cy="762000"/>
          </a:xfrm>
        </p:grpSpPr>
        <p:sp>
          <p:nvSpPr>
            <p:cNvPr id="5" name="Text Box 6"/>
            <p:cNvSpPr txBox="1">
              <a:spLocks noChangeArrowheads="1"/>
            </p:cNvSpPr>
            <p:nvPr/>
          </p:nvSpPr>
          <p:spPr bwMode="auto">
            <a:xfrm>
              <a:off x="2133600" y="1004889"/>
              <a:ext cx="1466555" cy="430887"/>
            </a:xfrm>
            <a:prstGeom prst="rect">
              <a:avLst/>
            </a:prstGeom>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altLang="zh-TW" sz="1500" dirty="0">
                  <a:latin typeface="Cambria" panose="02040503050406030204" pitchFamily="18" charset="0"/>
                  <a:ea typeface="新細明體" pitchFamily="18" charset="-120"/>
                </a:rPr>
                <a:t>antecedent</a:t>
              </a:r>
            </a:p>
          </p:txBody>
        </p:sp>
        <p:sp>
          <p:nvSpPr>
            <p:cNvPr id="6" name="AutoShape 7"/>
            <p:cNvSpPr>
              <a:spLocks/>
            </p:cNvSpPr>
            <p:nvPr/>
          </p:nvSpPr>
          <p:spPr bwMode="auto">
            <a:xfrm rot="5400000">
              <a:off x="3162300" y="1500189"/>
              <a:ext cx="228600" cy="304800"/>
            </a:xfrm>
            <a:prstGeom prst="leftBrace">
              <a:avLst>
                <a:gd name="adj1" fmla="val 11111"/>
                <a:gd name="adj2" fmla="val 50000"/>
              </a:avLst>
            </a:prstGeom>
            <a:noFill/>
            <a:ln>
              <a:solidFill>
                <a:schemeClr val="tx1"/>
              </a:solid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sz="1500">
                <a:latin typeface="Cambria" panose="02040503050406030204" pitchFamily="18" charset="0"/>
              </a:endParaRPr>
            </a:p>
          </p:txBody>
        </p:sp>
      </p:grpSp>
      <p:grpSp>
        <p:nvGrpSpPr>
          <p:cNvPr id="7" name="Group 6"/>
          <p:cNvGrpSpPr/>
          <p:nvPr/>
        </p:nvGrpSpPr>
        <p:grpSpPr>
          <a:xfrm>
            <a:off x="4041694" y="1339414"/>
            <a:ext cx="1144644" cy="582217"/>
            <a:chOff x="4756755" y="1130565"/>
            <a:chExt cx="1526191" cy="776289"/>
          </a:xfrm>
        </p:grpSpPr>
        <p:sp>
          <p:nvSpPr>
            <p:cNvPr id="8" name="Text Box 8"/>
            <p:cNvSpPr txBox="1">
              <a:spLocks noChangeArrowheads="1"/>
            </p:cNvSpPr>
            <p:nvPr/>
          </p:nvSpPr>
          <p:spPr bwMode="auto">
            <a:xfrm>
              <a:off x="4767146" y="1130565"/>
              <a:ext cx="1515800" cy="430886"/>
            </a:xfrm>
            <a:prstGeom prst="rect">
              <a:avLst/>
            </a:prstGeom>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altLang="zh-TW" sz="1500" dirty="0">
                  <a:latin typeface="Cambria" panose="02040503050406030204" pitchFamily="18" charset="0"/>
                  <a:ea typeface="新細明體" pitchFamily="18" charset="-120"/>
                </a:rPr>
                <a:t>consequent</a:t>
              </a:r>
            </a:p>
          </p:txBody>
        </p:sp>
        <p:sp>
          <p:nvSpPr>
            <p:cNvPr id="9" name="AutoShape 9"/>
            <p:cNvSpPr>
              <a:spLocks/>
            </p:cNvSpPr>
            <p:nvPr/>
          </p:nvSpPr>
          <p:spPr bwMode="auto">
            <a:xfrm rot="5400000">
              <a:off x="4794855" y="1640154"/>
              <a:ext cx="228600" cy="304800"/>
            </a:xfrm>
            <a:prstGeom prst="leftBrace">
              <a:avLst>
                <a:gd name="adj1" fmla="val 11111"/>
                <a:gd name="adj2" fmla="val 50000"/>
              </a:avLst>
            </a:prstGeom>
            <a:noFill/>
            <a:ln>
              <a:solidFill>
                <a:schemeClr val="tx1"/>
              </a:solid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sz="1500">
                <a:latin typeface="Cambria" panose="02040503050406030204" pitchFamily="18" charset="0"/>
              </a:endParaRPr>
            </a:p>
          </p:txBody>
        </p:sp>
      </p:grpSp>
      <p:sp>
        <p:nvSpPr>
          <p:cNvPr id="10" name="Date Placeholder 9"/>
          <p:cNvSpPr>
            <a:spLocks noGrp="1"/>
          </p:cNvSpPr>
          <p:nvPr>
            <p:ph type="dt" sz="half" idx="10"/>
          </p:nvPr>
        </p:nvSpPr>
        <p:spPr/>
        <p:txBody>
          <a:bodyPr/>
          <a:lstStyle/>
          <a:p>
            <a:fld id="{7FD9B10F-2DBC-438E-A0C2-40999183F306}" type="datetime1">
              <a:rPr lang="en-US" smtClean="0"/>
              <a:t>9/29/2022</a:t>
            </a:fld>
            <a:endParaRPr lang="en-US"/>
          </a:p>
        </p:txBody>
      </p:sp>
      <p:sp>
        <p:nvSpPr>
          <p:cNvPr id="11" name="Footer Placeholder 10"/>
          <p:cNvSpPr>
            <a:spLocks noGrp="1"/>
          </p:cNvSpPr>
          <p:nvPr>
            <p:ph type="ftr" sz="quarter" idx="11"/>
          </p:nvPr>
        </p:nvSpPr>
        <p:spPr/>
        <p:txBody>
          <a:bodyPr/>
          <a:lstStyle/>
          <a:p>
            <a:r>
              <a:rPr lang="en-US"/>
              <a:t>Introduction to AI</a:t>
            </a:r>
          </a:p>
        </p:txBody>
      </p:sp>
      <p:sp>
        <p:nvSpPr>
          <p:cNvPr id="12" name="Slide Number Placeholder 11"/>
          <p:cNvSpPr>
            <a:spLocks noGrp="1"/>
          </p:cNvSpPr>
          <p:nvPr>
            <p:ph type="sldNum" sz="quarter" idx="12"/>
          </p:nvPr>
        </p:nvSpPr>
        <p:spPr/>
        <p:txBody>
          <a:bodyPr/>
          <a:lstStyle/>
          <a:p>
            <a:fld id="{75B1DB82-35C9-4076-A5B8-0781B30E89ED}" type="slidenum">
              <a:rPr lang="en-US" smtClean="0"/>
              <a:t>27</a:t>
            </a:fld>
            <a:endParaRPr lang="en-US"/>
          </a:p>
        </p:txBody>
      </p:sp>
    </p:spTree>
    <p:extLst>
      <p:ext uri="{BB962C8B-B14F-4D97-AF65-F5344CB8AC3E}">
        <p14:creationId xmlns:p14="http://schemas.microsoft.com/office/powerpoint/2010/main" val="456923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ea typeface="新細明體" pitchFamily="18" charset="-120"/>
              </a:rPr>
              <a:t>The Implication Operator (</a:t>
            </a:r>
            <a:r>
              <a:rPr lang="en-US" altLang="zh-TW" dirty="0">
                <a:ea typeface="新細明體" pitchFamily="18" charset="-120"/>
                <a:sym typeface="Symbol" pitchFamily="18" charset="2"/>
              </a:rPr>
              <a:t>implies</a:t>
            </a:r>
            <a:r>
              <a:rPr lang="en-US" altLang="zh-TW" dirty="0">
                <a:ea typeface="新細明體" pitchFamily="18" charset="-120"/>
              </a:rPr>
              <a:t>) “</a:t>
            </a:r>
            <a:r>
              <a:rPr lang="en-US" altLang="zh-TW" dirty="0">
                <a:ea typeface="新細明體" pitchFamily="18" charset="-120"/>
                <a:sym typeface="Symbol" pitchFamily="18" charset="2"/>
              </a:rPr>
              <a:t>”</a:t>
            </a:r>
            <a:endParaRPr lang="en-US" dirty="0"/>
          </a:p>
        </p:txBody>
      </p:sp>
      <p:sp>
        <p:nvSpPr>
          <p:cNvPr id="3" name="Content Placeholder 2"/>
          <p:cNvSpPr>
            <a:spLocks noGrp="1"/>
          </p:cNvSpPr>
          <p:nvPr>
            <p:ph idx="1"/>
          </p:nvPr>
        </p:nvSpPr>
        <p:spPr>
          <a:xfrm>
            <a:off x="304800" y="1228153"/>
            <a:ext cx="6642735" cy="5021979"/>
          </a:xfrm>
        </p:spPr>
        <p:txBody>
          <a:bodyPr/>
          <a:lstStyle/>
          <a:p>
            <a:pPr>
              <a:lnSpc>
                <a:spcPct val="100000"/>
              </a:lnSpc>
              <a:spcBef>
                <a:spcPts val="0"/>
              </a:spcBef>
              <a:spcAft>
                <a:spcPts val="0"/>
              </a:spcAft>
            </a:pPr>
            <a:r>
              <a:rPr lang="en-US" dirty="0"/>
              <a:t>The truth table of the implication operator is shown below</a:t>
            </a:r>
          </a:p>
          <a:p>
            <a:pPr lvl="1">
              <a:lnSpc>
                <a:spcPct val="100000"/>
              </a:lnSpc>
              <a:spcBef>
                <a:spcPts val="0"/>
              </a:spcBef>
              <a:spcAft>
                <a:spcPts val="0"/>
              </a:spcAft>
            </a:pPr>
            <a:r>
              <a:rPr lang="en-US" altLang="zh-TW" i="1" dirty="0">
                <a:ea typeface="新細明體" pitchFamily="18" charset="-120"/>
              </a:rPr>
              <a:t>p </a:t>
            </a:r>
            <a:r>
              <a:rPr lang="en-US" altLang="zh-TW" dirty="0">
                <a:ea typeface="新細明體" pitchFamily="18" charset="-120"/>
                <a:sym typeface="Symbol" pitchFamily="18" charset="2"/>
              </a:rPr>
              <a:t></a:t>
            </a:r>
            <a:r>
              <a:rPr lang="en-US" altLang="zh-TW" i="1" dirty="0">
                <a:ea typeface="新細明體" pitchFamily="18" charset="-120"/>
              </a:rPr>
              <a:t> q </a:t>
            </a:r>
            <a:r>
              <a:rPr lang="en-US" altLang="zh-TW" dirty="0">
                <a:ea typeface="新細明體" pitchFamily="18" charset="-120"/>
              </a:rPr>
              <a:t>is </a:t>
            </a:r>
            <a:r>
              <a:rPr lang="en-US" altLang="zh-TW" b="1" dirty="0">
                <a:ea typeface="新細明體" pitchFamily="18" charset="-120"/>
              </a:rPr>
              <a:t>false</a:t>
            </a:r>
            <a:r>
              <a:rPr lang="en-US" altLang="zh-TW" dirty="0">
                <a:ea typeface="新細明體" pitchFamily="18" charset="-120"/>
              </a:rPr>
              <a:t> </a:t>
            </a:r>
            <a:r>
              <a:rPr lang="en-US" altLang="zh-TW" u="sng" dirty="0">
                <a:ea typeface="新細明體" pitchFamily="18" charset="-120"/>
              </a:rPr>
              <a:t>only</a:t>
            </a:r>
            <a:r>
              <a:rPr lang="en-US" altLang="zh-TW" dirty="0">
                <a:ea typeface="新細明體" pitchFamily="18" charset="-120"/>
              </a:rPr>
              <a:t> when</a:t>
            </a:r>
            <a:br>
              <a:rPr lang="en-US" altLang="zh-TW" dirty="0">
                <a:ea typeface="新細明體" pitchFamily="18" charset="-120"/>
              </a:rPr>
            </a:br>
            <a:r>
              <a:rPr lang="en-US" altLang="zh-TW" i="1" dirty="0">
                <a:ea typeface="新細明體" pitchFamily="18" charset="-120"/>
              </a:rPr>
              <a:t>p</a:t>
            </a:r>
            <a:r>
              <a:rPr lang="en-US" altLang="zh-TW" dirty="0">
                <a:ea typeface="新細明體" pitchFamily="18" charset="-120"/>
              </a:rPr>
              <a:t> is true but </a:t>
            </a:r>
            <a:r>
              <a:rPr lang="en-US" altLang="zh-TW" i="1" dirty="0">
                <a:ea typeface="新細明體" pitchFamily="18" charset="-120"/>
              </a:rPr>
              <a:t>q</a:t>
            </a:r>
            <a:r>
              <a:rPr lang="en-US" altLang="zh-TW" dirty="0">
                <a:ea typeface="新細明體" pitchFamily="18" charset="-120"/>
              </a:rPr>
              <a:t> is </a:t>
            </a:r>
            <a:r>
              <a:rPr lang="en-US" altLang="zh-TW" b="1" dirty="0">
                <a:ea typeface="新細明體" pitchFamily="18" charset="-120"/>
              </a:rPr>
              <a:t>not</a:t>
            </a:r>
            <a:r>
              <a:rPr lang="en-US" altLang="zh-TW" dirty="0">
                <a:ea typeface="新細明體" pitchFamily="18" charset="-120"/>
              </a:rPr>
              <a:t> true.</a:t>
            </a:r>
          </a:p>
          <a:p>
            <a:pPr lvl="1">
              <a:lnSpc>
                <a:spcPct val="100000"/>
              </a:lnSpc>
              <a:spcBef>
                <a:spcPts val="0"/>
              </a:spcBef>
              <a:spcAft>
                <a:spcPts val="0"/>
              </a:spcAft>
            </a:pPr>
            <a:r>
              <a:rPr lang="en-US" altLang="zh-TW" i="1" dirty="0">
                <a:ea typeface="新細明體" pitchFamily="18" charset="-120"/>
              </a:rPr>
              <a:t>p </a:t>
            </a:r>
            <a:r>
              <a:rPr lang="en-US" altLang="zh-TW" dirty="0">
                <a:ea typeface="新細明體" pitchFamily="18" charset="-120"/>
                <a:sym typeface="Symbol" pitchFamily="18" charset="2"/>
              </a:rPr>
              <a:t></a:t>
            </a:r>
            <a:r>
              <a:rPr lang="en-US" altLang="zh-TW" i="1" dirty="0">
                <a:ea typeface="新細明體" pitchFamily="18" charset="-120"/>
              </a:rPr>
              <a:t> q   </a:t>
            </a:r>
            <a:r>
              <a:rPr lang="en-US" altLang="zh-TW" dirty="0">
                <a:ea typeface="新細明體" pitchFamily="18" charset="-120"/>
              </a:rPr>
              <a:t>does </a:t>
            </a:r>
            <a:r>
              <a:rPr lang="en-US" altLang="zh-TW" b="1" dirty="0">
                <a:ea typeface="新細明體" pitchFamily="18" charset="-120"/>
              </a:rPr>
              <a:t>not </a:t>
            </a:r>
            <a:r>
              <a:rPr lang="en-US" altLang="zh-TW" dirty="0">
                <a:ea typeface="新細明體" pitchFamily="18" charset="-120"/>
              </a:rPr>
              <a:t>say</a:t>
            </a:r>
            <a:br>
              <a:rPr lang="en-US" altLang="zh-TW" dirty="0">
                <a:ea typeface="新細明體" pitchFamily="18" charset="-120"/>
              </a:rPr>
            </a:br>
            <a:r>
              <a:rPr lang="en-US" altLang="zh-TW" dirty="0">
                <a:ea typeface="新細明體" pitchFamily="18" charset="-120"/>
              </a:rPr>
              <a:t>that </a:t>
            </a:r>
            <a:r>
              <a:rPr lang="en-US" altLang="zh-TW" i="1" dirty="0">
                <a:ea typeface="新細明體" pitchFamily="18" charset="-120"/>
              </a:rPr>
              <a:t>p</a:t>
            </a:r>
            <a:r>
              <a:rPr lang="en-US" altLang="zh-TW" dirty="0">
                <a:ea typeface="新細明體" pitchFamily="18" charset="-120"/>
              </a:rPr>
              <a:t> </a:t>
            </a:r>
            <a:r>
              <a:rPr lang="en-US" altLang="zh-TW" u="sng" dirty="0">
                <a:ea typeface="新細明體" pitchFamily="18" charset="-120"/>
              </a:rPr>
              <a:t>causes</a:t>
            </a:r>
            <a:r>
              <a:rPr lang="en-US" altLang="zh-TW" dirty="0">
                <a:ea typeface="新細明體" pitchFamily="18" charset="-120"/>
              </a:rPr>
              <a:t> </a:t>
            </a:r>
            <a:r>
              <a:rPr lang="en-US" altLang="zh-TW" i="1" dirty="0">
                <a:ea typeface="新細明體" pitchFamily="18" charset="-120"/>
              </a:rPr>
              <a:t>q</a:t>
            </a:r>
          </a:p>
          <a:p>
            <a:pPr lvl="1">
              <a:lnSpc>
                <a:spcPct val="100000"/>
              </a:lnSpc>
              <a:spcBef>
                <a:spcPts val="0"/>
              </a:spcBef>
              <a:spcAft>
                <a:spcPts val="0"/>
              </a:spcAft>
            </a:pPr>
            <a:r>
              <a:rPr lang="en-US" altLang="zh-TW" i="1" dirty="0">
                <a:ea typeface="新細明體" pitchFamily="18" charset="-120"/>
              </a:rPr>
              <a:t>p </a:t>
            </a:r>
            <a:r>
              <a:rPr lang="en-US" altLang="zh-TW" dirty="0">
                <a:ea typeface="新細明體" pitchFamily="18" charset="-120"/>
                <a:sym typeface="Symbol" pitchFamily="18" charset="2"/>
              </a:rPr>
              <a:t></a:t>
            </a:r>
            <a:r>
              <a:rPr lang="en-US" altLang="zh-TW" i="1" dirty="0">
                <a:ea typeface="新細明體" pitchFamily="18" charset="-120"/>
              </a:rPr>
              <a:t> q   </a:t>
            </a:r>
            <a:r>
              <a:rPr lang="en-US" altLang="zh-TW" dirty="0">
                <a:ea typeface="新細明體" pitchFamily="18" charset="-120"/>
              </a:rPr>
              <a:t>does </a:t>
            </a:r>
            <a:r>
              <a:rPr lang="en-US" altLang="zh-TW" b="1" dirty="0">
                <a:ea typeface="新細明體" pitchFamily="18" charset="-120"/>
              </a:rPr>
              <a:t>not </a:t>
            </a:r>
            <a:r>
              <a:rPr lang="en-US" altLang="zh-TW" dirty="0">
                <a:ea typeface="新細明體" pitchFamily="18" charset="-120"/>
              </a:rPr>
              <a:t>require</a:t>
            </a:r>
            <a:br>
              <a:rPr lang="en-US" altLang="zh-TW" dirty="0">
                <a:ea typeface="新細明體" pitchFamily="18" charset="-120"/>
              </a:rPr>
            </a:br>
            <a:r>
              <a:rPr lang="en-US" altLang="zh-TW" dirty="0">
                <a:ea typeface="新細明體" pitchFamily="18" charset="-120"/>
              </a:rPr>
              <a:t>that </a:t>
            </a:r>
            <a:r>
              <a:rPr lang="en-US" altLang="zh-TW" i="1" dirty="0">
                <a:ea typeface="新細明體" pitchFamily="18" charset="-120"/>
              </a:rPr>
              <a:t>p</a:t>
            </a:r>
            <a:r>
              <a:rPr lang="en-US" altLang="zh-TW" dirty="0">
                <a:ea typeface="新細明體" pitchFamily="18" charset="-120"/>
              </a:rPr>
              <a:t> or </a:t>
            </a:r>
            <a:r>
              <a:rPr lang="en-US" altLang="zh-TW" i="1" dirty="0">
                <a:ea typeface="新細明體" pitchFamily="18" charset="-120"/>
              </a:rPr>
              <a:t>q</a:t>
            </a:r>
            <a:r>
              <a:rPr lang="en-US" altLang="zh-TW" dirty="0">
                <a:ea typeface="新細明體" pitchFamily="18" charset="-120"/>
              </a:rPr>
              <a:t> </a:t>
            </a:r>
            <a:r>
              <a:rPr lang="en-US" altLang="zh-TW" b="1" u="sng" dirty="0">
                <a:ea typeface="新細明體" pitchFamily="18" charset="-120"/>
              </a:rPr>
              <a:t>are ever true</a:t>
            </a:r>
            <a:r>
              <a:rPr lang="en-US" altLang="zh-TW" dirty="0">
                <a:ea typeface="新細明體" pitchFamily="18" charset="-120"/>
              </a:rPr>
              <a:t>!</a:t>
            </a:r>
          </a:p>
          <a:p>
            <a:pPr lvl="1">
              <a:lnSpc>
                <a:spcPct val="100000"/>
              </a:lnSpc>
              <a:spcBef>
                <a:spcPts val="0"/>
              </a:spcBef>
              <a:spcAft>
                <a:spcPts val="0"/>
              </a:spcAft>
            </a:pPr>
            <a:r>
              <a:rPr lang="en-US" altLang="zh-TW" dirty="0"/>
              <a:t>p </a:t>
            </a:r>
            <a:r>
              <a:rPr lang="en-US" altLang="zh-TW" dirty="0">
                <a:sym typeface="Symbol" pitchFamily="18" charset="2"/>
              </a:rPr>
              <a:t></a:t>
            </a:r>
            <a:r>
              <a:rPr lang="en-US" altLang="zh-TW" dirty="0"/>
              <a:t> q is equivalent to </a:t>
            </a:r>
            <a:r>
              <a:rPr lang="en-US" altLang="zh-TW" b="1" dirty="0"/>
              <a:t>p </a:t>
            </a:r>
            <a:r>
              <a:rPr lang="en-US" altLang="zh-TW" b="1" dirty="0">
                <a:sym typeface="Symbol" panose="05050102010706020507" pitchFamily="18" charset="2"/>
              </a:rPr>
              <a:t></a:t>
            </a:r>
            <a:r>
              <a:rPr lang="en-US" altLang="zh-TW" b="1" dirty="0"/>
              <a:t> q </a:t>
            </a:r>
          </a:p>
          <a:p>
            <a:pPr lvl="1"/>
            <a:endParaRPr lang="en-US" altLang="zh-TW" dirty="0">
              <a:ea typeface="新細明體" pitchFamily="18" charset="-120"/>
            </a:endParaRPr>
          </a:p>
          <a:p>
            <a:pPr lvl="1"/>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46875020"/>
              </p:ext>
            </p:extLst>
          </p:nvPr>
        </p:nvGraphicFramePr>
        <p:xfrm>
          <a:off x="6655031" y="2098589"/>
          <a:ext cx="3371850" cy="2509808"/>
        </p:xfrm>
        <a:graphic>
          <a:graphicData uri="http://schemas.openxmlformats.org/drawingml/2006/table">
            <a:tbl>
              <a:tblPr firstRow="1" bandRow="1">
                <a:tableStyleId>{8799B23B-EC83-4686-B30A-512413B5E67A}</a:tableStyleId>
              </a:tblPr>
              <a:tblGrid>
                <a:gridCol w="1123583">
                  <a:extLst>
                    <a:ext uri="{9D8B030D-6E8A-4147-A177-3AD203B41FA5}">
                      <a16:colId xmlns:a16="http://schemas.microsoft.com/office/drawing/2014/main" val="20000"/>
                    </a:ext>
                  </a:extLst>
                </a:gridCol>
                <a:gridCol w="1124785">
                  <a:extLst>
                    <a:ext uri="{9D8B030D-6E8A-4147-A177-3AD203B41FA5}">
                      <a16:colId xmlns:a16="http://schemas.microsoft.com/office/drawing/2014/main" val="20001"/>
                    </a:ext>
                  </a:extLst>
                </a:gridCol>
                <a:gridCol w="112348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altLang="zh-TW" sz="2400" i="0" dirty="0">
                          <a:ea typeface="新細明體" pitchFamily="18" charset="-120"/>
                          <a:sym typeface="Symbol"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sz="2400" b="1" dirty="0">
                          <a:latin typeface="+mn-lt"/>
                          <a:cs typeface="Arial"/>
                        </a:rPr>
                        <a:t>T</a:t>
                      </a: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a:latin typeface="+mn-lt"/>
                          <a:cs typeface="Arial"/>
                        </a:rPr>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sz="2400" b="1" dirty="0">
                          <a:latin typeface="+mn-lt"/>
                          <a:cs typeface="Arial"/>
                        </a:rPr>
                        <a:t>F</a:t>
                      </a: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sz="2400" b="1" dirty="0">
                          <a:latin typeface="+mn-lt"/>
                          <a:cs typeface="Arial"/>
                        </a:rPr>
                        <a:t>T</a:t>
                      </a:r>
                    </a:p>
                  </a:txBody>
                  <a:tcPr marL="0" marR="0" marT="0" marB="0" anchor="ctr"/>
                </a:tc>
                <a:extLst>
                  <a:ext uri="{0D108BD9-81ED-4DB2-BD59-A6C34878D82A}">
                    <a16:rowId xmlns:a16="http://schemas.microsoft.com/office/drawing/2014/main" val="10004"/>
                  </a:ext>
                </a:extLst>
              </a:tr>
            </a:tbl>
          </a:graphicData>
        </a:graphic>
      </p:graphicFrame>
      <p:grpSp>
        <p:nvGrpSpPr>
          <p:cNvPr id="5" name="Group 4">
            <a:extLst>
              <a:ext uri="{FF2B5EF4-FFF2-40B4-BE49-F238E27FC236}">
                <a16:creationId xmlns:a16="http://schemas.microsoft.com/office/drawing/2014/main" id="{FA4470D3-C137-4066-A7B6-8D12D7C13D6A}"/>
              </a:ext>
            </a:extLst>
          </p:cNvPr>
          <p:cNvGrpSpPr/>
          <p:nvPr/>
        </p:nvGrpSpPr>
        <p:grpSpPr>
          <a:xfrm>
            <a:off x="10026881" y="3576424"/>
            <a:ext cx="1416970" cy="533400"/>
            <a:chOff x="9394373" y="3962400"/>
            <a:chExt cx="1030888" cy="533400"/>
          </a:xfrm>
        </p:grpSpPr>
        <p:sp>
          <p:nvSpPr>
            <p:cNvPr id="6" name="AutoShape 6">
              <a:extLst>
                <a:ext uri="{FF2B5EF4-FFF2-40B4-BE49-F238E27FC236}">
                  <a16:creationId xmlns:a16="http://schemas.microsoft.com/office/drawing/2014/main" id="{63D2A031-E0DE-4A9E-B6D1-407CC10F0286}"/>
                </a:ext>
              </a:extLst>
            </p:cNvPr>
            <p:cNvSpPr>
              <a:spLocks/>
            </p:cNvSpPr>
            <p:nvPr/>
          </p:nvSpPr>
          <p:spPr bwMode="auto">
            <a:xfrm>
              <a:off x="9394373" y="3962400"/>
              <a:ext cx="228600" cy="533400"/>
            </a:xfrm>
            <a:prstGeom prst="rightBrace">
              <a:avLst>
                <a:gd name="adj1" fmla="val 1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351"/>
            </a:p>
          </p:txBody>
        </p:sp>
        <p:sp>
          <p:nvSpPr>
            <p:cNvPr id="7" name="Text Box 7">
              <a:extLst>
                <a:ext uri="{FF2B5EF4-FFF2-40B4-BE49-F238E27FC236}">
                  <a16:creationId xmlns:a16="http://schemas.microsoft.com/office/drawing/2014/main" id="{87A457F8-A41A-4670-AA7C-B8C5E5A03B00}"/>
                </a:ext>
              </a:extLst>
            </p:cNvPr>
            <p:cNvSpPr txBox="1">
              <a:spLocks noChangeArrowheads="1"/>
            </p:cNvSpPr>
            <p:nvPr/>
          </p:nvSpPr>
          <p:spPr bwMode="auto">
            <a:xfrm>
              <a:off x="9717049" y="3975056"/>
              <a:ext cx="708212" cy="508088"/>
            </a:xfrm>
            <a:prstGeom prst="rect">
              <a:avLst/>
            </a:prstGeom>
            <a:solidFill>
              <a:srgbClr val="FFFF00"/>
            </a:solidFill>
            <a:ln/>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zh-TW" sz="1351" dirty="0">
                  <a:solidFill>
                    <a:schemeClr val="tx1"/>
                  </a:solidFill>
                  <a:ea typeface="新細明體" pitchFamily="18" charset="-120"/>
                </a:rPr>
                <a:t>The </a:t>
              </a:r>
              <a:r>
                <a:rPr lang="en-US" altLang="zh-TW" sz="1351" u="sng" dirty="0">
                  <a:solidFill>
                    <a:schemeClr val="tx1"/>
                  </a:solidFill>
                  <a:latin typeface="Cambria" panose="02040503050406030204" pitchFamily="18" charset="0"/>
                  <a:ea typeface="新細明體" pitchFamily="18" charset="-120"/>
                </a:rPr>
                <a:t>only</a:t>
              </a:r>
              <a:br>
                <a:rPr lang="en-US" altLang="zh-TW" sz="1351" dirty="0">
                  <a:solidFill>
                    <a:schemeClr val="tx1"/>
                  </a:solidFill>
                  <a:ea typeface="新細明體" pitchFamily="18" charset="-120"/>
                </a:rPr>
              </a:br>
              <a:r>
                <a:rPr lang="en-US" altLang="zh-TW" sz="1351" dirty="0">
                  <a:solidFill>
                    <a:schemeClr val="tx1"/>
                  </a:solidFill>
                  <a:latin typeface="Cambria" panose="02040503050406030204" pitchFamily="18" charset="0"/>
                  <a:ea typeface="新細明體" pitchFamily="18" charset="-120"/>
                </a:rPr>
                <a:t>False case</a:t>
              </a:r>
              <a:r>
                <a:rPr lang="en-US" altLang="zh-TW" sz="1351" dirty="0">
                  <a:solidFill>
                    <a:schemeClr val="tx1"/>
                  </a:solidFill>
                  <a:ea typeface="新細明體" pitchFamily="18" charset="-120"/>
                </a:rPr>
                <a:t>!</a:t>
              </a:r>
            </a:p>
          </p:txBody>
        </p:sp>
      </p:grpSp>
      <p:sp>
        <p:nvSpPr>
          <p:cNvPr id="8" name="Date Placeholder 7"/>
          <p:cNvSpPr>
            <a:spLocks noGrp="1"/>
          </p:cNvSpPr>
          <p:nvPr>
            <p:ph type="dt" sz="half" idx="10"/>
          </p:nvPr>
        </p:nvSpPr>
        <p:spPr/>
        <p:txBody>
          <a:bodyPr/>
          <a:lstStyle/>
          <a:p>
            <a:fld id="{9898D046-3F21-4C20-B357-4AB38CDCF384}" type="datetime1">
              <a:rPr lang="en-US" smtClean="0"/>
              <a:t>9/29/2022</a:t>
            </a:fld>
            <a:endParaRPr lang="en-US"/>
          </a:p>
        </p:txBody>
      </p:sp>
      <p:sp>
        <p:nvSpPr>
          <p:cNvPr id="9" name="Footer Placeholder 8"/>
          <p:cNvSpPr>
            <a:spLocks noGrp="1"/>
          </p:cNvSpPr>
          <p:nvPr>
            <p:ph type="ftr" sz="quarter" idx="11"/>
          </p:nvPr>
        </p:nvSpPr>
        <p:spPr/>
        <p:txBody>
          <a:bodyPr/>
          <a:lstStyle/>
          <a:p>
            <a:r>
              <a:rPr lang="en-US"/>
              <a:t>Introduction to AI</a:t>
            </a:r>
          </a:p>
        </p:txBody>
      </p:sp>
      <p:sp>
        <p:nvSpPr>
          <p:cNvPr id="10" name="Slide Number Placeholder 9"/>
          <p:cNvSpPr>
            <a:spLocks noGrp="1"/>
          </p:cNvSpPr>
          <p:nvPr>
            <p:ph type="sldNum" sz="quarter" idx="12"/>
          </p:nvPr>
        </p:nvSpPr>
        <p:spPr/>
        <p:txBody>
          <a:bodyPr/>
          <a:lstStyle/>
          <a:p>
            <a:fld id="{75B1DB82-35C9-4076-A5B8-0781B30E89ED}" type="slidenum">
              <a:rPr lang="en-US" smtClean="0"/>
              <a:t>28</a:t>
            </a:fld>
            <a:endParaRPr lang="en-US"/>
          </a:p>
        </p:txBody>
      </p:sp>
    </p:spTree>
    <p:extLst>
      <p:ext uri="{BB962C8B-B14F-4D97-AF65-F5344CB8AC3E}">
        <p14:creationId xmlns:p14="http://schemas.microsoft.com/office/powerpoint/2010/main" val="408271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ea typeface="新細明體" pitchFamily="18" charset="-120"/>
              </a:rPr>
              <a:t>The Implication Operator (</a:t>
            </a:r>
            <a:r>
              <a:rPr lang="en-US" altLang="zh-TW" dirty="0">
                <a:ea typeface="新細明體" pitchFamily="18" charset="-120"/>
                <a:sym typeface="Symbol" pitchFamily="18" charset="2"/>
              </a:rPr>
              <a:t>implies</a:t>
            </a:r>
            <a:r>
              <a:rPr lang="en-US" altLang="zh-TW" dirty="0">
                <a:ea typeface="新細明體" pitchFamily="18" charset="-120"/>
              </a:rPr>
              <a:t>) “</a:t>
            </a:r>
            <a:r>
              <a:rPr lang="en-US" altLang="zh-TW" dirty="0">
                <a:ea typeface="新細明體" pitchFamily="18" charset="-120"/>
                <a:sym typeface="Symbol" pitchFamily="18" charset="2"/>
              </a:rPr>
              <a:t>”</a:t>
            </a:r>
            <a:endParaRPr lang="en-US" dirty="0"/>
          </a:p>
        </p:txBody>
      </p:sp>
      <p:sp>
        <p:nvSpPr>
          <p:cNvPr id="3" name="Content Placeholder 2"/>
          <p:cNvSpPr>
            <a:spLocks noGrp="1"/>
          </p:cNvSpPr>
          <p:nvPr>
            <p:ph idx="1"/>
          </p:nvPr>
        </p:nvSpPr>
        <p:spPr/>
        <p:txBody>
          <a:bodyPr>
            <a:normAutofit/>
          </a:bodyPr>
          <a:lstStyle/>
          <a:p>
            <a:r>
              <a:rPr lang="en-US" altLang="zh-TW" dirty="0">
                <a:ea typeface="新細明體" pitchFamily="18" charset="-120"/>
              </a:rPr>
              <a:t>Examples of Implications</a:t>
            </a:r>
          </a:p>
          <a:p>
            <a:endParaRPr lang="en-US" dirty="0"/>
          </a:p>
        </p:txBody>
      </p:sp>
      <p:sp>
        <p:nvSpPr>
          <p:cNvPr id="4" name="Content Placeholder 2"/>
          <p:cNvSpPr txBox="1">
            <a:spLocks/>
          </p:cNvSpPr>
          <p:nvPr/>
        </p:nvSpPr>
        <p:spPr>
          <a:xfrm>
            <a:off x="304800" y="1836021"/>
            <a:ext cx="7890510" cy="4301889"/>
          </a:xfrm>
          <a:prstGeom prst="rect">
            <a:avLst/>
          </a:prstGeom>
        </p:spPr>
        <p:txBody>
          <a:bodyPr vert="horz" lIns="0" tIns="45720" rIns="0" bIns="45720" rtlCol="0">
            <a:normAutofit/>
          </a:bodyPr>
          <a:lstStyle>
            <a:lvl1pPr marL="304792" indent="-228594" algn="l" defTabSz="914377" rtl="0" eaLnBrk="1" latinLnBrk="0" hangingPunct="1">
              <a:lnSpc>
                <a:spcPct val="90000"/>
              </a:lnSpc>
              <a:spcBef>
                <a:spcPts val="1200"/>
              </a:spcBef>
              <a:spcAft>
                <a:spcPts val="200"/>
              </a:spcAft>
              <a:buClr>
                <a:schemeClr val="accent1"/>
              </a:buClr>
              <a:buSzPct val="110000"/>
              <a:buFont typeface="Arial" panose="020B0604020202020204" pitchFamily="34" charset="0"/>
              <a:buChar char="•"/>
              <a:defRPr sz="3200" kern="1200">
                <a:solidFill>
                  <a:schemeClr val="tx1"/>
                </a:solidFill>
                <a:latin typeface="+mn-lt"/>
                <a:ea typeface="+mn-ea"/>
                <a:cs typeface="+mn-cs"/>
              </a:defRPr>
            </a:lvl1pPr>
            <a:lvl2pPr marL="609585" indent="-304792"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836063" indent="-226478" algn="l" defTabSz="914377" rtl="0" eaLnBrk="1" latinLnBrk="0" hangingPunct="1">
              <a:lnSpc>
                <a:spcPct val="90000"/>
              </a:lnSpc>
              <a:spcBef>
                <a:spcPts val="200"/>
              </a:spcBef>
              <a:spcAft>
                <a:spcPts val="400"/>
              </a:spcAft>
              <a:buClr>
                <a:schemeClr val="accent1"/>
              </a:buClr>
              <a:buFont typeface="Calibri" pitchFamily="34" charset="0"/>
              <a:buChar char="◦"/>
              <a:defRPr sz="2667" kern="1200">
                <a:solidFill>
                  <a:schemeClr val="tx1"/>
                </a:solidFill>
                <a:latin typeface="+mn-lt"/>
                <a:ea typeface="+mn-ea"/>
                <a:cs typeface="+mn-cs"/>
              </a:defRPr>
            </a:lvl3pPr>
            <a:lvl4pPr marL="1071007" indent="-23494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4pPr>
            <a:lvl5pPr marL="1297485" indent="-226478"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lnSpc>
                <a:spcPct val="100000"/>
              </a:lnSpc>
              <a:spcAft>
                <a:spcPts val="600"/>
              </a:spcAft>
            </a:pPr>
            <a:r>
              <a:rPr lang="en-US" altLang="zh-TW" sz="2800" dirty="0">
                <a:ea typeface="新細明體" pitchFamily="18" charset="-120"/>
              </a:rPr>
              <a:t>If this lecture ever ends, </a:t>
            </a:r>
            <a:r>
              <a:rPr lang="en-US" altLang="zh-TW" sz="2800" i="1" dirty="0">
                <a:solidFill>
                  <a:srgbClr val="C00000"/>
                </a:solidFill>
                <a:ea typeface="新細明體" pitchFamily="18" charset="-120"/>
              </a:rPr>
              <a:t>then</a:t>
            </a:r>
            <a:r>
              <a:rPr lang="en-US" altLang="zh-TW" sz="2800" dirty="0">
                <a:ea typeface="新細明體" pitchFamily="18" charset="-120"/>
              </a:rPr>
              <a:t> the sun will rise tomorrow.” [</a:t>
            </a:r>
            <a:r>
              <a:rPr lang="en-US" altLang="zh-TW" sz="2800" dirty="0">
                <a:solidFill>
                  <a:srgbClr val="00B050"/>
                </a:solidFill>
                <a:ea typeface="新細明體" pitchFamily="18" charset="-120"/>
              </a:rPr>
              <a:t>True</a:t>
            </a:r>
            <a:r>
              <a:rPr lang="en-US" altLang="zh-TW" sz="2800" dirty="0">
                <a:ea typeface="新細明體" pitchFamily="18" charset="-120"/>
              </a:rPr>
              <a:t>]</a:t>
            </a:r>
          </a:p>
          <a:p>
            <a:pPr lvl="1">
              <a:lnSpc>
                <a:spcPct val="100000"/>
              </a:lnSpc>
              <a:spcAft>
                <a:spcPts val="600"/>
              </a:spcAft>
            </a:pPr>
            <a:r>
              <a:rPr lang="en-US" altLang="zh-TW" sz="2800" dirty="0">
                <a:ea typeface="新細明體" pitchFamily="18" charset="-120"/>
              </a:rPr>
              <a:t>“If Tuesday is a day of the week, </a:t>
            </a:r>
            <a:r>
              <a:rPr lang="en-US" altLang="zh-TW" sz="2800" i="1" dirty="0">
                <a:solidFill>
                  <a:srgbClr val="C00000"/>
                </a:solidFill>
                <a:ea typeface="新細明體" pitchFamily="18" charset="-120"/>
              </a:rPr>
              <a:t>then</a:t>
            </a:r>
            <a:r>
              <a:rPr lang="en-US" altLang="zh-TW" sz="2800" dirty="0">
                <a:ea typeface="新細明體" pitchFamily="18" charset="-120"/>
              </a:rPr>
              <a:t> I am a penguin.” [</a:t>
            </a:r>
            <a:r>
              <a:rPr lang="en-US" altLang="zh-TW" sz="2800" dirty="0">
                <a:solidFill>
                  <a:srgbClr val="FF0000"/>
                </a:solidFill>
                <a:ea typeface="新細明體" pitchFamily="18" charset="-120"/>
              </a:rPr>
              <a:t>False</a:t>
            </a:r>
            <a:r>
              <a:rPr lang="en-US" altLang="zh-TW" sz="2800" dirty="0">
                <a:ea typeface="新細明體" pitchFamily="18" charset="-120"/>
              </a:rPr>
              <a:t>]</a:t>
            </a:r>
          </a:p>
          <a:p>
            <a:pPr lvl="1">
              <a:lnSpc>
                <a:spcPct val="100000"/>
              </a:lnSpc>
              <a:spcAft>
                <a:spcPts val="600"/>
              </a:spcAft>
            </a:pPr>
            <a:r>
              <a:rPr lang="en-US" altLang="zh-TW" sz="2800" dirty="0">
                <a:ea typeface="新細明體" pitchFamily="18" charset="-120"/>
              </a:rPr>
              <a:t>“If the moon is made of green cheese, </a:t>
            </a:r>
            <a:r>
              <a:rPr lang="en-US" altLang="zh-TW" sz="2800" i="1" dirty="0">
                <a:solidFill>
                  <a:srgbClr val="C00000"/>
                </a:solidFill>
                <a:ea typeface="新細明體" pitchFamily="18" charset="-120"/>
              </a:rPr>
              <a:t>then</a:t>
            </a:r>
            <a:r>
              <a:rPr lang="en-US" altLang="zh-TW" sz="2800" dirty="0">
                <a:ea typeface="新細明體" pitchFamily="18" charset="-120"/>
              </a:rPr>
              <a:t> I am richer than Bill Gates.” [</a:t>
            </a:r>
            <a:r>
              <a:rPr lang="en-US" altLang="zh-TW" sz="2800" dirty="0">
                <a:solidFill>
                  <a:srgbClr val="00B050"/>
                </a:solidFill>
                <a:ea typeface="新細明體" pitchFamily="18" charset="-120"/>
              </a:rPr>
              <a:t>True</a:t>
            </a:r>
            <a:r>
              <a:rPr lang="en-US" altLang="zh-TW" sz="2800" dirty="0">
                <a:ea typeface="新細明體" pitchFamily="18" charset="-120"/>
              </a:rPr>
              <a:t>]</a:t>
            </a:r>
          </a:p>
          <a:p>
            <a:pPr lvl="1">
              <a:lnSpc>
                <a:spcPct val="100000"/>
              </a:lnSpc>
              <a:spcAft>
                <a:spcPts val="600"/>
              </a:spcAft>
            </a:pPr>
            <a:endParaRPr lang="en-US" altLang="zh-TW" sz="2800" dirty="0">
              <a:solidFill>
                <a:schemeClr val="accent2"/>
              </a:solidFill>
              <a:ea typeface="新細明體" pitchFamily="18" charset="-120"/>
            </a:endParaRP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373133689"/>
              </p:ext>
            </p:extLst>
          </p:nvPr>
        </p:nvGraphicFramePr>
        <p:xfrm>
          <a:off x="8515350" y="1867884"/>
          <a:ext cx="3371850" cy="2509808"/>
        </p:xfrm>
        <a:graphic>
          <a:graphicData uri="http://schemas.openxmlformats.org/drawingml/2006/table">
            <a:tbl>
              <a:tblPr firstRow="1" bandRow="1">
                <a:tableStyleId>{8799B23B-EC83-4686-B30A-512413B5E67A}</a:tableStyleId>
              </a:tblPr>
              <a:tblGrid>
                <a:gridCol w="1123583">
                  <a:extLst>
                    <a:ext uri="{9D8B030D-6E8A-4147-A177-3AD203B41FA5}">
                      <a16:colId xmlns:a16="http://schemas.microsoft.com/office/drawing/2014/main" val="20000"/>
                    </a:ext>
                  </a:extLst>
                </a:gridCol>
                <a:gridCol w="1124785">
                  <a:extLst>
                    <a:ext uri="{9D8B030D-6E8A-4147-A177-3AD203B41FA5}">
                      <a16:colId xmlns:a16="http://schemas.microsoft.com/office/drawing/2014/main" val="20001"/>
                    </a:ext>
                  </a:extLst>
                </a:gridCol>
                <a:gridCol w="112348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dirty="0">
                          <a:latin typeface="Cambria" panose="02040503050406030204" pitchFamily="18" charset="0"/>
                          <a:ea typeface="Cambria" panose="02040503050406030204" pitchFamily="18" charset="0"/>
                        </a:rPr>
                        <a:t>p</a:t>
                      </a:r>
                      <a:endParaRPr sz="2400"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dirty="0">
                          <a:latin typeface="Cambria" panose="02040503050406030204" pitchFamily="18" charset="0"/>
                          <a:ea typeface="Cambria" panose="02040503050406030204" pitchFamily="18" charset="0"/>
                        </a:rPr>
                        <a:t>q</a:t>
                      </a:r>
                      <a:endParaRPr sz="2400"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p </a:t>
                      </a:r>
                      <a:r>
                        <a:rPr lang="en-US" altLang="zh-TW" sz="2400" dirty="0">
                          <a:ea typeface="新細明體" pitchFamily="18" charset="-120"/>
                          <a:sym typeface="Symbol" pitchFamily="18" charset="2"/>
                        </a:rPr>
                        <a:t></a:t>
                      </a:r>
                      <a:r>
                        <a:rPr lang="en-US" altLang="en-US" sz="2400" b="1" dirty="0">
                          <a:latin typeface="Cambria" panose="02040503050406030204" pitchFamily="18" charset="0"/>
                          <a:sym typeface="Symbol" panose="05050102010706020507" pitchFamily="18" charset="2"/>
                        </a:rPr>
                        <a:t> </a:t>
                      </a:r>
                      <a:r>
                        <a:rPr lang="en-US" sz="2400" dirty="0">
                          <a:latin typeface="Cambria" panose="02040503050406030204" pitchFamily="18" charset="0"/>
                          <a:ea typeface="Cambria" panose="02040503050406030204" pitchFamily="18" charset="0"/>
                        </a:rPr>
                        <a:t>q </a:t>
                      </a:r>
                      <a:endParaRPr lang="en-US" sz="2400"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p:sp>
        <p:nvSpPr>
          <p:cNvPr id="5" name="Date Placeholder 4"/>
          <p:cNvSpPr>
            <a:spLocks noGrp="1"/>
          </p:cNvSpPr>
          <p:nvPr>
            <p:ph type="dt" sz="half" idx="10"/>
          </p:nvPr>
        </p:nvSpPr>
        <p:spPr/>
        <p:txBody>
          <a:bodyPr/>
          <a:lstStyle/>
          <a:p>
            <a:fld id="{5F0AD86D-EE3D-4C9E-9461-9AA9A8912244}" type="datetime1">
              <a:rPr lang="en-US" smtClean="0"/>
              <a:t>9/29/2022</a:t>
            </a:fld>
            <a:endParaRPr lang="en-US"/>
          </a:p>
        </p:txBody>
      </p:sp>
      <p:sp>
        <p:nvSpPr>
          <p:cNvPr id="7" name="Footer Placeholder 6"/>
          <p:cNvSpPr>
            <a:spLocks noGrp="1"/>
          </p:cNvSpPr>
          <p:nvPr>
            <p:ph type="ftr" sz="quarter" idx="11"/>
          </p:nvPr>
        </p:nvSpPr>
        <p:spPr/>
        <p:txBody>
          <a:bodyPr/>
          <a:lstStyle/>
          <a:p>
            <a:r>
              <a:rPr lang="en-US"/>
              <a:t>Introduction to AI</a:t>
            </a:r>
          </a:p>
        </p:txBody>
      </p:sp>
      <p:sp>
        <p:nvSpPr>
          <p:cNvPr id="8" name="Slide Number Placeholder 7"/>
          <p:cNvSpPr>
            <a:spLocks noGrp="1"/>
          </p:cNvSpPr>
          <p:nvPr>
            <p:ph type="sldNum" sz="quarter" idx="12"/>
          </p:nvPr>
        </p:nvSpPr>
        <p:spPr/>
        <p:txBody>
          <a:bodyPr/>
          <a:lstStyle/>
          <a:p>
            <a:fld id="{75B1DB82-35C9-4076-A5B8-0781B30E89ED}" type="slidenum">
              <a:rPr lang="en-US" smtClean="0"/>
              <a:t>29</a:t>
            </a:fld>
            <a:endParaRPr lang="en-US"/>
          </a:p>
        </p:txBody>
      </p:sp>
    </p:spTree>
    <p:extLst>
      <p:ext uri="{BB962C8B-B14F-4D97-AF65-F5344CB8AC3E}">
        <p14:creationId xmlns:p14="http://schemas.microsoft.com/office/powerpoint/2010/main" val="18737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99633-EE6A-4909-8356-8CD57CF16EBF}"/>
              </a:ext>
            </a:extLst>
          </p:cNvPr>
          <p:cNvSpPr>
            <a:spLocks noGrp="1"/>
          </p:cNvSpPr>
          <p:nvPr>
            <p:ph type="title"/>
          </p:nvPr>
        </p:nvSpPr>
        <p:spPr/>
        <p:txBody>
          <a:bodyPr>
            <a:normAutofit fontScale="90000"/>
          </a:bodyPr>
          <a:lstStyle/>
          <a:p>
            <a:r>
              <a:rPr lang="en-US" altLang="zh-TW" dirty="0"/>
              <a:t>English Phrases for </a:t>
            </a:r>
            <a:r>
              <a:rPr lang="en-US" altLang="zh-TW" b="1" dirty="0"/>
              <a:t>p </a:t>
            </a:r>
            <a:r>
              <a:rPr lang="en-US" altLang="zh-TW" b="1" dirty="0">
                <a:sym typeface="Symbol" pitchFamily="18" charset="2"/>
              </a:rPr>
              <a:t> q</a:t>
            </a:r>
            <a:endParaRPr lang="en-US" b="1" dirty="0"/>
          </a:p>
        </p:txBody>
      </p:sp>
      <p:sp>
        <p:nvSpPr>
          <p:cNvPr id="4" name="Date Placeholder 3">
            <a:extLst>
              <a:ext uri="{FF2B5EF4-FFF2-40B4-BE49-F238E27FC236}">
                <a16:creationId xmlns:a16="http://schemas.microsoft.com/office/drawing/2014/main" id="{5F5BCF7E-FA62-4315-A5B1-C1C24A911977}"/>
              </a:ext>
            </a:extLst>
          </p:cNvPr>
          <p:cNvSpPr>
            <a:spLocks noGrp="1"/>
          </p:cNvSpPr>
          <p:nvPr>
            <p:ph type="dt" sz="half" idx="10"/>
          </p:nvPr>
        </p:nvSpPr>
        <p:spPr/>
        <p:txBody>
          <a:bodyPr/>
          <a:lstStyle/>
          <a:p>
            <a:fld id="{4C87BEC4-B835-4E55-9D7F-50B76A3ED418}" type="datetime1">
              <a:rPr lang="en-US" smtClean="0"/>
              <a:t>9/29/2022</a:t>
            </a:fld>
            <a:endParaRPr lang="en-US"/>
          </a:p>
        </p:txBody>
      </p:sp>
      <p:sp>
        <p:nvSpPr>
          <p:cNvPr id="5" name="Footer Placeholder 4">
            <a:extLst>
              <a:ext uri="{FF2B5EF4-FFF2-40B4-BE49-F238E27FC236}">
                <a16:creationId xmlns:a16="http://schemas.microsoft.com/office/drawing/2014/main" id="{002A1595-B87B-4074-91DA-DDE9E01AEF60}"/>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1CE96EA1-607A-44BE-B2CC-E289E405BAAF}"/>
              </a:ext>
            </a:extLst>
          </p:cNvPr>
          <p:cNvSpPr>
            <a:spLocks noGrp="1"/>
          </p:cNvSpPr>
          <p:nvPr>
            <p:ph type="sldNum" sz="quarter" idx="12"/>
          </p:nvPr>
        </p:nvSpPr>
        <p:spPr/>
        <p:txBody>
          <a:bodyPr/>
          <a:lstStyle/>
          <a:p>
            <a:fld id="{B7884E68-CE57-44C0-BE0F-84C629DF22D5}" type="slidenum">
              <a:rPr lang="en-US" smtClean="0"/>
              <a:t>30</a:t>
            </a:fld>
            <a:endParaRPr lang="en-US"/>
          </a:p>
        </p:txBody>
      </p:sp>
      <p:sp>
        <p:nvSpPr>
          <p:cNvPr id="9" name="Rectangle 3">
            <a:extLst>
              <a:ext uri="{FF2B5EF4-FFF2-40B4-BE49-F238E27FC236}">
                <a16:creationId xmlns:a16="http://schemas.microsoft.com/office/drawing/2014/main" id="{7D26DE10-8B95-4B6A-A45E-34BD15AAE5D7}"/>
              </a:ext>
            </a:extLst>
          </p:cNvPr>
          <p:cNvSpPr>
            <a:spLocks noGrp="1" noChangeArrowheads="1"/>
          </p:cNvSpPr>
          <p:nvPr>
            <p:ph sz="half" idx="1"/>
          </p:nvPr>
        </p:nvSpPr>
        <p:spPr>
          <a:xfrm>
            <a:off x="304800" y="1193800"/>
            <a:ext cx="3971636" cy="3860799"/>
          </a:xfrm>
        </p:spPr>
        <p:txBody>
          <a:bodyPr/>
          <a:lstStyle/>
          <a:p>
            <a:r>
              <a:rPr lang="en-US" altLang="zh-TW" sz="2800" dirty="0"/>
              <a:t>“p implies q”</a:t>
            </a:r>
          </a:p>
          <a:p>
            <a:r>
              <a:rPr lang="en-US" altLang="zh-TW" sz="2800" dirty="0"/>
              <a:t>“if p, then q”</a:t>
            </a:r>
          </a:p>
          <a:p>
            <a:r>
              <a:rPr lang="en-US" altLang="zh-TW" sz="2800" dirty="0"/>
              <a:t>“if p, q”</a:t>
            </a:r>
          </a:p>
          <a:p>
            <a:r>
              <a:rPr lang="en-US" altLang="zh-TW" sz="2800" dirty="0"/>
              <a:t>“when p, q”</a:t>
            </a:r>
          </a:p>
          <a:p>
            <a:r>
              <a:rPr lang="en-US" altLang="zh-TW" sz="2800" dirty="0"/>
              <a:t>“whenever p, q”</a:t>
            </a:r>
          </a:p>
          <a:p>
            <a:r>
              <a:rPr lang="en-US" altLang="zh-TW" sz="2800" dirty="0"/>
              <a:t>“p only if q” </a:t>
            </a:r>
          </a:p>
          <a:p>
            <a:r>
              <a:rPr lang="en-US" altLang="zh-TW" sz="2800" dirty="0"/>
              <a:t>“p is sufficient for q”</a:t>
            </a:r>
          </a:p>
        </p:txBody>
      </p:sp>
      <p:sp>
        <p:nvSpPr>
          <p:cNvPr id="10" name="Rectangle 4">
            <a:extLst>
              <a:ext uri="{FF2B5EF4-FFF2-40B4-BE49-F238E27FC236}">
                <a16:creationId xmlns:a16="http://schemas.microsoft.com/office/drawing/2014/main" id="{1D33D271-5F04-44A6-94A4-6E812AFA1F30}"/>
              </a:ext>
            </a:extLst>
          </p:cNvPr>
          <p:cNvSpPr txBox="1">
            <a:spLocks noChangeArrowheads="1"/>
          </p:cNvSpPr>
          <p:nvPr/>
        </p:nvSpPr>
        <p:spPr>
          <a:xfrm>
            <a:off x="4014557" y="1176587"/>
            <a:ext cx="3448972" cy="3878012"/>
          </a:xfrm>
          <a:prstGeom prst="rect">
            <a:avLst/>
          </a:prstGeom>
        </p:spPr>
        <p:txBody>
          <a:bodyPr/>
          <a:lst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2133"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altLang="zh-TW" sz="2800" dirty="0"/>
              <a:t>“q is implied by p”</a:t>
            </a:r>
          </a:p>
          <a:p>
            <a:pPr>
              <a:buFont typeface="Arial" panose="020B0604020202020204" pitchFamily="34" charset="0"/>
              <a:buChar char="•"/>
            </a:pPr>
            <a:endParaRPr lang="en-US" altLang="zh-TW" sz="2800" dirty="0"/>
          </a:p>
          <a:p>
            <a:pPr>
              <a:buFont typeface="Arial" panose="020B0604020202020204" pitchFamily="34" charset="0"/>
              <a:buChar char="•"/>
            </a:pPr>
            <a:r>
              <a:rPr lang="en-US" altLang="zh-TW" sz="2800" dirty="0"/>
              <a:t>“q if p”</a:t>
            </a:r>
          </a:p>
          <a:p>
            <a:pPr>
              <a:buFont typeface="Arial" panose="020B0604020202020204" pitchFamily="34" charset="0"/>
              <a:buChar char="•"/>
            </a:pPr>
            <a:r>
              <a:rPr lang="en-US" altLang="zh-TW" sz="2800" dirty="0"/>
              <a:t>“q when p”</a:t>
            </a:r>
          </a:p>
          <a:p>
            <a:pPr>
              <a:buFont typeface="Arial" panose="020B0604020202020204" pitchFamily="34" charset="0"/>
              <a:buChar char="•"/>
            </a:pPr>
            <a:r>
              <a:rPr lang="en-US" altLang="zh-TW" sz="2800" dirty="0"/>
              <a:t>“q whenever p”</a:t>
            </a:r>
          </a:p>
          <a:p>
            <a:pPr>
              <a:buFont typeface="Arial" panose="020B0604020202020204" pitchFamily="34" charset="0"/>
              <a:buChar char="•"/>
            </a:pPr>
            <a:r>
              <a:rPr lang="en-US" altLang="zh-TW" sz="2800" dirty="0"/>
              <a:t>“q is necessary for p”</a:t>
            </a:r>
          </a:p>
          <a:p>
            <a:pPr>
              <a:buFont typeface="Arial" panose="020B0604020202020204" pitchFamily="34" charset="0"/>
              <a:buChar char="•"/>
            </a:pPr>
            <a:r>
              <a:rPr lang="en-US" altLang="zh-TW" sz="2800" dirty="0"/>
              <a:t>“q follows from p”</a:t>
            </a:r>
          </a:p>
          <a:p>
            <a:pPr>
              <a:buFont typeface="Arial" panose="020B0604020202020204" pitchFamily="34" charset="0"/>
              <a:buChar char="•"/>
            </a:pPr>
            <a:endParaRPr lang="en-US" altLang="zh-TW" sz="2800" dirty="0"/>
          </a:p>
        </p:txBody>
      </p:sp>
      <p:sp>
        <p:nvSpPr>
          <p:cNvPr id="11" name="Rectangle 10">
            <a:extLst>
              <a:ext uri="{FF2B5EF4-FFF2-40B4-BE49-F238E27FC236}">
                <a16:creationId xmlns:a16="http://schemas.microsoft.com/office/drawing/2014/main" id="{53E15676-E7BA-4C13-8A53-A060B4570A50}"/>
              </a:ext>
            </a:extLst>
          </p:cNvPr>
          <p:cNvSpPr/>
          <p:nvPr/>
        </p:nvSpPr>
        <p:spPr>
          <a:xfrm>
            <a:off x="571731" y="5248701"/>
            <a:ext cx="10334625" cy="830997"/>
          </a:xfrm>
          <a:prstGeom prst="rect">
            <a:avLst/>
          </a:prstGeom>
        </p:spPr>
        <p:txBody>
          <a:bodyPr wrap="square">
            <a:spAutoFit/>
          </a:bodyPr>
          <a:lstStyle/>
          <a:p>
            <a:r>
              <a:rPr lang="en-US" sz="2400" dirty="0">
                <a:solidFill>
                  <a:srgbClr val="FF0000"/>
                </a:solidFill>
                <a:latin typeface="Cambria" panose="02040503050406030204" pitchFamily="18" charset="0"/>
                <a:ea typeface="Cambria" panose="02040503050406030204" pitchFamily="18" charset="0"/>
              </a:rPr>
              <a:t>“</a:t>
            </a:r>
            <a:r>
              <a:rPr lang="en-US" sz="2400" i="1" dirty="0">
                <a:solidFill>
                  <a:srgbClr val="FF0000"/>
                </a:solidFill>
                <a:latin typeface="Cambria" panose="02040503050406030204" pitchFamily="18" charset="0"/>
                <a:ea typeface="Cambria" panose="02040503050406030204" pitchFamily="18" charset="0"/>
              </a:rPr>
              <a:t>p </a:t>
            </a:r>
            <a:r>
              <a:rPr lang="en-US" sz="2400" dirty="0">
                <a:solidFill>
                  <a:srgbClr val="FF0000"/>
                </a:solidFill>
                <a:latin typeface="Cambria" panose="02040503050406030204" pitchFamily="18" charset="0"/>
                <a:ea typeface="Cambria" panose="02040503050406030204" pitchFamily="18" charset="0"/>
              </a:rPr>
              <a:t>only if </a:t>
            </a:r>
            <a:r>
              <a:rPr lang="en-US" sz="2400" i="1" dirty="0">
                <a:solidFill>
                  <a:srgbClr val="FF0000"/>
                </a:solidFill>
                <a:latin typeface="Cambria" panose="02040503050406030204" pitchFamily="18" charset="0"/>
                <a:ea typeface="Cambria" panose="02040503050406030204" pitchFamily="18" charset="0"/>
              </a:rPr>
              <a:t>q</a:t>
            </a:r>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and</a:t>
            </a:r>
            <a:r>
              <a:rPr lang="en-US" sz="2400" dirty="0">
                <a:solidFill>
                  <a:srgbClr val="FF0000"/>
                </a:solidFill>
                <a:latin typeface="Cambria" panose="02040503050406030204" pitchFamily="18" charset="0"/>
                <a:ea typeface="Cambria" panose="02040503050406030204" pitchFamily="18" charset="0"/>
              </a:rPr>
              <a:t> </a:t>
            </a:r>
            <a:r>
              <a:rPr lang="en-US" altLang="zh-TW" sz="2400" dirty="0">
                <a:solidFill>
                  <a:srgbClr val="FF0000"/>
                </a:solidFill>
              </a:rPr>
              <a:t>“q is necessary for p” </a:t>
            </a:r>
            <a:r>
              <a:rPr lang="en-US" sz="2400" dirty="0">
                <a:latin typeface="Cambria" panose="02040503050406030204" pitchFamily="18" charset="0"/>
                <a:ea typeface="Cambria" panose="02040503050406030204" pitchFamily="18" charset="0"/>
              </a:rPr>
              <a:t>mean that </a:t>
            </a:r>
            <a:r>
              <a:rPr lang="en-US" sz="2400" i="1" dirty="0">
                <a:latin typeface="Cambria" panose="02040503050406030204" pitchFamily="18" charset="0"/>
                <a:ea typeface="Cambria" panose="02040503050406030204" pitchFamily="18" charset="0"/>
              </a:rPr>
              <a:t>p </a:t>
            </a:r>
            <a:r>
              <a:rPr lang="en-US" sz="2400" dirty="0">
                <a:latin typeface="Cambria" panose="02040503050406030204" pitchFamily="18" charset="0"/>
                <a:ea typeface="Cambria" panose="02040503050406030204" pitchFamily="18" charset="0"/>
              </a:rPr>
              <a:t>cannot be true when </a:t>
            </a:r>
            <a:r>
              <a:rPr lang="en-US" sz="2400" i="1" dirty="0">
                <a:latin typeface="Cambria" panose="02040503050406030204" pitchFamily="18" charset="0"/>
                <a:ea typeface="Cambria" panose="02040503050406030204" pitchFamily="18" charset="0"/>
              </a:rPr>
              <a:t>q </a:t>
            </a:r>
            <a:r>
              <a:rPr lang="en-US" sz="2400" dirty="0">
                <a:latin typeface="Cambria" panose="02040503050406030204" pitchFamily="18" charset="0"/>
                <a:ea typeface="Cambria" panose="02040503050406030204" pitchFamily="18" charset="0"/>
              </a:rPr>
              <a:t>is not true. That is, the statement is false if </a:t>
            </a:r>
            <a:r>
              <a:rPr lang="en-US" sz="2400" i="1" dirty="0">
                <a:latin typeface="Cambria" panose="02040503050406030204" pitchFamily="18" charset="0"/>
                <a:ea typeface="Cambria" panose="02040503050406030204" pitchFamily="18" charset="0"/>
              </a:rPr>
              <a:t>p </a:t>
            </a:r>
            <a:r>
              <a:rPr lang="en-US" sz="2400" dirty="0">
                <a:latin typeface="Cambria" panose="02040503050406030204" pitchFamily="18" charset="0"/>
                <a:ea typeface="Cambria" panose="02040503050406030204" pitchFamily="18" charset="0"/>
              </a:rPr>
              <a:t>is true, but </a:t>
            </a:r>
            <a:r>
              <a:rPr lang="en-US" sz="2400" i="1" dirty="0">
                <a:latin typeface="Cambria" panose="02040503050406030204" pitchFamily="18" charset="0"/>
                <a:ea typeface="Cambria" panose="02040503050406030204" pitchFamily="18" charset="0"/>
              </a:rPr>
              <a:t>q </a:t>
            </a:r>
            <a:r>
              <a:rPr lang="en-US" sz="2400" dirty="0">
                <a:latin typeface="Cambria" panose="02040503050406030204" pitchFamily="18" charset="0"/>
                <a:ea typeface="Cambria" panose="02040503050406030204" pitchFamily="18" charset="0"/>
              </a:rPr>
              <a:t>is false. </a:t>
            </a:r>
          </a:p>
        </p:txBody>
      </p:sp>
      <p:graphicFrame>
        <p:nvGraphicFramePr>
          <p:cNvPr id="13" name="Table 12">
            <a:extLst>
              <a:ext uri="{FF2B5EF4-FFF2-40B4-BE49-F238E27FC236}">
                <a16:creationId xmlns:a16="http://schemas.microsoft.com/office/drawing/2014/main" id="{5C222D40-F7FE-4418-BC68-93AFEB9680A7}"/>
              </a:ext>
            </a:extLst>
          </p:cNvPr>
          <p:cNvGraphicFramePr>
            <a:graphicFrameLocks noGrp="1"/>
          </p:cNvGraphicFramePr>
          <p:nvPr>
            <p:extLst>
              <p:ext uri="{D42A27DB-BD31-4B8C-83A1-F6EECF244321}">
                <p14:modId xmlns:p14="http://schemas.microsoft.com/office/powerpoint/2010/main" val="1779274092"/>
              </p:ext>
            </p:extLst>
          </p:nvPr>
        </p:nvGraphicFramePr>
        <p:xfrm>
          <a:off x="8247495" y="1869295"/>
          <a:ext cx="3371850" cy="2509808"/>
        </p:xfrm>
        <a:graphic>
          <a:graphicData uri="http://schemas.openxmlformats.org/drawingml/2006/table">
            <a:tbl>
              <a:tblPr firstRow="1" bandRow="1">
                <a:tableStyleId>{8799B23B-EC83-4686-B30A-512413B5E67A}</a:tableStyleId>
              </a:tblPr>
              <a:tblGrid>
                <a:gridCol w="1123583">
                  <a:extLst>
                    <a:ext uri="{9D8B030D-6E8A-4147-A177-3AD203B41FA5}">
                      <a16:colId xmlns:a16="http://schemas.microsoft.com/office/drawing/2014/main" val="20000"/>
                    </a:ext>
                  </a:extLst>
                </a:gridCol>
                <a:gridCol w="1124785">
                  <a:extLst>
                    <a:ext uri="{9D8B030D-6E8A-4147-A177-3AD203B41FA5}">
                      <a16:colId xmlns:a16="http://schemas.microsoft.com/office/drawing/2014/main" val="20001"/>
                    </a:ext>
                  </a:extLst>
                </a:gridCol>
                <a:gridCol w="112348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dirty="0">
                          <a:latin typeface="Cambria" panose="02040503050406030204" pitchFamily="18" charset="0"/>
                          <a:ea typeface="Cambria" panose="02040503050406030204" pitchFamily="18" charset="0"/>
                        </a:rPr>
                        <a:t>p</a:t>
                      </a:r>
                      <a:endParaRPr sz="2400"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dirty="0">
                          <a:latin typeface="Cambria" panose="02040503050406030204" pitchFamily="18" charset="0"/>
                          <a:ea typeface="Cambria" panose="02040503050406030204" pitchFamily="18" charset="0"/>
                        </a:rPr>
                        <a:t>q</a:t>
                      </a:r>
                      <a:endParaRPr sz="2400"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dirty="0">
                          <a:latin typeface="Cambria" panose="02040503050406030204" pitchFamily="18" charset="0"/>
                          <a:ea typeface="Cambria" panose="02040503050406030204" pitchFamily="18" charset="0"/>
                        </a:rPr>
                        <a:t>p </a:t>
                      </a:r>
                      <a:r>
                        <a:rPr lang="en-US" altLang="zh-TW" sz="2400" dirty="0">
                          <a:ea typeface="新細明體" pitchFamily="18" charset="-120"/>
                          <a:sym typeface="Symbol" pitchFamily="18" charset="2"/>
                        </a:rPr>
                        <a:t></a:t>
                      </a:r>
                      <a:r>
                        <a:rPr lang="en-US" altLang="en-US" sz="2400" b="1" dirty="0">
                          <a:latin typeface="Cambria" panose="02040503050406030204" pitchFamily="18" charset="0"/>
                          <a:sym typeface="Symbol" panose="05050102010706020507" pitchFamily="18" charset="2"/>
                        </a:rPr>
                        <a:t> </a:t>
                      </a:r>
                      <a:r>
                        <a:rPr lang="en-US" sz="2400" dirty="0">
                          <a:latin typeface="Cambria" panose="02040503050406030204" pitchFamily="18" charset="0"/>
                          <a:ea typeface="Cambria" panose="02040503050406030204" pitchFamily="18" charset="0"/>
                        </a:rPr>
                        <a:t>q </a:t>
                      </a:r>
                      <a:endParaRPr lang="en-US" sz="2400"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6130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P spid="10" grpId="0" uiExpand="1" build="p"/>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English uses of Implications</a:t>
            </a:r>
          </a:p>
        </p:txBody>
      </p:sp>
      <p:sp>
        <p:nvSpPr>
          <p:cNvPr id="3" name="Content Placeholder 2"/>
          <p:cNvSpPr>
            <a:spLocks noGrp="1"/>
          </p:cNvSpPr>
          <p:nvPr>
            <p:ph idx="1"/>
          </p:nvPr>
        </p:nvSpPr>
        <p:spPr/>
        <p:txBody>
          <a:bodyPr>
            <a:normAutofit/>
          </a:bodyPr>
          <a:lstStyle/>
          <a:p>
            <a:pPr>
              <a:lnSpc>
                <a:spcPct val="100000"/>
              </a:lnSpc>
            </a:pPr>
            <a:r>
              <a:rPr lang="en-US" dirty="0">
                <a:solidFill>
                  <a:schemeClr val="accent6">
                    <a:lumMod val="75000"/>
                  </a:schemeClr>
                </a:solidFill>
              </a:rPr>
              <a:t>If you get 100% in the final, you will get an A+</a:t>
            </a:r>
          </a:p>
          <a:p>
            <a:pPr lvl="1">
              <a:lnSpc>
                <a:spcPct val="100000"/>
              </a:lnSpc>
            </a:pPr>
            <a:r>
              <a:rPr lang="en-US" sz="2800" dirty="0"/>
              <a:t>You get 100% on the final </a:t>
            </a:r>
            <a:r>
              <a:rPr lang="en-US" sz="2800" dirty="0">
                <a:solidFill>
                  <a:srgbClr val="C00000"/>
                </a:solidFill>
              </a:rPr>
              <a:t>is sufficient </a:t>
            </a:r>
            <a:r>
              <a:rPr lang="en-US" sz="2800" dirty="0"/>
              <a:t>to get an A+</a:t>
            </a:r>
          </a:p>
          <a:p>
            <a:pPr lvl="1">
              <a:lnSpc>
                <a:spcPct val="100000"/>
              </a:lnSpc>
            </a:pPr>
            <a:r>
              <a:rPr lang="en-US" sz="2800" dirty="0"/>
              <a:t>A </a:t>
            </a:r>
            <a:r>
              <a:rPr lang="en-US" sz="2800" dirty="0">
                <a:solidFill>
                  <a:srgbClr val="C00000"/>
                </a:solidFill>
              </a:rPr>
              <a:t>sufficient condition </a:t>
            </a:r>
            <a:r>
              <a:rPr lang="en-US" sz="2800" dirty="0"/>
              <a:t>to get an A+ is to get 100% in the final </a:t>
            </a:r>
          </a:p>
          <a:p>
            <a:pPr lvl="1">
              <a:lnSpc>
                <a:spcPct val="100000"/>
              </a:lnSpc>
            </a:pPr>
            <a:r>
              <a:rPr lang="en-US" sz="2800" dirty="0"/>
              <a:t>You get an A+ is </a:t>
            </a:r>
            <a:r>
              <a:rPr lang="en-US" sz="2800" dirty="0">
                <a:solidFill>
                  <a:srgbClr val="C00000"/>
                </a:solidFill>
              </a:rPr>
              <a:t>necessary</a:t>
            </a:r>
            <a:r>
              <a:rPr lang="en-US" sz="2800" dirty="0"/>
              <a:t> for you to get 100% on the final (but not sufficient)</a:t>
            </a:r>
          </a:p>
          <a:p>
            <a:pPr lvl="1">
              <a:lnSpc>
                <a:spcPct val="100000"/>
              </a:lnSpc>
            </a:pPr>
            <a:r>
              <a:rPr lang="en-US" sz="2800" dirty="0"/>
              <a:t>A </a:t>
            </a:r>
            <a:r>
              <a:rPr lang="en-US" sz="2800" dirty="0">
                <a:solidFill>
                  <a:srgbClr val="C00000"/>
                </a:solidFill>
              </a:rPr>
              <a:t>necessary condition </a:t>
            </a:r>
            <a:r>
              <a:rPr lang="en-US" sz="2800" dirty="0"/>
              <a:t>for you to get 100% is you get an A+</a:t>
            </a:r>
          </a:p>
          <a:p>
            <a:pPr lvl="1">
              <a:lnSpc>
                <a:spcPct val="100000"/>
              </a:lnSpc>
            </a:pPr>
            <a:r>
              <a:rPr lang="en-US" sz="2800" dirty="0"/>
              <a:t>Imagine that you know your letter grade and you are trying to guess your grade in the final:</a:t>
            </a:r>
          </a:p>
          <a:p>
            <a:pPr lvl="2">
              <a:lnSpc>
                <a:spcPct val="100000"/>
              </a:lnSpc>
            </a:pPr>
            <a:r>
              <a:rPr lang="en-US" sz="2267" dirty="0"/>
              <a:t>If you did not get A+ then for sure you didn't get 100%</a:t>
            </a:r>
          </a:p>
          <a:p>
            <a:pPr lvl="2">
              <a:lnSpc>
                <a:spcPct val="100000"/>
              </a:lnSpc>
            </a:pPr>
            <a:r>
              <a:rPr lang="en-US" sz="2267" dirty="0"/>
              <a:t>If you get A+ then you may or may not get 100% </a:t>
            </a:r>
          </a:p>
        </p:txBody>
      </p:sp>
      <p:sp>
        <p:nvSpPr>
          <p:cNvPr id="4" name="Date Placeholder 3"/>
          <p:cNvSpPr>
            <a:spLocks noGrp="1"/>
          </p:cNvSpPr>
          <p:nvPr>
            <p:ph type="dt" sz="half" idx="10"/>
          </p:nvPr>
        </p:nvSpPr>
        <p:spPr/>
        <p:txBody>
          <a:bodyPr/>
          <a:lstStyle/>
          <a:p>
            <a:fld id="{A0093946-E449-4F1F-8512-6A5444F61638}"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31</a:t>
            </a:fld>
            <a:endParaRPr lang="en-US"/>
          </a:p>
        </p:txBody>
      </p:sp>
      <p:grpSp>
        <p:nvGrpSpPr>
          <p:cNvPr id="8" name="Group 7">
            <a:extLst>
              <a:ext uri="{FF2B5EF4-FFF2-40B4-BE49-F238E27FC236}">
                <a16:creationId xmlns:a16="http://schemas.microsoft.com/office/drawing/2014/main" id="{413D94C2-50AD-46A9-8281-C7D3D87C9944}"/>
              </a:ext>
            </a:extLst>
          </p:cNvPr>
          <p:cNvGrpSpPr/>
          <p:nvPr/>
        </p:nvGrpSpPr>
        <p:grpSpPr>
          <a:xfrm>
            <a:off x="1015999" y="837576"/>
            <a:ext cx="4100945" cy="521501"/>
            <a:chOff x="-337648" y="1004889"/>
            <a:chExt cx="5467927" cy="695334"/>
          </a:xfrm>
        </p:grpSpPr>
        <p:sp>
          <p:nvSpPr>
            <p:cNvPr id="9" name="Text Box 6">
              <a:extLst>
                <a:ext uri="{FF2B5EF4-FFF2-40B4-BE49-F238E27FC236}">
                  <a16:creationId xmlns:a16="http://schemas.microsoft.com/office/drawing/2014/main" id="{6BE3FB10-B0A9-4DE1-A578-66CE2420578E}"/>
                </a:ext>
              </a:extLst>
            </p:cNvPr>
            <p:cNvSpPr txBox="1">
              <a:spLocks noChangeArrowheads="1"/>
            </p:cNvSpPr>
            <p:nvPr/>
          </p:nvSpPr>
          <p:spPr bwMode="auto">
            <a:xfrm>
              <a:off x="2133600" y="1004889"/>
              <a:ext cx="389424" cy="430887"/>
            </a:xfrm>
            <a:prstGeom prst="rect">
              <a:avLst/>
            </a:prstGeom>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en-US" altLang="zh-TW" sz="1500" dirty="0">
                  <a:latin typeface="Cambria" panose="02040503050406030204" pitchFamily="18" charset="0"/>
                  <a:ea typeface="新細明體" pitchFamily="18" charset="-120"/>
                </a:rPr>
                <a:t>p</a:t>
              </a:r>
            </a:p>
          </p:txBody>
        </p:sp>
        <p:sp>
          <p:nvSpPr>
            <p:cNvPr id="10" name="AutoShape 7">
              <a:extLst>
                <a:ext uri="{FF2B5EF4-FFF2-40B4-BE49-F238E27FC236}">
                  <a16:creationId xmlns:a16="http://schemas.microsoft.com/office/drawing/2014/main" id="{7457383E-4E2A-4558-95D7-14F199B3D1EB}"/>
                </a:ext>
              </a:extLst>
            </p:cNvPr>
            <p:cNvSpPr>
              <a:spLocks/>
            </p:cNvSpPr>
            <p:nvPr/>
          </p:nvSpPr>
          <p:spPr bwMode="auto">
            <a:xfrm rot="5400000">
              <a:off x="2315348" y="-1114708"/>
              <a:ext cx="161935" cy="5467927"/>
            </a:xfrm>
            <a:prstGeom prst="leftBrace">
              <a:avLst>
                <a:gd name="adj1" fmla="val 11111"/>
                <a:gd name="adj2" fmla="val 50000"/>
              </a:avLst>
            </a:prstGeom>
            <a:noFill/>
            <a:ln>
              <a:solidFill>
                <a:schemeClr val="tx1"/>
              </a:solid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sz="1500">
                <a:latin typeface="Cambria" panose="02040503050406030204" pitchFamily="18" charset="0"/>
              </a:endParaRPr>
            </a:p>
          </p:txBody>
        </p:sp>
      </p:grpSp>
      <p:grpSp>
        <p:nvGrpSpPr>
          <p:cNvPr id="11" name="Group 10">
            <a:extLst>
              <a:ext uri="{FF2B5EF4-FFF2-40B4-BE49-F238E27FC236}">
                <a16:creationId xmlns:a16="http://schemas.microsoft.com/office/drawing/2014/main" id="{336E7431-C4E0-4700-9DBE-2CA402AF2950}"/>
              </a:ext>
            </a:extLst>
          </p:cNvPr>
          <p:cNvGrpSpPr/>
          <p:nvPr/>
        </p:nvGrpSpPr>
        <p:grpSpPr>
          <a:xfrm>
            <a:off x="5287818" y="832082"/>
            <a:ext cx="2969492" cy="521501"/>
            <a:chOff x="-337648" y="1004889"/>
            <a:chExt cx="5467927" cy="695334"/>
          </a:xfrm>
        </p:grpSpPr>
        <p:sp>
          <p:nvSpPr>
            <p:cNvPr id="12" name="Text Box 6">
              <a:extLst>
                <a:ext uri="{FF2B5EF4-FFF2-40B4-BE49-F238E27FC236}">
                  <a16:creationId xmlns:a16="http://schemas.microsoft.com/office/drawing/2014/main" id="{DE9A99AF-321A-4E04-ABCB-475A7DEFA7E8}"/>
                </a:ext>
              </a:extLst>
            </p:cNvPr>
            <p:cNvSpPr txBox="1">
              <a:spLocks noChangeArrowheads="1"/>
            </p:cNvSpPr>
            <p:nvPr/>
          </p:nvSpPr>
          <p:spPr bwMode="auto">
            <a:xfrm>
              <a:off x="2133600" y="1004889"/>
              <a:ext cx="537805" cy="430888"/>
            </a:xfrm>
            <a:prstGeom prst="rect">
              <a:avLst/>
            </a:prstGeom>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altLang="zh-TW" sz="1500" dirty="0">
                  <a:latin typeface="Cambria" panose="02040503050406030204" pitchFamily="18" charset="0"/>
                  <a:ea typeface="新細明體" pitchFamily="18" charset="-120"/>
                </a:rPr>
                <a:t>q</a:t>
              </a:r>
            </a:p>
          </p:txBody>
        </p:sp>
        <p:sp>
          <p:nvSpPr>
            <p:cNvPr id="13" name="AutoShape 7">
              <a:extLst>
                <a:ext uri="{FF2B5EF4-FFF2-40B4-BE49-F238E27FC236}">
                  <a16:creationId xmlns:a16="http://schemas.microsoft.com/office/drawing/2014/main" id="{C5273041-8FA8-44C8-B12D-3A1D6E24A7A2}"/>
                </a:ext>
              </a:extLst>
            </p:cNvPr>
            <p:cNvSpPr>
              <a:spLocks/>
            </p:cNvSpPr>
            <p:nvPr/>
          </p:nvSpPr>
          <p:spPr bwMode="auto">
            <a:xfrm rot="5400000">
              <a:off x="2315348" y="-1114708"/>
              <a:ext cx="161935" cy="5467927"/>
            </a:xfrm>
            <a:prstGeom prst="leftBrace">
              <a:avLst>
                <a:gd name="adj1" fmla="val 11111"/>
                <a:gd name="adj2" fmla="val 50000"/>
              </a:avLst>
            </a:prstGeom>
            <a:noFill/>
            <a:ln>
              <a:solidFill>
                <a:schemeClr val="tx1"/>
              </a:solidFill>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endParaRPr lang="en-US" sz="1500">
                <a:latin typeface="Cambria" panose="02040503050406030204" pitchFamily="18" charset="0"/>
              </a:endParaRPr>
            </a:p>
          </p:txBody>
        </p:sp>
      </p:grpSp>
    </p:spTree>
    <p:extLst>
      <p:ext uri="{BB962C8B-B14F-4D97-AF65-F5344CB8AC3E}">
        <p14:creationId xmlns:p14="http://schemas.microsoft.com/office/powerpoint/2010/main" val="372685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English uses of Implications</a:t>
            </a:r>
          </a:p>
        </p:txBody>
      </p:sp>
      <p:sp>
        <p:nvSpPr>
          <p:cNvPr id="3" name="Content Placeholder 2"/>
          <p:cNvSpPr>
            <a:spLocks noGrp="1"/>
          </p:cNvSpPr>
          <p:nvPr>
            <p:ph idx="1"/>
          </p:nvPr>
        </p:nvSpPr>
        <p:spPr/>
        <p:txBody>
          <a:bodyPr/>
          <a:lstStyle/>
          <a:p>
            <a:pPr>
              <a:lnSpc>
                <a:spcPct val="100000"/>
              </a:lnSpc>
            </a:pPr>
            <a:r>
              <a:rPr lang="en-US" dirty="0">
                <a:solidFill>
                  <a:schemeClr val="accent6">
                    <a:lumMod val="75000"/>
                  </a:schemeClr>
                </a:solidFill>
              </a:rPr>
              <a:t>If you show up on Monday, you will get the job</a:t>
            </a:r>
          </a:p>
          <a:p>
            <a:pPr lvl="1">
              <a:lnSpc>
                <a:spcPct val="100000"/>
              </a:lnSpc>
            </a:pPr>
            <a:r>
              <a:rPr lang="en-US" dirty="0"/>
              <a:t>You show up on Monday is </a:t>
            </a:r>
            <a:r>
              <a:rPr lang="en-US" dirty="0">
                <a:solidFill>
                  <a:srgbClr val="C00000"/>
                </a:solidFill>
              </a:rPr>
              <a:t>sufficient</a:t>
            </a:r>
            <a:r>
              <a:rPr lang="en-US" dirty="0"/>
              <a:t> for you to get the job</a:t>
            </a:r>
          </a:p>
          <a:p>
            <a:pPr lvl="1">
              <a:lnSpc>
                <a:spcPct val="100000"/>
              </a:lnSpc>
            </a:pPr>
            <a:r>
              <a:rPr lang="en-US" dirty="0"/>
              <a:t>A </a:t>
            </a:r>
            <a:r>
              <a:rPr lang="en-US" dirty="0">
                <a:solidFill>
                  <a:srgbClr val="C00000"/>
                </a:solidFill>
              </a:rPr>
              <a:t>sufficient condition </a:t>
            </a:r>
            <a:r>
              <a:rPr lang="en-US" dirty="0"/>
              <a:t>for you to get the job is to show up on Monday</a:t>
            </a:r>
          </a:p>
          <a:p>
            <a:pPr lvl="1">
              <a:lnSpc>
                <a:spcPct val="100000"/>
              </a:lnSpc>
            </a:pPr>
            <a:r>
              <a:rPr lang="en-US" dirty="0"/>
              <a:t>You get the job is </a:t>
            </a:r>
            <a:r>
              <a:rPr lang="en-US" dirty="0">
                <a:solidFill>
                  <a:srgbClr val="C00000"/>
                </a:solidFill>
              </a:rPr>
              <a:t>necessary</a:t>
            </a:r>
            <a:r>
              <a:rPr lang="en-US" dirty="0"/>
              <a:t> for you to show up on Monday</a:t>
            </a:r>
          </a:p>
          <a:p>
            <a:pPr lvl="1">
              <a:lnSpc>
                <a:spcPct val="100000"/>
              </a:lnSpc>
            </a:pPr>
            <a:r>
              <a:rPr lang="en-US" dirty="0"/>
              <a:t>A </a:t>
            </a:r>
            <a:r>
              <a:rPr lang="en-US" dirty="0">
                <a:solidFill>
                  <a:srgbClr val="C00000"/>
                </a:solidFill>
              </a:rPr>
              <a:t>necessary condition </a:t>
            </a:r>
            <a:r>
              <a:rPr lang="en-US" dirty="0"/>
              <a:t>for you to show up on Monday is you get the job</a:t>
            </a:r>
          </a:p>
        </p:txBody>
      </p:sp>
      <p:sp>
        <p:nvSpPr>
          <p:cNvPr id="4" name="Date Placeholder 3"/>
          <p:cNvSpPr>
            <a:spLocks noGrp="1"/>
          </p:cNvSpPr>
          <p:nvPr>
            <p:ph type="dt" sz="half" idx="10"/>
          </p:nvPr>
        </p:nvSpPr>
        <p:spPr/>
        <p:txBody>
          <a:bodyPr/>
          <a:lstStyle/>
          <a:p>
            <a:fld id="{A51AFB34-59BD-4F47-9BE6-C1E98DA4DE20}"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32</a:t>
            </a:fld>
            <a:endParaRPr lang="en-US"/>
          </a:p>
        </p:txBody>
      </p:sp>
    </p:spTree>
    <p:extLst>
      <p:ext uri="{BB962C8B-B14F-4D97-AF65-F5344CB8AC3E}">
        <p14:creationId xmlns:p14="http://schemas.microsoft.com/office/powerpoint/2010/main" val="306398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A9A4-AA01-46A8-9D15-7190E5EA31C7}"/>
              </a:ext>
            </a:extLst>
          </p:cNvPr>
          <p:cNvSpPr>
            <a:spLocks noGrp="1"/>
          </p:cNvSpPr>
          <p:nvPr>
            <p:ph type="title"/>
          </p:nvPr>
        </p:nvSpPr>
        <p:spPr/>
        <p:txBody>
          <a:bodyPr>
            <a:normAutofit fontScale="90000"/>
          </a:bodyPr>
          <a:lstStyle/>
          <a:p>
            <a:r>
              <a:rPr lang="en-US" dirty="0"/>
              <a:t>Examples  of  English uses of Implications</a:t>
            </a:r>
          </a:p>
        </p:txBody>
      </p:sp>
      <p:sp>
        <p:nvSpPr>
          <p:cNvPr id="3" name="Content Placeholder 2">
            <a:extLst>
              <a:ext uri="{FF2B5EF4-FFF2-40B4-BE49-F238E27FC236}">
                <a16:creationId xmlns:a16="http://schemas.microsoft.com/office/drawing/2014/main" id="{E23F53F4-AF83-4AD2-94F0-EAB2AB7FFE16}"/>
              </a:ext>
            </a:extLst>
          </p:cNvPr>
          <p:cNvSpPr>
            <a:spLocks noGrp="1"/>
          </p:cNvSpPr>
          <p:nvPr>
            <p:ph idx="1"/>
          </p:nvPr>
        </p:nvSpPr>
        <p:spPr/>
        <p:txBody>
          <a:bodyPr>
            <a:normAutofit/>
          </a:bodyPr>
          <a:lstStyle/>
          <a:p>
            <a:pPr>
              <a:lnSpc>
                <a:spcPct val="100000"/>
              </a:lnSpc>
            </a:pPr>
            <a:r>
              <a:rPr lang="en-US" dirty="0">
                <a:solidFill>
                  <a:schemeClr val="accent6">
                    <a:lumMod val="75000"/>
                  </a:schemeClr>
                </a:solidFill>
              </a:rPr>
              <a:t>You walk 8 miles is </a:t>
            </a:r>
            <a:r>
              <a:rPr lang="en-US" dirty="0">
                <a:solidFill>
                  <a:srgbClr val="C00000"/>
                </a:solidFill>
              </a:rPr>
              <a:t>necessary</a:t>
            </a:r>
            <a:r>
              <a:rPr lang="en-US" dirty="0">
                <a:solidFill>
                  <a:schemeClr val="accent6">
                    <a:lumMod val="75000"/>
                  </a:schemeClr>
                </a:solidFill>
              </a:rPr>
              <a:t> to get to the top</a:t>
            </a:r>
          </a:p>
          <a:p>
            <a:pPr lvl="1">
              <a:lnSpc>
                <a:spcPct val="100000"/>
              </a:lnSpc>
            </a:pPr>
            <a:r>
              <a:rPr lang="en-US" dirty="0"/>
              <a:t>Which of the following statements is equivalent?</a:t>
            </a:r>
          </a:p>
          <a:p>
            <a:pPr lvl="2">
              <a:lnSpc>
                <a:spcPct val="100000"/>
              </a:lnSpc>
              <a:buFont typeface="Wingdings" panose="05000000000000000000" pitchFamily="2" charset="2"/>
              <a:buChar char="§"/>
            </a:pPr>
            <a:r>
              <a:rPr lang="en-US" dirty="0"/>
              <a:t>If you walk 8 miles, then you get to the top</a:t>
            </a:r>
          </a:p>
          <a:p>
            <a:pPr lvl="2">
              <a:lnSpc>
                <a:spcPct val="100000"/>
              </a:lnSpc>
              <a:buFont typeface="Wingdings" panose="05000000000000000000" pitchFamily="2" charset="2"/>
              <a:buChar char="§"/>
            </a:pPr>
            <a:r>
              <a:rPr lang="en-US" dirty="0"/>
              <a:t>If you got to the top, then you have walked 8 miles </a:t>
            </a:r>
          </a:p>
          <a:p>
            <a:pPr lvl="1">
              <a:lnSpc>
                <a:spcPct val="100000"/>
              </a:lnSpc>
            </a:pPr>
            <a:endParaRPr lang="en-US" dirty="0"/>
          </a:p>
          <a:p>
            <a:pPr lvl="1">
              <a:lnSpc>
                <a:spcPct val="100000"/>
              </a:lnSpc>
            </a:pPr>
            <a:r>
              <a:rPr lang="en-US" dirty="0"/>
              <a:t>The first statement is not equivalent, </a:t>
            </a:r>
            <a:r>
              <a:rPr lang="en-US" i="1" dirty="0">
                <a:solidFill>
                  <a:srgbClr val="0000CC"/>
                </a:solidFill>
              </a:rPr>
              <a:t>WHY?</a:t>
            </a:r>
          </a:p>
          <a:p>
            <a:pPr lvl="2">
              <a:lnSpc>
                <a:spcPct val="100000"/>
              </a:lnSpc>
            </a:pPr>
            <a:r>
              <a:rPr lang="en-US" dirty="0"/>
              <a:t>Suppose you walked 8 miles in the wrong direction! </a:t>
            </a:r>
          </a:p>
          <a:p>
            <a:pPr lvl="2">
              <a:lnSpc>
                <a:spcPct val="100000"/>
              </a:lnSpc>
            </a:pPr>
            <a:r>
              <a:rPr lang="en-US" dirty="0"/>
              <a:t>But if you got to the top then you are sure that you must have walked 8 miles.</a:t>
            </a:r>
          </a:p>
        </p:txBody>
      </p:sp>
      <p:sp>
        <p:nvSpPr>
          <p:cNvPr id="4" name="Date Placeholder 3">
            <a:extLst>
              <a:ext uri="{FF2B5EF4-FFF2-40B4-BE49-F238E27FC236}">
                <a16:creationId xmlns:a16="http://schemas.microsoft.com/office/drawing/2014/main" id="{9B12C6D7-4CED-430E-850B-721D4DBB2FE3}"/>
              </a:ext>
            </a:extLst>
          </p:cNvPr>
          <p:cNvSpPr>
            <a:spLocks noGrp="1"/>
          </p:cNvSpPr>
          <p:nvPr>
            <p:ph type="dt" sz="half" idx="10"/>
          </p:nvPr>
        </p:nvSpPr>
        <p:spPr/>
        <p:txBody>
          <a:bodyPr/>
          <a:lstStyle/>
          <a:p>
            <a:fld id="{99385DD6-6D9F-4413-81FC-F12A632DD025}" type="datetime1">
              <a:rPr lang="en-US" smtClean="0"/>
              <a:t>9/29/2022</a:t>
            </a:fld>
            <a:endParaRPr lang="en-US"/>
          </a:p>
        </p:txBody>
      </p:sp>
      <p:sp>
        <p:nvSpPr>
          <p:cNvPr id="5" name="Footer Placeholder 4">
            <a:extLst>
              <a:ext uri="{FF2B5EF4-FFF2-40B4-BE49-F238E27FC236}">
                <a16:creationId xmlns:a16="http://schemas.microsoft.com/office/drawing/2014/main" id="{A9BB5B63-5228-4649-A163-E8099D2CAA70}"/>
              </a:ext>
            </a:extLst>
          </p:cNvPr>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33</a:t>
            </a:fld>
            <a:endParaRPr lang="en-US"/>
          </a:p>
        </p:txBody>
      </p:sp>
    </p:spTree>
    <p:extLst>
      <p:ext uri="{BB962C8B-B14F-4D97-AF65-F5344CB8AC3E}">
        <p14:creationId xmlns:p14="http://schemas.microsoft.com/office/powerpoint/2010/main" val="329838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C4526-F5D9-4570-97DF-94200EC84C3C}"/>
              </a:ext>
            </a:extLst>
          </p:cNvPr>
          <p:cNvSpPr>
            <a:spLocks noGrp="1"/>
          </p:cNvSpPr>
          <p:nvPr>
            <p:ph type="title"/>
          </p:nvPr>
        </p:nvSpPr>
        <p:spPr/>
        <p:txBody>
          <a:bodyPr>
            <a:normAutofit fontScale="90000"/>
          </a:bodyPr>
          <a:lstStyle/>
          <a:p>
            <a:r>
              <a:rPr lang="en-US" altLang="zh-TW" dirty="0"/>
              <a:t>Converse, Inverse, Contrapositive</a:t>
            </a:r>
            <a:endParaRPr lang="en-US" dirty="0"/>
          </a:p>
        </p:txBody>
      </p:sp>
      <p:sp>
        <p:nvSpPr>
          <p:cNvPr id="3" name="Content Placeholder 2">
            <a:extLst>
              <a:ext uri="{FF2B5EF4-FFF2-40B4-BE49-F238E27FC236}">
                <a16:creationId xmlns:a16="http://schemas.microsoft.com/office/drawing/2014/main" id="{14FA2598-965D-44AB-980C-B1C83B8139A5}"/>
              </a:ext>
            </a:extLst>
          </p:cNvPr>
          <p:cNvSpPr>
            <a:spLocks noGrp="1"/>
          </p:cNvSpPr>
          <p:nvPr>
            <p:ph idx="1"/>
          </p:nvPr>
        </p:nvSpPr>
        <p:spPr/>
        <p:txBody>
          <a:bodyPr/>
          <a:lstStyle/>
          <a:p>
            <a:r>
              <a:rPr lang="en-US" altLang="zh-TW" dirty="0">
                <a:sym typeface="Symbol" pitchFamily="18" charset="2"/>
              </a:rPr>
              <a:t>The </a:t>
            </a:r>
            <a:r>
              <a:rPr lang="en-US" altLang="zh-TW" dirty="0">
                <a:solidFill>
                  <a:srgbClr val="C00000"/>
                </a:solidFill>
                <a:sym typeface="Symbol" pitchFamily="18" charset="2"/>
              </a:rPr>
              <a:t>inverse</a:t>
            </a:r>
            <a:r>
              <a:rPr lang="en-US" altLang="zh-TW" dirty="0">
                <a:sym typeface="Symbol" pitchFamily="18" charset="2"/>
              </a:rPr>
              <a:t> of </a:t>
            </a:r>
            <a:r>
              <a:rPr lang="en-US" altLang="zh-TW" i="1" dirty="0"/>
              <a:t>p</a:t>
            </a:r>
            <a:r>
              <a:rPr lang="en-US" altLang="zh-TW" dirty="0"/>
              <a:t> </a:t>
            </a:r>
            <a:r>
              <a:rPr lang="en-US" altLang="zh-TW" dirty="0">
                <a:sym typeface="Symbol" pitchFamily="18" charset="2"/>
              </a:rPr>
              <a:t> </a:t>
            </a:r>
            <a:r>
              <a:rPr lang="en-US" altLang="zh-TW" i="1" dirty="0">
                <a:sym typeface="Symbol" pitchFamily="18" charset="2"/>
              </a:rPr>
              <a:t>q</a:t>
            </a:r>
            <a:r>
              <a:rPr lang="en-US" altLang="zh-TW" dirty="0">
                <a:sym typeface="Symbol" pitchFamily="18" charset="2"/>
              </a:rPr>
              <a:t> is </a:t>
            </a:r>
            <a:r>
              <a:rPr lang="en-US" altLang="zh-TW" dirty="0">
                <a:solidFill>
                  <a:srgbClr val="C00000"/>
                </a:solidFill>
                <a:sym typeface="Symbol" pitchFamily="18" charset="2"/>
              </a:rPr>
              <a:t>¬</a:t>
            </a:r>
            <a:r>
              <a:rPr lang="en-US" altLang="zh-TW" i="1" dirty="0">
                <a:solidFill>
                  <a:srgbClr val="C00000"/>
                </a:solidFill>
                <a:sym typeface="Symbol" pitchFamily="18" charset="2"/>
              </a:rPr>
              <a:t>p</a:t>
            </a:r>
            <a:r>
              <a:rPr lang="en-US" altLang="zh-TW" dirty="0">
                <a:solidFill>
                  <a:srgbClr val="C00000"/>
                </a:solidFill>
                <a:sym typeface="Symbol" pitchFamily="18" charset="2"/>
              </a:rPr>
              <a:t>  ¬</a:t>
            </a:r>
            <a:r>
              <a:rPr lang="en-US" altLang="zh-TW" i="1" dirty="0">
                <a:solidFill>
                  <a:srgbClr val="C00000"/>
                </a:solidFill>
                <a:sym typeface="Symbol" pitchFamily="18" charset="2"/>
              </a:rPr>
              <a:t>q</a:t>
            </a:r>
          </a:p>
          <a:p>
            <a:r>
              <a:rPr lang="en-US" altLang="zh-TW" dirty="0"/>
              <a:t>The </a:t>
            </a:r>
            <a:r>
              <a:rPr lang="en-US" altLang="zh-TW" dirty="0">
                <a:solidFill>
                  <a:srgbClr val="C00000"/>
                </a:solidFill>
              </a:rPr>
              <a:t>converse</a:t>
            </a:r>
            <a:r>
              <a:rPr lang="en-US" altLang="zh-TW" dirty="0"/>
              <a:t> of </a:t>
            </a:r>
            <a:r>
              <a:rPr lang="en-US" altLang="zh-TW" i="1" dirty="0"/>
              <a:t>p</a:t>
            </a:r>
            <a:r>
              <a:rPr lang="en-US" altLang="zh-TW" dirty="0"/>
              <a:t> </a:t>
            </a:r>
            <a:r>
              <a:rPr lang="en-US" altLang="zh-TW" dirty="0">
                <a:sym typeface="Symbol" pitchFamily="18" charset="2"/>
              </a:rPr>
              <a:t> </a:t>
            </a:r>
            <a:r>
              <a:rPr lang="en-US" altLang="zh-TW" i="1" dirty="0">
                <a:sym typeface="Symbol" pitchFamily="18" charset="2"/>
              </a:rPr>
              <a:t>q</a:t>
            </a:r>
            <a:r>
              <a:rPr lang="en-US" altLang="zh-TW" dirty="0">
                <a:sym typeface="Symbol" pitchFamily="18" charset="2"/>
              </a:rPr>
              <a:t> is </a:t>
            </a:r>
            <a:r>
              <a:rPr lang="en-US" altLang="zh-TW" i="1" dirty="0">
                <a:solidFill>
                  <a:srgbClr val="C00000"/>
                </a:solidFill>
              </a:rPr>
              <a:t>q</a:t>
            </a:r>
            <a:r>
              <a:rPr lang="en-US" altLang="zh-TW" dirty="0">
                <a:solidFill>
                  <a:srgbClr val="C00000"/>
                </a:solidFill>
              </a:rPr>
              <a:t> </a:t>
            </a:r>
            <a:r>
              <a:rPr lang="en-US" altLang="zh-TW" dirty="0">
                <a:solidFill>
                  <a:srgbClr val="C00000"/>
                </a:solidFill>
                <a:sym typeface="Symbol" pitchFamily="18" charset="2"/>
              </a:rPr>
              <a:t> </a:t>
            </a:r>
            <a:r>
              <a:rPr lang="en-US" altLang="zh-TW" i="1" dirty="0">
                <a:solidFill>
                  <a:srgbClr val="C00000"/>
                </a:solidFill>
                <a:sym typeface="Symbol" pitchFamily="18" charset="2"/>
              </a:rPr>
              <a:t>p</a:t>
            </a:r>
          </a:p>
          <a:p>
            <a:r>
              <a:rPr lang="en-US" altLang="zh-TW" dirty="0">
                <a:sym typeface="Symbol" pitchFamily="18" charset="2"/>
              </a:rPr>
              <a:t>The </a:t>
            </a:r>
            <a:r>
              <a:rPr lang="en-US" altLang="zh-TW" dirty="0">
                <a:solidFill>
                  <a:srgbClr val="C00000"/>
                </a:solidFill>
                <a:sym typeface="Symbol" pitchFamily="18" charset="2"/>
              </a:rPr>
              <a:t>contrapositive</a:t>
            </a:r>
            <a:r>
              <a:rPr lang="en-US" altLang="zh-TW" dirty="0">
                <a:sym typeface="Symbol" pitchFamily="18" charset="2"/>
              </a:rPr>
              <a:t> of </a:t>
            </a:r>
            <a:r>
              <a:rPr lang="en-US" altLang="zh-TW" i="1" dirty="0"/>
              <a:t>p</a:t>
            </a:r>
            <a:r>
              <a:rPr lang="en-US" altLang="zh-TW" dirty="0"/>
              <a:t> </a:t>
            </a:r>
            <a:r>
              <a:rPr lang="en-US" altLang="zh-TW" dirty="0">
                <a:sym typeface="Symbol" pitchFamily="18" charset="2"/>
              </a:rPr>
              <a:t> </a:t>
            </a:r>
            <a:r>
              <a:rPr lang="en-US" altLang="zh-TW" i="1" dirty="0">
                <a:sym typeface="Symbol" pitchFamily="18" charset="2"/>
              </a:rPr>
              <a:t>q</a:t>
            </a:r>
            <a:r>
              <a:rPr lang="en-US" altLang="zh-TW" dirty="0">
                <a:sym typeface="Symbol" pitchFamily="18" charset="2"/>
              </a:rPr>
              <a:t>  is	</a:t>
            </a:r>
            <a:r>
              <a:rPr lang="en-US" altLang="zh-TW" dirty="0">
                <a:solidFill>
                  <a:srgbClr val="C00000"/>
                </a:solidFill>
              </a:rPr>
              <a:t>¬</a:t>
            </a:r>
            <a:r>
              <a:rPr lang="en-US" altLang="zh-TW" i="1" dirty="0">
                <a:solidFill>
                  <a:srgbClr val="C00000"/>
                </a:solidFill>
              </a:rPr>
              <a:t>q</a:t>
            </a:r>
            <a:r>
              <a:rPr lang="en-US" altLang="zh-TW" dirty="0">
                <a:solidFill>
                  <a:srgbClr val="C00000"/>
                </a:solidFill>
              </a:rPr>
              <a:t> </a:t>
            </a:r>
            <a:r>
              <a:rPr lang="en-US" altLang="zh-TW" dirty="0">
                <a:solidFill>
                  <a:srgbClr val="C00000"/>
                </a:solidFill>
                <a:sym typeface="Symbol" pitchFamily="18" charset="2"/>
              </a:rPr>
              <a:t> </a:t>
            </a:r>
            <a:r>
              <a:rPr lang="en-US" altLang="zh-TW" dirty="0">
                <a:solidFill>
                  <a:srgbClr val="C00000"/>
                </a:solidFill>
              </a:rPr>
              <a:t>¬</a:t>
            </a:r>
            <a:r>
              <a:rPr lang="en-US" altLang="zh-TW" i="1" dirty="0">
                <a:solidFill>
                  <a:srgbClr val="C00000"/>
                </a:solidFill>
              </a:rPr>
              <a:t>p</a:t>
            </a:r>
            <a:r>
              <a:rPr lang="en-US" altLang="zh-TW" dirty="0">
                <a:solidFill>
                  <a:srgbClr val="C00000"/>
                </a:solidFill>
              </a:rPr>
              <a:t> </a:t>
            </a:r>
            <a:r>
              <a:rPr lang="en-US" altLang="zh-TW" dirty="0"/>
              <a:t>(if not q then not p)</a:t>
            </a:r>
          </a:p>
          <a:p>
            <a:r>
              <a:rPr lang="en-US" altLang="zh-TW" dirty="0"/>
              <a:t>One of these three has the same meaning (same truth table)           as </a:t>
            </a:r>
            <a:r>
              <a:rPr lang="en-US" altLang="zh-TW" i="1" dirty="0"/>
              <a:t>p</a:t>
            </a:r>
            <a:r>
              <a:rPr lang="en-US" altLang="zh-TW" dirty="0"/>
              <a:t> </a:t>
            </a:r>
            <a:r>
              <a:rPr lang="en-US" altLang="zh-TW" dirty="0">
                <a:sym typeface="Symbol" pitchFamily="18" charset="2"/>
              </a:rPr>
              <a:t> </a:t>
            </a:r>
            <a:r>
              <a:rPr lang="en-US" altLang="zh-TW" i="1" dirty="0">
                <a:sym typeface="Symbol" pitchFamily="18" charset="2"/>
              </a:rPr>
              <a:t>q</a:t>
            </a:r>
            <a:r>
              <a:rPr lang="en-US" altLang="zh-TW" dirty="0">
                <a:sym typeface="Symbol" pitchFamily="18" charset="2"/>
              </a:rPr>
              <a:t>.  Can you figure out which?</a:t>
            </a:r>
          </a:p>
          <a:p>
            <a:pPr lvl="1"/>
            <a:r>
              <a:rPr lang="en-US" altLang="zh-TW" dirty="0">
                <a:sym typeface="Symbol" pitchFamily="18" charset="2"/>
              </a:rPr>
              <a:t>The </a:t>
            </a:r>
            <a:r>
              <a:rPr lang="en-US" altLang="zh-TW" dirty="0">
                <a:solidFill>
                  <a:srgbClr val="C00000"/>
                </a:solidFill>
                <a:sym typeface="Symbol" pitchFamily="18" charset="2"/>
              </a:rPr>
              <a:t>contrapositive:</a:t>
            </a:r>
            <a:r>
              <a:rPr lang="en-US" altLang="zh-TW" dirty="0">
                <a:sym typeface="Symbol" pitchFamily="18" charset="2"/>
              </a:rPr>
              <a:t> </a:t>
            </a:r>
            <a:r>
              <a:rPr lang="en-US" altLang="zh-TW" dirty="0">
                <a:solidFill>
                  <a:srgbClr val="0000CC"/>
                </a:solidFill>
              </a:rPr>
              <a:t>¬</a:t>
            </a:r>
            <a:r>
              <a:rPr lang="en-US" altLang="zh-TW" i="1" dirty="0">
                <a:solidFill>
                  <a:srgbClr val="0000CC"/>
                </a:solidFill>
              </a:rPr>
              <a:t>q</a:t>
            </a:r>
            <a:r>
              <a:rPr lang="en-US" altLang="zh-TW" dirty="0">
                <a:solidFill>
                  <a:srgbClr val="0000CC"/>
                </a:solidFill>
              </a:rPr>
              <a:t> </a:t>
            </a:r>
            <a:r>
              <a:rPr lang="en-US" altLang="zh-TW" dirty="0">
                <a:solidFill>
                  <a:srgbClr val="0000CC"/>
                </a:solidFill>
                <a:sym typeface="Symbol" pitchFamily="18" charset="2"/>
              </a:rPr>
              <a:t> </a:t>
            </a:r>
            <a:r>
              <a:rPr lang="en-US" altLang="zh-TW" dirty="0">
                <a:solidFill>
                  <a:srgbClr val="0000CC"/>
                </a:solidFill>
              </a:rPr>
              <a:t>¬</a:t>
            </a:r>
            <a:r>
              <a:rPr lang="en-US" altLang="zh-TW" i="1" dirty="0">
                <a:solidFill>
                  <a:srgbClr val="0000CC"/>
                </a:solidFill>
              </a:rPr>
              <a:t>p</a:t>
            </a:r>
          </a:p>
          <a:p>
            <a:pPr lvl="2"/>
            <a:r>
              <a:rPr lang="en-US" altLang="zh-TW" i="1" dirty="0">
                <a:sym typeface="Symbol" pitchFamily="18" charset="2"/>
              </a:rPr>
              <a:t>the contrapositive is false only when ¬p is false and ¬q is true, that is, only when p is true and q is false</a:t>
            </a:r>
          </a:p>
          <a:p>
            <a:endParaRPr lang="en-US" dirty="0"/>
          </a:p>
        </p:txBody>
      </p:sp>
      <p:sp>
        <p:nvSpPr>
          <p:cNvPr id="4" name="Date Placeholder 3">
            <a:extLst>
              <a:ext uri="{FF2B5EF4-FFF2-40B4-BE49-F238E27FC236}">
                <a16:creationId xmlns:a16="http://schemas.microsoft.com/office/drawing/2014/main" id="{D0EE6EEB-1975-4FC8-8B27-5A88DFF1DB1E}"/>
              </a:ext>
            </a:extLst>
          </p:cNvPr>
          <p:cNvSpPr>
            <a:spLocks noGrp="1"/>
          </p:cNvSpPr>
          <p:nvPr>
            <p:ph type="dt" sz="half" idx="10"/>
          </p:nvPr>
        </p:nvSpPr>
        <p:spPr/>
        <p:txBody>
          <a:bodyPr/>
          <a:lstStyle/>
          <a:p>
            <a:fld id="{4C87BEC4-B835-4E55-9D7F-50B76A3ED418}" type="datetime1">
              <a:rPr lang="en-US" smtClean="0"/>
              <a:t>9/29/2022</a:t>
            </a:fld>
            <a:endParaRPr lang="en-US"/>
          </a:p>
        </p:txBody>
      </p:sp>
      <p:sp>
        <p:nvSpPr>
          <p:cNvPr id="5" name="Footer Placeholder 4">
            <a:extLst>
              <a:ext uri="{FF2B5EF4-FFF2-40B4-BE49-F238E27FC236}">
                <a16:creationId xmlns:a16="http://schemas.microsoft.com/office/drawing/2014/main" id="{90C564B9-6E2F-45D6-98C3-B4CB468021A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A8D5E323-7FCB-41B3-915C-1A332431EFCE}"/>
              </a:ext>
            </a:extLst>
          </p:cNvPr>
          <p:cNvSpPr>
            <a:spLocks noGrp="1"/>
          </p:cNvSpPr>
          <p:nvPr>
            <p:ph type="sldNum" sz="quarter" idx="12"/>
          </p:nvPr>
        </p:nvSpPr>
        <p:spPr/>
        <p:txBody>
          <a:bodyPr/>
          <a:lstStyle/>
          <a:p>
            <a:fld id="{B7884E68-CE57-44C0-BE0F-84C629DF22D5}" type="slidenum">
              <a:rPr lang="en-US" smtClean="0"/>
              <a:t>34</a:t>
            </a:fld>
            <a:endParaRPr lang="en-US"/>
          </a:p>
        </p:txBody>
      </p:sp>
    </p:spTree>
    <p:extLst>
      <p:ext uri="{BB962C8B-B14F-4D97-AF65-F5344CB8AC3E}">
        <p14:creationId xmlns:p14="http://schemas.microsoft.com/office/powerpoint/2010/main" val="359137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48C51-BC0B-4920-A4B1-C1614725F6E9}"/>
              </a:ext>
            </a:extLst>
          </p:cNvPr>
          <p:cNvSpPr>
            <a:spLocks noGrp="1"/>
          </p:cNvSpPr>
          <p:nvPr>
            <p:ph type="title"/>
          </p:nvPr>
        </p:nvSpPr>
        <p:spPr/>
        <p:txBody>
          <a:bodyPr>
            <a:normAutofit fontScale="90000"/>
          </a:bodyPr>
          <a:lstStyle/>
          <a:p>
            <a:r>
              <a:rPr lang="en-US" dirty="0"/>
              <a:t>Proving Equivalence between </a:t>
            </a:r>
            <a:r>
              <a:rPr lang="en-US" altLang="zh-TW" dirty="0"/>
              <a:t>p </a:t>
            </a:r>
            <a:r>
              <a:rPr lang="en-US" altLang="zh-TW" dirty="0">
                <a:sym typeface="Symbol" pitchFamily="18" charset="2"/>
              </a:rPr>
              <a:t> q  and </a:t>
            </a:r>
            <a:r>
              <a:rPr lang="en-US" altLang="zh-TW" dirty="0"/>
              <a:t>¬q </a:t>
            </a:r>
            <a:r>
              <a:rPr lang="en-US" altLang="zh-TW" dirty="0">
                <a:sym typeface="Symbol" pitchFamily="18" charset="2"/>
              </a:rPr>
              <a:t> </a:t>
            </a:r>
            <a:r>
              <a:rPr lang="en-US" altLang="zh-TW" dirty="0"/>
              <a:t>¬p</a:t>
            </a:r>
            <a:r>
              <a:rPr lang="en-US" dirty="0"/>
              <a:t> </a:t>
            </a:r>
          </a:p>
        </p:txBody>
      </p:sp>
      <p:sp>
        <p:nvSpPr>
          <p:cNvPr id="4" name="Date Placeholder 3">
            <a:extLst>
              <a:ext uri="{FF2B5EF4-FFF2-40B4-BE49-F238E27FC236}">
                <a16:creationId xmlns:a16="http://schemas.microsoft.com/office/drawing/2014/main" id="{2BBB347F-EBB8-4A45-9829-4A44490269BD}"/>
              </a:ext>
            </a:extLst>
          </p:cNvPr>
          <p:cNvSpPr>
            <a:spLocks noGrp="1"/>
          </p:cNvSpPr>
          <p:nvPr>
            <p:ph type="dt" sz="half" idx="10"/>
          </p:nvPr>
        </p:nvSpPr>
        <p:spPr/>
        <p:txBody>
          <a:bodyPr/>
          <a:lstStyle/>
          <a:p>
            <a:fld id="{4C87BEC4-B835-4E55-9D7F-50B76A3ED418}" type="datetime1">
              <a:rPr lang="en-US" smtClean="0"/>
              <a:t>9/29/2022</a:t>
            </a:fld>
            <a:endParaRPr lang="en-US"/>
          </a:p>
        </p:txBody>
      </p:sp>
      <p:sp>
        <p:nvSpPr>
          <p:cNvPr id="5" name="Footer Placeholder 4">
            <a:extLst>
              <a:ext uri="{FF2B5EF4-FFF2-40B4-BE49-F238E27FC236}">
                <a16:creationId xmlns:a16="http://schemas.microsoft.com/office/drawing/2014/main" id="{A59B918B-443D-4E01-9D6C-9FD6FC463316}"/>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4E35498E-14CA-4956-84C0-C1BBDAFF23A9}"/>
              </a:ext>
            </a:extLst>
          </p:cNvPr>
          <p:cNvSpPr>
            <a:spLocks noGrp="1"/>
          </p:cNvSpPr>
          <p:nvPr>
            <p:ph type="sldNum" sz="quarter" idx="12"/>
          </p:nvPr>
        </p:nvSpPr>
        <p:spPr/>
        <p:txBody>
          <a:bodyPr/>
          <a:lstStyle/>
          <a:p>
            <a:fld id="{B7884E68-CE57-44C0-BE0F-84C629DF22D5}" type="slidenum">
              <a:rPr lang="en-US" smtClean="0"/>
              <a:t>35</a:t>
            </a:fld>
            <a:endParaRPr lang="en-US"/>
          </a:p>
        </p:txBody>
      </p:sp>
      <p:graphicFrame>
        <p:nvGraphicFramePr>
          <p:cNvPr id="7" name="Table 6">
            <a:extLst>
              <a:ext uri="{FF2B5EF4-FFF2-40B4-BE49-F238E27FC236}">
                <a16:creationId xmlns:a16="http://schemas.microsoft.com/office/drawing/2014/main" id="{505FD79E-D4D1-451A-91B9-F75F35396AA5}"/>
              </a:ext>
            </a:extLst>
          </p:cNvPr>
          <p:cNvGraphicFramePr>
            <a:graphicFrameLocks noGrp="1"/>
          </p:cNvGraphicFramePr>
          <p:nvPr>
            <p:extLst>
              <p:ext uri="{D42A27DB-BD31-4B8C-83A1-F6EECF244321}">
                <p14:modId xmlns:p14="http://schemas.microsoft.com/office/powerpoint/2010/main" val="2020362048"/>
              </p:ext>
            </p:extLst>
          </p:nvPr>
        </p:nvGraphicFramePr>
        <p:xfrm>
          <a:off x="797984" y="2011887"/>
          <a:ext cx="746284" cy="2057400"/>
        </p:xfrm>
        <a:graphic>
          <a:graphicData uri="http://schemas.openxmlformats.org/drawingml/2006/table">
            <a:tbl>
              <a:tblPr firstRow="1" firstCol="1" bandRow="1" bandCol="1">
                <a:tableStyleId>{5A111915-BE36-4E01-A7E5-04B1672EAD32}</a:tableStyleId>
              </a:tblPr>
              <a:tblGrid>
                <a:gridCol w="373142">
                  <a:extLst>
                    <a:ext uri="{9D8B030D-6E8A-4147-A177-3AD203B41FA5}">
                      <a16:colId xmlns:a16="http://schemas.microsoft.com/office/drawing/2014/main" val="20000"/>
                    </a:ext>
                  </a:extLst>
                </a:gridCol>
                <a:gridCol w="373142">
                  <a:extLst>
                    <a:ext uri="{9D8B030D-6E8A-4147-A177-3AD203B41FA5}">
                      <a16:colId xmlns:a16="http://schemas.microsoft.com/office/drawing/2014/main" val="20001"/>
                    </a:ext>
                  </a:extLst>
                </a:gridCol>
              </a:tblGrid>
              <a:tr h="411480">
                <a:tc>
                  <a:txBody>
                    <a:bodyPr/>
                    <a:lstStyle/>
                    <a:p>
                      <a:pPr algn="ctr">
                        <a:spcAft>
                          <a:spcPts val="0"/>
                        </a:spcAft>
                      </a:pPr>
                      <a:r>
                        <a:rPr lang="en-US" sz="2700" i="1" dirty="0">
                          <a:effectLst/>
                        </a:rPr>
                        <a:t>p</a:t>
                      </a:r>
                      <a:endParaRPr lang="en-US" sz="800" i="1" dirty="0">
                        <a:effectLst/>
                        <a:latin typeface="Times New Roman" panose="02020603050405020304" pitchFamily="18" charset="0"/>
                        <a:ea typeface="Times New Roman" panose="02020603050405020304" pitchFamily="18" charset="0"/>
                      </a:endParaRPr>
                    </a:p>
                  </a:txBody>
                  <a:tcPr marL="51435" marR="51435" marT="0" marB="0"/>
                </a:tc>
                <a:tc>
                  <a:txBody>
                    <a:bodyPr/>
                    <a:lstStyle/>
                    <a:p>
                      <a:pPr algn="ctr">
                        <a:spcAft>
                          <a:spcPts val="0"/>
                        </a:spcAft>
                      </a:pPr>
                      <a:r>
                        <a:rPr lang="en-US" sz="2700" i="1" dirty="0">
                          <a:effectLst/>
                        </a:rPr>
                        <a:t>q</a:t>
                      </a:r>
                      <a:endParaRPr lang="en-US" sz="800" i="1"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411480">
                <a:tc>
                  <a:txBody>
                    <a:bodyPr/>
                    <a:lstStyle/>
                    <a:p>
                      <a:pPr algn="ctr">
                        <a:spcAft>
                          <a:spcPts val="0"/>
                        </a:spcAft>
                      </a:pPr>
                      <a:r>
                        <a:rPr lang="en-US" sz="2700" b="0" dirty="0">
                          <a:effectLst/>
                        </a:rPr>
                        <a:t>F</a:t>
                      </a:r>
                      <a:endParaRPr lang="en-US" sz="800" b="0" dirty="0">
                        <a:effectLst/>
                        <a:latin typeface="Times New Roman" panose="02020603050405020304" pitchFamily="18" charset="0"/>
                        <a:ea typeface="Times New Roman" panose="02020603050405020304" pitchFamily="18" charset="0"/>
                      </a:endParaRPr>
                    </a:p>
                  </a:txBody>
                  <a:tcPr marL="51435" marR="51435" marT="0" marB="0"/>
                </a:tc>
                <a:tc>
                  <a:txBody>
                    <a:bodyPr/>
                    <a:lstStyle/>
                    <a:p>
                      <a:pPr algn="ctr">
                        <a:spcAft>
                          <a:spcPts val="0"/>
                        </a:spcAft>
                      </a:pPr>
                      <a:r>
                        <a:rPr lang="en-US" sz="2700" b="0" dirty="0">
                          <a:effectLst/>
                          <a:latin typeface="Cambria" panose="02040503050406030204" pitchFamily="18" charset="0"/>
                        </a:rPr>
                        <a:t>F</a:t>
                      </a:r>
                      <a:endParaRPr lang="en-US" sz="800" b="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411480">
                <a:tc>
                  <a:txBody>
                    <a:bodyPr/>
                    <a:lstStyle/>
                    <a:p>
                      <a:pPr algn="ctr">
                        <a:spcAft>
                          <a:spcPts val="0"/>
                        </a:spcAft>
                      </a:pPr>
                      <a:r>
                        <a:rPr lang="en-US" sz="2700" b="0" dirty="0">
                          <a:effectLst/>
                        </a:rPr>
                        <a:t>F</a:t>
                      </a:r>
                      <a:endParaRPr lang="en-US" sz="800" b="0" dirty="0">
                        <a:effectLst/>
                        <a:latin typeface="Times New Roman" panose="02020603050405020304" pitchFamily="18" charset="0"/>
                        <a:ea typeface="Times New Roman" panose="02020603050405020304" pitchFamily="18" charset="0"/>
                      </a:endParaRPr>
                    </a:p>
                  </a:txBody>
                  <a:tcPr marL="51435" marR="51435" marT="0" marB="0"/>
                </a:tc>
                <a:tc>
                  <a:txBody>
                    <a:bodyPr/>
                    <a:lstStyle/>
                    <a:p>
                      <a:pPr algn="ctr">
                        <a:spcAft>
                          <a:spcPts val="0"/>
                        </a:spcAft>
                      </a:pPr>
                      <a:r>
                        <a:rPr lang="en-US" sz="2700" b="0" dirty="0">
                          <a:effectLst/>
                        </a:rPr>
                        <a:t>T</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2"/>
                  </a:ext>
                </a:extLst>
              </a:tr>
              <a:tr h="411480">
                <a:tc>
                  <a:txBody>
                    <a:bodyPr/>
                    <a:lstStyle/>
                    <a:p>
                      <a:pPr algn="ctr">
                        <a:spcAft>
                          <a:spcPts val="0"/>
                        </a:spcAft>
                      </a:pPr>
                      <a:r>
                        <a:rPr lang="en-US" sz="2700" b="0" dirty="0">
                          <a:effectLst/>
                        </a:rPr>
                        <a:t>T</a:t>
                      </a:r>
                      <a:endParaRPr lang="en-US" sz="800" b="0" dirty="0">
                        <a:effectLst/>
                        <a:latin typeface="Times New Roman" panose="02020603050405020304" pitchFamily="18" charset="0"/>
                        <a:ea typeface="Times New Roman" panose="02020603050405020304" pitchFamily="18" charset="0"/>
                      </a:endParaRPr>
                    </a:p>
                  </a:txBody>
                  <a:tcPr marL="51435" marR="51435" marT="0" marB="0"/>
                </a:tc>
                <a:tc>
                  <a:txBody>
                    <a:bodyPr/>
                    <a:lstStyle/>
                    <a:p>
                      <a:pPr algn="ctr">
                        <a:spcAft>
                          <a:spcPts val="0"/>
                        </a:spcAft>
                      </a:pPr>
                      <a:r>
                        <a:rPr lang="en-US" sz="2700" b="0" dirty="0">
                          <a:effectLst/>
                        </a:rPr>
                        <a:t>F</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3"/>
                  </a:ext>
                </a:extLst>
              </a:tr>
              <a:tr h="411480">
                <a:tc>
                  <a:txBody>
                    <a:bodyPr/>
                    <a:lstStyle/>
                    <a:p>
                      <a:pPr algn="ctr">
                        <a:spcAft>
                          <a:spcPts val="0"/>
                        </a:spcAft>
                      </a:pPr>
                      <a:r>
                        <a:rPr lang="en-US" sz="2700" b="0" dirty="0">
                          <a:effectLst/>
                        </a:rPr>
                        <a:t>T</a:t>
                      </a:r>
                      <a:endParaRPr lang="en-US" sz="800" b="0" dirty="0">
                        <a:effectLst/>
                        <a:latin typeface="Times New Roman" panose="02020603050405020304" pitchFamily="18" charset="0"/>
                        <a:ea typeface="Times New Roman" panose="02020603050405020304" pitchFamily="18" charset="0"/>
                      </a:endParaRPr>
                    </a:p>
                  </a:txBody>
                  <a:tcPr marL="51435" marR="51435" marT="0" marB="0"/>
                </a:tc>
                <a:tc>
                  <a:txBody>
                    <a:bodyPr/>
                    <a:lstStyle/>
                    <a:p>
                      <a:pPr algn="ctr">
                        <a:spcAft>
                          <a:spcPts val="0"/>
                        </a:spcAft>
                      </a:pPr>
                      <a:r>
                        <a:rPr lang="en-US" sz="2700" b="0" dirty="0">
                          <a:effectLst/>
                        </a:rPr>
                        <a:t>T</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4"/>
                  </a:ext>
                </a:extLst>
              </a:tr>
            </a:tbl>
          </a:graphicData>
        </a:graphic>
      </p:graphicFrame>
      <p:graphicFrame>
        <p:nvGraphicFramePr>
          <p:cNvPr id="8" name="Table 7">
            <a:extLst>
              <a:ext uri="{FF2B5EF4-FFF2-40B4-BE49-F238E27FC236}">
                <a16:creationId xmlns:a16="http://schemas.microsoft.com/office/drawing/2014/main" id="{C14EC592-B725-487F-9CE8-5EC4A54793F4}"/>
              </a:ext>
            </a:extLst>
          </p:cNvPr>
          <p:cNvGraphicFramePr>
            <a:graphicFrameLocks noGrp="1"/>
          </p:cNvGraphicFramePr>
          <p:nvPr>
            <p:extLst>
              <p:ext uri="{D42A27DB-BD31-4B8C-83A1-F6EECF244321}">
                <p14:modId xmlns:p14="http://schemas.microsoft.com/office/powerpoint/2010/main" val="191210243"/>
              </p:ext>
            </p:extLst>
          </p:nvPr>
        </p:nvGraphicFramePr>
        <p:xfrm>
          <a:off x="2168017" y="2011887"/>
          <a:ext cx="617220" cy="2057400"/>
        </p:xfrm>
        <a:graphic>
          <a:graphicData uri="http://schemas.openxmlformats.org/drawingml/2006/table">
            <a:tbl>
              <a:tblPr firstRow="1" firstCol="1" bandRow="1" bandCol="1">
                <a:tableStyleId>{5A111915-BE36-4E01-A7E5-04B1672EAD32}</a:tableStyleId>
              </a:tblPr>
              <a:tblGrid>
                <a:gridCol w="617220">
                  <a:extLst>
                    <a:ext uri="{9D8B030D-6E8A-4147-A177-3AD203B41FA5}">
                      <a16:colId xmlns:a16="http://schemas.microsoft.com/office/drawing/2014/main" val="20002"/>
                    </a:ext>
                  </a:extLst>
                </a:gridCol>
              </a:tblGrid>
              <a:tr h="411480">
                <a:tc>
                  <a:txBody>
                    <a:bodyPr/>
                    <a:lstStyle/>
                    <a:p>
                      <a:pPr algn="ctr">
                        <a:spcAft>
                          <a:spcPts val="0"/>
                        </a:spcAft>
                      </a:pPr>
                      <a:r>
                        <a:rPr lang="en-US" sz="2700" dirty="0">
                          <a:effectLst/>
                          <a:latin typeface="Cambria" panose="02040503050406030204" pitchFamily="18" charset="0"/>
                          <a:sym typeface="Symbol" panose="05050102010706020507" pitchFamily="18" charset="2"/>
                        </a:rPr>
                        <a:t></a:t>
                      </a:r>
                      <a:r>
                        <a:rPr lang="en-US" sz="2700" i="1" dirty="0">
                          <a:effectLst/>
                          <a:latin typeface="Cambria" panose="02040503050406030204" pitchFamily="18" charset="0"/>
                        </a:rPr>
                        <a:t>q</a:t>
                      </a:r>
                      <a:endParaRPr lang="en-US" sz="800" i="1"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411480">
                <a:tc>
                  <a:txBody>
                    <a:bodyPr/>
                    <a:lstStyle/>
                    <a:p>
                      <a:pPr algn="ctr">
                        <a:spcAft>
                          <a:spcPts val="0"/>
                        </a:spcAft>
                      </a:pPr>
                      <a:r>
                        <a:rPr lang="en-US" sz="2700" b="0" dirty="0">
                          <a:effectLst/>
                          <a:latin typeface="Cambria" panose="02040503050406030204" pitchFamily="18" charset="0"/>
                        </a:rPr>
                        <a:t>T</a:t>
                      </a:r>
                      <a:endParaRPr lang="en-US" sz="800" b="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411480">
                <a:tc>
                  <a:txBody>
                    <a:bodyPr/>
                    <a:lstStyle/>
                    <a:p>
                      <a:pPr algn="ctr">
                        <a:spcAft>
                          <a:spcPts val="0"/>
                        </a:spcAft>
                      </a:pPr>
                      <a:r>
                        <a:rPr lang="en-US" sz="2700" b="0" dirty="0">
                          <a:effectLst/>
                          <a:latin typeface="Cambria" panose="02040503050406030204" pitchFamily="18" charset="0"/>
                        </a:rPr>
                        <a:t>F</a:t>
                      </a:r>
                      <a:endParaRPr lang="en-US" sz="800" b="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2"/>
                  </a:ext>
                </a:extLst>
              </a:tr>
              <a:tr h="411480">
                <a:tc>
                  <a:txBody>
                    <a:bodyPr/>
                    <a:lstStyle/>
                    <a:p>
                      <a:pPr algn="ctr">
                        <a:spcAft>
                          <a:spcPts val="0"/>
                        </a:spcAft>
                      </a:pPr>
                      <a:r>
                        <a:rPr lang="en-US" sz="2700" b="0" dirty="0">
                          <a:effectLst/>
                          <a:latin typeface="Cambria" panose="02040503050406030204" pitchFamily="18" charset="0"/>
                        </a:rPr>
                        <a:t>T</a:t>
                      </a:r>
                      <a:endParaRPr lang="en-US" sz="800" b="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3"/>
                  </a:ext>
                </a:extLst>
              </a:tr>
              <a:tr h="411480">
                <a:tc>
                  <a:txBody>
                    <a:bodyPr/>
                    <a:lstStyle/>
                    <a:p>
                      <a:pPr algn="ctr">
                        <a:spcAft>
                          <a:spcPts val="0"/>
                        </a:spcAft>
                      </a:pPr>
                      <a:r>
                        <a:rPr lang="en-US" sz="2700" b="0" dirty="0">
                          <a:effectLst/>
                          <a:latin typeface="Cambria" panose="02040503050406030204" pitchFamily="18" charset="0"/>
                        </a:rPr>
                        <a:t>F</a:t>
                      </a:r>
                      <a:endParaRPr lang="en-US" sz="800" b="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E15141E0-5F23-4B92-A4C3-EA817E7CBB40}"/>
              </a:ext>
            </a:extLst>
          </p:cNvPr>
          <p:cNvGraphicFramePr>
            <a:graphicFrameLocks noGrp="1"/>
          </p:cNvGraphicFramePr>
          <p:nvPr>
            <p:extLst>
              <p:ext uri="{D42A27DB-BD31-4B8C-83A1-F6EECF244321}">
                <p14:modId xmlns:p14="http://schemas.microsoft.com/office/powerpoint/2010/main" val="2511701585"/>
              </p:ext>
            </p:extLst>
          </p:nvPr>
        </p:nvGraphicFramePr>
        <p:xfrm>
          <a:off x="1550797" y="2011887"/>
          <a:ext cx="617220" cy="2057400"/>
        </p:xfrm>
        <a:graphic>
          <a:graphicData uri="http://schemas.openxmlformats.org/drawingml/2006/table">
            <a:tbl>
              <a:tblPr firstRow="1" firstCol="1" bandRow="1" bandCol="1">
                <a:tableStyleId>{5A111915-BE36-4E01-A7E5-04B1672EAD32}</a:tableStyleId>
              </a:tblPr>
              <a:tblGrid>
                <a:gridCol w="617220">
                  <a:extLst>
                    <a:ext uri="{9D8B030D-6E8A-4147-A177-3AD203B41FA5}">
                      <a16:colId xmlns:a16="http://schemas.microsoft.com/office/drawing/2014/main" val="20003"/>
                    </a:ext>
                  </a:extLst>
                </a:gridCol>
              </a:tblGrid>
              <a:tr h="411480">
                <a:tc>
                  <a:txBody>
                    <a:bodyPr/>
                    <a:lstStyle/>
                    <a:p>
                      <a:pPr algn="ctr">
                        <a:spcAft>
                          <a:spcPts val="0"/>
                        </a:spcAft>
                      </a:pPr>
                      <a:r>
                        <a:rPr lang="en-US" sz="2700" dirty="0">
                          <a:effectLst/>
                          <a:sym typeface="Symbol" panose="05050102010706020507" pitchFamily="18" charset="2"/>
                        </a:rPr>
                        <a:t></a:t>
                      </a:r>
                      <a:r>
                        <a:rPr lang="en-US" sz="2700" i="1" dirty="0">
                          <a:effectLst/>
                        </a:rPr>
                        <a:t>p</a:t>
                      </a:r>
                      <a:endParaRPr lang="en-US" sz="800" i="1"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411480">
                <a:tc>
                  <a:txBody>
                    <a:bodyPr/>
                    <a:lstStyle/>
                    <a:p>
                      <a:pPr algn="ctr">
                        <a:spcAft>
                          <a:spcPts val="0"/>
                        </a:spcAft>
                      </a:pPr>
                      <a:r>
                        <a:rPr lang="en-US" sz="2700" b="0" dirty="0">
                          <a:effectLst/>
                        </a:rPr>
                        <a:t>T</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411480">
                <a:tc>
                  <a:txBody>
                    <a:bodyPr/>
                    <a:lstStyle/>
                    <a:p>
                      <a:pPr algn="ctr">
                        <a:spcAft>
                          <a:spcPts val="0"/>
                        </a:spcAft>
                      </a:pPr>
                      <a:r>
                        <a:rPr lang="en-US" sz="2700" b="0" dirty="0">
                          <a:effectLst/>
                        </a:rPr>
                        <a:t>T</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2"/>
                  </a:ext>
                </a:extLst>
              </a:tr>
              <a:tr h="411480">
                <a:tc>
                  <a:txBody>
                    <a:bodyPr/>
                    <a:lstStyle/>
                    <a:p>
                      <a:pPr algn="ctr">
                        <a:spcAft>
                          <a:spcPts val="0"/>
                        </a:spcAft>
                      </a:pPr>
                      <a:r>
                        <a:rPr lang="en-US" sz="2700" b="0" dirty="0">
                          <a:effectLst/>
                        </a:rPr>
                        <a:t>F</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3"/>
                  </a:ext>
                </a:extLst>
              </a:tr>
              <a:tr h="411480">
                <a:tc>
                  <a:txBody>
                    <a:bodyPr/>
                    <a:lstStyle/>
                    <a:p>
                      <a:pPr algn="ctr">
                        <a:spcAft>
                          <a:spcPts val="0"/>
                        </a:spcAft>
                      </a:pPr>
                      <a:r>
                        <a:rPr lang="en-US" sz="2700" b="0" dirty="0">
                          <a:effectLst/>
                        </a:rPr>
                        <a:t>F</a:t>
                      </a:r>
                      <a:endParaRPr lang="en-US" sz="800" b="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06B37FB1-D01C-48A3-A68F-CECF1E0477E2}"/>
              </a:ext>
            </a:extLst>
          </p:cNvPr>
          <p:cNvGraphicFramePr>
            <a:graphicFrameLocks noGrp="1"/>
          </p:cNvGraphicFramePr>
          <p:nvPr>
            <p:extLst>
              <p:ext uri="{D42A27DB-BD31-4B8C-83A1-F6EECF244321}">
                <p14:modId xmlns:p14="http://schemas.microsoft.com/office/powerpoint/2010/main" val="1625874527"/>
              </p:ext>
            </p:extLst>
          </p:nvPr>
        </p:nvGraphicFramePr>
        <p:xfrm>
          <a:off x="2777072" y="2011887"/>
          <a:ext cx="1050608" cy="2057400"/>
        </p:xfrm>
        <a:graphic>
          <a:graphicData uri="http://schemas.openxmlformats.org/drawingml/2006/table">
            <a:tbl>
              <a:tblPr firstRow="1" firstCol="1" bandRow="1" bandCol="1">
                <a:tableStyleId>{5A111915-BE36-4E01-A7E5-04B1672EAD32}</a:tableStyleId>
              </a:tblPr>
              <a:tblGrid>
                <a:gridCol w="1050608">
                  <a:extLst>
                    <a:ext uri="{9D8B030D-6E8A-4147-A177-3AD203B41FA5}">
                      <a16:colId xmlns:a16="http://schemas.microsoft.com/office/drawing/2014/main" val="20004"/>
                    </a:ext>
                  </a:extLst>
                </a:gridCol>
              </a:tblGrid>
              <a:tr h="411480">
                <a:tc>
                  <a:txBody>
                    <a:bodyPr/>
                    <a:lstStyle/>
                    <a:p>
                      <a:pPr algn="ctr">
                        <a:spcAft>
                          <a:spcPts val="0"/>
                        </a:spcAft>
                      </a:pPr>
                      <a:r>
                        <a:rPr lang="en-US" sz="2700" i="1" dirty="0">
                          <a:effectLst/>
                          <a:latin typeface="Cambria" panose="02040503050406030204" pitchFamily="18" charset="0"/>
                        </a:rPr>
                        <a:t>p</a:t>
                      </a:r>
                      <a:r>
                        <a:rPr lang="en-US" sz="2700" dirty="0">
                          <a:effectLst/>
                          <a:latin typeface="Cambria" panose="02040503050406030204" pitchFamily="18" charset="0"/>
                        </a:rPr>
                        <a:t> </a:t>
                      </a:r>
                      <a:r>
                        <a:rPr lang="en-US" sz="2700" dirty="0">
                          <a:effectLst/>
                          <a:latin typeface="Cambria" panose="02040503050406030204" pitchFamily="18" charset="0"/>
                          <a:sym typeface="Symbol" panose="05050102010706020507" pitchFamily="18" charset="2"/>
                        </a:rPr>
                        <a:t> </a:t>
                      </a:r>
                      <a:r>
                        <a:rPr lang="en-US" sz="2700" i="1" dirty="0">
                          <a:effectLst/>
                          <a:latin typeface="Cambria" panose="02040503050406030204" pitchFamily="18" charset="0"/>
                        </a:rPr>
                        <a:t>q</a:t>
                      </a:r>
                      <a:endParaRPr lang="en-US" sz="800" i="1"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411480">
                <a:tc>
                  <a:txBody>
                    <a:bodyPr/>
                    <a:lstStyle/>
                    <a:p>
                      <a:pPr algn="ctr">
                        <a:spcAft>
                          <a:spcPts val="0"/>
                        </a:spcAft>
                      </a:pPr>
                      <a:r>
                        <a:rPr lang="en-US" sz="2700" dirty="0">
                          <a:effectLst/>
                          <a:latin typeface="Cambria" panose="02040503050406030204" pitchFamily="18" charset="0"/>
                        </a:rPr>
                        <a:t>T</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411480">
                <a:tc>
                  <a:txBody>
                    <a:bodyPr/>
                    <a:lstStyle/>
                    <a:p>
                      <a:pPr algn="ctr">
                        <a:spcAft>
                          <a:spcPts val="0"/>
                        </a:spcAft>
                      </a:pPr>
                      <a:r>
                        <a:rPr lang="en-US" sz="2700" dirty="0">
                          <a:effectLst/>
                          <a:latin typeface="Cambria" panose="02040503050406030204" pitchFamily="18" charset="0"/>
                        </a:rPr>
                        <a:t>T</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2"/>
                  </a:ext>
                </a:extLst>
              </a:tr>
              <a:tr h="411480">
                <a:tc>
                  <a:txBody>
                    <a:bodyPr/>
                    <a:lstStyle/>
                    <a:p>
                      <a:pPr algn="ctr">
                        <a:spcAft>
                          <a:spcPts val="0"/>
                        </a:spcAft>
                      </a:pPr>
                      <a:r>
                        <a:rPr lang="en-US" sz="2700" dirty="0">
                          <a:effectLst/>
                          <a:latin typeface="Cambria" panose="02040503050406030204" pitchFamily="18" charset="0"/>
                        </a:rPr>
                        <a:t>F</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3"/>
                  </a:ext>
                </a:extLst>
              </a:tr>
              <a:tr h="411480">
                <a:tc>
                  <a:txBody>
                    <a:bodyPr/>
                    <a:lstStyle/>
                    <a:p>
                      <a:pPr algn="ctr">
                        <a:spcAft>
                          <a:spcPts val="0"/>
                        </a:spcAft>
                      </a:pPr>
                      <a:r>
                        <a:rPr lang="en-US" sz="2700" dirty="0">
                          <a:effectLst/>
                          <a:latin typeface="Cambria" panose="02040503050406030204" pitchFamily="18" charset="0"/>
                        </a:rPr>
                        <a:t>T</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01D1368D-E883-4424-8F5B-2F64DF8E8477}"/>
              </a:ext>
            </a:extLst>
          </p:cNvPr>
          <p:cNvGraphicFramePr>
            <a:graphicFrameLocks noGrp="1"/>
          </p:cNvGraphicFramePr>
          <p:nvPr>
            <p:extLst>
              <p:ext uri="{D42A27DB-BD31-4B8C-83A1-F6EECF244321}">
                <p14:modId xmlns:p14="http://schemas.microsoft.com/office/powerpoint/2010/main" val="813964326"/>
              </p:ext>
            </p:extLst>
          </p:nvPr>
        </p:nvGraphicFramePr>
        <p:xfrm>
          <a:off x="3815103" y="2011887"/>
          <a:ext cx="1538764" cy="2057400"/>
        </p:xfrm>
        <a:graphic>
          <a:graphicData uri="http://schemas.openxmlformats.org/drawingml/2006/table">
            <a:tbl>
              <a:tblPr firstRow="1" firstCol="1" bandRow="1" bandCol="1">
                <a:tableStyleId>{5A111915-BE36-4E01-A7E5-04B1672EAD32}</a:tableStyleId>
              </a:tblPr>
              <a:tblGrid>
                <a:gridCol w="1538764">
                  <a:extLst>
                    <a:ext uri="{9D8B030D-6E8A-4147-A177-3AD203B41FA5}">
                      <a16:colId xmlns:a16="http://schemas.microsoft.com/office/drawing/2014/main" val="20005"/>
                    </a:ext>
                  </a:extLst>
                </a:gridCol>
              </a:tblGrid>
              <a:tr h="411480">
                <a:tc>
                  <a:txBody>
                    <a:bodyPr/>
                    <a:lstStyle/>
                    <a:p>
                      <a:pPr algn="ctr">
                        <a:spcAft>
                          <a:spcPts val="0"/>
                        </a:spcAft>
                      </a:pPr>
                      <a:r>
                        <a:rPr lang="en-US" sz="2700" dirty="0">
                          <a:effectLst/>
                          <a:latin typeface="Cambria" panose="02040503050406030204" pitchFamily="18" charset="0"/>
                          <a:sym typeface="Symbol" panose="05050102010706020507" pitchFamily="18" charset="2"/>
                        </a:rPr>
                        <a:t></a:t>
                      </a:r>
                      <a:r>
                        <a:rPr lang="en-US" sz="2700" i="1" dirty="0">
                          <a:effectLst/>
                          <a:latin typeface="Cambria" panose="02040503050406030204" pitchFamily="18" charset="0"/>
                        </a:rPr>
                        <a:t>q</a:t>
                      </a:r>
                      <a:r>
                        <a:rPr lang="en-US" sz="2700" dirty="0">
                          <a:effectLst/>
                          <a:latin typeface="Cambria" panose="02040503050406030204" pitchFamily="18" charset="0"/>
                        </a:rPr>
                        <a:t> </a:t>
                      </a:r>
                      <a:r>
                        <a:rPr lang="en-US" sz="2700" dirty="0">
                          <a:effectLst/>
                          <a:latin typeface="Cambria" panose="02040503050406030204" pitchFamily="18" charset="0"/>
                          <a:sym typeface="Symbol" panose="05050102010706020507" pitchFamily="18" charset="2"/>
                        </a:rPr>
                        <a:t> </a:t>
                      </a:r>
                      <a:r>
                        <a:rPr lang="en-US" sz="2700" i="1" dirty="0">
                          <a:effectLst/>
                          <a:latin typeface="Cambria" panose="02040503050406030204" pitchFamily="18" charset="0"/>
                        </a:rPr>
                        <a:t>p</a:t>
                      </a:r>
                      <a:r>
                        <a:rPr lang="en-US" sz="27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0"/>
                  </a:ext>
                </a:extLst>
              </a:tr>
              <a:tr h="411480">
                <a:tc>
                  <a:txBody>
                    <a:bodyPr/>
                    <a:lstStyle/>
                    <a:p>
                      <a:pPr algn="ctr">
                        <a:spcAft>
                          <a:spcPts val="0"/>
                        </a:spcAft>
                      </a:pPr>
                      <a:r>
                        <a:rPr lang="en-US" sz="2700" dirty="0">
                          <a:effectLst/>
                          <a:latin typeface="Cambria" panose="02040503050406030204" pitchFamily="18" charset="0"/>
                        </a:rPr>
                        <a:t>T</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1"/>
                  </a:ext>
                </a:extLst>
              </a:tr>
              <a:tr h="411480">
                <a:tc>
                  <a:txBody>
                    <a:bodyPr/>
                    <a:lstStyle/>
                    <a:p>
                      <a:pPr algn="ctr">
                        <a:spcAft>
                          <a:spcPts val="0"/>
                        </a:spcAft>
                      </a:pPr>
                      <a:r>
                        <a:rPr lang="en-US" sz="2700" dirty="0">
                          <a:effectLst/>
                          <a:latin typeface="Cambria" panose="02040503050406030204" pitchFamily="18" charset="0"/>
                        </a:rPr>
                        <a:t>T</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2"/>
                  </a:ext>
                </a:extLst>
              </a:tr>
              <a:tr h="411480">
                <a:tc>
                  <a:txBody>
                    <a:bodyPr/>
                    <a:lstStyle/>
                    <a:p>
                      <a:pPr algn="ctr">
                        <a:spcAft>
                          <a:spcPts val="0"/>
                        </a:spcAft>
                      </a:pPr>
                      <a:r>
                        <a:rPr lang="en-US" sz="2700" dirty="0">
                          <a:effectLst/>
                          <a:latin typeface="Cambria" panose="02040503050406030204" pitchFamily="18" charset="0"/>
                        </a:rPr>
                        <a:t>F</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3"/>
                  </a:ext>
                </a:extLst>
              </a:tr>
              <a:tr h="411480">
                <a:tc>
                  <a:txBody>
                    <a:bodyPr/>
                    <a:lstStyle/>
                    <a:p>
                      <a:pPr algn="ctr">
                        <a:spcAft>
                          <a:spcPts val="0"/>
                        </a:spcAft>
                      </a:pPr>
                      <a:r>
                        <a:rPr lang="en-US" sz="2700" dirty="0">
                          <a:effectLst/>
                          <a:latin typeface="Cambria" panose="02040503050406030204" pitchFamily="18" charset="0"/>
                        </a:rPr>
                        <a:t>T</a:t>
                      </a:r>
                      <a:endParaRPr lang="en-US" sz="800" dirty="0">
                        <a:effectLst/>
                        <a:latin typeface="Cambria" panose="020405030504060302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004"/>
                  </a:ext>
                </a:extLst>
              </a:tr>
            </a:tbl>
          </a:graphicData>
        </a:graphic>
      </p:graphicFrame>
      <p:sp>
        <p:nvSpPr>
          <p:cNvPr id="12" name="Oval 11">
            <a:extLst>
              <a:ext uri="{FF2B5EF4-FFF2-40B4-BE49-F238E27FC236}">
                <a16:creationId xmlns:a16="http://schemas.microsoft.com/office/drawing/2014/main" id="{03E33C92-F3AE-4AF7-91B1-0A2E57CC9B7B}"/>
              </a:ext>
            </a:extLst>
          </p:cNvPr>
          <p:cNvSpPr/>
          <p:nvPr/>
        </p:nvSpPr>
        <p:spPr>
          <a:xfrm>
            <a:off x="2993766" y="2412455"/>
            <a:ext cx="617220" cy="1656832"/>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13"/>
          </a:p>
        </p:txBody>
      </p:sp>
      <p:sp>
        <p:nvSpPr>
          <p:cNvPr id="13" name="Oval 12">
            <a:extLst>
              <a:ext uri="{FF2B5EF4-FFF2-40B4-BE49-F238E27FC236}">
                <a16:creationId xmlns:a16="http://schemas.microsoft.com/office/drawing/2014/main" id="{12981580-E291-420A-9F11-2577EE80B59A}"/>
              </a:ext>
            </a:extLst>
          </p:cNvPr>
          <p:cNvSpPr/>
          <p:nvPr/>
        </p:nvSpPr>
        <p:spPr>
          <a:xfrm>
            <a:off x="4282163" y="2412455"/>
            <a:ext cx="617220" cy="1656832"/>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13"/>
          </a:p>
        </p:txBody>
      </p:sp>
      <p:graphicFrame>
        <p:nvGraphicFramePr>
          <p:cNvPr id="15" name="Table 14"/>
          <p:cNvGraphicFramePr>
            <a:graphicFrameLocks noGrp="1"/>
          </p:cNvGraphicFramePr>
          <p:nvPr>
            <p:extLst>
              <p:ext uri="{D42A27DB-BD31-4B8C-83A1-F6EECF244321}">
                <p14:modId xmlns:p14="http://schemas.microsoft.com/office/powerpoint/2010/main" val="3354391401"/>
              </p:ext>
            </p:extLst>
          </p:nvPr>
        </p:nvGraphicFramePr>
        <p:xfrm>
          <a:off x="8281174" y="1879036"/>
          <a:ext cx="3371850" cy="2509808"/>
        </p:xfrm>
        <a:graphic>
          <a:graphicData uri="http://schemas.openxmlformats.org/drawingml/2006/table">
            <a:tbl>
              <a:tblPr firstRow="1" bandRow="1">
                <a:tableStyleId>{8799B23B-EC83-4686-B30A-512413B5E67A}</a:tableStyleId>
              </a:tblPr>
              <a:tblGrid>
                <a:gridCol w="1123583">
                  <a:extLst>
                    <a:ext uri="{9D8B030D-6E8A-4147-A177-3AD203B41FA5}">
                      <a16:colId xmlns:a16="http://schemas.microsoft.com/office/drawing/2014/main" val="20000"/>
                    </a:ext>
                  </a:extLst>
                </a:gridCol>
                <a:gridCol w="1124785">
                  <a:extLst>
                    <a:ext uri="{9D8B030D-6E8A-4147-A177-3AD203B41FA5}">
                      <a16:colId xmlns:a16="http://schemas.microsoft.com/office/drawing/2014/main" val="20001"/>
                    </a:ext>
                  </a:extLst>
                </a:gridCol>
                <a:gridCol w="1123482">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altLang="zh-TW" sz="2400" i="0" dirty="0">
                          <a:ea typeface="新細明體" pitchFamily="18" charset="-120"/>
                          <a:sym typeface="Symbol"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p:sp>
        <p:nvSpPr>
          <p:cNvPr id="14" name="Rectangle 13">
            <a:extLst>
              <a:ext uri="{FF2B5EF4-FFF2-40B4-BE49-F238E27FC236}">
                <a16:creationId xmlns:a16="http://schemas.microsoft.com/office/drawing/2014/main" id="{4240D9C1-D7FC-4EF0-B37E-A39BD04B812A}"/>
              </a:ext>
            </a:extLst>
          </p:cNvPr>
          <p:cNvSpPr/>
          <p:nvPr/>
        </p:nvSpPr>
        <p:spPr>
          <a:xfrm>
            <a:off x="388911" y="5090573"/>
            <a:ext cx="11414177" cy="584775"/>
          </a:xfrm>
          <a:prstGeom prst="rect">
            <a:avLst/>
          </a:prstGeom>
        </p:spPr>
        <p:txBody>
          <a:bodyPr wrap="square">
            <a:spAutoFit/>
          </a:bodyPr>
          <a:lstStyle/>
          <a:p>
            <a:r>
              <a:rPr lang="en-US" sz="3200" dirty="0">
                <a:solidFill>
                  <a:srgbClr val="0070C0"/>
                </a:solidFill>
              </a:rPr>
              <a:t>A conditional statement is logically equivalent to its contrapositive</a:t>
            </a:r>
          </a:p>
        </p:txBody>
      </p:sp>
    </p:spTree>
    <p:extLst>
      <p:ext uri="{BB962C8B-B14F-4D97-AF65-F5344CB8AC3E}">
        <p14:creationId xmlns:p14="http://schemas.microsoft.com/office/powerpoint/2010/main" val="208362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250"/>
                                  </p:stCondLst>
                                  <p:childTnLst>
                                    <p:set>
                                      <p:cBhvr>
                                        <p:cTn id="29" dur="1" fill="hold">
                                          <p:stCondLst>
                                            <p:cond delay="0"/>
                                          </p:stCondLst>
                                        </p:cTn>
                                        <p:tgtEl>
                                          <p:spTgt spid="1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Converse, Inverse, Contrapositive - Example</a:t>
            </a:r>
            <a:endParaRPr lang="en-US" dirty="0"/>
          </a:p>
        </p:txBody>
      </p:sp>
      <p:sp>
        <p:nvSpPr>
          <p:cNvPr id="3" name="Content Placeholder 2"/>
          <p:cNvSpPr>
            <a:spLocks noGrp="1"/>
          </p:cNvSpPr>
          <p:nvPr>
            <p:ph idx="1"/>
          </p:nvPr>
        </p:nvSpPr>
        <p:spPr/>
        <p:txBody>
          <a:bodyPr/>
          <a:lstStyle/>
          <a:p>
            <a:r>
              <a:rPr lang="en-US" dirty="0"/>
              <a:t>Find the contrapositive, the converse, and the inverse of the conditional statement “</a:t>
            </a:r>
            <a:r>
              <a:rPr lang="en-US" dirty="0">
                <a:solidFill>
                  <a:schemeClr val="accent6">
                    <a:lumMod val="75000"/>
                  </a:schemeClr>
                </a:solidFill>
              </a:rPr>
              <a:t>The home team wins </a:t>
            </a:r>
            <a:r>
              <a:rPr lang="en-US" u="sng" dirty="0">
                <a:solidFill>
                  <a:srgbClr val="C00000"/>
                </a:solidFill>
              </a:rPr>
              <a:t>whenever</a:t>
            </a:r>
            <a:r>
              <a:rPr lang="en-US" dirty="0">
                <a:solidFill>
                  <a:schemeClr val="accent6">
                    <a:lumMod val="75000"/>
                  </a:schemeClr>
                </a:solidFill>
              </a:rPr>
              <a:t> it is raining</a:t>
            </a:r>
            <a:r>
              <a:rPr lang="en-US" dirty="0"/>
              <a:t>.”</a:t>
            </a:r>
          </a:p>
          <a:p>
            <a:pPr lvl="1"/>
            <a:r>
              <a:rPr lang="en-US" sz="2800" dirty="0"/>
              <a:t>Rewrite the statement as “</a:t>
            </a:r>
            <a:r>
              <a:rPr lang="en-US" sz="2800" dirty="0">
                <a:solidFill>
                  <a:srgbClr val="339933"/>
                </a:solidFill>
              </a:rPr>
              <a:t>If it is raining, then the home team wins</a:t>
            </a:r>
            <a:r>
              <a:rPr lang="en-US" sz="2800" dirty="0"/>
              <a:t>.”</a:t>
            </a:r>
          </a:p>
          <a:p>
            <a:pPr lvl="1"/>
            <a:r>
              <a:rPr lang="en-US" sz="2800" dirty="0"/>
              <a:t>The inverse (</a:t>
            </a:r>
            <a:r>
              <a:rPr lang="en-US" altLang="zh-TW" sz="2800" dirty="0">
                <a:sym typeface="Symbol" pitchFamily="18" charset="2"/>
              </a:rPr>
              <a:t>¬</a:t>
            </a:r>
            <a:r>
              <a:rPr lang="en-US" altLang="zh-TW" sz="2800" i="1" dirty="0">
                <a:sym typeface="Symbol" pitchFamily="18" charset="2"/>
              </a:rPr>
              <a:t>p</a:t>
            </a:r>
            <a:r>
              <a:rPr lang="en-US" altLang="zh-TW" sz="2800" dirty="0">
                <a:sym typeface="Symbol" pitchFamily="18" charset="2"/>
              </a:rPr>
              <a:t>  ¬</a:t>
            </a:r>
            <a:r>
              <a:rPr lang="en-US" altLang="zh-TW" sz="2800" i="1" dirty="0">
                <a:sym typeface="Symbol" pitchFamily="18" charset="2"/>
              </a:rPr>
              <a:t>q</a:t>
            </a:r>
            <a:r>
              <a:rPr lang="en-US" altLang="zh-TW" sz="2800" dirty="0">
                <a:sym typeface="Symbol" pitchFamily="18" charset="2"/>
              </a:rPr>
              <a:t>): </a:t>
            </a:r>
          </a:p>
          <a:p>
            <a:pPr lvl="2"/>
            <a:r>
              <a:rPr lang="en-US" altLang="zh-TW" sz="2800" dirty="0">
                <a:sym typeface="Symbol" pitchFamily="18" charset="2"/>
              </a:rPr>
              <a:t>“</a:t>
            </a:r>
            <a:r>
              <a:rPr lang="en-US" altLang="zh-TW" sz="2800" dirty="0">
                <a:solidFill>
                  <a:srgbClr val="0000CC"/>
                </a:solidFill>
                <a:sym typeface="Symbol" pitchFamily="18" charset="2"/>
              </a:rPr>
              <a:t>If it is not raining, then the home team does not win</a:t>
            </a:r>
            <a:r>
              <a:rPr lang="en-US" altLang="zh-TW" sz="2800" dirty="0">
                <a:sym typeface="Symbol" pitchFamily="18" charset="2"/>
              </a:rPr>
              <a:t>.”</a:t>
            </a:r>
            <a:endParaRPr lang="en-US" sz="2800" dirty="0"/>
          </a:p>
          <a:p>
            <a:pPr lvl="1"/>
            <a:r>
              <a:rPr lang="en-US" sz="2800" dirty="0"/>
              <a:t>The converse (</a:t>
            </a:r>
            <a:r>
              <a:rPr lang="en-US" altLang="zh-TW" sz="2800" i="1" dirty="0"/>
              <a:t>q</a:t>
            </a:r>
            <a:r>
              <a:rPr lang="en-US" altLang="zh-TW" sz="2800" dirty="0"/>
              <a:t> </a:t>
            </a:r>
            <a:r>
              <a:rPr lang="en-US" altLang="zh-TW" sz="2800" dirty="0">
                <a:sym typeface="Symbol" pitchFamily="18" charset="2"/>
              </a:rPr>
              <a:t> </a:t>
            </a:r>
            <a:r>
              <a:rPr lang="en-US" altLang="zh-TW" sz="2800" i="1" dirty="0">
                <a:sym typeface="Symbol" pitchFamily="18" charset="2"/>
              </a:rPr>
              <a:t>p</a:t>
            </a:r>
            <a:r>
              <a:rPr lang="en-US" altLang="zh-TW" sz="2800" dirty="0">
                <a:sym typeface="Symbol" pitchFamily="18" charset="2"/>
              </a:rPr>
              <a:t>)</a:t>
            </a:r>
            <a:r>
              <a:rPr lang="en-US" sz="2800" dirty="0"/>
              <a:t>: </a:t>
            </a:r>
          </a:p>
          <a:p>
            <a:pPr lvl="2"/>
            <a:r>
              <a:rPr lang="en-US" sz="2800" dirty="0"/>
              <a:t>“</a:t>
            </a:r>
            <a:r>
              <a:rPr lang="en-US" sz="2800" dirty="0">
                <a:solidFill>
                  <a:srgbClr val="0000CC"/>
                </a:solidFill>
              </a:rPr>
              <a:t>If the home team wins, then it is raining</a:t>
            </a:r>
            <a:r>
              <a:rPr lang="en-US" sz="2800" dirty="0"/>
              <a:t>.”</a:t>
            </a:r>
            <a:endParaRPr lang="en-US" sz="2400" dirty="0"/>
          </a:p>
          <a:p>
            <a:pPr lvl="1"/>
            <a:r>
              <a:rPr lang="en-US" sz="2800" dirty="0"/>
              <a:t>The contrapositive (</a:t>
            </a:r>
            <a:r>
              <a:rPr lang="en-US" altLang="zh-TW" sz="2800" dirty="0"/>
              <a:t>¬</a:t>
            </a:r>
            <a:r>
              <a:rPr lang="en-US" altLang="zh-TW" sz="2800" i="1" dirty="0"/>
              <a:t>q</a:t>
            </a:r>
            <a:r>
              <a:rPr lang="en-US" altLang="zh-TW" sz="2800" dirty="0"/>
              <a:t> </a:t>
            </a:r>
            <a:r>
              <a:rPr lang="en-US" altLang="zh-TW" sz="2800" dirty="0">
                <a:sym typeface="Symbol" pitchFamily="18" charset="2"/>
              </a:rPr>
              <a:t> </a:t>
            </a:r>
            <a:r>
              <a:rPr lang="en-US" altLang="zh-TW" sz="2800" dirty="0"/>
              <a:t>¬</a:t>
            </a:r>
            <a:r>
              <a:rPr lang="en-US" altLang="zh-TW" sz="2800" i="1" dirty="0"/>
              <a:t>p</a:t>
            </a:r>
            <a:r>
              <a:rPr lang="en-US" altLang="zh-TW" sz="2800" dirty="0"/>
              <a:t>) :</a:t>
            </a:r>
            <a:endParaRPr lang="en-US" sz="2800" dirty="0"/>
          </a:p>
          <a:p>
            <a:pPr lvl="2"/>
            <a:r>
              <a:rPr lang="en-US" sz="2800" dirty="0"/>
              <a:t>“</a:t>
            </a:r>
            <a:r>
              <a:rPr lang="en-US" sz="2800" dirty="0">
                <a:solidFill>
                  <a:srgbClr val="0000CC"/>
                </a:solidFill>
              </a:rPr>
              <a:t>If the home team does not win, then it is not raining</a:t>
            </a:r>
            <a:r>
              <a:rPr lang="en-US" sz="2800" dirty="0"/>
              <a:t>.”</a:t>
            </a:r>
            <a:endParaRPr lang="en-US" sz="2400"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36</a:t>
            </a:fld>
            <a:endParaRPr lang="en-US"/>
          </a:p>
        </p:txBody>
      </p:sp>
    </p:spTree>
    <p:extLst>
      <p:ext uri="{BB962C8B-B14F-4D97-AF65-F5344CB8AC3E}">
        <p14:creationId xmlns:p14="http://schemas.microsoft.com/office/powerpoint/2010/main" val="92118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Biconditional Operator “</a:t>
            </a:r>
            <a:r>
              <a:rPr lang="en-US" altLang="zh-TW" dirty="0">
                <a:sym typeface="Symbol" pitchFamily="18" charset="2"/>
              </a:rPr>
              <a:t></a:t>
            </a:r>
            <a:r>
              <a:rPr lang="en-US" dirty="0"/>
              <a:t>”</a:t>
            </a:r>
          </a:p>
        </p:txBody>
      </p:sp>
      <p:sp>
        <p:nvSpPr>
          <p:cNvPr id="3" name="Content Placeholder 2"/>
          <p:cNvSpPr>
            <a:spLocks noGrp="1"/>
          </p:cNvSpPr>
          <p:nvPr>
            <p:ph idx="1"/>
          </p:nvPr>
        </p:nvSpPr>
        <p:spPr/>
        <p:txBody>
          <a:bodyPr/>
          <a:lstStyle/>
          <a:p>
            <a:r>
              <a:rPr lang="en-US" altLang="zh-TW" dirty="0"/>
              <a:t>The </a:t>
            </a:r>
            <a:r>
              <a:rPr lang="en-US" altLang="zh-TW" i="1" dirty="0" err="1">
                <a:solidFill>
                  <a:srgbClr val="C00000"/>
                </a:solidFill>
              </a:rPr>
              <a:t>biconditional</a:t>
            </a:r>
            <a:r>
              <a:rPr lang="en-US" altLang="zh-TW" dirty="0">
                <a:solidFill>
                  <a:srgbClr val="C00000"/>
                </a:solidFill>
              </a:rPr>
              <a:t> </a:t>
            </a:r>
            <a:r>
              <a:rPr lang="en-US" altLang="zh-TW" i="1" dirty="0">
                <a:solidFill>
                  <a:srgbClr val="C00000"/>
                </a:solidFill>
              </a:rPr>
              <a:t>p </a:t>
            </a:r>
            <a:r>
              <a:rPr lang="en-US" altLang="zh-TW" dirty="0">
                <a:solidFill>
                  <a:srgbClr val="C00000"/>
                </a:solidFill>
                <a:sym typeface="Symbol" pitchFamily="18" charset="2"/>
              </a:rPr>
              <a:t> </a:t>
            </a:r>
            <a:r>
              <a:rPr lang="en-US" altLang="zh-TW" i="1" dirty="0">
                <a:solidFill>
                  <a:srgbClr val="C00000"/>
                </a:solidFill>
                <a:sym typeface="Symbol" pitchFamily="18" charset="2"/>
              </a:rPr>
              <a:t>q </a:t>
            </a:r>
            <a:r>
              <a:rPr lang="en-US" altLang="zh-TW" dirty="0">
                <a:sym typeface="Symbol" pitchFamily="18" charset="2"/>
              </a:rPr>
              <a:t>states that </a:t>
            </a:r>
            <a:r>
              <a:rPr lang="en-US" altLang="zh-TW" i="1" dirty="0">
                <a:sym typeface="Symbol" pitchFamily="18" charset="2"/>
              </a:rPr>
              <a:t>p</a:t>
            </a:r>
            <a:r>
              <a:rPr lang="en-US" altLang="zh-TW" dirty="0">
                <a:sym typeface="Symbol" pitchFamily="18" charset="2"/>
              </a:rPr>
              <a:t> is true </a:t>
            </a:r>
            <a:r>
              <a:rPr lang="en-US" altLang="zh-TW" i="1" dirty="0">
                <a:solidFill>
                  <a:srgbClr val="C00000"/>
                </a:solidFill>
                <a:sym typeface="Symbol" pitchFamily="18" charset="2"/>
              </a:rPr>
              <a:t>if and only if</a:t>
            </a:r>
            <a:r>
              <a:rPr lang="en-US" altLang="zh-TW" dirty="0">
                <a:solidFill>
                  <a:srgbClr val="C00000"/>
                </a:solidFill>
                <a:sym typeface="Symbol" pitchFamily="18" charset="2"/>
              </a:rPr>
              <a:t> (IFF)</a:t>
            </a:r>
            <a:r>
              <a:rPr lang="en-US" altLang="zh-TW" i="1" dirty="0">
                <a:solidFill>
                  <a:srgbClr val="C00000"/>
                </a:solidFill>
                <a:sym typeface="Symbol" pitchFamily="18" charset="2"/>
              </a:rPr>
              <a:t> </a:t>
            </a:r>
            <a:r>
              <a:rPr lang="en-US" altLang="zh-TW" i="1" dirty="0">
                <a:sym typeface="Symbol" pitchFamily="18" charset="2"/>
              </a:rPr>
              <a:t>q</a:t>
            </a:r>
            <a:r>
              <a:rPr lang="en-US" altLang="zh-TW" dirty="0">
                <a:sym typeface="Symbol" pitchFamily="18" charset="2"/>
              </a:rPr>
              <a:t> is true</a:t>
            </a:r>
          </a:p>
          <a:p>
            <a:r>
              <a:rPr lang="en-US" altLang="zh-TW" dirty="0">
                <a:sym typeface="Symbol" pitchFamily="18" charset="2"/>
              </a:rPr>
              <a:t>Example:</a:t>
            </a:r>
          </a:p>
          <a:p>
            <a:pPr lvl="1"/>
            <a:r>
              <a:rPr lang="en-US" altLang="zh-TW" i="1" dirty="0">
                <a:sym typeface="Symbol" pitchFamily="18" charset="2"/>
              </a:rPr>
              <a:t>p </a:t>
            </a:r>
            <a:r>
              <a:rPr lang="en-US" altLang="zh-TW" dirty="0">
                <a:sym typeface="Symbol" pitchFamily="18" charset="2"/>
              </a:rPr>
              <a:t>= “Ali wins the club election.”</a:t>
            </a:r>
          </a:p>
          <a:p>
            <a:pPr lvl="1"/>
            <a:r>
              <a:rPr lang="en-US" altLang="zh-TW" i="1" dirty="0">
                <a:sym typeface="Symbol" pitchFamily="18" charset="2"/>
              </a:rPr>
              <a:t>q</a:t>
            </a:r>
            <a:r>
              <a:rPr lang="en-US" altLang="zh-TW" dirty="0">
                <a:sym typeface="Symbol" pitchFamily="18" charset="2"/>
              </a:rPr>
              <a:t> =</a:t>
            </a:r>
            <a:r>
              <a:rPr lang="en-US" altLang="zh-TW" i="1" dirty="0">
                <a:sym typeface="Symbol" pitchFamily="18" charset="2"/>
              </a:rPr>
              <a:t> </a:t>
            </a:r>
            <a:r>
              <a:rPr lang="en-US" altLang="zh-TW" dirty="0">
                <a:sym typeface="Symbol" pitchFamily="18" charset="2"/>
              </a:rPr>
              <a:t>“Ali will be the president of the club for this year.”</a:t>
            </a:r>
          </a:p>
          <a:p>
            <a:pPr lvl="1"/>
            <a:r>
              <a:rPr lang="en-US" altLang="zh-TW" i="1" dirty="0"/>
              <a:t>p </a:t>
            </a:r>
            <a:r>
              <a:rPr lang="en-US" altLang="zh-TW" dirty="0">
                <a:sym typeface="Symbol" pitchFamily="18" charset="2"/>
              </a:rPr>
              <a:t> </a:t>
            </a:r>
            <a:r>
              <a:rPr lang="en-US" altLang="zh-TW" i="1" dirty="0">
                <a:sym typeface="Symbol" pitchFamily="18" charset="2"/>
              </a:rPr>
              <a:t>q = </a:t>
            </a:r>
            <a:r>
              <a:rPr lang="en-US" altLang="zh-TW" dirty="0">
                <a:sym typeface="Symbol" pitchFamily="18" charset="2"/>
              </a:rPr>
              <a:t>“If, and only if, Ali wins the club election, Ali will be the president of the club for this year.”</a:t>
            </a:r>
            <a:endParaRPr lang="en-US" altLang="zh-TW" i="1" dirty="0">
              <a:sym typeface="Symbol" pitchFamily="18" charset="2"/>
            </a:endParaRPr>
          </a:p>
          <a:p>
            <a:endParaRPr lang="en-US"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37</a:t>
            </a:fld>
            <a:endParaRPr lang="en-US"/>
          </a:p>
        </p:txBody>
      </p:sp>
    </p:spTree>
    <p:extLst>
      <p:ext uri="{BB962C8B-B14F-4D97-AF65-F5344CB8AC3E}">
        <p14:creationId xmlns:p14="http://schemas.microsoft.com/office/powerpoint/2010/main" val="3722820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Biconditional Operator “</a:t>
            </a:r>
            <a:r>
              <a:rPr lang="en-US" altLang="zh-TW" dirty="0">
                <a:sym typeface="Symbol" pitchFamily="18" charset="2"/>
              </a:rPr>
              <a:t></a:t>
            </a:r>
            <a:r>
              <a:rPr lang="en-US" dirty="0"/>
              <a:t>” - Truth Table</a:t>
            </a:r>
          </a:p>
        </p:txBody>
      </p:sp>
      <p:sp>
        <p:nvSpPr>
          <p:cNvPr id="3" name="Content Placeholder 2"/>
          <p:cNvSpPr>
            <a:spLocks noGrp="1"/>
          </p:cNvSpPr>
          <p:nvPr>
            <p:ph idx="1"/>
          </p:nvPr>
        </p:nvSpPr>
        <p:spPr/>
        <p:txBody>
          <a:bodyPr>
            <a:normAutofit fontScale="92500" lnSpcReduction="20000"/>
          </a:bodyPr>
          <a:lstStyle/>
          <a:p>
            <a:pPr lvl="0"/>
            <a:r>
              <a:rPr lang="en-US" i="1" dirty="0"/>
              <a:t>p</a:t>
            </a:r>
            <a:r>
              <a:rPr lang="en-US" dirty="0"/>
              <a:t> </a:t>
            </a:r>
            <a:r>
              <a:rPr lang="en-US" dirty="0">
                <a:latin typeface="Cambria" panose="02040503050406030204" pitchFamily="18" charset="0"/>
                <a:sym typeface="Symbol" panose="05050102010706020507" pitchFamily="18" charset="2"/>
              </a:rPr>
              <a:t></a:t>
            </a:r>
            <a:r>
              <a:rPr lang="en-US" dirty="0"/>
              <a:t> </a:t>
            </a:r>
            <a:r>
              <a:rPr lang="en-US" i="1" dirty="0"/>
              <a:t>q</a:t>
            </a:r>
            <a:r>
              <a:rPr lang="en-US" dirty="0"/>
              <a:t> means that </a:t>
            </a:r>
            <a:r>
              <a:rPr lang="en-US" i="1" dirty="0"/>
              <a:t>p</a:t>
            </a:r>
            <a:r>
              <a:rPr lang="en-US" dirty="0"/>
              <a:t> and </a:t>
            </a:r>
            <a:r>
              <a:rPr lang="en-US" i="1" dirty="0"/>
              <a:t>q</a:t>
            </a:r>
            <a:r>
              <a:rPr lang="en-US" dirty="0"/>
              <a:t> have the </a:t>
            </a:r>
            <a:r>
              <a:rPr lang="en-US" dirty="0">
                <a:solidFill>
                  <a:srgbClr val="C00000"/>
                </a:solidFill>
              </a:rPr>
              <a:t>same</a:t>
            </a:r>
            <a:r>
              <a:rPr lang="en-US" dirty="0"/>
              <a:t> truth value</a:t>
            </a:r>
          </a:p>
          <a:p>
            <a:pPr lvl="1"/>
            <a:r>
              <a:rPr lang="en-US" altLang="zh-TW" dirty="0"/>
              <a:t>p </a:t>
            </a:r>
            <a:r>
              <a:rPr lang="en-US" altLang="zh-TW" dirty="0">
                <a:sym typeface="Symbol" pitchFamily="18" charset="2"/>
              </a:rPr>
              <a:t></a:t>
            </a:r>
            <a:r>
              <a:rPr lang="en-US" altLang="zh-TW" dirty="0"/>
              <a:t> q is equivalent to p </a:t>
            </a:r>
            <a:r>
              <a:rPr lang="en-US" altLang="zh-TW" dirty="0">
                <a:sym typeface="Symbol" panose="05050102010706020507" pitchFamily="18" charset="2"/>
              </a:rPr>
              <a:t></a:t>
            </a:r>
            <a:r>
              <a:rPr lang="en-US" altLang="zh-TW" dirty="0"/>
              <a:t> q</a:t>
            </a:r>
          </a:p>
          <a:p>
            <a:pPr lvl="1"/>
            <a:r>
              <a:rPr lang="en-US" altLang="zh-TW" dirty="0"/>
              <a:t>q </a:t>
            </a:r>
            <a:r>
              <a:rPr lang="en-US" altLang="zh-TW" dirty="0">
                <a:sym typeface="Symbol" pitchFamily="18" charset="2"/>
              </a:rPr>
              <a:t></a:t>
            </a:r>
            <a:r>
              <a:rPr lang="en-US" altLang="zh-TW" dirty="0"/>
              <a:t> p is equivalent to q </a:t>
            </a:r>
            <a:r>
              <a:rPr lang="en-US" altLang="zh-TW" dirty="0">
                <a:sym typeface="Symbol" panose="05050102010706020507" pitchFamily="18" charset="2"/>
              </a:rPr>
              <a:t></a:t>
            </a:r>
            <a:r>
              <a:rPr lang="en-US" altLang="zh-TW" dirty="0"/>
              <a:t> p </a:t>
            </a:r>
          </a:p>
          <a:p>
            <a:pPr lvl="1"/>
            <a:r>
              <a:rPr lang="en-US" altLang="zh-TW" dirty="0"/>
              <a:t> Thus, q </a:t>
            </a:r>
            <a:r>
              <a:rPr lang="en-US" altLang="zh-TW" dirty="0">
                <a:sym typeface="Symbol" panose="05050102010706020507" pitchFamily="18" charset="2"/>
              </a:rPr>
              <a:t> </a:t>
            </a:r>
            <a:r>
              <a:rPr lang="en-US" altLang="zh-TW" dirty="0"/>
              <a:t>p</a:t>
            </a:r>
            <a:endParaRPr lang="en-US" dirty="0"/>
          </a:p>
          <a:p>
            <a:pPr lvl="0"/>
            <a:r>
              <a:rPr lang="en-US" dirty="0"/>
              <a:t>Note this truth table is the exact                                                                   </a:t>
            </a:r>
            <a:r>
              <a:rPr lang="en-US" dirty="0">
                <a:solidFill>
                  <a:srgbClr val="C00000"/>
                </a:solidFill>
              </a:rPr>
              <a:t>opposite</a:t>
            </a:r>
            <a:r>
              <a:rPr lang="en-US" dirty="0"/>
              <a:t> of </a:t>
            </a:r>
            <a:r>
              <a:rPr lang="en-US" altLang="zh-TW" dirty="0">
                <a:solidFill>
                  <a:srgbClr val="C00000"/>
                </a:solidFill>
                <a:ea typeface="新細明體" pitchFamily="18" charset="-120"/>
                <a:sym typeface="Symbol" pitchFamily="18" charset="2"/>
              </a:rPr>
              <a:t></a:t>
            </a:r>
            <a:r>
              <a:rPr lang="en-US" dirty="0">
                <a:solidFill>
                  <a:srgbClr val="C00000"/>
                </a:solidFill>
              </a:rPr>
              <a:t>’</a:t>
            </a:r>
            <a:r>
              <a:rPr lang="en-US" dirty="0"/>
              <a:t>s!</a:t>
            </a:r>
          </a:p>
          <a:p>
            <a:pPr lvl="1"/>
            <a:r>
              <a:rPr lang="en-US" dirty="0"/>
              <a:t>Thus, </a:t>
            </a:r>
            <a:r>
              <a:rPr lang="en-US" i="1" dirty="0"/>
              <a:t>p</a:t>
            </a:r>
            <a:r>
              <a:rPr lang="en-US" dirty="0"/>
              <a:t> </a:t>
            </a:r>
            <a:r>
              <a:rPr lang="en-US" dirty="0">
                <a:latin typeface="Cambria" panose="02040503050406030204" pitchFamily="18" charset="0"/>
                <a:sym typeface="Symbol" panose="05050102010706020507" pitchFamily="18" charset="2"/>
              </a:rPr>
              <a:t></a:t>
            </a:r>
            <a:r>
              <a:rPr lang="en-US" dirty="0"/>
              <a:t> </a:t>
            </a:r>
            <a:r>
              <a:rPr lang="en-US" i="1" dirty="0"/>
              <a:t>q</a:t>
            </a:r>
            <a:r>
              <a:rPr lang="en-US" dirty="0"/>
              <a:t> means ¬(p </a:t>
            </a:r>
            <a:r>
              <a:rPr lang="en-US" altLang="zh-TW" dirty="0">
                <a:ea typeface="新細明體" pitchFamily="18" charset="-120"/>
                <a:sym typeface="Symbol" pitchFamily="18" charset="2"/>
              </a:rPr>
              <a:t></a:t>
            </a:r>
            <a:r>
              <a:rPr lang="en-US" dirty="0"/>
              <a:t> q)</a:t>
            </a:r>
          </a:p>
          <a:p>
            <a:pPr lvl="1"/>
            <a:endParaRPr lang="en-US" dirty="0"/>
          </a:p>
          <a:p>
            <a:pPr lvl="0"/>
            <a:endParaRPr lang="en-US" dirty="0"/>
          </a:p>
          <a:p>
            <a:pPr lvl="0"/>
            <a:r>
              <a:rPr lang="en-US" i="1" dirty="0"/>
              <a:t>p</a:t>
            </a:r>
            <a:r>
              <a:rPr lang="en-US" dirty="0"/>
              <a:t> </a:t>
            </a:r>
            <a:r>
              <a:rPr lang="en-US" dirty="0">
                <a:latin typeface="Cambria" panose="02040503050406030204" pitchFamily="18" charset="0"/>
                <a:sym typeface="Symbol" panose="05050102010706020507" pitchFamily="18" charset="2"/>
              </a:rPr>
              <a:t> </a:t>
            </a:r>
            <a:r>
              <a:rPr lang="en-US" i="1" dirty="0"/>
              <a:t>q</a:t>
            </a:r>
            <a:r>
              <a:rPr lang="en-US" dirty="0"/>
              <a:t> does not imply that </a:t>
            </a:r>
            <a:r>
              <a:rPr lang="en-US" i="1" dirty="0"/>
              <a:t>p</a:t>
            </a:r>
            <a:r>
              <a:rPr lang="en-US" dirty="0"/>
              <a:t> and </a:t>
            </a:r>
            <a:r>
              <a:rPr lang="en-US" i="1" dirty="0"/>
              <a:t>q</a:t>
            </a:r>
            <a:r>
              <a:rPr lang="en-US" dirty="0"/>
              <a:t> are true, or that either of them causes the other, or that they have a common cause.</a:t>
            </a:r>
          </a:p>
          <a:p>
            <a:pPr lvl="0"/>
            <a:endParaRPr lang="en-US" dirty="0"/>
          </a:p>
          <a:p>
            <a:endParaRPr lang="en-US"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38</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183609302"/>
              </p:ext>
            </p:extLst>
          </p:nvPr>
        </p:nvGraphicFramePr>
        <p:xfrm>
          <a:off x="8158511" y="1856732"/>
          <a:ext cx="3572571" cy="2509808"/>
        </p:xfrm>
        <a:graphic>
          <a:graphicData uri="http://schemas.openxmlformats.org/drawingml/2006/table">
            <a:tbl>
              <a:tblPr firstRow="1" bandRow="1">
                <a:tableStyleId>{8799B23B-EC83-4686-B30A-512413B5E67A}</a:tableStyleId>
              </a:tblPr>
              <a:tblGrid>
                <a:gridCol w="1190468">
                  <a:extLst>
                    <a:ext uri="{9D8B030D-6E8A-4147-A177-3AD203B41FA5}">
                      <a16:colId xmlns:a16="http://schemas.microsoft.com/office/drawing/2014/main" val="20000"/>
                    </a:ext>
                  </a:extLst>
                </a:gridCol>
                <a:gridCol w="1191742">
                  <a:extLst>
                    <a:ext uri="{9D8B030D-6E8A-4147-A177-3AD203B41FA5}">
                      <a16:colId xmlns:a16="http://schemas.microsoft.com/office/drawing/2014/main" val="20001"/>
                    </a:ext>
                  </a:extLst>
                </a:gridCol>
                <a:gridCol w="1190361">
                  <a:extLst>
                    <a:ext uri="{9D8B030D-6E8A-4147-A177-3AD203B41FA5}">
                      <a16:colId xmlns:a16="http://schemas.microsoft.com/office/drawing/2014/main" val="20002"/>
                    </a:ext>
                  </a:extLst>
                </a:gridCol>
              </a:tblGrid>
              <a:tr h="499959">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sz="2400" i="0" dirty="0">
                          <a:latin typeface="Cambria" panose="02040503050406030204" pitchFamily="18" charset="0"/>
                          <a:sym typeface="Symbol" panose="05050102010706020507" pitchFamily="18" charset="2"/>
                        </a:rPr>
                        <a:t></a:t>
                      </a:r>
                      <a:r>
                        <a:rPr lang="en-US" sz="2400" i="1" baseline="0"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499958">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1"/>
                  </a:ext>
                </a:extLst>
              </a:tr>
              <a:tr h="499959">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F</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499958">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extLst>
                  <a:ext uri="{0D108BD9-81ED-4DB2-BD59-A6C34878D82A}">
                    <a16:rowId xmlns:a16="http://schemas.microsoft.com/office/drawing/2014/main" val="10003"/>
                  </a:ext>
                </a:extLst>
              </a:tr>
              <a:tr h="509974">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98956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Boolean Operations Summary</a:t>
            </a:r>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39</a:t>
            </a:fld>
            <a:endParaRPr lang="en-US"/>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4114227009"/>
                  </p:ext>
                </p:extLst>
              </p:nvPr>
            </p:nvGraphicFramePr>
            <p:xfrm>
              <a:off x="2067651" y="2188005"/>
              <a:ext cx="7865792" cy="3125126"/>
            </p:xfrm>
            <a:graphic>
              <a:graphicData uri="http://schemas.openxmlformats.org/drawingml/2006/table">
                <a:tbl>
                  <a:tblPr firstRow="1" bandRow="1">
                    <a:tableStyleId>{8799B23B-EC83-4686-B30A-512413B5E67A}</a:tableStyleId>
                  </a:tblPr>
                  <a:tblGrid>
                    <a:gridCol w="829373">
                      <a:extLst>
                        <a:ext uri="{9D8B030D-6E8A-4147-A177-3AD203B41FA5}">
                          <a16:colId xmlns:a16="http://schemas.microsoft.com/office/drawing/2014/main" val="20000"/>
                        </a:ext>
                      </a:extLst>
                    </a:gridCol>
                    <a:gridCol w="747131">
                      <a:extLst>
                        <a:ext uri="{9D8B030D-6E8A-4147-A177-3AD203B41FA5}">
                          <a16:colId xmlns:a16="http://schemas.microsoft.com/office/drawing/2014/main" val="20001"/>
                        </a:ext>
                      </a:extLst>
                    </a:gridCol>
                    <a:gridCol w="1126274">
                      <a:extLst>
                        <a:ext uri="{9D8B030D-6E8A-4147-A177-3AD203B41FA5}">
                          <a16:colId xmlns:a16="http://schemas.microsoft.com/office/drawing/2014/main" val="20002"/>
                        </a:ext>
                      </a:extLst>
                    </a:gridCol>
                    <a:gridCol w="1037063">
                      <a:extLst>
                        <a:ext uri="{9D8B030D-6E8A-4147-A177-3AD203B41FA5}">
                          <a16:colId xmlns:a16="http://schemas.microsoft.com/office/drawing/2014/main" val="1046036164"/>
                        </a:ext>
                      </a:extLst>
                    </a:gridCol>
                    <a:gridCol w="981307">
                      <a:extLst>
                        <a:ext uri="{9D8B030D-6E8A-4147-A177-3AD203B41FA5}">
                          <a16:colId xmlns:a16="http://schemas.microsoft.com/office/drawing/2014/main" val="350684122"/>
                        </a:ext>
                      </a:extLst>
                    </a:gridCol>
                    <a:gridCol w="1003610">
                      <a:extLst>
                        <a:ext uri="{9D8B030D-6E8A-4147-A177-3AD203B41FA5}">
                          <a16:colId xmlns:a16="http://schemas.microsoft.com/office/drawing/2014/main" val="1054527351"/>
                        </a:ext>
                      </a:extLst>
                    </a:gridCol>
                    <a:gridCol w="1037064">
                      <a:extLst>
                        <a:ext uri="{9D8B030D-6E8A-4147-A177-3AD203B41FA5}">
                          <a16:colId xmlns:a16="http://schemas.microsoft.com/office/drawing/2014/main" val="1089605961"/>
                        </a:ext>
                      </a:extLst>
                    </a:gridCol>
                    <a:gridCol w="1103970">
                      <a:extLst>
                        <a:ext uri="{9D8B030D-6E8A-4147-A177-3AD203B41FA5}">
                          <a16:colId xmlns:a16="http://schemas.microsoft.com/office/drawing/2014/main" val="852762923"/>
                        </a:ext>
                      </a:extLst>
                    </a:gridCol>
                  </a:tblGrid>
                  <a:tr h="622532">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b="1" i="0" dirty="0">
                              <a:effectLst/>
                              <a:latin typeface="Cambria" panose="02040503050406030204" pitchFamily="18" charset="0"/>
                              <a:sym typeface="Symbol" panose="05050102010706020507" pitchFamily="18" charset="2"/>
                            </a:rPr>
                            <a:t></a:t>
                          </a:r>
                          <a:r>
                            <a:rPr lang="en-US" sz="2400" i="1" dirty="0">
                              <a:latin typeface="Cambria" panose="02040503050406030204" pitchFamily="18" charset="0"/>
                              <a:ea typeface="Cambria" panose="02040503050406030204" pitchFamily="18" charset="0"/>
                            </a:rPr>
                            <a:t>p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indent="0" algn="ctr">
                            <a:lnSpc>
                              <a:spcPct val="100000"/>
                            </a:lnSpc>
                          </a:pPr>
                          <a:r>
                            <a:rPr lang="en-US" sz="2400" i="1" dirty="0">
                              <a:latin typeface="Cambria" panose="02040503050406030204" pitchFamily="18" charset="0"/>
                              <a:ea typeface="Cambria" panose="02040503050406030204" pitchFamily="18" charset="0"/>
                            </a:rPr>
                            <a:t>p </a:t>
                          </a:r>
                          <a14:m>
                            <m:oMath xmlns:m="http://schemas.openxmlformats.org/officeDocument/2006/math">
                              <m:r>
                                <a:rPr lang="en-US" sz="2400" i="0" dirty="0" smtClean="0">
                                  <a:latin typeface="Cambria Math" panose="02040503050406030204" pitchFamily="18" charset="0"/>
                                  <a:ea typeface="Cambria Math" panose="02040503050406030204" pitchFamily="18" charset="0"/>
                                </a:rPr>
                                <m:t>⋀</m:t>
                              </m:r>
                            </m:oMath>
                          </a14:m>
                          <a:r>
                            <a:rPr lang="en-US" sz="2400" i="1" dirty="0">
                              <a:latin typeface="Cambria" panose="02040503050406030204" pitchFamily="18" charset="0"/>
                              <a:ea typeface="Cambria" panose="02040503050406030204" pitchFamily="18" charset="0"/>
                            </a:rPr>
                            <a:t> q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a:t>
                          </a:r>
                          <a14:m>
                            <m:oMath xmlns:m="http://schemas.openxmlformats.org/officeDocument/2006/math">
                              <m:r>
                                <a:rPr lang="en-US" sz="2400" b="1" i="1" dirty="0" smtClean="0">
                                  <a:latin typeface="Cambria Math" panose="02040503050406030204" pitchFamily="18" charset="0"/>
                                  <a:ea typeface="Cambria Math" panose="02040503050406030204" pitchFamily="18" charset="0"/>
                                </a:rPr>
                                <m:t> </m:t>
                              </m:r>
                              <m:r>
                                <a:rPr lang="en-US" sz="2400" i="0" dirty="0" smtClean="0">
                                  <a:latin typeface="Cambria Math" panose="02040503050406030204" pitchFamily="18" charset="0"/>
                                  <a:ea typeface="Cambria Math" panose="02040503050406030204" pitchFamily="18" charset="0"/>
                                </a:rPr>
                                <m:t>∨</m:t>
                              </m:r>
                            </m:oMath>
                          </a14:m>
                          <a:r>
                            <a:rPr lang="en-US" sz="2400" i="1" dirty="0">
                              <a:latin typeface="Cambria" panose="02040503050406030204" pitchFamily="18" charset="0"/>
                              <a:ea typeface="Cambria" panose="02040503050406030204" pitchFamily="18" charset="0"/>
                            </a:rPr>
                            <a:t> q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altLang="en-US" sz="2400" b="1" i="0" dirty="0">
                              <a:latin typeface="Cambria" panose="02040503050406030204" pitchFamily="18" charset="0"/>
                              <a:sym typeface="Symbol" panose="05050102010706020507"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altLang="zh-TW" sz="2400" i="0" dirty="0">
                              <a:ea typeface="新細明體" pitchFamily="18" charset="-120"/>
                              <a:sym typeface="Symbol"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sz="2400" dirty="0">
                              <a:latin typeface="Cambria" panose="02040503050406030204" pitchFamily="18" charset="0"/>
                              <a:sym typeface="Symbol" panose="05050102010706020507"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622530">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1"/>
                      </a:ext>
                    </a:extLst>
                  </a:tr>
                  <a:tr h="622532">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tc>
                      <a:txBody>
                        <a:bodyPr/>
                        <a:lstStyle/>
                        <a:p>
                          <a:pPr marL="8890" algn="ctr">
                            <a:lnSpc>
                              <a:spcPct val="100000"/>
                            </a:lnSpc>
                          </a:pPr>
                          <a:r>
                            <a:rPr lang="en-US" altLang="en-US" sz="2400" b="1"/>
                            <a:t>T</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622530">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extLst>
                      <a:ext uri="{0D108BD9-81ED-4DB2-BD59-A6C34878D82A}">
                        <a16:rowId xmlns:a16="http://schemas.microsoft.com/office/drawing/2014/main" val="10003"/>
                      </a:ext>
                    </a:extLst>
                  </a:tr>
                  <a:tr h="635002">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4114227009"/>
                  </p:ext>
                </p:extLst>
              </p:nvPr>
            </p:nvGraphicFramePr>
            <p:xfrm>
              <a:off x="2067651" y="2188005"/>
              <a:ext cx="7865792" cy="3125126"/>
            </p:xfrm>
            <a:graphic>
              <a:graphicData uri="http://schemas.openxmlformats.org/drawingml/2006/table">
                <a:tbl>
                  <a:tblPr firstRow="1" bandRow="1">
                    <a:tableStyleId>{8799B23B-EC83-4686-B30A-512413B5E67A}</a:tableStyleId>
                  </a:tblPr>
                  <a:tblGrid>
                    <a:gridCol w="829373">
                      <a:extLst>
                        <a:ext uri="{9D8B030D-6E8A-4147-A177-3AD203B41FA5}">
                          <a16:colId xmlns:a16="http://schemas.microsoft.com/office/drawing/2014/main" val="20000"/>
                        </a:ext>
                      </a:extLst>
                    </a:gridCol>
                    <a:gridCol w="747131">
                      <a:extLst>
                        <a:ext uri="{9D8B030D-6E8A-4147-A177-3AD203B41FA5}">
                          <a16:colId xmlns:a16="http://schemas.microsoft.com/office/drawing/2014/main" val="20001"/>
                        </a:ext>
                      </a:extLst>
                    </a:gridCol>
                    <a:gridCol w="1126274">
                      <a:extLst>
                        <a:ext uri="{9D8B030D-6E8A-4147-A177-3AD203B41FA5}">
                          <a16:colId xmlns:a16="http://schemas.microsoft.com/office/drawing/2014/main" val="20002"/>
                        </a:ext>
                      </a:extLst>
                    </a:gridCol>
                    <a:gridCol w="1037063">
                      <a:extLst>
                        <a:ext uri="{9D8B030D-6E8A-4147-A177-3AD203B41FA5}">
                          <a16:colId xmlns:a16="http://schemas.microsoft.com/office/drawing/2014/main" val="1046036164"/>
                        </a:ext>
                      </a:extLst>
                    </a:gridCol>
                    <a:gridCol w="981307">
                      <a:extLst>
                        <a:ext uri="{9D8B030D-6E8A-4147-A177-3AD203B41FA5}">
                          <a16:colId xmlns:a16="http://schemas.microsoft.com/office/drawing/2014/main" val="350684122"/>
                        </a:ext>
                      </a:extLst>
                    </a:gridCol>
                    <a:gridCol w="1003610">
                      <a:extLst>
                        <a:ext uri="{9D8B030D-6E8A-4147-A177-3AD203B41FA5}">
                          <a16:colId xmlns:a16="http://schemas.microsoft.com/office/drawing/2014/main" val="1054527351"/>
                        </a:ext>
                      </a:extLst>
                    </a:gridCol>
                    <a:gridCol w="1037064">
                      <a:extLst>
                        <a:ext uri="{9D8B030D-6E8A-4147-A177-3AD203B41FA5}">
                          <a16:colId xmlns:a16="http://schemas.microsoft.com/office/drawing/2014/main" val="1089605961"/>
                        </a:ext>
                      </a:extLst>
                    </a:gridCol>
                    <a:gridCol w="1103970">
                      <a:extLst>
                        <a:ext uri="{9D8B030D-6E8A-4147-A177-3AD203B41FA5}">
                          <a16:colId xmlns:a16="http://schemas.microsoft.com/office/drawing/2014/main" val="852762923"/>
                        </a:ext>
                      </a:extLst>
                    </a:gridCol>
                  </a:tblGrid>
                  <a:tr h="622532">
                    <a:tc>
                      <a:txBody>
                        <a:bodyPr/>
                        <a:lstStyle/>
                        <a:p>
                          <a:pPr algn="ctr">
                            <a:lnSpc>
                              <a:spcPct val="100000"/>
                            </a:lnSpc>
                          </a:pPr>
                          <a:r>
                            <a:rPr lang="en-US" altLang="en-US" sz="2400" i="1" dirty="0">
                              <a:latin typeface="Cambria" panose="02040503050406030204" pitchFamily="18" charset="0"/>
                              <a:ea typeface="Cambria" panose="02040503050406030204" pitchFamily="18" charset="0"/>
                            </a:rPr>
                            <a:t>p</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1905" algn="ctr">
                            <a:lnSpc>
                              <a:spcPct val="100000"/>
                            </a:lnSpc>
                          </a:pPr>
                          <a:r>
                            <a:rPr lang="en-US" sz="2400" i="1" dirty="0">
                              <a:latin typeface="Cambria" panose="02040503050406030204" pitchFamily="18" charset="0"/>
                              <a:ea typeface="Cambria" panose="02040503050406030204" pitchFamily="18" charset="0"/>
                            </a:rPr>
                            <a:t>q</a:t>
                          </a:r>
                          <a:endParaRPr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b="1" i="0" dirty="0">
                              <a:effectLst/>
                              <a:latin typeface="Cambria" panose="02040503050406030204" pitchFamily="18" charset="0"/>
                              <a:sym typeface="Symbol" panose="05050102010706020507" pitchFamily="18" charset="2"/>
                            </a:rPr>
                            <a:t></a:t>
                          </a:r>
                          <a:r>
                            <a:rPr lang="en-US" sz="2400" i="1" dirty="0">
                              <a:latin typeface="Cambria" panose="02040503050406030204" pitchFamily="18" charset="0"/>
                              <a:ea typeface="Cambria" panose="02040503050406030204" pitchFamily="18" charset="0"/>
                            </a:rPr>
                            <a:t>p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endParaRPr lang="en-US"/>
                        </a:p>
                      </a:txBody>
                      <a:tcPr marL="0" marR="0" marT="0" marB="0" anchor="ctr">
                        <a:blipFill>
                          <a:blip r:embed="rId3"/>
                          <a:stretch>
                            <a:fillRect l="-261765" t="-980" r="-400000" b="-411765"/>
                          </a:stretch>
                        </a:blipFill>
                      </a:tcPr>
                    </a:tc>
                    <a:tc>
                      <a:txBody>
                        <a:bodyPr/>
                        <a:lstStyle/>
                        <a:p>
                          <a:endParaRPr lang="en-US"/>
                        </a:p>
                      </a:txBody>
                      <a:tcPr marL="0" marR="0" marT="0" marB="0" anchor="ctr">
                        <a:blipFill>
                          <a:blip r:embed="rId3"/>
                          <a:stretch>
                            <a:fillRect l="-381988" t="-980" r="-322360" b="-411765"/>
                          </a:stretch>
                        </a:blip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altLang="en-US" sz="2400" b="1" i="0" dirty="0">
                              <a:latin typeface="Cambria" panose="02040503050406030204" pitchFamily="18" charset="0"/>
                              <a:sym typeface="Symbol" panose="05050102010706020507"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altLang="zh-TW" sz="2400" i="0" dirty="0">
                              <a:ea typeface="新細明體" pitchFamily="18" charset="-120"/>
                              <a:sym typeface="Symbol"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i="1" dirty="0">
                              <a:latin typeface="Cambria" panose="02040503050406030204" pitchFamily="18" charset="0"/>
                              <a:ea typeface="Cambria" panose="02040503050406030204" pitchFamily="18" charset="0"/>
                            </a:rPr>
                            <a:t>p </a:t>
                          </a:r>
                          <a:r>
                            <a:rPr lang="en-US" sz="2400" dirty="0">
                              <a:latin typeface="Cambria" panose="02040503050406030204" pitchFamily="18" charset="0"/>
                              <a:sym typeface="Symbol" panose="05050102010706020507" pitchFamily="18" charset="2"/>
                            </a:rPr>
                            <a:t></a:t>
                          </a:r>
                          <a:r>
                            <a:rPr lang="en-US" altLang="en-US" sz="2400" b="1" i="1" dirty="0">
                              <a:latin typeface="Cambria" panose="02040503050406030204" pitchFamily="18" charset="0"/>
                              <a:sym typeface="Symbol" panose="05050102010706020507" pitchFamily="18" charset="2"/>
                            </a:rPr>
                            <a:t> </a:t>
                          </a:r>
                          <a:r>
                            <a:rPr lang="en-US" sz="2400" i="1" dirty="0">
                              <a:latin typeface="Cambria" panose="02040503050406030204" pitchFamily="18" charset="0"/>
                              <a:ea typeface="Cambria" panose="02040503050406030204" pitchFamily="18" charset="0"/>
                            </a:rPr>
                            <a:t>q </a:t>
                          </a:r>
                          <a:endParaRPr lang="en-US" sz="2400" i="1" dirty="0">
                            <a:latin typeface="Cambria" panose="02040503050406030204" pitchFamily="18" charset="0"/>
                            <a:ea typeface="Cambria" panose="02040503050406030204" pitchFamily="18" charset="0"/>
                            <a:cs typeface="Arial"/>
                          </a:endParaRPr>
                        </a:p>
                      </a:txBody>
                      <a:tcPr marL="0" marR="0" marT="0" marB="0" anchor="ctr"/>
                    </a:tc>
                    <a:extLst>
                      <a:ext uri="{0D108BD9-81ED-4DB2-BD59-A6C34878D82A}">
                        <a16:rowId xmlns:a16="http://schemas.microsoft.com/office/drawing/2014/main" val="10000"/>
                      </a:ext>
                    </a:extLst>
                  </a:tr>
                  <a:tr h="622530">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1"/>
                      </a:ext>
                    </a:extLst>
                  </a:tr>
                  <a:tr h="622532">
                    <a:tc>
                      <a:txBody>
                        <a:bodyPr/>
                        <a:lstStyle/>
                        <a:p>
                          <a:pPr marR="635"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tc>
                      <a:txBody>
                        <a:bodyPr/>
                        <a:lstStyle/>
                        <a:p>
                          <a:pPr marL="8890" algn="ctr">
                            <a:lnSpc>
                              <a:spcPct val="100000"/>
                            </a:lnSpc>
                          </a:pPr>
                          <a:r>
                            <a:rPr lang="en-US" altLang="en-US" sz="2400" b="1"/>
                            <a:t>T</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sz="2400" b="1" dirty="0">
                            <a:latin typeface="+mn-lt"/>
                            <a:cs typeface="Arial"/>
                          </a:endParaRPr>
                        </a:p>
                      </a:txBody>
                      <a:tcPr marL="0" marR="0" marT="0" marB="0" anchor="ctr"/>
                    </a:tc>
                    <a:extLst>
                      <a:ext uri="{0D108BD9-81ED-4DB2-BD59-A6C34878D82A}">
                        <a16:rowId xmlns:a16="http://schemas.microsoft.com/office/drawing/2014/main" val="10002"/>
                      </a:ext>
                    </a:extLst>
                  </a:tr>
                  <a:tr h="622530">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F</a:t>
                          </a:r>
                          <a:endParaRPr sz="2400"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1270" algn="ctr">
                            <a:lnSpc>
                              <a:spcPct val="100000"/>
                            </a:lnSpc>
                          </a:pPr>
                          <a:r>
                            <a:rPr lang="en-US" altLang="en-US" sz="2400" b="1" dirty="0"/>
                            <a:t>F</a:t>
                          </a:r>
                          <a:endParaRPr lang="en-US" sz="2400" b="1" dirty="0">
                            <a:latin typeface="+mn-lt"/>
                            <a:cs typeface="Arial"/>
                          </a:endParaRPr>
                        </a:p>
                      </a:txBody>
                      <a:tcPr marL="0" marR="0" marT="0" marB="0" anchor="ctr"/>
                    </a:tc>
                    <a:extLst>
                      <a:ext uri="{0D108BD9-81ED-4DB2-BD59-A6C34878D82A}">
                        <a16:rowId xmlns:a16="http://schemas.microsoft.com/office/drawing/2014/main" val="10003"/>
                      </a:ext>
                    </a:extLst>
                  </a:tr>
                  <a:tr h="635002">
                    <a:tc>
                      <a:txBody>
                        <a:bodyPr/>
                        <a:lstStyle/>
                        <a:p>
                          <a:pPr marR="635" algn="ctr">
                            <a:lnSpc>
                              <a:spcPct val="100000"/>
                            </a:lnSpc>
                          </a:pPr>
                          <a:r>
                            <a:rPr lang="en-US" altLang="en-US" sz="2400" dirty="0"/>
                            <a:t>T</a:t>
                          </a:r>
                          <a:endParaRPr sz="2400" dirty="0">
                            <a:latin typeface="+mn-lt"/>
                            <a:cs typeface="Arial"/>
                          </a:endParaRPr>
                        </a:p>
                      </a:txBody>
                      <a:tcPr marL="0" marR="0" marT="0" marB="0" anchor="ctr"/>
                    </a:tc>
                    <a:tc>
                      <a:txBody>
                        <a:bodyPr/>
                        <a:lstStyle/>
                        <a:p>
                          <a:pPr marL="1270" algn="ctr">
                            <a:lnSpc>
                              <a:spcPct val="100000"/>
                            </a:lnSpc>
                          </a:pPr>
                          <a:r>
                            <a:rPr lang="en-US" altLang="en-US" sz="2400" dirty="0"/>
                            <a:t>T</a:t>
                          </a:r>
                          <a:endParaRPr sz="2400"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F</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tc>
                      <a:txBody>
                        <a:bodyPr/>
                        <a:lstStyle/>
                        <a:p>
                          <a:pPr marL="8890" algn="ctr">
                            <a:lnSpc>
                              <a:spcPct val="100000"/>
                            </a:lnSpc>
                          </a:pPr>
                          <a:r>
                            <a:rPr lang="en-US" altLang="en-US" sz="2400" b="1" dirty="0"/>
                            <a:t>T</a:t>
                          </a:r>
                          <a:endParaRPr lang="en-US" sz="2400" b="1" dirty="0">
                            <a:latin typeface="+mn-lt"/>
                            <a:cs typeface="Arial"/>
                          </a:endParaRPr>
                        </a:p>
                      </a:txBody>
                      <a:tcPr marL="0" marR="0" marT="0" marB="0" anchor="ct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859764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a:t>Boolean Operations Alternative Notations</a:t>
            </a:r>
            <a:endParaRPr lang="en-US"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40</a:t>
            </a:fld>
            <a:endParaRPr lang="en-US"/>
          </a:p>
        </p:txBody>
      </p:sp>
      <p:graphicFrame>
        <p:nvGraphicFramePr>
          <p:cNvPr id="7" name="Table Placeholder 2"/>
          <p:cNvGraphicFramePr>
            <a:graphicFrameLocks/>
          </p:cNvGraphicFramePr>
          <p:nvPr>
            <p:extLst>
              <p:ext uri="{D42A27DB-BD31-4B8C-83A1-F6EECF244321}">
                <p14:modId xmlns:p14="http://schemas.microsoft.com/office/powerpoint/2010/main" val="3346221799"/>
              </p:ext>
            </p:extLst>
          </p:nvPr>
        </p:nvGraphicFramePr>
        <p:xfrm>
          <a:off x="1456481" y="1698876"/>
          <a:ext cx="9086482" cy="4054164"/>
        </p:xfrm>
        <a:graphic>
          <a:graphicData uri="http://schemas.openxmlformats.org/drawingml/2006/table">
            <a:tbl>
              <a:tblPr>
                <a:tableStyleId>{775DCB02-9BB8-47FD-8907-85C794F793BA}</a:tableStyleId>
              </a:tblPr>
              <a:tblGrid>
                <a:gridCol w="3440208">
                  <a:extLst>
                    <a:ext uri="{9D8B030D-6E8A-4147-A177-3AD203B41FA5}">
                      <a16:colId xmlns:a16="http://schemas.microsoft.com/office/drawing/2014/main" val="20000"/>
                    </a:ext>
                  </a:extLst>
                </a:gridCol>
                <a:gridCol w="886179">
                  <a:extLst>
                    <a:ext uri="{9D8B030D-6E8A-4147-A177-3AD203B41FA5}">
                      <a16:colId xmlns:a16="http://schemas.microsoft.com/office/drawing/2014/main" val="20001"/>
                    </a:ext>
                  </a:extLst>
                </a:gridCol>
                <a:gridCol w="950929">
                  <a:extLst>
                    <a:ext uri="{9D8B030D-6E8A-4147-A177-3AD203B41FA5}">
                      <a16:colId xmlns:a16="http://schemas.microsoft.com/office/drawing/2014/main" val="20002"/>
                    </a:ext>
                  </a:extLst>
                </a:gridCol>
                <a:gridCol w="676185">
                  <a:extLst>
                    <a:ext uri="{9D8B030D-6E8A-4147-A177-3AD203B41FA5}">
                      <a16:colId xmlns:a16="http://schemas.microsoft.com/office/drawing/2014/main" val="20003"/>
                    </a:ext>
                  </a:extLst>
                </a:gridCol>
                <a:gridCol w="837388">
                  <a:extLst>
                    <a:ext uri="{9D8B030D-6E8A-4147-A177-3AD203B41FA5}">
                      <a16:colId xmlns:a16="http://schemas.microsoft.com/office/drawing/2014/main" val="20004"/>
                    </a:ext>
                  </a:extLst>
                </a:gridCol>
                <a:gridCol w="1565162">
                  <a:extLst>
                    <a:ext uri="{9D8B030D-6E8A-4147-A177-3AD203B41FA5}">
                      <a16:colId xmlns:a16="http://schemas.microsoft.com/office/drawing/2014/main" val="20005"/>
                    </a:ext>
                  </a:extLst>
                </a:gridCol>
                <a:gridCol w="730431">
                  <a:extLst>
                    <a:ext uri="{9D8B030D-6E8A-4147-A177-3AD203B41FA5}">
                      <a16:colId xmlns:a16="http://schemas.microsoft.com/office/drawing/2014/main" val="20006"/>
                    </a:ext>
                  </a:extLst>
                </a:gridCol>
              </a:tblGrid>
              <a:tr h="553774">
                <a:tc>
                  <a:txBody>
                    <a:bodyPr/>
                    <a:lstStyle/>
                    <a:p>
                      <a:pPr>
                        <a:spcAft>
                          <a:spcPts val="0"/>
                        </a:spcAft>
                      </a:pPr>
                      <a:r>
                        <a:rPr lang="en-US" sz="1800" b="1" dirty="0">
                          <a:effectLst/>
                          <a:latin typeface="Cambria" panose="02040503050406030204" pitchFamily="18" charset="0"/>
                        </a:rPr>
                        <a:t>Name</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b="1" dirty="0">
                          <a:effectLst/>
                          <a:latin typeface="Cambria" panose="02040503050406030204" pitchFamily="18" charset="0"/>
                        </a:rPr>
                        <a:t>not</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b="1" dirty="0">
                          <a:effectLst/>
                          <a:latin typeface="Cambria" panose="02040503050406030204" pitchFamily="18" charset="0"/>
                        </a:rPr>
                        <a:t>and</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b="1" dirty="0">
                          <a:effectLst/>
                          <a:latin typeface="Cambria" panose="02040503050406030204" pitchFamily="18" charset="0"/>
                        </a:rPr>
                        <a:t>or</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b="1" dirty="0" err="1">
                          <a:effectLst/>
                          <a:latin typeface="Cambria" panose="02040503050406030204" pitchFamily="18" charset="0"/>
                        </a:rPr>
                        <a:t>xor</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b="1" dirty="0">
                          <a:effectLst/>
                          <a:latin typeface="Cambria" panose="02040503050406030204" pitchFamily="18" charset="0"/>
                        </a:rPr>
                        <a:t>implies</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b="1" dirty="0" err="1">
                          <a:effectLst/>
                          <a:latin typeface="Cambria" panose="02040503050406030204" pitchFamily="18" charset="0"/>
                        </a:rPr>
                        <a:t>iff</a:t>
                      </a:r>
                      <a:endParaRPr lang="en-US" sz="800" b="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0000"/>
                  </a:ext>
                </a:extLst>
              </a:tr>
              <a:tr h="553774">
                <a:tc>
                  <a:txBody>
                    <a:bodyPr/>
                    <a:lstStyle/>
                    <a:p>
                      <a:pPr>
                        <a:spcAft>
                          <a:spcPts val="0"/>
                        </a:spcAft>
                      </a:pPr>
                      <a:r>
                        <a:rPr lang="en-US" sz="1800" dirty="0">
                          <a:effectLst/>
                          <a:latin typeface="Cambria" panose="02040503050406030204" pitchFamily="18" charset="0"/>
                        </a:rPr>
                        <a:t>Propositional logic</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sym typeface="Symbol" panose="05050102010706020507" pitchFamily="18" charset="2"/>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sym typeface="Symbol" panose="05050102010706020507" pitchFamily="18" charset="2"/>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sym typeface="Symbol" panose="05050102010706020507" pitchFamily="18" charset="2"/>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sym typeface="Symbol" panose="05050102010706020507" pitchFamily="18" charset="2"/>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sym typeface="Symbol" panose="05050102010706020507" pitchFamily="18" charset="2"/>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sym typeface="Symbol" panose="05050102010706020507" pitchFamily="18" charset="2"/>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0001"/>
                  </a:ext>
                </a:extLst>
              </a:tr>
              <a:tr h="553774">
                <a:tc>
                  <a:txBody>
                    <a:bodyPr/>
                    <a:lstStyle/>
                    <a:p>
                      <a:pPr>
                        <a:spcAft>
                          <a:spcPts val="0"/>
                        </a:spcAft>
                      </a:pPr>
                      <a:r>
                        <a:rPr lang="en-US" sz="1800" dirty="0">
                          <a:effectLst/>
                          <a:latin typeface="Cambria" panose="02040503050406030204" pitchFamily="18" charset="0"/>
                        </a:rPr>
                        <a:t>Boolean algebra</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i="1" dirty="0" err="1">
                          <a:effectLst/>
                          <a:latin typeface="Cambria" panose="02040503050406030204" pitchFamily="18" charset="0"/>
                        </a:rPr>
                        <a:t>p.q</a:t>
                      </a:r>
                      <a:r>
                        <a:rPr lang="en-US" sz="2400" i="1" dirty="0">
                          <a:effectLst/>
                          <a:latin typeface="Cambria" panose="02040503050406030204" pitchFamily="18" charset="0"/>
                        </a:rPr>
                        <a:t> (</a:t>
                      </a:r>
                      <a:r>
                        <a:rPr lang="en-US" sz="2400" i="1" dirty="0" err="1">
                          <a:effectLst/>
                          <a:latin typeface="Cambria" panose="02040503050406030204" pitchFamily="18" charset="0"/>
                        </a:rPr>
                        <a:t>pq</a:t>
                      </a:r>
                      <a:r>
                        <a:rPr lang="en-US" sz="2400" i="1" dirty="0">
                          <a:effectLst/>
                          <a:latin typeface="Cambria" panose="02040503050406030204" pitchFamily="18" charset="0"/>
                        </a:rPr>
                        <a:t>)</a:t>
                      </a:r>
                      <a:endParaRPr lang="en-US" sz="800" i="1"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a:effectLst/>
                          <a:latin typeface="Cambria" panose="02040503050406030204" pitchFamily="18" charset="0"/>
                          <a:sym typeface="Symbol" panose="05050102010706020507" pitchFamily="18" charset="2"/>
                        </a:rPr>
                        <a:t></a:t>
                      </a:r>
                      <a:endParaRPr lang="en-US" sz="80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0002"/>
                  </a:ext>
                </a:extLst>
              </a:tr>
              <a:tr h="553774">
                <a:tc>
                  <a:txBody>
                    <a:bodyPr/>
                    <a:lstStyle/>
                    <a:p>
                      <a:pPr>
                        <a:spcAft>
                          <a:spcPts val="0"/>
                        </a:spcAft>
                      </a:pPr>
                      <a:r>
                        <a:rPr lang="en-US" sz="1800" dirty="0">
                          <a:effectLst/>
                          <a:latin typeface="Cambria" panose="02040503050406030204" pitchFamily="18" charset="0"/>
                        </a:rPr>
                        <a:t>C/C++/Java (</a:t>
                      </a:r>
                      <a:r>
                        <a:rPr lang="en-US" sz="1800" dirty="0" err="1">
                          <a:effectLst/>
                          <a:latin typeface="Cambria" panose="02040503050406030204" pitchFamily="18" charset="0"/>
                        </a:rPr>
                        <a:t>wordwise</a:t>
                      </a:r>
                      <a:r>
                        <a:rPr lang="en-US" sz="18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&amp;&amp;</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a:effectLst/>
                          <a:latin typeface="Cambria" panose="02040503050406030204" pitchFamily="18" charset="0"/>
                        </a:rPr>
                        <a:t>||</a:t>
                      </a:r>
                      <a:endParaRPr lang="en-US" sz="80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0003"/>
                  </a:ext>
                </a:extLst>
              </a:tr>
              <a:tr h="553774">
                <a:tc>
                  <a:txBody>
                    <a:bodyPr/>
                    <a:lstStyle/>
                    <a:p>
                      <a:pPr>
                        <a:spcAft>
                          <a:spcPts val="0"/>
                        </a:spcAft>
                      </a:pPr>
                      <a:r>
                        <a:rPr lang="en-US" sz="1800" dirty="0">
                          <a:effectLst/>
                          <a:latin typeface="Cambria" panose="02040503050406030204" pitchFamily="18" charset="0"/>
                        </a:rPr>
                        <a:t>C/C++/Java (bitwise)</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&amp;</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a:effectLst/>
                          <a:latin typeface="Cambria" panose="02040503050406030204" pitchFamily="18" charset="0"/>
                        </a:rPr>
                        <a:t>|</a:t>
                      </a:r>
                      <a:endParaRPr lang="en-US" sz="80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0004"/>
                  </a:ext>
                </a:extLst>
              </a:tr>
              <a:tr h="553774">
                <a:tc>
                  <a:txBody>
                    <a:bodyPr/>
                    <a:lstStyle/>
                    <a:p>
                      <a:pPr>
                        <a:spcAft>
                          <a:spcPts val="0"/>
                        </a:spcAft>
                      </a:pPr>
                      <a:r>
                        <a:rPr lang="en-US" sz="1800" dirty="0">
                          <a:effectLst/>
                          <a:latin typeface="Cambria" panose="02040503050406030204" pitchFamily="18" charset="0"/>
                        </a:rPr>
                        <a:t>Logic gates</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a:effectLst/>
                          <a:latin typeface="Cambria" panose="02040503050406030204" pitchFamily="18" charset="0"/>
                        </a:rPr>
                        <a:t> </a:t>
                      </a:r>
                      <a:endParaRPr lang="en-US" sz="80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a:effectLst/>
                          <a:latin typeface="Cambria" panose="02040503050406030204" pitchFamily="18" charset="0"/>
                        </a:rPr>
                        <a:t> </a:t>
                      </a:r>
                      <a:endParaRPr lang="en-US" sz="80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a:effectLst/>
                          <a:latin typeface="Cambria" panose="02040503050406030204" pitchFamily="18" charset="0"/>
                        </a:rPr>
                        <a:t> </a:t>
                      </a:r>
                      <a:endParaRPr lang="en-US" sz="80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rPr>
                        <a:t> </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0005"/>
                  </a:ext>
                </a:extLst>
              </a:tr>
              <a:tr h="553774">
                <a:tc>
                  <a:txBody>
                    <a:bodyPr/>
                    <a:lstStyle/>
                    <a:p>
                      <a:pPr>
                        <a:spcAft>
                          <a:spcPts val="0"/>
                        </a:spcAft>
                      </a:pPr>
                      <a:r>
                        <a:rPr lang="en-US" sz="1800" kern="1200" dirty="0">
                          <a:solidFill>
                            <a:schemeClr val="dk1"/>
                          </a:solidFill>
                          <a:effectLst/>
                          <a:latin typeface="Cambria" panose="02040503050406030204" pitchFamily="18" charset="0"/>
                          <a:ea typeface="+mn-ea"/>
                          <a:cs typeface="+mn-cs"/>
                        </a:rPr>
                        <a:t>Python (logical operator)</a:t>
                      </a:r>
                    </a:p>
                  </a:txBody>
                  <a:tcPr marL="51435" marR="51435" marT="0" marB="0" anchor="ctr">
                    <a:solidFill>
                      <a:schemeClr val="bg1"/>
                    </a:solidFill>
                  </a:tcPr>
                </a:tc>
                <a:tc>
                  <a:txBody>
                    <a:bodyPr/>
                    <a:lstStyle/>
                    <a:p>
                      <a:pPr algn="ctr">
                        <a:spcAft>
                          <a:spcPts val="0"/>
                        </a:spcAft>
                      </a:pPr>
                      <a:r>
                        <a:rPr lang="en-US" sz="2400" kern="1200" dirty="0">
                          <a:solidFill>
                            <a:schemeClr val="dk1"/>
                          </a:solidFill>
                          <a:effectLst/>
                          <a:latin typeface="Cambria" panose="02040503050406030204" pitchFamily="18" charset="0"/>
                          <a:ea typeface="+mn-ea"/>
                          <a:cs typeface="+mn-cs"/>
                        </a:rPr>
                        <a:t>not</a:t>
                      </a:r>
                    </a:p>
                  </a:txBody>
                  <a:tcPr marL="51435" marR="51435" marT="0" marB="0" anchor="ctr">
                    <a:solidFill>
                      <a:schemeClr val="bg1"/>
                    </a:solidFill>
                  </a:tcPr>
                </a:tc>
                <a:tc>
                  <a:txBody>
                    <a:bodyPr/>
                    <a:lstStyle/>
                    <a:p>
                      <a:pPr algn="ctr">
                        <a:spcAft>
                          <a:spcPts val="0"/>
                        </a:spcAft>
                      </a:pPr>
                      <a:r>
                        <a:rPr lang="en-US" sz="2400" kern="1200" dirty="0">
                          <a:solidFill>
                            <a:schemeClr val="dk1"/>
                          </a:solidFill>
                          <a:effectLst/>
                          <a:latin typeface="Cambria" panose="02040503050406030204" pitchFamily="18" charset="0"/>
                          <a:ea typeface="+mn-ea"/>
                          <a:cs typeface="+mn-cs"/>
                        </a:rPr>
                        <a:t>and</a:t>
                      </a:r>
                    </a:p>
                  </a:txBody>
                  <a:tcPr marL="51435" marR="51435" marT="0" marB="0" anchor="ctr">
                    <a:solidFill>
                      <a:schemeClr val="bg1"/>
                    </a:solidFill>
                  </a:tcPr>
                </a:tc>
                <a:tc>
                  <a:txBody>
                    <a:bodyPr/>
                    <a:lstStyle/>
                    <a:p>
                      <a:pPr algn="ctr">
                        <a:spcAft>
                          <a:spcPts val="0"/>
                        </a:spcAft>
                      </a:pPr>
                      <a:r>
                        <a:rPr lang="en-US" sz="2400" kern="1200" dirty="0">
                          <a:solidFill>
                            <a:schemeClr val="dk1"/>
                          </a:solidFill>
                          <a:effectLst/>
                          <a:latin typeface="Cambria" panose="02040503050406030204" pitchFamily="18" charset="0"/>
                          <a:ea typeface="+mn-ea"/>
                          <a:cs typeface="+mn-cs"/>
                        </a:rPr>
                        <a:t>or</a:t>
                      </a:r>
                    </a:p>
                  </a:txBody>
                  <a:tcPr marL="51435" marR="51435" marT="0" marB="0" anchor="ctr">
                    <a:solidFill>
                      <a:schemeClr val="bg1"/>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400" dirty="0">
                          <a:effectLst/>
                          <a:latin typeface="Cambria" panose="020405030504060302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tc>
                  <a:txBody>
                    <a:bodyPr/>
                    <a:lstStyle/>
                    <a:p>
                      <a:pPr algn="ctr">
                        <a:spcAft>
                          <a:spcPts val="0"/>
                        </a:spcAft>
                      </a:pPr>
                      <a:r>
                        <a:rPr lang="en-US" sz="2400" dirty="0">
                          <a:effectLst/>
                          <a:latin typeface="Cambria" panose="02040503050406030204" pitchFamily="18" charset="0"/>
                          <a:ea typeface="Times New Roman" panose="02020603050405020304" pitchFamily="18" charset="0"/>
                        </a:rPr>
                        <a:t>==</a:t>
                      </a:r>
                      <a:endParaRPr lang="en-US" sz="800" dirty="0">
                        <a:effectLst/>
                        <a:latin typeface="Cambria" panose="02040503050406030204" pitchFamily="18" charset="0"/>
                        <a:ea typeface="Times New Roman" panose="02020603050405020304" pitchFamily="18" charset="0"/>
                      </a:endParaRPr>
                    </a:p>
                  </a:txBody>
                  <a:tcPr marL="51435" marR="51435" marT="0" marB="0" anchor="ctr">
                    <a:solidFill>
                      <a:schemeClr val="bg1"/>
                    </a:solidFill>
                  </a:tcPr>
                </a:tc>
                <a:extLst>
                  <a:ext uri="{0D108BD9-81ED-4DB2-BD59-A6C34878D82A}">
                    <a16:rowId xmlns:a16="http://schemas.microsoft.com/office/drawing/2014/main" val="134757662"/>
                  </a:ext>
                </a:extLst>
              </a:tr>
            </a:tbl>
          </a:graphicData>
        </a:graphic>
      </p:graphicFrame>
      <p:grpSp>
        <p:nvGrpSpPr>
          <p:cNvPr id="8" name="Group 94"/>
          <p:cNvGrpSpPr>
            <a:grpSpLocks/>
          </p:cNvGrpSpPr>
          <p:nvPr/>
        </p:nvGrpSpPr>
        <p:grpSpPr bwMode="auto">
          <a:xfrm>
            <a:off x="5167744" y="4810445"/>
            <a:ext cx="411956" cy="205979"/>
            <a:chOff x="6624" y="5616"/>
            <a:chExt cx="1728" cy="864"/>
          </a:xfrm>
          <a:noFill/>
        </p:grpSpPr>
        <p:grpSp>
          <p:nvGrpSpPr>
            <p:cNvPr id="9" name="Group 97"/>
            <p:cNvGrpSpPr>
              <a:grpSpLocks/>
            </p:cNvGrpSpPr>
            <p:nvPr/>
          </p:nvGrpSpPr>
          <p:grpSpPr bwMode="auto">
            <a:xfrm>
              <a:off x="6624" y="5616"/>
              <a:ext cx="1152" cy="864"/>
              <a:chOff x="6624" y="5616"/>
              <a:chExt cx="1152" cy="864"/>
            </a:xfrm>
            <a:grpFill/>
          </p:grpSpPr>
          <p:sp>
            <p:nvSpPr>
              <p:cNvPr id="12" name="AutoShape 99"/>
              <p:cNvSpPr>
                <a:spLocks noChangeArrowheads="1"/>
              </p:cNvSpPr>
              <p:nvPr/>
            </p:nvSpPr>
            <p:spPr bwMode="auto">
              <a:xfrm rot="5400000">
                <a:off x="6912" y="5616"/>
                <a:ext cx="864" cy="864"/>
              </a:xfrm>
              <a:prstGeom prst="triangle">
                <a:avLst>
                  <a:gd name="adj" fmla="val 50000"/>
                </a:avLst>
              </a:prstGeom>
              <a:grp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US" sz="1013"/>
              </a:p>
            </p:txBody>
          </p:sp>
          <p:sp>
            <p:nvSpPr>
              <p:cNvPr id="13" name="Line 98"/>
              <p:cNvSpPr>
                <a:spLocks noChangeShapeType="1"/>
              </p:cNvSpPr>
              <p:nvPr/>
            </p:nvSpPr>
            <p:spPr bwMode="auto">
              <a:xfrm flipH="1">
                <a:off x="6624" y="6048"/>
                <a:ext cx="288" cy="0"/>
              </a:xfrm>
              <a:prstGeom prst="line">
                <a:avLst/>
              </a:prstGeom>
              <a:grp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US" sz="1013"/>
              </a:p>
            </p:txBody>
          </p:sp>
        </p:grpSp>
        <p:sp>
          <p:nvSpPr>
            <p:cNvPr id="10" name="Oval 96"/>
            <p:cNvSpPr>
              <a:spLocks noChangeArrowheads="1"/>
            </p:cNvSpPr>
            <p:nvPr/>
          </p:nvSpPr>
          <p:spPr bwMode="auto">
            <a:xfrm>
              <a:off x="7776" y="5904"/>
              <a:ext cx="288" cy="288"/>
            </a:xfrm>
            <a:prstGeom prst="ellipse">
              <a:avLst/>
            </a:prstGeom>
            <a:grp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US" sz="1013"/>
            </a:p>
          </p:txBody>
        </p:sp>
        <p:sp>
          <p:nvSpPr>
            <p:cNvPr id="11" name="Line 95"/>
            <p:cNvSpPr>
              <a:spLocks noChangeShapeType="1"/>
            </p:cNvSpPr>
            <p:nvPr/>
          </p:nvSpPr>
          <p:spPr bwMode="auto">
            <a:xfrm>
              <a:off x="8064" y="6048"/>
              <a:ext cx="288" cy="0"/>
            </a:xfrm>
            <a:prstGeom prst="line">
              <a:avLst/>
            </a:prstGeom>
            <a:grp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US" sz="1013"/>
            </a:p>
          </p:txBody>
        </p:sp>
      </p:grpSp>
      <p:grpSp>
        <p:nvGrpSpPr>
          <p:cNvPr id="14" name="Group 89"/>
          <p:cNvGrpSpPr>
            <a:grpSpLocks/>
          </p:cNvGrpSpPr>
          <p:nvPr/>
        </p:nvGrpSpPr>
        <p:grpSpPr bwMode="auto">
          <a:xfrm>
            <a:off x="5950359" y="4805258"/>
            <a:ext cx="479822" cy="205979"/>
            <a:chOff x="7632" y="5760"/>
            <a:chExt cx="1440" cy="720"/>
          </a:xfrm>
          <a:noFill/>
        </p:grpSpPr>
        <p:sp>
          <p:nvSpPr>
            <p:cNvPr id="15" name="AutoShape 93"/>
            <p:cNvSpPr>
              <a:spLocks noChangeArrowheads="1"/>
            </p:cNvSpPr>
            <p:nvPr/>
          </p:nvSpPr>
          <p:spPr bwMode="auto">
            <a:xfrm>
              <a:off x="7920" y="5760"/>
              <a:ext cx="864" cy="720"/>
            </a:xfrm>
            <a:prstGeom prst="flowChartDelay">
              <a:avLst/>
            </a:prstGeom>
            <a:grpFill/>
            <a:ln w="9525">
              <a:solidFill>
                <a:srgbClr val="000000"/>
              </a:solidFill>
              <a:miter lim="800000"/>
              <a:headEnd/>
              <a:tailEnd/>
            </a:ln>
          </p:spPr>
          <p:txBody>
            <a:bodyPr vert="horz" wrap="square" lIns="68580" tIns="34290" rIns="68580" bIns="34290" numCol="1" anchor="t" anchorCtr="0" compatLnSpc="1">
              <a:prstTxWarp prst="textNoShape">
                <a:avLst/>
              </a:prstTxWarp>
            </a:bodyPr>
            <a:lstStyle/>
            <a:p>
              <a:endParaRPr lang="en-US" sz="1013"/>
            </a:p>
          </p:txBody>
        </p:sp>
        <p:sp>
          <p:nvSpPr>
            <p:cNvPr id="16" name="Line 92"/>
            <p:cNvSpPr>
              <a:spLocks noChangeShapeType="1"/>
            </p:cNvSpPr>
            <p:nvPr/>
          </p:nvSpPr>
          <p:spPr bwMode="auto">
            <a:xfrm flipH="1">
              <a:off x="7632" y="5904"/>
              <a:ext cx="288" cy="0"/>
            </a:xfrm>
            <a:prstGeom prst="line">
              <a:avLst/>
            </a:prstGeom>
            <a:grp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US" sz="1013"/>
            </a:p>
          </p:txBody>
        </p:sp>
        <p:sp>
          <p:nvSpPr>
            <p:cNvPr id="17" name="Line 91"/>
            <p:cNvSpPr>
              <a:spLocks noChangeShapeType="1"/>
            </p:cNvSpPr>
            <p:nvPr/>
          </p:nvSpPr>
          <p:spPr bwMode="auto">
            <a:xfrm flipH="1">
              <a:off x="7632" y="6336"/>
              <a:ext cx="288" cy="0"/>
            </a:xfrm>
            <a:prstGeom prst="line">
              <a:avLst/>
            </a:prstGeom>
            <a:grp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US" sz="1013"/>
            </a:p>
          </p:txBody>
        </p:sp>
        <p:sp>
          <p:nvSpPr>
            <p:cNvPr id="18" name="Line 90"/>
            <p:cNvSpPr>
              <a:spLocks noChangeShapeType="1"/>
            </p:cNvSpPr>
            <p:nvPr/>
          </p:nvSpPr>
          <p:spPr bwMode="auto">
            <a:xfrm flipH="1">
              <a:off x="8784" y="6108"/>
              <a:ext cx="288" cy="0"/>
            </a:xfrm>
            <a:prstGeom prst="line">
              <a:avLst/>
            </a:prstGeom>
            <a:grpFill/>
            <a:ln w="9525">
              <a:solidFill>
                <a:srgbClr val="000000"/>
              </a:solidFill>
              <a:round/>
              <a:headEnd/>
              <a:tailEnd/>
            </a:ln>
          </p:spPr>
          <p:txBody>
            <a:bodyPr vert="horz" wrap="square" lIns="68580" tIns="34290" rIns="68580" bIns="34290" numCol="1" anchor="t" anchorCtr="0" compatLnSpc="1">
              <a:prstTxWarp prst="textNoShape">
                <a:avLst/>
              </a:prstTxWarp>
            </a:bodyPr>
            <a:lstStyle/>
            <a:p>
              <a:endParaRPr lang="en-US" sz="1013"/>
            </a:p>
          </p:txBody>
        </p:sp>
      </p:grpSp>
      <p:grpSp>
        <p:nvGrpSpPr>
          <p:cNvPr id="19" name="Group 73"/>
          <p:cNvGrpSpPr>
            <a:grpSpLocks/>
          </p:cNvGrpSpPr>
          <p:nvPr/>
        </p:nvGrpSpPr>
        <p:grpSpPr bwMode="auto">
          <a:xfrm>
            <a:off x="6866619" y="4810729"/>
            <a:ext cx="411956" cy="207169"/>
            <a:chOff x="9216" y="5902"/>
            <a:chExt cx="1528" cy="722"/>
          </a:xfrm>
        </p:grpSpPr>
        <p:sp>
          <p:nvSpPr>
            <p:cNvPr id="20" name="Freeform 80"/>
            <p:cNvSpPr>
              <a:spLocks/>
            </p:cNvSpPr>
            <p:nvPr/>
          </p:nvSpPr>
          <p:spPr bwMode="auto">
            <a:xfrm>
              <a:off x="9360" y="5904"/>
              <a:ext cx="314" cy="720"/>
            </a:xfrm>
            <a:custGeom>
              <a:avLst/>
              <a:gdLst>
                <a:gd name="T0" fmla="*/ 0 w 314"/>
                <a:gd name="T1" fmla="*/ 720 h 720"/>
                <a:gd name="T2" fmla="*/ 314 w 314"/>
                <a:gd name="T3" fmla="*/ 383 h 720"/>
                <a:gd name="T4" fmla="*/ 0 w 314"/>
                <a:gd name="T5" fmla="*/ 0 h 720"/>
              </a:gdLst>
              <a:ahLst/>
              <a:cxnLst>
                <a:cxn ang="0">
                  <a:pos x="T0" y="T1"/>
                </a:cxn>
                <a:cxn ang="0">
                  <a:pos x="T2" y="T3"/>
                </a:cxn>
                <a:cxn ang="0">
                  <a:pos x="T4" y="T5"/>
                </a:cxn>
              </a:cxnLst>
              <a:rect l="0" t="0" r="r" b="b"/>
              <a:pathLst>
                <a:path w="314" h="720">
                  <a:moveTo>
                    <a:pt x="0" y="720"/>
                  </a:moveTo>
                  <a:cubicBezTo>
                    <a:pt x="52" y="664"/>
                    <a:pt x="314" y="503"/>
                    <a:pt x="314" y="383"/>
                  </a:cubicBezTo>
                  <a:cubicBezTo>
                    <a:pt x="314" y="263"/>
                    <a:pt x="65" y="80"/>
                    <a:pt x="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grpSp>
          <p:nvGrpSpPr>
            <p:cNvPr id="21" name="Group 74"/>
            <p:cNvGrpSpPr>
              <a:grpSpLocks/>
            </p:cNvGrpSpPr>
            <p:nvPr/>
          </p:nvGrpSpPr>
          <p:grpSpPr bwMode="auto">
            <a:xfrm>
              <a:off x="9216" y="5902"/>
              <a:ext cx="1528" cy="719"/>
              <a:chOff x="9216" y="5902"/>
              <a:chExt cx="1528" cy="719"/>
            </a:xfrm>
          </p:grpSpPr>
          <p:sp>
            <p:nvSpPr>
              <p:cNvPr id="22" name="Freeform 79"/>
              <p:cNvSpPr>
                <a:spLocks/>
              </p:cNvSpPr>
              <p:nvPr/>
            </p:nvSpPr>
            <p:spPr bwMode="auto">
              <a:xfrm>
                <a:off x="9360" y="5902"/>
                <a:ext cx="1146" cy="365"/>
              </a:xfrm>
              <a:custGeom>
                <a:avLst/>
                <a:gdLst>
                  <a:gd name="T0" fmla="*/ 0 w 1146"/>
                  <a:gd name="T1" fmla="*/ 2 h 365"/>
                  <a:gd name="T2" fmla="*/ 700 w 1146"/>
                  <a:gd name="T3" fmla="*/ 61 h 365"/>
                  <a:gd name="T4" fmla="*/ 1146 w 1146"/>
                  <a:gd name="T5" fmla="*/ 365 h 365"/>
                </a:gdLst>
                <a:ahLst/>
                <a:cxnLst>
                  <a:cxn ang="0">
                    <a:pos x="T0" y="T1"/>
                  </a:cxn>
                  <a:cxn ang="0">
                    <a:pos x="T2" y="T3"/>
                  </a:cxn>
                  <a:cxn ang="0">
                    <a:pos x="T4" y="T5"/>
                  </a:cxn>
                </a:cxnLst>
                <a:rect l="0" t="0" r="r" b="b"/>
                <a:pathLst>
                  <a:path w="1146" h="365">
                    <a:moveTo>
                      <a:pt x="0" y="2"/>
                    </a:moveTo>
                    <a:cubicBezTo>
                      <a:pt x="117" y="12"/>
                      <a:pt x="509" y="0"/>
                      <a:pt x="700" y="61"/>
                    </a:cubicBezTo>
                    <a:cubicBezTo>
                      <a:pt x="891" y="122"/>
                      <a:pt x="1053" y="302"/>
                      <a:pt x="1146" y="36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23" name="Freeform 78"/>
              <p:cNvSpPr>
                <a:spLocks/>
              </p:cNvSpPr>
              <p:nvPr/>
            </p:nvSpPr>
            <p:spPr bwMode="auto">
              <a:xfrm flipV="1">
                <a:off x="9360" y="6256"/>
                <a:ext cx="1146" cy="365"/>
              </a:xfrm>
              <a:custGeom>
                <a:avLst/>
                <a:gdLst>
                  <a:gd name="T0" fmla="*/ 0 w 1146"/>
                  <a:gd name="T1" fmla="*/ 2 h 365"/>
                  <a:gd name="T2" fmla="*/ 700 w 1146"/>
                  <a:gd name="T3" fmla="*/ 61 h 365"/>
                  <a:gd name="T4" fmla="*/ 1146 w 1146"/>
                  <a:gd name="T5" fmla="*/ 365 h 365"/>
                </a:gdLst>
                <a:ahLst/>
                <a:cxnLst>
                  <a:cxn ang="0">
                    <a:pos x="T0" y="T1"/>
                  </a:cxn>
                  <a:cxn ang="0">
                    <a:pos x="T2" y="T3"/>
                  </a:cxn>
                  <a:cxn ang="0">
                    <a:pos x="T4" y="T5"/>
                  </a:cxn>
                </a:cxnLst>
                <a:rect l="0" t="0" r="r" b="b"/>
                <a:pathLst>
                  <a:path w="1146" h="365">
                    <a:moveTo>
                      <a:pt x="0" y="2"/>
                    </a:moveTo>
                    <a:cubicBezTo>
                      <a:pt x="117" y="12"/>
                      <a:pt x="509" y="0"/>
                      <a:pt x="700" y="61"/>
                    </a:cubicBezTo>
                    <a:cubicBezTo>
                      <a:pt x="891" y="122"/>
                      <a:pt x="1053" y="302"/>
                      <a:pt x="1146" y="36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24" name="Line 77"/>
              <p:cNvSpPr>
                <a:spLocks noChangeShapeType="1"/>
              </p:cNvSpPr>
              <p:nvPr/>
            </p:nvSpPr>
            <p:spPr bwMode="auto">
              <a:xfrm flipH="1">
                <a:off x="9216" y="6048"/>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25" name="Line 76"/>
              <p:cNvSpPr>
                <a:spLocks noChangeShapeType="1"/>
              </p:cNvSpPr>
              <p:nvPr/>
            </p:nvSpPr>
            <p:spPr bwMode="auto">
              <a:xfrm flipH="1">
                <a:off x="9256" y="6488"/>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26" name="Line 75"/>
              <p:cNvSpPr>
                <a:spLocks noChangeShapeType="1"/>
              </p:cNvSpPr>
              <p:nvPr/>
            </p:nvSpPr>
            <p:spPr bwMode="auto">
              <a:xfrm flipH="1">
                <a:off x="10456" y="6268"/>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013"/>
              </a:p>
            </p:txBody>
          </p:sp>
        </p:grpSp>
      </p:grpSp>
      <p:grpSp>
        <p:nvGrpSpPr>
          <p:cNvPr id="27" name="Group 81"/>
          <p:cNvGrpSpPr>
            <a:grpSpLocks/>
          </p:cNvGrpSpPr>
          <p:nvPr/>
        </p:nvGrpSpPr>
        <p:grpSpPr bwMode="auto">
          <a:xfrm>
            <a:off x="7571085" y="4810970"/>
            <a:ext cx="440531" cy="207169"/>
            <a:chOff x="10308" y="5904"/>
            <a:chExt cx="924" cy="434"/>
          </a:xfrm>
        </p:grpSpPr>
        <p:sp>
          <p:nvSpPr>
            <p:cNvPr id="28" name="Freeform 88"/>
            <p:cNvSpPr>
              <a:spLocks/>
            </p:cNvSpPr>
            <p:nvPr/>
          </p:nvSpPr>
          <p:spPr bwMode="auto">
            <a:xfrm>
              <a:off x="10389" y="5905"/>
              <a:ext cx="178" cy="433"/>
            </a:xfrm>
            <a:custGeom>
              <a:avLst/>
              <a:gdLst>
                <a:gd name="T0" fmla="*/ 0 w 314"/>
                <a:gd name="T1" fmla="*/ 720 h 720"/>
                <a:gd name="T2" fmla="*/ 314 w 314"/>
                <a:gd name="T3" fmla="*/ 383 h 720"/>
                <a:gd name="T4" fmla="*/ 0 w 314"/>
                <a:gd name="T5" fmla="*/ 0 h 720"/>
              </a:gdLst>
              <a:ahLst/>
              <a:cxnLst>
                <a:cxn ang="0">
                  <a:pos x="T0" y="T1"/>
                </a:cxn>
                <a:cxn ang="0">
                  <a:pos x="T2" y="T3"/>
                </a:cxn>
                <a:cxn ang="0">
                  <a:pos x="T4" y="T5"/>
                </a:cxn>
              </a:cxnLst>
              <a:rect l="0" t="0" r="r" b="b"/>
              <a:pathLst>
                <a:path w="314" h="720">
                  <a:moveTo>
                    <a:pt x="0" y="720"/>
                  </a:moveTo>
                  <a:cubicBezTo>
                    <a:pt x="52" y="664"/>
                    <a:pt x="314" y="503"/>
                    <a:pt x="314" y="383"/>
                  </a:cubicBezTo>
                  <a:cubicBezTo>
                    <a:pt x="314" y="263"/>
                    <a:pt x="65" y="80"/>
                    <a:pt x="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29" name="Freeform 87"/>
            <p:cNvSpPr>
              <a:spLocks/>
            </p:cNvSpPr>
            <p:nvPr/>
          </p:nvSpPr>
          <p:spPr bwMode="auto">
            <a:xfrm>
              <a:off x="10449" y="5904"/>
              <a:ext cx="648" cy="219"/>
            </a:xfrm>
            <a:custGeom>
              <a:avLst/>
              <a:gdLst>
                <a:gd name="T0" fmla="*/ 0 w 1146"/>
                <a:gd name="T1" fmla="*/ 2 h 365"/>
                <a:gd name="T2" fmla="*/ 700 w 1146"/>
                <a:gd name="T3" fmla="*/ 61 h 365"/>
                <a:gd name="T4" fmla="*/ 1146 w 1146"/>
                <a:gd name="T5" fmla="*/ 365 h 365"/>
              </a:gdLst>
              <a:ahLst/>
              <a:cxnLst>
                <a:cxn ang="0">
                  <a:pos x="T0" y="T1"/>
                </a:cxn>
                <a:cxn ang="0">
                  <a:pos x="T2" y="T3"/>
                </a:cxn>
                <a:cxn ang="0">
                  <a:pos x="T4" y="T5"/>
                </a:cxn>
              </a:cxnLst>
              <a:rect l="0" t="0" r="r" b="b"/>
              <a:pathLst>
                <a:path w="1146" h="365">
                  <a:moveTo>
                    <a:pt x="0" y="2"/>
                  </a:moveTo>
                  <a:cubicBezTo>
                    <a:pt x="117" y="12"/>
                    <a:pt x="509" y="0"/>
                    <a:pt x="700" y="61"/>
                  </a:cubicBezTo>
                  <a:cubicBezTo>
                    <a:pt x="891" y="122"/>
                    <a:pt x="1053" y="302"/>
                    <a:pt x="1146" y="36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30" name="Freeform 86"/>
            <p:cNvSpPr>
              <a:spLocks/>
            </p:cNvSpPr>
            <p:nvPr/>
          </p:nvSpPr>
          <p:spPr bwMode="auto">
            <a:xfrm flipV="1">
              <a:off x="10449" y="6117"/>
              <a:ext cx="648" cy="219"/>
            </a:xfrm>
            <a:custGeom>
              <a:avLst/>
              <a:gdLst>
                <a:gd name="T0" fmla="*/ 0 w 1146"/>
                <a:gd name="T1" fmla="*/ 2 h 365"/>
                <a:gd name="T2" fmla="*/ 700 w 1146"/>
                <a:gd name="T3" fmla="*/ 61 h 365"/>
                <a:gd name="T4" fmla="*/ 1146 w 1146"/>
                <a:gd name="T5" fmla="*/ 365 h 365"/>
              </a:gdLst>
              <a:ahLst/>
              <a:cxnLst>
                <a:cxn ang="0">
                  <a:pos x="T0" y="T1"/>
                </a:cxn>
                <a:cxn ang="0">
                  <a:pos x="T2" y="T3"/>
                </a:cxn>
                <a:cxn ang="0">
                  <a:pos x="T4" y="T5"/>
                </a:cxn>
              </a:cxnLst>
              <a:rect l="0" t="0" r="r" b="b"/>
              <a:pathLst>
                <a:path w="1146" h="365">
                  <a:moveTo>
                    <a:pt x="0" y="2"/>
                  </a:moveTo>
                  <a:cubicBezTo>
                    <a:pt x="117" y="12"/>
                    <a:pt x="509" y="0"/>
                    <a:pt x="700" y="61"/>
                  </a:cubicBezTo>
                  <a:cubicBezTo>
                    <a:pt x="891" y="122"/>
                    <a:pt x="1053" y="302"/>
                    <a:pt x="1146" y="36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31" name="Line 85"/>
            <p:cNvSpPr>
              <a:spLocks noChangeShapeType="1"/>
            </p:cNvSpPr>
            <p:nvPr/>
          </p:nvSpPr>
          <p:spPr bwMode="auto">
            <a:xfrm flipH="1">
              <a:off x="10308" y="5992"/>
              <a:ext cx="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32" name="Line 84"/>
            <p:cNvSpPr>
              <a:spLocks noChangeShapeType="1"/>
            </p:cNvSpPr>
            <p:nvPr/>
          </p:nvSpPr>
          <p:spPr bwMode="auto">
            <a:xfrm flipH="1">
              <a:off x="10331" y="6256"/>
              <a:ext cx="1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33" name="Line 83"/>
            <p:cNvSpPr>
              <a:spLocks noChangeShapeType="1"/>
            </p:cNvSpPr>
            <p:nvPr/>
          </p:nvSpPr>
          <p:spPr bwMode="auto">
            <a:xfrm flipH="1">
              <a:off x="11069" y="6124"/>
              <a:ext cx="1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sz="1013"/>
            </a:p>
          </p:txBody>
        </p:sp>
        <p:sp>
          <p:nvSpPr>
            <p:cNvPr id="34" name="Freeform 82"/>
            <p:cNvSpPr>
              <a:spLocks/>
            </p:cNvSpPr>
            <p:nvPr/>
          </p:nvSpPr>
          <p:spPr bwMode="auto">
            <a:xfrm>
              <a:off x="10482" y="5904"/>
              <a:ext cx="178" cy="433"/>
            </a:xfrm>
            <a:custGeom>
              <a:avLst/>
              <a:gdLst>
                <a:gd name="T0" fmla="*/ 0 w 314"/>
                <a:gd name="T1" fmla="*/ 720 h 720"/>
                <a:gd name="T2" fmla="*/ 314 w 314"/>
                <a:gd name="T3" fmla="*/ 383 h 720"/>
                <a:gd name="T4" fmla="*/ 0 w 314"/>
                <a:gd name="T5" fmla="*/ 0 h 720"/>
              </a:gdLst>
              <a:ahLst/>
              <a:cxnLst>
                <a:cxn ang="0">
                  <a:pos x="T0" y="T1"/>
                </a:cxn>
                <a:cxn ang="0">
                  <a:pos x="T2" y="T3"/>
                </a:cxn>
                <a:cxn ang="0">
                  <a:pos x="T4" y="T5"/>
                </a:cxn>
              </a:cxnLst>
              <a:rect l="0" t="0" r="r" b="b"/>
              <a:pathLst>
                <a:path w="314" h="720">
                  <a:moveTo>
                    <a:pt x="0" y="720"/>
                  </a:moveTo>
                  <a:cubicBezTo>
                    <a:pt x="52" y="664"/>
                    <a:pt x="314" y="503"/>
                    <a:pt x="314" y="383"/>
                  </a:cubicBezTo>
                  <a:cubicBezTo>
                    <a:pt x="314" y="263"/>
                    <a:pt x="65" y="80"/>
                    <a:pt x="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13"/>
            </a:p>
          </p:txBody>
        </p:sp>
      </p:grpSp>
    </p:spTree>
    <p:extLst>
      <p:ext uri="{BB962C8B-B14F-4D97-AF65-F5344CB8AC3E}">
        <p14:creationId xmlns:p14="http://schemas.microsoft.com/office/powerpoint/2010/main" val="35771703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Precedence of Logical Operators</a:t>
            </a:r>
          </a:p>
        </p:txBody>
      </p:sp>
      <p:sp>
        <p:nvSpPr>
          <p:cNvPr id="3" name="Content Placeholder 2"/>
          <p:cNvSpPr>
            <a:spLocks noGrp="1"/>
          </p:cNvSpPr>
          <p:nvPr>
            <p:ph idx="1"/>
          </p:nvPr>
        </p:nvSpPr>
        <p:spPr/>
        <p:txBody>
          <a:bodyPr/>
          <a:lstStyle/>
          <a:p>
            <a:endParaRPr lang="en-US" i="1" dirty="0">
              <a:latin typeface="Cambria Math" pitchFamily="18" charset="0"/>
              <a:ea typeface="Cambria Math" pitchFamily="18" charset="0"/>
            </a:endParaRPr>
          </a:p>
          <a:p>
            <a:endParaRPr lang="en-US" i="1" dirty="0">
              <a:latin typeface="Cambria Math" pitchFamily="18" charset="0"/>
              <a:ea typeface="Cambria Math" pitchFamily="18" charset="0"/>
            </a:endParaRPr>
          </a:p>
          <a:p>
            <a:endParaRPr lang="en-US" i="1" dirty="0">
              <a:latin typeface="Cambria Math" pitchFamily="18" charset="0"/>
              <a:ea typeface="Cambria Math" pitchFamily="18" charset="0"/>
            </a:endParaRPr>
          </a:p>
          <a:p>
            <a:endParaRPr lang="en-US" i="1" dirty="0">
              <a:latin typeface="Cambria Math" pitchFamily="18" charset="0"/>
              <a:ea typeface="Cambria Math" pitchFamily="18" charset="0"/>
            </a:endParaRPr>
          </a:p>
          <a:p>
            <a:endParaRPr lang="en-US" i="1" dirty="0">
              <a:latin typeface="Cambria Math" pitchFamily="18" charset="0"/>
              <a:ea typeface="Cambria Math" pitchFamily="18" charset="0"/>
            </a:endParaRPr>
          </a:p>
          <a:p>
            <a:r>
              <a:rPr lang="en-US" i="1" dirty="0">
                <a:latin typeface="Cambria Math" pitchFamily="18" charset="0"/>
                <a:ea typeface="Cambria Math" pitchFamily="18" charset="0"/>
              </a:rPr>
              <a:t>p  </a:t>
            </a:r>
            <a:r>
              <a:rPr lang="en-US" dirty="0">
                <a:latin typeface="Cambria Math" pitchFamily="18" charset="0"/>
                <a:ea typeface="Cambria Math" pitchFamily="18" charset="0"/>
                <a:sym typeface="Symbol"/>
              </a:rPr>
              <a:t> </a:t>
            </a:r>
            <a:r>
              <a:rPr lang="en-US" i="1" dirty="0">
                <a:latin typeface="Cambria Math" pitchFamily="18" charset="0"/>
                <a:ea typeface="Cambria Math" pitchFamily="18" charset="0"/>
                <a:sym typeface="Symbol"/>
              </a:rPr>
              <a:t>q </a:t>
            </a:r>
            <a:r>
              <a:rPr lang="en-US" dirty="0">
                <a:latin typeface="Cambria Math" pitchFamily="18" charset="0"/>
                <a:ea typeface="Cambria Math" pitchFamily="18" charset="0"/>
                <a:sym typeface="Symbol"/>
              </a:rPr>
              <a:t>  </a:t>
            </a:r>
            <a:r>
              <a:rPr lang="en-US" i="1" dirty="0">
                <a:latin typeface="Cambria Math" pitchFamily="18" charset="0"/>
                <a:ea typeface="Cambria Math" pitchFamily="18" charset="0"/>
                <a:sym typeface="Symbol"/>
              </a:rPr>
              <a:t>r   </a:t>
            </a:r>
            <a:r>
              <a:rPr lang="en-US" dirty="0">
                <a:ea typeface="Cambria Math" pitchFamily="18" charset="0"/>
                <a:sym typeface="Symbol"/>
              </a:rPr>
              <a:t>is equivalent to</a:t>
            </a:r>
            <a:r>
              <a:rPr lang="en-US" dirty="0">
                <a:ea typeface="Cambria Math" pitchFamily="18" charset="0"/>
              </a:rPr>
              <a:t> </a:t>
            </a:r>
            <a:r>
              <a:rPr lang="en-US" dirty="0">
                <a:latin typeface="Cambria Math" pitchFamily="18" charset="0"/>
                <a:ea typeface="Cambria Math" pitchFamily="18" charset="0"/>
              </a:rPr>
              <a:t>(</a:t>
            </a:r>
            <a:r>
              <a:rPr lang="en-US" i="1" dirty="0">
                <a:latin typeface="Cambria Math" pitchFamily="18" charset="0"/>
                <a:ea typeface="Cambria Math" pitchFamily="18" charset="0"/>
              </a:rPr>
              <a:t>p  </a:t>
            </a:r>
            <a:r>
              <a:rPr lang="en-US" dirty="0">
                <a:latin typeface="Cambria Math" pitchFamily="18" charset="0"/>
                <a:ea typeface="Cambria Math" pitchFamily="18" charset="0"/>
                <a:sym typeface="Symbol"/>
              </a:rPr>
              <a:t> </a:t>
            </a:r>
            <a:r>
              <a:rPr lang="en-US" i="1" dirty="0">
                <a:latin typeface="Cambria Math" pitchFamily="18" charset="0"/>
                <a:ea typeface="Cambria Math" pitchFamily="18" charset="0"/>
                <a:sym typeface="Symbol"/>
              </a:rPr>
              <a:t>q</a:t>
            </a:r>
            <a:r>
              <a:rPr lang="en-US" dirty="0">
                <a:latin typeface="Cambria Math" pitchFamily="18" charset="0"/>
                <a:ea typeface="Cambria Math" pitchFamily="18" charset="0"/>
                <a:sym typeface="Symbol"/>
              </a:rPr>
              <a:t>)</a:t>
            </a:r>
            <a:r>
              <a:rPr lang="en-US" i="1" dirty="0">
                <a:latin typeface="Cambria Math" pitchFamily="18" charset="0"/>
                <a:ea typeface="Cambria Math" pitchFamily="18" charset="0"/>
                <a:sym typeface="Symbol"/>
              </a:rPr>
              <a:t> </a:t>
            </a:r>
            <a:r>
              <a:rPr lang="en-US" dirty="0">
                <a:latin typeface="Cambria Math" pitchFamily="18" charset="0"/>
                <a:ea typeface="Cambria Math" pitchFamily="18" charset="0"/>
                <a:sym typeface="Symbol"/>
              </a:rPr>
              <a:t>  </a:t>
            </a:r>
            <a:r>
              <a:rPr lang="en-US" i="1" dirty="0">
                <a:latin typeface="Cambria Math" pitchFamily="18" charset="0"/>
                <a:ea typeface="Cambria Math" pitchFamily="18" charset="0"/>
                <a:sym typeface="Symbol"/>
              </a:rPr>
              <a:t>r</a:t>
            </a:r>
          </a:p>
          <a:p>
            <a:r>
              <a:rPr lang="en-US" dirty="0">
                <a:ea typeface="Cambria Math" pitchFamily="18" charset="0"/>
                <a:sym typeface="Symbol"/>
              </a:rPr>
              <a:t>If the intended meaning is </a:t>
            </a:r>
            <a:r>
              <a:rPr lang="en-US" i="1" dirty="0">
                <a:latin typeface="Cambria Math" pitchFamily="18" charset="0"/>
                <a:ea typeface="Cambria Math" pitchFamily="18" charset="0"/>
              </a:rPr>
              <a:t>p  </a:t>
            </a:r>
            <a:r>
              <a:rPr lang="en-US" dirty="0">
                <a:latin typeface="Cambria Math" pitchFamily="18" charset="0"/>
                <a:ea typeface="Cambria Math" pitchFamily="18" charset="0"/>
                <a:sym typeface="Symbol"/>
              </a:rPr>
              <a:t> (</a:t>
            </a:r>
            <a:r>
              <a:rPr lang="en-US" i="1" dirty="0">
                <a:latin typeface="Cambria Math" pitchFamily="18" charset="0"/>
                <a:ea typeface="Cambria Math" pitchFamily="18" charset="0"/>
                <a:sym typeface="Symbol"/>
              </a:rPr>
              <a:t>q </a:t>
            </a:r>
            <a:r>
              <a:rPr lang="en-US" dirty="0">
                <a:latin typeface="Cambria Math" pitchFamily="18" charset="0"/>
                <a:ea typeface="Cambria Math" pitchFamily="18" charset="0"/>
                <a:sym typeface="Symbol"/>
              </a:rPr>
              <a:t>  </a:t>
            </a:r>
            <a:r>
              <a:rPr lang="en-US" i="1" dirty="0">
                <a:latin typeface="Cambria Math" pitchFamily="18" charset="0"/>
                <a:ea typeface="Cambria Math" pitchFamily="18" charset="0"/>
                <a:sym typeface="Symbol"/>
              </a:rPr>
              <a:t>r </a:t>
            </a:r>
            <a:r>
              <a:rPr lang="en-US" dirty="0">
                <a:latin typeface="Cambria Math" pitchFamily="18" charset="0"/>
                <a:ea typeface="Cambria Math" pitchFamily="18" charset="0"/>
                <a:sym typeface="Symbol"/>
              </a:rPr>
              <a:t>) </a:t>
            </a:r>
            <a:r>
              <a:rPr lang="en-US" dirty="0">
                <a:ea typeface="Cambria Math" pitchFamily="18" charset="0"/>
                <a:sym typeface="Symbol"/>
              </a:rPr>
              <a:t>then parentheses must be used.</a:t>
            </a:r>
            <a:r>
              <a:rPr lang="en-US" i="1" dirty="0">
                <a:ea typeface="Cambria Math" pitchFamily="18" charset="0"/>
                <a:sym typeface="Symbol"/>
              </a:rPr>
              <a:t>    </a:t>
            </a:r>
            <a:endParaRPr lang="en-US" i="1" dirty="0">
              <a:ea typeface="Cambria Math" pitchFamily="18" charset="0"/>
            </a:endParaRPr>
          </a:p>
          <a:p>
            <a:endParaRPr lang="en-US"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41</a:t>
            </a:fld>
            <a:endParaRPr lang="en-US"/>
          </a:p>
        </p:txBody>
      </p:sp>
      <mc:AlternateContent xmlns:mc="http://schemas.openxmlformats.org/markup-compatibility/2006" xmlns:a14="http://schemas.microsoft.com/office/drawing/2010/main">
        <mc:Choice Requires="a14">
          <p:graphicFrame>
            <p:nvGraphicFramePr>
              <p:cNvPr id="7" name="object 5"/>
              <p:cNvGraphicFramePr>
                <a:graphicFrameLocks noGrp="1"/>
              </p:cNvGraphicFramePr>
              <p:nvPr>
                <p:extLst>
                  <p:ext uri="{D42A27DB-BD31-4B8C-83A1-F6EECF244321}">
                    <p14:modId xmlns:p14="http://schemas.microsoft.com/office/powerpoint/2010/main" val="2448485081"/>
                  </p:ext>
                </p:extLst>
              </p:nvPr>
            </p:nvGraphicFramePr>
            <p:xfrm>
              <a:off x="3785692" y="1422857"/>
              <a:ext cx="4878805" cy="2316285"/>
            </p:xfrm>
            <a:graphic>
              <a:graphicData uri="http://schemas.openxmlformats.org/drawingml/2006/table">
                <a:tbl>
                  <a:tblPr firstRow="1" bandRow="1">
                    <a:tableStyleId>{5DA37D80-6434-44D0-A028-1B22A696006F}</a:tableStyleId>
                  </a:tblPr>
                  <a:tblGrid>
                    <a:gridCol w="2397151">
                      <a:extLst>
                        <a:ext uri="{9D8B030D-6E8A-4147-A177-3AD203B41FA5}">
                          <a16:colId xmlns:a16="http://schemas.microsoft.com/office/drawing/2014/main" val="20001"/>
                        </a:ext>
                      </a:extLst>
                    </a:gridCol>
                    <a:gridCol w="2481654">
                      <a:extLst>
                        <a:ext uri="{9D8B030D-6E8A-4147-A177-3AD203B41FA5}">
                          <a16:colId xmlns:a16="http://schemas.microsoft.com/office/drawing/2014/main" val="20002"/>
                        </a:ext>
                      </a:extLst>
                    </a:gridCol>
                  </a:tblGrid>
                  <a:tr h="401341">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sz="2400" b="0" dirty="0"/>
                            <a:t>Operator</a:t>
                          </a:r>
                          <a:endParaRPr lang="en-US" sz="2400" b="0" dirty="0">
                            <a:latin typeface="+mn-lt"/>
                            <a:cs typeface="Arial"/>
                          </a:endParaRPr>
                        </a:p>
                      </a:txBody>
                      <a:tcPr marL="0" marR="0" marT="0" marB="0" anchor="ctr"/>
                    </a:tc>
                    <a:tc>
                      <a:txBody>
                        <a:bodyPr/>
                        <a:lstStyle/>
                        <a:p>
                          <a:pPr marL="0" indent="0" algn="ctr">
                            <a:lnSpc>
                              <a:spcPct val="100000"/>
                            </a:lnSpc>
                          </a:pPr>
                          <a:r>
                            <a:rPr lang="en-US" sz="2400" b="0" dirty="0"/>
                            <a:t>Precedence</a:t>
                          </a:r>
                          <a:endParaRPr sz="2400" b="0" dirty="0">
                            <a:latin typeface="+mn-lt"/>
                            <a:cs typeface="Arial"/>
                          </a:endParaRPr>
                        </a:p>
                      </a:txBody>
                      <a:tcPr marL="0" marR="0" marT="0" marB="0" anchor="ctr"/>
                    </a:tc>
                    <a:extLst>
                      <a:ext uri="{0D108BD9-81ED-4DB2-BD59-A6C34878D82A}">
                        <a16:rowId xmlns:a16="http://schemas.microsoft.com/office/drawing/2014/main" val="10000"/>
                      </a:ext>
                    </a:extLst>
                  </a:tr>
                  <a:tr h="408403">
                    <a:tc>
                      <a:txBody>
                        <a:bodyPr/>
                        <a:lstStyle/>
                        <a:p>
                          <a:pPr marL="155575" marR="0" lvl="0" indent="0" algn="ctr" defTabSz="914377" rtl="0" eaLnBrk="1" fontAlgn="auto" latinLnBrk="0" hangingPunct="1">
                            <a:lnSpc>
                              <a:spcPct val="100000"/>
                            </a:lnSpc>
                            <a:spcBef>
                              <a:spcPts val="0"/>
                            </a:spcBef>
                            <a:spcAft>
                              <a:spcPts val="0"/>
                            </a:spcAft>
                            <a:buClrTx/>
                            <a:buSzTx/>
                            <a:buFontTx/>
                            <a:buNone/>
                            <a:tabLst/>
                            <a:defRPr/>
                          </a:pPr>
                          <a:r>
                            <a:rPr lang="en-US" sz="2400" b="1" dirty="0">
                              <a:solidFill>
                                <a:srgbClr val="C00000"/>
                              </a:solidFill>
                              <a:latin typeface="+mn-lt"/>
                              <a:ea typeface="Cambria" panose="02040503050406030204" pitchFamily="18" charset="0"/>
                              <a:sym typeface="Symbol"/>
                            </a:rPr>
                            <a:t></a:t>
                          </a:r>
                          <a:endParaRPr lang="en-US" sz="2400" b="1" dirty="0">
                            <a:solidFill>
                              <a:srgbClr val="C00000"/>
                            </a:solidFill>
                            <a:latin typeface="+mn-lt"/>
                            <a:ea typeface="Cambria" panose="02040503050406030204" pitchFamily="18" charset="0"/>
                          </a:endParaRPr>
                        </a:p>
                      </a:txBody>
                      <a:tcPr marL="0" marR="0" marT="0" marB="0"/>
                    </a:tc>
                    <a:tc>
                      <a:txBody>
                        <a:bodyPr/>
                        <a:lstStyle/>
                        <a:p>
                          <a:pPr algn="ctr"/>
                          <a:r>
                            <a:rPr lang="en-US" sz="2400" dirty="0">
                              <a:latin typeface="+mn-lt"/>
                              <a:cs typeface="Arial"/>
                            </a:rPr>
                            <a:t>1</a:t>
                          </a:r>
                          <a:endParaRPr sz="2400" dirty="0">
                            <a:latin typeface="+mn-lt"/>
                            <a:cs typeface="Arial"/>
                          </a:endParaRPr>
                        </a:p>
                      </a:txBody>
                      <a:tcPr marL="0" marR="0" marT="0" marB="0"/>
                    </a:tc>
                    <a:extLst>
                      <a:ext uri="{0D108BD9-81ED-4DB2-BD59-A6C34878D82A}">
                        <a16:rowId xmlns:a16="http://schemas.microsoft.com/office/drawing/2014/main" val="10001"/>
                      </a:ext>
                    </a:extLst>
                  </a:tr>
                  <a:tr h="409261">
                    <a:tc>
                      <a:txBody>
                        <a:bodyPr/>
                        <a:lstStyle/>
                        <a:p>
                          <a:pPr marL="155575" algn="ctr">
                            <a:lnSpc>
                              <a:spcPct val="100000"/>
                            </a:lnSpc>
                          </a:pPr>
                          <a:r>
                            <a:rPr lang="en-US" sz="2400" dirty="0">
                              <a:solidFill>
                                <a:srgbClr val="C00000"/>
                              </a:solidFill>
                              <a:ea typeface="Cambria Math" panose="02040503050406030204" pitchFamily="18" charset="0"/>
                            </a:rPr>
                            <a:t> </a:t>
                          </a:r>
                          <a14:m>
                            <m:oMath xmlns:m="http://schemas.openxmlformats.org/officeDocument/2006/math">
                              <m:r>
                                <a:rPr lang="en-US" sz="2400" i="1" dirty="0" smtClean="0">
                                  <a:solidFill>
                                    <a:srgbClr val="C00000"/>
                                  </a:solidFill>
                                  <a:latin typeface="Cambria Math" panose="02040503050406030204" pitchFamily="18" charset="0"/>
                                  <a:ea typeface="Cambria Math" panose="02040503050406030204" pitchFamily="18" charset="0"/>
                                </a:rPr>
                                <m:t>⋀</m:t>
                              </m:r>
                            </m:oMath>
                          </a14:m>
                          <a:endParaRPr lang="en-US" sz="2400" dirty="0">
                            <a:solidFill>
                              <a:srgbClr val="C00000"/>
                            </a:solidFill>
                            <a:latin typeface="+mn-lt"/>
                            <a:cs typeface="Arial"/>
                          </a:endParaRPr>
                        </a:p>
                      </a:txBody>
                      <a:tcPr marL="0" marR="0" marT="0" marB="0"/>
                    </a:tc>
                    <a:tc>
                      <a:txBody>
                        <a:bodyPr/>
                        <a:lstStyle/>
                        <a:p>
                          <a:pPr algn="ctr"/>
                          <a:r>
                            <a:rPr lang="en-US" sz="2400" dirty="0">
                              <a:latin typeface="+mn-lt"/>
                              <a:cs typeface="Arial"/>
                            </a:rPr>
                            <a:t>2</a:t>
                          </a:r>
                          <a:endParaRPr sz="2400" dirty="0">
                            <a:latin typeface="+mn-lt"/>
                            <a:cs typeface="Arial"/>
                          </a:endParaRPr>
                        </a:p>
                      </a:txBody>
                      <a:tcPr marL="0" marR="0" marT="0" marB="0"/>
                    </a:tc>
                    <a:extLst>
                      <a:ext uri="{0D108BD9-81ED-4DB2-BD59-A6C34878D82A}">
                        <a16:rowId xmlns:a16="http://schemas.microsoft.com/office/drawing/2014/main" val="10002"/>
                      </a:ext>
                    </a:extLst>
                  </a:tr>
                  <a:tr h="201100">
                    <a:tc>
                      <a:txBody>
                        <a:bodyPr/>
                        <a:lstStyle/>
                        <a:p>
                          <a:pPr marL="155575" algn="ctr">
                            <a:lnSpc>
                              <a:spcPct val="100000"/>
                            </a:lnSpc>
                          </a:pPr>
                          <a:r>
                            <a:rPr lang="en-US" altLang="zh-TW" sz="2400" dirty="0">
                              <a:solidFill>
                                <a:srgbClr val="C00000"/>
                              </a:solidFill>
                              <a:ea typeface="新細明體" pitchFamily="18" charset="-120"/>
                              <a:sym typeface="Symbol" pitchFamily="18" charset="2"/>
                            </a:rPr>
                            <a:t>∨</a:t>
                          </a:r>
                          <a:endParaRPr sz="2400" dirty="0">
                            <a:solidFill>
                              <a:srgbClr val="C00000"/>
                            </a:solidFill>
                            <a:latin typeface="+mn-lt"/>
                            <a:cs typeface="Arial"/>
                          </a:endParaRPr>
                        </a:p>
                      </a:txBody>
                      <a:tcPr marL="0" marR="0" marT="0" marB="0"/>
                    </a:tc>
                    <a:tc>
                      <a:txBody>
                        <a:bodyPr/>
                        <a:lstStyle/>
                        <a:p>
                          <a:pPr marL="0" indent="0" algn="ctr">
                            <a:lnSpc>
                              <a:spcPct val="100000"/>
                            </a:lnSpc>
                          </a:pPr>
                          <a:r>
                            <a:rPr lang="en-US" sz="2400" dirty="0"/>
                            <a:t>3</a:t>
                          </a:r>
                          <a:endParaRPr sz="2400" dirty="0">
                            <a:latin typeface="+mn-lt"/>
                            <a:cs typeface="Arial"/>
                          </a:endParaRPr>
                        </a:p>
                      </a:txBody>
                      <a:tcPr marL="0" marR="0" marT="0" marB="0"/>
                    </a:tc>
                    <a:extLst>
                      <a:ext uri="{0D108BD9-81ED-4DB2-BD59-A6C34878D82A}">
                        <a16:rowId xmlns:a16="http://schemas.microsoft.com/office/drawing/2014/main" val="10003"/>
                      </a:ext>
                    </a:extLst>
                  </a:tr>
                  <a:tr h="182880">
                    <a:tc>
                      <a:txBody>
                        <a:bodyPr/>
                        <a:lstStyle/>
                        <a:p>
                          <a:pPr marL="155575" algn="ctr">
                            <a:lnSpc>
                              <a:spcPct val="100000"/>
                            </a:lnSpc>
                          </a:pPr>
                          <a:r>
                            <a:rPr lang="en-US" sz="2400" b="1" dirty="0">
                              <a:solidFill>
                                <a:srgbClr val="C00000"/>
                              </a:solidFill>
                              <a:sym typeface="Symbol"/>
                            </a:rPr>
                            <a:t></a:t>
                          </a:r>
                          <a:endParaRPr sz="2400" dirty="0">
                            <a:solidFill>
                              <a:srgbClr val="C00000"/>
                            </a:solidFill>
                            <a:latin typeface="+mn-lt"/>
                            <a:cs typeface="Arial"/>
                          </a:endParaRPr>
                        </a:p>
                      </a:txBody>
                      <a:tcPr marL="0" marR="0" marT="0" marB="0"/>
                    </a:tc>
                    <a:tc>
                      <a:txBody>
                        <a:bodyPr/>
                        <a:lstStyle/>
                        <a:p>
                          <a:pPr marL="0" indent="0" algn="ctr">
                            <a:lnSpc>
                              <a:spcPct val="100000"/>
                            </a:lnSpc>
                          </a:pPr>
                          <a:r>
                            <a:rPr lang="en-US" sz="2400" dirty="0">
                              <a:latin typeface="+mn-lt"/>
                              <a:cs typeface="Arial"/>
                            </a:rPr>
                            <a:t>4</a:t>
                          </a:r>
                          <a:endParaRPr sz="2400" dirty="0">
                            <a:latin typeface="+mn-lt"/>
                            <a:cs typeface="Arial"/>
                          </a:endParaRPr>
                        </a:p>
                      </a:txBody>
                      <a:tcPr marL="0" marR="0" marT="0" marB="0"/>
                    </a:tc>
                    <a:extLst>
                      <a:ext uri="{0D108BD9-81ED-4DB2-BD59-A6C34878D82A}">
                        <a16:rowId xmlns:a16="http://schemas.microsoft.com/office/drawing/2014/main" val="2665103712"/>
                      </a:ext>
                    </a:extLst>
                  </a:tr>
                  <a:tr h="182880">
                    <a:tc>
                      <a:txBody>
                        <a:bodyPr/>
                        <a:lstStyle/>
                        <a:p>
                          <a:pPr marL="155575" algn="ctr">
                            <a:lnSpc>
                              <a:spcPct val="100000"/>
                            </a:lnSpc>
                          </a:pPr>
                          <a:r>
                            <a:rPr lang="en-US" sz="2400" dirty="0">
                              <a:solidFill>
                                <a:srgbClr val="C00000"/>
                              </a:solidFill>
                              <a:sym typeface="Symbol"/>
                            </a:rPr>
                            <a:t></a:t>
                          </a:r>
                          <a:endParaRPr sz="2400" dirty="0">
                            <a:solidFill>
                              <a:srgbClr val="C00000"/>
                            </a:solidFill>
                            <a:latin typeface="+mn-lt"/>
                            <a:cs typeface="Arial"/>
                          </a:endParaRPr>
                        </a:p>
                      </a:txBody>
                      <a:tcPr marL="0" marR="0" marT="0" marB="0"/>
                    </a:tc>
                    <a:tc>
                      <a:txBody>
                        <a:bodyPr/>
                        <a:lstStyle/>
                        <a:p>
                          <a:pPr marL="0" indent="0" algn="ctr">
                            <a:lnSpc>
                              <a:spcPct val="100000"/>
                            </a:lnSpc>
                          </a:pPr>
                          <a:r>
                            <a:rPr lang="en-US" sz="2400" dirty="0">
                              <a:latin typeface="+mn-lt"/>
                              <a:cs typeface="Arial"/>
                            </a:rPr>
                            <a:t>5</a:t>
                          </a:r>
                          <a:endParaRPr sz="2400" dirty="0">
                            <a:latin typeface="+mn-lt"/>
                            <a:cs typeface="Arial"/>
                          </a:endParaRPr>
                        </a:p>
                      </a:txBody>
                      <a:tcPr marL="0" marR="0" marT="0" marB="0"/>
                    </a:tc>
                    <a:extLst>
                      <a:ext uri="{0D108BD9-81ED-4DB2-BD59-A6C34878D82A}">
                        <a16:rowId xmlns:a16="http://schemas.microsoft.com/office/drawing/2014/main" val="3240024515"/>
                      </a:ext>
                    </a:extLst>
                  </a:tr>
                </a:tbl>
              </a:graphicData>
            </a:graphic>
          </p:graphicFrame>
        </mc:Choice>
        <mc:Fallback xmlns="">
          <p:graphicFrame>
            <p:nvGraphicFramePr>
              <p:cNvPr id="7" name="object 5"/>
              <p:cNvGraphicFramePr>
                <a:graphicFrameLocks noGrp="1"/>
              </p:cNvGraphicFramePr>
              <p:nvPr>
                <p:extLst>
                  <p:ext uri="{D42A27DB-BD31-4B8C-83A1-F6EECF244321}">
                    <p14:modId xmlns:p14="http://schemas.microsoft.com/office/powerpoint/2010/main" val="2448485081"/>
                  </p:ext>
                </p:extLst>
              </p:nvPr>
            </p:nvGraphicFramePr>
            <p:xfrm>
              <a:off x="3785692" y="1422857"/>
              <a:ext cx="4878805" cy="2316285"/>
            </p:xfrm>
            <a:graphic>
              <a:graphicData uri="http://schemas.openxmlformats.org/drawingml/2006/table">
                <a:tbl>
                  <a:tblPr firstRow="1" bandRow="1">
                    <a:tableStyleId>{5DA37D80-6434-44D0-A028-1B22A696006F}</a:tableStyleId>
                  </a:tblPr>
                  <a:tblGrid>
                    <a:gridCol w="2397151">
                      <a:extLst>
                        <a:ext uri="{9D8B030D-6E8A-4147-A177-3AD203B41FA5}">
                          <a16:colId xmlns:a16="http://schemas.microsoft.com/office/drawing/2014/main" val="20001"/>
                        </a:ext>
                      </a:extLst>
                    </a:gridCol>
                    <a:gridCol w="2481654">
                      <a:extLst>
                        <a:ext uri="{9D8B030D-6E8A-4147-A177-3AD203B41FA5}">
                          <a16:colId xmlns:a16="http://schemas.microsoft.com/office/drawing/2014/main" val="20002"/>
                        </a:ext>
                      </a:extLst>
                    </a:gridCol>
                  </a:tblGrid>
                  <a:tr h="401341">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sz="2400" b="0" dirty="0" smtClean="0"/>
                            <a:t>Operator</a:t>
                          </a:r>
                          <a:endParaRPr lang="en-US" sz="2400" b="0" dirty="0" smtClean="0">
                            <a:latin typeface="+mn-lt"/>
                            <a:cs typeface="Arial"/>
                          </a:endParaRPr>
                        </a:p>
                      </a:txBody>
                      <a:tcPr marL="0" marR="0" marT="0" marB="0" anchor="ctr"/>
                    </a:tc>
                    <a:tc>
                      <a:txBody>
                        <a:bodyPr/>
                        <a:lstStyle/>
                        <a:p>
                          <a:pPr marL="0" indent="0" algn="ctr">
                            <a:lnSpc>
                              <a:spcPct val="100000"/>
                            </a:lnSpc>
                          </a:pPr>
                          <a:r>
                            <a:rPr lang="en-US" sz="2400" b="0" dirty="0" smtClean="0"/>
                            <a:t>Precedence</a:t>
                          </a:r>
                          <a:endParaRPr sz="2400" b="0" dirty="0">
                            <a:latin typeface="+mn-lt"/>
                            <a:cs typeface="Arial"/>
                          </a:endParaRPr>
                        </a:p>
                      </a:txBody>
                      <a:tcPr marL="0" marR="0" marT="0" marB="0" anchor="ctr"/>
                    </a:tc>
                    <a:extLst>
                      <a:ext uri="{0D108BD9-81ED-4DB2-BD59-A6C34878D82A}">
                        <a16:rowId xmlns:a16="http://schemas.microsoft.com/office/drawing/2014/main" val="10000"/>
                      </a:ext>
                    </a:extLst>
                  </a:tr>
                  <a:tr h="408403">
                    <a:tc>
                      <a:txBody>
                        <a:bodyPr/>
                        <a:lstStyle/>
                        <a:p>
                          <a:pPr marL="155575" marR="0" lvl="0" indent="0" algn="ctr" defTabSz="914377" rtl="0" eaLnBrk="1" fontAlgn="auto" latinLnBrk="0" hangingPunct="1">
                            <a:lnSpc>
                              <a:spcPct val="100000"/>
                            </a:lnSpc>
                            <a:spcBef>
                              <a:spcPts val="0"/>
                            </a:spcBef>
                            <a:spcAft>
                              <a:spcPts val="0"/>
                            </a:spcAft>
                            <a:buClrTx/>
                            <a:buSzTx/>
                            <a:buFontTx/>
                            <a:buNone/>
                            <a:tabLst/>
                            <a:defRPr/>
                          </a:pPr>
                          <a:r>
                            <a:rPr lang="en-US" sz="2400" b="1" dirty="0" smtClean="0">
                              <a:solidFill>
                                <a:srgbClr val="C00000"/>
                              </a:solidFill>
                              <a:latin typeface="+mn-lt"/>
                              <a:ea typeface="Cambria" panose="02040503050406030204" pitchFamily="18" charset="0"/>
                              <a:sym typeface="Symbol"/>
                            </a:rPr>
                            <a:t></a:t>
                          </a:r>
                          <a:endParaRPr lang="en-US" sz="2400" b="1" dirty="0" smtClean="0">
                            <a:solidFill>
                              <a:srgbClr val="C00000"/>
                            </a:solidFill>
                            <a:latin typeface="+mn-lt"/>
                            <a:ea typeface="Cambria" panose="02040503050406030204" pitchFamily="18" charset="0"/>
                          </a:endParaRPr>
                        </a:p>
                      </a:txBody>
                      <a:tcPr marL="0" marR="0" marT="0" marB="0"/>
                    </a:tc>
                    <a:tc>
                      <a:txBody>
                        <a:bodyPr/>
                        <a:lstStyle/>
                        <a:p>
                          <a:pPr algn="ctr"/>
                          <a:r>
                            <a:rPr lang="en-US" sz="2400" dirty="0" smtClean="0">
                              <a:latin typeface="+mn-lt"/>
                              <a:cs typeface="Arial"/>
                            </a:rPr>
                            <a:t>1</a:t>
                          </a:r>
                          <a:endParaRPr sz="2400" dirty="0">
                            <a:latin typeface="+mn-lt"/>
                            <a:cs typeface="Arial"/>
                          </a:endParaRPr>
                        </a:p>
                      </a:txBody>
                      <a:tcPr marL="0" marR="0" marT="0" marB="0"/>
                    </a:tc>
                    <a:extLst>
                      <a:ext uri="{0D108BD9-81ED-4DB2-BD59-A6C34878D82A}">
                        <a16:rowId xmlns:a16="http://schemas.microsoft.com/office/drawing/2014/main" val="10001"/>
                      </a:ext>
                    </a:extLst>
                  </a:tr>
                  <a:tr h="409261">
                    <a:tc>
                      <a:txBody>
                        <a:bodyPr/>
                        <a:lstStyle/>
                        <a:p>
                          <a:endParaRPr lang="en-US"/>
                        </a:p>
                      </a:txBody>
                      <a:tcPr marL="0" marR="0" marT="0" marB="0">
                        <a:blipFill>
                          <a:blip r:embed="rId3"/>
                          <a:stretch>
                            <a:fillRect l="-508" t="-213235" r="-104061" b="-308824"/>
                          </a:stretch>
                        </a:blipFill>
                      </a:tcPr>
                    </a:tc>
                    <a:tc>
                      <a:txBody>
                        <a:bodyPr/>
                        <a:lstStyle/>
                        <a:p>
                          <a:pPr algn="ctr"/>
                          <a:r>
                            <a:rPr lang="en-US" sz="2400" dirty="0" smtClean="0">
                              <a:latin typeface="+mn-lt"/>
                              <a:cs typeface="Arial"/>
                            </a:rPr>
                            <a:t>2</a:t>
                          </a:r>
                          <a:endParaRPr sz="2400" dirty="0">
                            <a:latin typeface="+mn-lt"/>
                            <a:cs typeface="Arial"/>
                          </a:endParaRPr>
                        </a:p>
                      </a:txBody>
                      <a:tcPr marL="0" marR="0" marT="0" marB="0"/>
                    </a:tc>
                    <a:extLst>
                      <a:ext uri="{0D108BD9-81ED-4DB2-BD59-A6C34878D82A}">
                        <a16:rowId xmlns:a16="http://schemas.microsoft.com/office/drawing/2014/main" val="10002"/>
                      </a:ext>
                    </a:extLst>
                  </a:tr>
                  <a:tr h="365760">
                    <a:tc>
                      <a:txBody>
                        <a:bodyPr/>
                        <a:lstStyle/>
                        <a:p>
                          <a:pPr marL="155575" algn="ctr">
                            <a:lnSpc>
                              <a:spcPct val="100000"/>
                            </a:lnSpc>
                          </a:pPr>
                          <a:r>
                            <a:rPr lang="en-US" altLang="zh-TW" sz="2400" dirty="0" smtClean="0">
                              <a:solidFill>
                                <a:srgbClr val="C00000"/>
                              </a:solidFill>
                              <a:ea typeface="新細明體" pitchFamily="18" charset="-120"/>
                              <a:sym typeface="Symbol" pitchFamily="18" charset="2"/>
                            </a:rPr>
                            <a:t>∨</a:t>
                          </a:r>
                          <a:endParaRPr sz="2400" dirty="0">
                            <a:solidFill>
                              <a:srgbClr val="C00000"/>
                            </a:solidFill>
                            <a:latin typeface="+mn-lt"/>
                            <a:cs typeface="Arial"/>
                          </a:endParaRPr>
                        </a:p>
                      </a:txBody>
                      <a:tcPr marL="0" marR="0" marT="0" marB="0"/>
                    </a:tc>
                    <a:tc>
                      <a:txBody>
                        <a:bodyPr/>
                        <a:lstStyle/>
                        <a:p>
                          <a:pPr marL="0" indent="0" algn="ctr">
                            <a:lnSpc>
                              <a:spcPct val="100000"/>
                            </a:lnSpc>
                          </a:pPr>
                          <a:r>
                            <a:rPr lang="en-US" sz="2400" dirty="0" smtClean="0"/>
                            <a:t>3</a:t>
                          </a:r>
                          <a:endParaRPr sz="2400" dirty="0">
                            <a:latin typeface="+mn-lt"/>
                            <a:cs typeface="Arial"/>
                          </a:endParaRPr>
                        </a:p>
                      </a:txBody>
                      <a:tcPr marL="0" marR="0" marT="0" marB="0"/>
                    </a:tc>
                    <a:extLst>
                      <a:ext uri="{0D108BD9-81ED-4DB2-BD59-A6C34878D82A}">
                        <a16:rowId xmlns:a16="http://schemas.microsoft.com/office/drawing/2014/main" val="10003"/>
                      </a:ext>
                    </a:extLst>
                  </a:tr>
                  <a:tr h="365760">
                    <a:tc>
                      <a:txBody>
                        <a:bodyPr/>
                        <a:lstStyle/>
                        <a:p>
                          <a:pPr marL="155575" algn="ctr">
                            <a:lnSpc>
                              <a:spcPct val="100000"/>
                            </a:lnSpc>
                          </a:pPr>
                          <a:r>
                            <a:rPr lang="en-US" sz="2400" b="1" dirty="0" smtClean="0">
                              <a:solidFill>
                                <a:srgbClr val="C00000"/>
                              </a:solidFill>
                              <a:sym typeface="Symbol"/>
                            </a:rPr>
                            <a:t></a:t>
                          </a:r>
                          <a:endParaRPr sz="2400" dirty="0">
                            <a:solidFill>
                              <a:srgbClr val="C00000"/>
                            </a:solidFill>
                            <a:latin typeface="+mn-lt"/>
                            <a:cs typeface="Arial"/>
                          </a:endParaRPr>
                        </a:p>
                      </a:txBody>
                      <a:tcPr marL="0" marR="0" marT="0" marB="0"/>
                    </a:tc>
                    <a:tc>
                      <a:txBody>
                        <a:bodyPr/>
                        <a:lstStyle/>
                        <a:p>
                          <a:pPr marL="0" indent="0" algn="ctr">
                            <a:lnSpc>
                              <a:spcPct val="100000"/>
                            </a:lnSpc>
                          </a:pPr>
                          <a:r>
                            <a:rPr lang="en-US" sz="2400" dirty="0" smtClean="0">
                              <a:latin typeface="+mn-lt"/>
                              <a:cs typeface="Arial"/>
                            </a:rPr>
                            <a:t>4</a:t>
                          </a:r>
                          <a:endParaRPr sz="2400" dirty="0">
                            <a:latin typeface="+mn-lt"/>
                            <a:cs typeface="Arial"/>
                          </a:endParaRPr>
                        </a:p>
                      </a:txBody>
                      <a:tcPr marL="0" marR="0" marT="0" marB="0"/>
                    </a:tc>
                    <a:extLst>
                      <a:ext uri="{0D108BD9-81ED-4DB2-BD59-A6C34878D82A}">
                        <a16:rowId xmlns:a16="http://schemas.microsoft.com/office/drawing/2014/main" val="2665103712"/>
                      </a:ext>
                    </a:extLst>
                  </a:tr>
                  <a:tr h="365760">
                    <a:tc>
                      <a:txBody>
                        <a:bodyPr/>
                        <a:lstStyle/>
                        <a:p>
                          <a:pPr marL="155575" algn="ctr">
                            <a:lnSpc>
                              <a:spcPct val="100000"/>
                            </a:lnSpc>
                          </a:pPr>
                          <a:r>
                            <a:rPr lang="en-US" sz="2400" dirty="0" smtClean="0">
                              <a:solidFill>
                                <a:srgbClr val="C00000"/>
                              </a:solidFill>
                              <a:sym typeface="Symbol"/>
                            </a:rPr>
                            <a:t></a:t>
                          </a:r>
                          <a:endParaRPr sz="2400" dirty="0">
                            <a:solidFill>
                              <a:srgbClr val="C00000"/>
                            </a:solidFill>
                            <a:latin typeface="+mn-lt"/>
                            <a:cs typeface="Arial"/>
                          </a:endParaRPr>
                        </a:p>
                      </a:txBody>
                      <a:tcPr marL="0" marR="0" marT="0" marB="0"/>
                    </a:tc>
                    <a:tc>
                      <a:txBody>
                        <a:bodyPr/>
                        <a:lstStyle/>
                        <a:p>
                          <a:pPr marL="0" indent="0" algn="ctr">
                            <a:lnSpc>
                              <a:spcPct val="100000"/>
                            </a:lnSpc>
                          </a:pPr>
                          <a:r>
                            <a:rPr lang="en-US" sz="2400" dirty="0" smtClean="0">
                              <a:latin typeface="+mn-lt"/>
                              <a:cs typeface="Arial"/>
                            </a:rPr>
                            <a:t>5</a:t>
                          </a:r>
                          <a:endParaRPr sz="2400" dirty="0">
                            <a:latin typeface="+mn-lt"/>
                            <a:cs typeface="Arial"/>
                          </a:endParaRPr>
                        </a:p>
                      </a:txBody>
                      <a:tcPr marL="0" marR="0" marT="0" marB="0"/>
                    </a:tc>
                    <a:extLst>
                      <a:ext uri="{0D108BD9-81ED-4DB2-BD59-A6C34878D82A}">
                        <a16:rowId xmlns:a16="http://schemas.microsoft.com/office/drawing/2014/main" val="3240024515"/>
                      </a:ext>
                    </a:extLst>
                  </a:tr>
                </a:tbl>
              </a:graphicData>
            </a:graphic>
          </p:graphicFrame>
        </mc:Fallback>
      </mc:AlternateContent>
    </p:spTree>
    <p:extLst>
      <p:ext uri="{BB962C8B-B14F-4D97-AF65-F5344CB8AC3E}">
        <p14:creationId xmlns:p14="http://schemas.microsoft.com/office/powerpoint/2010/main" val="36395125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Tautologies, Contradictions and Contingencies</a:t>
            </a:r>
          </a:p>
        </p:txBody>
      </p:sp>
      <p:sp>
        <p:nvSpPr>
          <p:cNvPr id="3" name="Content Placeholder 2"/>
          <p:cNvSpPr>
            <a:spLocks noGrp="1"/>
          </p:cNvSpPr>
          <p:nvPr>
            <p:ph idx="1"/>
          </p:nvPr>
        </p:nvSpPr>
        <p:spPr/>
        <p:txBody>
          <a:bodyPr/>
          <a:lstStyle/>
          <a:p>
            <a:r>
              <a:rPr lang="en-US" dirty="0"/>
              <a:t>A  </a:t>
            </a:r>
            <a:r>
              <a:rPr lang="en-US" dirty="0">
                <a:solidFill>
                  <a:srgbClr val="C00000"/>
                </a:solidFill>
              </a:rPr>
              <a:t>tautology</a:t>
            </a:r>
            <a:r>
              <a:rPr lang="en-US" dirty="0"/>
              <a:t> is a proposition which is </a:t>
            </a:r>
            <a:r>
              <a:rPr lang="en-US" i="1" dirty="0"/>
              <a:t>always</a:t>
            </a:r>
            <a:r>
              <a:rPr lang="en-US" dirty="0"/>
              <a:t> </a:t>
            </a:r>
            <a:r>
              <a:rPr lang="en-US" dirty="0">
                <a:solidFill>
                  <a:srgbClr val="00B050"/>
                </a:solidFill>
              </a:rPr>
              <a:t>True</a:t>
            </a:r>
            <a:endParaRPr lang="en-US" dirty="0"/>
          </a:p>
          <a:p>
            <a:pPr lvl="1"/>
            <a:r>
              <a:rPr lang="en-US" dirty="0"/>
              <a:t>Example: </a:t>
            </a:r>
            <a:r>
              <a:rPr lang="en-US" i="1" dirty="0"/>
              <a:t>p</a:t>
            </a:r>
            <a:r>
              <a:rPr lang="en-US" dirty="0"/>
              <a:t> ∨ ¬</a:t>
            </a:r>
            <a:r>
              <a:rPr lang="en-US" i="1" dirty="0"/>
              <a:t>p</a:t>
            </a:r>
            <a:r>
              <a:rPr lang="en-US" dirty="0"/>
              <a:t> </a:t>
            </a:r>
          </a:p>
          <a:p>
            <a:r>
              <a:rPr lang="en-US" dirty="0"/>
              <a:t>A </a:t>
            </a:r>
            <a:r>
              <a:rPr lang="en-US" dirty="0">
                <a:solidFill>
                  <a:srgbClr val="C00000"/>
                </a:solidFill>
              </a:rPr>
              <a:t>contradiction</a:t>
            </a:r>
            <a:r>
              <a:rPr lang="en-US" dirty="0"/>
              <a:t> is a proposition which is </a:t>
            </a:r>
            <a:r>
              <a:rPr lang="en-US" i="1" dirty="0"/>
              <a:t>always</a:t>
            </a:r>
            <a:r>
              <a:rPr lang="en-US" dirty="0"/>
              <a:t> </a:t>
            </a:r>
            <a:r>
              <a:rPr lang="en-US" dirty="0">
                <a:solidFill>
                  <a:srgbClr val="FF0000"/>
                </a:solidFill>
              </a:rPr>
              <a:t>False</a:t>
            </a:r>
            <a:endParaRPr lang="en-US" dirty="0"/>
          </a:p>
          <a:p>
            <a:pPr lvl="1"/>
            <a:r>
              <a:rPr lang="en-US" dirty="0"/>
              <a:t>Example: </a:t>
            </a:r>
            <a:r>
              <a:rPr lang="en-US" i="1" dirty="0"/>
              <a:t>p</a:t>
            </a:r>
            <a:r>
              <a:rPr lang="en-US" dirty="0"/>
              <a:t> ∧ ¬</a:t>
            </a:r>
            <a:r>
              <a:rPr lang="en-US" i="1" dirty="0"/>
              <a:t>p</a:t>
            </a:r>
            <a:r>
              <a:rPr lang="en-US" dirty="0"/>
              <a:t> </a:t>
            </a:r>
          </a:p>
          <a:p>
            <a:r>
              <a:rPr lang="en-US" dirty="0"/>
              <a:t>A </a:t>
            </a:r>
            <a:r>
              <a:rPr lang="en-US" dirty="0">
                <a:solidFill>
                  <a:srgbClr val="C00000"/>
                </a:solidFill>
              </a:rPr>
              <a:t>contingency</a:t>
            </a:r>
            <a:r>
              <a:rPr lang="en-US" dirty="0"/>
              <a:t> is a proposition which is </a:t>
            </a:r>
            <a:r>
              <a:rPr lang="en-US" i="1" dirty="0"/>
              <a:t>neither</a:t>
            </a:r>
            <a:r>
              <a:rPr lang="en-US" dirty="0"/>
              <a:t> a tautology </a:t>
            </a:r>
            <a:r>
              <a:rPr lang="en-US" i="1" dirty="0"/>
              <a:t>nor</a:t>
            </a:r>
            <a:r>
              <a:rPr lang="en-US" dirty="0"/>
              <a:t> a contradiction </a:t>
            </a:r>
          </a:p>
          <a:p>
            <a:endParaRPr lang="en-US"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42</a:t>
            </a:fld>
            <a:endParaRPr lang="en-US"/>
          </a:p>
        </p:txBody>
      </p:sp>
    </p:spTree>
    <p:extLst>
      <p:ext uri="{BB962C8B-B14F-4D97-AF65-F5344CB8AC3E}">
        <p14:creationId xmlns:p14="http://schemas.microsoft.com/office/powerpoint/2010/main" val="296601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Logically Equivalent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Two compound propositions </a:t>
                </a:r>
                <a:r>
                  <a:rPr lang="en-US" i="1" dirty="0"/>
                  <a:t>r</a:t>
                </a:r>
                <a:r>
                  <a:rPr lang="en-US" dirty="0"/>
                  <a:t> and </a:t>
                </a:r>
                <a:r>
                  <a:rPr lang="en-US" i="1" dirty="0"/>
                  <a:t>s</a:t>
                </a:r>
                <a:r>
                  <a:rPr lang="en-US" dirty="0"/>
                  <a:t> are </a:t>
                </a:r>
                <a:r>
                  <a:rPr lang="en-US" dirty="0">
                    <a:solidFill>
                      <a:srgbClr val="C00000"/>
                    </a:solidFill>
                  </a:rPr>
                  <a:t>logically equivalent </a:t>
                </a:r>
                <a:r>
                  <a:rPr lang="en-US" dirty="0"/>
                  <a:t>if  </a:t>
                </a:r>
                <a:r>
                  <a:rPr lang="en-US" i="1" dirty="0"/>
                  <a:t>r</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i="1" dirty="0"/>
                  <a:t>s</a:t>
                </a:r>
                <a:r>
                  <a:rPr lang="en-US" dirty="0"/>
                  <a:t>  is a tautology</a:t>
                </a:r>
              </a:p>
              <a:p>
                <a:pPr lvl="1"/>
                <a:r>
                  <a:rPr lang="en-US" dirty="0"/>
                  <a:t>Denoted by </a:t>
                </a:r>
                <a:r>
                  <a:rPr lang="en-US" i="1" dirty="0"/>
                  <a:t>r</a:t>
                </a:r>
                <a:r>
                  <a:rPr lang="en-US" dirty="0"/>
                  <a:t> ⇔ </a:t>
                </a:r>
                <a:r>
                  <a:rPr lang="en-US" i="1" dirty="0"/>
                  <a:t>s</a:t>
                </a:r>
                <a:r>
                  <a:rPr lang="en-US" dirty="0"/>
                  <a:t>  or as </a:t>
                </a:r>
                <a:r>
                  <a:rPr lang="en-US" i="1" dirty="0"/>
                  <a:t>r</a:t>
                </a:r>
                <a:r>
                  <a:rPr lang="en-US" dirty="0"/>
                  <a:t>  ≡ </a:t>
                </a:r>
                <a:r>
                  <a:rPr lang="en-US" i="1" dirty="0"/>
                  <a:t>s</a:t>
                </a:r>
                <a:r>
                  <a:rPr lang="en-US" dirty="0"/>
                  <a:t>, where </a:t>
                </a:r>
                <a:r>
                  <a:rPr lang="en-US" i="1" dirty="0"/>
                  <a:t>r</a:t>
                </a:r>
                <a:r>
                  <a:rPr lang="en-US" dirty="0"/>
                  <a:t> and </a:t>
                </a:r>
                <a:r>
                  <a:rPr lang="en-US" i="1" dirty="0"/>
                  <a:t>s</a:t>
                </a:r>
                <a:r>
                  <a:rPr lang="en-US" dirty="0"/>
                  <a:t> are compound propositions</a:t>
                </a:r>
              </a:p>
              <a:p>
                <a:r>
                  <a:rPr lang="en-US" dirty="0"/>
                  <a:t>In other words, two compound propositions </a:t>
                </a:r>
                <a:r>
                  <a:rPr lang="en-US" i="1" dirty="0"/>
                  <a:t>r</a:t>
                </a:r>
                <a:r>
                  <a:rPr lang="en-US" dirty="0"/>
                  <a:t> and </a:t>
                </a:r>
                <a:r>
                  <a:rPr lang="en-US" i="1" dirty="0"/>
                  <a:t>s</a:t>
                </a:r>
                <a:r>
                  <a:rPr lang="en-US" dirty="0"/>
                  <a:t> are equivalent  </a:t>
                </a:r>
                <a:r>
                  <a:rPr lang="en-US" dirty="0">
                    <a:solidFill>
                      <a:srgbClr val="C00000"/>
                    </a:solidFill>
                  </a:rPr>
                  <a:t>if and only if </a:t>
                </a:r>
                <a:r>
                  <a:rPr lang="en-US" dirty="0"/>
                  <a:t>the columns in a truth table giving their truth values agree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74" t="-2913" r="-173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43</a:t>
            </a:fld>
            <a:endParaRPr lang="en-US"/>
          </a:p>
        </p:txBody>
      </p:sp>
    </p:spTree>
    <p:extLst>
      <p:ext uri="{BB962C8B-B14F-4D97-AF65-F5344CB8AC3E}">
        <p14:creationId xmlns:p14="http://schemas.microsoft.com/office/powerpoint/2010/main" val="4017068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Logical Equivalence</a:t>
            </a:r>
          </a:p>
        </p:txBody>
      </p:sp>
      <p:sp>
        <p:nvSpPr>
          <p:cNvPr id="3" name="Content Placeholder 2"/>
          <p:cNvSpPr>
            <a:spLocks noGrp="1"/>
          </p:cNvSpPr>
          <p:nvPr>
            <p:ph idx="1"/>
          </p:nvPr>
        </p:nvSpPr>
        <p:spPr/>
        <p:txBody>
          <a:bodyPr/>
          <a:lstStyle/>
          <a:p>
            <a:r>
              <a:rPr lang="en-US" dirty="0"/>
              <a:t>The following truth table shows </a:t>
            </a:r>
            <a:r>
              <a:rPr lang="en-US" b="1" i="1" dirty="0"/>
              <a:t>r </a:t>
            </a:r>
            <a:r>
              <a:rPr lang="en-US" dirty="0"/>
              <a:t>: </a:t>
            </a:r>
            <a:r>
              <a:rPr lang="en-US" dirty="0">
                <a:ea typeface="Cambria Math"/>
              </a:rPr>
              <a:t>¬</a:t>
            </a:r>
            <a:r>
              <a:rPr lang="en-US" i="1" dirty="0">
                <a:ea typeface="Cambria Math" pitchFamily="18" charset="0"/>
              </a:rPr>
              <a:t>p </a:t>
            </a:r>
            <a:r>
              <a:rPr lang="en-US" dirty="0">
                <a:ea typeface="Cambria Math"/>
              </a:rPr>
              <a:t>∨ </a:t>
            </a:r>
            <a:r>
              <a:rPr lang="en-US" i="1" dirty="0">
                <a:ea typeface="Cambria Math" pitchFamily="18" charset="0"/>
              </a:rPr>
              <a:t>q  </a:t>
            </a:r>
            <a:r>
              <a:rPr lang="en-US" dirty="0">
                <a:ea typeface="Cambria Math" pitchFamily="18" charset="0"/>
              </a:rPr>
              <a:t>is </a:t>
            </a:r>
            <a:r>
              <a:rPr lang="en-US" dirty="0">
                <a:solidFill>
                  <a:srgbClr val="C00000"/>
                </a:solidFill>
                <a:ea typeface="Cambria Math" pitchFamily="18" charset="0"/>
              </a:rPr>
              <a:t>equivalent</a:t>
            </a:r>
            <a:r>
              <a:rPr lang="en-US" dirty="0">
                <a:ea typeface="Cambria Math" pitchFamily="18" charset="0"/>
              </a:rPr>
              <a:t> to </a:t>
            </a:r>
            <a:r>
              <a:rPr lang="en-US" b="1" i="1" dirty="0">
                <a:ea typeface="Cambria Math" pitchFamily="18" charset="0"/>
              </a:rPr>
              <a:t>s</a:t>
            </a:r>
            <a:r>
              <a:rPr lang="en-US" dirty="0">
                <a:ea typeface="Cambria Math" pitchFamily="18" charset="0"/>
              </a:rPr>
              <a:t>: </a:t>
            </a:r>
            <a:r>
              <a:rPr lang="en-US" i="1" dirty="0">
                <a:ea typeface="Cambria Math" pitchFamily="18" charset="0"/>
              </a:rPr>
              <a:t>p </a:t>
            </a:r>
            <a:r>
              <a:rPr lang="en-US" dirty="0">
                <a:ea typeface="Cambria Math"/>
              </a:rPr>
              <a:t>→</a:t>
            </a:r>
            <a:r>
              <a:rPr lang="en-US" i="1" dirty="0">
                <a:ea typeface="Cambria Math"/>
              </a:rPr>
              <a:t> </a:t>
            </a:r>
            <a:r>
              <a:rPr lang="en-US" i="1" dirty="0">
                <a:ea typeface="Cambria Math" pitchFamily="18" charset="0"/>
              </a:rPr>
              <a:t>q </a:t>
            </a:r>
            <a:r>
              <a:rPr lang="en-US" dirty="0">
                <a:ea typeface="Cambria Math" pitchFamily="18" charset="0"/>
              </a:rPr>
              <a:t>(and </a:t>
            </a:r>
            <a:r>
              <a:rPr lang="en-US" i="1" dirty="0">
                <a:ea typeface="Cambria Math" pitchFamily="18" charset="0"/>
              </a:rPr>
              <a:t>s</a:t>
            </a:r>
            <a:r>
              <a:rPr lang="en-US" dirty="0">
                <a:ea typeface="Cambria Math" pitchFamily="18" charset="0"/>
              </a:rPr>
              <a:t> is Equivalent to </a:t>
            </a:r>
            <a:r>
              <a:rPr lang="en-US" i="1" dirty="0">
                <a:ea typeface="Cambria Math" pitchFamily="18" charset="0"/>
              </a:rPr>
              <a:t>r</a:t>
            </a:r>
            <a:r>
              <a:rPr lang="en-US" dirty="0">
                <a:ea typeface="Cambria Math" pitchFamily="18" charset="0"/>
              </a:rPr>
              <a:t>)</a:t>
            </a:r>
            <a:endParaRPr lang="en-US" sz="3600" dirty="0"/>
          </a:p>
          <a:p>
            <a:endParaRPr lang="en-US" dirty="0"/>
          </a:p>
        </p:txBody>
      </p:sp>
      <p:sp>
        <p:nvSpPr>
          <p:cNvPr id="4" name="Date Placeholder 3"/>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p:cNvSpPr>
            <a:spLocks noGrp="1"/>
          </p:cNvSpPr>
          <p:nvPr>
            <p:ph type="ftr" sz="quarter" idx="11"/>
          </p:nvPr>
        </p:nvSpPr>
        <p:spPr/>
        <p:txBody>
          <a:bodyPr/>
          <a:lstStyle/>
          <a:p>
            <a:r>
              <a:rPr lang="en-US"/>
              <a:t>Introduction to AI</a:t>
            </a:r>
          </a:p>
        </p:txBody>
      </p:sp>
      <p:sp>
        <p:nvSpPr>
          <p:cNvPr id="6" name="Slide Number Placeholder 5"/>
          <p:cNvSpPr>
            <a:spLocks noGrp="1"/>
          </p:cNvSpPr>
          <p:nvPr>
            <p:ph type="sldNum" sz="quarter" idx="12"/>
          </p:nvPr>
        </p:nvSpPr>
        <p:spPr/>
        <p:txBody>
          <a:bodyPr/>
          <a:lstStyle/>
          <a:p>
            <a:fld id="{75B1DB82-35C9-4076-A5B8-0781B30E89ED}" type="slidenum">
              <a:rPr lang="en-US" smtClean="0"/>
              <a:t>44</a:t>
            </a:fld>
            <a:endParaRPr lang="en-US"/>
          </a:p>
        </p:txBody>
      </p:sp>
      <p:graphicFrame>
        <p:nvGraphicFramePr>
          <p:cNvPr id="7" name="Content Placeholder 3"/>
          <p:cNvGraphicFramePr>
            <a:graphicFrameLocks/>
          </p:cNvGraphicFramePr>
          <p:nvPr>
            <p:extLst/>
          </p:nvPr>
        </p:nvGraphicFramePr>
        <p:xfrm>
          <a:off x="3686186" y="2748850"/>
          <a:ext cx="1371600" cy="2400300"/>
        </p:xfrm>
        <a:graphic>
          <a:graphicData uri="http://schemas.openxmlformats.org/drawingml/2006/table">
            <a:tbl>
              <a:tblPr firstRow="1" bandRow="1">
                <a:tableStyleId>{7E9639D4-E3E2-4D34-9284-5A2195B3D0D7}</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480060">
                <a:tc>
                  <a:txBody>
                    <a:bodyPr/>
                    <a:lstStyle/>
                    <a:p>
                      <a:pPr algn="ctr"/>
                      <a:r>
                        <a:rPr lang="en-US" sz="2700" i="1">
                          <a:solidFill>
                            <a:schemeClr val="tx1"/>
                          </a:solidFill>
                          <a:latin typeface="Cambria" panose="02040503050406030204" pitchFamily="18" charset="0"/>
                          <a:ea typeface="Cambria Math" panose="02040503050406030204" pitchFamily="18" charset="0"/>
                        </a:rPr>
                        <a:t>p</a:t>
                      </a:r>
                    </a:p>
                  </a:txBody>
                  <a:tcPr marL="68580" marR="68580" marT="34290" marB="34290">
                    <a:solidFill>
                      <a:schemeClr val="accent3">
                        <a:lumMod val="20000"/>
                        <a:lumOff val="80000"/>
                      </a:schemeClr>
                    </a:solidFill>
                  </a:tcPr>
                </a:tc>
                <a:tc>
                  <a:txBody>
                    <a:bodyPr/>
                    <a:lstStyle/>
                    <a:p>
                      <a:pPr algn="ctr"/>
                      <a:r>
                        <a:rPr lang="en-US" sz="2700" i="1">
                          <a:solidFill>
                            <a:schemeClr val="tx1"/>
                          </a:solidFill>
                          <a:latin typeface="Cambria" panose="02040503050406030204" pitchFamily="18" charset="0"/>
                          <a:ea typeface="Cambria Math" panose="02040503050406030204" pitchFamily="18" charset="0"/>
                        </a:rPr>
                        <a:t>q</a:t>
                      </a:r>
                      <a:r>
                        <a:rPr lang="en-US" sz="2700">
                          <a:solidFill>
                            <a:schemeClr val="tx1"/>
                          </a:solidFill>
                          <a:latin typeface="Cambria" panose="02040503050406030204" pitchFamily="18" charset="0"/>
                          <a:ea typeface="Cambria Math" panose="02040503050406030204" pitchFamily="18" charset="0"/>
                        </a:rPr>
                        <a:t> </a:t>
                      </a:r>
                    </a:p>
                  </a:txBody>
                  <a:tcPr marL="68580" marR="68580" marT="34290" marB="34290">
                    <a:solidFill>
                      <a:schemeClr val="accent3">
                        <a:lumMod val="20000"/>
                        <a:lumOff val="80000"/>
                      </a:schemeClr>
                    </a:solidFill>
                  </a:tcPr>
                </a:tc>
                <a:extLst>
                  <a:ext uri="{0D108BD9-81ED-4DB2-BD59-A6C34878D82A}">
                    <a16:rowId xmlns:a16="http://schemas.microsoft.com/office/drawing/2014/main" val="10000"/>
                  </a:ext>
                </a:extLst>
              </a:tr>
              <a:tr h="480060">
                <a:tc>
                  <a:txBody>
                    <a:bodyPr/>
                    <a:lstStyle/>
                    <a:p>
                      <a:pPr algn="ctr"/>
                      <a:r>
                        <a:rPr lang="en-US" sz="2700" b="0" dirty="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700" b="0" dirty="0">
                          <a:latin typeface="Cambria" panose="02040503050406030204" pitchFamily="18" charset="0"/>
                          <a:ea typeface="Cambria Math" panose="02040503050406030204" pitchFamily="18" charset="0"/>
                        </a:rPr>
                        <a:t>F</a:t>
                      </a:r>
                    </a:p>
                  </a:txBody>
                  <a:tcPr marL="68580" marR="68580" marT="34290" marB="34290"/>
                </a:tc>
                <a:extLst>
                  <a:ext uri="{0D108BD9-81ED-4DB2-BD59-A6C34878D82A}">
                    <a16:rowId xmlns:a16="http://schemas.microsoft.com/office/drawing/2014/main" val="10001"/>
                  </a:ext>
                </a:extLst>
              </a:tr>
              <a:tr h="480060">
                <a:tc>
                  <a:txBody>
                    <a:bodyPr/>
                    <a:lstStyle/>
                    <a:p>
                      <a:pPr algn="ctr"/>
                      <a:r>
                        <a:rPr lang="en-US" sz="2700" b="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700" b="0" dirty="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2"/>
                  </a:ext>
                </a:extLst>
              </a:tr>
              <a:tr h="480060">
                <a:tc>
                  <a:txBody>
                    <a:bodyPr/>
                    <a:lstStyle/>
                    <a:p>
                      <a:pPr algn="ctr"/>
                      <a:r>
                        <a:rPr lang="en-US" sz="27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700" b="0" dirty="0">
                          <a:latin typeface="Cambria" panose="02040503050406030204" pitchFamily="18" charset="0"/>
                          <a:ea typeface="Cambria Math" panose="02040503050406030204" pitchFamily="18" charset="0"/>
                        </a:rPr>
                        <a:t>F</a:t>
                      </a:r>
                    </a:p>
                  </a:txBody>
                  <a:tcPr marL="68580" marR="68580" marT="34290" marB="34290"/>
                </a:tc>
                <a:extLst>
                  <a:ext uri="{0D108BD9-81ED-4DB2-BD59-A6C34878D82A}">
                    <a16:rowId xmlns:a16="http://schemas.microsoft.com/office/drawing/2014/main" val="10003"/>
                  </a:ext>
                </a:extLst>
              </a:tr>
              <a:tr h="480060">
                <a:tc>
                  <a:txBody>
                    <a:bodyPr/>
                    <a:lstStyle/>
                    <a:p>
                      <a:pPr algn="ctr"/>
                      <a:r>
                        <a:rPr lang="en-US" sz="27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700" b="0" dirty="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8" name="Content Placeholder 3"/>
          <p:cNvGraphicFramePr>
            <a:graphicFrameLocks/>
          </p:cNvGraphicFramePr>
          <p:nvPr>
            <p:extLst/>
          </p:nvPr>
        </p:nvGraphicFramePr>
        <p:xfrm>
          <a:off x="5975117" y="2748850"/>
          <a:ext cx="1407967" cy="2400300"/>
        </p:xfrm>
        <a:graphic>
          <a:graphicData uri="http://schemas.openxmlformats.org/drawingml/2006/table">
            <a:tbl>
              <a:tblPr firstRow="1" bandRow="1">
                <a:tableStyleId>{7E9639D4-E3E2-4D34-9284-5A2195B3D0D7}</a:tableStyleId>
              </a:tblPr>
              <a:tblGrid>
                <a:gridCol w="1407967">
                  <a:extLst>
                    <a:ext uri="{9D8B030D-6E8A-4147-A177-3AD203B41FA5}">
                      <a16:colId xmlns:a16="http://schemas.microsoft.com/office/drawing/2014/main" val="20003"/>
                    </a:ext>
                  </a:extLst>
                </a:gridCol>
              </a:tblGrid>
              <a:tr h="4800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a:solidFill>
                            <a:schemeClr val="tx1"/>
                          </a:solidFill>
                          <a:latin typeface="Cambria" panose="02040503050406030204" pitchFamily="18" charset="0"/>
                          <a:ea typeface="Cambria Math" panose="02040503050406030204" pitchFamily="18" charset="0"/>
                        </a:rPr>
                        <a:t>¬</a:t>
                      </a:r>
                      <a:r>
                        <a:rPr lang="en-US" sz="2700" i="1">
                          <a:solidFill>
                            <a:schemeClr val="tx1"/>
                          </a:solidFill>
                          <a:latin typeface="Cambria" panose="02040503050406030204" pitchFamily="18" charset="0"/>
                          <a:ea typeface="Cambria Math" panose="02040503050406030204" pitchFamily="18" charset="0"/>
                        </a:rPr>
                        <a:t>p</a:t>
                      </a:r>
                      <a:r>
                        <a:rPr lang="en-US" sz="2700">
                          <a:solidFill>
                            <a:schemeClr val="tx1"/>
                          </a:solidFill>
                          <a:latin typeface="Cambria" panose="02040503050406030204" pitchFamily="18" charset="0"/>
                          <a:ea typeface="Cambria Math" panose="02040503050406030204" pitchFamily="18" charset="0"/>
                        </a:rPr>
                        <a:t> </a:t>
                      </a:r>
                      <a:r>
                        <a:rPr lang="en-US" sz="2700">
                          <a:solidFill>
                            <a:schemeClr val="tx1"/>
                          </a:solidFill>
                          <a:ea typeface="Cambria Math"/>
                        </a:rPr>
                        <a:t>∨</a:t>
                      </a:r>
                      <a:r>
                        <a:rPr lang="en-US" sz="2700">
                          <a:solidFill>
                            <a:schemeClr val="tx1"/>
                          </a:solidFill>
                          <a:latin typeface="Cambria" panose="02040503050406030204" pitchFamily="18" charset="0"/>
                          <a:ea typeface="Cambria Math" panose="02040503050406030204" pitchFamily="18" charset="0"/>
                        </a:rPr>
                        <a:t> </a:t>
                      </a:r>
                      <a:r>
                        <a:rPr lang="en-US" sz="2700" i="1">
                          <a:solidFill>
                            <a:schemeClr val="tx1"/>
                          </a:solidFill>
                          <a:latin typeface="Cambria" panose="02040503050406030204" pitchFamily="18" charset="0"/>
                          <a:ea typeface="Cambria Math" panose="02040503050406030204" pitchFamily="18" charset="0"/>
                        </a:rPr>
                        <a:t>q</a:t>
                      </a:r>
                    </a:p>
                  </a:txBody>
                  <a:tcPr marL="68580" marR="68580" marT="34290" marB="34290">
                    <a:solidFill>
                      <a:schemeClr val="accent3">
                        <a:lumMod val="20000"/>
                        <a:lumOff val="80000"/>
                      </a:schemeClr>
                    </a:solidFill>
                  </a:tcPr>
                </a:tc>
                <a:extLst>
                  <a:ext uri="{0D108BD9-81ED-4DB2-BD59-A6C34878D82A}">
                    <a16:rowId xmlns:a16="http://schemas.microsoft.com/office/drawing/2014/main" val="10000"/>
                  </a:ext>
                </a:extLst>
              </a:tr>
              <a:tr h="480060">
                <a:tc>
                  <a:txBody>
                    <a:bodyPr/>
                    <a:lstStyle/>
                    <a:p>
                      <a:pPr algn="ctr"/>
                      <a:r>
                        <a:rPr lang="en-US" sz="2700" b="1" dirty="0">
                          <a:latin typeface="Cambria" panose="02040503050406030204" pitchFamily="18" charset="0"/>
                          <a:ea typeface="Cambria Math" panose="02040503050406030204" pitchFamily="18" charset="0"/>
                        </a:rPr>
                        <a:t>T</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1"/>
                  </a:ext>
                </a:extLst>
              </a:tr>
              <a:tr h="480060">
                <a:tc>
                  <a:txBody>
                    <a:bodyPr/>
                    <a:lstStyle/>
                    <a:p>
                      <a:pPr algn="ctr"/>
                      <a:r>
                        <a:rPr lang="en-US" sz="2700" b="1" dirty="0">
                          <a:latin typeface="Cambria" panose="02040503050406030204" pitchFamily="18" charset="0"/>
                          <a:ea typeface="Cambria Math" panose="02040503050406030204" pitchFamily="18" charset="0"/>
                        </a:rPr>
                        <a:t>T</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2"/>
                  </a:ext>
                </a:extLst>
              </a:tr>
              <a:tr h="480060">
                <a:tc>
                  <a:txBody>
                    <a:bodyPr/>
                    <a:lstStyle/>
                    <a:p>
                      <a:pPr algn="ctr"/>
                      <a:r>
                        <a:rPr lang="en-US" sz="2700" b="1" dirty="0">
                          <a:latin typeface="Cambria" panose="02040503050406030204" pitchFamily="18" charset="0"/>
                          <a:ea typeface="Cambria Math" panose="02040503050406030204" pitchFamily="18" charset="0"/>
                        </a:rPr>
                        <a:t>F</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3"/>
                  </a:ext>
                </a:extLst>
              </a:tr>
              <a:tr h="480060">
                <a:tc>
                  <a:txBody>
                    <a:bodyPr/>
                    <a:lstStyle/>
                    <a:p>
                      <a:pPr algn="ctr"/>
                      <a:r>
                        <a:rPr lang="en-US" sz="2700" b="1" dirty="0">
                          <a:latin typeface="Cambria" panose="02040503050406030204" pitchFamily="18" charset="0"/>
                          <a:ea typeface="Cambria Math" panose="02040503050406030204" pitchFamily="18" charset="0"/>
                        </a:rPr>
                        <a:t>T</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9" name="Content Placeholder 3"/>
          <p:cNvGraphicFramePr>
            <a:graphicFrameLocks/>
          </p:cNvGraphicFramePr>
          <p:nvPr>
            <p:extLst/>
          </p:nvPr>
        </p:nvGraphicFramePr>
        <p:xfrm>
          <a:off x="7383083" y="2748850"/>
          <a:ext cx="992334" cy="2400300"/>
        </p:xfrm>
        <a:graphic>
          <a:graphicData uri="http://schemas.openxmlformats.org/drawingml/2006/table">
            <a:tbl>
              <a:tblPr firstRow="1" bandRow="1">
                <a:tableStyleId>{7E9639D4-E3E2-4D34-9284-5A2195B3D0D7}</a:tableStyleId>
              </a:tblPr>
              <a:tblGrid>
                <a:gridCol w="992334">
                  <a:extLst>
                    <a:ext uri="{9D8B030D-6E8A-4147-A177-3AD203B41FA5}">
                      <a16:colId xmlns:a16="http://schemas.microsoft.com/office/drawing/2014/main" val="20004"/>
                    </a:ext>
                  </a:extLst>
                </a:gridCol>
              </a:tblGrid>
              <a:tr h="4800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i="1">
                          <a:solidFill>
                            <a:schemeClr val="tx1"/>
                          </a:solidFill>
                          <a:latin typeface="Cambria" panose="02040503050406030204" pitchFamily="18" charset="0"/>
                          <a:ea typeface="Cambria Math" panose="02040503050406030204" pitchFamily="18" charset="0"/>
                        </a:rPr>
                        <a:t>p</a:t>
                      </a:r>
                      <a:r>
                        <a:rPr lang="en-US" sz="2700">
                          <a:solidFill>
                            <a:schemeClr val="tx1"/>
                          </a:solidFill>
                          <a:latin typeface="Cambria" panose="02040503050406030204" pitchFamily="18" charset="0"/>
                          <a:ea typeface="Cambria Math" panose="02040503050406030204" pitchFamily="18" charset="0"/>
                        </a:rPr>
                        <a:t> → </a:t>
                      </a:r>
                      <a:r>
                        <a:rPr lang="en-US" sz="2700" i="1">
                          <a:solidFill>
                            <a:schemeClr val="tx1"/>
                          </a:solidFill>
                          <a:latin typeface="Cambria" panose="02040503050406030204" pitchFamily="18" charset="0"/>
                          <a:ea typeface="Cambria Math" panose="02040503050406030204" pitchFamily="18" charset="0"/>
                        </a:rPr>
                        <a:t>q</a:t>
                      </a:r>
                    </a:p>
                  </a:txBody>
                  <a:tcPr marL="68580" marR="68580" marT="34290" marB="34290">
                    <a:solidFill>
                      <a:schemeClr val="accent3">
                        <a:lumMod val="20000"/>
                        <a:lumOff val="80000"/>
                      </a:schemeClr>
                    </a:solidFill>
                  </a:tcPr>
                </a:tc>
                <a:extLst>
                  <a:ext uri="{0D108BD9-81ED-4DB2-BD59-A6C34878D82A}">
                    <a16:rowId xmlns:a16="http://schemas.microsoft.com/office/drawing/2014/main" val="10000"/>
                  </a:ext>
                </a:extLst>
              </a:tr>
              <a:tr h="480060">
                <a:tc>
                  <a:txBody>
                    <a:bodyPr/>
                    <a:lstStyle/>
                    <a:p>
                      <a:pPr algn="ctr"/>
                      <a:r>
                        <a:rPr lang="en-US" sz="2700" b="1" dirty="0">
                          <a:latin typeface="Cambria" panose="02040503050406030204" pitchFamily="18" charset="0"/>
                          <a:ea typeface="Cambria Math" panose="02040503050406030204" pitchFamily="18" charset="0"/>
                        </a:rPr>
                        <a:t>T</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1"/>
                  </a:ext>
                </a:extLst>
              </a:tr>
              <a:tr h="480060">
                <a:tc>
                  <a:txBody>
                    <a:bodyPr/>
                    <a:lstStyle/>
                    <a:p>
                      <a:pPr algn="ctr"/>
                      <a:r>
                        <a:rPr lang="en-US" sz="2700" b="1" dirty="0">
                          <a:latin typeface="Cambria" panose="02040503050406030204" pitchFamily="18" charset="0"/>
                          <a:ea typeface="Cambria Math" panose="02040503050406030204" pitchFamily="18" charset="0"/>
                        </a:rPr>
                        <a:t>T</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2"/>
                  </a:ext>
                </a:extLst>
              </a:tr>
              <a:tr h="480060">
                <a:tc>
                  <a:txBody>
                    <a:bodyPr/>
                    <a:lstStyle/>
                    <a:p>
                      <a:pPr algn="ctr"/>
                      <a:r>
                        <a:rPr lang="en-US" sz="2700" b="1" dirty="0">
                          <a:latin typeface="Cambria" panose="02040503050406030204" pitchFamily="18" charset="0"/>
                          <a:ea typeface="Cambria Math" panose="02040503050406030204" pitchFamily="18" charset="0"/>
                        </a:rPr>
                        <a:t>F</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3"/>
                  </a:ext>
                </a:extLst>
              </a:tr>
              <a:tr h="480060">
                <a:tc>
                  <a:txBody>
                    <a:bodyPr/>
                    <a:lstStyle/>
                    <a:p>
                      <a:pPr algn="ctr"/>
                      <a:r>
                        <a:rPr lang="en-US" sz="2700" b="1" dirty="0">
                          <a:latin typeface="Cambria" panose="02040503050406030204" pitchFamily="18" charset="0"/>
                          <a:ea typeface="Cambria Math" panose="02040503050406030204" pitchFamily="18" charset="0"/>
                        </a:rPr>
                        <a:t>T</a:t>
                      </a:r>
                      <a:endParaRPr lang="en-US" sz="2700" b="1" dirty="0">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10" name="Content Placeholder 3"/>
          <p:cNvGraphicFramePr>
            <a:graphicFrameLocks/>
          </p:cNvGraphicFramePr>
          <p:nvPr>
            <p:extLst/>
          </p:nvPr>
        </p:nvGraphicFramePr>
        <p:xfrm>
          <a:off x="5060717" y="2748850"/>
          <a:ext cx="914400" cy="2400300"/>
        </p:xfrm>
        <a:graphic>
          <a:graphicData uri="http://schemas.openxmlformats.org/drawingml/2006/table">
            <a:tbl>
              <a:tblPr firstRow="1" bandRow="1">
                <a:tableStyleId>{7E9639D4-E3E2-4D34-9284-5A2195B3D0D7}</a:tableStyleId>
              </a:tblPr>
              <a:tblGrid>
                <a:gridCol w="914400">
                  <a:extLst>
                    <a:ext uri="{9D8B030D-6E8A-4147-A177-3AD203B41FA5}">
                      <a16:colId xmlns:a16="http://schemas.microsoft.com/office/drawing/2014/main" val="20002"/>
                    </a:ext>
                  </a:extLst>
                </a:gridCol>
              </a:tblGrid>
              <a:tr h="4800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700">
                          <a:solidFill>
                            <a:schemeClr val="tx1"/>
                          </a:solidFill>
                          <a:latin typeface="Cambria" panose="02040503050406030204" pitchFamily="18" charset="0"/>
                          <a:ea typeface="Cambria Math" panose="02040503050406030204" pitchFamily="18" charset="0"/>
                        </a:rPr>
                        <a:t>¬</a:t>
                      </a:r>
                      <a:r>
                        <a:rPr lang="en-US" sz="2700" i="1">
                          <a:solidFill>
                            <a:schemeClr val="tx1"/>
                          </a:solidFill>
                          <a:latin typeface="Cambria" panose="02040503050406030204" pitchFamily="18" charset="0"/>
                          <a:ea typeface="Cambria Math" panose="02040503050406030204" pitchFamily="18" charset="0"/>
                        </a:rPr>
                        <a:t>p</a:t>
                      </a:r>
                    </a:p>
                  </a:txBody>
                  <a:tcPr marL="68580" marR="68580" marT="34290" marB="34290">
                    <a:solidFill>
                      <a:schemeClr val="accent3">
                        <a:lumMod val="20000"/>
                        <a:lumOff val="80000"/>
                      </a:schemeClr>
                    </a:solidFill>
                  </a:tcPr>
                </a:tc>
                <a:extLst>
                  <a:ext uri="{0D108BD9-81ED-4DB2-BD59-A6C34878D82A}">
                    <a16:rowId xmlns:a16="http://schemas.microsoft.com/office/drawing/2014/main" val="10000"/>
                  </a:ext>
                </a:extLst>
              </a:tr>
              <a:tr h="480060">
                <a:tc>
                  <a:txBody>
                    <a:bodyPr/>
                    <a:lstStyle/>
                    <a:p>
                      <a:pPr algn="ctr"/>
                      <a:r>
                        <a:rPr lang="en-US" sz="2700" b="0" dirty="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1"/>
                  </a:ext>
                </a:extLst>
              </a:tr>
              <a:tr h="480060">
                <a:tc>
                  <a:txBody>
                    <a:bodyPr/>
                    <a:lstStyle/>
                    <a:p>
                      <a:pPr algn="ctr"/>
                      <a:r>
                        <a:rPr lang="en-US" sz="2700" b="0" dirty="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2"/>
                  </a:ext>
                </a:extLst>
              </a:tr>
              <a:tr h="480060">
                <a:tc>
                  <a:txBody>
                    <a:bodyPr/>
                    <a:lstStyle/>
                    <a:p>
                      <a:pPr algn="ctr"/>
                      <a:r>
                        <a:rPr lang="en-US" sz="2700" b="0" dirty="0">
                          <a:latin typeface="Cambria" panose="02040503050406030204" pitchFamily="18" charset="0"/>
                          <a:ea typeface="Cambria Math" panose="02040503050406030204" pitchFamily="18" charset="0"/>
                        </a:rPr>
                        <a:t>F</a:t>
                      </a:r>
                    </a:p>
                  </a:txBody>
                  <a:tcPr marL="68580" marR="68580" marT="34290" marB="34290"/>
                </a:tc>
                <a:extLst>
                  <a:ext uri="{0D108BD9-81ED-4DB2-BD59-A6C34878D82A}">
                    <a16:rowId xmlns:a16="http://schemas.microsoft.com/office/drawing/2014/main" val="10003"/>
                  </a:ext>
                </a:extLst>
              </a:tr>
              <a:tr h="480060">
                <a:tc>
                  <a:txBody>
                    <a:bodyPr/>
                    <a:lstStyle/>
                    <a:p>
                      <a:pPr algn="ctr"/>
                      <a:r>
                        <a:rPr lang="en-US" sz="2700" b="0" dirty="0">
                          <a:latin typeface="Cambria" panose="02040503050406030204" pitchFamily="18" charset="0"/>
                          <a:ea typeface="Cambria Math" panose="02040503050406030204" pitchFamily="18" charset="0"/>
                        </a:rPr>
                        <a:t>F</a:t>
                      </a:r>
                    </a:p>
                  </a:txBody>
                  <a:tcPr marL="68580" marR="68580" marT="34290" marB="3429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4140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Corbel" panose="020B0503020204020204" pitchFamily="34" charset="0"/>
              </a:rPr>
              <a:t>De Morgan’s Laws</a:t>
            </a:r>
          </a:p>
        </p:txBody>
      </p:sp>
      <p:sp>
        <p:nvSpPr>
          <p:cNvPr id="3" name="Content Placeholder 2"/>
          <p:cNvSpPr>
            <a:spLocks noGrp="1"/>
          </p:cNvSpPr>
          <p:nvPr>
            <p:ph sz="half" idx="1"/>
          </p:nvPr>
        </p:nvSpPr>
        <p:spPr/>
        <p:txBody>
          <a:bodyPr/>
          <a:lstStyle/>
          <a:p>
            <a:r>
              <a:rPr lang="en-US" dirty="0"/>
              <a:t>¬(</a:t>
            </a:r>
            <a:r>
              <a:rPr lang="en-US" i="1" dirty="0"/>
              <a:t>p</a:t>
            </a:r>
            <a:r>
              <a:rPr lang="en-US" dirty="0"/>
              <a:t> ∧ </a:t>
            </a:r>
            <a:r>
              <a:rPr lang="en-US" i="1" dirty="0"/>
              <a:t>q</a:t>
            </a:r>
            <a:r>
              <a:rPr lang="en-US" dirty="0"/>
              <a:t>) ≡ ¬</a:t>
            </a:r>
            <a:r>
              <a:rPr lang="en-US" i="1" dirty="0"/>
              <a:t>p</a:t>
            </a:r>
            <a:r>
              <a:rPr lang="en-US" dirty="0"/>
              <a:t> ∨ ¬</a:t>
            </a:r>
            <a:r>
              <a:rPr lang="en-US" i="1" dirty="0"/>
              <a:t>q, </a:t>
            </a:r>
            <a:r>
              <a:rPr lang="en-US" sz="2400" dirty="0"/>
              <a:t>[</a:t>
            </a:r>
            <a:r>
              <a:rPr lang="en-US" sz="2400" dirty="0">
                <a:solidFill>
                  <a:srgbClr val="0000CC"/>
                </a:solidFill>
              </a:rPr>
              <a:t>first law</a:t>
            </a:r>
            <a:r>
              <a:rPr lang="en-US" sz="2400" dirty="0"/>
              <a:t>]</a:t>
            </a:r>
            <a:br>
              <a:rPr lang="en-US" dirty="0"/>
            </a:br>
            <a:r>
              <a:rPr lang="en-US" dirty="0"/>
              <a:t>¬(</a:t>
            </a:r>
            <a:r>
              <a:rPr lang="en-US" i="1" dirty="0"/>
              <a:t>p</a:t>
            </a:r>
            <a:r>
              <a:rPr lang="en-US" dirty="0"/>
              <a:t> ∨ </a:t>
            </a:r>
            <a:r>
              <a:rPr lang="en-US" i="1" dirty="0"/>
              <a:t>q</a:t>
            </a:r>
            <a:r>
              <a:rPr lang="en-US" dirty="0"/>
              <a:t>) ≡ ¬</a:t>
            </a:r>
            <a:r>
              <a:rPr lang="en-US" i="1" dirty="0"/>
              <a:t>p</a:t>
            </a:r>
            <a:r>
              <a:rPr lang="en-US" dirty="0"/>
              <a:t> ∧ ¬</a:t>
            </a:r>
            <a:r>
              <a:rPr lang="en-US" i="1" dirty="0"/>
              <a:t>q, </a:t>
            </a:r>
            <a:r>
              <a:rPr lang="en-US" sz="2400" dirty="0"/>
              <a:t>[</a:t>
            </a:r>
            <a:r>
              <a:rPr lang="en-US" sz="2400" dirty="0">
                <a:solidFill>
                  <a:srgbClr val="0000CC"/>
                </a:solidFill>
              </a:rPr>
              <a:t>second law</a:t>
            </a:r>
            <a:r>
              <a:rPr lang="en-US" sz="2400" dirty="0"/>
              <a:t>]</a:t>
            </a:r>
            <a:endParaRPr lang="en-US" sz="2400" i="1" dirty="0"/>
          </a:p>
          <a:p>
            <a:endParaRPr lang="en-US" dirty="0"/>
          </a:p>
        </p:txBody>
      </p:sp>
      <p:sp>
        <p:nvSpPr>
          <p:cNvPr id="4" name="Content Placeholder 3"/>
          <p:cNvSpPr>
            <a:spLocks noGrp="1"/>
          </p:cNvSpPr>
          <p:nvPr>
            <p:ph sz="half" idx="2"/>
          </p:nvPr>
        </p:nvSpPr>
        <p:spPr/>
        <p:txBody>
          <a:bodyPr/>
          <a:lstStyle/>
          <a:p>
            <a:r>
              <a:rPr lang="en-US" dirty="0"/>
              <a:t>¬</a:t>
            </a:r>
            <a:r>
              <a:rPr lang="en-US" i="1" dirty="0"/>
              <a:t>p</a:t>
            </a:r>
            <a:r>
              <a:rPr lang="en-US" dirty="0"/>
              <a:t> ∨ ¬</a:t>
            </a:r>
            <a:r>
              <a:rPr lang="en-US" i="1" dirty="0"/>
              <a:t>q</a:t>
            </a:r>
            <a:r>
              <a:rPr lang="en-US" dirty="0"/>
              <a:t> ≡ ¬(</a:t>
            </a:r>
            <a:r>
              <a:rPr lang="en-US" i="1" dirty="0"/>
              <a:t>p</a:t>
            </a:r>
            <a:r>
              <a:rPr lang="en-US" dirty="0"/>
              <a:t> ∧ </a:t>
            </a:r>
            <a:r>
              <a:rPr lang="en-US" i="1" dirty="0"/>
              <a:t>q</a:t>
            </a:r>
            <a:r>
              <a:rPr lang="en-US" dirty="0"/>
              <a:t>) </a:t>
            </a:r>
            <a:br>
              <a:rPr lang="en-US" dirty="0"/>
            </a:br>
            <a:r>
              <a:rPr lang="en-US" dirty="0"/>
              <a:t>¬</a:t>
            </a:r>
            <a:r>
              <a:rPr lang="en-US" i="1" dirty="0"/>
              <a:t>p</a:t>
            </a:r>
            <a:r>
              <a:rPr lang="en-US" dirty="0"/>
              <a:t> ∧ ¬</a:t>
            </a:r>
            <a:r>
              <a:rPr lang="en-US" i="1" dirty="0"/>
              <a:t>q </a:t>
            </a:r>
            <a:r>
              <a:rPr lang="en-US" dirty="0"/>
              <a:t>≡ ¬(</a:t>
            </a:r>
            <a:r>
              <a:rPr lang="en-US" i="1" dirty="0"/>
              <a:t>p</a:t>
            </a:r>
            <a:r>
              <a:rPr lang="en-US" dirty="0"/>
              <a:t> ∨ </a:t>
            </a:r>
            <a:r>
              <a:rPr lang="en-US" i="1" dirty="0"/>
              <a:t>q</a:t>
            </a:r>
            <a:r>
              <a:rPr lang="en-US" dirty="0"/>
              <a:t>) </a:t>
            </a:r>
            <a:endParaRPr lang="en-US" i="1" dirty="0"/>
          </a:p>
          <a:p>
            <a:endParaRPr lang="en-US" dirty="0"/>
          </a:p>
        </p:txBody>
      </p:sp>
      <p:sp>
        <p:nvSpPr>
          <p:cNvPr id="5" name="Date Placeholder 4"/>
          <p:cNvSpPr>
            <a:spLocks noGrp="1"/>
          </p:cNvSpPr>
          <p:nvPr>
            <p:ph type="dt" sz="half" idx="10"/>
          </p:nvPr>
        </p:nvSpPr>
        <p:spPr/>
        <p:txBody>
          <a:bodyPr/>
          <a:lstStyle/>
          <a:p>
            <a:fld id="{BD79017B-1767-4C05-8279-C189AA0C4571}" type="datetime1">
              <a:rPr lang="en-US" smtClean="0"/>
              <a:t>9/29/2022</a:t>
            </a:fld>
            <a:endParaRPr lang="en-US"/>
          </a:p>
        </p:txBody>
      </p:sp>
      <p:sp>
        <p:nvSpPr>
          <p:cNvPr id="6" name="Footer Placeholder 5"/>
          <p:cNvSpPr>
            <a:spLocks noGrp="1"/>
          </p:cNvSpPr>
          <p:nvPr>
            <p:ph type="ftr" sz="quarter" idx="11"/>
          </p:nvPr>
        </p:nvSpPr>
        <p:spPr/>
        <p:txBody>
          <a:bodyPr/>
          <a:lstStyle/>
          <a:p>
            <a:r>
              <a:rPr lang="en-US"/>
              <a:t>Introduction to AI</a:t>
            </a:r>
          </a:p>
        </p:txBody>
      </p:sp>
      <p:sp>
        <p:nvSpPr>
          <p:cNvPr id="7" name="Slide Number Placeholder 6"/>
          <p:cNvSpPr>
            <a:spLocks noGrp="1"/>
          </p:cNvSpPr>
          <p:nvPr>
            <p:ph type="sldNum" sz="quarter" idx="12"/>
          </p:nvPr>
        </p:nvSpPr>
        <p:spPr/>
        <p:txBody>
          <a:bodyPr/>
          <a:lstStyle/>
          <a:p>
            <a:fld id="{75B1DB82-35C9-4076-A5B8-0781B30E89ED}" type="slidenum">
              <a:rPr lang="en-US" smtClean="0"/>
              <a:t>45</a:t>
            </a:fld>
            <a:endParaRPr lang="en-US"/>
          </a:p>
        </p:txBody>
      </p:sp>
      <p:graphicFrame>
        <p:nvGraphicFramePr>
          <p:cNvPr id="8" name="Content Placeholder 3"/>
          <p:cNvGraphicFramePr>
            <a:graphicFrameLocks/>
          </p:cNvGraphicFramePr>
          <p:nvPr>
            <p:extLst/>
          </p:nvPr>
        </p:nvGraphicFramePr>
        <p:xfrm>
          <a:off x="2383884" y="2622040"/>
          <a:ext cx="4057650" cy="2171700"/>
        </p:xfrm>
        <a:graphic>
          <a:graphicData uri="http://schemas.openxmlformats.org/drawingml/2006/table">
            <a:tbl>
              <a:tblPr firstRow="1" bandRow="1">
                <a:tableStyleId>{7E9639D4-E3E2-4D34-9284-5A2195B3D0D7}</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434340">
                <a:tc>
                  <a:txBody>
                    <a:bodyPr/>
                    <a:lstStyle/>
                    <a:p>
                      <a:pPr algn="ctr"/>
                      <a:r>
                        <a:rPr lang="en-US" sz="2400" i="1">
                          <a:solidFill>
                            <a:schemeClr val="tx1"/>
                          </a:solidFill>
                          <a:latin typeface="+mn-lt"/>
                          <a:ea typeface="Cambria Math" panose="02040503050406030204" pitchFamily="18" charset="0"/>
                        </a:rPr>
                        <a:t>p</a:t>
                      </a:r>
                      <a:endParaRPr lang="en-US" sz="2400" b="0" i="1">
                        <a:solidFill>
                          <a:schemeClr val="tx1"/>
                        </a:solidFill>
                        <a:latin typeface="+mn-lt"/>
                        <a:ea typeface="Cambria Math" panose="02040503050406030204" pitchFamily="18" charset="0"/>
                      </a:endParaRPr>
                    </a:p>
                  </a:txBody>
                  <a:tcPr marL="68580" marR="68580" marT="34290" marB="34290">
                    <a:solidFill>
                      <a:schemeClr val="accent4">
                        <a:lumMod val="60000"/>
                        <a:lumOff val="40000"/>
                      </a:schemeClr>
                    </a:solidFill>
                  </a:tcPr>
                </a:tc>
                <a:tc>
                  <a:txBody>
                    <a:bodyPr/>
                    <a:lstStyle/>
                    <a:p>
                      <a:pPr algn="ctr"/>
                      <a:r>
                        <a:rPr lang="en-US" sz="2400" i="1">
                          <a:solidFill>
                            <a:schemeClr val="tx1"/>
                          </a:solidFill>
                          <a:latin typeface="+mn-lt"/>
                          <a:ea typeface="Cambria Math" panose="02040503050406030204" pitchFamily="18" charset="0"/>
                        </a:rPr>
                        <a:t>q</a:t>
                      </a:r>
                      <a:endParaRPr lang="en-US" sz="2400" b="0" i="1">
                        <a:solidFill>
                          <a:schemeClr val="tx1"/>
                        </a:solidFill>
                        <a:latin typeface="+mn-lt"/>
                        <a:ea typeface="Cambria Math" panose="02040503050406030204" pitchFamily="18" charset="0"/>
                      </a:endParaRPr>
                    </a:p>
                  </a:txBody>
                  <a:tcPr marL="68580" marR="68580" marT="34290" marB="34290">
                    <a:solidFill>
                      <a:schemeClr val="accent4">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p</a:t>
                      </a:r>
                      <a:endParaRPr lang="en-US" sz="2400" b="0" i="1">
                        <a:solidFill>
                          <a:schemeClr val="tx1"/>
                        </a:solidFill>
                        <a:latin typeface="+mn-lt"/>
                        <a:ea typeface="Cambria Math" panose="02040503050406030204" pitchFamily="18" charset="0"/>
                      </a:endParaRPr>
                    </a:p>
                  </a:txBody>
                  <a:tcPr marL="68580" marR="68580" marT="34290" marB="34290">
                    <a:solidFill>
                      <a:schemeClr val="accent4">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q</a:t>
                      </a:r>
                      <a:endParaRPr lang="en-US" sz="2400" b="0" i="1">
                        <a:solidFill>
                          <a:schemeClr val="tx1"/>
                        </a:solidFill>
                        <a:latin typeface="+mn-lt"/>
                        <a:ea typeface="Cambria Math" panose="02040503050406030204" pitchFamily="18" charset="0"/>
                      </a:endParaRPr>
                    </a:p>
                  </a:txBody>
                  <a:tcPr marL="68580" marR="68580" marT="34290" marB="34290">
                    <a:solidFill>
                      <a:schemeClr val="accent4">
                        <a:lumMod val="60000"/>
                        <a:lumOff val="4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p </a:t>
                      </a: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q</a:t>
                      </a:r>
                      <a:r>
                        <a:rPr lang="en-US" sz="2400">
                          <a:solidFill>
                            <a:schemeClr val="tx1"/>
                          </a:solidFill>
                          <a:latin typeface="+mn-lt"/>
                          <a:ea typeface="Cambria Math" panose="02040503050406030204" pitchFamily="18" charset="0"/>
                        </a:rPr>
                        <a:t>)</a:t>
                      </a:r>
                      <a:endParaRPr lang="en-US" sz="2400" b="0" i="1">
                        <a:solidFill>
                          <a:schemeClr val="tx1"/>
                        </a:solidFill>
                        <a:latin typeface="+mn-lt"/>
                        <a:ea typeface="Cambria Math" panose="02040503050406030204" pitchFamily="18" charset="0"/>
                      </a:endParaRPr>
                    </a:p>
                  </a:txBody>
                  <a:tcPr marL="68580" marR="68580" marT="34290" marB="34290">
                    <a:solidFill>
                      <a:schemeClr val="accent4">
                        <a:lumMod val="60000"/>
                        <a:lumOff val="40000"/>
                      </a:schemeClr>
                    </a:solidFill>
                  </a:tcPr>
                </a:tc>
                <a:extLst>
                  <a:ext uri="{0D108BD9-81ED-4DB2-BD59-A6C34878D82A}">
                    <a16:rowId xmlns:a16="http://schemas.microsoft.com/office/drawing/2014/main" val="10000"/>
                  </a:ext>
                </a:extLst>
              </a:tr>
              <a:tr h="434340">
                <a:tc>
                  <a:txBody>
                    <a:bodyPr/>
                    <a:lstStyle/>
                    <a:p>
                      <a:pPr algn="ctr"/>
                      <a:r>
                        <a:rPr lang="en-US" sz="2400" b="0" dirty="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F</a:t>
                      </a:r>
                    </a:p>
                  </a:txBody>
                  <a:tcPr marL="68580" marR="68580" marT="34290" marB="34290"/>
                </a:tc>
                <a:extLst>
                  <a:ext uri="{0D108BD9-81ED-4DB2-BD59-A6C34878D82A}">
                    <a16:rowId xmlns:a16="http://schemas.microsoft.com/office/drawing/2014/main" val="10001"/>
                  </a:ext>
                </a:extLst>
              </a:tr>
              <a:tr h="434340">
                <a:tc>
                  <a:txBody>
                    <a:bodyPr/>
                    <a:lstStyle/>
                    <a:p>
                      <a:pPr algn="ctr"/>
                      <a:r>
                        <a:rPr lang="en-US" sz="2400" b="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2"/>
                  </a:ext>
                </a:extLst>
              </a:tr>
              <a:tr h="434340">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3"/>
                  </a:ext>
                </a:extLst>
              </a:tr>
              <a:tr h="434340">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T</a:t>
                      </a:r>
                    </a:p>
                  </a:txBody>
                  <a:tcPr marL="68580" marR="68580" marT="34290" marB="34290"/>
                </a:tc>
                <a:tc>
                  <a:txBody>
                    <a:bodyPr/>
                    <a:lstStyle/>
                    <a:p>
                      <a:pPr algn="ctr"/>
                      <a:r>
                        <a:rPr lang="en-US" sz="2400" b="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F</a:t>
                      </a:r>
                    </a:p>
                  </a:txBody>
                  <a:tcPr marL="68580" marR="68580" marT="34290" marB="34290"/>
                </a:tc>
                <a:tc>
                  <a:txBody>
                    <a:bodyPr/>
                    <a:lstStyle/>
                    <a:p>
                      <a:pPr algn="ctr"/>
                      <a:r>
                        <a:rPr lang="en-US" sz="2400" b="0" dirty="0">
                          <a:latin typeface="Cambria" panose="02040503050406030204" pitchFamily="18" charset="0"/>
                          <a:ea typeface="Cambria Math" panose="02040503050406030204" pitchFamily="18" charset="0"/>
                        </a:rPr>
                        <a:t>T</a:t>
                      </a:r>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9" name="Content Placeholder 3"/>
          <p:cNvGraphicFramePr>
            <a:graphicFrameLocks/>
          </p:cNvGraphicFramePr>
          <p:nvPr>
            <p:extLst/>
          </p:nvPr>
        </p:nvGraphicFramePr>
        <p:xfrm>
          <a:off x="6441534" y="2622040"/>
          <a:ext cx="1235869" cy="2171700"/>
        </p:xfrm>
        <a:graphic>
          <a:graphicData uri="http://schemas.openxmlformats.org/drawingml/2006/table">
            <a:tbl>
              <a:tblPr firstRow="1" bandRow="1">
                <a:tableStyleId>{7E9639D4-E3E2-4D34-9284-5A2195B3D0D7}</a:tableStyleId>
              </a:tblPr>
              <a:tblGrid>
                <a:gridCol w="1235869">
                  <a:extLst>
                    <a:ext uri="{9D8B030D-6E8A-4147-A177-3AD203B41FA5}">
                      <a16:colId xmlns:a16="http://schemas.microsoft.com/office/drawing/2014/main" val="20005"/>
                    </a:ext>
                  </a:extLst>
                </a:gridCol>
              </a:tblGrid>
              <a:tr h="43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p </a:t>
                      </a: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q</a:t>
                      </a:r>
                      <a:r>
                        <a:rPr lang="en-US" sz="2400">
                          <a:solidFill>
                            <a:schemeClr val="tx1"/>
                          </a:solidFill>
                          <a:latin typeface="+mn-lt"/>
                          <a:ea typeface="Cambria Math" panose="02040503050406030204" pitchFamily="18" charset="0"/>
                        </a:rPr>
                        <a:t>)</a:t>
                      </a:r>
                      <a:endParaRPr lang="en-US" sz="2400" b="0" i="1">
                        <a:solidFill>
                          <a:schemeClr val="tx1"/>
                        </a:solidFill>
                        <a:latin typeface="+mn-lt"/>
                        <a:ea typeface="Cambria Math" pitchFamily="18" charset="0"/>
                      </a:endParaRPr>
                    </a:p>
                  </a:txBody>
                  <a:tcPr marL="68580" marR="68580" marT="34290" marB="34290">
                    <a:solidFill>
                      <a:schemeClr val="accent4">
                        <a:lumMod val="60000"/>
                        <a:lumOff val="40000"/>
                      </a:schemeClr>
                    </a:solidFill>
                  </a:tcPr>
                </a:tc>
                <a:extLst>
                  <a:ext uri="{0D108BD9-81ED-4DB2-BD59-A6C34878D82A}">
                    <a16:rowId xmlns:a16="http://schemas.microsoft.com/office/drawing/2014/main" val="10000"/>
                  </a:ext>
                </a:extLst>
              </a:tr>
              <a:tr h="434340">
                <a:tc>
                  <a:txBody>
                    <a:bodyPr/>
                    <a:lstStyle/>
                    <a:p>
                      <a:pPr algn="ctr"/>
                      <a:r>
                        <a:rPr lang="en-US" sz="2400" b="1">
                          <a:latin typeface="Cambria" panose="02040503050406030204" pitchFamily="18" charset="0"/>
                          <a:ea typeface="Cambria Math" panose="02040503050406030204" pitchFamily="18" charset="0"/>
                        </a:rPr>
                        <a:t>T</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1"/>
                  </a:ext>
                </a:extLst>
              </a:tr>
              <a:tr h="434340">
                <a:tc>
                  <a:txBody>
                    <a:bodyPr/>
                    <a:lstStyle/>
                    <a:p>
                      <a:pPr algn="ctr"/>
                      <a:r>
                        <a:rPr lang="en-US" sz="2400" b="1">
                          <a:latin typeface="Cambria" panose="02040503050406030204" pitchFamily="18" charset="0"/>
                          <a:ea typeface="Cambria Math" panose="02040503050406030204" pitchFamily="18" charset="0"/>
                        </a:rPr>
                        <a:t>F</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2"/>
                  </a:ext>
                </a:extLst>
              </a:tr>
              <a:tr h="434340">
                <a:tc>
                  <a:txBody>
                    <a:bodyPr/>
                    <a:lstStyle/>
                    <a:p>
                      <a:pPr algn="ctr"/>
                      <a:r>
                        <a:rPr lang="en-US" sz="2400" b="1">
                          <a:latin typeface="Cambria" panose="02040503050406030204" pitchFamily="18" charset="0"/>
                          <a:ea typeface="Cambria Math" panose="02040503050406030204" pitchFamily="18" charset="0"/>
                        </a:rPr>
                        <a:t>F</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3"/>
                  </a:ext>
                </a:extLst>
              </a:tr>
              <a:tr h="434340">
                <a:tc>
                  <a:txBody>
                    <a:bodyPr/>
                    <a:lstStyle/>
                    <a:p>
                      <a:pPr algn="ctr"/>
                      <a:r>
                        <a:rPr lang="en-US" sz="2400" b="1">
                          <a:latin typeface="Cambria" panose="02040503050406030204" pitchFamily="18" charset="0"/>
                          <a:ea typeface="Cambria Math" panose="02040503050406030204" pitchFamily="18" charset="0"/>
                        </a:rPr>
                        <a:t>F</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4"/>
                  </a:ext>
                </a:extLst>
              </a:tr>
            </a:tbl>
          </a:graphicData>
        </a:graphic>
      </p:graphicFrame>
      <p:graphicFrame>
        <p:nvGraphicFramePr>
          <p:cNvPr id="10" name="Content Placeholder 3"/>
          <p:cNvGraphicFramePr>
            <a:graphicFrameLocks/>
          </p:cNvGraphicFramePr>
          <p:nvPr>
            <p:extLst/>
          </p:nvPr>
        </p:nvGraphicFramePr>
        <p:xfrm>
          <a:off x="7677403" y="2622040"/>
          <a:ext cx="1314451" cy="2171700"/>
        </p:xfrm>
        <a:graphic>
          <a:graphicData uri="http://schemas.openxmlformats.org/drawingml/2006/table">
            <a:tbl>
              <a:tblPr firstRow="1" bandRow="1">
                <a:tableStyleId>{7E9639D4-E3E2-4D34-9284-5A2195B3D0D7}</a:tableStyleId>
              </a:tblPr>
              <a:tblGrid>
                <a:gridCol w="1314451">
                  <a:extLst>
                    <a:ext uri="{9D8B030D-6E8A-4147-A177-3AD203B41FA5}">
                      <a16:colId xmlns:a16="http://schemas.microsoft.com/office/drawing/2014/main" val="20006"/>
                    </a:ext>
                  </a:extLst>
                </a:gridCol>
              </a:tblGrid>
              <a:tr h="4343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p </a:t>
                      </a:r>
                      <a:r>
                        <a:rPr lang="en-US" sz="2400">
                          <a:solidFill>
                            <a:schemeClr val="tx1"/>
                          </a:solidFill>
                          <a:latin typeface="+mn-lt"/>
                          <a:ea typeface="Cambria Math" panose="02040503050406030204" pitchFamily="18" charset="0"/>
                        </a:rPr>
                        <a:t>∧¬</a:t>
                      </a:r>
                      <a:r>
                        <a:rPr lang="en-US" sz="2400" i="1">
                          <a:solidFill>
                            <a:schemeClr val="tx1"/>
                          </a:solidFill>
                          <a:latin typeface="+mn-lt"/>
                          <a:ea typeface="Cambria Math" panose="02040503050406030204" pitchFamily="18" charset="0"/>
                        </a:rPr>
                        <a:t>q</a:t>
                      </a:r>
                      <a:endParaRPr lang="en-US" sz="2400" b="0" i="1">
                        <a:solidFill>
                          <a:schemeClr val="tx1"/>
                        </a:solidFill>
                        <a:latin typeface="+mn-lt"/>
                        <a:ea typeface="Cambria Math" pitchFamily="18" charset="0"/>
                      </a:endParaRPr>
                    </a:p>
                  </a:txBody>
                  <a:tcPr marL="68580" marR="68580" marT="34290" marB="34290">
                    <a:solidFill>
                      <a:schemeClr val="accent4">
                        <a:lumMod val="60000"/>
                        <a:lumOff val="40000"/>
                      </a:schemeClr>
                    </a:solidFill>
                  </a:tcPr>
                </a:tc>
                <a:extLst>
                  <a:ext uri="{0D108BD9-81ED-4DB2-BD59-A6C34878D82A}">
                    <a16:rowId xmlns:a16="http://schemas.microsoft.com/office/drawing/2014/main" val="10000"/>
                  </a:ext>
                </a:extLst>
              </a:tr>
              <a:tr h="434340">
                <a:tc>
                  <a:txBody>
                    <a:bodyPr/>
                    <a:lstStyle/>
                    <a:p>
                      <a:pPr algn="ctr"/>
                      <a:r>
                        <a:rPr lang="en-US" sz="2400" b="1">
                          <a:latin typeface="Cambria" panose="02040503050406030204" pitchFamily="18" charset="0"/>
                          <a:ea typeface="Cambria Math" panose="02040503050406030204" pitchFamily="18" charset="0"/>
                        </a:rPr>
                        <a:t>T</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1"/>
                  </a:ext>
                </a:extLst>
              </a:tr>
              <a:tr h="434340">
                <a:tc>
                  <a:txBody>
                    <a:bodyPr/>
                    <a:lstStyle/>
                    <a:p>
                      <a:pPr algn="ctr"/>
                      <a:r>
                        <a:rPr lang="en-US" sz="2400" b="1">
                          <a:latin typeface="Cambria" panose="02040503050406030204" pitchFamily="18" charset="0"/>
                          <a:ea typeface="Cambria Math" panose="02040503050406030204" pitchFamily="18" charset="0"/>
                        </a:rPr>
                        <a:t>F</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2"/>
                  </a:ext>
                </a:extLst>
              </a:tr>
              <a:tr h="434340">
                <a:tc>
                  <a:txBody>
                    <a:bodyPr/>
                    <a:lstStyle/>
                    <a:p>
                      <a:pPr algn="ctr"/>
                      <a:r>
                        <a:rPr lang="en-US" sz="2400" b="1">
                          <a:latin typeface="Cambria" panose="02040503050406030204" pitchFamily="18" charset="0"/>
                          <a:ea typeface="Cambria Math" panose="02040503050406030204" pitchFamily="18" charset="0"/>
                        </a:rPr>
                        <a:t>F</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3"/>
                  </a:ext>
                </a:extLst>
              </a:tr>
              <a:tr h="434340">
                <a:tc>
                  <a:txBody>
                    <a:bodyPr/>
                    <a:lstStyle/>
                    <a:p>
                      <a:pPr algn="ctr"/>
                      <a:r>
                        <a:rPr lang="en-US" sz="2400" b="1">
                          <a:latin typeface="Cambria" panose="02040503050406030204" pitchFamily="18" charset="0"/>
                          <a:ea typeface="Cambria Math" panose="02040503050406030204" pitchFamily="18" charset="0"/>
                        </a:rPr>
                        <a:t>F</a:t>
                      </a:r>
                      <a:endParaRPr lang="en-US" sz="2400" b="1">
                        <a:solidFill>
                          <a:srgbClr val="00B050"/>
                        </a:solidFill>
                        <a:latin typeface="Cambria" panose="02040503050406030204" pitchFamily="18" charset="0"/>
                        <a:ea typeface="Cambria Math" panose="02040503050406030204" pitchFamily="18" charset="0"/>
                      </a:endParaRPr>
                    </a:p>
                  </a:txBody>
                  <a:tcPr marL="68580" marR="68580" marT="34290" marB="34290"/>
                </a:tc>
                <a:extLst>
                  <a:ext uri="{0D108BD9-81ED-4DB2-BD59-A6C34878D82A}">
                    <a16:rowId xmlns:a16="http://schemas.microsoft.com/office/drawing/2014/main" val="10004"/>
                  </a:ext>
                </a:extLst>
              </a:tr>
            </a:tbl>
          </a:graphicData>
        </a:graphic>
      </p:graphicFrame>
      <p:sp>
        <p:nvSpPr>
          <p:cNvPr id="11" name="Rectangle: Rounded Corners 3">
            <a:extLst>
              <a:ext uri="{FF2B5EF4-FFF2-40B4-BE49-F238E27FC236}">
                <a16:creationId xmlns:a16="http://schemas.microsoft.com/office/drawing/2014/main" id="{FFC3F42D-CD65-4BD8-B1BA-BD2A797189F5}"/>
              </a:ext>
            </a:extLst>
          </p:cNvPr>
          <p:cNvSpPr/>
          <p:nvPr/>
        </p:nvSpPr>
        <p:spPr>
          <a:xfrm>
            <a:off x="6773626" y="3078223"/>
            <a:ext cx="559965" cy="1715518"/>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13"/>
          </a:p>
        </p:txBody>
      </p:sp>
      <p:sp>
        <p:nvSpPr>
          <p:cNvPr id="12" name="Rectangle: Rounded Corners 12">
            <a:extLst>
              <a:ext uri="{FF2B5EF4-FFF2-40B4-BE49-F238E27FC236}">
                <a16:creationId xmlns:a16="http://schemas.microsoft.com/office/drawing/2014/main" id="{2B4528E3-4E6D-4DF3-B92C-95EAF27A73EA}"/>
              </a:ext>
            </a:extLst>
          </p:cNvPr>
          <p:cNvSpPr/>
          <p:nvPr/>
        </p:nvSpPr>
        <p:spPr>
          <a:xfrm>
            <a:off x="8048293" y="3078222"/>
            <a:ext cx="559965" cy="1715518"/>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13"/>
          </a:p>
        </p:txBody>
      </p:sp>
    </p:spTree>
    <p:extLst>
      <p:ext uri="{BB962C8B-B14F-4D97-AF65-F5344CB8AC3E}">
        <p14:creationId xmlns:p14="http://schemas.microsoft.com/office/powerpoint/2010/main" val="236129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25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78287-CB85-4025-AF59-56FEE856B73C}"/>
              </a:ext>
            </a:extLst>
          </p:cNvPr>
          <p:cNvSpPr>
            <a:spLocks noGrp="1"/>
          </p:cNvSpPr>
          <p:nvPr>
            <p:ph type="title"/>
          </p:nvPr>
        </p:nvSpPr>
        <p:spPr/>
        <p:txBody>
          <a:bodyPr>
            <a:normAutofit fontScale="90000"/>
          </a:bodyPr>
          <a:lstStyle/>
          <a:p>
            <a:r>
              <a:rPr lang="en-US" dirty="0"/>
              <a:t>De Morgan’s Laws</a:t>
            </a:r>
          </a:p>
        </p:txBody>
      </p:sp>
      <p:sp>
        <p:nvSpPr>
          <p:cNvPr id="3" name="Content Placeholder 2">
            <a:extLst>
              <a:ext uri="{FF2B5EF4-FFF2-40B4-BE49-F238E27FC236}">
                <a16:creationId xmlns:a16="http://schemas.microsoft.com/office/drawing/2014/main" id="{6B00219B-1205-4690-848D-B6C872788D40}"/>
              </a:ext>
            </a:extLst>
          </p:cNvPr>
          <p:cNvSpPr>
            <a:spLocks noGrp="1"/>
          </p:cNvSpPr>
          <p:nvPr>
            <p:ph idx="1"/>
          </p:nvPr>
        </p:nvSpPr>
        <p:spPr/>
        <p:txBody>
          <a:bodyPr/>
          <a:lstStyle/>
          <a:p>
            <a:r>
              <a:rPr lang="en-US" dirty="0"/>
              <a:t>When applying De Morgan’s laws on compound propositional expressions, make sure to put brackets first around conjunctive operators</a:t>
            </a:r>
          </a:p>
          <a:p>
            <a:r>
              <a:rPr lang="en-US" dirty="0"/>
              <a:t>Example:</a:t>
            </a:r>
          </a:p>
          <a:p>
            <a:pPr lvl="1"/>
            <a:r>
              <a:rPr lang="en-US" dirty="0"/>
              <a:t>¬(</a:t>
            </a:r>
            <a:r>
              <a:rPr lang="en-US" i="1" dirty="0"/>
              <a:t>p</a:t>
            </a:r>
            <a:r>
              <a:rPr lang="en-US" dirty="0"/>
              <a:t> ∧ </a:t>
            </a:r>
            <a:r>
              <a:rPr lang="en-US" i="1" dirty="0"/>
              <a:t>q V r </a:t>
            </a:r>
            <a:r>
              <a:rPr lang="en-US" dirty="0"/>
              <a:t>∧</a:t>
            </a:r>
            <a:r>
              <a:rPr lang="en-US" i="1" dirty="0"/>
              <a:t> s</a:t>
            </a:r>
            <a:r>
              <a:rPr lang="en-US" dirty="0"/>
              <a:t>)</a:t>
            </a:r>
          </a:p>
          <a:p>
            <a:pPr lvl="1"/>
            <a:r>
              <a:rPr lang="en-US" dirty="0"/>
              <a:t>≡ ¬((</a:t>
            </a:r>
            <a:r>
              <a:rPr lang="en-US" i="1" dirty="0"/>
              <a:t>p</a:t>
            </a:r>
            <a:r>
              <a:rPr lang="en-US" dirty="0"/>
              <a:t> ∧ </a:t>
            </a:r>
            <a:r>
              <a:rPr lang="en-US" i="1" dirty="0"/>
              <a:t>q) V (r </a:t>
            </a:r>
            <a:r>
              <a:rPr lang="en-US" dirty="0"/>
              <a:t>∧</a:t>
            </a:r>
            <a:r>
              <a:rPr lang="en-US" i="1" dirty="0"/>
              <a:t> s</a:t>
            </a:r>
            <a:r>
              <a:rPr lang="en-US" dirty="0"/>
              <a:t>))</a:t>
            </a:r>
          </a:p>
          <a:p>
            <a:pPr lvl="1"/>
            <a:r>
              <a:rPr lang="en-US" dirty="0"/>
              <a:t>≡ ¬(</a:t>
            </a:r>
            <a:r>
              <a:rPr lang="en-US" i="1" dirty="0"/>
              <a:t>p</a:t>
            </a:r>
            <a:r>
              <a:rPr lang="en-US" dirty="0"/>
              <a:t> ∧ </a:t>
            </a:r>
            <a:r>
              <a:rPr lang="en-US" i="1" dirty="0"/>
              <a:t>q) </a:t>
            </a:r>
            <a:r>
              <a:rPr lang="en-US" dirty="0"/>
              <a:t>∧</a:t>
            </a:r>
            <a:r>
              <a:rPr lang="en-US" i="1" dirty="0"/>
              <a:t> </a:t>
            </a:r>
            <a:r>
              <a:rPr lang="en-US" dirty="0"/>
              <a:t>¬ </a:t>
            </a:r>
            <a:r>
              <a:rPr lang="en-US" i="1" dirty="0"/>
              <a:t>(r </a:t>
            </a:r>
            <a:r>
              <a:rPr lang="en-US" dirty="0"/>
              <a:t>∧</a:t>
            </a:r>
            <a:r>
              <a:rPr lang="en-US" i="1" dirty="0"/>
              <a:t> s</a:t>
            </a:r>
            <a:r>
              <a:rPr lang="en-US" dirty="0"/>
              <a:t>)</a:t>
            </a:r>
          </a:p>
          <a:p>
            <a:pPr lvl="1"/>
            <a:r>
              <a:rPr lang="en-US" dirty="0"/>
              <a:t>≡ (¬</a:t>
            </a:r>
            <a:r>
              <a:rPr lang="en-US" i="1" dirty="0"/>
              <a:t>p</a:t>
            </a:r>
            <a:r>
              <a:rPr lang="en-US" dirty="0"/>
              <a:t> </a:t>
            </a:r>
            <a:r>
              <a:rPr lang="en-US" i="1" dirty="0"/>
              <a:t>V</a:t>
            </a:r>
            <a:r>
              <a:rPr lang="en-US" dirty="0"/>
              <a:t> ¬</a:t>
            </a:r>
            <a:r>
              <a:rPr lang="en-US" i="1" dirty="0"/>
              <a:t>q) </a:t>
            </a:r>
            <a:r>
              <a:rPr lang="en-US" dirty="0"/>
              <a:t>∧</a:t>
            </a:r>
            <a:r>
              <a:rPr lang="en-US" i="1" dirty="0"/>
              <a:t> (</a:t>
            </a:r>
            <a:r>
              <a:rPr lang="en-US" dirty="0"/>
              <a:t>¬</a:t>
            </a:r>
            <a:r>
              <a:rPr lang="en-US" i="1" dirty="0"/>
              <a:t>r V </a:t>
            </a:r>
            <a:r>
              <a:rPr lang="en-US" dirty="0"/>
              <a:t>¬</a:t>
            </a:r>
            <a:r>
              <a:rPr lang="en-US" i="1" dirty="0"/>
              <a:t>s</a:t>
            </a:r>
            <a:r>
              <a:rPr lang="en-US" dirty="0"/>
              <a:t>)</a:t>
            </a:r>
          </a:p>
          <a:p>
            <a:pPr lvl="1"/>
            <a:endParaRPr lang="en-US" dirty="0"/>
          </a:p>
          <a:p>
            <a:pPr lvl="1"/>
            <a:endParaRPr lang="en-US" dirty="0"/>
          </a:p>
          <a:p>
            <a:pPr lvl="1"/>
            <a:endParaRPr lang="en-US" dirty="0"/>
          </a:p>
          <a:p>
            <a:pPr lvl="1"/>
            <a:endParaRPr lang="en-US" dirty="0"/>
          </a:p>
          <a:p>
            <a:pPr lvl="1"/>
            <a:endParaRPr lang="en-US" dirty="0"/>
          </a:p>
        </p:txBody>
      </p:sp>
      <p:sp>
        <p:nvSpPr>
          <p:cNvPr id="4" name="Date Placeholder 3">
            <a:extLst>
              <a:ext uri="{FF2B5EF4-FFF2-40B4-BE49-F238E27FC236}">
                <a16:creationId xmlns:a16="http://schemas.microsoft.com/office/drawing/2014/main" id="{C077BF95-A2BA-44B8-A2BC-1124F1932C8A}"/>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5C75BB5B-A3B8-40FE-92AD-333928D7E026}"/>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4E6662B9-8B5D-418A-94CD-99A638F6D21B}"/>
              </a:ext>
            </a:extLst>
          </p:cNvPr>
          <p:cNvSpPr>
            <a:spLocks noGrp="1"/>
          </p:cNvSpPr>
          <p:nvPr>
            <p:ph type="sldNum" sz="quarter" idx="12"/>
          </p:nvPr>
        </p:nvSpPr>
        <p:spPr/>
        <p:txBody>
          <a:bodyPr/>
          <a:lstStyle/>
          <a:p>
            <a:fld id="{75B1DB82-35C9-4076-A5B8-0781B30E89ED}" type="slidenum">
              <a:rPr lang="en-US" smtClean="0"/>
              <a:t>46</a:t>
            </a:fld>
            <a:endParaRPr lang="en-US"/>
          </a:p>
        </p:txBody>
      </p:sp>
    </p:spTree>
    <p:extLst>
      <p:ext uri="{BB962C8B-B14F-4D97-AF65-F5344CB8AC3E}">
        <p14:creationId xmlns:p14="http://schemas.microsoft.com/office/powerpoint/2010/main" val="23048498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B1DBC-E274-403F-A09F-838742CA1DB3}"/>
              </a:ext>
            </a:extLst>
          </p:cNvPr>
          <p:cNvSpPr>
            <a:spLocks noGrp="1"/>
          </p:cNvSpPr>
          <p:nvPr>
            <p:ph type="title"/>
          </p:nvPr>
        </p:nvSpPr>
        <p:spPr/>
        <p:txBody>
          <a:bodyPr>
            <a:normAutofit fontScale="90000"/>
          </a:bodyPr>
          <a:lstStyle/>
          <a:p>
            <a:r>
              <a:rPr lang="en-US" altLang="en-US"/>
              <a:t>Rules of Inference</a:t>
            </a:r>
            <a:endParaRPr lang="en-US"/>
          </a:p>
        </p:txBody>
      </p:sp>
      <p:sp>
        <p:nvSpPr>
          <p:cNvPr id="3" name="Content Placeholder 2">
            <a:extLst>
              <a:ext uri="{FF2B5EF4-FFF2-40B4-BE49-F238E27FC236}">
                <a16:creationId xmlns:a16="http://schemas.microsoft.com/office/drawing/2014/main" id="{BF28D6EA-C75F-43C4-A5D9-60995E4FA096}"/>
              </a:ext>
            </a:extLst>
          </p:cNvPr>
          <p:cNvSpPr>
            <a:spLocks noGrp="1"/>
          </p:cNvSpPr>
          <p:nvPr>
            <p:ph idx="1"/>
          </p:nvPr>
        </p:nvSpPr>
        <p:spPr/>
        <p:txBody>
          <a:bodyPr/>
          <a:lstStyle/>
          <a:p>
            <a:r>
              <a:rPr lang="en-US" altLang="en-US" b="1" dirty="0"/>
              <a:t>Proof</a:t>
            </a:r>
            <a:r>
              <a:rPr lang="en-US" altLang="en-US" dirty="0"/>
              <a:t>: valid arguments that establish the truth of a mathematical statement</a:t>
            </a:r>
          </a:p>
          <a:p>
            <a:r>
              <a:rPr lang="en-US" altLang="en-US" b="1" dirty="0"/>
              <a:t>Argument</a:t>
            </a:r>
            <a:r>
              <a:rPr lang="en-US" altLang="en-US" dirty="0"/>
              <a:t>: a sequence of statements that end with a conclusion</a:t>
            </a:r>
          </a:p>
          <a:p>
            <a:r>
              <a:rPr lang="en-US" altLang="en-US" b="1" dirty="0"/>
              <a:t>Valid</a:t>
            </a:r>
            <a:r>
              <a:rPr lang="en-US" altLang="en-US" dirty="0"/>
              <a:t>: the conclusion or final statement of the argument must follow the truth of preceding statements or </a:t>
            </a:r>
            <a:r>
              <a:rPr lang="en-US" altLang="en-US" b="1" dirty="0"/>
              <a:t>premises</a:t>
            </a:r>
            <a:r>
              <a:rPr lang="en-US" altLang="en-US" dirty="0"/>
              <a:t> of the argument</a:t>
            </a:r>
          </a:p>
          <a:p>
            <a:endParaRPr lang="en-US" dirty="0"/>
          </a:p>
        </p:txBody>
      </p:sp>
      <p:sp>
        <p:nvSpPr>
          <p:cNvPr id="4" name="Date Placeholder 3">
            <a:extLst>
              <a:ext uri="{FF2B5EF4-FFF2-40B4-BE49-F238E27FC236}">
                <a16:creationId xmlns:a16="http://schemas.microsoft.com/office/drawing/2014/main" id="{23EA42B4-4E66-4483-BBCA-E2755CAD55AA}"/>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836C7AB0-2042-47F5-9977-DC380C2B2D72}"/>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DE694388-3EAE-42D1-A6C0-C399DE355A51}"/>
              </a:ext>
            </a:extLst>
          </p:cNvPr>
          <p:cNvSpPr>
            <a:spLocks noGrp="1"/>
          </p:cNvSpPr>
          <p:nvPr>
            <p:ph type="sldNum" sz="quarter" idx="12"/>
          </p:nvPr>
        </p:nvSpPr>
        <p:spPr/>
        <p:txBody>
          <a:bodyPr/>
          <a:lstStyle/>
          <a:p>
            <a:fld id="{75B1DB82-35C9-4076-A5B8-0781B30E89ED}" type="slidenum">
              <a:rPr lang="en-US" smtClean="0"/>
              <a:t>47</a:t>
            </a:fld>
            <a:endParaRPr lang="en-US"/>
          </a:p>
        </p:txBody>
      </p:sp>
    </p:spTree>
    <p:extLst>
      <p:ext uri="{BB962C8B-B14F-4D97-AF65-F5344CB8AC3E}">
        <p14:creationId xmlns:p14="http://schemas.microsoft.com/office/powerpoint/2010/main" val="15333386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86220-5E99-4EE3-924C-B7D76A62C9D3}"/>
              </a:ext>
            </a:extLst>
          </p:cNvPr>
          <p:cNvSpPr>
            <a:spLocks noGrp="1"/>
          </p:cNvSpPr>
          <p:nvPr>
            <p:ph type="title"/>
          </p:nvPr>
        </p:nvSpPr>
        <p:spPr>
          <a:xfrm>
            <a:off x="304800" y="286605"/>
            <a:ext cx="11582400" cy="703996"/>
          </a:xfrm>
        </p:spPr>
        <p:txBody>
          <a:bodyPr>
            <a:normAutofit fontScale="90000"/>
          </a:bodyPr>
          <a:lstStyle/>
          <a:p>
            <a:r>
              <a:rPr lang="en-US" altLang="en-US" dirty="0"/>
              <a:t>Argument and Inference</a:t>
            </a:r>
            <a:endParaRPr lang="en-US" dirty="0"/>
          </a:p>
        </p:txBody>
      </p:sp>
      <p:sp>
        <p:nvSpPr>
          <p:cNvPr id="3" name="Content Placeholder 2">
            <a:extLst>
              <a:ext uri="{FF2B5EF4-FFF2-40B4-BE49-F238E27FC236}">
                <a16:creationId xmlns:a16="http://schemas.microsoft.com/office/drawing/2014/main" id="{71E793D4-48F2-4C94-87E4-271864FC70D1}"/>
              </a:ext>
            </a:extLst>
          </p:cNvPr>
          <p:cNvSpPr>
            <a:spLocks noGrp="1"/>
          </p:cNvSpPr>
          <p:nvPr>
            <p:ph idx="1"/>
          </p:nvPr>
        </p:nvSpPr>
        <p:spPr/>
        <p:txBody>
          <a:bodyPr/>
          <a:lstStyle/>
          <a:p>
            <a:r>
              <a:rPr lang="en-US" altLang="en-US" dirty="0"/>
              <a:t>An </a:t>
            </a:r>
            <a:r>
              <a:rPr lang="en-US" altLang="en-US" b="1" dirty="0"/>
              <a:t>argument</a:t>
            </a:r>
            <a:r>
              <a:rPr lang="en-US" altLang="en-US" dirty="0"/>
              <a:t> is valid </a:t>
            </a:r>
            <a:r>
              <a:rPr lang="en-US" altLang="en-US" i="1" dirty="0"/>
              <a:t>if and only if </a:t>
            </a:r>
            <a:r>
              <a:rPr lang="en-US" altLang="en-US" dirty="0"/>
              <a:t>it is </a:t>
            </a:r>
            <a:r>
              <a:rPr lang="en-US" altLang="en-US" i="1" dirty="0"/>
              <a:t>impossible</a:t>
            </a:r>
            <a:r>
              <a:rPr lang="en-US" altLang="en-US" dirty="0"/>
              <a:t> for all the premises to be </a:t>
            </a:r>
            <a:r>
              <a:rPr lang="en-US" altLang="en-US" i="1" dirty="0"/>
              <a:t>true</a:t>
            </a:r>
            <a:r>
              <a:rPr lang="en-US" altLang="en-US" dirty="0"/>
              <a:t> and the conclusion to be </a:t>
            </a:r>
            <a:r>
              <a:rPr lang="en-US" altLang="en-US" i="1" dirty="0"/>
              <a:t>false</a:t>
            </a:r>
          </a:p>
          <a:p>
            <a:r>
              <a:rPr lang="en-US" altLang="en-US" dirty="0"/>
              <a:t>Rules of </a:t>
            </a:r>
            <a:r>
              <a:rPr lang="en-US" altLang="en-US" b="1" dirty="0"/>
              <a:t>inference</a:t>
            </a:r>
            <a:r>
              <a:rPr lang="en-US" altLang="en-US" dirty="0"/>
              <a:t>: used to deduce (construct) new statements from statements that we already have</a:t>
            </a:r>
          </a:p>
          <a:p>
            <a:pPr lvl="1"/>
            <a:r>
              <a:rPr lang="en-US" altLang="en-US" dirty="0">
                <a:solidFill>
                  <a:srgbClr val="00A64E"/>
                </a:solidFill>
              </a:rPr>
              <a:t>Basic tools for establishing the truth of statements</a:t>
            </a:r>
          </a:p>
          <a:p>
            <a:endParaRPr lang="en-US" dirty="0"/>
          </a:p>
        </p:txBody>
      </p:sp>
      <p:sp>
        <p:nvSpPr>
          <p:cNvPr id="4" name="Date Placeholder 3">
            <a:extLst>
              <a:ext uri="{FF2B5EF4-FFF2-40B4-BE49-F238E27FC236}">
                <a16:creationId xmlns:a16="http://schemas.microsoft.com/office/drawing/2014/main" id="{EE506519-E823-4911-8426-A0B9C50A3083}"/>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59236EC3-C47E-41F4-9C89-AAB4469179E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FC8DE229-69DA-46E8-BB56-951444DB472F}"/>
              </a:ext>
            </a:extLst>
          </p:cNvPr>
          <p:cNvSpPr>
            <a:spLocks noGrp="1"/>
          </p:cNvSpPr>
          <p:nvPr>
            <p:ph type="sldNum" sz="quarter" idx="12"/>
          </p:nvPr>
        </p:nvSpPr>
        <p:spPr/>
        <p:txBody>
          <a:bodyPr/>
          <a:lstStyle/>
          <a:p>
            <a:fld id="{75B1DB82-35C9-4076-A5B8-0781B30E89ED}" type="slidenum">
              <a:rPr lang="en-US" smtClean="0"/>
              <a:t>48</a:t>
            </a:fld>
            <a:endParaRPr lang="en-US"/>
          </a:p>
        </p:txBody>
      </p:sp>
    </p:spTree>
    <p:extLst>
      <p:ext uri="{BB962C8B-B14F-4D97-AF65-F5344CB8AC3E}">
        <p14:creationId xmlns:p14="http://schemas.microsoft.com/office/powerpoint/2010/main" val="3764938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6C90F-0BA1-421F-AC1B-6F5C21D889A6}"/>
              </a:ext>
            </a:extLst>
          </p:cNvPr>
          <p:cNvSpPr>
            <a:spLocks noGrp="1"/>
          </p:cNvSpPr>
          <p:nvPr>
            <p:ph type="title"/>
          </p:nvPr>
        </p:nvSpPr>
        <p:spPr/>
        <p:txBody>
          <a:bodyPr>
            <a:normAutofit fontScale="90000"/>
          </a:bodyPr>
          <a:lstStyle/>
          <a:p>
            <a:r>
              <a:rPr lang="en-US" altLang="en-US" dirty="0"/>
              <a:t>Valid Arguments in Propositional Logic</a:t>
            </a:r>
            <a:endParaRPr lang="en-US" dirty="0"/>
          </a:p>
        </p:txBody>
      </p:sp>
      <p:sp>
        <p:nvSpPr>
          <p:cNvPr id="4" name="Date Placeholder 3">
            <a:extLst>
              <a:ext uri="{FF2B5EF4-FFF2-40B4-BE49-F238E27FC236}">
                <a16:creationId xmlns:a16="http://schemas.microsoft.com/office/drawing/2014/main" id="{531F078C-441E-4EE4-8C93-FF5C7117D09C}"/>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1F1FC53A-0679-4C8F-8959-E1F3A2274E64}"/>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3F2CF539-22BF-44D0-AE56-467D9A55F466}"/>
              </a:ext>
            </a:extLst>
          </p:cNvPr>
          <p:cNvSpPr>
            <a:spLocks noGrp="1"/>
          </p:cNvSpPr>
          <p:nvPr>
            <p:ph type="sldNum" sz="quarter" idx="12"/>
          </p:nvPr>
        </p:nvSpPr>
        <p:spPr/>
        <p:txBody>
          <a:bodyPr/>
          <a:lstStyle/>
          <a:p>
            <a:fld id="{75B1DB82-35C9-4076-A5B8-0781B30E89ED}" type="slidenum">
              <a:rPr lang="en-US" smtClean="0"/>
              <a:t>49</a:t>
            </a:fld>
            <a:endParaRPr lang="en-US"/>
          </a:p>
        </p:txBody>
      </p:sp>
      <p:sp>
        <p:nvSpPr>
          <p:cNvPr id="7" name="Content Placeholder 2">
            <a:extLst>
              <a:ext uri="{FF2B5EF4-FFF2-40B4-BE49-F238E27FC236}">
                <a16:creationId xmlns:a16="http://schemas.microsoft.com/office/drawing/2014/main" id="{4A685194-78F4-4DBC-92C5-4E1747BADD49}"/>
              </a:ext>
            </a:extLst>
          </p:cNvPr>
          <p:cNvSpPr>
            <a:spLocks noGrp="1"/>
          </p:cNvSpPr>
          <p:nvPr>
            <p:ph idx="1"/>
          </p:nvPr>
        </p:nvSpPr>
        <p:spPr>
          <a:xfrm>
            <a:off x="972975" y="1205359"/>
            <a:ext cx="10834012" cy="4917266"/>
          </a:xfrm>
        </p:spPr>
        <p:txBody>
          <a:bodyPr/>
          <a:lstStyle/>
          <a:p>
            <a:r>
              <a:rPr lang="en-US" altLang="en-US" dirty="0"/>
              <a:t>Consider the following arguments involving propositions </a:t>
            </a:r>
          </a:p>
          <a:p>
            <a:pPr>
              <a:buFont typeface="Arial" panose="020B0604020202020204" pitchFamily="34" charset="0"/>
              <a:buNone/>
            </a:pPr>
            <a:r>
              <a:rPr lang="en-US" altLang="en-US" dirty="0"/>
              <a:t>   “</a:t>
            </a:r>
            <a:r>
              <a:rPr lang="en-US" altLang="en-US" dirty="0">
                <a:solidFill>
                  <a:srgbClr val="00A64E"/>
                </a:solidFill>
              </a:rPr>
              <a:t>If you have a current password, </a:t>
            </a:r>
            <a:br>
              <a:rPr lang="en-US" altLang="en-US" dirty="0">
                <a:solidFill>
                  <a:srgbClr val="00A64E"/>
                </a:solidFill>
              </a:rPr>
            </a:br>
            <a:r>
              <a:rPr lang="en-US" altLang="en-US" dirty="0">
                <a:solidFill>
                  <a:srgbClr val="00A64E"/>
                </a:solidFill>
              </a:rPr>
              <a:t>then you can login to the network</a:t>
            </a:r>
            <a:r>
              <a:rPr lang="en-US" altLang="en-US" dirty="0"/>
              <a:t>”</a:t>
            </a:r>
          </a:p>
          <a:p>
            <a:pPr>
              <a:buFont typeface="Arial" panose="020B0604020202020204" pitchFamily="34" charset="0"/>
              <a:buNone/>
            </a:pPr>
            <a:r>
              <a:rPr lang="en-US" altLang="en-US" dirty="0"/>
              <a:t>    “You have a current password”</a:t>
            </a:r>
          </a:p>
          <a:p>
            <a:pPr>
              <a:buFont typeface="Arial" panose="020B0604020202020204" pitchFamily="34" charset="0"/>
              <a:buNone/>
            </a:pPr>
            <a:r>
              <a:rPr lang="en-US" altLang="en-US" dirty="0"/>
              <a:t>    therefore,</a:t>
            </a:r>
          </a:p>
          <a:p>
            <a:pPr>
              <a:buFont typeface="Arial" panose="020B0604020202020204" pitchFamily="34" charset="0"/>
              <a:buNone/>
            </a:pPr>
            <a:r>
              <a:rPr lang="en-US" altLang="en-US" dirty="0"/>
              <a:t>    “You can login to the network”</a:t>
            </a:r>
          </a:p>
          <a:p>
            <a:pPr>
              <a:buFont typeface="Arial" panose="020B0604020202020204" pitchFamily="34" charset="0"/>
              <a:buNone/>
            </a:pPr>
            <a:endParaRPr lang="en-US" altLang="en-US" dirty="0"/>
          </a:p>
        </p:txBody>
      </p:sp>
      <p:sp>
        <p:nvSpPr>
          <p:cNvPr id="8" name="Right Brace 7">
            <a:extLst>
              <a:ext uri="{FF2B5EF4-FFF2-40B4-BE49-F238E27FC236}">
                <a16:creationId xmlns:a16="http://schemas.microsoft.com/office/drawing/2014/main" id="{FBC2E7EE-6E9A-4C7E-B304-11D988ACD821}"/>
              </a:ext>
            </a:extLst>
          </p:cNvPr>
          <p:cNvSpPr/>
          <p:nvPr/>
        </p:nvSpPr>
        <p:spPr>
          <a:xfrm>
            <a:off x="7073246" y="1913152"/>
            <a:ext cx="152400" cy="1676400"/>
          </a:xfrm>
          <a:prstGeom prst="rightBrace">
            <a:avLst/>
          </a:prstGeom>
        </p:spPr>
        <p:style>
          <a:lnRef idx="3">
            <a:schemeClr val="accent2"/>
          </a:lnRef>
          <a:fillRef idx="0">
            <a:schemeClr val="accent2"/>
          </a:fillRef>
          <a:effectRef idx="2">
            <a:schemeClr val="accent2"/>
          </a:effectRef>
          <a:fontRef idx="minor">
            <a:schemeClr val="tx1"/>
          </a:fontRef>
        </p:style>
        <p:txBody>
          <a:bodyPr anchor="ctr"/>
          <a:lstStyle/>
          <a:p>
            <a:pPr algn="ctr">
              <a:defRPr/>
            </a:pPr>
            <a:endParaRPr lang="en-US" sz="1351">
              <a:latin typeface="Cambria" panose="02040503050406030204" pitchFamily="18" charset="0"/>
            </a:endParaRPr>
          </a:p>
        </p:txBody>
      </p:sp>
      <p:sp>
        <p:nvSpPr>
          <p:cNvPr id="9" name="TextBox 5">
            <a:extLst>
              <a:ext uri="{FF2B5EF4-FFF2-40B4-BE49-F238E27FC236}">
                <a16:creationId xmlns:a16="http://schemas.microsoft.com/office/drawing/2014/main" id="{152385A7-1A08-492A-9B21-242E6B43D7F2}"/>
              </a:ext>
            </a:extLst>
          </p:cNvPr>
          <p:cNvSpPr txBox="1">
            <a:spLocks noChangeArrowheads="1"/>
          </p:cNvSpPr>
          <p:nvPr/>
        </p:nvSpPr>
        <p:spPr bwMode="auto">
          <a:xfrm>
            <a:off x="7435458" y="2880746"/>
            <a:ext cx="13872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FF0000"/>
                </a:solidFill>
                <a:latin typeface="Cambria" panose="02040503050406030204" pitchFamily="18" charset="0"/>
              </a:rPr>
              <a:t>premises</a:t>
            </a:r>
          </a:p>
        </p:txBody>
      </p:sp>
      <p:sp>
        <p:nvSpPr>
          <p:cNvPr id="10" name="TextBox 6">
            <a:extLst>
              <a:ext uri="{FF2B5EF4-FFF2-40B4-BE49-F238E27FC236}">
                <a16:creationId xmlns:a16="http://schemas.microsoft.com/office/drawing/2014/main" id="{8E3646FD-A890-4F70-9297-DDA1D472AFA1}"/>
              </a:ext>
            </a:extLst>
          </p:cNvPr>
          <p:cNvSpPr txBox="1">
            <a:spLocks noChangeArrowheads="1"/>
          </p:cNvSpPr>
          <p:nvPr/>
        </p:nvSpPr>
        <p:spPr bwMode="auto">
          <a:xfrm>
            <a:off x="7435458" y="4096826"/>
            <a:ext cx="15985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dirty="0">
                <a:solidFill>
                  <a:srgbClr val="FF0000"/>
                </a:solidFill>
                <a:latin typeface="Cambria" panose="02040503050406030204" pitchFamily="18" charset="0"/>
              </a:rPr>
              <a:t>conclusion</a:t>
            </a:r>
          </a:p>
        </p:txBody>
      </p:sp>
      <p:sp>
        <p:nvSpPr>
          <p:cNvPr id="11" name="Rectangle 10">
            <a:extLst>
              <a:ext uri="{FF2B5EF4-FFF2-40B4-BE49-F238E27FC236}">
                <a16:creationId xmlns:a16="http://schemas.microsoft.com/office/drawing/2014/main" id="{49E62E5C-E074-4ABE-AA4B-ABE4A9F8073B}"/>
              </a:ext>
            </a:extLst>
          </p:cNvPr>
          <p:cNvSpPr/>
          <p:nvPr/>
        </p:nvSpPr>
        <p:spPr>
          <a:xfrm>
            <a:off x="10093108" y="4802848"/>
            <a:ext cx="1528195" cy="923843"/>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i="1">
                <a:latin typeface="Cambria" panose="02040503050406030204" pitchFamily="18" charset="0"/>
              </a:rPr>
              <a:t>p </a:t>
            </a:r>
            <a:r>
              <a:rPr lang="en-US" sz="1351">
                <a:latin typeface="Cambria" panose="02040503050406030204" pitchFamily="18" charset="0"/>
              </a:rPr>
              <a:t>→ </a:t>
            </a:r>
            <a:r>
              <a:rPr lang="en-US" sz="1351" i="1">
                <a:latin typeface="Cambria" panose="02040503050406030204" pitchFamily="18" charset="0"/>
              </a:rPr>
              <a:t>q</a:t>
            </a:r>
          </a:p>
          <a:p>
            <a:r>
              <a:rPr lang="en-US" sz="1351" i="1">
                <a:latin typeface="Cambria" panose="02040503050406030204" pitchFamily="18" charset="0"/>
              </a:rPr>
              <a:t>p </a:t>
            </a:r>
          </a:p>
          <a:p>
            <a:r>
              <a:rPr lang="en-US" sz="1351" i="1">
                <a:latin typeface="Cambria" panose="02040503050406030204" pitchFamily="18" charset="0"/>
              </a:rPr>
              <a:t>______       </a:t>
            </a:r>
          </a:p>
          <a:p>
            <a:r>
              <a:rPr lang="en-US" sz="1351">
                <a:latin typeface="Cambria" panose="02040503050406030204" pitchFamily="18" charset="0"/>
              </a:rPr>
              <a:t>∴ </a:t>
            </a:r>
            <a:r>
              <a:rPr lang="en-US" sz="1351" i="1">
                <a:latin typeface="Cambria" panose="02040503050406030204" pitchFamily="18" charset="0"/>
              </a:rPr>
              <a:t>q</a:t>
            </a:r>
          </a:p>
        </p:txBody>
      </p:sp>
      <p:sp>
        <p:nvSpPr>
          <p:cNvPr id="12" name="Rectangle 11">
            <a:extLst>
              <a:ext uri="{FF2B5EF4-FFF2-40B4-BE49-F238E27FC236}">
                <a16:creationId xmlns:a16="http://schemas.microsoft.com/office/drawing/2014/main" id="{ED1B5390-A1E6-4128-A7A4-8CDC86FB80A9}"/>
              </a:ext>
            </a:extLst>
          </p:cNvPr>
          <p:cNvSpPr/>
          <p:nvPr/>
        </p:nvSpPr>
        <p:spPr>
          <a:xfrm>
            <a:off x="346788" y="2951720"/>
            <a:ext cx="591976" cy="300210"/>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b="1" i="1">
                <a:solidFill>
                  <a:schemeClr val="tx1"/>
                </a:solidFill>
                <a:latin typeface="Cambria" panose="02040503050406030204" pitchFamily="18" charset="0"/>
              </a:rPr>
              <a:t>p </a:t>
            </a:r>
          </a:p>
        </p:txBody>
      </p:sp>
      <p:sp>
        <p:nvSpPr>
          <p:cNvPr id="13" name="Rectangle 12">
            <a:extLst>
              <a:ext uri="{FF2B5EF4-FFF2-40B4-BE49-F238E27FC236}">
                <a16:creationId xmlns:a16="http://schemas.microsoft.com/office/drawing/2014/main" id="{50A088B2-1D96-4E94-B386-075B15AB63AC}"/>
              </a:ext>
            </a:extLst>
          </p:cNvPr>
          <p:cNvSpPr/>
          <p:nvPr/>
        </p:nvSpPr>
        <p:spPr>
          <a:xfrm>
            <a:off x="7705012" y="2365778"/>
            <a:ext cx="591976" cy="300210"/>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b="1" i="1">
                <a:solidFill>
                  <a:schemeClr val="tx1"/>
                </a:solidFill>
                <a:latin typeface="Cambria" panose="02040503050406030204" pitchFamily="18" charset="0"/>
              </a:rPr>
              <a:t>q </a:t>
            </a:r>
          </a:p>
        </p:txBody>
      </p:sp>
      <p:sp>
        <p:nvSpPr>
          <p:cNvPr id="14" name="Rectangle 13">
            <a:extLst>
              <a:ext uri="{FF2B5EF4-FFF2-40B4-BE49-F238E27FC236}">
                <a16:creationId xmlns:a16="http://schemas.microsoft.com/office/drawing/2014/main" id="{566E97C3-404C-474A-AF3C-50397A21689F}"/>
              </a:ext>
            </a:extLst>
          </p:cNvPr>
          <p:cNvSpPr/>
          <p:nvPr/>
        </p:nvSpPr>
        <p:spPr>
          <a:xfrm>
            <a:off x="166643" y="2107295"/>
            <a:ext cx="1020691" cy="300210"/>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b="1" i="1">
                <a:solidFill>
                  <a:schemeClr val="tx1"/>
                </a:solidFill>
                <a:latin typeface="Cambria" panose="02040503050406030204" pitchFamily="18" charset="0"/>
              </a:rPr>
              <a:t>p → q</a:t>
            </a:r>
          </a:p>
        </p:txBody>
      </p:sp>
      <p:sp>
        <p:nvSpPr>
          <p:cNvPr id="15" name="Rectangle 14">
            <a:extLst>
              <a:ext uri="{FF2B5EF4-FFF2-40B4-BE49-F238E27FC236}">
                <a16:creationId xmlns:a16="http://schemas.microsoft.com/office/drawing/2014/main" id="{20F64698-4B36-41DC-8D4C-A678CB310F1D}"/>
              </a:ext>
            </a:extLst>
          </p:cNvPr>
          <p:cNvSpPr/>
          <p:nvPr/>
        </p:nvSpPr>
        <p:spPr>
          <a:xfrm>
            <a:off x="7705012" y="1889474"/>
            <a:ext cx="591976" cy="300210"/>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b="1" i="1" dirty="0">
                <a:solidFill>
                  <a:schemeClr val="tx1"/>
                </a:solidFill>
                <a:latin typeface="Cambria" panose="02040503050406030204" pitchFamily="18" charset="0"/>
              </a:rPr>
              <a:t>p </a:t>
            </a:r>
          </a:p>
        </p:txBody>
      </p:sp>
      <p:sp>
        <p:nvSpPr>
          <p:cNvPr id="16" name="Rectangle 15">
            <a:extLst>
              <a:ext uri="{FF2B5EF4-FFF2-40B4-BE49-F238E27FC236}">
                <a16:creationId xmlns:a16="http://schemas.microsoft.com/office/drawing/2014/main" id="{D0376B50-57BF-4688-859B-4561300A20F4}"/>
              </a:ext>
            </a:extLst>
          </p:cNvPr>
          <p:cNvSpPr/>
          <p:nvPr/>
        </p:nvSpPr>
        <p:spPr>
          <a:xfrm>
            <a:off x="381000" y="4258281"/>
            <a:ext cx="591976" cy="300210"/>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b="1" i="1">
                <a:solidFill>
                  <a:schemeClr val="tx1"/>
                </a:solidFill>
                <a:latin typeface="Cambria" panose="02040503050406030204" pitchFamily="18" charset="0"/>
              </a:rPr>
              <a:t>q </a:t>
            </a:r>
          </a:p>
        </p:txBody>
      </p:sp>
      <p:sp>
        <p:nvSpPr>
          <p:cNvPr id="17" name="Rectangle 16">
            <a:extLst>
              <a:ext uri="{FF2B5EF4-FFF2-40B4-BE49-F238E27FC236}">
                <a16:creationId xmlns:a16="http://schemas.microsoft.com/office/drawing/2014/main" id="{34F5E20B-451D-457D-B04F-9626FE37CCF8}"/>
              </a:ext>
            </a:extLst>
          </p:cNvPr>
          <p:cNvSpPr/>
          <p:nvPr/>
        </p:nvSpPr>
        <p:spPr>
          <a:xfrm>
            <a:off x="381000" y="3588577"/>
            <a:ext cx="591976" cy="300210"/>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i="1">
                <a:solidFill>
                  <a:schemeClr val="tx1"/>
                </a:solidFill>
                <a:latin typeface="Cambria" panose="02040503050406030204" pitchFamily="18" charset="0"/>
              </a:rPr>
              <a:t>  </a:t>
            </a:r>
            <a:r>
              <a:rPr lang="en-US" sz="1351">
                <a:solidFill>
                  <a:schemeClr val="tx1"/>
                </a:solidFill>
                <a:latin typeface="Cambria" panose="02040503050406030204" pitchFamily="18" charset="0"/>
              </a:rPr>
              <a:t>∴</a:t>
            </a:r>
            <a:endParaRPr lang="en-US" sz="1351" i="1">
              <a:solidFill>
                <a:schemeClr val="tx1"/>
              </a:solidFill>
              <a:latin typeface="Cambria" panose="02040503050406030204" pitchFamily="18" charset="0"/>
            </a:endParaRPr>
          </a:p>
        </p:txBody>
      </p:sp>
      <p:sp>
        <p:nvSpPr>
          <p:cNvPr id="18" name="Rectangle 17">
            <a:extLst>
              <a:ext uri="{FF2B5EF4-FFF2-40B4-BE49-F238E27FC236}">
                <a16:creationId xmlns:a16="http://schemas.microsoft.com/office/drawing/2014/main" id="{BE4EDB50-F463-4E59-9AFA-89F7586075E0}"/>
              </a:ext>
            </a:extLst>
          </p:cNvPr>
          <p:cNvSpPr/>
          <p:nvPr/>
        </p:nvSpPr>
        <p:spPr>
          <a:xfrm>
            <a:off x="10093108" y="4802848"/>
            <a:ext cx="1528195" cy="923843"/>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b="1" i="1">
                <a:solidFill>
                  <a:schemeClr val="tx1"/>
                </a:solidFill>
                <a:latin typeface="Cambria" panose="02040503050406030204" pitchFamily="18" charset="0"/>
              </a:rPr>
              <a:t>p </a:t>
            </a:r>
          </a:p>
          <a:p>
            <a:r>
              <a:rPr lang="en-US" sz="1351" b="1" i="1">
                <a:solidFill>
                  <a:schemeClr val="tx1"/>
                </a:solidFill>
                <a:latin typeface="Cambria" panose="02040503050406030204" pitchFamily="18" charset="0"/>
              </a:rPr>
              <a:t>p </a:t>
            </a:r>
            <a:r>
              <a:rPr lang="en-US" sz="1351" b="1">
                <a:solidFill>
                  <a:schemeClr val="tx1"/>
                </a:solidFill>
                <a:latin typeface="Cambria" panose="02040503050406030204" pitchFamily="18" charset="0"/>
              </a:rPr>
              <a:t>→ </a:t>
            </a:r>
            <a:r>
              <a:rPr lang="en-US" sz="1351" b="1" i="1">
                <a:solidFill>
                  <a:schemeClr val="tx1"/>
                </a:solidFill>
                <a:latin typeface="Cambria" panose="02040503050406030204" pitchFamily="18" charset="0"/>
              </a:rPr>
              <a:t>q</a:t>
            </a:r>
          </a:p>
          <a:p>
            <a:r>
              <a:rPr lang="en-US" sz="1351" b="1" i="1">
                <a:solidFill>
                  <a:schemeClr val="tx1"/>
                </a:solidFill>
                <a:latin typeface="Cambria" panose="02040503050406030204" pitchFamily="18" charset="0"/>
              </a:rPr>
              <a:t>______       </a:t>
            </a:r>
          </a:p>
          <a:p>
            <a:r>
              <a:rPr lang="en-US" sz="1351">
                <a:solidFill>
                  <a:schemeClr val="tx1"/>
                </a:solidFill>
                <a:latin typeface="Cambria" panose="02040503050406030204" pitchFamily="18" charset="0"/>
              </a:rPr>
              <a:t>∴</a:t>
            </a:r>
            <a:r>
              <a:rPr lang="en-US" sz="1351" b="1">
                <a:solidFill>
                  <a:schemeClr val="tx1"/>
                </a:solidFill>
                <a:latin typeface="Cambria" panose="02040503050406030204" pitchFamily="18" charset="0"/>
              </a:rPr>
              <a:t> </a:t>
            </a:r>
            <a:r>
              <a:rPr lang="en-US" sz="1351" b="1" i="1">
                <a:solidFill>
                  <a:schemeClr val="tx1"/>
                </a:solidFill>
                <a:latin typeface="Cambria" panose="02040503050406030204" pitchFamily="18" charset="0"/>
              </a:rPr>
              <a:t>q</a:t>
            </a:r>
          </a:p>
        </p:txBody>
      </p:sp>
    </p:spTree>
    <p:extLst>
      <p:ext uri="{BB962C8B-B14F-4D97-AF65-F5344CB8AC3E}">
        <p14:creationId xmlns:p14="http://schemas.microsoft.com/office/powerpoint/2010/main" val="297450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50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50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animBg="1"/>
      <p:bldP spid="12" grpId="0" animBg="1"/>
      <p:bldP spid="13" grpId="0" animBg="1"/>
      <p:bldP spid="14" grpId="0" animBg="1"/>
      <p:bldP spid="15" grpId="0" animBg="1"/>
      <p:bldP spid="16" grpId="0" animBg="1"/>
      <p:bldP spid="17" grpId="0" animBg="1"/>
      <p:bldP spid="1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BFAA0-550C-416A-AFC2-1ECD833A2520}"/>
              </a:ext>
            </a:extLst>
          </p:cNvPr>
          <p:cNvSpPr>
            <a:spLocks noGrp="1"/>
          </p:cNvSpPr>
          <p:nvPr>
            <p:ph type="title"/>
          </p:nvPr>
        </p:nvSpPr>
        <p:spPr/>
        <p:txBody>
          <a:bodyPr>
            <a:normAutofit fontScale="90000"/>
          </a:bodyPr>
          <a:lstStyle/>
          <a:p>
            <a:r>
              <a:rPr lang="en-US" altLang="en-US" dirty="0">
                <a:latin typeface="Cambria" panose="02040503050406030204" pitchFamily="18" charset="0"/>
              </a:rPr>
              <a:t>Valid Arguments</a:t>
            </a:r>
            <a:endParaRPr lang="en-US" dirty="0"/>
          </a:p>
        </p:txBody>
      </p:sp>
      <p:sp>
        <p:nvSpPr>
          <p:cNvPr id="4" name="Date Placeholder 3">
            <a:extLst>
              <a:ext uri="{FF2B5EF4-FFF2-40B4-BE49-F238E27FC236}">
                <a16:creationId xmlns:a16="http://schemas.microsoft.com/office/drawing/2014/main" id="{4B83C9DC-C5A5-44D7-901F-D094FB84561D}"/>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289BCFC6-1868-4EC3-8782-44EDFAC1DEE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0128258B-A668-4292-AB2B-843C5D55D520}"/>
              </a:ext>
            </a:extLst>
          </p:cNvPr>
          <p:cNvSpPr>
            <a:spLocks noGrp="1"/>
          </p:cNvSpPr>
          <p:nvPr>
            <p:ph type="sldNum" sz="quarter" idx="12"/>
          </p:nvPr>
        </p:nvSpPr>
        <p:spPr/>
        <p:txBody>
          <a:bodyPr/>
          <a:lstStyle/>
          <a:p>
            <a:fld id="{75B1DB82-35C9-4076-A5B8-0781B30E89ED}" type="slidenum">
              <a:rPr lang="en-US" smtClean="0"/>
              <a:t>50</a:t>
            </a:fld>
            <a:endParaRPr lang="en-US"/>
          </a:p>
        </p:txBody>
      </p:sp>
      <p:sp>
        <p:nvSpPr>
          <p:cNvPr id="7" name="Text Box 9">
            <a:extLst>
              <a:ext uri="{FF2B5EF4-FFF2-40B4-BE49-F238E27FC236}">
                <a16:creationId xmlns:a16="http://schemas.microsoft.com/office/drawing/2014/main" id="{F6C38852-B7FF-44CE-9322-95750172F9DC}"/>
              </a:ext>
            </a:extLst>
          </p:cNvPr>
          <p:cNvSpPr txBox="1">
            <a:spLocks noChangeArrowheads="1"/>
          </p:cNvSpPr>
          <p:nvPr/>
        </p:nvSpPr>
        <p:spPr bwMode="auto">
          <a:xfrm>
            <a:off x="990601" y="1708174"/>
            <a:ext cx="7697689" cy="523220"/>
          </a:xfrm>
          <a:prstGeom prst="rect">
            <a:avLst/>
          </a:prstGeom>
          <a:solidFill>
            <a:schemeClr val="accent4">
              <a:lumMod val="20000"/>
              <a:lumOff val="80000"/>
            </a:schemeClr>
          </a:solidFill>
          <a:ln>
            <a:noFill/>
          </a:ln>
          <a:effectLst/>
        </p:spPr>
        <p:txBody>
          <a:bodyPr wrap="square">
            <a:spAutoFit/>
          </a:bodyPr>
          <a:lstStyle/>
          <a:p>
            <a:r>
              <a:rPr lang="en-US" sz="2800" dirty="0">
                <a:solidFill>
                  <a:srgbClr val="FF0000"/>
                </a:solidFill>
                <a:latin typeface="Cambria" panose="02040503050406030204" pitchFamily="18" charset="0"/>
              </a:rPr>
              <a:t>(</a:t>
            </a:r>
            <a:r>
              <a:rPr lang="en-US" sz="2800" i="1" dirty="0">
                <a:solidFill>
                  <a:srgbClr val="FF0000"/>
                </a:solidFill>
                <a:latin typeface="Cambria" panose="02040503050406030204" pitchFamily="18" charset="0"/>
              </a:rPr>
              <a:t>p </a:t>
            </a:r>
            <a:r>
              <a:rPr lang="en-US" sz="2800" dirty="0">
                <a:solidFill>
                  <a:srgbClr val="FF0000"/>
                </a:solidFill>
                <a:latin typeface="Cambria" panose="02040503050406030204" pitchFamily="18" charset="0"/>
              </a:rPr>
              <a:t>∧ (</a:t>
            </a:r>
            <a:r>
              <a:rPr lang="en-US" sz="2800" i="1" dirty="0">
                <a:solidFill>
                  <a:srgbClr val="FF0000"/>
                </a:solidFill>
                <a:latin typeface="Cambria" panose="02040503050406030204" pitchFamily="18" charset="0"/>
              </a:rPr>
              <a:t>p </a:t>
            </a:r>
            <a:r>
              <a:rPr lang="en-US" sz="2800" dirty="0">
                <a:solidFill>
                  <a:srgbClr val="FF0000"/>
                </a:solidFill>
                <a:latin typeface="Cambria" panose="02040503050406030204" pitchFamily="18" charset="0"/>
              </a:rPr>
              <a:t>→ </a:t>
            </a:r>
            <a:r>
              <a:rPr lang="en-US" sz="2800" i="1" dirty="0">
                <a:solidFill>
                  <a:srgbClr val="FF0000"/>
                </a:solidFill>
                <a:latin typeface="Cambria" panose="02040503050406030204" pitchFamily="18" charset="0"/>
              </a:rPr>
              <a:t>q</a:t>
            </a:r>
            <a:r>
              <a:rPr lang="en-US" sz="2800" dirty="0">
                <a:solidFill>
                  <a:srgbClr val="FF0000"/>
                </a:solidFill>
                <a:latin typeface="Cambria" panose="02040503050406030204" pitchFamily="18" charset="0"/>
              </a:rPr>
              <a:t>))</a:t>
            </a:r>
            <a:r>
              <a:rPr lang="en-US" sz="2800" i="1" dirty="0">
                <a:solidFill>
                  <a:srgbClr val="FF0000"/>
                </a:solidFill>
                <a:latin typeface="Cambria" panose="02040503050406030204" pitchFamily="18" charset="0"/>
              </a:rPr>
              <a:t> </a:t>
            </a:r>
            <a:r>
              <a:rPr lang="en-US" sz="2800" dirty="0">
                <a:solidFill>
                  <a:srgbClr val="FF0000"/>
                </a:solidFill>
                <a:latin typeface="Cambria" panose="02040503050406030204" pitchFamily="18" charset="0"/>
              </a:rPr>
              <a:t>→ </a:t>
            </a:r>
            <a:r>
              <a:rPr lang="en-US" sz="2800" i="1" dirty="0">
                <a:solidFill>
                  <a:srgbClr val="FF0000"/>
                </a:solidFill>
                <a:latin typeface="Cambria" panose="02040503050406030204" pitchFamily="18" charset="0"/>
              </a:rPr>
              <a:t>q </a:t>
            </a:r>
            <a:r>
              <a:rPr lang="en-US" sz="2800" dirty="0">
                <a:solidFill>
                  <a:srgbClr val="FF0000"/>
                </a:solidFill>
                <a:latin typeface="Cambria" panose="02040503050406030204" pitchFamily="18" charset="0"/>
              </a:rPr>
              <a:t>is </a:t>
            </a:r>
            <a:r>
              <a:rPr lang="en-GB" altLang="en-US" sz="2800" dirty="0">
                <a:solidFill>
                  <a:srgbClr val="FF0000"/>
                </a:solidFill>
                <a:latin typeface="Cambria" panose="02040503050406030204" pitchFamily="18" charset="0"/>
              </a:rPr>
              <a:t>a tautology (always true)</a:t>
            </a:r>
          </a:p>
        </p:txBody>
      </p:sp>
      <p:sp>
        <p:nvSpPr>
          <p:cNvPr id="8" name="Text Box 13">
            <a:extLst>
              <a:ext uri="{FF2B5EF4-FFF2-40B4-BE49-F238E27FC236}">
                <a16:creationId xmlns:a16="http://schemas.microsoft.com/office/drawing/2014/main" id="{4671F711-43F9-4859-8463-B6710BDAA672}"/>
              </a:ext>
            </a:extLst>
          </p:cNvPr>
          <p:cNvSpPr txBox="1">
            <a:spLocks noChangeArrowheads="1"/>
          </p:cNvSpPr>
          <p:nvPr/>
        </p:nvSpPr>
        <p:spPr bwMode="auto">
          <a:xfrm>
            <a:off x="4275139" y="5548333"/>
            <a:ext cx="3476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dirty="0">
                <a:latin typeface="Cambria" panose="02040503050406030204" pitchFamily="18" charset="0"/>
              </a:rPr>
              <a:t>This is another way of saying that</a:t>
            </a:r>
          </a:p>
        </p:txBody>
      </p:sp>
      <p:cxnSp>
        <p:nvCxnSpPr>
          <p:cNvPr id="9" name="AutoShape 15">
            <a:extLst>
              <a:ext uri="{FF2B5EF4-FFF2-40B4-BE49-F238E27FC236}">
                <a16:creationId xmlns:a16="http://schemas.microsoft.com/office/drawing/2014/main" id="{6D786BF6-F7DE-4D0D-8647-B877CE534381}"/>
              </a:ext>
            </a:extLst>
          </p:cNvPr>
          <p:cNvCxnSpPr>
            <a:cxnSpLocks noChangeShapeType="1"/>
          </p:cNvCxnSpPr>
          <p:nvPr/>
        </p:nvCxnSpPr>
        <p:spPr bwMode="auto">
          <a:xfrm rot="16200000" flipV="1">
            <a:off x="1188535" y="2777641"/>
            <a:ext cx="3450647" cy="2474915"/>
          </a:xfrm>
          <a:prstGeom prst="curvedConnector3">
            <a:avLst>
              <a:gd name="adj1" fmla="val -5943"/>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9">
            <a:extLst>
              <a:ext uri="{FF2B5EF4-FFF2-40B4-BE49-F238E27FC236}">
                <a16:creationId xmlns:a16="http://schemas.microsoft.com/office/drawing/2014/main" id="{BF053FB5-9351-4CC8-BA0B-980050ADFE17}"/>
              </a:ext>
            </a:extLst>
          </p:cNvPr>
          <p:cNvSpPr/>
          <p:nvPr/>
        </p:nvSpPr>
        <p:spPr>
          <a:xfrm>
            <a:off x="9772990" y="4040497"/>
            <a:ext cx="1896225" cy="523220"/>
          </a:xfrm>
          <a:prstGeom prst="rect">
            <a:avLst/>
          </a:prstGeom>
        </p:spPr>
        <p:txBody>
          <a:bodyPr wrap="none">
            <a:spAutoFit/>
          </a:bodyPr>
          <a:lstStyle/>
          <a:p>
            <a:r>
              <a:rPr lang="en-US" sz="2800">
                <a:latin typeface="Cambria" panose="02040503050406030204" pitchFamily="18" charset="0"/>
              </a:rPr>
              <a:t>∴ therefore</a:t>
            </a:r>
          </a:p>
        </p:txBody>
      </p:sp>
      <p:graphicFrame>
        <p:nvGraphicFramePr>
          <p:cNvPr id="11" name="Table 10">
            <a:extLst>
              <a:ext uri="{FF2B5EF4-FFF2-40B4-BE49-F238E27FC236}">
                <a16:creationId xmlns:a16="http://schemas.microsoft.com/office/drawing/2014/main" id="{08A425F4-5E21-4AF2-B41A-26E152088418}"/>
              </a:ext>
            </a:extLst>
          </p:cNvPr>
          <p:cNvGraphicFramePr>
            <a:graphicFrameLocks noGrp="1"/>
          </p:cNvGraphicFramePr>
          <p:nvPr>
            <p:extLst/>
          </p:nvPr>
        </p:nvGraphicFramePr>
        <p:xfrm>
          <a:off x="2286000" y="2415267"/>
          <a:ext cx="902336" cy="2590800"/>
        </p:xfrm>
        <a:graphic>
          <a:graphicData uri="http://schemas.openxmlformats.org/drawingml/2006/table">
            <a:tbl>
              <a:tblPr firstRow="1" bandRow="1">
                <a:tableStyleId>{00A15C55-8517-42AA-B614-E9B94910E393}</a:tableStyleId>
              </a:tblPr>
              <a:tblGrid>
                <a:gridCol w="451168">
                  <a:extLst>
                    <a:ext uri="{9D8B030D-6E8A-4147-A177-3AD203B41FA5}">
                      <a16:colId xmlns:a16="http://schemas.microsoft.com/office/drawing/2014/main" val="20000"/>
                    </a:ext>
                  </a:extLst>
                </a:gridCol>
                <a:gridCol w="451168">
                  <a:extLst>
                    <a:ext uri="{9D8B030D-6E8A-4147-A177-3AD203B41FA5}">
                      <a16:colId xmlns:a16="http://schemas.microsoft.com/office/drawing/2014/main" val="20001"/>
                    </a:ext>
                  </a:extLst>
                </a:gridCol>
              </a:tblGrid>
              <a:tr h="518160">
                <a:tc>
                  <a:txBody>
                    <a:bodyPr/>
                    <a:lstStyle/>
                    <a:p>
                      <a:r>
                        <a:rPr lang="en-US" sz="2800">
                          <a:solidFill>
                            <a:schemeClr val="tx1"/>
                          </a:solidFill>
                        </a:rPr>
                        <a:t>p</a:t>
                      </a:r>
                      <a:endParaRPr lang="en-US" sz="2800" i="1">
                        <a:solidFill>
                          <a:schemeClr val="tx1"/>
                        </a:solidFill>
                        <a:latin typeface="Cambria" panose="02040503050406030204" pitchFamily="18" charset="0"/>
                      </a:endParaRPr>
                    </a:p>
                  </a:txBody>
                  <a:tcPr/>
                </a:tc>
                <a:tc>
                  <a:txBody>
                    <a:bodyPr/>
                    <a:lstStyle/>
                    <a:p>
                      <a:r>
                        <a:rPr lang="en-US" sz="2800">
                          <a:solidFill>
                            <a:schemeClr val="tx1"/>
                          </a:solidFill>
                        </a:rPr>
                        <a:t>q</a:t>
                      </a:r>
                      <a:endParaRPr lang="en-US" sz="2800" i="1">
                        <a:solidFill>
                          <a:schemeClr val="tx1"/>
                        </a:solidFill>
                        <a:latin typeface="Cambria" panose="02040503050406030204" pitchFamily="18" charset="0"/>
                      </a:endParaRPr>
                    </a:p>
                  </a:txBody>
                  <a:tcPr/>
                </a:tc>
                <a:extLst>
                  <a:ext uri="{0D108BD9-81ED-4DB2-BD59-A6C34878D82A}">
                    <a16:rowId xmlns:a16="http://schemas.microsoft.com/office/drawing/2014/main" val="10000"/>
                  </a:ext>
                </a:extLst>
              </a:tr>
              <a:tr h="518160">
                <a:tc>
                  <a:txBody>
                    <a:bodyPr/>
                    <a:lstStyle/>
                    <a:p>
                      <a:pPr algn="ctr"/>
                      <a:r>
                        <a:rPr lang="en-US" sz="2800"/>
                        <a:t>F</a:t>
                      </a:r>
                      <a:endParaRPr lang="en-US" sz="2800">
                        <a:latin typeface="Cambria" panose="02040503050406030204" pitchFamily="18" charset="0"/>
                      </a:endParaRPr>
                    </a:p>
                  </a:txBody>
                  <a:tcPr/>
                </a:tc>
                <a:tc>
                  <a:txBody>
                    <a:bodyPr/>
                    <a:lstStyle/>
                    <a:p>
                      <a:pPr algn="ctr"/>
                      <a:r>
                        <a:rPr lang="en-US" sz="2800"/>
                        <a:t>F</a:t>
                      </a:r>
                      <a:endParaRPr lang="en-US" sz="2800">
                        <a:latin typeface="Cambria" panose="02040503050406030204" pitchFamily="18" charset="0"/>
                      </a:endParaRPr>
                    </a:p>
                  </a:txBody>
                  <a:tcPr/>
                </a:tc>
                <a:extLst>
                  <a:ext uri="{0D108BD9-81ED-4DB2-BD59-A6C34878D82A}">
                    <a16:rowId xmlns:a16="http://schemas.microsoft.com/office/drawing/2014/main" val="10001"/>
                  </a:ext>
                </a:extLst>
              </a:tr>
              <a:tr h="518160">
                <a:tc>
                  <a:txBody>
                    <a:bodyPr/>
                    <a:lstStyle/>
                    <a:p>
                      <a:pPr algn="ctr"/>
                      <a:r>
                        <a:rPr lang="en-US" sz="2800"/>
                        <a:t>F</a:t>
                      </a:r>
                      <a:endParaRPr lang="en-US" sz="2800">
                        <a:latin typeface="Cambria" panose="02040503050406030204" pitchFamily="18" charset="0"/>
                      </a:endParaRPr>
                    </a:p>
                  </a:txBody>
                  <a:tcPr/>
                </a:tc>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10002"/>
                  </a:ext>
                </a:extLst>
              </a:tr>
              <a:tr h="518160">
                <a:tc>
                  <a:txBody>
                    <a:bodyPr/>
                    <a:lstStyle/>
                    <a:p>
                      <a:pPr algn="ctr"/>
                      <a:r>
                        <a:rPr lang="en-US" sz="2800"/>
                        <a:t>T</a:t>
                      </a:r>
                      <a:endParaRPr lang="en-US" sz="2800">
                        <a:latin typeface="Cambria" panose="02040503050406030204" pitchFamily="18" charset="0"/>
                      </a:endParaRPr>
                    </a:p>
                  </a:txBody>
                  <a:tcPr/>
                </a:tc>
                <a:tc>
                  <a:txBody>
                    <a:bodyPr/>
                    <a:lstStyle/>
                    <a:p>
                      <a:pPr algn="ctr"/>
                      <a:r>
                        <a:rPr lang="en-US" sz="2800"/>
                        <a:t>F</a:t>
                      </a:r>
                      <a:endParaRPr lang="en-US" sz="2800">
                        <a:latin typeface="Cambria" panose="02040503050406030204" pitchFamily="18" charset="0"/>
                      </a:endParaRPr>
                    </a:p>
                  </a:txBody>
                  <a:tcPr/>
                </a:tc>
                <a:extLst>
                  <a:ext uri="{0D108BD9-81ED-4DB2-BD59-A6C34878D82A}">
                    <a16:rowId xmlns:a16="http://schemas.microsoft.com/office/drawing/2014/main" val="10003"/>
                  </a:ext>
                </a:extLst>
              </a:tr>
              <a:tr h="518160">
                <a:tc>
                  <a:txBody>
                    <a:bodyPr/>
                    <a:lstStyle/>
                    <a:p>
                      <a:pPr algn="ctr"/>
                      <a:r>
                        <a:rPr lang="en-US" sz="2800"/>
                        <a:t>T</a:t>
                      </a:r>
                      <a:endParaRPr lang="en-US" sz="2800">
                        <a:latin typeface="Cambria" panose="02040503050406030204" pitchFamily="18" charset="0"/>
                      </a:endParaRPr>
                    </a:p>
                  </a:txBody>
                  <a:tcPr/>
                </a:tc>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10004"/>
                  </a:ext>
                </a:extLst>
              </a:tr>
            </a:tbl>
          </a:graphicData>
        </a:graphic>
      </p:graphicFrame>
      <p:cxnSp>
        <p:nvCxnSpPr>
          <p:cNvPr id="12" name="AutoShape 15">
            <a:extLst>
              <a:ext uri="{FF2B5EF4-FFF2-40B4-BE49-F238E27FC236}">
                <a16:creationId xmlns:a16="http://schemas.microsoft.com/office/drawing/2014/main" id="{DD57A2B2-659E-4670-8D4F-B446B7124899}"/>
              </a:ext>
            </a:extLst>
          </p:cNvPr>
          <p:cNvCxnSpPr>
            <a:cxnSpLocks noChangeShapeType="1"/>
          </p:cNvCxnSpPr>
          <p:nvPr/>
        </p:nvCxnSpPr>
        <p:spPr bwMode="auto">
          <a:xfrm rot="5400000">
            <a:off x="7418454" y="2948263"/>
            <a:ext cx="3219817" cy="2097087"/>
          </a:xfrm>
          <a:prstGeom prst="curvedConnector3">
            <a:avLst>
              <a:gd name="adj1" fmla="val 9812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 name="Table 13">
            <a:extLst>
              <a:ext uri="{FF2B5EF4-FFF2-40B4-BE49-F238E27FC236}">
                <a16:creationId xmlns:a16="http://schemas.microsoft.com/office/drawing/2014/main" id="{71635ECC-9F25-4D24-A48C-CAB213AA7A67}"/>
              </a:ext>
            </a:extLst>
          </p:cNvPr>
          <p:cNvGraphicFramePr>
            <a:graphicFrameLocks noGrp="1"/>
          </p:cNvGraphicFramePr>
          <p:nvPr>
            <p:extLst/>
          </p:nvPr>
        </p:nvGraphicFramePr>
        <p:xfrm>
          <a:off x="3176553" y="2413827"/>
          <a:ext cx="1268731" cy="2590800"/>
        </p:xfrm>
        <a:graphic>
          <a:graphicData uri="http://schemas.openxmlformats.org/drawingml/2006/table">
            <a:tbl>
              <a:tblPr firstRow="1" bandRow="1">
                <a:tableStyleId>{00A15C55-8517-42AA-B614-E9B94910E393}</a:tableStyleId>
              </a:tblPr>
              <a:tblGrid>
                <a:gridCol w="1268731">
                  <a:extLst>
                    <a:ext uri="{9D8B030D-6E8A-4147-A177-3AD203B41FA5}">
                      <a16:colId xmlns:a16="http://schemas.microsoft.com/office/drawing/2014/main" val="3541282072"/>
                    </a:ext>
                  </a:extLst>
                </a:gridCol>
              </a:tblGrid>
              <a:tr h="518160">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2800">
                          <a:solidFill>
                            <a:schemeClr val="tx1"/>
                          </a:solidFill>
                        </a:rPr>
                        <a:t>p → q</a:t>
                      </a:r>
                      <a:endParaRPr lang="en-US" sz="2800" i="1">
                        <a:solidFill>
                          <a:schemeClr val="tx1"/>
                        </a:solidFill>
                        <a:latin typeface="Cambria" panose="02040503050406030204" pitchFamily="18" charset="0"/>
                      </a:endParaRPr>
                    </a:p>
                  </a:txBody>
                  <a:tcPr/>
                </a:tc>
                <a:extLst>
                  <a:ext uri="{0D108BD9-81ED-4DB2-BD59-A6C34878D82A}">
                    <a16:rowId xmlns:a16="http://schemas.microsoft.com/office/drawing/2014/main" val="2138975513"/>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311264716"/>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3052808038"/>
                  </a:ext>
                </a:extLst>
              </a:tr>
              <a:tr h="518160">
                <a:tc>
                  <a:txBody>
                    <a:bodyPr/>
                    <a:lstStyle/>
                    <a:p>
                      <a:pPr algn="ctr"/>
                      <a:r>
                        <a:rPr lang="en-US" sz="2800"/>
                        <a:t>F</a:t>
                      </a:r>
                      <a:endParaRPr lang="en-US" sz="2800">
                        <a:latin typeface="Cambria" panose="02040503050406030204" pitchFamily="18" charset="0"/>
                      </a:endParaRPr>
                    </a:p>
                  </a:txBody>
                  <a:tcPr/>
                </a:tc>
                <a:extLst>
                  <a:ext uri="{0D108BD9-81ED-4DB2-BD59-A6C34878D82A}">
                    <a16:rowId xmlns:a16="http://schemas.microsoft.com/office/drawing/2014/main" val="585008955"/>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25647732"/>
                  </a:ext>
                </a:extLst>
              </a:tr>
            </a:tbl>
          </a:graphicData>
        </a:graphic>
      </p:graphicFrame>
      <p:graphicFrame>
        <p:nvGraphicFramePr>
          <p:cNvPr id="15" name="Table 14">
            <a:extLst>
              <a:ext uri="{FF2B5EF4-FFF2-40B4-BE49-F238E27FC236}">
                <a16:creationId xmlns:a16="http://schemas.microsoft.com/office/drawing/2014/main" id="{519E54F0-E378-4052-B4B4-6DF4DC34BE04}"/>
              </a:ext>
            </a:extLst>
          </p:cNvPr>
          <p:cNvGraphicFramePr>
            <a:graphicFrameLocks noGrp="1"/>
          </p:cNvGraphicFramePr>
          <p:nvPr>
            <p:extLst/>
          </p:nvPr>
        </p:nvGraphicFramePr>
        <p:xfrm>
          <a:off x="4445283" y="2413827"/>
          <a:ext cx="2037080" cy="2590800"/>
        </p:xfrm>
        <a:graphic>
          <a:graphicData uri="http://schemas.openxmlformats.org/drawingml/2006/table">
            <a:tbl>
              <a:tblPr firstRow="1" bandRow="1">
                <a:tableStyleId>{00A15C55-8517-42AA-B614-E9B94910E393}</a:tableStyleId>
              </a:tblPr>
              <a:tblGrid>
                <a:gridCol w="2037080">
                  <a:extLst>
                    <a:ext uri="{9D8B030D-6E8A-4147-A177-3AD203B41FA5}">
                      <a16:colId xmlns:a16="http://schemas.microsoft.com/office/drawing/2014/main" val="3687120318"/>
                    </a:ext>
                  </a:extLst>
                </a:gridCol>
              </a:tblGrid>
              <a:tr h="518160">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2800">
                          <a:solidFill>
                            <a:schemeClr val="tx1"/>
                          </a:solidFill>
                          <a:sym typeface="Symbol" panose="05050102010706020507" pitchFamily="18" charset="2"/>
                        </a:rPr>
                        <a:t>p  </a:t>
                      </a:r>
                      <a:r>
                        <a:rPr lang="en-US" sz="2800">
                          <a:solidFill>
                            <a:schemeClr val="tx1"/>
                          </a:solidFill>
                        </a:rPr>
                        <a:t>(p → q)</a:t>
                      </a:r>
                      <a:endParaRPr lang="en-US" sz="2800" i="1">
                        <a:solidFill>
                          <a:schemeClr val="tx1"/>
                        </a:solidFill>
                        <a:latin typeface="Cambria" panose="02040503050406030204" pitchFamily="18" charset="0"/>
                      </a:endParaRPr>
                    </a:p>
                  </a:txBody>
                  <a:tcPr/>
                </a:tc>
                <a:extLst>
                  <a:ext uri="{0D108BD9-81ED-4DB2-BD59-A6C34878D82A}">
                    <a16:rowId xmlns:a16="http://schemas.microsoft.com/office/drawing/2014/main" val="2138975513"/>
                  </a:ext>
                </a:extLst>
              </a:tr>
              <a:tr h="518160">
                <a:tc>
                  <a:txBody>
                    <a:bodyPr/>
                    <a:lstStyle/>
                    <a:p>
                      <a:pPr algn="ctr"/>
                      <a:r>
                        <a:rPr lang="en-US" sz="2800"/>
                        <a:t>F</a:t>
                      </a:r>
                      <a:endParaRPr lang="en-US" sz="2800">
                        <a:latin typeface="Cambria" panose="02040503050406030204" pitchFamily="18" charset="0"/>
                      </a:endParaRPr>
                    </a:p>
                  </a:txBody>
                  <a:tcPr/>
                </a:tc>
                <a:extLst>
                  <a:ext uri="{0D108BD9-81ED-4DB2-BD59-A6C34878D82A}">
                    <a16:rowId xmlns:a16="http://schemas.microsoft.com/office/drawing/2014/main" val="311264716"/>
                  </a:ext>
                </a:extLst>
              </a:tr>
              <a:tr h="518160">
                <a:tc>
                  <a:txBody>
                    <a:bodyPr/>
                    <a:lstStyle/>
                    <a:p>
                      <a:pPr algn="ctr"/>
                      <a:r>
                        <a:rPr lang="en-US" sz="2800"/>
                        <a:t>F</a:t>
                      </a:r>
                      <a:endParaRPr lang="en-US" sz="2800">
                        <a:latin typeface="Cambria" panose="02040503050406030204" pitchFamily="18" charset="0"/>
                      </a:endParaRPr>
                    </a:p>
                  </a:txBody>
                  <a:tcPr/>
                </a:tc>
                <a:extLst>
                  <a:ext uri="{0D108BD9-81ED-4DB2-BD59-A6C34878D82A}">
                    <a16:rowId xmlns:a16="http://schemas.microsoft.com/office/drawing/2014/main" val="3052808038"/>
                  </a:ext>
                </a:extLst>
              </a:tr>
              <a:tr h="518160">
                <a:tc>
                  <a:txBody>
                    <a:bodyPr/>
                    <a:lstStyle/>
                    <a:p>
                      <a:pPr algn="ctr"/>
                      <a:r>
                        <a:rPr lang="en-US" sz="2800"/>
                        <a:t>F</a:t>
                      </a:r>
                      <a:endParaRPr lang="en-US" sz="2800">
                        <a:latin typeface="Cambria" panose="02040503050406030204" pitchFamily="18" charset="0"/>
                      </a:endParaRPr>
                    </a:p>
                  </a:txBody>
                  <a:tcPr/>
                </a:tc>
                <a:extLst>
                  <a:ext uri="{0D108BD9-81ED-4DB2-BD59-A6C34878D82A}">
                    <a16:rowId xmlns:a16="http://schemas.microsoft.com/office/drawing/2014/main" val="585008955"/>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25647732"/>
                  </a:ext>
                </a:extLst>
              </a:tr>
            </a:tbl>
          </a:graphicData>
        </a:graphic>
      </p:graphicFrame>
      <p:graphicFrame>
        <p:nvGraphicFramePr>
          <p:cNvPr id="16" name="Table 15">
            <a:extLst>
              <a:ext uri="{FF2B5EF4-FFF2-40B4-BE49-F238E27FC236}">
                <a16:creationId xmlns:a16="http://schemas.microsoft.com/office/drawing/2014/main" id="{EFED53FB-DBE0-430B-9D87-435A91611F0F}"/>
              </a:ext>
            </a:extLst>
          </p:cNvPr>
          <p:cNvGraphicFramePr>
            <a:graphicFrameLocks noGrp="1"/>
          </p:cNvGraphicFramePr>
          <p:nvPr>
            <p:extLst/>
          </p:nvPr>
        </p:nvGraphicFramePr>
        <p:xfrm>
          <a:off x="6417947" y="2413827"/>
          <a:ext cx="3029268" cy="2590800"/>
        </p:xfrm>
        <a:graphic>
          <a:graphicData uri="http://schemas.openxmlformats.org/drawingml/2006/table">
            <a:tbl>
              <a:tblPr firstRow="1" bandRow="1">
                <a:tableStyleId>{00A15C55-8517-42AA-B614-E9B94910E393}</a:tableStyleId>
              </a:tblPr>
              <a:tblGrid>
                <a:gridCol w="3029268">
                  <a:extLst>
                    <a:ext uri="{9D8B030D-6E8A-4147-A177-3AD203B41FA5}">
                      <a16:colId xmlns:a16="http://schemas.microsoft.com/office/drawing/2014/main" val="3328916914"/>
                    </a:ext>
                  </a:extLst>
                </a:gridCol>
              </a:tblGrid>
              <a:tr h="518160">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2800">
                          <a:solidFill>
                            <a:schemeClr val="tx1"/>
                          </a:solidFill>
                        </a:rPr>
                        <a:t>(</a:t>
                      </a:r>
                      <a:r>
                        <a:rPr lang="en-US" sz="2800">
                          <a:solidFill>
                            <a:schemeClr val="tx1"/>
                          </a:solidFill>
                          <a:sym typeface="Symbol" panose="05050102010706020507" pitchFamily="18" charset="2"/>
                        </a:rPr>
                        <a:t>p  </a:t>
                      </a:r>
                      <a:r>
                        <a:rPr lang="en-US" sz="2800">
                          <a:solidFill>
                            <a:schemeClr val="tx1"/>
                          </a:solidFill>
                        </a:rPr>
                        <a:t>(p → q)</a:t>
                      </a:r>
                      <a:r>
                        <a:rPr lang="en-US" sz="2800">
                          <a:solidFill>
                            <a:schemeClr val="tx1"/>
                          </a:solidFill>
                          <a:sym typeface="Symbol" panose="05050102010706020507" pitchFamily="18" charset="2"/>
                        </a:rPr>
                        <a:t>)</a:t>
                      </a:r>
                      <a:r>
                        <a:rPr lang="en-US" sz="2800">
                          <a:solidFill>
                            <a:schemeClr val="tx1"/>
                          </a:solidFill>
                        </a:rPr>
                        <a:t> → q</a:t>
                      </a:r>
                      <a:endParaRPr lang="en-US" sz="2800" i="1">
                        <a:solidFill>
                          <a:schemeClr val="tx1"/>
                        </a:solidFill>
                        <a:latin typeface="Cambria" panose="02040503050406030204" pitchFamily="18" charset="0"/>
                      </a:endParaRPr>
                    </a:p>
                  </a:txBody>
                  <a:tcPr/>
                </a:tc>
                <a:extLst>
                  <a:ext uri="{0D108BD9-81ED-4DB2-BD59-A6C34878D82A}">
                    <a16:rowId xmlns:a16="http://schemas.microsoft.com/office/drawing/2014/main" val="2138975513"/>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311264716"/>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3052808038"/>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585008955"/>
                  </a:ext>
                </a:extLst>
              </a:tr>
              <a:tr h="518160">
                <a:tc>
                  <a:txBody>
                    <a:bodyPr/>
                    <a:lstStyle/>
                    <a:p>
                      <a:pPr algn="ctr"/>
                      <a:r>
                        <a:rPr lang="en-US" sz="2800"/>
                        <a:t>T</a:t>
                      </a:r>
                      <a:endParaRPr lang="en-US" sz="2800">
                        <a:latin typeface="Cambria" panose="02040503050406030204" pitchFamily="18" charset="0"/>
                      </a:endParaRPr>
                    </a:p>
                  </a:txBody>
                  <a:tcPr/>
                </a:tc>
                <a:extLst>
                  <a:ext uri="{0D108BD9-81ED-4DB2-BD59-A6C34878D82A}">
                    <a16:rowId xmlns:a16="http://schemas.microsoft.com/office/drawing/2014/main" val="25647732"/>
                  </a:ext>
                </a:extLst>
              </a:tr>
            </a:tbl>
          </a:graphicData>
        </a:graphic>
      </p:graphicFrame>
      <p:sp>
        <p:nvSpPr>
          <p:cNvPr id="17" name="Oval 16">
            <a:extLst>
              <a:ext uri="{FF2B5EF4-FFF2-40B4-BE49-F238E27FC236}">
                <a16:creationId xmlns:a16="http://schemas.microsoft.com/office/drawing/2014/main" id="{90AB22FD-8C33-43AD-83ED-FDAD4B3DB13F}"/>
              </a:ext>
            </a:extLst>
          </p:cNvPr>
          <p:cNvSpPr/>
          <p:nvPr/>
        </p:nvSpPr>
        <p:spPr>
          <a:xfrm>
            <a:off x="7467601" y="2937572"/>
            <a:ext cx="915889" cy="2096235"/>
          </a:xfrm>
          <a:prstGeom prst="ellipse">
            <a:avLst/>
          </a:prstGeom>
          <a:solidFill>
            <a:srgbClr val="E3DF37">
              <a:alpha val="1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8" name="Rectangle: Rounded Corners 17">
            <a:extLst>
              <a:ext uri="{FF2B5EF4-FFF2-40B4-BE49-F238E27FC236}">
                <a16:creationId xmlns:a16="http://schemas.microsoft.com/office/drawing/2014/main" id="{313A7A0C-D7CD-4EDB-B733-2D3F4B55B3E8}"/>
              </a:ext>
            </a:extLst>
          </p:cNvPr>
          <p:cNvSpPr/>
          <p:nvPr/>
        </p:nvSpPr>
        <p:spPr>
          <a:xfrm>
            <a:off x="2319949" y="2490025"/>
            <a:ext cx="347051" cy="251221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351"/>
          </a:p>
        </p:txBody>
      </p:sp>
      <p:sp>
        <p:nvSpPr>
          <p:cNvPr id="19" name="Rectangle: Rounded Corners 18">
            <a:extLst>
              <a:ext uri="{FF2B5EF4-FFF2-40B4-BE49-F238E27FC236}">
                <a16:creationId xmlns:a16="http://schemas.microsoft.com/office/drawing/2014/main" id="{3A01E519-B7F8-4D1B-BEFD-175669F64832}"/>
              </a:ext>
            </a:extLst>
          </p:cNvPr>
          <p:cNvSpPr/>
          <p:nvPr/>
        </p:nvSpPr>
        <p:spPr>
          <a:xfrm>
            <a:off x="3204021" y="2490025"/>
            <a:ext cx="1241263" cy="254377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351"/>
          </a:p>
        </p:txBody>
      </p:sp>
      <p:sp>
        <p:nvSpPr>
          <p:cNvPr id="22" name="Rectangle 21">
            <a:extLst>
              <a:ext uri="{FF2B5EF4-FFF2-40B4-BE49-F238E27FC236}">
                <a16:creationId xmlns:a16="http://schemas.microsoft.com/office/drawing/2014/main" id="{07812258-EDF2-4158-A3FF-CC33B451A59C}"/>
              </a:ext>
            </a:extLst>
          </p:cNvPr>
          <p:cNvSpPr/>
          <p:nvPr/>
        </p:nvSpPr>
        <p:spPr>
          <a:xfrm>
            <a:off x="9539163" y="1441260"/>
            <a:ext cx="1528195" cy="923843"/>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i="1" dirty="0">
                <a:solidFill>
                  <a:schemeClr val="tx1"/>
                </a:solidFill>
                <a:latin typeface="Cambria" panose="02040503050406030204" pitchFamily="18" charset="0"/>
              </a:rPr>
              <a:t>p </a:t>
            </a:r>
          </a:p>
          <a:p>
            <a:r>
              <a:rPr lang="en-US" sz="1351" i="1" dirty="0">
                <a:solidFill>
                  <a:schemeClr val="tx1"/>
                </a:solidFill>
                <a:latin typeface="Cambria" panose="02040503050406030204" pitchFamily="18" charset="0"/>
              </a:rPr>
              <a:t>p </a:t>
            </a:r>
            <a:r>
              <a:rPr lang="en-US" sz="1351" dirty="0">
                <a:solidFill>
                  <a:schemeClr val="tx1"/>
                </a:solidFill>
                <a:latin typeface="Cambria" panose="02040503050406030204" pitchFamily="18" charset="0"/>
              </a:rPr>
              <a:t>→ </a:t>
            </a:r>
            <a:r>
              <a:rPr lang="en-US" sz="1351" i="1" dirty="0">
                <a:solidFill>
                  <a:schemeClr val="tx1"/>
                </a:solidFill>
                <a:latin typeface="Cambria" panose="02040503050406030204" pitchFamily="18" charset="0"/>
              </a:rPr>
              <a:t>q</a:t>
            </a:r>
          </a:p>
          <a:p>
            <a:r>
              <a:rPr lang="en-US" sz="1351" i="1" dirty="0">
                <a:solidFill>
                  <a:schemeClr val="tx1"/>
                </a:solidFill>
                <a:latin typeface="Cambria" panose="02040503050406030204" pitchFamily="18" charset="0"/>
              </a:rPr>
              <a:t>______       </a:t>
            </a:r>
          </a:p>
          <a:p>
            <a:r>
              <a:rPr lang="en-US" sz="1351" dirty="0">
                <a:solidFill>
                  <a:schemeClr val="tx1"/>
                </a:solidFill>
                <a:latin typeface="Cambria" panose="02040503050406030204" pitchFamily="18" charset="0"/>
              </a:rPr>
              <a:t>∴ </a:t>
            </a:r>
            <a:r>
              <a:rPr lang="en-US" sz="1351" i="1" dirty="0">
                <a:solidFill>
                  <a:schemeClr val="tx1"/>
                </a:solidFill>
                <a:latin typeface="Cambria" panose="02040503050406030204" pitchFamily="18" charset="0"/>
              </a:rPr>
              <a:t>q</a:t>
            </a:r>
          </a:p>
        </p:txBody>
      </p:sp>
    </p:spTree>
    <p:extLst>
      <p:ext uri="{BB962C8B-B14F-4D97-AF65-F5344CB8AC3E}">
        <p14:creationId xmlns:p14="http://schemas.microsoft.com/office/powerpoint/2010/main" val="2154560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nodeType="afterEffect">
                                  <p:stCondLst>
                                    <p:cond delay="500"/>
                                  </p:stCondLst>
                                  <p:childTnLst>
                                    <p:set>
                                      <p:cBhvr>
                                        <p:cTn id="43" dur="1" fill="hold">
                                          <p:stCondLst>
                                            <p:cond delay="0"/>
                                          </p:stCondLst>
                                        </p:cTn>
                                        <p:tgtEl>
                                          <p:spTgt spid="12"/>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500"/>
                                  </p:stCondLst>
                                  <p:childTnLst>
                                    <p:set>
                                      <p:cBhvr>
                                        <p:cTn id="46" dur="1" fill="hold">
                                          <p:stCondLst>
                                            <p:cond delay="0"/>
                                          </p:stCondLst>
                                        </p:cTn>
                                        <p:tgtEl>
                                          <p:spTgt spid="8"/>
                                        </p:tgtEl>
                                        <p:attrNameLst>
                                          <p:attrName>style.visibility</p:attrName>
                                        </p:attrNameLst>
                                      </p:cBhvr>
                                      <p:to>
                                        <p:strVal val="visible"/>
                                      </p:to>
                                    </p:set>
                                  </p:childTnLst>
                                </p:cTn>
                              </p:par>
                            </p:childTnLst>
                          </p:cTn>
                        </p:par>
                        <p:par>
                          <p:cTn id="47" fill="hold">
                            <p:stCondLst>
                              <p:cond delay="1000"/>
                            </p:stCondLst>
                            <p:childTnLst>
                              <p:par>
                                <p:cTn id="48" presetID="1" presetClass="entr" presetSubtype="0" fill="hold" nodeType="afterEffect">
                                  <p:stCondLst>
                                    <p:cond delay="50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7" grpId="0" animBg="1"/>
      <p:bldP spid="18" grpId="0" animBg="1"/>
      <p:bldP spid="18" grpId="1" animBg="1"/>
      <p:bldP spid="19" grpId="0" animBg="1"/>
      <p:bldP spid="19" grpId="1" animBg="1"/>
      <p:bldP spid="2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E207-0954-4A53-AB4E-D8BBA97C8A7A}"/>
              </a:ext>
            </a:extLst>
          </p:cNvPr>
          <p:cNvSpPr>
            <a:spLocks noGrp="1"/>
          </p:cNvSpPr>
          <p:nvPr>
            <p:ph type="title"/>
          </p:nvPr>
        </p:nvSpPr>
        <p:spPr/>
        <p:txBody>
          <a:bodyPr>
            <a:normAutofit fontScale="90000"/>
          </a:bodyPr>
          <a:lstStyle/>
          <a:p>
            <a:r>
              <a:rPr lang="en-US" altLang="en-US" dirty="0"/>
              <a:t>Rules of Inference for Propositional Logic</a:t>
            </a:r>
            <a:endParaRPr lang="en-US" dirty="0"/>
          </a:p>
        </p:txBody>
      </p:sp>
      <p:sp>
        <p:nvSpPr>
          <p:cNvPr id="3" name="Content Placeholder 2">
            <a:extLst>
              <a:ext uri="{FF2B5EF4-FFF2-40B4-BE49-F238E27FC236}">
                <a16:creationId xmlns:a16="http://schemas.microsoft.com/office/drawing/2014/main" id="{F6EF7AC4-593D-4095-8FA2-998F5CA3EEB7}"/>
              </a:ext>
            </a:extLst>
          </p:cNvPr>
          <p:cNvSpPr>
            <a:spLocks noGrp="1"/>
          </p:cNvSpPr>
          <p:nvPr>
            <p:ph idx="1"/>
          </p:nvPr>
        </p:nvSpPr>
        <p:spPr/>
        <p:txBody>
          <a:bodyPr/>
          <a:lstStyle/>
          <a:p>
            <a:r>
              <a:rPr lang="en-US" altLang="en-US" dirty="0"/>
              <a:t>Can always use truth table to show an </a:t>
            </a:r>
            <a:r>
              <a:rPr lang="en-US" altLang="en-US" dirty="0">
                <a:solidFill>
                  <a:srgbClr val="FF0000"/>
                </a:solidFill>
              </a:rPr>
              <a:t>argument form </a:t>
            </a:r>
            <a:r>
              <a:rPr lang="en-US" altLang="en-US" dirty="0"/>
              <a:t>is valid</a:t>
            </a:r>
          </a:p>
          <a:p>
            <a:r>
              <a:rPr lang="en-US" altLang="en-US" dirty="0"/>
              <a:t>For an argument form with 10 propositional variables, the truth table requires 2</a:t>
            </a:r>
            <a:r>
              <a:rPr lang="en-US" altLang="en-US" baseline="30000" dirty="0"/>
              <a:t>10</a:t>
            </a:r>
            <a:r>
              <a:rPr lang="en-US" altLang="en-US" dirty="0"/>
              <a:t> rows (1024)</a:t>
            </a:r>
          </a:p>
          <a:p>
            <a:r>
              <a:rPr lang="en-US" altLang="en-US" dirty="0"/>
              <a:t>The tautology (</a:t>
            </a:r>
            <a:r>
              <a:rPr lang="en-US" i="1" dirty="0"/>
              <a:t>p </a:t>
            </a:r>
            <a:r>
              <a:rPr lang="en-US" dirty="0"/>
              <a:t>∧</a:t>
            </a:r>
            <a:r>
              <a:rPr lang="en-US" i="1" dirty="0"/>
              <a:t> </a:t>
            </a:r>
            <a:r>
              <a:rPr lang="en-US" dirty="0"/>
              <a:t>(</a:t>
            </a:r>
            <a:r>
              <a:rPr lang="en-US" i="1" dirty="0"/>
              <a:t>p </a:t>
            </a:r>
            <a:r>
              <a:rPr lang="en-US" dirty="0"/>
              <a:t>→</a:t>
            </a:r>
            <a:r>
              <a:rPr lang="en-US" i="1" dirty="0"/>
              <a:t> q</a:t>
            </a:r>
            <a:r>
              <a:rPr lang="en-US" dirty="0"/>
              <a:t>))</a:t>
            </a:r>
            <a:r>
              <a:rPr lang="en-US" i="1" dirty="0"/>
              <a:t> </a:t>
            </a:r>
            <a:r>
              <a:rPr lang="en-US" dirty="0"/>
              <a:t>→</a:t>
            </a:r>
            <a:r>
              <a:rPr lang="en-US" i="1" dirty="0"/>
              <a:t> q</a:t>
            </a:r>
            <a:r>
              <a:rPr lang="en-US" altLang="en-US" dirty="0"/>
              <a:t> is the rule of inference called </a:t>
            </a:r>
            <a:r>
              <a:rPr lang="en-US" altLang="en-US" b="1" dirty="0">
                <a:solidFill>
                  <a:srgbClr val="FF0000"/>
                </a:solidFill>
              </a:rPr>
              <a:t>modus ponens </a:t>
            </a:r>
            <a:r>
              <a:rPr lang="en-US" altLang="en-US" dirty="0"/>
              <a:t>(</a:t>
            </a:r>
            <a:r>
              <a:rPr lang="en-US" altLang="en-US" i="1" dirty="0"/>
              <a:t>mode that affirms</a:t>
            </a:r>
            <a:r>
              <a:rPr lang="en-US" altLang="en-US" dirty="0"/>
              <a:t>), or the </a:t>
            </a:r>
            <a:r>
              <a:rPr lang="en-US" altLang="en-US" b="1" dirty="0">
                <a:solidFill>
                  <a:srgbClr val="FF0000"/>
                </a:solidFill>
              </a:rPr>
              <a:t>law of detachment  </a:t>
            </a:r>
          </a:p>
          <a:p>
            <a:endParaRPr lang="en-US" dirty="0"/>
          </a:p>
        </p:txBody>
      </p:sp>
      <p:sp>
        <p:nvSpPr>
          <p:cNvPr id="4" name="Date Placeholder 3">
            <a:extLst>
              <a:ext uri="{FF2B5EF4-FFF2-40B4-BE49-F238E27FC236}">
                <a16:creationId xmlns:a16="http://schemas.microsoft.com/office/drawing/2014/main" id="{F95D8434-5BBE-4EC5-888E-763A7F7E7F0F}"/>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A8E10552-D371-428B-BAAC-EEACDF59DDC7}"/>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41C46490-EDC3-4159-9900-50A17DE7A980}"/>
              </a:ext>
            </a:extLst>
          </p:cNvPr>
          <p:cNvSpPr>
            <a:spLocks noGrp="1"/>
          </p:cNvSpPr>
          <p:nvPr>
            <p:ph type="sldNum" sz="quarter" idx="12"/>
          </p:nvPr>
        </p:nvSpPr>
        <p:spPr/>
        <p:txBody>
          <a:bodyPr/>
          <a:lstStyle/>
          <a:p>
            <a:fld id="{75B1DB82-35C9-4076-A5B8-0781B30E89ED}" type="slidenum">
              <a:rPr lang="en-US" smtClean="0"/>
              <a:t>51</a:t>
            </a:fld>
            <a:endParaRPr lang="en-US"/>
          </a:p>
        </p:txBody>
      </p:sp>
      <p:sp>
        <p:nvSpPr>
          <p:cNvPr id="7" name="Rectangle 6">
            <a:extLst>
              <a:ext uri="{FF2B5EF4-FFF2-40B4-BE49-F238E27FC236}">
                <a16:creationId xmlns:a16="http://schemas.microsoft.com/office/drawing/2014/main" id="{913FE694-F868-4765-87ED-46213B4F5B4C}"/>
              </a:ext>
            </a:extLst>
          </p:cNvPr>
          <p:cNvSpPr/>
          <p:nvPr/>
        </p:nvSpPr>
        <p:spPr>
          <a:xfrm>
            <a:off x="10057640" y="4589807"/>
            <a:ext cx="1528195" cy="923843"/>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i="1" dirty="0">
                <a:solidFill>
                  <a:schemeClr val="tx1"/>
                </a:solidFill>
                <a:latin typeface="Cambria" panose="02040503050406030204" pitchFamily="18" charset="0"/>
              </a:rPr>
              <a:t>p </a:t>
            </a:r>
          </a:p>
          <a:p>
            <a:r>
              <a:rPr lang="en-US" sz="1351" i="1" dirty="0">
                <a:solidFill>
                  <a:schemeClr val="tx1"/>
                </a:solidFill>
                <a:latin typeface="Cambria" panose="02040503050406030204" pitchFamily="18" charset="0"/>
              </a:rPr>
              <a:t>p </a:t>
            </a:r>
            <a:r>
              <a:rPr lang="en-US" sz="1351" dirty="0">
                <a:solidFill>
                  <a:schemeClr val="tx1"/>
                </a:solidFill>
                <a:latin typeface="Cambria" panose="02040503050406030204" pitchFamily="18" charset="0"/>
              </a:rPr>
              <a:t>→ </a:t>
            </a:r>
            <a:r>
              <a:rPr lang="en-US" sz="1351" i="1" dirty="0">
                <a:solidFill>
                  <a:schemeClr val="tx1"/>
                </a:solidFill>
                <a:latin typeface="Cambria" panose="02040503050406030204" pitchFamily="18" charset="0"/>
              </a:rPr>
              <a:t>q</a:t>
            </a:r>
          </a:p>
          <a:p>
            <a:r>
              <a:rPr lang="en-US" sz="1351" i="1" dirty="0">
                <a:solidFill>
                  <a:schemeClr val="tx1"/>
                </a:solidFill>
                <a:latin typeface="Cambria" panose="02040503050406030204" pitchFamily="18" charset="0"/>
              </a:rPr>
              <a:t>______       </a:t>
            </a:r>
          </a:p>
          <a:p>
            <a:r>
              <a:rPr lang="en-US" sz="1351" dirty="0">
                <a:solidFill>
                  <a:schemeClr val="tx1"/>
                </a:solidFill>
                <a:latin typeface="Cambria" panose="02040503050406030204" pitchFamily="18" charset="0"/>
              </a:rPr>
              <a:t>∴ </a:t>
            </a:r>
            <a:r>
              <a:rPr lang="en-US" sz="1351" i="1" dirty="0">
                <a:solidFill>
                  <a:schemeClr val="tx1"/>
                </a:solidFill>
                <a:latin typeface="Cambria" panose="02040503050406030204" pitchFamily="18" charset="0"/>
              </a:rPr>
              <a:t>q</a:t>
            </a:r>
          </a:p>
        </p:txBody>
      </p:sp>
      <p:sp>
        <p:nvSpPr>
          <p:cNvPr id="8" name="Rectangle 7">
            <a:extLst>
              <a:ext uri="{FF2B5EF4-FFF2-40B4-BE49-F238E27FC236}">
                <a16:creationId xmlns:a16="http://schemas.microsoft.com/office/drawing/2014/main" id="{2397C2F5-878C-47CF-B1F6-48D9ED15B7CC}"/>
              </a:ext>
            </a:extLst>
          </p:cNvPr>
          <p:cNvSpPr/>
          <p:nvPr/>
        </p:nvSpPr>
        <p:spPr>
          <a:xfrm>
            <a:off x="385013" y="4530943"/>
            <a:ext cx="8458199" cy="1077218"/>
          </a:xfrm>
          <a:prstGeom prst="rect">
            <a:avLst/>
          </a:prstGeom>
          <a:solidFill>
            <a:schemeClr val="accent4">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en-US" sz="3200" b="1" dirty="0">
                <a:solidFill>
                  <a:schemeClr val="tx1"/>
                </a:solidFill>
                <a:latin typeface="Cambria" panose="02040503050406030204" pitchFamily="18" charset="0"/>
                <a:cs typeface="Times New Roman" panose="02020603050405020304" pitchFamily="18" charset="0"/>
              </a:rPr>
              <a:t>Argument form</a:t>
            </a:r>
            <a:r>
              <a:rPr lang="en-US" altLang="en-US" sz="3200" dirty="0">
                <a:solidFill>
                  <a:schemeClr val="tx1"/>
                </a:solidFill>
                <a:latin typeface="Cambria" panose="02040503050406030204" pitchFamily="18" charset="0"/>
                <a:cs typeface="Times New Roman" panose="02020603050405020304" pitchFamily="18" charset="0"/>
              </a:rPr>
              <a:t>: a sequence of compound propositions involving propositional variables</a:t>
            </a:r>
            <a:endParaRPr lang="en-US" altLang="en-US" sz="3200" dirty="0">
              <a:solidFill>
                <a:schemeClr val="tx1"/>
              </a:solidFill>
              <a:latin typeface="Cambria" panose="02040503050406030204" pitchFamily="18" charset="0"/>
            </a:endParaRPr>
          </a:p>
        </p:txBody>
      </p:sp>
    </p:spTree>
    <p:extLst>
      <p:ext uri="{BB962C8B-B14F-4D97-AF65-F5344CB8AC3E}">
        <p14:creationId xmlns:p14="http://schemas.microsoft.com/office/powerpoint/2010/main" val="224306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C2EB-D0F4-46D0-BB6A-3B81EE03B61F}"/>
              </a:ext>
            </a:extLst>
          </p:cNvPr>
          <p:cNvSpPr>
            <a:spLocks noGrp="1"/>
          </p:cNvSpPr>
          <p:nvPr>
            <p:ph type="title"/>
          </p:nvPr>
        </p:nvSpPr>
        <p:spPr/>
        <p:txBody>
          <a:bodyPr>
            <a:normAutofit fontScale="90000"/>
          </a:bodyPr>
          <a:lstStyle/>
          <a:p>
            <a:r>
              <a:rPr lang="en-US" altLang="en-US" dirty="0"/>
              <a:t>Example</a:t>
            </a:r>
            <a:endParaRPr lang="en-US" dirty="0"/>
          </a:p>
        </p:txBody>
      </p:sp>
      <p:sp>
        <p:nvSpPr>
          <p:cNvPr id="3" name="Content Placeholder 2">
            <a:extLst>
              <a:ext uri="{FF2B5EF4-FFF2-40B4-BE49-F238E27FC236}">
                <a16:creationId xmlns:a16="http://schemas.microsoft.com/office/drawing/2014/main" id="{ECD70BB9-AAF3-402B-BE30-5A093CA07CE8}"/>
              </a:ext>
            </a:extLst>
          </p:cNvPr>
          <p:cNvSpPr>
            <a:spLocks noGrp="1"/>
          </p:cNvSpPr>
          <p:nvPr>
            <p:ph idx="1"/>
          </p:nvPr>
        </p:nvSpPr>
        <p:spPr/>
        <p:txBody>
          <a:bodyPr/>
          <a:lstStyle/>
          <a:p>
            <a:r>
              <a:rPr lang="en-US" altLang="en-US" dirty="0"/>
              <a:t>If both statements </a:t>
            </a:r>
          </a:p>
          <a:p>
            <a:pPr lvl="1"/>
            <a:r>
              <a:rPr lang="en-US" altLang="en-US" dirty="0"/>
              <a:t>“If it snows today, then we will go skiing”</a:t>
            </a:r>
          </a:p>
          <a:p>
            <a:pPr lvl="1"/>
            <a:r>
              <a:rPr lang="en-US" altLang="en-US" dirty="0"/>
              <a:t>“It is snowing today” </a:t>
            </a:r>
          </a:p>
          <a:p>
            <a:pPr marL="0" indent="0">
              <a:buNone/>
            </a:pPr>
            <a:r>
              <a:rPr lang="en-US" altLang="en-US" dirty="0"/>
              <a:t>are true</a:t>
            </a:r>
          </a:p>
          <a:p>
            <a:r>
              <a:rPr lang="en-US" altLang="en-US" dirty="0"/>
              <a:t>By </a:t>
            </a:r>
            <a:r>
              <a:rPr lang="en-US" altLang="en-US" dirty="0">
                <a:solidFill>
                  <a:srgbClr val="FF0000"/>
                </a:solidFill>
              </a:rPr>
              <a:t>modus</a:t>
            </a:r>
            <a:r>
              <a:rPr lang="en-US" altLang="en-US" dirty="0"/>
              <a:t> </a:t>
            </a:r>
            <a:r>
              <a:rPr lang="en-US" altLang="en-US" dirty="0">
                <a:solidFill>
                  <a:srgbClr val="FF0000"/>
                </a:solidFill>
              </a:rPr>
              <a:t>ponens</a:t>
            </a:r>
            <a:r>
              <a:rPr lang="en-US" altLang="en-US" dirty="0"/>
              <a:t>, </a:t>
            </a:r>
          </a:p>
          <a:p>
            <a:pPr lvl="1"/>
            <a:r>
              <a:rPr lang="en-US" altLang="en-US" dirty="0"/>
              <a:t>it follows the conclusion </a:t>
            </a:r>
          </a:p>
          <a:p>
            <a:pPr lvl="2"/>
            <a:r>
              <a:rPr lang="en-US" altLang="en-US" dirty="0"/>
              <a:t>“We will go skiing” </a:t>
            </a:r>
            <a:br>
              <a:rPr lang="en-US" altLang="en-US" dirty="0"/>
            </a:br>
            <a:r>
              <a:rPr lang="en-US" altLang="en-US" dirty="0"/>
              <a:t>	is true  </a:t>
            </a:r>
          </a:p>
        </p:txBody>
      </p:sp>
      <p:sp>
        <p:nvSpPr>
          <p:cNvPr id="4" name="Date Placeholder 3">
            <a:extLst>
              <a:ext uri="{FF2B5EF4-FFF2-40B4-BE49-F238E27FC236}">
                <a16:creationId xmlns:a16="http://schemas.microsoft.com/office/drawing/2014/main" id="{15711231-2C41-4E86-B7E3-045504D348A2}"/>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8D31D5CD-39F6-4B85-936F-E231BA53F14E}"/>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C1279EA4-D9E6-4F63-9FA6-BC2922DA71E7}"/>
              </a:ext>
            </a:extLst>
          </p:cNvPr>
          <p:cNvSpPr>
            <a:spLocks noGrp="1"/>
          </p:cNvSpPr>
          <p:nvPr>
            <p:ph type="sldNum" sz="quarter" idx="12"/>
          </p:nvPr>
        </p:nvSpPr>
        <p:spPr/>
        <p:txBody>
          <a:bodyPr/>
          <a:lstStyle/>
          <a:p>
            <a:fld id="{75B1DB82-35C9-4076-A5B8-0781B30E89ED}" type="slidenum">
              <a:rPr lang="en-US" smtClean="0"/>
              <a:t>52</a:t>
            </a:fld>
            <a:endParaRPr lang="en-US"/>
          </a:p>
        </p:txBody>
      </p:sp>
      <p:sp>
        <p:nvSpPr>
          <p:cNvPr id="12" name="Rectangle 11">
            <a:extLst>
              <a:ext uri="{FF2B5EF4-FFF2-40B4-BE49-F238E27FC236}">
                <a16:creationId xmlns:a16="http://schemas.microsoft.com/office/drawing/2014/main" id="{5B28A973-F3B0-48C9-A56B-2A5F24D1387E}"/>
              </a:ext>
            </a:extLst>
          </p:cNvPr>
          <p:cNvSpPr/>
          <p:nvPr/>
        </p:nvSpPr>
        <p:spPr>
          <a:xfrm>
            <a:off x="9682301" y="3114653"/>
            <a:ext cx="1528195" cy="923843"/>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i="1">
                <a:solidFill>
                  <a:schemeClr val="tx1"/>
                </a:solidFill>
                <a:latin typeface="Cambria" panose="02040503050406030204" pitchFamily="18" charset="0"/>
              </a:rPr>
              <a:t>p </a:t>
            </a:r>
          </a:p>
          <a:p>
            <a:r>
              <a:rPr lang="en-US" sz="1351" i="1">
                <a:solidFill>
                  <a:schemeClr val="tx1"/>
                </a:solidFill>
                <a:latin typeface="Cambria" panose="02040503050406030204" pitchFamily="18" charset="0"/>
              </a:rPr>
              <a:t>p </a:t>
            </a:r>
            <a:r>
              <a:rPr lang="en-US" sz="1351">
                <a:solidFill>
                  <a:schemeClr val="tx1"/>
                </a:solidFill>
                <a:latin typeface="Cambria" panose="02040503050406030204" pitchFamily="18" charset="0"/>
              </a:rPr>
              <a:t>→ </a:t>
            </a:r>
            <a:r>
              <a:rPr lang="en-US" sz="1351" i="1">
                <a:solidFill>
                  <a:schemeClr val="tx1"/>
                </a:solidFill>
                <a:latin typeface="Cambria" panose="02040503050406030204" pitchFamily="18" charset="0"/>
              </a:rPr>
              <a:t>q</a:t>
            </a:r>
          </a:p>
          <a:p>
            <a:r>
              <a:rPr lang="en-US" sz="1351" i="1">
                <a:solidFill>
                  <a:schemeClr val="tx1"/>
                </a:solidFill>
                <a:latin typeface="Cambria" panose="02040503050406030204" pitchFamily="18" charset="0"/>
              </a:rPr>
              <a:t>______       </a:t>
            </a:r>
          </a:p>
          <a:p>
            <a:r>
              <a:rPr lang="en-US" sz="1351">
                <a:solidFill>
                  <a:schemeClr val="tx1"/>
                </a:solidFill>
                <a:latin typeface="Cambria" panose="02040503050406030204" pitchFamily="18" charset="0"/>
              </a:rPr>
              <a:t>∴ </a:t>
            </a:r>
            <a:r>
              <a:rPr lang="en-US" sz="1351" i="1">
                <a:solidFill>
                  <a:schemeClr val="tx1"/>
                </a:solidFill>
                <a:latin typeface="Cambria" panose="02040503050406030204" pitchFamily="18" charset="0"/>
              </a:rPr>
              <a:t>q</a:t>
            </a:r>
          </a:p>
        </p:txBody>
      </p:sp>
      <p:sp>
        <p:nvSpPr>
          <p:cNvPr id="13" name="Rectangle 12">
            <a:extLst>
              <a:ext uri="{FF2B5EF4-FFF2-40B4-BE49-F238E27FC236}">
                <a16:creationId xmlns:a16="http://schemas.microsoft.com/office/drawing/2014/main" id="{717868FF-7614-4800-875E-7A7375111DE6}"/>
              </a:ext>
            </a:extLst>
          </p:cNvPr>
          <p:cNvSpPr/>
          <p:nvPr/>
        </p:nvSpPr>
        <p:spPr>
          <a:xfrm>
            <a:off x="8072544" y="1591676"/>
            <a:ext cx="1140056" cy="584775"/>
          </a:xfrm>
          <a:prstGeom prst="rect">
            <a:avLst/>
          </a:prstGeom>
        </p:spPr>
        <p:txBody>
          <a:bodyPr wrap="none">
            <a:spAutoFit/>
          </a:bodyPr>
          <a:lstStyle/>
          <a:p>
            <a:r>
              <a:rPr lang="en-US" sz="3200" i="1" dirty="0">
                <a:solidFill>
                  <a:srgbClr val="00A64E"/>
                </a:solidFill>
                <a:latin typeface="Cambria" panose="02040503050406030204" pitchFamily="18" charset="0"/>
              </a:rPr>
              <a:t>p </a:t>
            </a:r>
            <a:r>
              <a:rPr lang="en-US" sz="3200" dirty="0">
                <a:solidFill>
                  <a:srgbClr val="00A64E"/>
                </a:solidFill>
                <a:latin typeface="Cambria" panose="02040503050406030204" pitchFamily="18" charset="0"/>
              </a:rPr>
              <a:t>→ </a:t>
            </a:r>
            <a:r>
              <a:rPr lang="en-US" sz="3200" i="1" dirty="0">
                <a:solidFill>
                  <a:srgbClr val="00A64E"/>
                </a:solidFill>
                <a:latin typeface="Cambria" panose="02040503050406030204" pitchFamily="18" charset="0"/>
              </a:rPr>
              <a:t>q</a:t>
            </a:r>
          </a:p>
        </p:txBody>
      </p:sp>
      <p:sp>
        <p:nvSpPr>
          <p:cNvPr id="14" name="Rectangle 13">
            <a:extLst>
              <a:ext uri="{FF2B5EF4-FFF2-40B4-BE49-F238E27FC236}">
                <a16:creationId xmlns:a16="http://schemas.microsoft.com/office/drawing/2014/main" id="{31C802FA-7D67-40B0-88E4-365B32190388}"/>
              </a:ext>
            </a:extLst>
          </p:cNvPr>
          <p:cNvSpPr/>
          <p:nvPr/>
        </p:nvSpPr>
        <p:spPr>
          <a:xfrm>
            <a:off x="4732923" y="2145651"/>
            <a:ext cx="401072" cy="584775"/>
          </a:xfrm>
          <a:prstGeom prst="rect">
            <a:avLst/>
          </a:prstGeom>
        </p:spPr>
        <p:txBody>
          <a:bodyPr wrap="none">
            <a:spAutoFit/>
          </a:bodyPr>
          <a:lstStyle/>
          <a:p>
            <a:r>
              <a:rPr lang="en-US" sz="3200" i="1" dirty="0">
                <a:solidFill>
                  <a:srgbClr val="00A64E"/>
                </a:solidFill>
                <a:latin typeface="Cambria" panose="02040503050406030204" pitchFamily="18" charset="0"/>
              </a:rPr>
              <a:t>p</a:t>
            </a:r>
          </a:p>
        </p:txBody>
      </p:sp>
      <p:sp>
        <p:nvSpPr>
          <p:cNvPr id="15" name="Rectangle 14">
            <a:extLst>
              <a:ext uri="{FF2B5EF4-FFF2-40B4-BE49-F238E27FC236}">
                <a16:creationId xmlns:a16="http://schemas.microsoft.com/office/drawing/2014/main" id="{95A997A5-D8C7-44B8-BDFC-607417281348}"/>
              </a:ext>
            </a:extLst>
          </p:cNvPr>
          <p:cNvSpPr/>
          <p:nvPr/>
        </p:nvSpPr>
        <p:spPr>
          <a:xfrm>
            <a:off x="4171283" y="4365746"/>
            <a:ext cx="399468" cy="584775"/>
          </a:xfrm>
          <a:prstGeom prst="rect">
            <a:avLst/>
          </a:prstGeom>
        </p:spPr>
        <p:txBody>
          <a:bodyPr wrap="none">
            <a:spAutoFit/>
          </a:bodyPr>
          <a:lstStyle/>
          <a:p>
            <a:r>
              <a:rPr lang="en-US" sz="3200" i="1" dirty="0">
                <a:solidFill>
                  <a:srgbClr val="00A64E"/>
                </a:solidFill>
                <a:latin typeface="Cambria" panose="02040503050406030204" pitchFamily="18" charset="0"/>
              </a:rPr>
              <a:t>q</a:t>
            </a:r>
          </a:p>
        </p:txBody>
      </p:sp>
    </p:spTree>
    <p:extLst>
      <p:ext uri="{BB962C8B-B14F-4D97-AF65-F5344CB8AC3E}">
        <p14:creationId xmlns:p14="http://schemas.microsoft.com/office/powerpoint/2010/main" val="81833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4DC6C-2F7F-4A85-939C-DBE51281F6CE}"/>
              </a:ext>
            </a:extLst>
          </p:cNvPr>
          <p:cNvSpPr>
            <a:spLocks noGrp="1"/>
          </p:cNvSpPr>
          <p:nvPr>
            <p:ph type="title"/>
          </p:nvPr>
        </p:nvSpPr>
        <p:spPr/>
        <p:txBody>
          <a:bodyPr>
            <a:normAutofit fontScale="90000"/>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29ABCC-9E27-426B-A4EF-3177F89EDD07}"/>
                  </a:ext>
                </a:extLst>
              </p:cNvPr>
              <p:cNvSpPr>
                <a:spLocks noGrp="1"/>
              </p:cNvSpPr>
              <p:nvPr>
                <p:ph idx="1"/>
              </p:nvPr>
            </p:nvSpPr>
            <p:spPr/>
            <p:txBody>
              <a:bodyPr>
                <a:normAutofit fontScale="77500" lnSpcReduction="20000"/>
              </a:bodyPr>
              <a:lstStyle/>
              <a:p>
                <a:r>
                  <a:rPr lang="en-US" dirty="0">
                    <a:solidFill>
                      <a:srgbClr val="FF0000"/>
                    </a:solidFill>
                  </a:rPr>
                  <a:t>Is the following argument valid? Is the conclusion true?</a:t>
                </a:r>
              </a:p>
              <a:p>
                <a:pPr marL="457178" lvl="1" indent="0">
                  <a:buNone/>
                </a:pPr>
                <a:r>
                  <a:rPr lang="en-US" sz="3000" dirty="0"/>
                  <a:t>If </a:t>
                </a:r>
                <a14:m>
                  <m:oMath xmlns:m="http://schemas.openxmlformats.org/officeDocument/2006/math">
                    <m:rad>
                      <m:radPr>
                        <m:degHide m:val="on"/>
                        <m:ctrlPr>
                          <a:rPr lang="en-US" altLang="en-US" sz="3000" i="1">
                            <a:latin typeface="Cambria Math" panose="02040503050406030204" pitchFamily="18" charset="0"/>
                          </a:rPr>
                        </m:ctrlPr>
                      </m:radPr>
                      <m:deg/>
                      <m:e>
                        <m:r>
                          <a:rPr lang="en-US" altLang="en-US" sz="3000" i="1">
                            <a:latin typeface="Cambria Math" panose="02040503050406030204" pitchFamily="18" charset="0"/>
                          </a:rPr>
                          <m:t>2</m:t>
                        </m:r>
                      </m:e>
                    </m:rad>
                    <m:r>
                      <a:rPr lang="en-US" altLang="en-US" sz="3000" i="1">
                        <a:latin typeface="Cambria Math" panose="02040503050406030204" pitchFamily="18" charset="0"/>
                      </a:rPr>
                      <m:t>&gt;</m:t>
                    </m:r>
                    <m:f>
                      <m:fPr>
                        <m:ctrlPr>
                          <a:rPr lang="en-US" altLang="en-US" sz="3000" i="1">
                            <a:latin typeface="Cambria Math" panose="02040503050406030204" pitchFamily="18" charset="0"/>
                          </a:rPr>
                        </m:ctrlPr>
                      </m:fPr>
                      <m:num>
                        <m:r>
                          <a:rPr lang="en-US" altLang="en-US" sz="3000" i="1">
                            <a:latin typeface="Cambria Math" panose="02040503050406030204" pitchFamily="18" charset="0"/>
                          </a:rPr>
                          <m:t>3</m:t>
                        </m:r>
                      </m:num>
                      <m:den>
                        <m:r>
                          <a:rPr lang="en-US" altLang="en-US" sz="3000" i="1">
                            <a:latin typeface="Cambria Math" panose="02040503050406030204" pitchFamily="18" charset="0"/>
                          </a:rPr>
                          <m:t>2</m:t>
                        </m:r>
                      </m:den>
                    </m:f>
                    <m:r>
                      <a:rPr lang="en-US" altLang="en-US" sz="3000" i="1">
                        <a:latin typeface="Cambria Math" panose="02040503050406030204" pitchFamily="18" charset="0"/>
                      </a:rPr>
                      <m:t>, </m:t>
                    </m:r>
                    <m:r>
                      <a:rPr lang="en-US" altLang="en-US" sz="3000" i="1">
                        <a:latin typeface="Cambria Math" panose="02040503050406030204" pitchFamily="18" charset="0"/>
                      </a:rPr>
                      <m:t>𝑡h𝑒𝑛</m:t>
                    </m:r>
                    <m:r>
                      <a:rPr lang="en-US" altLang="en-US" sz="3000" i="1">
                        <a:latin typeface="Cambria Math" panose="02040503050406030204" pitchFamily="18" charset="0"/>
                      </a:rPr>
                      <m:t> </m:t>
                    </m:r>
                    <m:sSup>
                      <m:sSupPr>
                        <m:ctrlPr>
                          <a:rPr lang="en-US" altLang="en-US" sz="3000" i="1">
                            <a:latin typeface="Cambria Math" panose="02040503050406030204" pitchFamily="18" charset="0"/>
                          </a:rPr>
                        </m:ctrlPr>
                      </m:sSupPr>
                      <m:e>
                        <m:d>
                          <m:dPr>
                            <m:ctrlPr>
                              <a:rPr lang="en-US" altLang="en-US" sz="3000" i="1">
                                <a:latin typeface="Cambria Math" panose="02040503050406030204" pitchFamily="18" charset="0"/>
                              </a:rPr>
                            </m:ctrlPr>
                          </m:dPr>
                          <m:e>
                            <m:rad>
                              <m:radPr>
                                <m:degHide m:val="on"/>
                                <m:ctrlPr>
                                  <a:rPr lang="en-US" altLang="en-US" sz="3000" i="1">
                                    <a:latin typeface="Cambria Math" panose="02040503050406030204" pitchFamily="18" charset="0"/>
                                  </a:rPr>
                                </m:ctrlPr>
                              </m:radPr>
                              <m:deg/>
                              <m:e>
                                <m:r>
                                  <a:rPr lang="en-US" altLang="en-US" sz="3000" i="1">
                                    <a:latin typeface="Cambria Math" panose="02040503050406030204" pitchFamily="18" charset="0"/>
                                  </a:rPr>
                                  <m:t>2</m:t>
                                </m:r>
                              </m:e>
                            </m:rad>
                          </m:e>
                        </m:d>
                      </m:e>
                      <m:sup>
                        <m:r>
                          <a:rPr lang="en-US" altLang="en-US" sz="3000" i="1">
                            <a:latin typeface="Cambria Math" panose="02040503050406030204" pitchFamily="18" charset="0"/>
                          </a:rPr>
                          <m:t>2</m:t>
                        </m:r>
                      </m:sup>
                    </m:sSup>
                    <m:r>
                      <a:rPr lang="en-US" altLang="en-US" sz="3000" i="1">
                        <a:latin typeface="Cambria Math" panose="02040503050406030204" pitchFamily="18" charset="0"/>
                      </a:rPr>
                      <m:t>&gt;</m:t>
                    </m:r>
                    <m:sSup>
                      <m:sSupPr>
                        <m:ctrlPr>
                          <a:rPr lang="en-US" altLang="en-US" sz="3000" i="1">
                            <a:latin typeface="Cambria Math" panose="02040503050406030204" pitchFamily="18" charset="0"/>
                          </a:rPr>
                        </m:ctrlPr>
                      </m:sSupPr>
                      <m:e>
                        <m:d>
                          <m:dPr>
                            <m:ctrlPr>
                              <a:rPr lang="en-US" altLang="en-US" sz="3000" i="1">
                                <a:latin typeface="Cambria Math" panose="02040503050406030204" pitchFamily="18" charset="0"/>
                              </a:rPr>
                            </m:ctrlPr>
                          </m:dPr>
                          <m:e>
                            <m:f>
                              <m:fPr>
                                <m:ctrlPr>
                                  <a:rPr lang="en-US" altLang="en-US" sz="3000" i="1">
                                    <a:latin typeface="Cambria Math" panose="02040503050406030204" pitchFamily="18" charset="0"/>
                                  </a:rPr>
                                </m:ctrlPr>
                              </m:fPr>
                              <m:num>
                                <m:r>
                                  <a:rPr lang="en-US" altLang="en-US" sz="3000" i="1">
                                    <a:latin typeface="Cambria Math" panose="02040503050406030204" pitchFamily="18" charset="0"/>
                                  </a:rPr>
                                  <m:t>3</m:t>
                                </m:r>
                              </m:num>
                              <m:den>
                                <m:r>
                                  <a:rPr lang="en-US" altLang="en-US" sz="3000" i="1">
                                    <a:latin typeface="Cambria Math" panose="02040503050406030204" pitchFamily="18" charset="0"/>
                                  </a:rPr>
                                  <m:t>2</m:t>
                                </m:r>
                              </m:den>
                            </m:f>
                          </m:e>
                        </m:d>
                      </m:e>
                      <m:sup>
                        <m:r>
                          <a:rPr lang="en-US" altLang="en-US" sz="3000" i="1">
                            <a:latin typeface="Cambria Math" panose="02040503050406030204" pitchFamily="18" charset="0"/>
                          </a:rPr>
                          <m:t>2</m:t>
                        </m:r>
                      </m:sup>
                    </m:sSup>
                  </m:oMath>
                </a14:m>
                <a:r>
                  <a:rPr lang="en-US" altLang="en-US" sz="3000" dirty="0"/>
                  <a:t>.  We know that </a:t>
                </a:r>
                <a14:m>
                  <m:oMath xmlns:m="http://schemas.openxmlformats.org/officeDocument/2006/math">
                    <m:rad>
                      <m:radPr>
                        <m:degHide m:val="on"/>
                        <m:ctrlPr>
                          <a:rPr lang="en-US" altLang="en-US" sz="3000" i="1">
                            <a:latin typeface="Cambria Math" panose="02040503050406030204" pitchFamily="18" charset="0"/>
                          </a:rPr>
                        </m:ctrlPr>
                      </m:radPr>
                      <m:deg/>
                      <m:e>
                        <m:r>
                          <a:rPr lang="en-US" altLang="en-US" sz="3000" i="1">
                            <a:latin typeface="Cambria Math" panose="02040503050406030204" pitchFamily="18" charset="0"/>
                          </a:rPr>
                          <m:t>2</m:t>
                        </m:r>
                      </m:e>
                    </m:rad>
                    <m:r>
                      <a:rPr lang="en-US" altLang="en-US" sz="3000" i="1">
                        <a:latin typeface="Cambria Math" panose="02040503050406030204" pitchFamily="18" charset="0"/>
                      </a:rPr>
                      <m:t>&gt;</m:t>
                    </m:r>
                    <m:f>
                      <m:fPr>
                        <m:ctrlPr>
                          <a:rPr lang="en-US" altLang="en-US" sz="3000" i="1">
                            <a:latin typeface="Cambria Math" panose="02040503050406030204" pitchFamily="18" charset="0"/>
                          </a:rPr>
                        </m:ctrlPr>
                      </m:fPr>
                      <m:num>
                        <m:r>
                          <a:rPr lang="en-US" altLang="en-US" sz="3000" i="1">
                            <a:latin typeface="Cambria Math" panose="02040503050406030204" pitchFamily="18" charset="0"/>
                          </a:rPr>
                          <m:t>3</m:t>
                        </m:r>
                      </m:num>
                      <m:den>
                        <m:r>
                          <a:rPr lang="en-US" altLang="en-US" sz="3000" i="1">
                            <a:latin typeface="Cambria Math" panose="02040503050406030204" pitchFamily="18" charset="0"/>
                          </a:rPr>
                          <m:t>2</m:t>
                        </m:r>
                      </m:den>
                    </m:f>
                    <m:r>
                      <a:rPr lang="en-US" altLang="en-US" sz="3000" i="1">
                        <a:latin typeface="Cambria Math" panose="02040503050406030204" pitchFamily="18" charset="0"/>
                      </a:rPr>
                      <m:t>.</m:t>
                    </m:r>
                  </m:oMath>
                </a14:m>
                <a:r>
                  <a:rPr lang="en-US" altLang="en-US" sz="3000" dirty="0"/>
                  <a:t> </a:t>
                </a:r>
              </a:p>
              <a:p>
                <a:pPr marL="457178" lvl="1" indent="0">
                  <a:buNone/>
                </a:pPr>
                <a:endParaRPr lang="en-US" altLang="en-US" sz="900" dirty="0"/>
              </a:p>
              <a:p>
                <a:pPr marL="457178" lvl="1" indent="0">
                  <a:buNone/>
                </a:pPr>
                <a:r>
                  <a:rPr lang="en-US" altLang="en-US" sz="3000" dirty="0"/>
                  <a:t>Consequently, </a:t>
                </a:r>
                <a14:m>
                  <m:oMath xmlns:m="http://schemas.openxmlformats.org/officeDocument/2006/math">
                    <m:sSup>
                      <m:sSupPr>
                        <m:ctrlPr>
                          <a:rPr lang="en-US" altLang="en-US" sz="3000" i="1">
                            <a:latin typeface="Cambria Math" panose="02040503050406030204" pitchFamily="18" charset="0"/>
                          </a:rPr>
                        </m:ctrlPr>
                      </m:sSupPr>
                      <m:e>
                        <m:d>
                          <m:dPr>
                            <m:ctrlPr>
                              <a:rPr lang="en-US" altLang="en-US" sz="3000" i="1">
                                <a:latin typeface="Cambria Math" panose="02040503050406030204" pitchFamily="18" charset="0"/>
                              </a:rPr>
                            </m:ctrlPr>
                          </m:dPr>
                          <m:e>
                            <m:rad>
                              <m:radPr>
                                <m:degHide m:val="on"/>
                                <m:ctrlPr>
                                  <a:rPr lang="en-US" altLang="en-US" sz="3000" i="1">
                                    <a:latin typeface="Cambria Math" panose="02040503050406030204" pitchFamily="18" charset="0"/>
                                  </a:rPr>
                                </m:ctrlPr>
                              </m:radPr>
                              <m:deg/>
                              <m:e>
                                <m:r>
                                  <a:rPr lang="en-US" altLang="en-US" sz="3000" i="1">
                                    <a:latin typeface="Cambria Math" panose="02040503050406030204" pitchFamily="18" charset="0"/>
                                  </a:rPr>
                                  <m:t>2</m:t>
                                </m:r>
                              </m:e>
                            </m:rad>
                          </m:e>
                        </m:d>
                      </m:e>
                      <m:sup>
                        <m:r>
                          <a:rPr lang="en-US" altLang="en-US" sz="3000" i="1">
                            <a:latin typeface="Cambria Math" panose="02040503050406030204" pitchFamily="18" charset="0"/>
                          </a:rPr>
                          <m:t>2</m:t>
                        </m:r>
                      </m:sup>
                    </m:sSup>
                    <m:r>
                      <a:rPr lang="en-US" altLang="en-US" sz="3000" i="1">
                        <a:latin typeface="Cambria Math" panose="02040503050406030204" pitchFamily="18" charset="0"/>
                      </a:rPr>
                      <m:t>=2&gt;</m:t>
                    </m:r>
                    <m:sSup>
                      <m:sSupPr>
                        <m:ctrlPr>
                          <a:rPr lang="en-US" altLang="en-US" sz="3000" i="1">
                            <a:latin typeface="Cambria Math" panose="02040503050406030204" pitchFamily="18" charset="0"/>
                          </a:rPr>
                        </m:ctrlPr>
                      </m:sSupPr>
                      <m:e>
                        <m:d>
                          <m:dPr>
                            <m:ctrlPr>
                              <a:rPr lang="en-US" altLang="en-US" sz="3000" i="1">
                                <a:latin typeface="Cambria Math" panose="02040503050406030204" pitchFamily="18" charset="0"/>
                              </a:rPr>
                            </m:ctrlPr>
                          </m:dPr>
                          <m:e>
                            <m:f>
                              <m:fPr>
                                <m:ctrlPr>
                                  <a:rPr lang="en-US" altLang="en-US" sz="3000" i="1">
                                    <a:latin typeface="Cambria Math" panose="02040503050406030204" pitchFamily="18" charset="0"/>
                                  </a:rPr>
                                </m:ctrlPr>
                              </m:fPr>
                              <m:num>
                                <m:r>
                                  <a:rPr lang="en-US" altLang="en-US" sz="3000" i="1">
                                    <a:latin typeface="Cambria Math" panose="02040503050406030204" pitchFamily="18" charset="0"/>
                                  </a:rPr>
                                  <m:t>3</m:t>
                                </m:r>
                              </m:num>
                              <m:den>
                                <m:r>
                                  <a:rPr lang="en-US" altLang="en-US" sz="3000" i="1">
                                    <a:latin typeface="Cambria Math" panose="02040503050406030204" pitchFamily="18" charset="0"/>
                                  </a:rPr>
                                  <m:t>2</m:t>
                                </m:r>
                              </m:den>
                            </m:f>
                          </m:e>
                        </m:d>
                      </m:e>
                      <m:sup>
                        <m:r>
                          <a:rPr lang="en-US" altLang="en-US" sz="3000" i="1">
                            <a:latin typeface="Cambria Math" panose="02040503050406030204" pitchFamily="18" charset="0"/>
                          </a:rPr>
                          <m:t>2</m:t>
                        </m:r>
                      </m:sup>
                    </m:sSup>
                    <m:r>
                      <a:rPr lang="en-US" altLang="en-US" sz="3000" i="1">
                        <a:latin typeface="Cambria Math" panose="02040503050406030204" pitchFamily="18" charset="0"/>
                      </a:rPr>
                      <m:t>=</m:t>
                    </m:r>
                    <m:f>
                      <m:fPr>
                        <m:ctrlPr>
                          <a:rPr lang="en-US" altLang="en-US" sz="3000" i="1">
                            <a:latin typeface="Cambria Math" panose="02040503050406030204" pitchFamily="18" charset="0"/>
                          </a:rPr>
                        </m:ctrlPr>
                      </m:fPr>
                      <m:num>
                        <m:r>
                          <a:rPr lang="en-US" altLang="en-US" sz="3000" i="1">
                            <a:latin typeface="Cambria Math" panose="02040503050406030204" pitchFamily="18" charset="0"/>
                          </a:rPr>
                          <m:t>9</m:t>
                        </m:r>
                      </m:num>
                      <m:den>
                        <m:r>
                          <a:rPr lang="en-US" altLang="en-US" sz="3000" i="1">
                            <a:latin typeface="Cambria Math" panose="02040503050406030204" pitchFamily="18" charset="0"/>
                          </a:rPr>
                          <m:t>4</m:t>
                        </m:r>
                      </m:den>
                    </m:f>
                  </m:oMath>
                </a14:m>
                <a:endParaRPr lang="en-US" altLang="en-US" sz="3000" dirty="0"/>
              </a:p>
              <a:p>
                <a:pPr lvl="1"/>
                <a:endParaRPr lang="en-US" altLang="en-US" sz="900" dirty="0"/>
              </a:p>
              <a:p>
                <a:r>
                  <a:rPr lang="en-US" altLang="en-US" dirty="0"/>
                  <a:t>Let </a:t>
                </a:r>
                <a:r>
                  <a:rPr lang="en-US" altLang="en-US" i="1" dirty="0"/>
                  <a:t>p</a:t>
                </a:r>
                <a:r>
                  <a:rPr lang="en-US" altLang="en-US" dirty="0"/>
                  <a:t> be </a:t>
                </a:r>
                <a14:m>
                  <m:oMath xmlns:m="http://schemas.openxmlformats.org/officeDocument/2006/math">
                    <m:rad>
                      <m:radPr>
                        <m:degHide m:val="on"/>
                        <m:ctrlPr>
                          <a:rPr lang="en-US" altLang="en-US" i="1">
                            <a:latin typeface="Cambria Math" panose="02040503050406030204" pitchFamily="18" charset="0"/>
                          </a:rPr>
                        </m:ctrlPr>
                      </m:radPr>
                      <m:deg/>
                      <m:e>
                        <m:r>
                          <a:rPr lang="en-US" altLang="en-US" i="1">
                            <a:latin typeface="Cambria Math" panose="02040503050406030204" pitchFamily="18" charset="0"/>
                          </a:rPr>
                          <m:t>2</m:t>
                        </m:r>
                      </m:e>
                    </m:rad>
                    <m:r>
                      <a:rPr lang="en-US" altLang="en-US" i="1">
                        <a:latin typeface="Cambria Math" panose="02040503050406030204" pitchFamily="18" charset="0"/>
                      </a:rPr>
                      <m:t>&gt;</m:t>
                    </m:r>
                    <m:f>
                      <m:fPr>
                        <m:ctrlPr>
                          <a:rPr lang="en-US" altLang="en-US" i="1">
                            <a:latin typeface="Cambria Math" panose="02040503050406030204" pitchFamily="18" charset="0"/>
                          </a:rPr>
                        </m:ctrlPr>
                      </m:fPr>
                      <m:num>
                        <m:r>
                          <a:rPr lang="en-US" altLang="en-US" i="1">
                            <a:latin typeface="Cambria Math" panose="02040503050406030204" pitchFamily="18" charset="0"/>
                          </a:rPr>
                          <m:t>3</m:t>
                        </m:r>
                      </m:num>
                      <m:den>
                        <m:r>
                          <a:rPr lang="en-US" altLang="en-US" i="1">
                            <a:latin typeface="Cambria Math" panose="02040503050406030204" pitchFamily="18" charset="0"/>
                          </a:rPr>
                          <m:t>2</m:t>
                        </m:r>
                      </m:den>
                    </m:f>
                  </m:oMath>
                </a14:m>
                <a:r>
                  <a:rPr lang="en-US" altLang="en-US" dirty="0"/>
                  <a:t>. Let </a:t>
                </a:r>
                <a:r>
                  <a:rPr lang="en-US" altLang="en-US" i="1" dirty="0"/>
                  <a:t>q</a:t>
                </a:r>
                <a:r>
                  <a:rPr lang="en-US" altLang="en-US" dirty="0"/>
                  <a:t> be</a:t>
                </a:r>
                <a14:m>
                  <m:oMath xmlns:m="http://schemas.openxmlformats.org/officeDocument/2006/math">
                    <m:sSup>
                      <m:sSupPr>
                        <m:ctrlPr>
                          <a:rPr lang="en-US" altLang="en-US" i="1">
                            <a:latin typeface="Cambria Math" panose="02040503050406030204" pitchFamily="18" charset="0"/>
                          </a:rPr>
                        </m:ctrlPr>
                      </m:sSupPr>
                      <m:e>
                        <m:d>
                          <m:dPr>
                            <m:ctrlPr>
                              <a:rPr lang="en-US" altLang="en-US" i="1" smtClean="0">
                                <a:latin typeface="Cambria Math" panose="02040503050406030204" pitchFamily="18" charset="0"/>
                              </a:rPr>
                            </m:ctrlPr>
                          </m:dPr>
                          <m:e>
                            <m:rad>
                              <m:radPr>
                                <m:degHide m:val="on"/>
                                <m:ctrlPr>
                                  <a:rPr lang="en-US" altLang="en-US" i="1">
                                    <a:latin typeface="Cambria Math" panose="02040503050406030204" pitchFamily="18" charset="0"/>
                                  </a:rPr>
                                </m:ctrlPr>
                              </m:radPr>
                              <m:deg/>
                              <m:e>
                                <m:r>
                                  <a:rPr lang="en-US" altLang="en-US" i="1">
                                    <a:latin typeface="Cambria Math" panose="02040503050406030204" pitchFamily="18" charset="0"/>
                                  </a:rPr>
                                  <m:t>2</m:t>
                                </m:r>
                              </m:e>
                            </m:rad>
                          </m:e>
                        </m:d>
                      </m:e>
                      <m:sup>
                        <m:r>
                          <a:rPr lang="en-US" altLang="en-US" i="1">
                            <a:latin typeface="Cambria Math" panose="02040503050406030204" pitchFamily="18" charset="0"/>
                          </a:rPr>
                          <m:t>2</m:t>
                        </m:r>
                      </m:sup>
                    </m:sSup>
                    <m:r>
                      <a:rPr lang="en-US" altLang="en-US" sz="3600" i="1">
                        <a:latin typeface="Cambria Math" panose="02040503050406030204" pitchFamily="18" charset="0"/>
                      </a:rPr>
                      <m:t>&gt;</m:t>
                    </m:r>
                    <m:sSup>
                      <m:sSupPr>
                        <m:ctrlPr>
                          <a:rPr lang="en-US" altLang="en-US" sz="3600" i="1">
                            <a:latin typeface="Cambria Math" panose="02040503050406030204" pitchFamily="18" charset="0"/>
                          </a:rPr>
                        </m:ctrlPr>
                      </m:sSupPr>
                      <m:e>
                        <m:d>
                          <m:dPr>
                            <m:ctrlPr>
                              <a:rPr lang="en-US" altLang="en-US" sz="3600" i="1">
                                <a:latin typeface="Cambria Math" panose="02040503050406030204" pitchFamily="18" charset="0"/>
                              </a:rPr>
                            </m:ctrlPr>
                          </m:dPr>
                          <m:e>
                            <m:f>
                              <m:fPr>
                                <m:ctrlPr>
                                  <a:rPr lang="en-US" altLang="en-US" sz="3600" i="1">
                                    <a:latin typeface="Cambria Math" panose="02040503050406030204" pitchFamily="18" charset="0"/>
                                  </a:rPr>
                                </m:ctrlPr>
                              </m:fPr>
                              <m:num>
                                <m:r>
                                  <a:rPr lang="en-US" altLang="en-US" sz="3600" i="1">
                                    <a:latin typeface="Cambria Math" panose="02040503050406030204" pitchFamily="18" charset="0"/>
                                  </a:rPr>
                                  <m:t>3</m:t>
                                </m:r>
                              </m:num>
                              <m:den>
                                <m:r>
                                  <a:rPr lang="en-US" altLang="en-US" sz="3600" i="1">
                                    <a:latin typeface="Cambria Math" panose="02040503050406030204" pitchFamily="18" charset="0"/>
                                  </a:rPr>
                                  <m:t>2</m:t>
                                </m:r>
                              </m:den>
                            </m:f>
                          </m:e>
                        </m:d>
                      </m:e>
                      <m:sup>
                        <m:r>
                          <a:rPr lang="en-US" altLang="en-US" sz="3600" i="1">
                            <a:latin typeface="Cambria Math" panose="02040503050406030204" pitchFamily="18" charset="0"/>
                          </a:rPr>
                          <m:t>2</m:t>
                        </m:r>
                      </m:sup>
                    </m:sSup>
                  </m:oMath>
                </a14:m>
                <a:endParaRPr lang="en-US" altLang="en-US" dirty="0"/>
              </a:p>
              <a:p>
                <a:pPr lvl="1"/>
                <a:r>
                  <a:rPr lang="en-US" altLang="en-US" sz="3000" dirty="0">
                    <a:solidFill>
                      <a:srgbClr val="00A64E"/>
                    </a:solidFill>
                  </a:rPr>
                  <a:t>The premises of the argument are </a:t>
                </a:r>
                <a:r>
                  <a:rPr lang="en-US" altLang="en-US" sz="3000" i="1" dirty="0"/>
                  <a:t>p</a:t>
                </a:r>
                <a:r>
                  <a:rPr lang="en-US" altLang="en-US" sz="3000" dirty="0"/>
                  <a:t> </a:t>
                </a:r>
                <a:r>
                  <a:rPr lang="en-US" altLang="en-US" sz="3000" dirty="0">
                    <a:cs typeface="Times New Roman" panose="02020603050405020304" pitchFamily="18" charset="0"/>
                  </a:rPr>
                  <a:t>→ </a:t>
                </a:r>
                <a:r>
                  <a:rPr lang="en-US" altLang="en-US" sz="3000" i="1" dirty="0">
                    <a:cs typeface="Times New Roman" panose="02020603050405020304" pitchFamily="18" charset="0"/>
                  </a:rPr>
                  <a:t>q</a:t>
                </a:r>
                <a:r>
                  <a:rPr lang="en-US" altLang="en-US" sz="3000" dirty="0">
                    <a:cs typeface="Times New Roman" panose="02020603050405020304" pitchFamily="18" charset="0"/>
                  </a:rPr>
                  <a:t> </a:t>
                </a:r>
                <a:r>
                  <a:rPr lang="en-US" altLang="en-US" sz="3000" dirty="0">
                    <a:solidFill>
                      <a:srgbClr val="00A64E"/>
                    </a:solidFill>
                    <a:cs typeface="Times New Roman" panose="02020603050405020304" pitchFamily="18" charset="0"/>
                  </a:rPr>
                  <a:t>and</a:t>
                </a:r>
                <a:r>
                  <a:rPr lang="en-US" altLang="en-US" sz="3000" dirty="0">
                    <a:solidFill>
                      <a:srgbClr val="FFFF00"/>
                    </a:solidFill>
                    <a:cs typeface="Times New Roman" panose="02020603050405020304" pitchFamily="18" charset="0"/>
                  </a:rPr>
                  <a:t> </a:t>
                </a:r>
                <a:r>
                  <a:rPr lang="en-US" altLang="en-US" sz="3000" i="1" dirty="0">
                    <a:cs typeface="Times New Roman" panose="02020603050405020304" pitchFamily="18" charset="0"/>
                  </a:rPr>
                  <a:t>p</a:t>
                </a:r>
                <a:r>
                  <a:rPr lang="en-US" altLang="en-US" sz="3000" dirty="0">
                    <a:solidFill>
                      <a:srgbClr val="00A64E"/>
                    </a:solidFill>
                    <a:cs typeface="Times New Roman" panose="02020603050405020304" pitchFamily="18" charset="0"/>
                  </a:rPr>
                  <a:t>,</a:t>
                </a:r>
                <a:r>
                  <a:rPr lang="en-US" altLang="en-US" sz="3000" dirty="0">
                    <a:solidFill>
                      <a:srgbClr val="FFFF00"/>
                    </a:solidFill>
                    <a:cs typeface="Times New Roman" panose="02020603050405020304" pitchFamily="18" charset="0"/>
                  </a:rPr>
                  <a:t> </a:t>
                </a:r>
              </a:p>
              <a:p>
                <a:pPr lvl="1"/>
                <a:r>
                  <a:rPr lang="en-US" altLang="en-US" sz="3000" dirty="0">
                    <a:cs typeface="Times New Roman" panose="02020603050405020304" pitchFamily="18" charset="0"/>
                  </a:rPr>
                  <a:t> </a:t>
                </a:r>
                <a:r>
                  <a:rPr lang="en-US" altLang="en-US" sz="3000" dirty="0">
                    <a:solidFill>
                      <a:srgbClr val="00A64E"/>
                    </a:solidFill>
                    <a:cs typeface="Times New Roman" panose="02020603050405020304" pitchFamily="18" charset="0"/>
                  </a:rPr>
                  <a:t>the conclusion is </a:t>
                </a:r>
                <a:r>
                  <a:rPr lang="en-US" altLang="en-US" sz="3000" i="1" dirty="0">
                    <a:cs typeface="Times New Roman" panose="02020603050405020304" pitchFamily="18" charset="0"/>
                  </a:rPr>
                  <a:t>q</a:t>
                </a:r>
                <a:r>
                  <a:rPr lang="en-US" altLang="en-US" sz="3000" dirty="0">
                    <a:cs typeface="Times New Roman" panose="02020603050405020304" pitchFamily="18" charset="0"/>
                  </a:rPr>
                  <a:t> </a:t>
                </a:r>
              </a:p>
              <a:p>
                <a:r>
                  <a:rPr lang="en-US" altLang="en-US" dirty="0">
                    <a:cs typeface="Times New Roman" panose="02020603050405020304" pitchFamily="18" charset="0"/>
                  </a:rPr>
                  <a:t>This argument is valid by using </a:t>
                </a:r>
                <a:r>
                  <a:rPr lang="en-US" altLang="en-US" dirty="0">
                    <a:solidFill>
                      <a:srgbClr val="FF0000"/>
                    </a:solidFill>
                    <a:cs typeface="Times New Roman" panose="02020603050405020304" pitchFamily="18" charset="0"/>
                  </a:rPr>
                  <a:t>modus ponens</a:t>
                </a:r>
              </a:p>
              <a:p>
                <a:r>
                  <a:rPr lang="en-US" altLang="en-US" dirty="0">
                    <a:cs typeface="Times New Roman" panose="02020603050405020304" pitchFamily="18" charset="0"/>
                  </a:rPr>
                  <a:t>But one of the premises </a:t>
                </a:r>
                <a14:m>
                  <m:oMath xmlns:m="http://schemas.openxmlformats.org/officeDocument/2006/math">
                    <m:r>
                      <a:rPr lang="en-US" altLang="en-US">
                        <a:latin typeface="Cambria Math" panose="02040503050406030204" pitchFamily="18" charset="0"/>
                      </a:rPr>
                      <m:t>(</m:t>
                    </m:r>
                    <m:rad>
                      <m:radPr>
                        <m:degHide m:val="on"/>
                        <m:ctrlPr>
                          <a:rPr lang="en-US" altLang="en-US" i="1">
                            <a:latin typeface="Cambria Math" panose="02040503050406030204" pitchFamily="18" charset="0"/>
                          </a:rPr>
                        </m:ctrlPr>
                      </m:radPr>
                      <m:deg/>
                      <m:e>
                        <m:r>
                          <a:rPr lang="en-US" altLang="en-US" i="1">
                            <a:latin typeface="Cambria Math" panose="02040503050406030204" pitchFamily="18" charset="0"/>
                          </a:rPr>
                          <m:t>2</m:t>
                        </m:r>
                      </m:e>
                    </m:rad>
                    <m:r>
                      <a:rPr lang="en-US" altLang="en-US" i="1">
                        <a:latin typeface="Cambria Math" panose="02040503050406030204" pitchFamily="18" charset="0"/>
                      </a:rPr>
                      <m:t>&gt;</m:t>
                    </m:r>
                    <m:f>
                      <m:fPr>
                        <m:ctrlPr>
                          <a:rPr lang="en-US" altLang="en-US" i="1">
                            <a:latin typeface="Cambria Math" panose="02040503050406030204" pitchFamily="18" charset="0"/>
                          </a:rPr>
                        </m:ctrlPr>
                      </m:fPr>
                      <m:num>
                        <m:r>
                          <a:rPr lang="en-US" altLang="en-US" i="1">
                            <a:latin typeface="Cambria Math" panose="02040503050406030204" pitchFamily="18" charset="0"/>
                          </a:rPr>
                          <m:t>3</m:t>
                        </m:r>
                      </m:num>
                      <m:den>
                        <m:r>
                          <a:rPr lang="en-US" altLang="en-US" i="1">
                            <a:latin typeface="Cambria Math" panose="02040503050406030204" pitchFamily="18" charset="0"/>
                          </a:rPr>
                          <m:t>2</m:t>
                        </m:r>
                      </m:den>
                    </m:f>
                  </m:oMath>
                </a14:m>
                <a:r>
                  <a:rPr lang="en-US" altLang="en-US" dirty="0">
                    <a:cs typeface="Times New Roman" panose="02020603050405020304" pitchFamily="18" charset="0"/>
                  </a:rPr>
                  <a:t>) is false, consequently we cannot conclude that the conclusion is true</a:t>
                </a:r>
              </a:p>
              <a:p>
                <a:r>
                  <a:rPr lang="en-US" altLang="en-US" dirty="0">
                    <a:cs typeface="Times New Roman" panose="02020603050405020304" pitchFamily="18" charset="0"/>
                  </a:rPr>
                  <a:t>The conclusion is false.</a:t>
                </a:r>
                <a:endParaRPr lang="en-US" dirty="0"/>
              </a:p>
            </p:txBody>
          </p:sp>
        </mc:Choice>
        <mc:Fallback xmlns="">
          <p:sp>
            <p:nvSpPr>
              <p:cNvPr id="3" name="Content Placeholder 2">
                <a:extLst>
                  <a:ext uri="{FF2B5EF4-FFF2-40B4-BE49-F238E27FC236}">
                    <a16:creationId xmlns:a16="http://schemas.microsoft.com/office/drawing/2014/main" id="{9E29ABCC-9E27-426B-A4EF-3177F89EDD07}"/>
                  </a:ext>
                </a:extLst>
              </p:cNvPr>
              <p:cNvSpPr>
                <a:spLocks noGrp="1" noRot="1" noChangeAspect="1" noMove="1" noResize="1" noEditPoints="1" noAdjustHandles="1" noChangeArrowheads="1" noChangeShapeType="1" noTextEdit="1"/>
              </p:cNvSpPr>
              <p:nvPr>
                <p:ph idx="1"/>
              </p:nvPr>
            </p:nvSpPr>
            <p:spPr>
              <a:blipFill>
                <a:blip r:embed="rId2"/>
                <a:stretch>
                  <a:fillRect l="-1000" t="-339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F7BB4C1-36F4-40F5-8365-CABDDA39F6B8}"/>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3FFE1145-9876-4E60-B543-2ECE1770C871}"/>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DCD29C6C-C467-40BB-9E50-0F6841DC20F9}"/>
              </a:ext>
            </a:extLst>
          </p:cNvPr>
          <p:cNvSpPr>
            <a:spLocks noGrp="1"/>
          </p:cNvSpPr>
          <p:nvPr>
            <p:ph type="sldNum" sz="quarter" idx="12"/>
          </p:nvPr>
        </p:nvSpPr>
        <p:spPr/>
        <p:txBody>
          <a:bodyPr/>
          <a:lstStyle/>
          <a:p>
            <a:fld id="{75B1DB82-35C9-4076-A5B8-0781B30E89ED}" type="slidenum">
              <a:rPr lang="en-US" smtClean="0"/>
              <a:t>53</a:t>
            </a:fld>
            <a:endParaRPr lang="en-US"/>
          </a:p>
        </p:txBody>
      </p:sp>
      <p:sp>
        <p:nvSpPr>
          <p:cNvPr id="9" name="Rectangle 8">
            <a:extLst>
              <a:ext uri="{FF2B5EF4-FFF2-40B4-BE49-F238E27FC236}">
                <a16:creationId xmlns:a16="http://schemas.microsoft.com/office/drawing/2014/main" id="{402423C2-82BB-427C-A0A5-077B99320161}"/>
              </a:ext>
            </a:extLst>
          </p:cNvPr>
          <p:cNvSpPr/>
          <p:nvPr/>
        </p:nvSpPr>
        <p:spPr>
          <a:xfrm>
            <a:off x="9577073" y="3182607"/>
            <a:ext cx="1528195" cy="923843"/>
          </a:xfrm>
          <a:prstGeom prst="rect">
            <a:avLst/>
          </a:prstGeom>
          <a:solidFill>
            <a:schemeClr val="accent4">
              <a:lumMod val="60000"/>
              <a:lumOff val="40000"/>
            </a:schemeClr>
          </a:solidFill>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351" i="1">
                <a:solidFill>
                  <a:schemeClr val="tx1"/>
                </a:solidFill>
                <a:latin typeface="Cambria" panose="02040503050406030204" pitchFamily="18" charset="0"/>
              </a:rPr>
              <a:t>p </a:t>
            </a:r>
            <a:r>
              <a:rPr lang="en-US" sz="1351">
                <a:solidFill>
                  <a:schemeClr val="tx1"/>
                </a:solidFill>
                <a:latin typeface="Cambria" panose="02040503050406030204" pitchFamily="18" charset="0"/>
              </a:rPr>
              <a:t>→ </a:t>
            </a:r>
            <a:r>
              <a:rPr lang="en-US" sz="1351" i="1">
                <a:solidFill>
                  <a:schemeClr val="tx1"/>
                </a:solidFill>
                <a:latin typeface="Cambria" panose="02040503050406030204" pitchFamily="18" charset="0"/>
              </a:rPr>
              <a:t>q</a:t>
            </a:r>
          </a:p>
          <a:p>
            <a:r>
              <a:rPr lang="en-US" sz="1351" i="1">
                <a:solidFill>
                  <a:schemeClr val="tx1"/>
                </a:solidFill>
                <a:latin typeface="Cambria" panose="02040503050406030204" pitchFamily="18" charset="0"/>
              </a:rPr>
              <a:t>p </a:t>
            </a:r>
          </a:p>
          <a:p>
            <a:r>
              <a:rPr lang="en-US" sz="1351" i="1">
                <a:solidFill>
                  <a:schemeClr val="tx1"/>
                </a:solidFill>
                <a:latin typeface="Cambria" panose="02040503050406030204" pitchFamily="18" charset="0"/>
              </a:rPr>
              <a:t>______       </a:t>
            </a:r>
          </a:p>
          <a:p>
            <a:r>
              <a:rPr lang="en-US" sz="1351">
                <a:solidFill>
                  <a:schemeClr val="tx1"/>
                </a:solidFill>
                <a:latin typeface="Cambria" panose="02040503050406030204" pitchFamily="18" charset="0"/>
              </a:rPr>
              <a:t>∴ </a:t>
            </a:r>
            <a:r>
              <a:rPr lang="en-US" sz="1351" i="1">
                <a:solidFill>
                  <a:schemeClr val="tx1"/>
                </a:solidFill>
                <a:latin typeface="Cambria" panose="02040503050406030204" pitchFamily="18" charset="0"/>
              </a:rPr>
              <a:t>q</a:t>
            </a:r>
          </a:p>
        </p:txBody>
      </p:sp>
      <p:cxnSp>
        <p:nvCxnSpPr>
          <p:cNvPr id="10" name="Straight Connector 9">
            <a:extLst>
              <a:ext uri="{FF2B5EF4-FFF2-40B4-BE49-F238E27FC236}">
                <a16:creationId xmlns:a16="http://schemas.microsoft.com/office/drawing/2014/main" id="{4CDDCED5-4351-4FEE-8B0C-3BE7A39F73A8}"/>
              </a:ext>
            </a:extLst>
          </p:cNvPr>
          <p:cNvCxnSpPr/>
          <p:nvPr/>
        </p:nvCxnSpPr>
        <p:spPr>
          <a:xfrm>
            <a:off x="4620699" y="1798164"/>
            <a:ext cx="3429000" cy="0"/>
          </a:xfrm>
          <a:prstGeom prst="line">
            <a:avLst/>
          </a:prstGeom>
          <a:ln w="50800" cmpd="sng">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62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A66D8-8B8E-46E7-8509-67E3D72F1121}"/>
              </a:ext>
            </a:extLst>
          </p:cNvPr>
          <p:cNvSpPr>
            <a:spLocks noGrp="1"/>
          </p:cNvSpPr>
          <p:nvPr>
            <p:ph type="title"/>
          </p:nvPr>
        </p:nvSpPr>
        <p:spPr/>
        <p:txBody>
          <a:bodyPr>
            <a:normAutofit fontScale="90000"/>
          </a:bodyPr>
          <a:lstStyle/>
          <a:p>
            <a:r>
              <a:rPr lang="en-US" altLang="en-US"/>
              <a:t>Rules of Inference</a:t>
            </a:r>
            <a:endParaRPr lang="en-US"/>
          </a:p>
        </p:txBody>
      </p:sp>
      <p:sp>
        <p:nvSpPr>
          <p:cNvPr id="3" name="Content Placeholder 2">
            <a:extLst>
              <a:ext uri="{FF2B5EF4-FFF2-40B4-BE49-F238E27FC236}">
                <a16:creationId xmlns:a16="http://schemas.microsoft.com/office/drawing/2014/main" id="{7CF08959-C30D-481C-A4BD-C226A6F00CA2}"/>
              </a:ext>
            </a:extLst>
          </p:cNvPr>
          <p:cNvSpPr>
            <a:spLocks noGrp="1"/>
          </p:cNvSpPr>
          <p:nvPr>
            <p:ph idx="1"/>
          </p:nvPr>
        </p:nvSpPr>
        <p:spPr/>
        <p:txBody>
          <a:bodyPr/>
          <a:lstStyle/>
          <a:p>
            <a:r>
              <a:rPr lang="en-US" altLang="en-US" dirty="0"/>
              <a:t>Means to draw conclusions from other assertions</a:t>
            </a:r>
          </a:p>
          <a:p>
            <a:r>
              <a:rPr lang="en-US" altLang="en-US" dirty="0"/>
              <a:t>Rules of inference provide justification of steps used to show that a conclusion follows from a set of hypotheses (premises)</a:t>
            </a:r>
          </a:p>
          <a:p>
            <a:r>
              <a:rPr lang="en-US" altLang="en-US" dirty="0"/>
              <a:t>The next several slides illustrate specific rules of inference</a:t>
            </a:r>
          </a:p>
          <a:p>
            <a:endParaRPr lang="en-US" dirty="0"/>
          </a:p>
        </p:txBody>
      </p:sp>
      <p:sp>
        <p:nvSpPr>
          <p:cNvPr id="4" name="Date Placeholder 3">
            <a:extLst>
              <a:ext uri="{FF2B5EF4-FFF2-40B4-BE49-F238E27FC236}">
                <a16:creationId xmlns:a16="http://schemas.microsoft.com/office/drawing/2014/main" id="{3FFEA3B2-CC00-4C61-A7EE-14860A3555DD}"/>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2F8816F6-322C-4D0C-990F-5B9D4D72406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4BC7B71B-E98A-4AD7-905B-361C9A10D27B}"/>
              </a:ext>
            </a:extLst>
          </p:cNvPr>
          <p:cNvSpPr>
            <a:spLocks noGrp="1"/>
          </p:cNvSpPr>
          <p:nvPr>
            <p:ph type="sldNum" sz="quarter" idx="12"/>
          </p:nvPr>
        </p:nvSpPr>
        <p:spPr/>
        <p:txBody>
          <a:bodyPr/>
          <a:lstStyle/>
          <a:p>
            <a:fld id="{75B1DB82-35C9-4076-A5B8-0781B30E89ED}" type="slidenum">
              <a:rPr lang="en-US" smtClean="0"/>
              <a:t>54</a:t>
            </a:fld>
            <a:endParaRPr lang="en-US"/>
          </a:p>
        </p:txBody>
      </p:sp>
    </p:spTree>
    <p:extLst>
      <p:ext uri="{BB962C8B-B14F-4D97-AF65-F5344CB8AC3E}">
        <p14:creationId xmlns:p14="http://schemas.microsoft.com/office/powerpoint/2010/main" val="3842092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7295-975C-45B3-91E7-D5458773FE83}"/>
              </a:ext>
            </a:extLst>
          </p:cNvPr>
          <p:cNvSpPr>
            <a:spLocks noGrp="1"/>
          </p:cNvSpPr>
          <p:nvPr>
            <p:ph type="title"/>
          </p:nvPr>
        </p:nvSpPr>
        <p:spPr/>
        <p:txBody>
          <a:bodyPr>
            <a:normAutofit fontScale="90000"/>
          </a:bodyPr>
          <a:lstStyle/>
          <a:p>
            <a:r>
              <a:rPr lang="en-US" altLang="en-US" dirty="0">
                <a:latin typeface="Cambria" panose="02040503050406030204" pitchFamily="18" charset="0"/>
              </a:rPr>
              <a:t>Addition</a:t>
            </a:r>
            <a:endParaRPr lang="en-US" dirty="0"/>
          </a:p>
        </p:txBody>
      </p:sp>
      <p:sp>
        <p:nvSpPr>
          <p:cNvPr id="4" name="Date Placeholder 3">
            <a:extLst>
              <a:ext uri="{FF2B5EF4-FFF2-40B4-BE49-F238E27FC236}">
                <a16:creationId xmlns:a16="http://schemas.microsoft.com/office/drawing/2014/main" id="{B591BB4C-7B7E-4EB8-BA9C-0572B7D6FAA7}"/>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2F70176E-EC9C-4459-AAD4-40A4A333EE1E}"/>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29E78B29-A209-44D8-BEE0-884F8076D3F2}"/>
              </a:ext>
            </a:extLst>
          </p:cNvPr>
          <p:cNvSpPr>
            <a:spLocks noGrp="1"/>
          </p:cNvSpPr>
          <p:nvPr>
            <p:ph type="sldNum" sz="quarter" idx="12"/>
          </p:nvPr>
        </p:nvSpPr>
        <p:spPr/>
        <p:txBody>
          <a:bodyPr/>
          <a:lstStyle/>
          <a:p>
            <a:fld id="{75B1DB82-35C9-4076-A5B8-0781B30E89ED}" type="slidenum">
              <a:rPr lang="en-US" smtClean="0"/>
              <a:t>55</a:t>
            </a:fld>
            <a:endParaRPr lang="en-US"/>
          </a:p>
        </p:txBody>
      </p:sp>
      <p:sp>
        <p:nvSpPr>
          <p:cNvPr id="7" name="Text Box 3">
            <a:extLst>
              <a:ext uri="{FF2B5EF4-FFF2-40B4-BE49-F238E27FC236}">
                <a16:creationId xmlns:a16="http://schemas.microsoft.com/office/drawing/2014/main" id="{E842B351-7645-473D-A118-4C59F778B27E}"/>
              </a:ext>
            </a:extLst>
          </p:cNvPr>
          <p:cNvSpPr txBox="1">
            <a:spLocks noChangeArrowheads="1"/>
          </p:cNvSpPr>
          <p:nvPr/>
        </p:nvSpPr>
        <p:spPr bwMode="auto">
          <a:xfrm>
            <a:off x="2209800" y="2035176"/>
            <a:ext cx="813876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A true hypothesis implies that the disjunction</a:t>
            </a:r>
          </a:p>
          <a:p>
            <a:r>
              <a:rPr lang="en-US" altLang="en-US" sz="3200">
                <a:latin typeface="Cambria" panose="02040503050406030204" pitchFamily="18" charset="0"/>
              </a:rPr>
              <a:t>of that hypothesis and another are true</a:t>
            </a:r>
          </a:p>
        </p:txBody>
      </p:sp>
      <p:sp>
        <p:nvSpPr>
          <p:cNvPr id="8" name="Text Box 5">
            <a:extLst>
              <a:ext uri="{FF2B5EF4-FFF2-40B4-BE49-F238E27FC236}">
                <a16:creationId xmlns:a16="http://schemas.microsoft.com/office/drawing/2014/main" id="{CC3E7780-0B9C-4DCE-9154-769BF44C1D64}"/>
              </a:ext>
            </a:extLst>
          </p:cNvPr>
          <p:cNvSpPr txBox="1">
            <a:spLocks noChangeArrowheads="1"/>
          </p:cNvSpPr>
          <p:nvPr/>
        </p:nvSpPr>
        <p:spPr bwMode="auto">
          <a:xfrm>
            <a:off x="2209801" y="3429000"/>
            <a:ext cx="148630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 </a:t>
            </a:r>
            <a:r>
              <a:rPr lang="en-US" altLang="en-US" sz="3200" i="1">
                <a:latin typeface="Cambria" panose="02040503050406030204" pitchFamily="18" charset="0"/>
              </a:rPr>
              <a:t>p</a:t>
            </a:r>
          </a:p>
          <a:p>
            <a:r>
              <a:rPr lang="en-US" altLang="en-US" sz="3200">
                <a:latin typeface="Cambria" panose="02040503050406030204" pitchFamily="18" charset="0"/>
              </a:rPr>
              <a:t>_______</a:t>
            </a:r>
          </a:p>
          <a:p>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endParaRPr lang="en-US" altLang="en-US" sz="3200" i="1">
              <a:latin typeface="Cambria" panose="02040503050406030204" pitchFamily="18" charset="0"/>
            </a:endParaRPr>
          </a:p>
        </p:txBody>
      </p:sp>
      <p:sp>
        <p:nvSpPr>
          <p:cNvPr id="9" name="Text Box 10">
            <a:extLst>
              <a:ext uri="{FF2B5EF4-FFF2-40B4-BE49-F238E27FC236}">
                <a16:creationId xmlns:a16="http://schemas.microsoft.com/office/drawing/2014/main" id="{6ECF46DC-D594-4D61-BA4E-C6352849E95C}"/>
              </a:ext>
            </a:extLst>
          </p:cNvPr>
          <p:cNvSpPr txBox="1">
            <a:spLocks noChangeArrowheads="1"/>
          </p:cNvSpPr>
          <p:nvPr/>
        </p:nvSpPr>
        <p:spPr bwMode="auto">
          <a:xfrm>
            <a:off x="5638801" y="4154861"/>
            <a:ext cx="30844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    or  </a:t>
            </a:r>
            <a:r>
              <a:rPr lang="en-US" altLang="en-US" sz="3200" i="1">
                <a:latin typeface="Cambria" panose="02040503050406030204" pitchFamily="18" charset="0"/>
              </a:rPr>
              <a:t>p</a:t>
            </a:r>
            <a:r>
              <a:rPr lang="en-US" altLang="en-US" sz="3200">
                <a:latin typeface="Cambria" panose="02040503050406030204" pitchFamily="18" charset="0"/>
              </a:rPr>
              <a:t> </a:t>
            </a:r>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r>
              <a:rPr lang="en-US" altLang="en-US" sz="3200">
                <a:latin typeface="Cambria" panose="02040503050406030204" pitchFamily="18" charset="0"/>
                <a:sym typeface="Symbol" panose="05050102010706020507" pitchFamily="18" charset="2"/>
              </a:rPr>
              <a:t>)</a:t>
            </a:r>
            <a:endParaRPr lang="en-US" altLang="en-US" sz="3200">
              <a:latin typeface="Cambria" panose="02040503050406030204" pitchFamily="18" charset="0"/>
            </a:endParaRPr>
          </a:p>
        </p:txBody>
      </p:sp>
    </p:spTree>
    <p:extLst>
      <p:ext uri="{BB962C8B-B14F-4D97-AF65-F5344CB8AC3E}">
        <p14:creationId xmlns:p14="http://schemas.microsoft.com/office/powerpoint/2010/main" val="149657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par>
                          <p:cTn id="8" fill="hold">
                            <p:stCondLst>
                              <p:cond delay="500"/>
                            </p:stCondLst>
                            <p:childTnLst>
                              <p:par>
                                <p:cTn id="9" presetID="5" presetClass="entr" presetSubtype="1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par>
                          <p:cTn id="12" fill="hold">
                            <p:stCondLst>
                              <p:cond delay="1500"/>
                            </p:stCondLst>
                            <p:childTnLst>
                              <p:par>
                                <p:cTn id="13" presetID="5" presetClass="entr" presetSubtype="1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checkerboard(across)">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C38F-B4A1-4CA9-9FB6-9770B414F45D}"/>
              </a:ext>
            </a:extLst>
          </p:cNvPr>
          <p:cNvSpPr>
            <a:spLocks noGrp="1"/>
          </p:cNvSpPr>
          <p:nvPr>
            <p:ph type="title"/>
          </p:nvPr>
        </p:nvSpPr>
        <p:spPr/>
        <p:txBody>
          <a:bodyPr>
            <a:normAutofit fontScale="90000"/>
          </a:bodyPr>
          <a:lstStyle/>
          <a:p>
            <a:r>
              <a:rPr lang="en-US" altLang="en-US" dirty="0">
                <a:latin typeface="Cambria" panose="02040503050406030204" pitchFamily="18" charset="0"/>
              </a:rPr>
              <a:t>Simplification</a:t>
            </a:r>
            <a:endParaRPr lang="en-US" dirty="0"/>
          </a:p>
        </p:txBody>
      </p:sp>
      <p:sp>
        <p:nvSpPr>
          <p:cNvPr id="4" name="Date Placeholder 3">
            <a:extLst>
              <a:ext uri="{FF2B5EF4-FFF2-40B4-BE49-F238E27FC236}">
                <a16:creationId xmlns:a16="http://schemas.microsoft.com/office/drawing/2014/main" id="{084B65C8-DF77-4562-B5F7-C072D0D5D39A}"/>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5E2A0C71-0AE1-4D6F-BE65-B1C3C01906EB}"/>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89333B68-57A7-4CA4-8345-1A925ACDC3A3}"/>
              </a:ext>
            </a:extLst>
          </p:cNvPr>
          <p:cNvSpPr>
            <a:spLocks noGrp="1"/>
          </p:cNvSpPr>
          <p:nvPr>
            <p:ph type="sldNum" sz="quarter" idx="12"/>
          </p:nvPr>
        </p:nvSpPr>
        <p:spPr/>
        <p:txBody>
          <a:bodyPr/>
          <a:lstStyle/>
          <a:p>
            <a:fld id="{75B1DB82-35C9-4076-A5B8-0781B30E89ED}" type="slidenum">
              <a:rPr lang="en-US" smtClean="0"/>
              <a:t>56</a:t>
            </a:fld>
            <a:endParaRPr lang="en-US"/>
          </a:p>
        </p:txBody>
      </p:sp>
      <p:sp>
        <p:nvSpPr>
          <p:cNvPr id="7" name="Text Box 3">
            <a:extLst>
              <a:ext uri="{FF2B5EF4-FFF2-40B4-BE49-F238E27FC236}">
                <a16:creationId xmlns:a16="http://schemas.microsoft.com/office/drawing/2014/main" id="{CD7E8482-8FDC-4DB4-BAB4-558BB6A1742C}"/>
              </a:ext>
            </a:extLst>
          </p:cNvPr>
          <p:cNvSpPr txBox="1">
            <a:spLocks noChangeArrowheads="1"/>
          </p:cNvSpPr>
          <p:nvPr/>
        </p:nvSpPr>
        <p:spPr bwMode="auto">
          <a:xfrm>
            <a:off x="2221585" y="1874839"/>
            <a:ext cx="76149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dirty="0">
                <a:latin typeface="Cambria" panose="02040503050406030204" pitchFamily="18" charset="0"/>
              </a:rPr>
              <a:t>If the conjunction of 2 propositions is true,</a:t>
            </a:r>
          </a:p>
          <a:p>
            <a:r>
              <a:rPr lang="en-US" altLang="en-US" sz="3200" dirty="0">
                <a:latin typeface="Cambria" panose="02040503050406030204" pitchFamily="18" charset="0"/>
              </a:rPr>
              <a:t>then each proposition is true</a:t>
            </a:r>
          </a:p>
        </p:txBody>
      </p:sp>
      <p:sp>
        <p:nvSpPr>
          <p:cNvPr id="8" name="Text Box 4">
            <a:extLst>
              <a:ext uri="{FF2B5EF4-FFF2-40B4-BE49-F238E27FC236}">
                <a16:creationId xmlns:a16="http://schemas.microsoft.com/office/drawing/2014/main" id="{527237B8-FC97-43F3-9943-51F8F9CBBC93}"/>
              </a:ext>
            </a:extLst>
          </p:cNvPr>
          <p:cNvSpPr txBox="1">
            <a:spLocks noChangeArrowheads="1"/>
          </p:cNvSpPr>
          <p:nvPr/>
        </p:nvSpPr>
        <p:spPr bwMode="auto">
          <a:xfrm>
            <a:off x="2286002" y="3421064"/>
            <a:ext cx="12506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i="1">
                <a:latin typeface="Cambria" panose="02040503050406030204" pitchFamily="18" charset="0"/>
              </a:rPr>
              <a:t>p</a:t>
            </a:r>
            <a:r>
              <a:rPr lang="en-US" altLang="en-US" sz="3200">
                <a:latin typeface="Cambria" panose="02040503050406030204" pitchFamily="18" charset="0"/>
              </a:rPr>
              <a:t> </a:t>
            </a:r>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q</a:t>
            </a:r>
            <a:endParaRPr lang="en-US" altLang="en-US" sz="3200" i="1">
              <a:latin typeface="Cambria" panose="02040503050406030204" pitchFamily="18" charset="0"/>
            </a:endParaRPr>
          </a:p>
          <a:p>
            <a:r>
              <a:rPr lang="en-US" altLang="en-US" sz="3200">
                <a:latin typeface="Cambria" panose="02040503050406030204" pitchFamily="18" charset="0"/>
              </a:rPr>
              <a:t>_______</a:t>
            </a:r>
          </a:p>
          <a:p>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p</a:t>
            </a:r>
            <a:endParaRPr lang="en-US" altLang="en-US" sz="3200" i="1">
              <a:latin typeface="Cambria" panose="02040503050406030204" pitchFamily="18" charset="0"/>
            </a:endParaRPr>
          </a:p>
        </p:txBody>
      </p:sp>
      <p:sp>
        <p:nvSpPr>
          <p:cNvPr id="9" name="Text Box 5">
            <a:extLst>
              <a:ext uri="{FF2B5EF4-FFF2-40B4-BE49-F238E27FC236}">
                <a16:creationId xmlns:a16="http://schemas.microsoft.com/office/drawing/2014/main" id="{4A9EE11D-1403-4A22-8B42-06A58CF9AFC9}"/>
              </a:ext>
            </a:extLst>
          </p:cNvPr>
          <p:cNvSpPr txBox="1">
            <a:spLocks noChangeArrowheads="1"/>
          </p:cNvSpPr>
          <p:nvPr/>
        </p:nvSpPr>
        <p:spPr bwMode="auto">
          <a:xfrm>
            <a:off x="5029201" y="3886201"/>
            <a:ext cx="28151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or   (</a:t>
            </a:r>
            <a:r>
              <a:rPr lang="en-US" altLang="en-US" sz="3200" i="1">
                <a:latin typeface="Cambria" panose="02040503050406030204" pitchFamily="18" charset="0"/>
              </a:rPr>
              <a:t>p</a:t>
            </a:r>
            <a:r>
              <a:rPr lang="en-US" altLang="en-US" sz="3200">
                <a:latin typeface="Cambria" panose="02040503050406030204" pitchFamily="18" charset="0"/>
              </a:rPr>
              <a:t> </a:t>
            </a:r>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q</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p</a:t>
            </a:r>
            <a:endParaRPr lang="en-US" altLang="en-US" sz="3200" i="1">
              <a:latin typeface="Cambria" panose="02040503050406030204" pitchFamily="18" charset="0"/>
            </a:endParaRPr>
          </a:p>
        </p:txBody>
      </p:sp>
      <p:sp>
        <p:nvSpPr>
          <p:cNvPr id="10" name="Text Box 5">
            <a:extLst>
              <a:ext uri="{FF2B5EF4-FFF2-40B4-BE49-F238E27FC236}">
                <a16:creationId xmlns:a16="http://schemas.microsoft.com/office/drawing/2014/main" id="{53820C2C-624F-48C7-B80C-47B69F2E7ECA}"/>
              </a:ext>
            </a:extLst>
          </p:cNvPr>
          <p:cNvSpPr txBox="1">
            <a:spLocks noChangeArrowheads="1"/>
          </p:cNvSpPr>
          <p:nvPr/>
        </p:nvSpPr>
        <p:spPr bwMode="auto">
          <a:xfrm>
            <a:off x="5029202" y="4990725"/>
            <a:ext cx="3098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solidFill>
                  <a:srgbClr val="00A64E"/>
                </a:solidFill>
                <a:latin typeface="Cambria" panose="02040503050406030204" pitchFamily="18" charset="0"/>
              </a:rPr>
              <a:t>Also  (</a:t>
            </a:r>
            <a:r>
              <a:rPr lang="en-US" altLang="en-US" sz="3200" i="1">
                <a:solidFill>
                  <a:srgbClr val="00A64E"/>
                </a:solidFill>
                <a:latin typeface="Cambria" panose="02040503050406030204" pitchFamily="18" charset="0"/>
              </a:rPr>
              <a:t>p</a:t>
            </a:r>
            <a:r>
              <a:rPr lang="en-US" altLang="en-US" sz="3200">
                <a:solidFill>
                  <a:srgbClr val="00A64E"/>
                </a:solidFill>
                <a:latin typeface="Cambria" panose="02040503050406030204" pitchFamily="18" charset="0"/>
              </a:rPr>
              <a:t> </a:t>
            </a:r>
            <a:r>
              <a:rPr lang="en-US" altLang="en-US" sz="3200">
                <a:solidFill>
                  <a:srgbClr val="00A64E"/>
                </a:solidFill>
                <a:latin typeface="Cambria" panose="02040503050406030204" pitchFamily="18" charset="0"/>
                <a:sym typeface="Symbol" panose="05050102010706020507" pitchFamily="18" charset="2"/>
              </a:rPr>
              <a:t> </a:t>
            </a:r>
            <a:r>
              <a:rPr lang="en-US" altLang="en-US" sz="3200" i="1">
                <a:solidFill>
                  <a:srgbClr val="00A64E"/>
                </a:solidFill>
                <a:latin typeface="Cambria" panose="02040503050406030204" pitchFamily="18" charset="0"/>
                <a:sym typeface="Symbol" panose="05050102010706020507" pitchFamily="18" charset="2"/>
              </a:rPr>
              <a:t>q</a:t>
            </a:r>
            <a:r>
              <a:rPr lang="en-US" altLang="en-US" sz="3200">
                <a:solidFill>
                  <a:srgbClr val="00A64E"/>
                </a:solidFill>
                <a:latin typeface="Cambria" panose="02040503050406030204" pitchFamily="18" charset="0"/>
                <a:sym typeface="Symbol" panose="05050102010706020507" pitchFamily="18" charset="2"/>
              </a:rPr>
              <a:t>)  </a:t>
            </a:r>
            <a:r>
              <a:rPr lang="en-US" altLang="en-US" sz="3200" i="1">
                <a:solidFill>
                  <a:srgbClr val="00A64E"/>
                </a:solidFill>
                <a:latin typeface="Cambria" panose="02040503050406030204" pitchFamily="18" charset="0"/>
                <a:sym typeface="Symbol" panose="05050102010706020507" pitchFamily="18" charset="2"/>
              </a:rPr>
              <a:t>q</a:t>
            </a:r>
            <a:endParaRPr lang="en-US" altLang="en-US" sz="3200" i="1">
              <a:solidFill>
                <a:srgbClr val="00A64E"/>
              </a:solidFill>
              <a:latin typeface="Cambria" panose="02040503050406030204" pitchFamily="18" charset="0"/>
            </a:endParaRPr>
          </a:p>
        </p:txBody>
      </p:sp>
      <p:sp>
        <p:nvSpPr>
          <p:cNvPr id="11" name="Text Box 4">
            <a:extLst>
              <a:ext uri="{FF2B5EF4-FFF2-40B4-BE49-F238E27FC236}">
                <a16:creationId xmlns:a16="http://schemas.microsoft.com/office/drawing/2014/main" id="{23CA15EA-07BE-4AFA-94F6-303F91C3A68F}"/>
              </a:ext>
            </a:extLst>
          </p:cNvPr>
          <p:cNvSpPr txBox="1">
            <a:spLocks noChangeArrowheads="1"/>
          </p:cNvSpPr>
          <p:nvPr/>
        </p:nvSpPr>
        <p:spPr bwMode="auto">
          <a:xfrm>
            <a:off x="3657602" y="4648200"/>
            <a:ext cx="12506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i="1">
                <a:solidFill>
                  <a:srgbClr val="00A64E"/>
                </a:solidFill>
                <a:latin typeface="Cambria" panose="02040503050406030204" pitchFamily="18" charset="0"/>
              </a:rPr>
              <a:t>p</a:t>
            </a:r>
            <a:r>
              <a:rPr lang="en-US" altLang="en-US" sz="3200">
                <a:solidFill>
                  <a:srgbClr val="00A64E"/>
                </a:solidFill>
                <a:latin typeface="Cambria" panose="02040503050406030204" pitchFamily="18" charset="0"/>
              </a:rPr>
              <a:t> </a:t>
            </a:r>
            <a:r>
              <a:rPr lang="en-US" altLang="en-US" sz="3200">
                <a:solidFill>
                  <a:srgbClr val="00A64E"/>
                </a:solidFill>
                <a:latin typeface="Cambria" panose="02040503050406030204" pitchFamily="18" charset="0"/>
                <a:sym typeface="Symbol" panose="05050102010706020507" pitchFamily="18" charset="2"/>
              </a:rPr>
              <a:t> </a:t>
            </a:r>
            <a:r>
              <a:rPr lang="en-US" altLang="en-US" sz="3200" i="1">
                <a:solidFill>
                  <a:srgbClr val="00A64E"/>
                </a:solidFill>
                <a:latin typeface="Cambria" panose="02040503050406030204" pitchFamily="18" charset="0"/>
                <a:sym typeface="Symbol" panose="05050102010706020507" pitchFamily="18" charset="2"/>
              </a:rPr>
              <a:t>q</a:t>
            </a:r>
            <a:endParaRPr lang="en-US" altLang="en-US" sz="3200" i="1">
              <a:solidFill>
                <a:srgbClr val="00A64E"/>
              </a:solidFill>
              <a:latin typeface="Cambria" panose="02040503050406030204" pitchFamily="18" charset="0"/>
            </a:endParaRPr>
          </a:p>
          <a:p>
            <a:r>
              <a:rPr lang="en-US" altLang="en-US" sz="3200">
                <a:solidFill>
                  <a:srgbClr val="00A64E"/>
                </a:solidFill>
                <a:latin typeface="Cambria" panose="02040503050406030204" pitchFamily="18" charset="0"/>
              </a:rPr>
              <a:t>_______</a:t>
            </a:r>
          </a:p>
          <a:p>
            <a:r>
              <a:rPr lang="en-US" altLang="en-US" sz="3200">
                <a:solidFill>
                  <a:srgbClr val="00A64E"/>
                </a:solidFill>
                <a:latin typeface="Cambria" panose="02040503050406030204" pitchFamily="18" charset="0"/>
                <a:sym typeface="Symbol" panose="05050102010706020507" pitchFamily="18" charset="2"/>
              </a:rPr>
              <a:t> </a:t>
            </a:r>
            <a:r>
              <a:rPr lang="en-US" altLang="en-US" sz="3200" i="1">
                <a:solidFill>
                  <a:srgbClr val="00A64E"/>
                </a:solidFill>
                <a:latin typeface="Cambria" panose="02040503050406030204" pitchFamily="18" charset="0"/>
                <a:sym typeface="Symbol" panose="05050102010706020507" pitchFamily="18" charset="2"/>
              </a:rPr>
              <a:t>q</a:t>
            </a:r>
            <a:endParaRPr lang="en-US" altLang="en-US" sz="3200" i="1">
              <a:solidFill>
                <a:srgbClr val="00A64E"/>
              </a:solidFill>
              <a:latin typeface="Cambria" panose="02040503050406030204" pitchFamily="18" charset="0"/>
            </a:endParaRPr>
          </a:p>
        </p:txBody>
      </p:sp>
    </p:spTree>
    <p:extLst>
      <p:ext uri="{BB962C8B-B14F-4D97-AF65-F5344CB8AC3E}">
        <p14:creationId xmlns:p14="http://schemas.microsoft.com/office/powerpoint/2010/main" val="32799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par>
                          <p:cTn id="8" fill="hold">
                            <p:stCondLst>
                              <p:cond delay="500"/>
                            </p:stCondLst>
                            <p:childTnLst>
                              <p:par>
                                <p:cTn id="9" presetID="5" presetClass="entr" presetSubtype="1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par>
                          <p:cTn id="12" fill="hold">
                            <p:stCondLst>
                              <p:cond delay="1500"/>
                            </p:stCondLst>
                            <p:childTnLst>
                              <p:par>
                                <p:cTn id="13" presetID="5" presetClass="entr" presetSubtype="1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checkerboard(across)">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heckerboard(across)">
                                      <p:cBhvr>
                                        <p:cTn id="20" dur="500"/>
                                        <p:tgtEl>
                                          <p:spTgt spid="10"/>
                                        </p:tgtEl>
                                      </p:cBhvr>
                                    </p:animEffect>
                                  </p:childTnLst>
                                </p:cTn>
                              </p:par>
                            </p:childTnLst>
                          </p:cTn>
                        </p:par>
                        <p:par>
                          <p:cTn id="21" fill="hold">
                            <p:stCondLst>
                              <p:cond delay="500"/>
                            </p:stCondLst>
                            <p:childTnLst>
                              <p:par>
                                <p:cTn id="22" presetID="5" presetClass="entr" presetSubtype="10" fill="hold" grpId="0" nodeType="afterEffect">
                                  <p:stCondLst>
                                    <p:cond delay="500"/>
                                  </p:stCondLst>
                                  <p:childTnLst>
                                    <p:set>
                                      <p:cBhvr>
                                        <p:cTn id="23" dur="1" fill="hold">
                                          <p:stCondLst>
                                            <p:cond delay="0"/>
                                          </p:stCondLst>
                                        </p:cTn>
                                        <p:tgtEl>
                                          <p:spTgt spid="11"/>
                                        </p:tgtEl>
                                        <p:attrNameLst>
                                          <p:attrName>style.visibility</p:attrName>
                                        </p:attrNameLst>
                                      </p:cBhvr>
                                      <p:to>
                                        <p:strVal val="visible"/>
                                      </p:to>
                                    </p:set>
                                    <p:animEffect transition="in" filter="checkerboard(across)">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utoUpdateAnimBg="0"/>
      <p:bldP spid="10" grpId="0" autoUpdateAnimBg="0"/>
      <p:bldP spid="11"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D34BE-654D-43F2-8B53-EAE6F25B700D}"/>
              </a:ext>
            </a:extLst>
          </p:cNvPr>
          <p:cNvSpPr>
            <a:spLocks noGrp="1"/>
          </p:cNvSpPr>
          <p:nvPr>
            <p:ph type="title"/>
          </p:nvPr>
        </p:nvSpPr>
        <p:spPr/>
        <p:txBody>
          <a:bodyPr>
            <a:normAutofit fontScale="90000"/>
          </a:bodyPr>
          <a:lstStyle/>
          <a:p>
            <a:r>
              <a:rPr lang="en-US" altLang="en-US">
                <a:latin typeface="Cambria" panose="02040503050406030204" pitchFamily="18" charset="0"/>
              </a:rPr>
              <a:t>Conjunction</a:t>
            </a:r>
            <a:endParaRPr lang="en-US"/>
          </a:p>
        </p:txBody>
      </p:sp>
      <p:sp>
        <p:nvSpPr>
          <p:cNvPr id="4" name="Date Placeholder 3">
            <a:extLst>
              <a:ext uri="{FF2B5EF4-FFF2-40B4-BE49-F238E27FC236}">
                <a16:creationId xmlns:a16="http://schemas.microsoft.com/office/drawing/2014/main" id="{F3BDA39A-70B5-4F95-9F9A-6A1FE9CBC18B}"/>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F2B69E10-2D19-4708-9A34-2F300E7AF913}"/>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6B3FB445-4ECB-4C01-B119-7B0C7CADD596}"/>
              </a:ext>
            </a:extLst>
          </p:cNvPr>
          <p:cNvSpPr>
            <a:spLocks noGrp="1"/>
          </p:cNvSpPr>
          <p:nvPr>
            <p:ph type="sldNum" sz="quarter" idx="12"/>
          </p:nvPr>
        </p:nvSpPr>
        <p:spPr/>
        <p:txBody>
          <a:bodyPr/>
          <a:lstStyle/>
          <a:p>
            <a:fld id="{75B1DB82-35C9-4076-A5B8-0781B30E89ED}" type="slidenum">
              <a:rPr lang="en-US" smtClean="0"/>
              <a:t>57</a:t>
            </a:fld>
            <a:endParaRPr lang="en-US"/>
          </a:p>
        </p:txBody>
      </p:sp>
      <p:sp>
        <p:nvSpPr>
          <p:cNvPr id="7" name="Text Box 3">
            <a:extLst>
              <a:ext uri="{FF2B5EF4-FFF2-40B4-BE49-F238E27FC236}">
                <a16:creationId xmlns:a16="http://schemas.microsoft.com/office/drawing/2014/main" id="{E15F9F67-4FA5-42EE-87A3-E2058B2BBA50}"/>
              </a:ext>
            </a:extLst>
          </p:cNvPr>
          <p:cNvSpPr txBox="1">
            <a:spLocks noChangeArrowheads="1"/>
          </p:cNvSpPr>
          <p:nvPr/>
        </p:nvSpPr>
        <p:spPr bwMode="auto">
          <a:xfrm>
            <a:off x="2136744" y="1866901"/>
            <a:ext cx="76931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dirty="0">
                <a:latin typeface="Cambria" panose="02040503050406030204" pitchFamily="18" charset="0"/>
              </a:rPr>
              <a:t>    If </a:t>
            </a:r>
            <a:r>
              <a:rPr lang="en-US" altLang="en-US" sz="3200" i="1" dirty="0">
                <a:latin typeface="Cambria" panose="02040503050406030204" pitchFamily="18" charset="0"/>
              </a:rPr>
              <a:t>p</a:t>
            </a:r>
            <a:r>
              <a:rPr lang="en-US" altLang="en-US" sz="3200" dirty="0">
                <a:latin typeface="Cambria" panose="02040503050406030204" pitchFamily="18" charset="0"/>
              </a:rPr>
              <a:t> is true and </a:t>
            </a:r>
            <a:r>
              <a:rPr lang="en-US" altLang="en-US" sz="3200" i="1" dirty="0">
                <a:latin typeface="Cambria" panose="02040503050406030204" pitchFamily="18" charset="0"/>
              </a:rPr>
              <a:t>q</a:t>
            </a:r>
            <a:r>
              <a:rPr lang="en-US" altLang="en-US" sz="3200" dirty="0">
                <a:latin typeface="Cambria" panose="02040503050406030204" pitchFamily="18" charset="0"/>
              </a:rPr>
              <a:t> is true, then </a:t>
            </a:r>
            <a:r>
              <a:rPr lang="en-US" altLang="en-US" sz="3200" i="1" dirty="0">
                <a:latin typeface="Cambria" panose="02040503050406030204" pitchFamily="18" charset="0"/>
              </a:rPr>
              <a:t>p</a:t>
            </a:r>
            <a:r>
              <a:rPr lang="en-US" altLang="en-US" sz="3200" dirty="0">
                <a:latin typeface="Cambria" panose="02040503050406030204" pitchFamily="18" charset="0"/>
              </a:rPr>
              <a:t> </a:t>
            </a:r>
            <a:r>
              <a:rPr lang="en-US" altLang="en-US" sz="3200" dirty="0">
                <a:latin typeface="Cambria" panose="02040503050406030204" pitchFamily="18" charset="0"/>
                <a:sym typeface="Symbol" panose="05050102010706020507" pitchFamily="18" charset="2"/>
              </a:rPr>
              <a:t> </a:t>
            </a:r>
            <a:r>
              <a:rPr lang="en-US" altLang="en-US" sz="3200" i="1" dirty="0">
                <a:latin typeface="Cambria" panose="02040503050406030204" pitchFamily="18" charset="0"/>
                <a:sym typeface="Symbol" panose="05050102010706020507" pitchFamily="18" charset="2"/>
              </a:rPr>
              <a:t>q</a:t>
            </a:r>
            <a:r>
              <a:rPr lang="en-US" altLang="en-US" sz="3200" dirty="0">
                <a:latin typeface="Cambria" panose="02040503050406030204" pitchFamily="18" charset="0"/>
                <a:sym typeface="Symbol" panose="05050102010706020507" pitchFamily="18" charset="2"/>
              </a:rPr>
              <a:t> is true</a:t>
            </a:r>
            <a:endParaRPr lang="en-US" altLang="en-US" sz="3200" dirty="0">
              <a:latin typeface="Cambria" panose="02040503050406030204" pitchFamily="18" charset="0"/>
            </a:endParaRPr>
          </a:p>
        </p:txBody>
      </p:sp>
      <p:sp>
        <p:nvSpPr>
          <p:cNvPr id="8" name="Text Box 4">
            <a:extLst>
              <a:ext uri="{FF2B5EF4-FFF2-40B4-BE49-F238E27FC236}">
                <a16:creationId xmlns:a16="http://schemas.microsoft.com/office/drawing/2014/main" id="{7AE64C12-FEE2-4721-A04C-487CB5844386}"/>
              </a:ext>
            </a:extLst>
          </p:cNvPr>
          <p:cNvSpPr txBox="1">
            <a:spLocks noChangeArrowheads="1"/>
          </p:cNvSpPr>
          <p:nvPr/>
        </p:nvSpPr>
        <p:spPr bwMode="auto">
          <a:xfrm>
            <a:off x="2590801" y="3429002"/>
            <a:ext cx="148630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i="1">
                <a:latin typeface="Cambria" panose="02040503050406030204" pitchFamily="18" charset="0"/>
              </a:rPr>
              <a:t>p</a:t>
            </a:r>
          </a:p>
          <a:p>
            <a:r>
              <a:rPr lang="en-US" altLang="en-US" sz="3200" i="1">
                <a:latin typeface="Cambria" panose="02040503050406030204" pitchFamily="18" charset="0"/>
              </a:rPr>
              <a:t>q</a:t>
            </a:r>
          </a:p>
          <a:p>
            <a:r>
              <a:rPr lang="en-US" altLang="en-US" sz="3200">
                <a:latin typeface="Cambria" panose="02040503050406030204" pitchFamily="18" charset="0"/>
              </a:rPr>
              <a:t>_______</a:t>
            </a:r>
          </a:p>
          <a:p>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p>
        </p:txBody>
      </p:sp>
      <p:sp>
        <p:nvSpPr>
          <p:cNvPr id="9" name="Text Box 5">
            <a:extLst>
              <a:ext uri="{FF2B5EF4-FFF2-40B4-BE49-F238E27FC236}">
                <a16:creationId xmlns:a16="http://schemas.microsoft.com/office/drawing/2014/main" id="{2E125875-87D6-4C0B-A269-48F270A34139}"/>
              </a:ext>
            </a:extLst>
          </p:cNvPr>
          <p:cNvSpPr txBox="1">
            <a:spLocks noChangeArrowheads="1"/>
          </p:cNvSpPr>
          <p:nvPr/>
        </p:nvSpPr>
        <p:spPr bwMode="auto">
          <a:xfrm>
            <a:off x="5029201" y="4114801"/>
            <a:ext cx="42643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 or    ((</a:t>
            </a:r>
            <a:r>
              <a:rPr lang="en-US" altLang="en-US" sz="3200" i="1">
                <a:latin typeface="Cambria" panose="02040503050406030204" pitchFamily="18" charset="0"/>
              </a:rPr>
              <a:t>p</a:t>
            </a:r>
            <a:r>
              <a:rPr lang="en-US" altLang="en-US" sz="3200">
                <a:latin typeface="Cambria" panose="02040503050406030204" pitchFamily="18" charset="0"/>
              </a:rPr>
              <a:t>) </a:t>
            </a:r>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q</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p>
        </p:txBody>
      </p:sp>
    </p:spTree>
    <p:extLst>
      <p:ext uri="{BB962C8B-B14F-4D97-AF65-F5344CB8AC3E}">
        <p14:creationId xmlns:p14="http://schemas.microsoft.com/office/powerpoint/2010/main" val="305403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par>
                          <p:cTn id="8" fill="hold">
                            <p:stCondLst>
                              <p:cond delay="500"/>
                            </p:stCondLst>
                            <p:childTnLst>
                              <p:par>
                                <p:cTn id="9" presetID="5" presetClass="entr" presetSubtype="1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par>
                          <p:cTn id="12" fill="hold">
                            <p:stCondLst>
                              <p:cond delay="1500"/>
                            </p:stCondLst>
                            <p:childTnLst>
                              <p:par>
                                <p:cTn id="13" presetID="5" presetClass="entr" presetSubtype="1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heckerboard(across)">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15C03-E754-4282-A0F7-2471544AFA75}"/>
              </a:ext>
            </a:extLst>
          </p:cNvPr>
          <p:cNvSpPr>
            <a:spLocks noGrp="1"/>
          </p:cNvSpPr>
          <p:nvPr>
            <p:ph type="title"/>
          </p:nvPr>
        </p:nvSpPr>
        <p:spPr/>
        <p:txBody>
          <a:bodyPr>
            <a:normAutofit fontScale="90000"/>
          </a:bodyPr>
          <a:lstStyle/>
          <a:p>
            <a:r>
              <a:rPr lang="en-US" altLang="en-US">
                <a:latin typeface="Cambria" panose="02040503050406030204" pitchFamily="18" charset="0"/>
              </a:rPr>
              <a:t>Modus Ponens</a:t>
            </a:r>
            <a:endParaRPr lang="en-US"/>
          </a:p>
        </p:txBody>
      </p:sp>
      <p:sp>
        <p:nvSpPr>
          <p:cNvPr id="4" name="Date Placeholder 3">
            <a:extLst>
              <a:ext uri="{FF2B5EF4-FFF2-40B4-BE49-F238E27FC236}">
                <a16:creationId xmlns:a16="http://schemas.microsoft.com/office/drawing/2014/main" id="{A5653C12-4462-41C9-9F38-4398697E10B5}"/>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5311D3EC-5612-44D3-B0E6-30A9CE8421E1}"/>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7B8C3B10-404D-47F5-AA3C-47E946A58028}"/>
              </a:ext>
            </a:extLst>
          </p:cNvPr>
          <p:cNvSpPr>
            <a:spLocks noGrp="1"/>
          </p:cNvSpPr>
          <p:nvPr>
            <p:ph type="sldNum" sz="quarter" idx="12"/>
          </p:nvPr>
        </p:nvSpPr>
        <p:spPr/>
        <p:txBody>
          <a:bodyPr/>
          <a:lstStyle/>
          <a:p>
            <a:fld id="{75B1DB82-35C9-4076-A5B8-0781B30E89ED}" type="slidenum">
              <a:rPr lang="en-US" smtClean="0"/>
              <a:t>58</a:t>
            </a:fld>
            <a:endParaRPr lang="en-US"/>
          </a:p>
        </p:txBody>
      </p:sp>
      <p:sp>
        <p:nvSpPr>
          <p:cNvPr id="7" name="Text Box 3">
            <a:extLst>
              <a:ext uri="{FF2B5EF4-FFF2-40B4-BE49-F238E27FC236}">
                <a16:creationId xmlns:a16="http://schemas.microsoft.com/office/drawing/2014/main" id="{16312FAE-0286-4435-A9A9-16ACB1B46BD0}"/>
              </a:ext>
            </a:extLst>
          </p:cNvPr>
          <p:cNvSpPr txBox="1">
            <a:spLocks noChangeArrowheads="1"/>
          </p:cNvSpPr>
          <p:nvPr/>
        </p:nvSpPr>
        <p:spPr bwMode="auto">
          <a:xfrm>
            <a:off x="2514601" y="1989139"/>
            <a:ext cx="801572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If a hypothesis and implication are both true,</a:t>
            </a:r>
          </a:p>
          <a:p>
            <a:r>
              <a:rPr lang="en-US" altLang="en-US" sz="3200">
                <a:latin typeface="Cambria" panose="02040503050406030204" pitchFamily="18" charset="0"/>
              </a:rPr>
              <a:t>then the conclusion is true</a:t>
            </a:r>
            <a:endParaRPr lang="en-US" altLang="en-US" sz="3200">
              <a:latin typeface="Cambria" panose="02040503050406030204" pitchFamily="18" charset="0"/>
              <a:sym typeface="Symbol" panose="05050102010706020507" pitchFamily="18" charset="2"/>
            </a:endParaRPr>
          </a:p>
        </p:txBody>
      </p:sp>
      <p:sp>
        <p:nvSpPr>
          <p:cNvPr id="8" name="Text Box 4">
            <a:extLst>
              <a:ext uri="{FF2B5EF4-FFF2-40B4-BE49-F238E27FC236}">
                <a16:creationId xmlns:a16="http://schemas.microsoft.com/office/drawing/2014/main" id="{CD0FBCBB-23C8-40F4-8D32-18F99734C182}"/>
              </a:ext>
            </a:extLst>
          </p:cNvPr>
          <p:cNvSpPr txBox="1">
            <a:spLocks noChangeArrowheads="1"/>
          </p:cNvSpPr>
          <p:nvPr/>
        </p:nvSpPr>
        <p:spPr bwMode="auto">
          <a:xfrm>
            <a:off x="2514602" y="3436939"/>
            <a:ext cx="125066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i="1">
                <a:latin typeface="Cambria" panose="02040503050406030204" pitchFamily="18" charset="0"/>
              </a:rPr>
              <a:t>p</a:t>
            </a:r>
          </a:p>
          <a:p>
            <a:r>
              <a:rPr lang="en-US" altLang="en-US" sz="3200" i="1">
                <a:latin typeface="Cambria" panose="02040503050406030204" pitchFamily="18" charset="0"/>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p>
          <a:p>
            <a:r>
              <a:rPr lang="en-US" altLang="en-US" sz="3200">
                <a:latin typeface="Cambria" panose="02040503050406030204" pitchFamily="18" charset="0"/>
              </a:rPr>
              <a:t>_______</a:t>
            </a:r>
            <a:endParaRPr lang="en-US" altLang="en-US" sz="3200">
              <a:latin typeface="Cambria" panose="02040503050406030204" pitchFamily="18" charset="0"/>
              <a:sym typeface="Symbol" panose="05050102010706020507" pitchFamily="18" charset="2"/>
            </a:endParaRPr>
          </a:p>
          <a:p>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sym typeface="Symbol" panose="05050102010706020507" pitchFamily="18" charset="2"/>
              </a:rPr>
              <a:t>q</a:t>
            </a:r>
          </a:p>
        </p:txBody>
      </p:sp>
      <p:sp>
        <p:nvSpPr>
          <p:cNvPr id="9" name="Text Box 5">
            <a:extLst>
              <a:ext uri="{FF2B5EF4-FFF2-40B4-BE49-F238E27FC236}">
                <a16:creationId xmlns:a16="http://schemas.microsoft.com/office/drawing/2014/main" id="{74ECF5ED-6D64-4483-9F0E-53A32050410E}"/>
              </a:ext>
            </a:extLst>
          </p:cNvPr>
          <p:cNvSpPr txBox="1">
            <a:spLocks noChangeArrowheads="1"/>
          </p:cNvSpPr>
          <p:nvPr/>
        </p:nvSpPr>
        <p:spPr bwMode="auto">
          <a:xfrm>
            <a:off x="5029201" y="4114801"/>
            <a:ext cx="41088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 or    (</a:t>
            </a:r>
            <a:r>
              <a:rPr lang="en-US" altLang="en-US" sz="3200" i="1">
                <a:latin typeface="Cambria" panose="02040503050406030204" pitchFamily="18" charset="0"/>
              </a:rPr>
              <a:t>p</a:t>
            </a:r>
            <a:r>
              <a:rPr lang="en-US" altLang="en-US" sz="3200">
                <a:latin typeface="Cambria" panose="02040503050406030204" pitchFamily="18" charset="0"/>
              </a:rPr>
              <a:t> </a:t>
            </a:r>
            <a:r>
              <a:rPr lang="en-US" altLang="en-US" sz="3200">
                <a:latin typeface="Cambria" panose="02040503050406030204" pitchFamily="18" charset="0"/>
                <a:sym typeface="Symbol" panose="05050102010706020507" pitchFamily="18" charset="2"/>
              </a:rPr>
              <a:t> (</a:t>
            </a:r>
            <a:r>
              <a:rPr lang="en-US" altLang="en-US" sz="3200" i="1">
                <a:latin typeface="Cambria" panose="02040503050406030204" pitchFamily="18" charset="0"/>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p>
        </p:txBody>
      </p:sp>
    </p:spTree>
    <p:extLst>
      <p:ext uri="{BB962C8B-B14F-4D97-AF65-F5344CB8AC3E}">
        <p14:creationId xmlns:p14="http://schemas.microsoft.com/office/powerpoint/2010/main" val="313000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par>
                          <p:cTn id="8" fill="hold">
                            <p:stCondLst>
                              <p:cond delay="500"/>
                            </p:stCondLst>
                            <p:childTnLst>
                              <p:par>
                                <p:cTn id="9" presetID="5" presetClass="entr" presetSubtype="1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par>
                          <p:cTn id="12" fill="hold">
                            <p:stCondLst>
                              <p:cond delay="1500"/>
                            </p:stCondLst>
                            <p:childTnLst>
                              <p:par>
                                <p:cTn id="13" presetID="5" presetClass="entr" presetSubtype="1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checkerboard(across)">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71916-2910-4B3F-A4CB-D4B8B5F1B70B}"/>
              </a:ext>
            </a:extLst>
          </p:cNvPr>
          <p:cNvSpPr>
            <a:spLocks noGrp="1"/>
          </p:cNvSpPr>
          <p:nvPr>
            <p:ph type="title"/>
          </p:nvPr>
        </p:nvSpPr>
        <p:spPr/>
        <p:txBody>
          <a:bodyPr>
            <a:normAutofit fontScale="90000"/>
          </a:bodyPr>
          <a:lstStyle/>
          <a:p>
            <a:r>
              <a:rPr lang="en-US" altLang="en-US" dirty="0">
                <a:latin typeface="Cambria" panose="02040503050406030204" pitchFamily="18" charset="0"/>
              </a:rPr>
              <a:t>Modus Tollens</a:t>
            </a:r>
            <a:endParaRPr lang="en-US" dirty="0"/>
          </a:p>
        </p:txBody>
      </p:sp>
      <p:sp>
        <p:nvSpPr>
          <p:cNvPr id="4" name="Date Placeholder 3">
            <a:extLst>
              <a:ext uri="{FF2B5EF4-FFF2-40B4-BE49-F238E27FC236}">
                <a16:creationId xmlns:a16="http://schemas.microsoft.com/office/drawing/2014/main" id="{FB079762-7AFA-4CD6-9142-97475C3BD9A1}"/>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25A2ECDC-CF0A-4E8A-9BFA-7BD628D20C4D}"/>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CA7CF832-DE56-4927-A970-F22F9BF3D170}"/>
              </a:ext>
            </a:extLst>
          </p:cNvPr>
          <p:cNvSpPr>
            <a:spLocks noGrp="1"/>
          </p:cNvSpPr>
          <p:nvPr>
            <p:ph type="sldNum" sz="quarter" idx="12"/>
          </p:nvPr>
        </p:nvSpPr>
        <p:spPr/>
        <p:txBody>
          <a:bodyPr/>
          <a:lstStyle/>
          <a:p>
            <a:fld id="{75B1DB82-35C9-4076-A5B8-0781B30E89ED}" type="slidenum">
              <a:rPr lang="en-US" smtClean="0"/>
              <a:t>59</a:t>
            </a:fld>
            <a:endParaRPr lang="en-US"/>
          </a:p>
        </p:txBody>
      </p:sp>
      <p:sp>
        <p:nvSpPr>
          <p:cNvPr id="10" name="Text Box 3">
            <a:extLst>
              <a:ext uri="{FF2B5EF4-FFF2-40B4-BE49-F238E27FC236}">
                <a16:creationId xmlns:a16="http://schemas.microsoft.com/office/drawing/2014/main" id="{13196814-C93C-4D04-B524-84A0625B7860}"/>
              </a:ext>
            </a:extLst>
          </p:cNvPr>
          <p:cNvSpPr txBox="1">
            <a:spLocks noChangeArrowheads="1"/>
          </p:cNvSpPr>
          <p:nvPr/>
        </p:nvSpPr>
        <p:spPr bwMode="auto">
          <a:xfrm>
            <a:off x="2667002" y="1989139"/>
            <a:ext cx="733405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If a conclusion is false and its implication</a:t>
            </a:r>
          </a:p>
          <a:p>
            <a:r>
              <a:rPr lang="en-US" altLang="en-US" sz="3200">
                <a:latin typeface="Cambria" panose="02040503050406030204" pitchFamily="18" charset="0"/>
              </a:rPr>
              <a:t>is true, then the hypothesis must be false</a:t>
            </a:r>
            <a:endParaRPr lang="en-US" altLang="en-US" sz="3200">
              <a:latin typeface="Cambria" panose="02040503050406030204" pitchFamily="18" charset="0"/>
              <a:sym typeface="Symbol" panose="05050102010706020507" pitchFamily="18" charset="2"/>
            </a:endParaRPr>
          </a:p>
        </p:txBody>
      </p:sp>
      <p:sp>
        <p:nvSpPr>
          <p:cNvPr id="11" name="Text Box 5">
            <a:extLst>
              <a:ext uri="{FF2B5EF4-FFF2-40B4-BE49-F238E27FC236}">
                <a16:creationId xmlns:a16="http://schemas.microsoft.com/office/drawing/2014/main" id="{2D8A83BA-0E0F-4013-A728-815619253E37}"/>
              </a:ext>
            </a:extLst>
          </p:cNvPr>
          <p:cNvSpPr txBox="1">
            <a:spLocks noChangeArrowheads="1"/>
          </p:cNvSpPr>
          <p:nvPr/>
        </p:nvSpPr>
        <p:spPr bwMode="auto">
          <a:xfrm>
            <a:off x="2743202" y="3429002"/>
            <a:ext cx="125066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sym typeface="Symbol" panose="05050102010706020507" pitchFamily="18" charset="2"/>
              </a:rPr>
              <a:t></a:t>
            </a:r>
            <a:r>
              <a:rPr lang="en-US" altLang="en-US" sz="3200" i="1">
                <a:latin typeface="Cambria" panose="02040503050406030204" pitchFamily="18" charset="0"/>
                <a:sym typeface="Symbol" panose="05050102010706020507" pitchFamily="18" charset="2"/>
              </a:rPr>
              <a:t>q</a:t>
            </a:r>
          </a:p>
          <a:p>
            <a:r>
              <a:rPr lang="en-US" altLang="en-US" sz="3200" i="1">
                <a:latin typeface="Cambria" panose="02040503050406030204" pitchFamily="18" charset="0"/>
                <a:sym typeface="Symbol" panose="05050102010706020507" pitchFamily="18" charset="2"/>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p>
          <a:p>
            <a:r>
              <a:rPr lang="en-US" altLang="en-US" sz="3200">
                <a:latin typeface="Cambria" panose="02040503050406030204" pitchFamily="18" charset="0"/>
              </a:rPr>
              <a:t>_______</a:t>
            </a:r>
            <a:endParaRPr lang="en-US" altLang="en-US" sz="3200">
              <a:latin typeface="Cambria" panose="02040503050406030204" pitchFamily="18" charset="0"/>
              <a:sym typeface="Symbol" panose="05050102010706020507" pitchFamily="18" charset="2"/>
            </a:endParaRPr>
          </a:p>
          <a:p>
            <a:r>
              <a:rPr lang="en-US" altLang="en-US" sz="3200">
                <a:latin typeface="Cambria" panose="02040503050406030204" pitchFamily="18" charset="0"/>
                <a:sym typeface="Symbol" panose="05050102010706020507" pitchFamily="18" charset="2"/>
              </a:rPr>
              <a:t></a:t>
            </a:r>
            <a:r>
              <a:rPr lang="en-US" altLang="en-US" sz="3200" i="1">
                <a:latin typeface="Cambria" panose="02040503050406030204" pitchFamily="18" charset="0"/>
                <a:sym typeface="Symbol" panose="05050102010706020507" pitchFamily="18" charset="2"/>
              </a:rPr>
              <a:t>p</a:t>
            </a:r>
          </a:p>
        </p:txBody>
      </p:sp>
      <p:sp>
        <p:nvSpPr>
          <p:cNvPr id="12" name="Text Box 6">
            <a:extLst>
              <a:ext uri="{FF2B5EF4-FFF2-40B4-BE49-F238E27FC236}">
                <a16:creationId xmlns:a16="http://schemas.microsoft.com/office/drawing/2014/main" id="{CB2B2141-D7CD-4767-A0D6-30E08E76C617}"/>
              </a:ext>
            </a:extLst>
          </p:cNvPr>
          <p:cNvSpPr txBox="1">
            <a:spLocks noChangeArrowheads="1"/>
          </p:cNvSpPr>
          <p:nvPr/>
        </p:nvSpPr>
        <p:spPr bwMode="auto">
          <a:xfrm>
            <a:off x="5638801" y="4114801"/>
            <a:ext cx="45159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a:latin typeface="Cambria" panose="02040503050406030204" pitchFamily="18" charset="0"/>
              </a:rPr>
              <a:t>or   (</a:t>
            </a:r>
            <a:r>
              <a:rPr lang="en-US" altLang="en-US" sz="3200">
                <a:latin typeface="Cambria" panose="02040503050406030204" pitchFamily="18" charset="0"/>
                <a:sym typeface="Symbol" panose="05050102010706020507" pitchFamily="18" charset="2"/>
              </a:rPr>
              <a:t></a:t>
            </a:r>
            <a:r>
              <a:rPr lang="en-US" altLang="en-US" sz="3200" i="1">
                <a:latin typeface="Cambria" panose="02040503050406030204" pitchFamily="18" charset="0"/>
                <a:sym typeface="Symbol" panose="05050102010706020507" pitchFamily="18" charset="2"/>
              </a:rPr>
              <a:t>q</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p</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q</a:t>
            </a:r>
            <a:r>
              <a:rPr lang="en-US" altLang="en-US" sz="3200">
                <a:latin typeface="Cambria" panose="02040503050406030204" pitchFamily="18" charset="0"/>
                <a:sym typeface="Symbol" panose="05050102010706020507" pitchFamily="18" charset="2"/>
              </a:rPr>
              <a:t>))  </a:t>
            </a:r>
            <a:r>
              <a:rPr lang="en-US" altLang="en-US" sz="3200" i="1">
                <a:latin typeface="Cambria" panose="02040503050406030204" pitchFamily="18" charset="0"/>
                <a:sym typeface="Symbol" panose="05050102010706020507" pitchFamily="18" charset="2"/>
              </a:rPr>
              <a:t>p</a:t>
            </a:r>
          </a:p>
        </p:txBody>
      </p:sp>
    </p:spTree>
    <p:extLst>
      <p:ext uri="{BB962C8B-B14F-4D97-AF65-F5344CB8AC3E}">
        <p14:creationId xmlns:p14="http://schemas.microsoft.com/office/powerpoint/2010/main" val="179951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par>
                          <p:cTn id="8" fill="hold">
                            <p:stCondLst>
                              <p:cond delay="500"/>
                            </p:stCondLst>
                            <p:childTnLst>
                              <p:par>
                                <p:cTn id="9" presetID="5" presetClass="entr" presetSubtype="10"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checkerboard(across)">
                                      <p:cBhvr>
                                        <p:cTn id="11" dur="500"/>
                                        <p:tgtEl>
                                          <p:spTgt spid="11"/>
                                        </p:tgtEl>
                                      </p:cBhvr>
                                    </p:animEffect>
                                  </p:childTnLst>
                                </p:cTn>
                              </p:par>
                            </p:childTnLst>
                          </p:cTn>
                        </p:par>
                        <p:par>
                          <p:cTn id="12" fill="hold">
                            <p:stCondLst>
                              <p:cond delay="1500"/>
                            </p:stCondLst>
                            <p:childTnLst>
                              <p:par>
                                <p:cTn id="13" presetID="5" presetClass="entr" presetSubtype="1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checkerboard(across)">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AB87D-703A-42E4-944B-F315BC826B85}"/>
              </a:ext>
            </a:extLst>
          </p:cNvPr>
          <p:cNvSpPr>
            <a:spLocks noGrp="1"/>
          </p:cNvSpPr>
          <p:nvPr>
            <p:ph type="title"/>
          </p:nvPr>
        </p:nvSpPr>
        <p:spPr/>
        <p:txBody>
          <a:bodyPr>
            <a:normAutofit fontScale="90000"/>
          </a:bodyPr>
          <a:lstStyle/>
          <a:p>
            <a:r>
              <a:rPr lang="en-US" dirty="0"/>
              <a:t>The Wumpus World Example </a:t>
            </a:r>
          </a:p>
        </p:txBody>
      </p:sp>
      <p:sp>
        <p:nvSpPr>
          <p:cNvPr id="4" name="Date Placeholder 3">
            <a:extLst>
              <a:ext uri="{FF2B5EF4-FFF2-40B4-BE49-F238E27FC236}">
                <a16:creationId xmlns:a16="http://schemas.microsoft.com/office/drawing/2014/main" id="{F817541A-4B63-496A-95EF-A5A3027732CE}"/>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08839237-6E19-4FF3-A494-469DA4A56FF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4CD99F65-248A-4DC3-A0C4-AA99E5076AF6}"/>
              </a:ext>
            </a:extLst>
          </p:cNvPr>
          <p:cNvSpPr>
            <a:spLocks noGrp="1"/>
          </p:cNvSpPr>
          <p:nvPr>
            <p:ph type="sldNum" sz="quarter" idx="12"/>
          </p:nvPr>
        </p:nvSpPr>
        <p:spPr/>
        <p:txBody>
          <a:bodyPr/>
          <a:lstStyle/>
          <a:p>
            <a:fld id="{75B1DB82-35C9-4076-A5B8-0781B30E89ED}" type="slidenum">
              <a:rPr lang="en-US" smtClean="0"/>
              <a:t>60</a:t>
            </a:fld>
            <a:endParaRPr lang="en-US"/>
          </a:p>
        </p:txBody>
      </p:sp>
      <p:sp>
        <p:nvSpPr>
          <p:cNvPr id="7" name="Content Placeholder 2">
            <a:extLst>
              <a:ext uri="{FF2B5EF4-FFF2-40B4-BE49-F238E27FC236}">
                <a16:creationId xmlns:a16="http://schemas.microsoft.com/office/drawing/2014/main" id="{9271E23B-4B75-4A80-A164-0351ABC09E76}"/>
              </a:ext>
            </a:extLst>
          </p:cNvPr>
          <p:cNvSpPr>
            <a:spLocks noGrp="1"/>
          </p:cNvSpPr>
          <p:nvPr>
            <p:ph idx="1"/>
          </p:nvPr>
        </p:nvSpPr>
        <p:spPr>
          <a:xfrm>
            <a:off x="304800" y="1228153"/>
            <a:ext cx="7632569" cy="5021979"/>
          </a:xfrm>
        </p:spPr>
        <p:txBody>
          <a:bodyPr/>
          <a:lstStyle/>
          <a:p>
            <a:pPr lvl="1">
              <a:lnSpc>
                <a:spcPct val="100000"/>
              </a:lnSpc>
              <a:spcBef>
                <a:spcPts val="0"/>
              </a:spcBef>
              <a:spcAft>
                <a:spcPts val="0"/>
              </a:spcAft>
            </a:pPr>
            <a:r>
              <a:rPr lang="en-US" dirty="0"/>
              <a:t>The Wumpus world is a cave with 16 rooms (4×4).  Each room is connected to other rooms through walkways. No rooms are connected diagonally. </a:t>
            </a:r>
          </a:p>
          <a:p>
            <a:pPr lvl="1">
              <a:lnSpc>
                <a:spcPct val="100000"/>
              </a:lnSpc>
              <a:spcBef>
                <a:spcPts val="0"/>
              </a:spcBef>
              <a:spcAft>
                <a:spcPts val="0"/>
              </a:spcAft>
            </a:pPr>
            <a:r>
              <a:rPr lang="en-US" dirty="0"/>
              <a:t>The knowledge-based agent starts from room [1, 1]. The cave has some pits, a treasure, and a beast named Wumpus. </a:t>
            </a:r>
          </a:p>
          <a:p>
            <a:pPr lvl="1">
              <a:lnSpc>
                <a:spcPct val="100000"/>
              </a:lnSpc>
              <a:spcBef>
                <a:spcPts val="0"/>
              </a:spcBef>
              <a:spcAft>
                <a:spcPts val="0"/>
              </a:spcAft>
            </a:pPr>
            <a:r>
              <a:rPr lang="en-US" dirty="0"/>
              <a:t>The Wumpus cannot move but eats the one who enters its room, and if the agent enters the pit, it gets stuck there. </a:t>
            </a:r>
          </a:p>
          <a:p>
            <a:endParaRPr lang="en-US" dirty="0"/>
          </a:p>
        </p:txBody>
      </p:sp>
      <p:pic>
        <p:nvPicPr>
          <p:cNvPr id="8" name="Content Placeholder 7" descr="A picture containing diagram&#10;&#10;Description automatically generated">
            <a:extLst>
              <a:ext uri="{FF2B5EF4-FFF2-40B4-BE49-F238E27FC236}">
                <a16:creationId xmlns:a16="http://schemas.microsoft.com/office/drawing/2014/main" id="{2779F398-B275-4909-AFB4-67B179A1C87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00428" y="1501330"/>
            <a:ext cx="4186772" cy="4032204"/>
          </a:xfrm>
          <a:prstGeom prst="rect">
            <a:avLst/>
          </a:prstGeom>
        </p:spPr>
      </p:pic>
    </p:spTree>
    <p:extLst>
      <p:ext uri="{BB962C8B-B14F-4D97-AF65-F5344CB8AC3E}">
        <p14:creationId xmlns:p14="http://schemas.microsoft.com/office/powerpoint/2010/main" val="39746746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EFFEB-CC3B-4C3B-BF3F-72F53C370654}"/>
              </a:ext>
            </a:extLst>
          </p:cNvPr>
          <p:cNvSpPr>
            <a:spLocks noGrp="1"/>
          </p:cNvSpPr>
          <p:nvPr>
            <p:ph type="title"/>
          </p:nvPr>
        </p:nvSpPr>
        <p:spPr/>
        <p:txBody>
          <a:bodyPr>
            <a:normAutofit fontScale="90000"/>
          </a:bodyPr>
          <a:lstStyle/>
          <a:p>
            <a:r>
              <a:rPr lang="en-US" dirty="0"/>
              <a:t>The Wumpus World Example </a:t>
            </a:r>
          </a:p>
        </p:txBody>
      </p:sp>
      <p:sp>
        <p:nvSpPr>
          <p:cNvPr id="3" name="Content Placeholder 2">
            <a:extLst>
              <a:ext uri="{FF2B5EF4-FFF2-40B4-BE49-F238E27FC236}">
                <a16:creationId xmlns:a16="http://schemas.microsoft.com/office/drawing/2014/main" id="{B9E9F164-BA7D-49E0-AC39-D82B5E818ADF}"/>
              </a:ext>
            </a:extLst>
          </p:cNvPr>
          <p:cNvSpPr>
            <a:spLocks noGrp="1"/>
          </p:cNvSpPr>
          <p:nvPr>
            <p:ph idx="1"/>
          </p:nvPr>
        </p:nvSpPr>
        <p:spPr>
          <a:xfrm>
            <a:off x="304800" y="1228153"/>
            <a:ext cx="7274351" cy="5021979"/>
          </a:xfrm>
        </p:spPr>
        <p:txBody>
          <a:bodyPr/>
          <a:lstStyle/>
          <a:p>
            <a:pPr lvl="1">
              <a:lnSpc>
                <a:spcPct val="100000"/>
              </a:lnSpc>
              <a:spcBef>
                <a:spcPts val="0"/>
              </a:spcBef>
              <a:spcAft>
                <a:spcPts val="0"/>
              </a:spcAft>
            </a:pPr>
            <a:r>
              <a:rPr lang="en-US" dirty="0"/>
              <a:t>The goal of the agent is to take the treasure and come out of the cave. </a:t>
            </a:r>
          </a:p>
          <a:p>
            <a:pPr marL="304793" lvl="1" indent="0">
              <a:lnSpc>
                <a:spcPct val="100000"/>
              </a:lnSpc>
              <a:spcBef>
                <a:spcPts val="0"/>
              </a:spcBef>
              <a:spcAft>
                <a:spcPts val="0"/>
              </a:spcAft>
              <a:buNone/>
            </a:pPr>
            <a:endParaRPr lang="en-US" dirty="0"/>
          </a:p>
          <a:p>
            <a:pPr lvl="2">
              <a:lnSpc>
                <a:spcPct val="100000"/>
              </a:lnSpc>
              <a:spcBef>
                <a:spcPts val="0"/>
              </a:spcBef>
              <a:spcAft>
                <a:spcPts val="0"/>
              </a:spcAft>
            </a:pPr>
            <a:r>
              <a:rPr lang="en-US" dirty="0"/>
              <a:t>The agent is rewarded, when the goal conditions are met. </a:t>
            </a:r>
          </a:p>
          <a:p>
            <a:pPr lvl="2">
              <a:lnSpc>
                <a:spcPct val="100000"/>
              </a:lnSpc>
              <a:spcBef>
                <a:spcPts val="0"/>
              </a:spcBef>
              <a:spcAft>
                <a:spcPts val="0"/>
              </a:spcAft>
            </a:pPr>
            <a:endParaRPr lang="en-US" dirty="0"/>
          </a:p>
          <a:p>
            <a:pPr lvl="2">
              <a:lnSpc>
                <a:spcPct val="100000"/>
              </a:lnSpc>
              <a:spcBef>
                <a:spcPts val="0"/>
              </a:spcBef>
              <a:spcAft>
                <a:spcPts val="0"/>
              </a:spcAft>
            </a:pPr>
            <a:r>
              <a:rPr lang="en-US" dirty="0"/>
              <a:t>The agent is penalized, when it falls into a pit or being eaten by the Wumpus. </a:t>
            </a:r>
          </a:p>
          <a:p>
            <a:pPr>
              <a:lnSpc>
                <a:spcPct val="100000"/>
              </a:lnSpc>
              <a:spcBef>
                <a:spcPts val="0"/>
              </a:spcBef>
              <a:spcAft>
                <a:spcPts val="0"/>
              </a:spcAft>
            </a:pPr>
            <a:endParaRPr lang="en-US" dirty="0"/>
          </a:p>
        </p:txBody>
      </p:sp>
      <p:sp>
        <p:nvSpPr>
          <p:cNvPr id="4" name="Date Placeholder 3">
            <a:extLst>
              <a:ext uri="{FF2B5EF4-FFF2-40B4-BE49-F238E27FC236}">
                <a16:creationId xmlns:a16="http://schemas.microsoft.com/office/drawing/2014/main" id="{37099DA2-221C-472B-88CF-B841B22D669D}"/>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423BBE04-6B9E-4D1A-A497-4B53AA0B2800}"/>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16192C3A-9E4A-46C6-92ED-5DFDB09B2D46}"/>
              </a:ext>
            </a:extLst>
          </p:cNvPr>
          <p:cNvSpPr>
            <a:spLocks noGrp="1"/>
          </p:cNvSpPr>
          <p:nvPr>
            <p:ph type="sldNum" sz="quarter" idx="12"/>
          </p:nvPr>
        </p:nvSpPr>
        <p:spPr/>
        <p:txBody>
          <a:bodyPr/>
          <a:lstStyle/>
          <a:p>
            <a:fld id="{75B1DB82-35C9-4076-A5B8-0781B30E89ED}" type="slidenum">
              <a:rPr lang="en-US" smtClean="0"/>
              <a:pPr/>
              <a:t>61</a:t>
            </a:fld>
            <a:endParaRPr lang="en-US"/>
          </a:p>
        </p:txBody>
      </p:sp>
      <p:pic>
        <p:nvPicPr>
          <p:cNvPr id="7" name="Content Placeholder 7" descr="A picture containing diagram&#10;&#10;Description automatically generated">
            <a:extLst>
              <a:ext uri="{FF2B5EF4-FFF2-40B4-BE49-F238E27FC236}">
                <a16:creationId xmlns:a16="http://schemas.microsoft.com/office/drawing/2014/main" id="{2BE0AE73-46CD-4B47-9756-6878C588A05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00428" y="1501330"/>
            <a:ext cx="4186772" cy="4032204"/>
          </a:xfrm>
          <a:prstGeom prst="rect">
            <a:avLst/>
          </a:prstGeom>
        </p:spPr>
      </p:pic>
    </p:spTree>
    <p:extLst>
      <p:ext uri="{BB962C8B-B14F-4D97-AF65-F5344CB8AC3E}">
        <p14:creationId xmlns:p14="http://schemas.microsoft.com/office/powerpoint/2010/main" val="7865699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EFFEB-CC3B-4C3B-BF3F-72F53C370654}"/>
              </a:ext>
            </a:extLst>
          </p:cNvPr>
          <p:cNvSpPr>
            <a:spLocks noGrp="1"/>
          </p:cNvSpPr>
          <p:nvPr>
            <p:ph type="title"/>
          </p:nvPr>
        </p:nvSpPr>
        <p:spPr/>
        <p:txBody>
          <a:bodyPr>
            <a:normAutofit fontScale="90000"/>
          </a:bodyPr>
          <a:lstStyle/>
          <a:p>
            <a:r>
              <a:rPr lang="en-US" dirty="0"/>
              <a:t>The Wumpus World Example </a:t>
            </a:r>
          </a:p>
        </p:txBody>
      </p:sp>
      <p:sp>
        <p:nvSpPr>
          <p:cNvPr id="3" name="Content Placeholder 2">
            <a:extLst>
              <a:ext uri="{FF2B5EF4-FFF2-40B4-BE49-F238E27FC236}">
                <a16:creationId xmlns:a16="http://schemas.microsoft.com/office/drawing/2014/main" id="{B9E9F164-BA7D-49E0-AC39-D82B5E818ADF}"/>
              </a:ext>
            </a:extLst>
          </p:cNvPr>
          <p:cNvSpPr>
            <a:spLocks noGrp="1"/>
          </p:cNvSpPr>
          <p:nvPr>
            <p:ph idx="1"/>
          </p:nvPr>
        </p:nvSpPr>
        <p:spPr>
          <a:xfrm>
            <a:off x="304800" y="1228153"/>
            <a:ext cx="7528874" cy="5021979"/>
          </a:xfrm>
        </p:spPr>
        <p:txBody>
          <a:bodyPr>
            <a:normAutofit fontScale="77500" lnSpcReduction="20000"/>
          </a:bodyPr>
          <a:lstStyle/>
          <a:p>
            <a:pPr>
              <a:lnSpc>
                <a:spcPct val="120000"/>
              </a:lnSpc>
              <a:spcBef>
                <a:spcPts val="0"/>
              </a:spcBef>
              <a:spcAft>
                <a:spcPts val="0"/>
              </a:spcAft>
            </a:pPr>
            <a:r>
              <a:rPr lang="en-US" dirty="0"/>
              <a:t>Some elements support the agent to explore the cave: </a:t>
            </a:r>
          </a:p>
          <a:p>
            <a:pPr lvl="1">
              <a:lnSpc>
                <a:spcPct val="120000"/>
              </a:lnSpc>
              <a:spcBef>
                <a:spcPts val="0"/>
              </a:spcBef>
              <a:spcAft>
                <a:spcPts val="0"/>
              </a:spcAft>
            </a:pPr>
            <a:r>
              <a:rPr lang="en-US" dirty="0"/>
              <a:t>The Wumpus's adjacent rooms are </a:t>
            </a:r>
            <a:r>
              <a:rPr lang="en-US" dirty="0" err="1"/>
              <a:t>stenchy</a:t>
            </a:r>
            <a:r>
              <a:rPr lang="en-US" dirty="0"/>
              <a:t> (i.e., have bad smell).</a:t>
            </a:r>
          </a:p>
          <a:p>
            <a:pPr lvl="1">
              <a:lnSpc>
                <a:spcPct val="120000"/>
              </a:lnSpc>
              <a:spcBef>
                <a:spcPts val="0"/>
              </a:spcBef>
              <a:spcAft>
                <a:spcPts val="0"/>
              </a:spcAft>
            </a:pPr>
            <a:r>
              <a:rPr lang="en-US" dirty="0"/>
              <a:t>The adjacent rooms of the room with pits are filled with breeze. </a:t>
            </a:r>
          </a:p>
          <a:p>
            <a:pPr lvl="1">
              <a:lnSpc>
                <a:spcPct val="120000"/>
              </a:lnSpc>
              <a:spcBef>
                <a:spcPts val="0"/>
              </a:spcBef>
              <a:spcAft>
                <a:spcPts val="0"/>
              </a:spcAft>
            </a:pPr>
            <a:r>
              <a:rPr lang="en-US" dirty="0"/>
              <a:t>The agent is given one arrow which it can use to kill the Wumpus when facing it (Wumpus screams when it is killed). </a:t>
            </a:r>
          </a:p>
          <a:p>
            <a:pPr lvl="1">
              <a:lnSpc>
                <a:spcPct val="120000"/>
              </a:lnSpc>
              <a:spcBef>
                <a:spcPts val="0"/>
              </a:spcBef>
              <a:spcAft>
                <a:spcPts val="0"/>
              </a:spcAft>
            </a:pPr>
            <a:r>
              <a:rPr lang="en-US" dirty="0"/>
              <a:t>The treasure room is always glittery.</a:t>
            </a:r>
          </a:p>
          <a:p>
            <a:pPr marL="304793" lvl="1" indent="0">
              <a:lnSpc>
                <a:spcPct val="120000"/>
              </a:lnSpc>
              <a:spcBef>
                <a:spcPts val="0"/>
              </a:spcBef>
              <a:spcAft>
                <a:spcPts val="0"/>
              </a:spcAft>
              <a:buNone/>
            </a:pPr>
            <a:endParaRPr lang="en-US" dirty="0"/>
          </a:p>
          <a:p>
            <a:pPr>
              <a:lnSpc>
                <a:spcPct val="120000"/>
              </a:lnSpc>
              <a:spcBef>
                <a:spcPts val="0"/>
              </a:spcBef>
              <a:spcAft>
                <a:spcPts val="0"/>
              </a:spcAft>
            </a:pPr>
            <a:r>
              <a:rPr lang="en-US" dirty="0"/>
              <a:t>The agent starts with no information of where the pits, Wumpus and the gold are. </a:t>
            </a:r>
          </a:p>
          <a:p>
            <a:endParaRPr lang="en-US" dirty="0"/>
          </a:p>
        </p:txBody>
      </p:sp>
      <p:sp>
        <p:nvSpPr>
          <p:cNvPr id="4" name="Date Placeholder 3">
            <a:extLst>
              <a:ext uri="{FF2B5EF4-FFF2-40B4-BE49-F238E27FC236}">
                <a16:creationId xmlns:a16="http://schemas.microsoft.com/office/drawing/2014/main" id="{37099DA2-221C-472B-88CF-B841B22D669D}"/>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423BBE04-6B9E-4D1A-A497-4B53AA0B2800}"/>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16192C3A-9E4A-46C6-92ED-5DFDB09B2D46}"/>
              </a:ext>
            </a:extLst>
          </p:cNvPr>
          <p:cNvSpPr>
            <a:spLocks noGrp="1"/>
          </p:cNvSpPr>
          <p:nvPr>
            <p:ph type="sldNum" sz="quarter" idx="12"/>
          </p:nvPr>
        </p:nvSpPr>
        <p:spPr/>
        <p:txBody>
          <a:bodyPr/>
          <a:lstStyle/>
          <a:p>
            <a:fld id="{75B1DB82-35C9-4076-A5B8-0781B30E89ED}" type="slidenum">
              <a:rPr lang="en-US" smtClean="0"/>
              <a:pPr/>
              <a:t>62</a:t>
            </a:fld>
            <a:endParaRPr lang="en-US"/>
          </a:p>
        </p:txBody>
      </p:sp>
      <p:pic>
        <p:nvPicPr>
          <p:cNvPr id="7" name="Content Placeholder 7" descr="A picture containing diagram&#10;&#10;Description automatically generated">
            <a:extLst>
              <a:ext uri="{FF2B5EF4-FFF2-40B4-BE49-F238E27FC236}">
                <a16:creationId xmlns:a16="http://schemas.microsoft.com/office/drawing/2014/main" id="{2BE0AE73-46CD-4B47-9756-6878C588A05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00428" y="1501330"/>
            <a:ext cx="4186772" cy="4032204"/>
          </a:xfrm>
          <a:prstGeom prst="rect">
            <a:avLst/>
          </a:prstGeom>
        </p:spPr>
      </p:pic>
    </p:spTree>
    <p:extLst>
      <p:ext uri="{BB962C8B-B14F-4D97-AF65-F5344CB8AC3E}">
        <p14:creationId xmlns:p14="http://schemas.microsoft.com/office/powerpoint/2010/main" val="4145619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E3A9-CEDF-4C65-ADBB-87FC30848C6C}"/>
              </a:ext>
            </a:extLst>
          </p:cNvPr>
          <p:cNvSpPr>
            <a:spLocks noGrp="1"/>
          </p:cNvSpPr>
          <p:nvPr>
            <p:ph type="title"/>
          </p:nvPr>
        </p:nvSpPr>
        <p:spPr/>
        <p:txBody>
          <a:bodyPr>
            <a:normAutofit fontScale="90000"/>
          </a:bodyPr>
          <a:lstStyle/>
          <a:p>
            <a:r>
              <a:rPr lang="en-US" dirty="0"/>
              <a:t>The Wumpus World Example </a:t>
            </a:r>
          </a:p>
        </p:txBody>
      </p:sp>
      <p:sp>
        <p:nvSpPr>
          <p:cNvPr id="3" name="Content Placeholder 2">
            <a:extLst>
              <a:ext uri="{FF2B5EF4-FFF2-40B4-BE49-F238E27FC236}">
                <a16:creationId xmlns:a16="http://schemas.microsoft.com/office/drawing/2014/main" id="{043AE4BF-CA43-40D8-99FD-C163607568A8}"/>
              </a:ext>
            </a:extLst>
          </p:cNvPr>
          <p:cNvSpPr>
            <a:spLocks noGrp="1"/>
          </p:cNvSpPr>
          <p:nvPr>
            <p:ph idx="1"/>
          </p:nvPr>
        </p:nvSpPr>
        <p:spPr/>
        <p:txBody>
          <a:bodyPr>
            <a:normAutofit fontScale="92500"/>
          </a:bodyPr>
          <a:lstStyle/>
          <a:p>
            <a:r>
              <a:rPr lang="en-US" dirty="0"/>
              <a:t>Let’s assign a Utility measure as shown below:</a:t>
            </a:r>
          </a:p>
          <a:p>
            <a:pPr lvl="1"/>
            <a:r>
              <a:rPr lang="en-US" dirty="0"/>
              <a:t>+1000 for climbing out of the cave with the gold (End),</a:t>
            </a:r>
          </a:p>
          <a:p>
            <a:pPr lvl="1"/>
            <a:r>
              <a:rPr lang="en-US" dirty="0"/>
              <a:t>-1000 for falling into a pit or being eaten by the Wumpus (End),</a:t>
            </a:r>
          </a:p>
          <a:p>
            <a:pPr lvl="1"/>
            <a:r>
              <a:rPr lang="en-US" dirty="0"/>
              <a:t>–1 for each action taken, and</a:t>
            </a:r>
          </a:p>
          <a:p>
            <a:pPr lvl="1"/>
            <a:r>
              <a:rPr lang="en-US" dirty="0"/>
              <a:t>–10 for using up the arrow.</a:t>
            </a:r>
          </a:p>
          <a:p>
            <a:r>
              <a:rPr lang="en-US" dirty="0"/>
              <a:t>The Environment description:  </a:t>
            </a:r>
          </a:p>
          <a:p>
            <a:pPr lvl="1"/>
            <a:r>
              <a:rPr lang="en-US" dirty="0"/>
              <a:t>In a 4×4 grid of rooms, the agent starts in square [1,1], facing right.</a:t>
            </a:r>
          </a:p>
          <a:p>
            <a:pPr lvl="1"/>
            <a:r>
              <a:rPr lang="en-US" dirty="0"/>
              <a:t>The gold and the Wumpus locations are randomly chosen uniformly, in any room other than room [1,1]. </a:t>
            </a:r>
          </a:p>
          <a:p>
            <a:pPr lvl="1"/>
            <a:r>
              <a:rPr lang="en-US" dirty="0"/>
              <a:t>Each room other than the start can be a pit, with a probability of 0.2.</a:t>
            </a:r>
          </a:p>
          <a:p>
            <a:endParaRPr lang="en-US" dirty="0"/>
          </a:p>
        </p:txBody>
      </p:sp>
      <p:sp>
        <p:nvSpPr>
          <p:cNvPr id="4" name="Date Placeholder 3">
            <a:extLst>
              <a:ext uri="{FF2B5EF4-FFF2-40B4-BE49-F238E27FC236}">
                <a16:creationId xmlns:a16="http://schemas.microsoft.com/office/drawing/2014/main" id="{E7CB93CD-2E2A-4DB8-95FC-495C7BD6E080}"/>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0E1A8E22-CD76-4A4F-9559-F5B1F6CD5E7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E6CCB884-022E-4429-B828-25DC631D0784}"/>
              </a:ext>
            </a:extLst>
          </p:cNvPr>
          <p:cNvSpPr>
            <a:spLocks noGrp="1"/>
          </p:cNvSpPr>
          <p:nvPr>
            <p:ph type="sldNum" sz="quarter" idx="12"/>
          </p:nvPr>
        </p:nvSpPr>
        <p:spPr/>
        <p:txBody>
          <a:bodyPr/>
          <a:lstStyle/>
          <a:p>
            <a:fld id="{75B1DB82-35C9-4076-A5B8-0781B30E89ED}" type="slidenum">
              <a:rPr lang="en-US" smtClean="0"/>
              <a:t>63</a:t>
            </a:fld>
            <a:endParaRPr lang="en-US"/>
          </a:p>
        </p:txBody>
      </p:sp>
    </p:spTree>
    <p:extLst>
      <p:ext uri="{BB962C8B-B14F-4D97-AF65-F5344CB8AC3E}">
        <p14:creationId xmlns:p14="http://schemas.microsoft.com/office/powerpoint/2010/main" val="7576370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1848-B2E5-44F8-9DE3-D5F824D34045}"/>
              </a:ext>
            </a:extLst>
          </p:cNvPr>
          <p:cNvSpPr>
            <a:spLocks noGrp="1"/>
          </p:cNvSpPr>
          <p:nvPr>
            <p:ph type="title"/>
          </p:nvPr>
        </p:nvSpPr>
        <p:spPr/>
        <p:txBody>
          <a:bodyPr>
            <a:normAutofit fontScale="90000"/>
          </a:bodyPr>
          <a:lstStyle/>
          <a:p>
            <a:r>
              <a:rPr lang="en-US" dirty="0"/>
              <a:t>The Wumpus World Example </a:t>
            </a:r>
          </a:p>
        </p:txBody>
      </p:sp>
      <p:sp>
        <p:nvSpPr>
          <p:cNvPr id="3" name="Content Placeholder 2">
            <a:extLst>
              <a:ext uri="{FF2B5EF4-FFF2-40B4-BE49-F238E27FC236}">
                <a16:creationId xmlns:a16="http://schemas.microsoft.com/office/drawing/2014/main" id="{5A400380-CF20-42D2-9E21-1A42A3C14382}"/>
              </a:ext>
            </a:extLst>
          </p:cNvPr>
          <p:cNvSpPr>
            <a:spLocks noGrp="1"/>
          </p:cNvSpPr>
          <p:nvPr>
            <p:ph idx="1"/>
          </p:nvPr>
        </p:nvSpPr>
        <p:spPr/>
        <p:txBody>
          <a:bodyPr>
            <a:normAutofit fontScale="62500" lnSpcReduction="20000"/>
          </a:bodyPr>
          <a:lstStyle/>
          <a:p>
            <a:pPr>
              <a:lnSpc>
                <a:spcPct val="120000"/>
              </a:lnSpc>
              <a:spcBef>
                <a:spcPts val="0"/>
              </a:spcBef>
              <a:spcAft>
                <a:spcPts val="0"/>
              </a:spcAft>
            </a:pPr>
            <a:r>
              <a:rPr lang="en-US" b="1" dirty="0"/>
              <a:t>Actuators</a:t>
            </a:r>
            <a:r>
              <a:rPr lang="en-US" dirty="0"/>
              <a:t>:</a:t>
            </a:r>
          </a:p>
          <a:p>
            <a:pPr lvl="1">
              <a:lnSpc>
                <a:spcPct val="120000"/>
              </a:lnSpc>
              <a:spcBef>
                <a:spcPts val="0"/>
              </a:spcBef>
              <a:spcAft>
                <a:spcPts val="0"/>
              </a:spcAft>
            </a:pPr>
            <a:r>
              <a:rPr lang="en-US" dirty="0"/>
              <a:t>Left turn</a:t>
            </a:r>
          </a:p>
          <a:p>
            <a:pPr lvl="1">
              <a:lnSpc>
                <a:spcPct val="120000"/>
              </a:lnSpc>
              <a:spcBef>
                <a:spcPts val="0"/>
              </a:spcBef>
              <a:spcAft>
                <a:spcPts val="0"/>
              </a:spcAft>
            </a:pPr>
            <a:r>
              <a:rPr lang="en-US" dirty="0"/>
              <a:t>Right turn</a:t>
            </a:r>
          </a:p>
          <a:p>
            <a:pPr lvl="1">
              <a:lnSpc>
                <a:spcPct val="120000"/>
              </a:lnSpc>
              <a:spcBef>
                <a:spcPts val="0"/>
              </a:spcBef>
              <a:spcAft>
                <a:spcPts val="0"/>
              </a:spcAft>
            </a:pPr>
            <a:r>
              <a:rPr lang="en-US" dirty="0"/>
              <a:t>Move forward</a:t>
            </a:r>
          </a:p>
          <a:p>
            <a:pPr lvl="1">
              <a:lnSpc>
                <a:spcPct val="120000"/>
              </a:lnSpc>
              <a:spcBef>
                <a:spcPts val="0"/>
              </a:spcBef>
              <a:spcAft>
                <a:spcPts val="0"/>
              </a:spcAft>
            </a:pPr>
            <a:r>
              <a:rPr lang="en-US" dirty="0"/>
              <a:t>Move backward</a:t>
            </a:r>
          </a:p>
          <a:p>
            <a:pPr lvl="1">
              <a:lnSpc>
                <a:spcPct val="120000"/>
              </a:lnSpc>
              <a:spcBef>
                <a:spcPts val="0"/>
              </a:spcBef>
              <a:spcAft>
                <a:spcPts val="0"/>
              </a:spcAft>
            </a:pPr>
            <a:r>
              <a:rPr lang="en-US" dirty="0"/>
              <a:t>Grab gold</a:t>
            </a:r>
          </a:p>
          <a:p>
            <a:pPr lvl="1">
              <a:lnSpc>
                <a:spcPct val="120000"/>
              </a:lnSpc>
              <a:spcBef>
                <a:spcPts val="0"/>
              </a:spcBef>
              <a:spcAft>
                <a:spcPts val="0"/>
              </a:spcAft>
            </a:pPr>
            <a:r>
              <a:rPr lang="en-US" dirty="0"/>
              <a:t>Release gold</a:t>
            </a:r>
          </a:p>
          <a:p>
            <a:pPr lvl="1">
              <a:lnSpc>
                <a:spcPct val="120000"/>
              </a:lnSpc>
              <a:spcBef>
                <a:spcPts val="0"/>
              </a:spcBef>
              <a:spcAft>
                <a:spcPts val="0"/>
              </a:spcAft>
            </a:pPr>
            <a:r>
              <a:rPr lang="en-US" dirty="0"/>
              <a:t>Shoot arrow</a:t>
            </a:r>
          </a:p>
          <a:p>
            <a:pPr>
              <a:lnSpc>
                <a:spcPct val="120000"/>
              </a:lnSpc>
              <a:spcBef>
                <a:spcPts val="0"/>
              </a:spcBef>
              <a:spcAft>
                <a:spcPts val="0"/>
              </a:spcAft>
            </a:pPr>
            <a:r>
              <a:rPr lang="en-US" b="1" dirty="0"/>
              <a:t>Sensors</a:t>
            </a:r>
            <a:r>
              <a:rPr lang="en-US" dirty="0"/>
              <a:t>:</a:t>
            </a:r>
          </a:p>
          <a:p>
            <a:pPr lvl="1">
              <a:lnSpc>
                <a:spcPct val="120000"/>
              </a:lnSpc>
              <a:spcBef>
                <a:spcPts val="0"/>
              </a:spcBef>
              <a:spcAft>
                <a:spcPts val="0"/>
              </a:spcAft>
            </a:pPr>
            <a:r>
              <a:rPr lang="en-US" dirty="0"/>
              <a:t>Perceive a Stench in the squares containing or adjacent to the Wumpus</a:t>
            </a:r>
          </a:p>
          <a:p>
            <a:pPr lvl="1">
              <a:lnSpc>
                <a:spcPct val="120000"/>
              </a:lnSpc>
              <a:spcBef>
                <a:spcPts val="0"/>
              </a:spcBef>
              <a:spcAft>
                <a:spcPts val="0"/>
              </a:spcAft>
            </a:pPr>
            <a:r>
              <a:rPr lang="en-US" dirty="0"/>
              <a:t>Perceive a Breeze in the squares adjacent to a pit</a:t>
            </a:r>
          </a:p>
          <a:p>
            <a:pPr lvl="1">
              <a:lnSpc>
                <a:spcPct val="120000"/>
              </a:lnSpc>
              <a:spcBef>
                <a:spcPts val="0"/>
              </a:spcBef>
              <a:spcAft>
                <a:spcPts val="0"/>
              </a:spcAft>
            </a:pPr>
            <a:r>
              <a:rPr lang="en-US" dirty="0"/>
              <a:t>Perceive a Glitter in the square where the gold is</a:t>
            </a:r>
          </a:p>
          <a:p>
            <a:pPr lvl="1">
              <a:lnSpc>
                <a:spcPct val="120000"/>
              </a:lnSpc>
              <a:spcBef>
                <a:spcPts val="0"/>
              </a:spcBef>
              <a:spcAft>
                <a:spcPts val="0"/>
              </a:spcAft>
            </a:pPr>
            <a:r>
              <a:rPr lang="en-US" dirty="0"/>
              <a:t>Perceive a Bump when the agent walks into a wall</a:t>
            </a:r>
          </a:p>
          <a:p>
            <a:pPr lvl="1">
              <a:lnSpc>
                <a:spcPct val="120000"/>
              </a:lnSpc>
              <a:spcBef>
                <a:spcPts val="0"/>
              </a:spcBef>
              <a:spcAft>
                <a:spcPts val="0"/>
              </a:spcAft>
            </a:pPr>
            <a:r>
              <a:rPr lang="en-US" dirty="0"/>
              <a:t>Perceive a woeful (i.e. unhappy) Scream anywhere in the caves when the Wumpus is killed</a:t>
            </a:r>
          </a:p>
          <a:p>
            <a:pPr lvl="1">
              <a:lnSpc>
                <a:spcPct val="120000"/>
              </a:lnSpc>
              <a:spcBef>
                <a:spcPts val="0"/>
              </a:spcBef>
              <a:spcAft>
                <a:spcPts val="0"/>
              </a:spcAft>
            </a:pPr>
            <a:r>
              <a:rPr lang="en-US" dirty="0"/>
              <a:t>Perceive “None” if all the adjacent rooms neither have a pit nor a Wumpus</a:t>
            </a:r>
          </a:p>
        </p:txBody>
      </p:sp>
      <p:sp>
        <p:nvSpPr>
          <p:cNvPr id="4" name="Date Placeholder 3">
            <a:extLst>
              <a:ext uri="{FF2B5EF4-FFF2-40B4-BE49-F238E27FC236}">
                <a16:creationId xmlns:a16="http://schemas.microsoft.com/office/drawing/2014/main" id="{E626221A-A2F0-498A-AB34-CC68366A3FD2}"/>
              </a:ext>
            </a:extLst>
          </p:cNvPr>
          <p:cNvSpPr>
            <a:spLocks noGrp="1"/>
          </p:cNvSpPr>
          <p:nvPr>
            <p:ph type="dt" sz="half" idx="10"/>
          </p:nvPr>
        </p:nvSpPr>
        <p:spPr/>
        <p:txBody>
          <a:bodyPr/>
          <a:lstStyle/>
          <a:p>
            <a:fld id="{94F5A3C7-98EA-4310-98DB-576388075F66}" type="datetime1">
              <a:rPr lang="en-US" smtClean="0"/>
              <a:t>9/29/2022</a:t>
            </a:fld>
            <a:endParaRPr lang="en-US"/>
          </a:p>
        </p:txBody>
      </p:sp>
      <p:sp>
        <p:nvSpPr>
          <p:cNvPr id="5" name="Footer Placeholder 4">
            <a:extLst>
              <a:ext uri="{FF2B5EF4-FFF2-40B4-BE49-F238E27FC236}">
                <a16:creationId xmlns:a16="http://schemas.microsoft.com/office/drawing/2014/main" id="{B5336331-24A8-48F1-B7D2-AC1C911D0148}"/>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D9403313-07E9-452B-9DB1-76A35833D213}"/>
              </a:ext>
            </a:extLst>
          </p:cNvPr>
          <p:cNvSpPr>
            <a:spLocks noGrp="1"/>
          </p:cNvSpPr>
          <p:nvPr>
            <p:ph type="sldNum" sz="quarter" idx="12"/>
          </p:nvPr>
        </p:nvSpPr>
        <p:spPr/>
        <p:txBody>
          <a:bodyPr/>
          <a:lstStyle/>
          <a:p>
            <a:fld id="{75B1DB82-35C9-4076-A5B8-0781B30E89ED}" type="slidenum">
              <a:rPr lang="en-US" smtClean="0"/>
              <a:t>64</a:t>
            </a:fld>
            <a:endParaRPr lang="en-US"/>
          </a:p>
        </p:txBody>
      </p:sp>
    </p:spTree>
    <p:extLst>
      <p:ext uri="{BB962C8B-B14F-4D97-AF65-F5344CB8AC3E}">
        <p14:creationId xmlns:p14="http://schemas.microsoft.com/office/powerpoint/2010/main" val="38831155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E4354-048F-41E0-A17E-98FE83BB7658}"/>
              </a:ext>
            </a:extLst>
          </p:cNvPr>
          <p:cNvSpPr>
            <a:spLocks noGrp="1"/>
          </p:cNvSpPr>
          <p:nvPr>
            <p:ph type="title"/>
          </p:nvPr>
        </p:nvSpPr>
        <p:spPr/>
        <p:txBody>
          <a:bodyPr>
            <a:normAutofit fontScale="90000"/>
          </a:bodyPr>
          <a:lstStyle/>
          <a:p>
            <a:r>
              <a:rPr lang="en-US" dirty="0"/>
              <a:t>Wumpus World Characterization</a:t>
            </a:r>
          </a:p>
        </p:txBody>
      </p:sp>
      <p:sp>
        <p:nvSpPr>
          <p:cNvPr id="11" name="Content Placeholder 10">
            <a:extLst>
              <a:ext uri="{FF2B5EF4-FFF2-40B4-BE49-F238E27FC236}">
                <a16:creationId xmlns:a16="http://schemas.microsoft.com/office/drawing/2014/main" id="{A9C814EF-D7F7-47AE-B2E6-4C0EA0186906}"/>
              </a:ext>
            </a:extLst>
          </p:cNvPr>
          <p:cNvSpPr>
            <a:spLocks noGrp="1"/>
          </p:cNvSpPr>
          <p:nvPr>
            <p:ph idx="1"/>
          </p:nvPr>
        </p:nvSpPr>
        <p:spPr>
          <a:xfrm>
            <a:off x="304800" y="1228153"/>
            <a:ext cx="11582400" cy="5021979"/>
          </a:xfrm>
        </p:spPr>
        <p:txBody>
          <a:bodyPr>
            <a:normAutofit lnSpcReduction="10000"/>
          </a:bodyPr>
          <a:lstStyle/>
          <a:p>
            <a:endParaRPr lang="en-US" dirty="0"/>
          </a:p>
          <a:p>
            <a:r>
              <a:rPr lang="en-US" dirty="0"/>
              <a:t>Acronyms</a:t>
            </a:r>
          </a:p>
          <a:p>
            <a:pPr lvl="1"/>
            <a:r>
              <a:rPr lang="en-US" dirty="0"/>
              <a:t>B = Breeze</a:t>
            </a:r>
          </a:p>
          <a:p>
            <a:pPr lvl="1"/>
            <a:r>
              <a:rPr lang="en-US" dirty="0"/>
              <a:t>A = Agent</a:t>
            </a:r>
          </a:p>
          <a:p>
            <a:pPr lvl="1"/>
            <a:r>
              <a:rPr lang="en-US" dirty="0"/>
              <a:t>G = Glitter</a:t>
            </a:r>
          </a:p>
          <a:p>
            <a:pPr lvl="1"/>
            <a:r>
              <a:rPr lang="en-US" dirty="0"/>
              <a:t>OK = Safe room</a:t>
            </a:r>
          </a:p>
          <a:p>
            <a:pPr lvl="1"/>
            <a:r>
              <a:rPr lang="en-US" dirty="0"/>
              <a:t>P = Pit</a:t>
            </a:r>
          </a:p>
          <a:p>
            <a:pPr lvl="1"/>
            <a:r>
              <a:rPr lang="en-US" dirty="0"/>
              <a:t>S = Stench</a:t>
            </a:r>
          </a:p>
          <a:p>
            <a:pPr lvl="1"/>
            <a:r>
              <a:rPr lang="en-US" dirty="0"/>
              <a:t>V = visited the room</a:t>
            </a:r>
          </a:p>
          <a:p>
            <a:pPr lvl="1"/>
            <a:r>
              <a:rPr lang="en-US" dirty="0"/>
              <a:t>W = Wumpus</a:t>
            </a:r>
          </a:p>
          <a:p>
            <a:endParaRPr lang="en-US" dirty="0"/>
          </a:p>
        </p:txBody>
      </p:sp>
      <p:sp>
        <p:nvSpPr>
          <p:cNvPr id="4" name="Date Placeholder 3">
            <a:extLst>
              <a:ext uri="{FF2B5EF4-FFF2-40B4-BE49-F238E27FC236}">
                <a16:creationId xmlns:a16="http://schemas.microsoft.com/office/drawing/2014/main" id="{370C7E24-547B-400B-9F72-D75FA9F80D73}"/>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4EC0CE7A-07C8-416D-877C-198256E7FD89}"/>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F59CC405-407B-474B-886E-5F05E7B0261B}"/>
              </a:ext>
            </a:extLst>
          </p:cNvPr>
          <p:cNvSpPr>
            <a:spLocks noGrp="1"/>
          </p:cNvSpPr>
          <p:nvPr>
            <p:ph type="sldNum" sz="quarter" idx="12"/>
          </p:nvPr>
        </p:nvSpPr>
        <p:spPr/>
        <p:txBody>
          <a:bodyPr/>
          <a:lstStyle/>
          <a:p>
            <a:fld id="{75B1DB82-35C9-4076-A5B8-0781B30E89ED}" type="slidenum">
              <a:rPr lang="en-US" smtClean="0"/>
              <a:pPr/>
              <a:t>65</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868321964"/>
              </p:ext>
            </p:extLst>
          </p:nvPr>
        </p:nvGraphicFramePr>
        <p:xfrm>
          <a:off x="3565007" y="1357462"/>
          <a:ext cx="8035865" cy="2225040"/>
        </p:xfrm>
        <a:graphic>
          <a:graphicData uri="http://schemas.openxmlformats.org/drawingml/2006/table">
            <a:tbl>
              <a:tblPr firstRow="1" bandRow="1">
                <a:tableStyleId>{5C22544A-7EE6-4342-B048-85BDC9FD1C3A}</a:tableStyleId>
              </a:tblPr>
              <a:tblGrid>
                <a:gridCol w="2274012">
                  <a:extLst>
                    <a:ext uri="{9D8B030D-6E8A-4147-A177-3AD203B41FA5}">
                      <a16:colId xmlns:a16="http://schemas.microsoft.com/office/drawing/2014/main" val="642942912"/>
                    </a:ext>
                  </a:extLst>
                </a:gridCol>
                <a:gridCol w="922297">
                  <a:extLst>
                    <a:ext uri="{9D8B030D-6E8A-4147-A177-3AD203B41FA5}">
                      <a16:colId xmlns:a16="http://schemas.microsoft.com/office/drawing/2014/main" val="2011668131"/>
                    </a:ext>
                  </a:extLst>
                </a:gridCol>
                <a:gridCol w="4839556">
                  <a:extLst>
                    <a:ext uri="{9D8B030D-6E8A-4147-A177-3AD203B41FA5}">
                      <a16:colId xmlns:a16="http://schemas.microsoft.com/office/drawing/2014/main" val="4212758187"/>
                    </a:ext>
                  </a:extLst>
                </a:gridCol>
              </a:tblGrid>
              <a:tr h="370840">
                <a:tc>
                  <a:txBody>
                    <a:bodyPr/>
                    <a:lstStyle/>
                    <a:p>
                      <a:r>
                        <a:rPr lang="en-US" dirty="0"/>
                        <a:t>Is the</a:t>
                      </a:r>
                      <a:r>
                        <a:rPr lang="en-US" baseline="0" dirty="0"/>
                        <a:t> Wumpus World</a:t>
                      </a:r>
                      <a:endParaRPr lang="en-US" dirty="0"/>
                    </a:p>
                  </a:txBody>
                  <a:tcPr/>
                </a:tc>
                <a:tc>
                  <a:txBody>
                    <a:bodyPr/>
                    <a:lstStyle/>
                    <a:p>
                      <a:r>
                        <a:rPr lang="en-US" dirty="0"/>
                        <a:t>Answer</a:t>
                      </a:r>
                    </a:p>
                  </a:txBody>
                  <a:tcPr/>
                </a:tc>
                <a:tc>
                  <a:txBody>
                    <a:bodyPr/>
                    <a:lstStyle/>
                    <a:p>
                      <a:r>
                        <a:rPr lang="en-US" dirty="0"/>
                        <a:t>Why?</a:t>
                      </a:r>
                    </a:p>
                  </a:txBody>
                  <a:tcPr/>
                </a:tc>
                <a:extLst>
                  <a:ext uri="{0D108BD9-81ED-4DB2-BD59-A6C34878D82A}">
                    <a16:rowId xmlns:a16="http://schemas.microsoft.com/office/drawing/2014/main" val="3759305665"/>
                  </a:ext>
                </a:extLst>
              </a:tr>
              <a:tr h="370840">
                <a:tc>
                  <a:txBody>
                    <a:bodyPr/>
                    <a:lstStyle/>
                    <a:p>
                      <a:r>
                        <a:rPr lang="en-US" dirty="0"/>
                        <a:t>Deterministic?</a:t>
                      </a:r>
                    </a:p>
                  </a:txBody>
                  <a:tcPr/>
                </a:tc>
                <a:tc>
                  <a:txBody>
                    <a:bodyPr/>
                    <a:lstStyle/>
                    <a:p>
                      <a:r>
                        <a:rPr lang="en-US" sz="1800" dirty="0">
                          <a:solidFill>
                            <a:srgbClr val="00A64E"/>
                          </a:solidFill>
                        </a:rPr>
                        <a:t>Yes</a:t>
                      </a:r>
                      <a:endParaRPr lang="en-US" dirty="0"/>
                    </a:p>
                  </a:txBody>
                  <a:tcPr/>
                </a:tc>
                <a:tc>
                  <a:txBody>
                    <a:bodyPr/>
                    <a:lstStyle/>
                    <a:p>
                      <a:r>
                        <a:rPr lang="en-US" sz="1800" dirty="0">
                          <a:solidFill>
                            <a:srgbClr val="00A64E"/>
                          </a:solidFill>
                        </a:rPr>
                        <a:t>outcome exactly specified</a:t>
                      </a:r>
                      <a:endParaRPr lang="en-US" dirty="0"/>
                    </a:p>
                  </a:txBody>
                  <a:tcPr/>
                </a:tc>
                <a:extLst>
                  <a:ext uri="{0D108BD9-81ED-4DB2-BD59-A6C34878D82A}">
                    <a16:rowId xmlns:a16="http://schemas.microsoft.com/office/drawing/2014/main" val="3016894099"/>
                  </a:ext>
                </a:extLst>
              </a:tr>
              <a:tr h="370840">
                <a:tc>
                  <a:txBody>
                    <a:bodyPr/>
                    <a:lstStyle/>
                    <a:p>
                      <a:r>
                        <a:rPr lang="en-US" dirty="0"/>
                        <a:t>Observable?</a:t>
                      </a:r>
                    </a:p>
                  </a:txBody>
                  <a:tcPr/>
                </a:tc>
                <a:tc>
                  <a:txBody>
                    <a:bodyPr/>
                    <a:lstStyle/>
                    <a:p>
                      <a:r>
                        <a:rPr lang="en-US" sz="1800" dirty="0">
                          <a:solidFill>
                            <a:srgbClr val="00A64E"/>
                          </a:solidFill>
                        </a:rPr>
                        <a:t>No</a:t>
                      </a:r>
                      <a:endParaRPr lang="en-US" dirty="0"/>
                    </a:p>
                  </a:txBody>
                  <a:tcPr/>
                </a:tc>
                <a:tc>
                  <a:txBody>
                    <a:bodyPr/>
                    <a:lstStyle/>
                    <a:p>
                      <a:r>
                        <a:rPr lang="en-US" sz="1800" dirty="0">
                          <a:solidFill>
                            <a:srgbClr val="00A64E"/>
                          </a:solidFill>
                        </a:rPr>
                        <a:t>only local perception</a:t>
                      </a:r>
                      <a:endParaRPr lang="en-US" dirty="0"/>
                    </a:p>
                  </a:txBody>
                  <a:tcPr/>
                </a:tc>
                <a:extLst>
                  <a:ext uri="{0D108BD9-81ED-4DB2-BD59-A6C34878D82A}">
                    <a16:rowId xmlns:a16="http://schemas.microsoft.com/office/drawing/2014/main" val="1001976280"/>
                  </a:ext>
                </a:extLst>
              </a:tr>
              <a:tr h="370840">
                <a:tc>
                  <a:txBody>
                    <a:bodyPr/>
                    <a:lstStyle/>
                    <a:p>
                      <a:r>
                        <a:rPr lang="en-US" dirty="0"/>
                        <a:t>Static?</a:t>
                      </a:r>
                    </a:p>
                  </a:txBody>
                  <a:tcPr/>
                </a:tc>
                <a:tc>
                  <a:txBody>
                    <a:bodyPr/>
                    <a:lstStyle/>
                    <a:p>
                      <a:r>
                        <a:rPr lang="en-US" sz="1800" dirty="0">
                          <a:solidFill>
                            <a:srgbClr val="00A64E"/>
                          </a:solidFill>
                        </a:rPr>
                        <a:t>Yes</a:t>
                      </a:r>
                      <a:endParaRPr lang="en-US" dirty="0"/>
                    </a:p>
                  </a:txBody>
                  <a:tcPr/>
                </a:tc>
                <a:tc>
                  <a:txBody>
                    <a:bodyPr/>
                    <a:lstStyle/>
                    <a:p>
                      <a:r>
                        <a:rPr lang="en-US" sz="1800" dirty="0">
                          <a:solidFill>
                            <a:srgbClr val="00A64E"/>
                          </a:solidFill>
                        </a:rPr>
                        <a:t>Wumpus and pits do not move</a:t>
                      </a:r>
                      <a:endParaRPr lang="en-US" dirty="0"/>
                    </a:p>
                  </a:txBody>
                  <a:tcPr/>
                </a:tc>
                <a:extLst>
                  <a:ext uri="{0D108BD9-81ED-4DB2-BD59-A6C34878D82A}">
                    <a16:rowId xmlns:a16="http://schemas.microsoft.com/office/drawing/2014/main" val="3214510037"/>
                  </a:ext>
                </a:extLst>
              </a:tr>
              <a:tr h="370840">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dirty="0"/>
                        <a:t>Discrete? </a:t>
                      </a:r>
                    </a:p>
                  </a:txBody>
                  <a:tcPr/>
                </a:tc>
                <a:tc>
                  <a:txBody>
                    <a:bodyPr/>
                    <a:lstStyle/>
                    <a:p>
                      <a:r>
                        <a:rPr lang="en-US" sz="1800" dirty="0">
                          <a:solidFill>
                            <a:srgbClr val="00A64E"/>
                          </a:solidFill>
                        </a:rPr>
                        <a:t>Yes</a:t>
                      </a:r>
                      <a:endParaRPr lang="en-US" dirty="0"/>
                    </a:p>
                  </a:txBody>
                  <a:tcPr/>
                </a:tc>
                <a:tc>
                  <a:txBody>
                    <a:bodyPr/>
                    <a:lstStyle/>
                    <a:p>
                      <a:r>
                        <a:rPr lang="en-US" sz="1800" dirty="0">
                          <a:solidFill>
                            <a:srgbClr val="00A64E"/>
                          </a:solidFill>
                        </a:rPr>
                        <a:t>Wumpus can be in a certain room at a time</a:t>
                      </a:r>
                      <a:endParaRPr lang="en-US" dirty="0"/>
                    </a:p>
                  </a:txBody>
                  <a:tcPr/>
                </a:tc>
                <a:extLst>
                  <a:ext uri="{0D108BD9-81ED-4DB2-BD59-A6C34878D82A}">
                    <a16:rowId xmlns:a16="http://schemas.microsoft.com/office/drawing/2014/main" val="1580354040"/>
                  </a:ext>
                </a:extLst>
              </a:tr>
              <a:tr h="370840">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dirty="0"/>
                        <a:t>Episodic? </a:t>
                      </a:r>
                    </a:p>
                  </a:txBody>
                  <a:tcPr/>
                </a:tc>
                <a:tc>
                  <a:txBody>
                    <a:bodyPr/>
                    <a:lstStyle/>
                    <a:p>
                      <a:r>
                        <a:rPr lang="en-US" sz="1800" dirty="0">
                          <a:solidFill>
                            <a:srgbClr val="00A64E"/>
                          </a:solidFill>
                        </a:rPr>
                        <a:t>No</a:t>
                      </a:r>
                      <a:endParaRPr lang="en-US" dirty="0"/>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800" dirty="0">
                          <a:solidFill>
                            <a:srgbClr val="00A64E"/>
                          </a:solidFill>
                        </a:rPr>
                        <a:t>sequential at the level of actions.</a:t>
                      </a:r>
                    </a:p>
                  </a:txBody>
                  <a:tcPr/>
                </a:tc>
                <a:extLst>
                  <a:ext uri="{0D108BD9-81ED-4DB2-BD59-A6C34878D82A}">
                    <a16:rowId xmlns:a16="http://schemas.microsoft.com/office/drawing/2014/main" val="1084307510"/>
                  </a:ext>
                </a:extLst>
              </a:tr>
            </a:tbl>
          </a:graphicData>
        </a:graphic>
      </p:graphicFrame>
    </p:spTree>
    <p:extLst>
      <p:ext uri="{BB962C8B-B14F-4D97-AF65-F5344CB8AC3E}">
        <p14:creationId xmlns:p14="http://schemas.microsoft.com/office/powerpoint/2010/main" val="24133512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3BF27-E9FF-42E1-9F9E-580E5E5CF690}"/>
              </a:ext>
            </a:extLst>
          </p:cNvPr>
          <p:cNvSpPr>
            <a:spLocks noGrp="1"/>
          </p:cNvSpPr>
          <p:nvPr>
            <p:ph type="title"/>
          </p:nvPr>
        </p:nvSpPr>
        <p:spPr/>
        <p:txBody>
          <a:bodyPr>
            <a:normAutofit fontScale="90000"/>
          </a:bodyPr>
          <a:lstStyle/>
          <a:p>
            <a:r>
              <a:rPr lang="en-US" dirty="0"/>
              <a:t>Wumpus World Solution</a:t>
            </a:r>
          </a:p>
        </p:txBody>
      </p:sp>
      <p:sp>
        <p:nvSpPr>
          <p:cNvPr id="11" name="Content Placeholder 10">
            <a:extLst>
              <a:ext uri="{FF2B5EF4-FFF2-40B4-BE49-F238E27FC236}">
                <a16:creationId xmlns:a16="http://schemas.microsoft.com/office/drawing/2014/main" id="{0AFC08EB-43EA-41E5-B076-946CE0624ADE}"/>
              </a:ext>
            </a:extLst>
          </p:cNvPr>
          <p:cNvSpPr>
            <a:spLocks noGrp="1"/>
          </p:cNvSpPr>
          <p:nvPr>
            <p:ph idx="1"/>
          </p:nvPr>
        </p:nvSpPr>
        <p:spPr>
          <a:xfrm>
            <a:off x="304800" y="1228153"/>
            <a:ext cx="7396899" cy="5021979"/>
          </a:xfrm>
        </p:spPr>
        <p:txBody>
          <a:bodyPr/>
          <a:lstStyle/>
          <a:p>
            <a:r>
              <a:rPr lang="en-US" dirty="0"/>
              <a:t>Step 1:</a:t>
            </a:r>
          </a:p>
          <a:p>
            <a:pPr lvl="1"/>
            <a:r>
              <a:rPr lang="en-US" dirty="0"/>
              <a:t>Since A does not perceive anything → room [1,1] is OK.</a:t>
            </a:r>
          </a:p>
          <a:p>
            <a:pPr lvl="1"/>
            <a:r>
              <a:rPr lang="en-US" dirty="0"/>
              <a:t>Since A does not perceive anything in [1,1] → room [1,2] and room [2,1] are OK.</a:t>
            </a:r>
          </a:p>
          <a:p>
            <a:pPr lvl="1"/>
            <a:r>
              <a:rPr lang="en-US" dirty="0"/>
              <a:t>The agent must choose between room [1,2] and room [2,1]. Since both are okay, he can flip a coin and choose any. </a:t>
            </a:r>
          </a:p>
          <a:p>
            <a:pPr lvl="1"/>
            <a:r>
              <a:rPr lang="en-US" dirty="0"/>
              <a:t>Suppose he chose room [1,2]</a:t>
            </a:r>
          </a:p>
          <a:p>
            <a:endParaRPr lang="en-US" dirty="0"/>
          </a:p>
        </p:txBody>
      </p:sp>
      <p:sp>
        <p:nvSpPr>
          <p:cNvPr id="4" name="Date Placeholder 3">
            <a:extLst>
              <a:ext uri="{FF2B5EF4-FFF2-40B4-BE49-F238E27FC236}">
                <a16:creationId xmlns:a16="http://schemas.microsoft.com/office/drawing/2014/main" id="{4CE299BE-0D4C-48EB-BD23-2883BCAC26A5}"/>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B950518D-D838-4D5D-8550-74EFE025C94C}"/>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3D8471ED-D728-4947-A532-C96E9E4F2B5E}"/>
              </a:ext>
            </a:extLst>
          </p:cNvPr>
          <p:cNvSpPr>
            <a:spLocks noGrp="1"/>
          </p:cNvSpPr>
          <p:nvPr>
            <p:ph type="sldNum" sz="quarter" idx="12"/>
          </p:nvPr>
        </p:nvSpPr>
        <p:spPr/>
        <p:txBody>
          <a:bodyPr/>
          <a:lstStyle/>
          <a:p>
            <a:fld id="{75B1DB82-35C9-4076-A5B8-0781B30E89ED}" type="slidenum">
              <a:rPr lang="en-US" smtClean="0"/>
              <a:pPr/>
              <a:t>66</a:t>
            </a:fld>
            <a:endParaRPr lang="en-US"/>
          </a:p>
        </p:txBody>
      </p:sp>
      <p:pic>
        <p:nvPicPr>
          <p:cNvPr id="17" name="Picture 16" descr="Calendar&#10;&#10;Description automatically generated">
            <a:extLst>
              <a:ext uri="{FF2B5EF4-FFF2-40B4-BE49-F238E27FC236}">
                <a16:creationId xmlns:a16="http://schemas.microsoft.com/office/drawing/2014/main" id="{07F30529-EAF8-4E77-A565-426435BB8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4894" y="1877214"/>
            <a:ext cx="4057217" cy="3901416"/>
          </a:xfrm>
          <a:prstGeom prst="rect">
            <a:avLst/>
          </a:prstGeom>
        </p:spPr>
      </p:pic>
    </p:spTree>
    <p:extLst>
      <p:ext uri="{BB962C8B-B14F-4D97-AF65-F5344CB8AC3E}">
        <p14:creationId xmlns:p14="http://schemas.microsoft.com/office/powerpoint/2010/main" val="11777243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B1E6-14B4-417C-AFE5-74F1CAB88420}"/>
              </a:ext>
            </a:extLst>
          </p:cNvPr>
          <p:cNvSpPr>
            <a:spLocks noGrp="1"/>
          </p:cNvSpPr>
          <p:nvPr>
            <p:ph type="title"/>
          </p:nvPr>
        </p:nvSpPr>
        <p:spPr/>
        <p:txBody>
          <a:bodyPr>
            <a:normAutofit fontScale="90000"/>
          </a:bodyPr>
          <a:lstStyle/>
          <a:p>
            <a:r>
              <a:rPr lang="en-US" dirty="0"/>
              <a:t>Wumpus World Solution</a:t>
            </a:r>
          </a:p>
        </p:txBody>
      </p:sp>
      <p:sp>
        <p:nvSpPr>
          <p:cNvPr id="3" name="Content Placeholder 2">
            <a:extLst>
              <a:ext uri="{FF2B5EF4-FFF2-40B4-BE49-F238E27FC236}">
                <a16:creationId xmlns:a16="http://schemas.microsoft.com/office/drawing/2014/main" id="{BEAB190A-075D-49BE-AD3E-ADC3BD2AC4A4}"/>
              </a:ext>
            </a:extLst>
          </p:cNvPr>
          <p:cNvSpPr>
            <a:spLocks noGrp="1"/>
          </p:cNvSpPr>
          <p:nvPr>
            <p:ph idx="1"/>
          </p:nvPr>
        </p:nvSpPr>
        <p:spPr>
          <a:xfrm>
            <a:off x="304800" y="1228153"/>
            <a:ext cx="7811678" cy="5021979"/>
          </a:xfrm>
        </p:spPr>
        <p:txBody>
          <a:bodyPr>
            <a:normAutofit/>
          </a:bodyPr>
          <a:lstStyle/>
          <a:p>
            <a:r>
              <a:rPr lang="en-US" dirty="0"/>
              <a:t>Step 2:</a:t>
            </a:r>
          </a:p>
          <a:p>
            <a:pPr lvl="1"/>
            <a:r>
              <a:rPr lang="en-US" dirty="0"/>
              <a:t>A perceives a Breeze in room [1,2] → room [1,3] and [2,2] may have pits</a:t>
            </a:r>
          </a:p>
          <a:p>
            <a:pPr lvl="1"/>
            <a:r>
              <a:rPr lang="en-US" dirty="0"/>
              <a:t>Action: calculate penalty for each unexplored room and move to least penalty room, i.e. move to [2,1] via room [1,1]</a:t>
            </a:r>
          </a:p>
          <a:p>
            <a:pPr lvl="1"/>
            <a:r>
              <a:rPr lang="en-US" dirty="0"/>
              <a:t>Anticipated Penalty for room [1,3] = -1000</a:t>
            </a:r>
          </a:p>
          <a:p>
            <a:pPr lvl="1"/>
            <a:r>
              <a:rPr lang="en-US" dirty="0"/>
              <a:t>Anticipated Penalty for room [2,2] = -1000</a:t>
            </a:r>
          </a:p>
          <a:p>
            <a:pPr lvl="1"/>
            <a:r>
              <a:rPr lang="en-US" dirty="0"/>
              <a:t>Penalty for room [2,1] via room [1,1] = -2</a:t>
            </a:r>
          </a:p>
          <a:p>
            <a:endParaRPr lang="en-US" dirty="0"/>
          </a:p>
        </p:txBody>
      </p:sp>
      <p:sp>
        <p:nvSpPr>
          <p:cNvPr id="4" name="Date Placeholder 3">
            <a:extLst>
              <a:ext uri="{FF2B5EF4-FFF2-40B4-BE49-F238E27FC236}">
                <a16:creationId xmlns:a16="http://schemas.microsoft.com/office/drawing/2014/main" id="{5B4B06EB-3100-4FAA-BFCD-87DAFAF63B20}"/>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D9FC3C41-03FA-4A19-92BD-B89708A781E2}"/>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0445CC3C-0635-4209-9D82-941E548E0250}"/>
              </a:ext>
            </a:extLst>
          </p:cNvPr>
          <p:cNvSpPr>
            <a:spLocks noGrp="1"/>
          </p:cNvSpPr>
          <p:nvPr>
            <p:ph type="sldNum" sz="quarter" idx="12"/>
          </p:nvPr>
        </p:nvSpPr>
        <p:spPr/>
        <p:txBody>
          <a:bodyPr/>
          <a:lstStyle/>
          <a:p>
            <a:fld id="{75B1DB82-35C9-4076-A5B8-0781B30E89ED}" type="slidenum">
              <a:rPr lang="en-US" smtClean="0"/>
              <a:pPr/>
              <a:t>67</a:t>
            </a:fld>
            <a:endParaRPr lang="en-US"/>
          </a:p>
        </p:txBody>
      </p:sp>
      <p:pic>
        <p:nvPicPr>
          <p:cNvPr id="12" name="Picture 11" descr="Calendar&#10;&#10;Description automatically generated">
            <a:extLst>
              <a:ext uri="{FF2B5EF4-FFF2-40B4-BE49-F238E27FC236}">
                <a16:creationId xmlns:a16="http://schemas.microsoft.com/office/drawing/2014/main" id="{AFC39462-8C6D-44DB-9B19-40EB687E6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6478" y="1877213"/>
            <a:ext cx="3770722" cy="3788296"/>
          </a:xfrm>
          <a:prstGeom prst="rect">
            <a:avLst/>
          </a:prstGeom>
        </p:spPr>
      </p:pic>
    </p:spTree>
    <p:extLst>
      <p:ext uri="{BB962C8B-B14F-4D97-AF65-F5344CB8AC3E}">
        <p14:creationId xmlns:p14="http://schemas.microsoft.com/office/powerpoint/2010/main" val="3934913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C0F6-2819-40D3-8AA3-9692D0827F9D}"/>
              </a:ext>
            </a:extLst>
          </p:cNvPr>
          <p:cNvSpPr>
            <a:spLocks noGrp="1"/>
          </p:cNvSpPr>
          <p:nvPr>
            <p:ph type="title"/>
          </p:nvPr>
        </p:nvSpPr>
        <p:spPr/>
        <p:txBody>
          <a:bodyPr>
            <a:normAutofit fontScale="90000"/>
          </a:bodyPr>
          <a:lstStyle/>
          <a:p>
            <a:r>
              <a:rPr lang="en-US" dirty="0"/>
              <a:t>Wumpus World Solution</a:t>
            </a:r>
          </a:p>
        </p:txBody>
      </p:sp>
      <p:sp>
        <p:nvSpPr>
          <p:cNvPr id="3" name="Content Placeholder 2">
            <a:extLst>
              <a:ext uri="{FF2B5EF4-FFF2-40B4-BE49-F238E27FC236}">
                <a16:creationId xmlns:a16="http://schemas.microsoft.com/office/drawing/2014/main" id="{1DE26660-F0AD-4AFC-ABEE-AF775EDB63F1}"/>
              </a:ext>
            </a:extLst>
          </p:cNvPr>
          <p:cNvSpPr>
            <a:spLocks noGrp="1"/>
          </p:cNvSpPr>
          <p:nvPr>
            <p:ph idx="1"/>
          </p:nvPr>
        </p:nvSpPr>
        <p:spPr>
          <a:xfrm>
            <a:off x="304800" y="1228153"/>
            <a:ext cx="7406326" cy="5021979"/>
          </a:xfrm>
        </p:spPr>
        <p:txBody>
          <a:bodyPr>
            <a:normAutofit lnSpcReduction="10000"/>
          </a:bodyPr>
          <a:lstStyle/>
          <a:p>
            <a:r>
              <a:rPr lang="en-US" dirty="0"/>
              <a:t>Step 3:</a:t>
            </a:r>
          </a:p>
          <a:p>
            <a:pPr lvl="1"/>
            <a:r>
              <a:rPr lang="en-US" dirty="0"/>
              <a:t>A perceives a Stench in room [2,1] → room [3,1] and [2,2] may have Wumpus</a:t>
            </a:r>
          </a:p>
          <a:p>
            <a:pPr lvl="1"/>
            <a:r>
              <a:rPr lang="en-US" dirty="0"/>
              <a:t>The agent observes a conflict in logic in room [2,2]:</a:t>
            </a:r>
          </a:p>
          <a:p>
            <a:pPr lvl="2"/>
            <a:r>
              <a:rPr lang="en-US" dirty="0"/>
              <a:t>When A was in room [1,2] there was no stench, thus room [2,2] cannot have Wumpus </a:t>
            </a:r>
          </a:p>
          <a:p>
            <a:pPr lvl="2"/>
            <a:r>
              <a:rPr lang="en-US" dirty="0"/>
              <a:t>Room [2,1] does not have a breeze and hence there cannot be a pit in room [2,2]. </a:t>
            </a:r>
          </a:p>
          <a:p>
            <a:pPr lvl="2"/>
            <a:r>
              <a:rPr lang="en-US" dirty="0"/>
              <a:t>Therefore, A concludes that room [2,2] is safe and marks it as OK.</a:t>
            </a:r>
          </a:p>
          <a:p>
            <a:pPr lvl="1"/>
            <a:r>
              <a:rPr lang="en-US" dirty="0"/>
              <a:t>Action Move to room [2,2]</a:t>
            </a:r>
          </a:p>
          <a:p>
            <a:endParaRPr lang="en-US" dirty="0"/>
          </a:p>
        </p:txBody>
      </p:sp>
      <p:sp>
        <p:nvSpPr>
          <p:cNvPr id="4" name="Date Placeholder 3">
            <a:extLst>
              <a:ext uri="{FF2B5EF4-FFF2-40B4-BE49-F238E27FC236}">
                <a16:creationId xmlns:a16="http://schemas.microsoft.com/office/drawing/2014/main" id="{24E3AFEC-395B-4FAB-B6EE-EEF0B88F2E1A}"/>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B2069BCC-6603-439F-B386-187A4F969DDE}"/>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28233023-687C-405E-B862-1DC7EDAAC474}"/>
              </a:ext>
            </a:extLst>
          </p:cNvPr>
          <p:cNvSpPr>
            <a:spLocks noGrp="1"/>
          </p:cNvSpPr>
          <p:nvPr>
            <p:ph type="sldNum" sz="quarter" idx="12"/>
          </p:nvPr>
        </p:nvSpPr>
        <p:spPr/>
        <p:txBody>
          <a:bodyPr/>
          <a:lstStyle/>
          <a:p>
            <a:fld id="{75B1DB82-35C9-4076-A5B8-0781B30E89ED}" type="slidenum">
              <a:rPr lang="en-US" smtClean="0"/>
              <a:pPr/>
              <a:t>68</a:t>
            </a:fld>
            <a:endParaRPr lang="en-US"/>
          </a:p>
        </p:txBody>
      </p:sp>
      <p:pic>
        <p:nvPicPr>
          <p:cNvPr id="12" name="Picture 11" descr="Calendar&#10;&#10;Description automatically generated">
            <a:extLst>
              <a:ext uri="{FF2B5EF4-FFF2-40B4-BE49-F238E27FC236}">
                <a16:creationId xmlns:a16="http://schemas.microsoft.com/office/drawing/2014/main" id="{4300493C-F339-4F68-B160-05EB48363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8637" y="1764092"/>
            <a:ext cx="4057745" cy="3910844"/>
          </a:xfrm>
          <a:prstGeom prst="rect">
            <a:avLst/>
          </a:prstGeom>
        </p:spPr>
      </p:pic>
    </p:spTree>
    <p:extLst>
      <p:ext uri="{BB962C8B-B14F-4D97-AF65-F5344CB8AC3E}">
        <p14:creationId xmlns:p14="http://schemas.microsoft.com/office/powerpoint/2010/main" val="23437136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C0F6-2819-40D3-8AA3-9692D0827F9D}"/>
              </a:ext>
            </a:extLst>
          </p:cNvPr>
          <p:cNvSpPr>
            <a:spLocks noGrp="1"/>
          </p:cNvSpPr>
          <p:nvPr>
            <p:ph type="title"/>
          </p:nvPr>
        </p:nvSpPr>
        <p:spPr/>
        <p:txBody>
          <a:bodyPr>
            <a:normAutofit fontScale="90000"/>
          </a:bodyPr>
          <a:lstStyle/>
          <a:p>
            <a:r>
              <a:rPr lang="en-US" dirty="0"/>
              <a:t>Wumpus World Solution</a:t>
            </a:r>
          </a:p>
        </p:txBody>
      </p:sp>
      <p:sp>
        <p:nvSpPr>
          <p:cNvPr id="3" name="Content Placeholder 2">
            <a:extLst>
              <a:ext uri="{FF2B5EF4-FFF2-40B4-BE49-F238E27FC236}">
                <a16:creationId xmlns:a16="http://schemas.microsoft.com/office/drawing/2014/main" id="{1DE26660-F0AD-4AFC-ABEE-AF775EDB63F1}"/>
              </a:ext>
            </a:extLst>
          </p:cNvPr>
          <p:cNvSpPr>
            <a:spLocks noGrp="1"/>
          </p:cNvSpPr>
          <p:nvPr>
            <p:ph idx="1"/>
          </p:nvPr>
        </p:nvSpPr>
        <p:spPr>
          <a:xfrm>
            <a:off x="304800" y="1228153"/>
            <a:ext cx="7406326" cy="5021979"/>
          </a:xfrm>
        </p:spPr>
        <p:txBody>
          <a:bodyPr>
            <a:normAutofit lnSpcReduction="10000"/>
          </a:bodyPr>
          <a:lstStyle/>
          <a:p>
            <a:r>
              <a:rPr lang="en-US" dirty="0"/>
              <a:t>Step 3:</a:t>
            </a:r>
          </a:p>
          <a:p>
            <a:pPr lvl="1"/>
            <a:r>
              <a:rPr lang="en-US" dirty="0"/>
              <a:t>Wumpus → Stench</a:t>
            </a:r>
          </a:p>
          <a:p>
            <a:pPr lvl="1"/>
            <a:r>
              <a:rPr lang="en-US" dirty="0"/>
              <a:t>[1,2] no stench → [2,2] no Wumpus</a:t>
            </a:r>
          </a:p>
          <a:p>
            <a:pPr lvl="1"/>
            <a:r>
              <a:rPr lang="en-US" dirty="0"/>
              <a:t>Pit → Breeze</a:t>
            </a:r>
          </a:p>
          <a:p>
            <a:pPr lvl="1"/>
            <a:r>
              <a:rPr lang="en-US" dirty="0"/>
              <a:t>[2,1] no Breeze → [2,2] no Pit</a:t>
            </a:r>
          </a:p>
          <a:p>
            <a:pPr lvl="1"/>
            <a:r>
              <a:rPr lang="en-US" dirty="0"/>
              <a:t>Thus, [2,2] has no Wumpus and no Pit and is marked OK</a:t>
            </a:r>
          </a:p>
          <a:p>
            <a:pPr lvl="1"/>
            <a:r>
              <a:rPr lang="en-US" dirty="0">
                <a:solidFill>
                  <a:schemeClr val="accent1">
                    <a:lumMod val="75000"/>
                  </a:schemeClr>
                </a:solidFill>
              </a:rPr>
              <a:t>S in [2,1] </a:t>
            </a:r>
            <a:r>
              <a:rPr lang="en-US" dirty="0"/>
              <a:t>→ </a:t>
            </a:r>
            <a:r>
              <a:rPr lang="en-US" dirty="0">
                <a:solidFill>
                  <a:schemeClr val="accent1">
                    <a:lumMod val="75000"/>
                  </a:schemeClr>
                </a:solidFill>
              </a:rPr>
              <a:t>W in [3,1] </a:t>
            </a:r>
            <a:r>
              <a:rPr lang="en-US" dirty="0"/>
              <a:t>V </a:t>
            </a:r>
            <a:r>
              <a:rPr lang="en-US" dirty="0">
                <a:solidFill>
                  <a:schemeClr val="accent1">
                    <a:lumMod val="75000"/>
                  </a:schemeClr>
                </a:solidFill>
              </a:rPr>
              <a:t>W in [2,2]</a:t>
            </a:r>
          </a:p>
          <a:p>
            <a:pPr lvl="1"/>
            <a:r>
              <a:rPr lang="en-US" dirty="0"/>
              <a:t>Since  W in [2,2]=F → W in [3,1]=T</a:t>
            </a:r>
          </a:p>
          <a:p>
            <a:pPr lvl="1"/>
            <a:r>
              <a:rPr lang="en-US" dirty="0"/>
              <a:t>Thus, we conclude that Wumpus is in [3,1]</a:t>
            </a:r>
          </a:p>
          <a:p>
            <a:endParaRPr lang="en-US" dirty="0"/>
          </a:p>
        </p:txBody>
      </p:sp>
      <p:sp>
        <p:nvSpPr>
          <p:cNvPr id="4" name="Date Placeholder 3">
            <a:extLst>
              <a:ext uri="{FF2B5EF4-FFF2-40B4-BE49-F238E27FC236}">
                <a16:creationId xmlns:a16="http://schemas.microsoft.com/office/drawing/2014/main" id="{24E3AFEC-395B-4FAB-B6EE-EEF0B88F2E1A}"/>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B2069BCC-6603-439F-B386-187A4F969DDE}"/>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28233023-687C-405E-B862-1DC7EDAAC474}"/>
              </a:ext>
            </a:extLst>
          </p:cNvPr>
          <p:cNvSpPr>
            <a:spLocks noGrp="1"/>
          </p:cNvSpPr>
          <p:nvPr>
            <p:ph type="sldNum" sz="quarter" idx="12"/>
          </p:nvPr>
        </p:nvSpPr>
        <p:spPr/>
        <p:txBody>
          <a:bodyPr/>
          <a:lstStyle/>
          <a:p>
            <a:fld id="{75B1DB82-35C9-4076-A5B8-0781B30E89ED}" type="slidenum">
              <a:rPr lang="en-US" smtClean="0"/>
              <a:pPr/>
              <a:t>69</a:t>
            </a:fld>
            <a:endParaRPr lang="en-US"/>
          </a:p>
        </p:txBody>
      </p:sp>
      <p:pic>
        <p:nvPicPr>
          <p:cNvPr id="12" name="Picture 11" descr="Calendar&#10;&#10;Description automatically generated">
            <a:extLst>
              <a:ext uri="{FF2B5EF4-FFF2-40B4-BE49-F238E27FC236}">
                <a16:creationId xmlns:a16="http://schemas.microsoft.com/office/drawing/2014/main" id="{4300493C-F339-4F68-B160-05EB48363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8637" y="1764092"/>
            <a:ext cx="4057745" cy="3910844"/>
          </a:xfrm>
          <a:prstGeom prst="rect">
            <a:avLst/>
          </a:prstGeom>
        </p:spPr>
      </p:pic>
    </p:spTree>
    <p:extLst>
      <p:ext uri="{BB962C8B-B14F-4D97-AF65-F5344CB8AC3E}">
        <p14:creationId xmlns:p14="http://schemas.microsoft.com/office/powerpoint/2010/main" val="19246668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3E945-6C58-45BF-91AD-431E078C8B3B}"/>
              </a:ext>
            </a:extLst>
          </p:cNvPr>
          <p:cNvSpPr>
            <a:spLocks noGrp="1"/>
          </p:cNvSpPr>
          <p:nvPr>
            <p:ph type="title"/>
          </p:nvPr>
        </p:nvSpPr>
        <p:spPr/>
        <p:txBody>
          <a:bodyPr>
            <a:normAutofit fontScale="90000"/>
          </a:bodyPr>
          <a:lstStyle/>
          <a:p>
            <a:r>
              <a:rPr lang="en-US" dirty="0"/>
              <a:t>Wumpus World Solution</a:t>
            </a:r>
          </a:p>
        </p:txBody>
      </p:sp>
      <p:sp>
        <p:nvSpPr>
          <p:cNvPr id="3" name="Content Placeholder 2">
            <a:extLst>
              <a:ext uri="{FF2B5EF4-FFF2-40B4-BE49-F238E27FC236}">
                <a16:creationId xmlns:a16="http://schemas.microsoft.com/office/drawing/2014/main" id="{3E9C19F4-3283-4F18-9654-A303FA8CA124}"/>
              </a:ext>
            </a:extLst>
          </p:cNvPr>
          <p:cNvSpPr>
            <a:spLocks noGrp="1"/>
          </p:cNvSpPr>
          <p:nvPr>
            <p:ph idx="1"/>
          </p:nvPr>
        </p:nvSpPr>
        <p:spPr>
          <a:xfrm>
            <a:off x="304800" y="1228153"/>
            <a:ext cx="7104668" cy="5021979"/>
          </a:xfrm>
        </p:spPr>
        <p:txBody>
          <a:bodyPr/>
          <a:lstStyle/>
          <a:p>
            <a:r>
              <a:rPr lang="en-US" dirty="0"/>
              <a:t>Step 4:</a:t>
            </a:r>
          </a:p>
          <a:p>
            <a:pPr lvl="1"/>
            <a:r>
              <a:rPr lang="en-US" dirty="0"/>
              <a:t>A perceives nothing in room [2,2] → Mark room [2,3] and [3,2] as OK</a:t>
            </a:r>
          </a:p>
          <a:p>
            <a:pPr lvl="1"/>
            <a:r>
              <a:rPr lang="en-US" dirty="0"/>
              <a:t>Choices: </a:t>
            </a:r>
          </a:p>
          <a:p>
            <a:pPr lvl="2"/>
            <a:r>
              <a:rPr lang="en-US" dirty="0"/>
              <a:t>Move to room [2,3] or [3,2] since they are safe</a:t>
            </a:r>
          </a:p>
          <a:p>
            <a:pPr lvl="1"/>
            <a:r>
              <a:rPr lang="en-US" dirty="0"/>
              <a:t>Action: move to room [2,3]</a:t>
            </a:r>
          </a:p>
          <a:p>
            <a:endParaRPr lang="en-US" dirty="0"/>
          </a:p>
        </p:txBody>
      </p:sp>
      <p:sp>
        <p:nvSpPr>
          <p:cNvPr id="4" name="Date Placeholder 3">
            <a:extLst>
              <a:ext uri="{FF2B5EF4-FFF2-40B4-BE49-F238E27FC236}">
                <a16:creationId xmlns:a16="http://schemas.microsoft.com/office/drawing/2014/main" id="{CEAB5CE2-147C-48E9-99F6-551A34879CE8}"/>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E92A364B-F54E-403E-93A2-D6E00D0601D1}"/>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FF9FFB34-4ADD-471F-835A-2A3E13D3FDDD}"/>
              </a:ext>
            </a:extLst>
          </p:cNvPr>
          <p:cNvSpPr>
            <a:spLocks noGrp="1"/>
          </p:cNvSpPr>
          <p:nvPr>
            <p:ph type="sldNum" sz="quarter" idx="12"/>
          </p:nvPr>
        </p:nvSpPr>
        <p:spPr/>
        <p:txBody>
          <a:bodyPr/>
          <a:lstStyle/>
          <a:p>
            <a:fld id="{75B1DB82-35C9-4076-A5B8-0781B30E89ED}" type="slidenum">
              <a:rPr lang="en-US" smtClean="0"/>
              <a:pPr/>
              <a:t>70</a:t>
            </a:fld>
            <a:endParaRPr lang="en-US"/>
          </a:p>
        </p:txBody>
      </p:sp>
      <p:pic>
        <p:nvPicPr>
          <p:cNvPr id="12" name="Picture 11" descr="Calendar&#10;&#10;Description automatically generated">
            <a:extLst>
              <a:ext uri="{FF2B5EF4-FFF2-40B4-BE49-F238E27FC236}">
                <a16:creationId xmlns:a16="http://schemas.microsoft.com/office/drawing/2014/main" id="{3B9CFC77-BB6A-401F-A52A-AA4B08E5B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3793" y="1745981"/>
            <a:ext cx="4057745" cy="3957235"/>
          </a:xfrm>
          <a:prstGeom prst="rect">
            <a:avLst/>
          </a:prstGeom>
        </p:spPr>
      </p:pic>
    </p:spTree>
    <p:extLst>
      <p:ext uri="{BB962C8B-B14F-4D97-AF65-F5344CB8AC3E}">
        <p14:creationId xmlns:p14="http://schemas.microsoft.com/office/powerpoint/2010/main" val="35596784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323E1-EDD7-446D-B15C-AB9DFB8BACD2}"/>
              </a:ext>
            </a:extLst>
          </p:cNvPr>
          <p:cNvSpPr>
            <a:spLocks noGrp="1"/>
          </p:cNvSpPr>
          <p:nvPr>
            <p:ph type="title"/>
          </p:nvPr>
        </p:nvSpPr>
        <p:spPr/>
        <p:txBody>
          <a:bodyPr>
            <a:normAutofit fontScale="90000"/>
          </a:bodyPr>
          <a:lstStyle/>
          <a:p>
            <a:r>
              <a:rPr lang="en-US" dirty="0"/>
              <a:t>Wumpus World Solution</a:t>
            </a:r>
          </a:p>
        </p:txBody>
      </p:sp>
      <p:sp>
        <p:nvSpPr>
          <p:cNvPr id="3" name="Content Placeholder 2">
            <a:extLst>
              <a:ext uri="{FF2B5EF4-FFF2-40B4-BE49-F238E27FC236}">
                <a16:creationId xmlns:a16="http://schemas.microsoft.com/office/drawing/2014/main" id="{26D830D7-F6C4-49A7-97F6-9895D51F8E0C}"/>
              </a:ext>
            </a:extLst>
          </p:cNvPr>
          <p:cNvSpPr>
            <a:spLocks noGrp="1"/>
          </p:cNvSpPr>
          <p:nvPr>
            <p:ph idx="1"/>
          </p:nvPr>
        </p:nvSpPr>
        <p:spPr>
          <a:xfrm>
            <a:off x="304800" y="1228153"/>
            <a:ext cx="6265682" cy="5021979"/>
          </a:xfrm>
        </p:spPr>
        <p:txBody>
          <a:bodyPr/>
          <a:lstStyle/>
          <a:p>
            <a:r>
              <a:rPr lang="en-US" dirty="0"/>
              <a:t>Step 5:</a:t>
            </a:r>
          </a:p>
          <a:p>
            <a:pPr lvl="1"/>
            <a:r>
              <a:rPr lang="en-US" dirty="0"/>
              <a:t>A perceives a Breeze in room [2,3] → rooms [3,3] and [2,4] may have pits.</a:t>
            </a:r>
          </a:p>
          <a:p>
            <a:pPr lvl="1"/>
            <a:r>
              <a:rPr lang="en-US" dirty="0"/>
              <a:t>Action: estimate penalty in each room → move to room [3,2]</a:t>
            </a:r>
          </a:p>
          <a:p>
            <a:endParaRPr lang="en-US" dirty="0"/>
          </a:p>
        </p:txBody>
      </p:sp>
      <p:sp>
        <p:nvSpPr>
          <p:cNvPr id="4" name="Date Placeholder 3">
            <a:extLst>
              <a:ext uri="{FF2B5EF4-FFF2-40B4-BE49-F238E27FC236}">
                <a16:creationId xmlns:a16="http://schemas.microsoft.com/office/drawing/2014/main" id="{A2B3AADB-4FDF-4F7F-8B32-57B5BFBBB720}"/>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CB46009A-8B72-46B4-AD6B-5673960939E1}"/>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6C03A7B9-2AC5-4D38-9168-9C5B83A97488}"/>
              </a:ext>
            </a:extLst>
          </p:cNvPr>
          <p:cNvSpPr>
            <a:spLocks noGrp="1"/>
          </p:cNvSpPr>
          <p:nvPr>
            <p:ph type="sldNum" sz="quarter" idx="12"/>
          </p:nvPr>
        </p:nvSpPr>
        <p:spPr/>
        <p:txBody>
          <a:bodyPr/>
          <a:lstStyle/>
          <a:p>
            <a:fld id="{75B1DB82-35C9-4076-A5B8-0781B30E89ED}" type="slidenum">
              <a:rPr lang="en-US" smtClean="0"/>
              <a:pPr/>
              <a:t>71</a:t>
            </a:fld>
            <a:endParaRPr lang="en-US"/>
          </a:p>
        </p:txBody>
      </p:sp>
      <p:pic>
        <p:nvPicPr>
          <p:cNvPr id="12" name="Picture 11" descr="Calendar&#10;&#10;Description automatically generated">
            <a:extLst>
              <a:ext uri="{FF2B5EF4-FFF2-40B4-BE49-F238E27FC236}">
                <a16:creationId xmlns:a16="http://schemas.microsoft.com/office/drawing/2014/main" id="{0F27CB7A-2DC8-48CC-9FE9-A73108005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4817" y="1742127"/>
            <a:ext cx="4061468" cy="4075218"/>
          </a:xfrm>
          <a:prstGeom prst="rect">
            <a:avLst/>
          </a:prstGeom>
        </p:spPr>
      </p:pic>
    </p:spTree>
    <p:extLst>
      <p:ext uri="{BB962C8B-B14F-4D97-AF65-F5344CB8AC3E}">
        <p14:creationId xmlns:p14="http://schemas.microsoft.com/office/powerpoint/2010/main" val="39374319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F359-640F-4A6C-8959-378494BD7C70}"/>
              </a:ext>
            </a:extLst>
          </p:cNvPr>
          <p:cNvSpPr>
            <a:spLocks noGrp="1"/>
          </p:cNvSpPr>
          <p:nvPr>
            <p:ph type="title"/>
          </p:nvPr>
        </p:nvSpPr>
        <p:spPr/>
        <p:txBody>
          <a:bodyPr>
            <a:normAutofit fontScale="90000"/>
          </a:bodyPr>
          <a:lstStyle/>
          <a:p>
            <a:r>
              <a:rPr lang="en-US" dirty="0"/>
              <a:t>Wumpus World Solution</a:t>
            </a:r>
          </a:p>
        </p:txBody>
      </p:sp>
      <p:sp>
        <p:nvSpPr>
          <p:cNvPr id="3" name="Content Placeholder 2">
            <a:extLst>
              <a:ext uri="{FF2B5EF4-FFF2-40B4-BE49-F238E27FC236}">
                <a16:creationId xmlns:a16="http://schemas.microsoft.com/office/drawing/2014/main" id="{0E13E4DE-23E0-42CE-9223-A73EA694441C}"/>
              </a:ext>
            </a:extLst>
          </p:cNvPr>
          <p:cNvSpPr>
            <a:spLocks noGrp="1"/>
          </p:cNvSpPr>
          <p:nvPr>
            <p:ph idx="1"/>
          </p:nvPr>
        </p:nvSpPr>
        <p:spPr>
          <a:xfrm>
            <a:off x="304800" y="1228153"/>
            <a:ext cx="7312058" cy="5021979"/>
          </a:xfrm>
        </p:spPr>
        <p:txBody>
          <a:bodyPr/>
          <a:lstStyle/>
          <a:p>
            <a:r>
              <a:rPr lang="en-US" dirty="0"/>
              <a:t>Step 6:</a:t>
            </a:r>
          </a:p>
          <a:p>
            <a:pPr lvl="1"/>
            <a:r>
              <a:rPr lang="en-US" dirty="0"/>
              <a:t>A perceives a Stench, Breeze and Glitter in room [3,2]→ grab the gold.</a:t>
            </a:r>
          </a:p>
          <a:p>
            <a:r>
              <a:rPr lang="en-US" dirty="0"/>
              <a:t>Step 7: To get out backtrack your steps by maximizing Utility (or minimizing penalty)  </a:t>
            </a:r>
          </a:p>
          <a:p>
            <a:pPr lvl="1"/>
            <a:r>
              <a:rPr lang="en-US" dirty="0"/>
              <a:t>Backtrack path [3,2] → [2,2] → [2,1] → [1,1]</a:t>
            </a:r>
          </a:p>
          <a:p>
            <a:endParaRPr lang="en-US" dirty="0"/>
          </a:p>
        </p:txBody>
      </p:sp>
      <p:sp>
        <p:nvSpPr>
          <p:cNvPr id="4" name="Date Placeholder 3">
            <a:extLst>
              <a:ext uri="{FF2B5EF4-FFF2-40B4-BE49-F238E27FC236}">
                <a16:creationId xmlns:a16="http://schemas.microsoft.com/office/drawing/2014/main" id="{A316A8DA-C3A9-43A7-AD86-40F754153CB2}"/>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9533F812-6CFA-445F-9C6B-14813389C977}"/>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2567B78B-D649-4EA3-9EFE-BD07474B5955}"/>
              </a:ext>
            </a:extLst>
          </p:cNvPr>
          <p:cNvSpPr>
            <a:spLocks noGrp="1"/>
          </p:cNvSpPr>
          <p:nvPr>
            <p:ph type="sldNum" sz="quarter" idx="12"/>
          </p:nvPr>
        </p:nvSpPr>
        <p:spPr/>
        <p:txBody>
          <a:bodyPr/>
          <a:lstStyle/>
          <a:p>
            <a:fld id="{75B1DB82-35C9-4076-A5B8-0781B30E89ED}" type="slidenum">
              <a:rPr lang="en-US" smtClean="0"/>
              <a:pPr/>
              <a:t>72</a:t>
            </a:fld>
            <a:endParaRPr lang="en-US"/>
          </a:p>
        </p:txBody>
      </p:sp>
      <p:sp>
        <p:nvSpPr>
          <p:cNvPr id="7" name="TextBox 6">
            <a:extLst>
              <a:ext uri="{FF2B5EF4-FFF2-40B4-BE49-F238E27FC236}">
                <a16:creationId xmlns:a16="http://schemas.microsoft.com/office/drawing/2014/main" id="{C0A3E3AF-6356-4B26-967E-C9526500E209}"/>
              </a:ext>
            </a:extLst>
          </p:cNvPr>
          <p:cNvSpPr txBox="1"/>
          <p:nvPr/>
        </p:nvSpPr>
        <p:spPr>
          <a:xfrm>
            <a:off x="304799" y="5722070"/>
            <a:ext cx="7774564" cy="800219"/>
          </a:xfrm>
          <a:prstGeom prst="rect">
            <a:avLst/>
          </a:prstGeom>
          <a:noFill/>
        </p:spPr>
        <p:txBody>
          <a:bodyPr wrap="none" rtlCol="0">
            <a:spAutoFit/>
          </a:bodyPr>
          <a:lstStyle/>
          <a:p>
            <a:r>
              <a:rPr lang="en-US" sz="2800" dirty="0"/>
              <a:t>Try it out: </a:t>
            </a:r>
            <a:r>
              <a:rPr lang="en-US" sz="2800" dirty="0">
                <a:hlinkClick r:id="rId4"/>
              </a:rPr>
              <a:t>http://primaryobjects.github.io/wumpus/</a:t>
            </a:r>
            <a:endParaRPr lang="en-US" sz="2800" dirty="0"/>
          </a:p>
          <a:p>
            <a:endParaRPr lang="en-US" dirty="0"/>
          </a:p>
        </p:txBody>
      </p:sp>
      <p:graphicFrame>
        <p:nvGraphicFramePr>
          <p:cNvPr id="8" name="Object 7">
            <a:extLst>
              <a:ext uri="{FF2B5EF4-FFF2-40B4-BE49-F238E27FC236}">
                <a16:creationId xmlns:a16="http://schemas.microsoft.com/office/drawing/2014/main" id="{0B662D69-B639-4D76-8804-FE60976128E9}"/>
              </a:ext>
            </a:extLst>
          </p:cNvPr>
          <p:cNvGraphicFramePr>
            <a:graphicFrameLocks noChangeAspect="1"/>
          </p:cNvGraphicFramePr>
          <p:nvPr>
            <p:extLst>
              <p:ext uri="{D42A27DB-BD31-4B8C-83A1-F6EECF244321}">
                <p14:modId xmlns:p14="http://schemas.microsoft.com/office/powerpoint/2010/main" val="2034181183"/>
              </p:ext>
            </p:extLst>
          </p:nvPr>
        </p:nvGraphicFramePr>
        <p:xfrm>
          <a:off x="7819275" y="1542282"/>
          <a:ext cx="4083367" cy="3942236"/>
        </p:xfrm>
        <a:graphic>
          <a:graphicData uri="http://schemas.openxmlformats.org/presentationml/2006/ole">
            <mc:AlternateContent xmlns:mc="http://schemas.openxmlformats.org/markup-compatibility/2006">
              <mc:Choice xmlns:v="urn:schemas-microsoft-com:vml" Requires="v">
                <p:oleObj spid="_x0000_s1030" name="Bitmap Image" r:id="rId5" imgW="2755800" imgH="2660760" progId="PBrush">
                  <p:embed/>
                </p:oleObj>
              </mc:Choice>
              <mc:Fallback>
                <p:oleObj name="Bitmap Image" r:id="rId5" imgW="2755800" imgH="2660760" progId="PBrush">
                  <p:embed/>
                  <p:pic>
                    <p:nvPicPr>
                      <p:cNvPr id="0" name=""/>
                      <p:cNvPicPr/>
                      <p:nvPr/>
                    </p:nvPicPr>
                    <p:blipFill>
                      <a:blip r:embed="rId6"/>
                      <a:stretch>
                        <a:fillRect/>
                      </a:stretch>
                    </p:blipFill>
                    <p:spPr>
                      <a:xfrm>
                        <a:off x="7819275" y="1542282"/>
                        <a:ext cx="4083367" cy="3942236"/>
                      </a:xfrm>
                      <a:prstGeom prst="rect">
                        <a:avLst/>
                      </a:prstGeom>
                    </p:spPr>
                  </p:pic>
                </p:oleObj>
              </mc:Fallback>
            </mc:AlternateContent>
          </a:graphicData>
        </a:graphic>
      </p:graphicFrame>
    </p:spTree>
    <p:extLst>
      <p:ext uri="{BB962C8B-B14F-4D97-AF65-F5344CB8AC3E}">
        <p14:creationId xmlns:p14="http://schemas.microsoft.com/office/powerpoint/2010/main" val="2360753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8EC4C-4DA5-4C40-BFE1-6346C1A92957}"/>
              </a:ext>
            </a:extLst>
          </p:cNvPr>
          <p:cNvSpPr>
            <a:spLocks noGrp="1"/>
          </p:cNvSpPr>
          <p:nvPr>
            <p:ph type="title"/>
          </p:nvPr>
        </p:nvSpPr>
        <p:spPr/>
        <p:txBody>
          <a:bodyPr>
            <a:normAutofit fontScale="90000"/>
          </a:bodyPr>
          <a:lstStyle/>
          <a:p>
            <a:r>
              <a:rPr lang="en-US"/>
              <a:t>Conclusion</a:t>
            </a:r>
            <a:endParaRPr lang="en-US" dirty="0"/>
          </a:p>
        </p:txBody>
      </p:sp>
      <p:sp>
        <p:nvSpPr>
          <p:cNvPr id="3" name="Content Placeholder 2">
            <a:extLst>
              <a:ext uri="{FF2B5EF4-FFF2-40B4-BE49-F238E27FC236}">
                <a16:creationId xmlns:a16="http://schemas.microsoft.com/office/drawing/2014/main" id="{0421C01D-1E86-4171-AA24-67F08563B5A3}"/>
              </a:ext>
            </a:extLst>
          </p:cNvPr>
          <p:cNvSpPr>
            <a:spLocks noGrp="1"/>
          </p:cNvSpPr>
          <p:nvPr>
            <p:ph idx="1"/>
          </p:nvPr>
        </p:nvSpPr>
        <p:spPr/>
        <p:txBody>
          <a:bodyPr/>
          <a:lstStyle/>
          <a:p>
            <a:r>
              <a:rPr lang="en-US" dirty="0"/>
              <a:t>Knowledge representation plays a big role in an agent's behavior.</a:t>
            </a:r>
          </a:p>
          <a:p>
            <a:r>
              <a:rPr lang="en-US" dirty="0"/>
              <a:t>We utilize propositional logic and other types of logic for knowledge representation.</a:t>
            </a:r>
          </a:p>
          <a:p>
            <a:r>
              <a:rPr lang="en-US" dirty="0"/>
              <a:t>Inference logic is needed to infer new knowledge form known knowledge.</a:t>
            </a:r>
          </a:p>
          <a:p>
            <a:endParaRPr lang="en-US" dirty="0"/>
          </a:p>
          <a:p>
            <a:endParaRPr lang="en-US" dirty="0"/>
          </a:p>
        </p:txBody>
      </p:sp>
      <p:sp>
        <p:nvSpPr>
          <p:cNvPr id="4" name="Date Placeholder 3">
            <a:extLst>
              <a:ext uri="{FF2B5EF4-FFF2-40B4-BE49-F238E27FC236}">
                <a16:creationId xmlns:a16="http://schemas.microsoft.com/office/drawing/2014/main" id="{E4DFDF07-C0E3-4324-A094-FC6D3F94D434}"/>
              </a:ext>
            </a:extLst>
          </p:cNvPr>
          <p:cNvSpPr>
            <a:spLocks noGrp="1"/>
          </p:cNvSpPr>
          <p:nvPr>
            <p:ph type="dt" sz="half" idx="10"/>
          </p:nvPr>
        </p:nvSpPr>
        <p:spPr/>
        <p:txBody>
          <a:bodyPr/>
          <a:lstStyle/>
          <a:p>
            <a:fld id="{94F5A3C7-98EA-4310-98DB-576388075F66}" type="datetime1">
              <a:rPr lang="en-US" smtClean="0"/>
              <a:pPr/>
              <a:t>9/29/2022</a:t>
            </a:fld>
            <a:endParaRPr lang="en-US"/>
          </a:p>
        </p:txBody>
      </p:sp>
      <p:sp>
        <p:nvSpPr>
          <p:cNvPr id="5" name="Footer Placeholder 4">
            <a:extLst>
              <a:ext uri="{FF2B5EF4-FFF2-40B4-BE49-F238E27FC236}">
                <a16:creationId xmlns:a16="http://schemas.microsoft.com/office/drawing/2014/main" id="{A2E131C7-4AD0-49B4-A2A0-4E2984122BCF}"/>
              </a:ext>
            </a:extLst>
          </p:cNvPr>
          <p:cNvSpPr>
            <a:spLocks noGrp="1"/>
          </p:cNvSpPr>
          <p:nvPr>
            <p:ph type="ftr" sz="quarter" idx="11"/>
          </p:nvPr>
        </p:nvSpPr>
        <p:spPr/>
        <p:txBody>
          <a:bodyPr/>
          <a:lstStyle/>
          <a:p>
            <a:r>
              <a:rPr lang="en-US"/>
              <a:t>Introduction to AI</a:t>
            </a:r>
          </a:p>
        </p:txBody>
      </p:sp>
      <p:sp>
        <p:nvSpPr>
          <p:cNvPr id="6" name="Slide Number Placeholder 5">
            <a:extLst>
              <a:ext uri="{FF2B5EF4-FFF2-40B4-BE49-F238E27FC236}">
                <a16:creationId xmlns:a16="http://schemas.microsoft.com/office/drawing/2014/main" id="{703E6130-AD4E-4286-90D1-41C9E99B9095}"/>
              </a:ext>
            </a:extLst>
          </p:cNvPr>
          <p:cNvSpPr>
            <a:spLocks noGrp="1"/>
          </p:cNvSpPr>
          <p:nvPr>
            <p:ph type="sldNum" sz="quarter" idx="12"/>
          </p:nvPr>
        </p:nvSpPr>
        <p:spPr/>
        <p:txBody>
          <a:bodyPr/>
          <a:lstStyle/>
          <a:p>
            <a:fld id="{75B1DB82-35C9-4076-A5B8-0781B30E89ED}" type="slidenum">
              <a:rPr lang="en-US" smtClean="0"/>
              <a:pPr/>
              <a:t>73</a:t>
            </a:fld>
            <a:endParaRPr lang="en-US"/>
          </a:p>
        </p:txBody>
      </p:sp>
    </p:spTree>
    <p:extLst>
      <p:ext uri="{BB962C8B-B14F-4D97-AF65-F5344CB8AC3E}">
        <p14:creationId xmlns:p14="http://schemas.microsoft.com/office/powerpoint/2010/main" val="1316345080"/>
      </p:ext>
    </p:extLst>
  </p:cSld>
  <p:clrMapOvr>
    <a:masterClrMapping/>
  </p:clrMapOvr>
</p:sld>
</file>

<file path=ppt/theme/theme1.xml><?xml version="1.0" encoding="utf-8"?>
<a:theme xmlns:a="http://schemas.openxmlformats.org/drawingml/2006/main" name="COE292-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OE292-Theme" id="{AA9EC02E-8640-4E8B-ABAB-102FD008F986}" vid="{377DF88B-3CFC-44E3-A6D0-0AB6D06236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isl xmlns:xsd="http://www.w3.org/2001/XMLSchema" xmlns:xsi="http://www.w3.org/2001/XMLSchema-instance" xmlns="http://www.boldonjames.com/2008/01/sie/internal/label" sislVersion="0" policy="f9677ce1-080b-4051-a037-2610debe14cb" origin="userSelected">
  <element uid="id_classification_nonbusiness" value=""/>
</sisl>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081cb61-e398-45dc-bffa-660ef38892cf">
      <Terms xmlns="http://schemas.microsoft.com/office/infopath/2007/PartnerControls"/>
    </lcf76f155ced4ddcb4097134ff3c332f>
    <TaxCatchAll xmlns="7f717406-bcf4-4632-a055-a82e9b77182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DF943E3E632C44B8B036E58FE4F1402" ma:contentTypeVersion="8" ma:contentTypeDescription="Create a new document." ma:contentTypeScope="" ma:versionID="2a7674b1c7cde56c681aea59d3593d6b">
  <xsd:schema xmlns:xsd="http://www.w3.org/2001/XMLSchema" xmlns:xs="http://www.w3.org/2001/XMLSchema" xmlns:p="http://schemas.microsoft.com/office/2006/metadata/properties" xmlns:ns2="c081cb61-e398-45dc-bffa-660ef38892cf" xmlns:ns3="7f717406-bcf4-4632-a055-a82e9b771829" targetNamespace="http://schemas.microsoft.com/office/2006/metadata/properties" ma:root="true" ma:fieldsID="0141e17e6b00f212db42f54b6eb82f65" ns2:_="" ns3:_="">
    <xsd:import namespace="c081cb61-e398-45dc-bffa-660ef38892cf"/>
    <xsd:import namespace="7f717406-bcf4-4632-a055-a82e9b77182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81cb61-e398-45dc-bffa-660ef3889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7f4d030-a2bd-4159-b459-856363f4e7e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717406-bcf4-4632-a055-a82e9b771829"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851412b-5534-4d74-ac80-39f416b630ce}" ma:internalName="TaxCatchAll" ma:showField="CatchAllData" ma:web="7f717406-bcf4-4632-a055-a82e9b7718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CE9C68-F4F7-446A-9B08-4E1C773444F1}">
  <ds:schemaRefs>
    <ds:schemaRef ds:uri="http://www.w3.org/2001/XMLSchema"/>
    <ds:schemaRef ds:uri="http://www.boldonjames.com/2008/01/sie/internal/label"/>
  </ds:schemaRefs>
</ds:datastoreItem>
</file>

<file path=customXml/itemProps2.xml><?xml version="1.0" encoding="utf-8"?>
<ds:datastoreItem xmlns:ds="http://schemas.openxmlformats.org/officeDocument/2006/customXml" ds:itemID="{950AC43B-AFC1-478C-A68F-9018E1EF1DBC}">
  <ds:schemaRefs>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7f717406-bcf4-4632-a055-a82e9b771829"/>
    <ds:schemaRef ds:uri="c081cb61-e398-45dc-bffa-660ef38892cf"/>
    <ds:schemaRef ds:uri="http://www.w3.org/XML/1998/namespace"/>
  </ds:schemaRefs>
</ds:datastoreItem>
</file>

<file path=customXml/itemProps3.xml><?xml version="1.0" encoding="utf-8"?>
<ds:datastoreItem xmlns:ds="http://schemas.openxmlformats.org/officeDocument/2006/customXml" ds:itemID="{F28EACF2-EBBD-4775-B53B-9FF31ED93F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81cb61-e398-45dc-bffa-660ef38892cf"/>
    <ds:schemaRef ds:uri="7f717406-bcf4-4632-a055-a82e9b7718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209D86D4-6B25-4F24-8565-5CFF4EAB0B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COE292-Theme</Template>
  <TotalTime>7518</TotalTime>
  <Words>6068</Words>
  <Application>Microsoft Office PowerPoint</Application>
  <PresentationFormat>Widescreen</PresentationFormat>
  <Paragraphs>1371</Paragraphs>
  <Slides>73</Slides>
  <Notes>52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6" baseType="lpstr">
      <vt:lpstr>ＭＳ Ｐゴシック</vt:lpstr>
      <vt:lpstr>新細明體</vt:lpstr>
      <vt:lpstr>Arial</vt:lpstr>
      <vt:lpstr>Calibri</vt:lpstr>
      <vt:lpstr>Calibri Light</vt:lpstr>
      <vt:lpstr>Cambria</vt:lpstr>
      <vt:lpstr>Cambria Math</vt:lpstr>
      <vt:lpstr>Corbel</vt:lpstr>
      <vt:lpstr>Symbol</vt:lpstr>
      <vt:lpstr>Times New Roman</vt:lpstr>
      <vt:lpstr>Wingdings</vt:lpstr>
      <vt:lpstr>COE292-Theme</vt:lpstr>
      <vt:lpstr>Bitmap Image</vt:lpstr>
      <vt:lpstr>PowerPoint Presentation</vt:lpstr>
      <vt:lpstr>Objectives</vt:lpstr>
      <vt:lpstr>Knowledge Representation</vt:lpstr>
      <vt:lpstr>Logic-Based Agent</vt:lpstr>
      <vt:lpstr>Knowledge Representation</vt:lpstr>
      <vt:lpstr>Requirements of Knowledge Representation</vt:lpstr>
      <vt:lpstr>Requirements of Knowledge Representation</vt:lpstr>
      <vt:lpstr>Mathematical Logic</vt:lpstr>
      <vt:lpstr>Logic Foundations</vt:lpstr>
      <vt:lpstr>Propositional Logic</vt:lpstr>
      <vt:lpstr>Propositional Logic Definition</vt:lpstr>
      <vt:lpstr>Propositions vs. Non-Propositions</vt:lpstr>
      <vt:lpstr>Operators/Connectives</vt:lpstr>
      <vt:lpstr>Boolean Operators</vt:lpstr>
      <vt:lpstr>The Negation Operator (Not) “¬”</vt:lpstr>
      <vt:lpstr>The Negation Operator (Not) “¬” – Truth Table</vt:lpstr>
      <vt:lpstr>The Conjunction Operator (AND) “”</vt:lpstr>
      <vt:lpstr>The Conjunction Operator (AND) “” – Truth Table</vt:lpstr>
      <vt:lpstr>Conjunction Truth Table Examples</vt:lpstr>
      <vt:lpstr>The Disjunction Operator (OR) “∨”</vt:lpstr>
      <vt:lpstr>The Disjunction Operator (OR) “∨” – Truth Table</vt:lpstr>
      <vt:lpstr>Nested Propositional Expressions</vt:lpstr>
      <vt:lpstr>Propositional Expressions - Examples</vt:lpstr>
      <vt:lpstr>The Exclusive Disjunction Operator (XOR) “⊕” </vt:lpstr>
      <vt:lpstr>The Exclusive Disjunction Operator (XOR) “⊕”  - Truth Table</vt:lpstr>
      <vt:lpstr>Inclusive OR “∨” vs. Exclusive OR “⊕” </vt:lpstr>
      <vt:lpstr>The Implication Operator (implies) “”</vt:lpstr>
      <vt:lpstr>The Implication Operator (implies) “”</vt:lpstr>
      <vt:lpstr>The Implication Operator (implies) “”</vt:lpstr>
      <vt:lpstr>English Phrases for p  q</vt:lpstr>
      <vt:lpstr>Examples  of  English uses of Implications</vt:lpstr>
      <vt:lpstr>Examples  of  English uses of Implications</vt:lpstr>
      <vt:lpstr>Examples  of  English uses of Implications</vt:lpstr>
      <vt:lpstr>Converse, Inverse, Contrapositive</vt:lpstr>
      <vt:lpstr>Proving Equivalence between p  q  and ¬q  ¬p </vt:lpstr>
      <vt:lpstr>Converse, Inverse, Contrapositive - Example</vt:lpstr>
      <vt:lpstr>The Biconditional Operator “”</vt:lpstr>
      <vt:lpstr>The Biconditional Operator “” - Truth Table</vt:lpstr>
      <vt:lpstr>Boolean Operations Summary</vt:lpstr>
      <vt:lpstr>Boolean Operations Alternative Notations</vt:lpstr>
      <vt:lpstr>Precedence of Logical Operators</vt:lpstr>
      <vt:lpstr>Tautologies, Contradictions and Contingencies</vt:lpstr>
      <vt:lpstr>Logically Equivalent</vt:lpstr>
      <vt:lpstr>Logical Equivalence</vt:lpstr>
      <vt:lpstr>De Morgan’s Laws</vt:lpstr>
      <vt:lpstr>De Morgan’s Laws</vt:lpstr>
      <vt:lpstr>Rules of Inference</vt:lpstr>
      <vt:lpstr>Argument and Inference</vt:lpstr>
      <vt:lpstr>Valid Arguments in Propositional Logic</vt:lpstr>
      <vt:lpstr>Valid Arguments</vt:lpstr>
      <vt:lpstr>Rules of Inference for Propositional Logic</vt:lpstr>
      <vt:lpstr>Example</vt:lpstr>
      <vt:lpstr>Example</vt:lpstr>
      <vt:lpstr>Rules of Inference</vt:lpstr>
      <vt:lpstr>Addition</vt:lpstr>
      <vt:lpstr>Simplification</vt:lpstr>
      <vt:lpstr>Conjunction</vt:lpstr>
      <vt:lpstr>Modus Ponens</vt:lpstr>
      <vt:lpstr>Modus Tollens</vt:lpstr>
      <vt:lpstr>The Wumpus World Example </vt:lpstr>
      <vt:lpstr>The Wumpus World Example </vt:lpstr>
      <vt:lpstr>The Wumpus World Example </vt:lpstr>
      <vt:lpstr>The Wumpus World Example </vt:lpstr>
      <vt:lpstr>The Wumpus World Example </vt:lpstr>
      <vt:lpstr>Wumpus World Characterization</vt:lpstr>
      <vt:lpstr>Wumpus World Solution</vt:lpstr>
      <vt:lpstr>Wumpus World Solution</vt:lpstr>
      <vt:lpstr>Wumpus World Solution</vt:lpstr>
      <vt:lpstr>Wumpus World Solution</vt:lpstr>
      <vt:lpstr>Wumpus World Solution</vt:lpstr>
      <vt:lpstr>Wumpus World Solution</vt:lpstr>
      <vt:lpstr>Wumpus World Solution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Abdulaziz Yagoub Mahmoud Barnawi</dc:creator>
  <cp:lastModifiedBy>Aiman ElMaleh</cp:lastModifiedBy>
  <cp:revision>343</cp:revision>
  <dcterms:created xsi:type="dcterms:W3CDTF">2022-01-22T15:55:21Z</dcterms:created>
  <dcterms:modified xsi:type="dcterms:W3CDTF">2022-09-29T18:14:47Z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0x0101006DF943E3E632C44B8B036E58FE4F1402</vt:lpwstr>
  </property>
  <property fmtid="{D5CDD505-2E9C-101B-9397-08002B2CF9AE}" pid="3" name="docIndexRef">
    <vt:lpwstr>e83a8bd0-81d5-4d22-8e44-0be7abe9e64a</vt:lpwstr>
  </property>
  <property fmtid="{D5CDD505-2E9C-101B-9397-08002B2CF9AE}" pid="4" name="bjClsUserRVM">
    <vt:lpwstr>[]</vt:lpwstr>
  </property>
  <property fmtid="{D5CDD505-2E9C-101B-9397-08002B2CF9AE}" pid="5" name="bjSaver">
    <vt:lpwstr>++5quz01wECbOhKY+AQfocVzEJCe4oHG</vt:lpwstr>
  </property>
  <property fmtid="{D5CDD505-2E9C-101B-9397-08002B2CF9AE}" pid="6" name="bjDocumentLabelXML">
    <vt:lpwstr>&lt;?xml version="1.0" encoding="us-ascii"?&gt;&lt;sisl xmlns:xsd="http://www.w3.org/2001/XMLSchema" xmlns:xsi="http://www.w3.org/2001/XMLSchema-instance" sislVersion="0" policy="f9677ce1-080b-4051-a037-2610debe14cb" origin="userSelected" xmlns="http://www.boldonj</vt:lpwstr>
  </property>
  <property fmtid="{D5CDD505-2E9C-101B-9397-08002B2CF9AE}" pid="7" name="bjDocumentLabelXML-0">
    <vt:lpwstr>ames.com/2008/01/sie/internal/label"&gt;&lt;element uid="id_classification_nonbusiness" value="" /&gt;&lt;/sisl&gt;</vt:lpwstr>
  </property>
  <property fmtid="{D5CDD505-2E9C-101B-9397-08002B2CF9AE}" pid="8" name="bjDocumentSecurityLabel">
    <vt:lpwstr>Public</vt:lpwstr>
  </property>
</Properties>
</file>