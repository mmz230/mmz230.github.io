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handoutMasterIdLst>
    <p:handoutMasterId r:id="rId25"/>
  </p:handoutMasterIdLst>
  <p:sldIdLst>
    <p:sldId id="256" r:id="rId2"/>
    <p:sldId id="276" r:id="rId3"/>
    <p:sldId id="257" r:id="rId4"/>
    <p:sldId id="258" r:id="rId5"/>
    <p:sldId id="259" r:id="rId6"/>
    <p:sldId id="277" r:id="rId7"/>
    <p:sldId id="260" r:id="rId8"/>
    <p:sldId id="279" r:id="rId9"/>
    <p:sldId id="263" r:id="rId10"/>
    <p:sldId id="261" r:id="rId11"/>
    <p:sldId id="264" r:id="rId12"/>
    <p:sldId id="265" r:id="rId13"/>
    <p:sldId id="266" r:id="rId14"/>
    <p:sldId id="267" r:id="rId15"/>
    <p:sldId id="270" r:id="rId16"/>
    <p:sldId id="271" r:id="rId17"/>
    <p:sldId id="272" r:id="rId18"/>
    <p:sldId id="273" r:id="rId19"/>
    <p:sldId id="274" r:id="rId20"/>
    <p:sldId id="275" r:id="rId21"/>
    <p:sldId id="278" r:id="rId22"/>
    <p:sldId id="28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CC"/>
    <a:srgbClr val="FFFF66"/>
    <a:srgbClr val="FFFF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6617" autoAdjust="0"/>
  </p:normalViewPr>
  <p:slideViewPr>
    <p:cSldViewPr snapToGrid="0">
      <p:cViewPr varScale="1">
        <p:scale>
          <a:sx n="50" d="100"/>
          <a:sy n="50" d="100"/>
        </p:scale>
        <p:origin x="471" y="18"/>
      </p:cViewPr>
      <p:guideLst>
        <p:guide orient="horz" pos="2160"/>
        <p:guide pos="3840"/>
      </p:guideLst>
    </p:cSldViewPr>
  </p:slideViewPr>
  <p:notesTextViewPr>
    <p:cViewPr>
      <p:scale>
        <a:sx n="1" d="1"/>
        <a:sy n="1" d="1"/>
      </p:scale>
      <p:origin x="0" y="0"/>
    </p:cViewPr>
  </p:notesTextViewPr>
  <p:sorterViewPr>
    <p:cViewPr>
      <p:scale>
        <a:sx n="100" d="100"/>
        <a:sy n="100" d="100"/>
      </p:scale>
      <p:origin x="0" y="84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F1D5685-D548-B041-9A45-F2D635B8F9C1}" type="datetimeFigureOut">
              <a:rPr lang="en-US" smtClean="0"/>
              <a:pPr/>
              <a:t>1/13/2026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944326-D8BC-E047-AFAF-675C72F14748}" type="slidenum">
              <a:rPr lang="en-US" smtClean="0"/>
              <a:pPr/>
              <a:t>‹#›</a:t>
            </a:fld>
            <a:endParaRPr lang="en-US" dirty="0"/>
          </a:p>
        </p:txBody>
      </p:sp>
    </p:spTree>
    <p:extLst>
      <p:ext uri="{BB962C8B-B14F-4D97-AF65-F5344CB8AC3E}">
        <p14:creationId xmlns:p14="http://schemas.microsoft.com/office/powerpoint/2010/main" val="1961046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8F5193-95A9-4C86-AF70-72A1DE388E06}" type="datetimeFigureOut">
              <a:rPr lang="en-US" smtClean="0"/>
              <a:pPr/>
              <a:t>1/13/2026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F71A2E-9361-4747-878D-22E7C3225E9E}" type="slidenum">
              <a:rPr lang="en-US" smtClean="0"/>
              <a:pPr/>
              <a:t>‹#›</a:t>
            </a:fld>
            <a:endParaRPr lang="en-US" dirty="0"/>
          </a:p>
        </p:txBody>
      </p:sp>
    </p:spTree>
    <p:extLst>
      <p:ext uri="{BB962C8B-B14F-4D97-AF65-F5344CB8AC3E}">
        <p14:creationId xmlns:p14="http://schemas.microsoft.com/office/powerpoint/2010/main" val="218949394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1</a:t>
            </a:fld>
            <a:endParaRPr lang="en-US" dirty="0"/>
          </a:p>
        </p:txBody>
      </p:sp>
    </p:spTree>
    <p:extLst>
      <p:ext uri="{BB962C8B-B14F-4D97-AF65-F5344CB8AC3E}">
        <p14:creationId xmlns:p14="http://schemas.microsoft.com/office/powerpoint/2010/main" val="295802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3</a:t>
            </a:fld>
            <a:endParaRPr lang="en-US" dirty="0"/>
          </a:p>
        </p:txBody>
      </p:sp>
    </p:spTree>
    <p:extLst>
      <p:ext uri="{BB962C8B-B14F-4D97-AF65-F5344CB8AC3E}">
        <p14:creationId xmlns:p14="http://schemas.microsoft.com/office/powerpoint/2010/main" val="4066804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Performance: </a:t>
            </a:r>
            <a:r>
              <a:rPr lang="en-US" sz="1200" b="0" i="0" u="none" strike="noStrike" kern="1200" baseline="0" dirty="0">
                <a:solidFill>
                  <a:schemeClr val="tx1"/>
                </a:solidFill>
                <a:latin typeface="+mn-lt"/>
                <a:ea typeface="+mn-ea"/>
                <a:cs typeface="+mn-cs"/>
              </a:rPr>
              <a:t>This might be the return on a mutual fund investment, the fuel efficiency of an automobile, or the acoustic range of a pair of stereo speakers. Better performance is usually synonymous with better quality.</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Features: </a:t>
            </a:r>
            <a:r>
              <a:rPr lang="en-US" sz="1200" b="0" i="0" u="none" strike="noStrike" kern="1200" baseline="0" dirty="0">
                <a:solidFill>
                  <a:schemeClr val="tx1"/>
                </a:solidFill>
                <a:latin typeface="+mn-lt"/>
                <a:ea typeface="+mn-ea"/>
                <a:cs typeface="+mn-cs"/>
              </a:rPr>
              <a:t>They include many of the “bells and whistles” contained in products. A visit to any television or computer retail store will reveal that features such as surround sound, HDTV capability, 3-D, and size are powerful marketing tools for which customers will pay a premium. </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Reliability:</a:t>
            </a:r>
            <a:r>
              <a:rPr lang="en-US" sz="1200" b="0" i="0" u="none" strike="noStrike" kern="1200" baseline="0" dirty="0">
                <a:solidFill>
                  <a:schemeClr val="tx1"/>
                </a:solidFill>
                <a:latin typeface="+mn-lt"/>
                <a:ea typeface="+mn-ea"/>
                <a:cs typeface="+mn-cs"/>
              </a:rPr>
              <a:t> A subfield in quality management has emerged, called </a:t>
            </a:r>
            <a:r>
              <a:rPr lang="en-US" sz="1200" b="0" i="1" u="none" strike="noStrike" kern="1200" baseline="0" dirty="0">
                <a:solidFill>
                  <a:schemeClr val="tx1"/>
                </a:solidFill>
                <a:latin typeface="+mn-lt"/>
                <a:ea typeface="+mn-ea"/>
                <a:cs typeface="+mn-cs"/>
              </a:rPr>
              <a:t>reliability management, </a:t>
            </a:r>
            <a:r>
              <a:rPr lang="en-US" sz="1200" b="0" i="0" u="none" strike="noStrike" kern="1200" baseline="0" dirty="0">
                <a:solidFill>
                  <a:schemeClr val="tx1"/>
                </a:solidFill>
                <a:latin typeface="+mn-lt"/>
                <a:ea typeface="+mn-ea"/>
                <a:cs typeface="+mn-cs"/>
              </a:rPr>
              <a:t>based on the application of probability theory to quality. A product is considered reliable if the chance that it will fail during its designed life is very low. For example, if a refrigerator has a 2% chance of failure in a useful life of 10 years, we say that it is 98% reliable.</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Conformance </a:t>
            </a:r>
            <a:r>
              <a:rPr lang="en-US" sz="1200" b="0" i="0" u="none" strike="noStrike" kern="1200" baseline="0" dirty="0">
                <a:solidFill>
                  <a:schemeClr val="tx1"/>
                </a:solidFill>
                <a:latin typeface="+mn-lt"/>
                <a:ea typeface="+mn-ea"/>
                <a:cs typeface="+mn-cs"/>
              </a:rPr>
              <a:t>is perhaps the most traditional dimension of quality. When a product is designed, certain numeric dimensions for the product’s performance are established, such as capacity, speed, size, durability, or the like. These numeric product dimensions are referred to as </a:t>
            </a:r>
            <a:r>
              <a:rPr lang="en-US" sz="1200" b="0" i="1" u="none" strike="noStrike" kern="1200" baseline="0" dirty="0">
                <a:solidFill>
                  <a:schemeClr val="tx1"/>
                </a:solidFill>
                <a:latin typeface="+mn-lt"/>
                <a:ea typeface="+mn-ea"/>
                <a:cs typeface="+mn-cs"/>
              </a:rPr>
              <a:t>specifications. </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4</a:t>
            </a:fld>
            <a:endParaRPr lang="en-US" dirty="0"/>
          </a:p>
        </p:txBody>
      </p:sp>
    </p:spTree>
    <p:extLst>
      <p:ext uri="{BB962C8B-B14F-4D97-AF65-F5344CB8AC3E}">
        <p14:creationId xmlns:p14="http://schemas.microsoft.com/office/powerpoint/2010/main" val="2658456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Durability: </a:t>
            </a:r>
            <a:r>
              <a:rPr lang="en-US" sz="1200" b="0" i="0" u="none" strike="noStrike" kern="1200" baseline="0" dirty="0">
                <a:solidFill>
                  <a:schemeClr val="tx1"/>
                </a:solidFill>
                <a:latin typeface="+mn-lt"/>
                <a:ea typeface="+mn-ea"/>
                <a:cs typeface="+mn-cs"/>
              </a:rPr>
              <a:t>An example of a product that is not very durable is a lightbulb. Lightbulbs are damaged easily and cannot be repaired. In contrast, a trash can is a very durable product that can be subjected to much wear and tear.</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Serviceability: </a:t>
            </a:r>
            <a:r>
              <a:rPr lang="en-US" sz="1200" b="0" i="0" u="none" strike="noStrike" kern="1200" baseline="0" dirty="0">
                <a:solidFill>
                  <a:schemeClr val="tx1"/>
                </a:solidFill>
                <a:latin typeface="+mn-lt"/>
                <a:ea typeface="+mn-ea"/>
                <a:cs typeface="+mn-cs"/>
              </a:rPr>
              <a:t>A product is very serviceable if it can be repaired easily and cheaply. Many products require service by a technician, such as the technician who repairs your personal computer. If this service is rapid, courteous, easy to acquire, and competent, the product generally is considered to have good serviceability. </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Aesthetics: </a:t>
            </a:r>
            <a:r>
              <a:rPr lang="en-US" sz="1200" b="0" i="0" u="none" strike="noStrike" kern="1200" baseline="0" dirty="0">
                <a:solidFill>
                  <a:schemeClr val="tx1"/>
                </a:solidFill>
                <a:latin typeface="+mn-lt"/>
                <a:ea typeface="+mn-ea"/>
                <a:cs typeface="+mn-cs"/>
              </a:rPr>
              <a:t>Although vinyl interiors in automobiles require less maintenance, are less expensive, and are more durable, leather interiors are usually considered more aesthetically pleasing. We measure aesthetic quality as the degree to which product attributes are matched to consumer preferences.</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Perceived quality: </a:t>
            </a:r>
            <a:r>
              <a:rPr lang="en-US" sz="1200" b="0" i="0" u="none" strike="noStrike" kern="1200" baseline="0" dirty="0">
                <a:solidFill>
                  <a:schemeClr val="tx1"/>
                </a:solidFill>
                <a:latin typeface="+mn-lt"/>
                <a:ea typeface="+mn-ea"/>
                <a:cs typeface="+mn-cs"/>
              </a:rPr>
              <a:t>We can witness an example of the effect of perceived quality every year in college football polls that rank teams. In many cases, the rankings are based on past records, team recognition, university tradition, and other factors that are generally poor indicators of team quality on a given Saturday. In the same way that these factors affect sportswriters’ perceptions, factors such as brand image, brand recognition, amount of advertising, and word of mouth can affect consumers’ perceptions of quality.</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5</a:t>
            </a:fld>
            <a:endParaRPr lang="en-US" dirty="0"/>
          </a:p>
        </p:txBody>
      </p:sp>
    </p:spTree>
    <p:extLst>
      <p:ext uri="{BB962C8B-B14F-4D97-AF65-F5344CB8AC3E}">
        <p14:creationId xmlns:p14="http://schemas.microsoft.com/office/powerpoint/2010/main" val="34858646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Tangibles: </a:t>
            </a:r>
            <a:r>
              <a:rPr lang="en-US" sz="1200" b="0" i="0" u="none" strike="noStrike" kern="1200" baseline="0" dirty="0">
                <a:solidFill>
                  <a:schemeClr val="tx1"/>
                </a:solidFill>
                <a:latin typeface="+mn-lt"/>
                <a:ea typeface="+mn-ea"/>
                <a:cs typeface="+mn-cs"/>
              </a:rPr>
              <a:t>For example, a hotel with yellowed linens will be rated low for quality. Hair salons catering to an elite clientele might invest in ambient lighting and employ only well-dressed hairstylists. That the hairstylist is dressed well does not affect the service being provided; however, clients believe that their hair will be better styled by someone who is dressed stylishly.</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Service reliability:</a:t>
            </a:r>
            <a:r>
              <a:rPr lang="en-US" sz="1200" b="0" i="0" u="none" strike="noStrike" kern="1200" baseline="0" dirty="0">
                <a:solidFill>
                  <a:schemeClr val="tx1"/>
                </a:solidFill>
                <a:latin typeface="+mn-lt"/>
                <a:ea typeface="+mn-ea"/>
                <a:cs typeface="+mn-cs"/>
              </a:rPr>
              <a:t> For example, a firm might hire a consultant based on reputation alone. If the consultant delivers what the customer wants, the customer will be satisfied and pay the consultancy fee. If the consultant delivers something other than what the customer expects, the customer will not pay the consultancy fee.</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Responsiveness: </a:t>
            </a:r>
            <a:r>
              <a:rPr lang="en-US" sz="1200" b="0" i="0" u="none" strike="noStrike" kern="1200" baseline="0" dirty="0">
                <a:solidFill>
                  <a:schemeClr val="tx1"/>
                </a:solidFill>
                <a:latin typeface="+mn-lt"/>
                <a:ea typeface="+mn-ea"/>
                <a:cs typeface="+mn-cs"/>
              </a:rPr>
              <a:t>When you last called your bank for service, how long did it take for a response? Were your problems taken care of quickly, or did you have to wait while you listened to “elevator music” for an hour? Does your service provider always respond to you within three rings of the phone—without forwarding your call to another location?</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Assurance: </a:t>
            </a:r>
            <a:r>
              <a:rPr lang="en-US" sz="1200" b="0" i="0" u="none" strike="noStrike" kern="1200" baseline="0" dirty="0">
                <a:solidFill>
                  <a:schemeClr val="tx1"/>
                </a:solidFill>
                <a:latin typeface="+mn-lt"/>
                <a:ea typeface="+mn-ea"/>
                <a:cs typeface="+mn-cs"/>
              </a:rPr>
              <a:t>If you needed heart surgery, you probably would not opt for a doctor who appeared forgetful and disorganized during an office consultation. Rather, you would want assurance that the doctor is competent.</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Empathy: </a:t>
            </a:r>
            <a:r>
              <a:rPr lang="en-US" sz="1200" b="0" i="0" u="none" strike="noStrike" kern="1200" baseline="0" dirty="0">
                <a:solidFill>
                  <a:schemeClr val="tx1"/>
                </a:solidFill>
                <a:latin typeface="+mn-lt"/>
                <a:ea typeface="+mn-ea"/>
                <a:cs typeface="+mn-cs"/>
              </a:rPr>
              <a:t>A maxim in the restaurant industry is that “if you are in it for the money, you probably won’t survive.” A restaurant in which the employees are constantly focused on efficiency will not give the customers the feeling that their needs are important. Therefore, no empathy will be shared, and restaurant employees will not adequately provide service that will make customers want to return again and again.</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7</a:t>
            </a:fld>
            <a:endParaRPr lang="en-US" dirty="0"/>
          </a:p>
        </p:txBody>
      </p:sp>
    </p:spTree>
    <p:extLst>
      <p:ext uri="{BB962C8B-B14F-4D97-AF65-F5344CB8AC3E}">
        <p14:creationId xmlns:p14="http://schemas.microsoft.com/office/powerpoint/2010/main" val="16649862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Just as the body is subject to breakdown when different parts do not perform properly, so are organizations.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Unfortunately, firms do not have the magnificent communication network (i.e., the central nervous system) to coordinate activities that human bodies have.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For this reason, firms must constantly improve their communication. Recognizing fundamental differences between how different functions view quality is an important first step in understanding and resolving problems associated with mismatches of quality perceptions within organizations.</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9</a:t>
            </a:fld>
            <a:endParaRPr lang="en-US" dirty="0"/>
          </a:p>
        </p:txBody>
      </p:sp>
    </p:spTree>
    <p:extLst>
      <p:ext uri="{BB962C8B-B14F-4D97-AF65-F5344CB8AC3E}">
        <p14:creationId xmlns:p14="http://schemas.microsoft.com/office/powerpoint/2010/main" val="145680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recent years, supply chain management has moved to the forefront in importance. This is largely due to the opportunity for cost savings, along with quality and service improvement. There are many important quality-related activities that are part of supply chain management. We discuss these separately as upstream activities, core processes, and downstream activities.</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10</a:t>
            </a:fld>
            <a:endParaRPr lang="en-US" dirty="0"/>
          </a:p>
        </p:txBody>
      </p:sp>
    </p:spTree>
    <p:extLst>
      <p:ext uri="{BB962C8B-B14F-4D97-AF65-F5344CB8AC3E}">
        <p14:creationId xmlns:p14="http://schemas.microsoft.com/office/powerpoint/2010/main" val="4031246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Product design engineering </a:t>
            </a:r>
            <a:r>
              <a:rPr lang="en-US" sz="1200" b="0" i="0" u="none" strike="noStrike" kern="1200" baseline="0" dirty="0">
                <a:solidFill>
                  <a:schemeClr val="tx1"/>
                </a:solidFill>
                <a:latin typeface="+mn-lt"/>
                <a:ea typeface="+mn-ea"/>
                <a:cs typeface="+mn-cs"/>
              </a:rPr>
              <a:t>involves all those activities associated with developing a product, from concept development to final design and implementation.</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Product and process design are fields of engineering that have experienced major changes in recent years. Whereas traditionally they were considered separate and in most cases sequential activities, </a:t>
            </a:r>
            <a:r>
              <a:rPr lang="en-US" sz="1200" b="1" i="0" u="none" strike="noStrike" kern="1200" baseline="0" dirty="0">
                <a:solidFill>
                  <a:schemeClr val="tx1"/>
                </a:solidFill>
                <a:latin typeface="+mn-lt"/>
                <a:ea typeface="+mn-ea"/>
                <a:cs typeface="+mn-cs"/>
              </a:rPr>
              <a:t>concurrent engineering </a:t>
            </a:r>
            <a:r>
              <a:rPr lang="en-US" sz="1200" b="0" i="0" u="none" strike="noStrike" kern="1200" baseline="0" dirty="0">
                <a:solidFill>
                  <a:schemeClr val="tx1"/>
                </a:solidFill>
                <a:latin typeface="+mn-lt"/>
                <a:ea typeface="+mn-ea"/>
                <a:cs typeface="+mn-cs"/>
              </a:rPr>
              <a:t>has resulted in the simultaneous performance of these activities.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Reliability engineers use probability theory to determine the rate of failure that a product will experience over its useful life. </a:t>
            </a:r>
            <a:r>
              <a:rPr lang="en-US" sz="1200" b="1" i="0" u="none" strike="noStrike" kern="1200" baseline="0" dirty="0">
                <a:solidFill>
                  <a:schemeClr val="tx1"/>
                </a:solidFill>
                <a:latin typeface="+mn-lt"/>
                <a:ea typeface="+mn-ea"/>
                <a:cs typeface="+mn-cs"/>
              </a:rPr>
              <a:t>Life testing </a:t>
            </a:r>
            <a:r>
              <a:rPr lang="en-US" sz="1200" b="0" i="0" u="none" strike="noStrike" kern="1200" baseline="0" dirty="0">
                <a:solidFill>
                  <a:schemeClr val="tx1"/>
                </a:solidFill>
                <a:latin typeface="+mn-lt"/>
                <a:ea typeface="+mn-ea"/>
                <a:cs typeface="+mn-cs"/>
              </a:rPr>
              <a:t>is a facet of reliability engineering that determines whether a product will fail under controlled conditions during a specified life.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If a component has a relatively high probability for failure that will affect the overall function of a product, </a:t>
            </a:r>
            <a:r>
              <a:rPr lang="en-US" sz="1200" b="1" i="0" u="none" strike="noStrike" kern="1200" baseline="0" dirty="0">
                <a:solidFill>
                  <a:schemeClr val="tx1"/>
                </a:solidFill>
                <a:latin typeface="+mn-lt"/>
                <a:ea typeface="+mn-ea"/>
                <a:cs typeface="+mn-cs"/>
              </a:rPr>
              <a:t>redundancy </a:t>
            </a:r>
            <a:r>
              <a:rPr lang="en-US" sz="1200" b="0" i="0" u="none" strike="noStrike" kern="1200" baseline="0" dirty="0">
                <a:solidFill>
                  <a:schemeClr val="tx1"/>
                </a:solidFill>
                <a:latin typeface="+mn-lt"/>
                <a:ea typeface="+mn-ea"/>
                <a:cs typeface="+mn-cs"/>
              </a:rPr>
              <a:t>is applied so that a backup system can take over for the failed primary system. Many redundant systems are used on the NASA space shuttle in case of primary system breakdown. After all, if a hard drive crashes in space, it is not easy to find a replacement close by.</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11</a:t>
            </a:fld>
            <a:endParaRPr lang="en-US" dirty="0"/>
          </a:p>
        </p:txBody>
      </p:sp>
    </p:spTree>
    <p:extLst>
      <p:ext uri="{BB962C8B-B14F-4D97-AF65-F5344CB8AC3E}">
        <p14:creationId xmlns:p14="http://schemas.microsoft.com/office/powerpoint/2010/main" val="3893812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Statistical process control (SPC), </a:t>
            </a:r>
            <a:r>
              <a:rPr lang="en-US" sz="1200" b="0" i="0" u="none" strike="noStrike" kern="1200" baseline="0" dirty="0">
                <a:solidFill>
                  <a:schemeClr val="tx1"/>
                </a:solidFill>
                <a:latin typeface="+mn-lt"/>
                <a:ea typeface="+mn-ea"/>
                <a:cs typeface="+mn-cs"/>
              </a:rPr>
              <a:t>is concerned with monitoring process capability and process stability. If a process is capable, it will consistently produce products that meet specifications.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If a process is stable, it will only exhibit random or </a:t>
            </a:r>
            <a:r>
              <a:rPr lang="en-US" sz="1200" b="1" i="0" u="none" strike="noStrike" kern="1200" baseline="0" dirty="0">
                <a:solidFill>
                  <a:schemeClr val="tx1"/>
                </a:solidFill>
                <a:latin typeface="+mn-lt"/>
                <a:ea typeface="+mn-ea"/>
                <a:cs typeface="+mn-cs"/>
              </a:rPr>
              <a:t>common cause variation </a:t>
            </a:r>
            <a:r>
              <a:rPr lang="en-US" sz="1200" b="0" i="0" u="none" strike="noStrike" kern="1200" baseline="0" dirty="0">
                <a:solidFill>
                  <a:schemeClr val="tx1"/>
                </a:solidFill>
                <a:latin typeface="+mn-lt"/>
                <a:ea typeface="+mn-ea"/>
                <a:cs typeface="+mn-cs"/>
              </a:rPr>
              <a:t>instead of nonrandom </a:t>
            </a:r>
            <a:r>
              <a:rPr lang="en-US" sz="1200" b="1" i="0" u="none" strike="noStrike" kern="1200" baseline="0" dirty="0">
                <a:solidFill>
                  <a:schemeClr val="tx1"/>
                </a:solidFill>
                <a:latin typeface="+mn-lt"/>
                <a:ea typeface="+mn-ea"/>
                <a:cs typeface="+mn-cs"/>
              </a:rPr>
              <a:t>special cause variation. </a:t>
            </a:r>
            <a:r>
              <a:rPr lang="en-US" sz="1200" b="0" i="0" u="none" strike="noStrike" kern="1200" baseline="0" dirty="0">
                <a:solidFill>
                  <a:schemeClr val="tx1"/>
                </a:solidFill>
                <a:latin typeface="+mn-lt"/>
                <a:ea typeface="+mn-ea"/>
                <a:cs typeface="+mn-cs"/>
              </a:rPr>
              <a:t>This type of variation is often acceptable, if kept within limits.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control process, as specified by Walter Shewhart in his book </a:t>
            </a:r>
            <a:r>
              <a:rPr lang="en-US" sz="1200" b="0" i="1" u="none" strike="noStrike" kern="1200" baseline="0" dirty="0">
                <a:solidFill>
                  <a:schemeClr val="tx1"/>
                </a:solidFill>
                <a:latin typeface="+mn-lt"/>
                <a:ea typeface="+mn-ea"/>
                <a:cs typeface="+mn-cs"/>
              </a:rPr>
              <a:t>Statistical Method from the Viewpoint of Quality Control </a:t>
            </a:r>
            <a:r>
              <a:rPr lang="en-US" sz="1200" b="0" i="0" u="none" strike="noStrike" kern="1200" baseline="0" dirty="0">
                <a:solidFill>
                  <a:schemeClr val="tx1"/>
                </a:solidFill>
                <a:latin typeface="+mn-lt"/>
                <a:ea typeface="+mn-ea"/>
                <a:cs typeface="+mn-cs"/>
              </a:rPr>
              <a:t>(1939), is shown in Figure 1-3. This is the process underlying SPC. A hypothesis is specified that the process meets a given specification, data about the process are gathered, and a hypothesis test is performed to see if the process is stable.</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12</a:t>
            </a:fld>
            <a:endParaRPr lang="en-US" dirty="0"/>
          </a:p>
        </p:txBody>
      </p:sp>
    </p:spTree>
    <p:extLst>
      <p:ext uri="{BB962C8B-B14F-4D97-AF65-F5344CB8AC3E}">
        <p14:creationId xmlns:p14="http://schemas.microsoft.com/office/powerpoint/2010/main" val="12339569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historically internally-focused view of operations managers has become externalized. Still, the customer needs to become more central in the thinking of many operations managers who still tend to be too product focused. This will occur as operations management becomes more service oriented.</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13</a:t>
            </a:fld>
            <a:endParaRPr lang="en-US" dirty="0"/>
          </a:p>
        </p:txBody>
      </p:sp>
    </p:spTree>
    <p:extLst>
      <p:ext uri="{BB962C8B-B14F-4D97-AF65-F5344CB8AC3E}">
        <p14:creationId xmlns:p14="http://schemas.microsoft.com/office/powerpoint/2010/main" val="3504545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Figure 1-4 shows a generic strategic planning process and its components. Based on the analysis of mission, vision, and goals, strategic options and business-level and functional-level strategies are developed.</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14</a:t>
            </a:fld>
            <a:endParaRPr lang="en-US" dirty="0"/>
          </a:p>
        </p:txBody>
      </p:sp>
    </p:spTree>
    <p:extLst>
      <p:ext uri="{BB962C8B-B14F-4D97-AF65-F5344CB8AC3E}">
        <p14:creationId xmlns:p14="http://schemas.microsoft.com/office/powerpoint/2010/main" val="3182386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If all customers are satisfied, sales increase exponentially! Therefore, more firms are focusing on relationship management, which increases the importance of high levels of customer service and after-sales support.</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15</a:t>
            </a:fld>
            <a:endParaRPr lang="en-US" dirty="0"/>
          </a:p>
        </p:txBody>
      </p:sp>
    </p:spTree>
    <p:extLst>
      <p:ext uri="{BB962C8B-B14F-4D97-AF65-F5344CB8AC3E}">
        <p14:creationId xmlns:p14="http://schemas.microsoft.com/office/powerpoint/2010/main" val="438802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marketing perspective on quality is unique because the customer is the focus of marketing-related quality improvement. In trying to satisfy customer needs, marketing often wants to develop specialized products for different customers to perfectly satisfy customer needs. This can make life more difficult for producers because operations wants to standardize products to reduce processing complexity. Often, quality strategies result in a compromise between these two polar positions.</a:t>
            </a:r>
            <a:endParaRPr lang="en-US" dirty="0"/>
          </a:p>
          <a:p>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16</a:t>
            </a:fld>
            <a:endParaRPr lang="en-US" dirty="0"/>
          </a:p>
        </p:txBody>
      </p:sp>
    </p:spTree>
    <p:extLst>
      <p:ext uri="{BB962C8B-B14F-4D97-AF65-F5344CB8AC3E}">
        <p14:creationId xmlns:p14="http://schemas.microsoft.com/office/powerpoint/2010/main" val="764696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One of the most commonly-asked questions about quality management is “Will it pay us financial benefits?” The answer to this question is an unqualified “maybe.” When implemented correctly, improved quality reduces waste and can lead to reduced cost and improved profitability. However, these returns tend to be long term rather than short term. </a:t>
            </a: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CFF71A2E-9361-4747-878D-22E7C3225E9E}" type="slidenum">
              <a:rPr lang="en-US" smtClean="0"/>
              <a:pPr/>
              <a:t>17</a:t>
            </a:fld>
            <a:endParaRPr lang="en-US" dirty="0"/>
          </a:p>
        </p:txBody>
      </p:sp>
    </p:spTree>
    <p:extLst>
      <p:ext uri="{BB962C8B-B14F-4D97-AF65-F5344CB8AC3E}">
        <p14:creationId xmlns:p14="http://schemas.microsoft.com/office/powerpoint/2010/main" val="5734432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Human resources (HR) managers are involved in enabling the workforce to develop and use its full potential to meet the company’s objectives. Understanding the HR perspective on quality is essential because it is impossible to implement quality without the commitment and action of employees. Although leadership is an important antecedent to successful quality efforts, the involvement and participation of employees is just as key. After all, it is the rank and file that implements quality throughout the organization.</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18</a:t>
            </a:fld>
            <a:endParaRPr lang="en-US" dirty="0"/>
          </a:p>
        </p:txBody>
      </p:sp>
    </p:spTree>
    <p:extLst>
      <p:ext uri="{BB962C8B-B14F-4D97-AF65-F5344CB8AC3E}">
        <p14:creationId xmlns:p14="http://schemas.microsoft.com/office/powerpoint/2010/main" val="1387425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One way to conceptualize the field of quality management is known as the </a:t>
            </a:r>
            <a:r>
              <a:rPr lang="en-US" sz="1200" b="1" i="0" u="none" strike="noStrike" kern="1200" baseline="0" dirty="0">
                <a:solidFill>
                  <a:schemeClr val="tx1"/>
                </a:solidFill>
                <a:latin typeface="+mn-lt"/>
                <a:ea typeface="+mn-ea"/>
                <a:cs typeface="+mn-cs"/>
              </a:rPr>
              <a:t>three spheres of quality. </a:t>
            </a:r>
            <a:r>
              <a:rPr lang="en-US" sz="1200" b="0" i="0" u="none" strike="noStrike" kern="1200" baseline="0" dirty="0">
                <a:solidFill>
                  <a:schemeClr val="tx1"/>
                </a:solidFill>
                <a:latin typeface="+mn-lt"/>
                <a:ea typeface="+mn-ea"/>
                <a:cs typeface="+mn-cs"/>
              </a:rPr>
              <a:t>These spheres are quality control, quality assurance, and quality management, and their functions overlap, as seen in Figure 1-7.</a:t>
            </a:r>
            <a:endParaRPr lang="en-US" dirty="0"/>
          </a:p>
        </p:txBody>
      </p:sp>
      <p:sp>
        <p:nvSpPr>
          <p:cNvPr id="4" name="Slide Number Placeholder 3"/>
          <p:cNvSpPr>
            <a:spLocks noGrp="1"/>
          </p:cNvSpPr>
          <p:nvPr>
            <p:ph type="sldNum" sz="quarter" idx="10"/>
          </p:nvPr>
        </p:nvSpPr>
        <p:spPr/>
        <p:txBody>
          <a:bodyPr/>
          <a:lstStyle/>
          <a:p>
            <a:fld id="{CFF71A2E-9361-4747-878D-22E7C3225E9E}" type="slidenum">
              <a:rPr lang="en-US" smtClean="0"/>
              <a:pPr/>
              <a:t>19</a:t>
            </a:fld>
            <a:endParaRPr lang="en-US" dirty="0"/>
          </a:p>
        </p:txBody>
      </p:sp>
    </p:spTree>
    <p:extLst>
      <p:ext uri="{BB962C8B-B14F-4D97-AF65-F5344CB8AC3E}">
        <p14:creationId xmlns:p14="http://schemas.microsoft.com/office/powerpoint/2010/main" val="6931797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Value-added perspective on quality: </a:t>
            </a:r>
            <a:r>
              <a:rPr lang="en-US" sz="1200" b="0" i="0" u="none" strike="noStrike" kern="1200" baseline="0" dirty="0">
                <a:solidFill>
                  <a:schemeClr val="tx1"/>
                </a:solidFill>
                <a:latin typeface="+mn-lt"/>
                <a:ea typeface="+mn-ea"/>
                <a:cs typeface="+mn-cs"/>
              </a:rPr>
              <a:t>A value-added activity can be pinpointed by asking, “Would this activity matter to the customer?” In other words, in most cases, a value-added activity will have economic value to the customer.</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Cultural perspectives on quality: </a:t>
            </a:r>
            <a:r>
              <a:rPr lang="en-US" sz="1200" b="0" i="0" u="none" strike="noStrike" kern="1200" baseline="0" dirty="0">
                <a:solidFill>
                  <a:schemeClr val="tx1"/>
                </a:solidFill>
                <a:latin typeface="+mn-lt"/>
                <a:ea typeface="+mn-ea"/>
                <a:cs typeface="+mn-cs"/>
              </a:rPr>
              <a:t>American firms are more likely to favor empowerment approaches that reward creativity and individualism. Certainly, cultures that are more class conscious or command-and-control-oriented might have trouble delegating decision making to lower levels of employees.</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Contingency theory perspective on quality: </a:t>
            </a:r>
            <a:r>
              <a:rPr lang="en-US" sz="1200" b="0" i="0" u="none" strike="noStrike" kern="1200" baseline="0" dirty="0">
                <a:solidFill>
                  <a:schemeClr val="tx1"/>
                </a:solidFill>
                <a:latin typeface="+mn-lt"/>
                <a:ea typeface="+mn-ea"/>
                <a:cs typeface="+mn-cs"/>
              </a:rPr>
              <a:t>The contingency approach to quality also helps settle the different perceptions concerning the definition of quality. By adopting a contingency philosophy, we find that the definitions and dimensions of quality applied within organizations will (and should) vary.</a:t>
            </a:r>
          </a:p>
        </p:txBody>
      </p:sp>
      <p:sp>
        <p:nvSpPr>
          <p:cNvPr id="4" name="Slide Number Placeholder 3"/>
          <p:cNvSpPr>
            <a:spLocks noGrp="1"/>
          </p:cNvSpPr>
          <p:nvPr>
            <p:ph type="sldNum" sz="quarter" idx="10"/>
          </p:nvPr>
        </p:nvSpPr>
        <p:spPr/>
        <p:txBody>
          <a:bodyPr/>
          <a:lstStyle/>
          <a:p>
            <a:fld id="{CFF71A2E-9361-4747-878D-22E7C3225E9E}" type="slidenum">
              <a:rPr lang="en-US" smtClean="0"/>
              <a:pPr/>
              <a:t>20</a:t>
            </a:fld>
            <a:endParaRPr lang="en-US" dirty="0"/>
          </a:p>
        </p:txBody>
      </p:sp>
    </p:spTree>
    <p:extLst>
      <p:ext uri="{BB962C8B-B14F-4D97-AF65-F5344CB8AC3E}">
        <p14:creationId xmlns:p14="http://schemas.microsoft.com/office/powerpoint/2010/main" val="18561972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80100" y="1122363"/>
            <a:ext cx="4787900" cy="2387600"/>
          </a:xfrm>
          <a:noFill/>
        </p:spPr>
        <p:txBody>
          <a:bodyPr anchor="ctr">
            <a:normAutofit/>
          </a:bodyPr>
          <a:lstStyle>
            <a:lvl1pPr algn="ctr">
              <a:defRPr sz="5400" b="1" baseline="0">
                <a:latin typeface="+mn-lt"/>
                <a:ea typeface="Verdana" panose="020B0604030504040204" pitchFamily="34" charset="0"/>
                <a:cs typeface="Verdana" panose="020B0604030504040204" pitchFamily="34" charset="0"/>
              </a:defRPr>
            </a:lvl1pPr>
          </a:lstStyle>
          <a:p>
            <a:endParaRPr lang="en-US" dirty="0"/>
          </a:p>
        </p:txBody>
      </p:sp>
      <p:sp>
        <p:nvSpPr>
          <p:cNvPr id="3" name="Subtitle 2"/>
          <p:cNvSpPr>
            <a:spLocks noGrp="1"/>
          </p:cNvSpPr>
          <p:nvPr>
            <p:ph type="subTitle" idx="1"/>
          </p:nvPr>
        </p:nvSpPr>
        <p:spPr>
          <a:xfrm>
            <a:off x="5994400" y="3602038"/>
            <a:ext cx="4673600" cy="1655762"/>
          </a:xfrm>
        </p:spPr>
        <p:txBody>
          <a:bodyPr>
            <a:normAutofit/>
          </a:bodyPr>
          <a:lstStyle>
            <a:lvl1pPr marL="0" indent="0" algn="ctr">
              <a:buNone/>
              <a:defRPr sz="3600" b="0" baseline="0">
                <a:latin typeface="+mn-lt"/>
                <a:ea typeface="Verdana" panose="020B0604030504040204" pitchFamily="34" charset="0"/>
                <a:cs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pic>
        <p:nvPicPr>
          <p:cNvPr id="7" name="Picture 6"/>
          <p:cNvPicPr>
            <a:picLocks noChangeAspect="1"/>
          </p:cNvPicPr>
          <p:nvPr userDrawn="1"/>
        </p:nvPicPr>
        <p:blipFill>
          <a:blip r:embed="rId2" cstate="print"/>
          <a:stretch>
            <a:fillRect/>
          </a:stretch>
        </p:blipFill>
        <p:spPr>
          <a:xfrm>
            <a:off x="1212431" y="1122363"/>
            <a:ext cx="3658437" cy="4533900"/>
          </a:xfrm>
          <a:prstGeom prst="rect">
            <a:avLst/>
          </a:prstGeom>
        </p:spPr>
      </p:pic>
    </p:spTree>
    <p:extLst>
      <p:ext uri="{BB962C8B-B14F-4D97-AF65-F5344CB8AC3E}">
        <p14:creationId xmlns:p14="http://schemas.microsoft.com/office/powerpoint/2010/main" val="3933043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lvl1pPr>
              <a:defRPr b="1">
                <a:latin typeface="+mn-lt"/>
                <a:ea typeface="Verdana" panose="020B0604030504040204" pitchFamily="34" charset="0"/>
                <a:cs typeface="Verdana" panose="020B060403050404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3200">
                <a:latin typeface="+mn-lt"/>
                <a:ea typeface="Verdana" panose="020B0604030504040204" pitchFamily="34" charset="0"/>
                <a:cs typeface="Verdana" panose="020B0604030504040204" pitchFamily="34" charset="0"/>
              </a:defRPr>
            </a:lvl1pPr>
            <a:lvl2pPr>
              <a:defRPr sz="2800">
                <a:latin typeface="+mn-lt"/>
                <a:ea typeface="Verdana" panose="020B0604030504040204" pitchFamily="34" charset="0"/>
                <a:cs typeface="Verdana" panose="020B0604030504040204" pitchFamily="34" charset="0"/>
              </a:defRPr>
            </a:lvl2pPr>
            <a:lvl3pPr>
              <a:defRPr sz="2400">
                <a:latin typeface="+mn-lt"/>
                <a:ea typeface="Verdana" panose="020B0604030504040204" pitchFamily="34" charset="0"/>
                <a:cs typeface="Verdana" panose="020B0604030504040204" pitchFamily="34" charset="0"/>
              </a:defRPr>
            </a:lvl3pPr>
            <a:lvl4pPr>
              <a:defRPr>
                <a:latin typeface="+mn-lt"/>
                <a:ea typeface="Verdana" panose="020B0604030504040204" pitchFamily="34" charset="0"/>
                <a:cs typeface="Verdana" panose="020B0604030504040204" pitchFamily="34" charset="0"/>
              </a:defRPr>
            </a:lvl4pPr>
            <a:lvl5pPr>
              <a:defRPr>
                <a:latin typeface="+mn-lt"/>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Cambria" panose="02040503050406030204" pitchFamily="18" charset="0"/>
              </a:defRPr>
            </a:lvl1pPr>
          </a:lstStyle>
          <a:p>
            <a:endParaRPr lang="en-US" dirty="0"/>
          </a:p>
        </p:txBody>
      </p:sp>
      <p:sp>
        <p:nvSpPr>
          <p:cNvPr id="5" name="Footer Placeholder 4"/>
          <p:cNvSpPr>
            <a:spLocks noGrp="1"/>
          </p:cNvSpPr>
          <p:nvPr>
            <p:ph type="ftr" sz="quarter" idx="11"/>
          </p:nvPr>
        </p:nvSpPr>
        <p:spPr>
          <a:xfrm>
            <a:off x="3695700" y="6188784"/>
            <a:ext cx="4800600" cy="365125"/>
          </a:xfrm>
          <a:prstGeom prst="rect">
            <a:avLst/>
          </a:prstGeom>
        </p:spPr>
        <p:txBody>
          <a:bodyPr/>
          <a:lstStyle>
            <a:lvl1pPr algn="ctr">
              <a:defRPr sz="1200">
                <a:latin typeface="Calibri" panose="020F0502020204030204" pitchFamily="34" charset="0"/>
              </a:defRPr>
            </a:lvl1pPr>
          </a:lstStyle>
          <a:p>
            <a:r>
              <a:rPr lang="en-US" dirty="0"/>
              <a:t>Copyright © 2017 Pearson Education, Ltd.</a:t>
            </a:r>
          </a:p>
        </p:txBody>
      </p:sp>
      <p:sp>
        <p:nvSpPr>
          <p:cNvPr id="6" name="Slide Number Placeholder 5"/>
          <p:cNvSpPr>
            <a:spLocks noGrp="1"/>
          </p:cNvSpPr>
          <p:nvPr>
            <p:ph type="sldNum" sz="quarter" idx="12"/>
          </p:nvPr>
        </p:nvSpPr>
        <p:spPr>
          <a:xfrm>
            <a:off x="8610600" y="6200605"/>
            <a:ext cx="2743200" cy="365125"/>
          </a:xfrm>
          <a:prstGeom prst="rect">
            <a:avLst/>
          </a:prstGeom>
        </p:spPr>
        <p:txBody>
          <a:bodyPr/>
          <a:lstStyle>
            <a:lvl1pPr algn="r">
              <a:defRPr sz="1200">
                <a:latin typeface="Calibri" panose="020F0502020204030204" pitchFamily="34" charset="0"/>
              </a:defRPr>
            </a:lvl1pPr>
          </a:lstStyle>
          <a:p>
            <a:r>
              <a:rPr lang="en-US" dirty="0"/>
              <a:t>1-</a:t>
            </a:r>
            <a:fld id="{AAF7652D-00F5-4CC9-9A73-9C8E572E6AE1}" type="slidenum">
              <a:rPr lang="en-US" smtClean="0"/>
              <a:pPr/>
              <a:t>‹#›</a:t>
            </a:fld>
            <a:endParaRPr lang="en-US" dirty="0"/>
          </a:p>
        </p:txBody>
      </p:sp>
    </p:spTree>
    <p:extLst>
      <p:ext uri="{BB962C8B-B14F-4D97-AF65-F5344CB8AC3E}">
        <p14:creationId xmlns:p14="http://schemas.microsoft.com/office/powerpoint/2010/main" val="528029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noFill/>
        </p:spPr>
        <p:txBody>
          <a:bodyPr anchor="b">
            <a:normAutofit/>
          </a:bodyPr>
          <a:lstStyle>
            <a:lvl1pPr>
              <a:defRPr sz="540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6" name="Slide Number Placeholder 5"/>
          <p:cNvSpPr>
            <a:spLocks noGrp="1"/>
          </p:cNvSpPr>
          <p:nvPr>
            <p:ph type="sldNum" sz="quarter" idx="12"/>
          </p:nvPr>
        </p:nvSpPr>
        <p:spPr>
          <a:xfrm>
            <a:off x="8610600" y="6200605"/>
            <a:ext cx="2743200" cy="365125"/>
          </a:xfrm>
          <a:prstGeom prst="rect">
            <a:avLst/>
          </a:prstGeom>
        </p:spPr>
        <p:txBody>
          <a:bodyPr/>
          <a:lstStyle/>
          <a:p>
            <a:fld id="{AAF7652D-00F5-4CC9-9A73-9C8E572E6AE1}" type="slidenum">
              <a:rPr lang="en-US" smtClean="0"/>
              <a:pPr/>
              <a:t>‹#›</a:t>
            </a:fld>
            <a:endParaRPr lang="en-US" dirty="0"/>
          </a:p>
        </p:txBody>
      </p:sp>
    </p:spTree>
    <p:extLst>
      <p:ext uri="{BB962C8B-B14F-4D97-AF65-F5344CB8AC3E}">
        <p14:creationId xmlns:p14="http://schemas.microsoft.com/office/powerpoint/2010/main" val="3371949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7" name="Slide Number Placeholder 6"/>
          <p:cNvSpPr>
            <a:spLocks noGrp="1"/>
          </p:cNvSpPr>
          <p:nvPr>
            <p:ph type="sldNum" sz="quarter" idx="12"/>
          </p:nvPr>
        </p:nvSpPr>
        <p:spPr>
          <a:xfrm>
            <a:off x="8610600" y="6200605"/>
            <a:ext cx="2743200" cy="365125"/>
          </a:xfrm>
          <a:prstGeom prst="rect">
            <a:avLst/>
          </a:prstGeom>
        </p:spPr>
        <p:txBody>
          <a:bodyPr/>
          <a:lstStyle/>
          <a:p>
            <a:r>
              <a:rPr lang="en-US" dirty="0"/>
              <a:t>1-</a:t>
            </a:r>
            <a:fld id="{AAF7652D-00F5-4CC9-9A73-9C8E572E6AE1}" type="slidenum">
              <a:rPr lang="en-US" smtClean="0"/>
              <a:pPr/>
              <a:t>‹#›</a:t>
            </a:fld>
            <a:endParaRPr lang="en-US" dirty="0"/>
          </a:p>
        </p:txBody>
      </p:sp>
    </p:spTree>
    <p:extLst>
      <p:ext uri="{BB962C8B-B14F-4D97-AF65-F5344CB8AC3E}">
        <p14:creationId xmlns:p14="http://schemas.microsoft.com/office/powerpoint/2010/main" val="2679051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9" name="Slide Number Placeholder 8"/>
          <p:cNvSpPr>
            <a:spLocks noGrp="1"/>
          </p:cNvSpPr>
          <p:nvPr>
            <p:ph type="sldNum" sz="quarter" idx="12"/>
          </p:nvPr>
        </p:nvSpPr>
        <p:spPr>
          <a:xfrm>
            <a:off x="8610600" y="6200605"/>
            <a:ext cx="2743200" cy="365125"/>
          </a:xfrm>
          <a:prstGeom prst="rect">
            <a:avLst/>
          </a:prstGeom>
        </p:spPr>
        <p:txBody>
          <a:bodyPr/>
          <a:lstStyle/>
          <a:p>
            <a:fld id="{AAF7652D-00F5-4CC9-9A73-9C8E572E6AE1}" type="slidenum">
              <a:rPr lang="en-US" smtClean="0"/>
              <a:pPr/>
              <a:t>‹#›</a:t>
            </a:fld>
            <a:endParaRPr lang="en-US" dirty="0"/>
          </a:p>
        </p:txBody>
      </p:sp>
    </p:spTree>
    <p:extLst>
      <p:ext uri="{BB962C8B-B14F-4D97-AF65-F5344CB8AC3E}">
        <p14:creationId xmlns:p14="http://schemas.microsoft.com/office/powerpoint/2010/main" val="337246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a:xfrm>
            <a:off x="3695700" y="6188784"/>
            <a:ext cx="4800600" cy="365125"/>
          </a:xfrm>
          <a:prstGeom prst="rect">
            <a:avLst/>
          </a:prstGeom>
        </p:spPr>
        <p:txBody>
          <a:bodyPr/>
          <a:lstStyle/>
          <a:p>
            <a:pPr algn="ctr"/>
            <a:r>
              <a:rPr lang="en-US" sz="1200" dirty="0"/>
              <a:t>Copyright © 2017 Pearson Education, Ltd.</a:t>
            </a:r>
          </a:p>
        </p:txBody>
      </p:sp>
      <p:sp>
        <p:nvSpPr>
          <p:cNvPr id="5" name="Slide Number Placeholder 4"/>
          <p:cNvSpPr>
            <a:spLocks noGrp="1"/>
          </p:cNvSpPr>
          <p:nvPr>
            <p:ph type="sldNum" sz="quarter" idx="12"/>
          </p:nvPr>
        </p:nvSpPr>
        <p:spPr>
          <a:xfrm>
            <a:off x="8610600" y="6200605"/>
            <a:ext cx="2743200" cy="365125"/>
          </a:xfrm>
          <a:prstGeom prst="rect">
            <a:avLst/>
          </a:prstGeom>
        </p:spPr>
        <p:txBody>
          <a:bodyPr/>
          <a:lstStyle/>
          <a:p>
            <a:fld id="{AAF7652D-00F5-4CC9-9A73-9C8E572E6AE1}" type="slidenum">
              <a:rPr lang="en-US" smtClean="0"/>
              <a:pPr/>
              <a:t>‹#›</a:t>
            </a:fld>
            <a:endParaRPr lang="en-US" dirty="0"/>
          </a:p>
        </p:txBody>
      </p:sp>
    </p:spTree>
    <p:extLst>
      <p:ext uri="{BB962C8B-B14F-4D97-AF65-F5344CB8AC3E}">
        <p14:creationId xmlns:p14="http://schemas.microsoft.com/office/powerpoint/2010/main" val="4257001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4" name="Slide Number Placeholder 3"/>
          <p:cNvSpPr>
            <a:spLocks noGrp="1"/>
          </p:cNvSpPr>
          <p:nvPr>
            <p:ph type="sldNum" sz="quarter" idx="12"/>
          </p:nvPr>
        </p:nvSpPr>
        <p:spPr>
          <a:xfrm>
            <a:off x="8610600" y="6200605"/>
            <a:ext cx="2743200" cy="365125"/>
          </a:xfrm>
          <a:prstGeom prst="rect">
            <a:avLst/>
          </a:prstGeom>
        </p:spPr>
        <p:txBody>
          <a:bodyPr/>
          <a:lstStyle/>
          <a:p>
            <a:fld id="{AAF7652D-00F5-4CC9-9A73-9C8E572E6AE1}" type="slidenum">
              <a:rPr lang="en-US" smtClean="0"/>
              <a:pPr/>
              <a:t>‹#›</a:t>
            </a:fld>
            <a:endParaRPr lang="en-US" dirty="0"/>
          </a:p>
        </p:txBody>
      </p:sp>
    </p:spTree>
    <p:extLst>
      <p:ext uri="{BB962C8B-B14F-4D97-AF65-F5344CB8AC3E}">
        <p14:creationId xmlns:p14="http://schemas.microsoft.com/office/powerpoint/2010/main" val="2614279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7" name="Slide Number Placeholder 6"/>
          <p:cNvSpPr>
            <a:spLocks noGrp="1"/>
          </p:cNvSpPr>
          <p:nvPr>
            <p:ph type="sldNum" sz="quarter" idx="12"/>
          </p:nvPr>
        </p:nvSpPr>
        <p:spPr>
          <a:xfrm>
            <a:off x="8610600" y="6200605"/>
            <a:ext cx="2743200" cy="365125"/>
          </a:xfrm>
          <a:prstGeom prst="rect">
            <a:avLst/>
          </a:prstGeom>
        </p:spPr>
        <p:txBody>
          <a:bodyPr/>
          <a:lstStyle/>
          <a:p>
            <a:fld id="{AAF7652D-00F5-4CC9-9A73-9C8E572E6AE1}" type="slidenum">
              <a:rPr lang="en-US" smtClean="0"/>
              <a:pPr/>
              <a:t>‹#›</a:t>
            </a:fld>
            <a:endParaRPr lang="en-US" dirty="0"/>
          </a:p>
        </p:txBody>
      </p:sp>
    </p:spTree>
    <p:extLst>
      <p:ext uri="{BB962C8B-B14F-4D97-AF65-F5344CB8AC3E}">
        <p14:creationId xmlns:p14="http://schemas.microsoft.com/office/powerpoint/2010/main" val="1257616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7" name="Slide Number Placeholder 6"/>
          <p:cNvSpPr>
            <a:spLocks noGrp="1"/>
          </p:cNvSpPr>
          <p:nvPr>
            <p:ph type="sldNum" sz="quarter" idx="12"/>
          </p:nvPr>
        </p:nvSpPr>
        <p:spPr>
          <a:xfrm>
            <a:off x="8610600" y="6200605"/>
            <a:ext cx="2743200" cy="365125"/>
          </a:xfrm>
          <a:prstGeom prst="rect">
            <a:avLst/>
          </a:prstGeom>
        </p:spPr>
        <p:txBody>
          <a:bodyPr/>
          <a:lstStyle/>
          <a:p>
            <a:fld id="{AAF7652D-00F5-4CC9-9A73-9C8E572E6AE1}" type="slidenum">
              <a:rPr lang="en-US" smtClean="0"/>
              <a:pPr/>
              <a:t>‹#›</a:t>
            </a:fld>
            <a:endParaRPr lang="en-US" dirty="0"/>
          </a:p>
        </p:txBody>
      </p:sp>
    </p:spTree>
    <p:extLst>
      <p:ext uri="{BB962C8B-B14F-4D97-AF65-F5344CB8AC3E}">
        <p14:creationId xmlns:p14="http://schemas.microsoft.com/office/powerpoint/2010/main" val="2366035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6" name="Slide Number Placeholder 5"/>
          <p:cNvSpPr>
            <a:spLocks noGrp="1"/>
          </p:cNvSpPr>
          <p:nvPr>
            <p:ph type="sldNum" sz="quarter" idx="12"/>
          </p:nvPr>
        </p:nvSpPr>
        <p:spPr>
          <a:xfrm>
            <a:off x="8610600" y="6200605"/>
            <a:ext cx="2743200" cy="365125"/>
          </a:xfrm>
          <a:prstGeom prst="rect">
            <a:avLst/>
          </a:prstGeom>
        </p:spPr>
        <p:txBody>
          <a:bodyPr/>
          <a:lstStyle/>
          <a:p>
            <a:fld id="{AAF7652D-00F5-4CC9-9A73-9C8E572E6AE1}" type="slidenum">
              <a:rPr lang="en-US" smtClean="0"/>
              <a:pPr/>
              <a:t>‹#›</a:t>
            </a:fld>
            <a:endParaRPr lang="en-US" dirty="0"/>
          </a:p>
        </p:txBody>
      </p:sp>
    </p:spTree>
    <p:extLst>
      <p:ext uri="{BB962C8B-B14F-4D97-AF65-F5344CB8AC3E}">
        <p14:creationId xmlns:p14="http://schemas.microsoft.com/office/powerpoint/2010/main" val="3051799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3695700" y="6188784"/>
            <a:ext cx="4800600" cy="365125"/>
          </a:xfrm>
          <a:prstGeom prst="rect">
            <a:avLst/>
          </a:prstGeom>
        </p:spPr>
        <p:txBody>
          <a:bodyPr/>
          <a:lstStyle>
            <a:lvl1pPr algn="ctr">
              <a:defRPr sz="1200"/>
            </a:lvl1pPr>
          </a:lstStyle>
          <a:p>
            <a:r>
              <a:rPr lang="en-US" dirty="0"/>
              <a:t>Copyright © 2017 Pearson Education, Ltd.</a:t>
            </a:r>
          </a:p>
        </p:txBody>
      </p:sp>
      <p:sp>
        <p:nvSpPr>
          <p:cNvPr id="6" name="Slide Number Placeholder 5"/>
          <p:cNvSpPr>
            <a:spLocks noGrp="1"/>
          </p:cNvSpPr>
          <p:nvPr>
            <p:ph type="sldNum" sz="quarter" idx="12"/>
          </p:nvPr>
        </p:nvSpPr>
        <p:spPr>
          <a:xfrm>
            <a:off x="8610600" y="6200605"/>
            <a:ext cx="2743200" cy="365125"/>
          </a:xfrm>
          <a:prstGeom prst="rect">
            <a:avLst/>
          </a:prstGeom>
        </p:spPr>
        <p:txBody>
          <a:bodyPr/>
          <a:lstStyle/>
          <a:p>
            <a:fld id="{AAF7652D-00F5-4CC9-9A73-9C8E572E6AE1}" type="slidenum">
              <a:rPr lang="en-US" smtClean="0"/>
              <a:pPr/>
              <a:t>‹#›</a:t>
            </a:fld>
            <a:endParaRPr lang="en-US" dirty="0"/>
          </a:p>
        </p:txBody>
      </p:sp>
    </p:spTree>
    <p:extLst>
      <p:ext uri="{BB962C8B-B14F-4D97-AF65-F5344CB8AC3E}">
        <p14:creationId xmlns:p14="http://schemas.microsoft.com/office/powerpoint/2010/main" val="1244038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3000">
              <a:srgbClr val="FFFFCC"/>
            </a:gs>
            <a:gs pos="94000">
              <a:srgbClr val="FFFF00"/>
            </a:gs>
            <a:gs pos="95000">
              <a:schemeClr val="accent6">
                <a:lumMod val="75000"/>
              </a:schemeClr>
            </a:gs>
            <a:gs pos="100000">
              <a:schemeClr val="accent6">
                <a:lumMod val="75000"/>
              </a:schemeClr>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25425"/>
            <a:ext cx="10515600" cy="1325563"/>
          </a:xfrm>
          <a:prstGeom prst="rect">
            <a:avLst/>
          </a:prstGeom>
          <a:noFill/>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570038"/>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18878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8" name="Date Placeholder 3"/>
          <p:cNvSpPr txBox="1">
            <a:spLocks/>
          </p:cNvSpPr>
          <p:nvPr userDrawn="1"/>
        </p:nvSpPr>
        <p:spPr>
          <a:xfrm>
            <a:off x="8610600" y="6198309"/>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 name="Date Placeholder 3"/>
          <p:cNvSpPr txBox="1">
            <a:spLocks/>
          </p:cNvSpPr>
          <p:nvPr userDrawn="1"/>
        </p:nvSpPr>
        <p:spPr>
          <a:xfrm>
            <a:off x="8610600" y="621965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1" name="Slide Number Placeholder 10"/>
          <p:cNvSpPr>
            <a:spLocks noGrp="1"/>
          </p:cNvSpPr>
          <p:nvPr>
            <p:ph type="sldNum" sz="quarter" idx="4"/>
          </p:nvPr>
        </p:nvSpPr>
        <p:spPr>
          <a:xfrm>
            <a:off x="8610600" y="621735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1-</a:t>
            </a:r>
            <a:fld id="{1A843D4F-3A69-4129-96BE-2065DA1F8A38}" type="slidenum">
              <a:rPr lang="en-US" smtClean="0"/>
              <a:pPr/>
              <a:t>‹#›</a:t>
            </a:fld>
            <a:endParaRPr lang="en-US" dirty="0"/>
          </a:p>
        </p:txBody>
      </p:sp>
      <p:sp>
        <p:nvSpPr>
          <p:cNvPr id="10" name="Footer Placeholder 3"/>
          <p:cNvSpPr>
            <a:spLocks noGrp="1"/>
          </p:cNvSpPr>
          <p:nvPr>
            <p:ph type="ftr" sz="quarter" idx="3"/>
          </p:nvPr>
        </p:nvSpPr>
        <p:spPr>
          <a:xfrm>
            <a:off x="3695700" y="6188784"/>
            <a:ext cx="4800600" cy="365125"/>
          </a:xfrm>
          <a:prstGeom prst="rect">
            <a:avLst/>
          </a:prstGeom>
        </p:spPr>
        <p:txBody>
          <a:bodyPr/>
          <a:lstStyle>
            <a:lvl1pPr>
              <a:defRPr>
                <a:latin typeface="+mn-lt"/>
              </a:defRPr>
            </a:lvl1pPr>
          </a:lstStyle>
          <a:p>
            <a:r>
              <a:rPr lang="en-US" dirty="0"/>
              <a:t>Copyright © 2017 Pearson Education, Ltd.</a:t>
            </a:r>
          </a:p>
        </p:txBody>
      </p:sp>
    </p:spTree>
    <p:extLst>
      <p:ext uri="{BB962C8B-B14F-4D97-AF65-F5344CB8AC3E}">
        <p14:creationId xmlns:p14="http://schemas.microsoft.com/office/powerpoint/2010/main" val="1334540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b="1" kern="1200">
          <a:solidFill>
            <a:schemeClr val="tx1"/>
          </a:solidFill>
          <a:latin typeface="+mn-lt"/>
          <a:ea typeface="Verdana" panose="020B0604030504040204" pitchFamily="34" charset="0"/>
          <a:cs typeface="Verdan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Verdana" panose="020B0604030504040204" pitchFamily="34" charset="0"/>
          <a:cs typeface="Verdan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Verdana" panose="020B0604030504040204" pitchFamily="34" charset="0"/>
          <a:cs typeface="Verdan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Verdan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27601" y="1098613"/>
            <a:ext cx="4787900" cy="2387600"/>
          </a:xfrm>
          <a:solidFill>
            <a:srgbClr val="FFFFCC"/>
          </a:solidFill>
        </p:spPr>
        <p:txBody>
          <a:bodyPr/>
          <a:lstStyle/>
          <a:p>
            <a:r>
              <a:rPr lang="en-US" dirty="0"/>
              <a:t>Chapter 1</a:t>
            </a:r>
          </a:p>
        </p:txBody>
      </p:sp>
      <p:sp>
        <p:nvSpPr>
          <p:cNvPr id="3" name="Subtitle 2"/>
          <p:cNvSpPr>
            <a:spLocks noGrp="1"/>
          </p:cNvSpPr>
          <p:nvPr>
            <p:ph type="subTitle" idx="1"/>
          </p:nvPr>
        </p:nvSpPr>
        <p:spPr>
          <a:xfrm>
            <a:off x="5994399" y="3602038"/>
            <a:ext cx="5071119" cy="1655762"/>
          </a:xfrm>
        </p:spPr>
        <p:txBody>
          <a:bodyPr>
            <a:noAutofit/>
          </a:bodyPr>
          <a:lstStyle/>
          <a:p>
            <a:r>
              <a:rPr lang="en-US" sz="4000" b="1" dirty="0"/>
              <a:t> Differing Perspectives on Quality</a:t>
            </a:r>
          </a:p>
        </p:txBody>
      </p:sp>
    </p:spTree>
    <p:extLst>
      <p:ext uri="{BB962C8B-B14F-4D97-AF65-F5344CB8AC3E}">
        <p14:creationId xmlns:p14="http://schemas.microsoft.com/office/powerpoint/2010/main" val="1870925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B024B-A3C7-46EE-A5FE-F013988FCB02}"/>
              </a:ext>
            </a:extLst>
          </p:cNvPr>
          <p:cNvSpPr>
            <a:spLocks noGrp="1"/>
          </p:cNvSpPr>
          <p:nvPr>
            <p:ph type="title"/>
          </p:nvPr>
        </p:nvSpPr>
        <p:spPr/>
        <p:txBody>
          <a:bodyPr/>
          <a:lstStyle/>
          <a:p>
            <a:r>
              <a:rPr lang="en-US" dirty="0"/>
              <a:t>Have you ever thought? </a:t>
            </a:r>
            <a:endParaRPr lang="LID4096" dirty="0"/>
          </a:p>
        </p:txBody>
      </p:sp>
      <p:sp>
        <p:nvSpPr>
          <p:cNvPr id="3" name="Content Placeholder 2">
            <a:extLst>
              <a:ext uri="{FF2B5EF4-FFF2-40B4-BE49-F238E27FC236}">
                <a16:creationId xmlns:a16="http://schemas.microsoft.com/office/drawing/2014/main" id="{F5F9B633-B6B0-4ECB-97C9-781CE1C5CB06}"/>
              </a:ext>
            </a:extLst>
          </p:cNvPr>
          <p:cNvSpPr>
            <a:spLocks noGrp="1"/>
          </p:cNvSpPr>
          <p:nvPr>
            <p:ph idx="1"/>
          </p:nvPr>
        </p:nvSpPr>
        <p:spPr>
          <a:xfrm>
            <a:off x="838200" y="1570038"/>
            <a:ext cx="10515600" cy="4618746"/>
          </a:xfrm>
        </p:spPr>
        <p:txBody>
          <a:bodyPr>
            <a:normAutofit fontScale="92500" lnSpcReduction="10000"/>
          </a:bodyPr>
          <a:lstStyle/>
          <a:p>
            <a:pPr marL="0" indent="0" algn="just">
              <a:buNone/>
            </a:pPr>
            <a:r>
              <a:rPr lang="en-US" b="0" i="0" dirty="0">
                <a:effectLst/>
                <a:latin typeface="fkGroteskNeue"/>
              </a:rPr>
              <a:t>Why Does One iPhone Cost $800 and Another 'Smartphone' Cost $200? Both have screens, cameras, processors, and can make phone calls.</a:t>
            </a:r>
          </a:p>
          <a:p>
            <a:pPr algn="just"/>
            <a:r>
              <a:rPr lang="en-US" b="0" i="1" dirty="0">
                <a:effectLst/>
                <a:latin typeface="fkGroteskNeue"/>
              </a:rPr>
              <a:t>So why is one worth 4x the price?</a:t>
            </a:r>
          </a:p>
          <a:p>
            <a:pPr algn="just"/>
            <a:r>
              <a:rPr lang="en-US" b="0" i="1" dirty="0">
                <a:effectLst/>
                <a:latin typeface="fkGroteskNeue"/>
              </a:rPr>
              <a:t>Is it performance? Features? Reliability? Brand? How does it feel in your hand?</a:t>
            </a:r>
          </a:p>
          <a:p>
            <a:pPr marL="0" indent="0" algn="just">
              <a:buNone/>
            </a:pPr>
            <a:r>
              <a:rPr lang="en-US" b="0" i="0" dirty="0">
                <a:effectLst/>
                <a:latin typeface="fkGroteskNeue"/>
              </a:rPr>
              <a:t>Today, we'll discover that quality is </a:t>
            </a:r>
            <a:r>
              <a:rPr lang="en-US" b="0" i="0" dirty="0">
                <a:solidFill>
                  <a:srgbClr val="0000FF"/>
                </a:solidFill>
                <a:effectLst/>
                <a:latin typeface="fkGroteskNeue"/>
              </a:rPr>
              <a:t>NOT one-dimensional</a:t>
            </a:r>
            <a:r>
              <a:rPr lang="en-US" b="0" i="0" dirty="0">
                <a:effectLst/>
                <a:latin typeface="fkGroteskNeue"/>
              </a:rPr>
              <a:t>—different people, functions, and cultures see it very differently. By understanding these differences, you'll see why organizations often struggle internally when </a:t>
            </a:r>
            <a:r>
              <a:rPr lang="en-US" b="0" i="0" dirty="0">
                <a:solidFill>
                  <a:srgbClr val="0000FF"/>
                </a:solidFill>
                <a:effectLst/>
                <a:latin typeface="fkGroteskNeue"/>
              </a:rPr>
              <a:t>different departments </a:t>
            </a:r>
            <a:r>
              <a:rPr lang="en-US" b="0" i="0" dirty="0">
                <a:effectLst/>
                <a:latin typeface="fkGroteskNeue"/>
              </a:rPr>
              <a:t>pursue conflicting quality goals.</a:t>
            </a:r>
          </a:p>
          <a:p>
            <a:endParaRPr lang="LID4096" dirty="0"/>
          </a:p>
        </p:txBody>
      </p:sp>
      <p:sp>
        <p:nvSpPr>
          <p:cNvPr id="4" name="Footer Placeholder 3">
            <a:extLst>
              <a:ext uri="{FF2B5EF4-FFF2-40B4-BE49-F238E27FC236}">
                <a16:creationId xmlns:a16="http://schemas.microsoft.com/office/drawing/2014/main" id="{3B4F008A-037B-4C24-B387-8B82200CB4E8}"/>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1427853A-A642-491F-8775-27E692A3588F}"/>
              </a:ext>
            </a:extLst>
          </p:cNvPr>
          <p:cNvSpPr>
            <a:spLocks noGrp="1"/>
          </p:cNvSpPr>
          <p:nvPr>
            <p:ph type="sldNum" sz="quarter" idx="12"/>
          </p:nvPr>
        </p:nvSpPr>
        <p:spPr/>
        <p:txBody>
          <a:bodyPr/>
          <a:lstStyle/>
          <a:p>
            <a:r>
              <a:rPr lang="en-US"/>
              <a:t>1-</a:t>
            </a:r>
            <a:fld id="{AAF7652D-00F5-4CC9-9A73-9C8E572E6AE1}" type="slidenum">
              <a:rPr lang="en-US" smtClean="0"/>
              <a:pPr/>
              <a:t>2</a:t>
            </a:fld>
            <a:endParaRPr lang="en-US" dirty="0"/>
          </a:p>
        </p:txBody>
      </p:sp>
    </p:spTree>
    <p:extLst>
      <p:ext uri="{BB962C8B-B14F-4D97-AF65-F5344CB8AC3E}">
        <p14:creationId xmlns:p14="http://schemas.microsoft.com/office/powerpoint/2010/main" val="1736893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CC"/>
          </a:solidFill>
        </p:spPr>
        <p:txBody>
          <a:bodyPr/>
          <a:lstStyle/>
          <a:p>
            <a:r>
              <a:rPr lang="en-US" dirty="0"/>
              <a:t>Chapter Objectives</a:t>
            </a:r>
          </a:p>
        </p:txBody>
      </p:sp>
      <p:sp>
        <p:nvSpPr>
          <p:cNvPr id="3" name="Content Placeholder 2"/>
          <p:cNvSpPr>
            <a:spLocks noGrp="1"/>
          </p:cNvSpPr>
          <p:nvPr>
            <p:ph idx="1"/>
          </p:nvPr>
        </p:nvSpPr>
        <p:spPr/>
        <p:txBody>
          <a:bodyPr>
            <a:normAutofit fontScale="92500" lnSpcReduction="20000"/>
          </a:bodyPr>
          <a:lstStyle/>
          <a:p>
            <a:pPr marL="514350" indent="-514350" algn="just">
              <a:buFont typeface="+mj-lt"/>
              <a:buAutoNum type="arabicPeriod"/>
            </a:pPr>
            <a:r>
              <a:rPr lang="en-US" b="0" dirty="0"/>
              <a:t>Recognize that </a:t>
            </a:r>
            <a:r>
              <a:rPr lang="en-US" b="0" dirty="0">
                <a:solidFill>
                  <a:srgbClr val="0000FF"/>
                </a:solidFill>
              </a:rPr>
              <a:t>different dimensions </a:t>
            </a:r>
            <a:r>
              <a:rPr lang="en-US" b="0" dirty="0"/>
              <a:t>of quality exist.</a:t>
            </a:r>
          </a:p>
          <a:p>
            <a:pPr marL="514350" indent="-514350" algn="just">
              <a:buFont typeface="+mj-lt"/>
              <a:buAutoNum type="arabicPeriod"/>
            </a:pPr>
            <a:r>
              <a:rPr lang="en-US" b="0" dirty="0"/>
              <a:t>Be able to discuss the quality dimensions.</a:t>
            </a:r>
          </a:p>
          <a:p>
            <a:pPr marL="514350" indent="-514350" algn="just">
              <a:buFont typeface="+mj-lt"/>
              <a:buAutoNum type="arabicPeriod"/>
            </a:pPr>
            <a:r>
              <a:rPr lang="en-US" b="0" dirty="0"/>
              <a:t>Communicate the seven different </a:t>
            </a:r>
            <a:r>
              <a:rPr lang="en-US" b="0" dirty="0">
                <a:solidFill>
                  <a:srgbClr val="0000FF"/>
                </a:solidFill>
              </a:rPr>
              <a:t>functional</a:t>
            </a:r>
            <a:r>
              <a:rPr lang="en-US" b="0" dirty="0"/>
              <a:t> perspectives on quality.</a:t>
            </a:r>
          </a:p>
          <a:p>
            <a:pPr marL="514350" indent="-514350" algn="just">
              <a:buFont typeface="+mj-lt"/>
              <a:buAutoNum type="arabicPeriod"/>
            </a:pPr>
            <a:r>
              <a:rPr lang="en-US" b="0" dirty="0"/>
              <a:t>Understand why it is important to know that different perspectives exist. </a:t>
            </a:r>
          </a:p>
          <a:p>
            <a:pPr marL="514350" indent="-514350" algn="just">
              <a:buFont typeface="+mj-lt"/>
              <a:buAutoNum type="arabicPeriod"/>
            </a:pPr>
            <a:r>
              <a:rPr lang="en-US" b="0" dirty="0"/>
              <a:t>Define a quality system using the </a:t>
            </a:r>
            <a:r>
              <a:rPr lang="en-US" b="0" dirty="0">
                <a:solidFill>
                  <a:srgbClr val="0000FF"/>
                </a:solidFill>
              </a:rPr>
              <a:t>three spheres</a:t>
            </a:r>
            <a:r>
              <a:rPr lang="en-US" b="0" dirty="0"/>
              <a:t>.</a:t>
            </a:r>
          </a:p>
          <a:p>
            <a:pPr marL="514350" indent="-514350" algn="just">
              <a:buFont typeface="+mj-lt"/>
              <a:buAutoNum type="arabicPeriod"/>
            </a:pPr>
            <a:r>
              <a:rPr lang="en-US" b="0" dirty="0"/>
              <a:t>Understand how the three spheres complement each other.</a:t>
            </a:r>
          </a:p>
          <a:p>
            <a:pPr marL="514350" indent="-514350" algn="just">
              <a:buFont typeface="+mj-lt"/>
              <a:buAutoNum type="arabicPeriod"/>
            </a:pPr>
            <a:r>
              <a:rPr lang="en-US" b="0" dirty="0"/>
              <a:t>Understand the</a:t>
            </a:r>
            <a:r>
              <a:rPr lang="en-US" b="0" dirty="0">
                <a:solidFill>
                  <a:srgbClr val="0000FF"/>
                </a:solidFill>
              </a:rPr>
              <a:t> value-added </a:t>
            </a:r>
            <a:r>
              <a:rPr lang="en-US" b="0" dirty="0"/>
              <a:t>perspective on quality.</a:t>
            </a:r>
          </a:p>
          <a:p>
            <a:pPr marL="514350" indent="-514350" algn="just">
              <a:buFont typeface="+mj-lt"/>
              <a:buAutoNum type="arabicPeriod"/>
            </a:pPr>
            <a:r>
              <a:rPr lang="en-US" b="0" dirty="0"/>
              <a:t>Discuss differing </a:t>
            </a:r>
            <a:r>
              <a:rPr lang="en-US" b="0" dirty="0">
                <a:solidFill>
                  <a:srgbClr val="0000FF"/>
                </a:solidFill>
              </a:rPr>
              <a:t>cultural perspectives </a:t>
            </a:r>
            <a:r>
              <a:rPr lang="en-US" b="0" dirty="0"/>
              <a:t>on quality. </a:t>
            </a:r>
          </a:p>
        </p:txBody>
      </p:sp>
      <p:sp>
        <p:nvSpPr>
          <p:cNvPr id="4" name="Footer Placeholder 3"/>
          <p:cNvSpPr>
            <a:spLocks noGrp="1"/>
          </p:cNvSpPr>
          <p:nvPr>
            <p:ph type="ftr" sz="quarter" idx="11"/>
          </p:nvPr>
        </p:nvSpPr>
        <p:spPr/>
        <p:txBody>
          <a:bodyPr/>
          <a:lstStyle/>
          <a:p>
            <a:r>
              <a:rPr lang="en-US" dirty="0">
                <a:latin typeface="Calibri" panose="020F0502020204030204" pitchFamily="34" charset="0"/>
              </a:rPr>
              <a:t>Copyright © 2017 Pearson Education, Ltd.</a:t>
            </a:r>
          </a:p>
        </p:txBody>
      </p:sp>
      <p:sp>
        <p:nvSpPr>
          <p:cNvPr id="7" name="Slide Number Placeholder 6"/>
          <p:cNvSpPr>
            <a:spLocks noGrp="1"/>
          </p:cNvSpPr>
          <p:nvPr>
            <p:ph type="sldNum" sz="quarter" idx="12"/>
          </p:nvPr>
        </p:nvSpPr>
        <p:spPr/>
        <p:txBody>
          <a:bodyPr/>
          <a:lstStyle/>
          <a:p>
            <a:r>
              <a:rPr lang="en-US" dirty="0"/>
              <a:t>1-</a:t>
            </a:r>
            <a:fld id="{AAF7652D-00F5-4CC9-9A73-9C8E572E6AE1}" type="slidenum">
              <a:rPr lang="en-US" smtClean="0"/>
              <a:pPr/>
              <a:t>3</a:t>
            </a:fld>
            <a:endParaRPr lang="en-US" dirty="0"/>
          </a:p>
        </p:txBody>
      </p:sp>
    </p:spTree>
    <p:extLst>
      <p:ext uri="{BB962C8B-B14F-4D97-AF65-F5344CB8AC3E}">
        <p14:creationId xmlns:p14="http://schemas.microsoft.com/office/powerpoint/2010/main" val="3723881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US" b="1" dirty="0"/>
              <a:t>Product Quality Dimensions</a:t>
            </a:r>
          </a:p>
        </p:txBody>
      </p:sp>
      <p:sp>
        <p:nvSpPr>
          <p:cNvPr id="3" name="Content Placeholder 2"/>
          <p:cNvSpPr>
            <a:spLocks noGrp="1"/>
          </p:cNvSpPr>
          <p:nvPr>
            <p:ph idx="1"/>
          </p:nvPr>
        </p:nvSpPr>
        <p:spPr>
          <a:xfrm>
            <a:off x="838200" y="1338138"/>
            <a:ext cx="10515600" cy="4351338"/>
          </a:xfrm>
        </p:spPr>
        <p:txBody>
          <a:bodyPr>
            <a:noAutofit/>
          </a:bodyPr>
          <a:lstStyle/>
          <a:p>
            <a:pPr>
              <a:lnSpc>
                <a:spcPct val="100000"/>
              </a:lnSpc>
              <a:spcBef>
                <a:spcPts val="0"/>
              </a:spcBef>
              <a:spcAft>
                <a:spcPts val="1800"/>
              </a:spcAft>
            </a:pPr>
            <a:r>
              <a:rPr lang="en-US" sz="3000" b="1" dirty="0"/>
              <a:t>Performance</a:t>
            </a:r>
            <a:r>
              <a:rPr lang="en-US" sz="3000" dirty="0"/>
              <a:t> – </a:t>
            </a:r>
            <a:r>
              <a:rPr lang="en-US" sz="3000" b="0" dirty="0"/>
              <a:t>Efficiency with which a product achieves its intended purpose</a:t>
            </a:r>
          </a:p>
          <a:p>
            <a:pPr>
              <a:lnSpc>
                <a:spcPct val="100000"/>
              </a:lnSpc>
              <a:spcBef>
                <a:spcPts val="0"/>
              </a:spcBef>
              <a:spcAft>
                <a:spcPts val="1800"/>
              </a:spcAft>
            </a:pPr>
            <a:r>
              <a:rPr lang="en-US" sz="3000" b="1" dirty="0"/>
              <a:t>Features</a:t>
            </a:r>
            <a:r>
              <a:rPr lang="en-US" sz="3000" dirty="0"/>
              <a:t> – </a:t>
            </a:r>
            <a:r>
              <a:rPr lang="en-US" sz="3000" b="0" dirty="0"/>
              <a:t>Attributes of a product that supplement the product’s basic performance</a:t>
            </a:r>
          </a:p>
          <a:p>
            <a:pPr>
              <a:lnSpc>
                <a:spcPct val="100000"/>
              </a:lnSpc>
              <a:spcBef>
                <a:spcPts val="0"/>
              </a:spcBef>
              <a:spcAft>
                <a:spcPts val="1800"/>
              </a:spcAft>
            </a:pPr>
            <a:r>
              <a:rPr lang="en-US" sz="3000" b="1" dirty="0"/>
              <a:t>Reliability</a:t>
            </a:r>
            <a:r>
              <a:rPr lang="en-US" sz="3000" dirty="0"/>
              <a:t> – </a:t>
            </a:r>
            <a:r>
              <a:rPr lang="en-US" sz="3000" b="0" dirty="0"/>
              <a:t>The tendency for a product to perform consistently over its useful design life</a:t>
            </a:r>
          </a:p>
          <a:p>
            <a:pPr>
              <a:lnSpc>
                <a:spcPct val="100000"/>
              </a:lnSpc>
              <a:spcBef>
                <a:spcPts val="0"/>
              </a:spcBef>
              <a:spcAft>
                <a:spcPts val="1800"/>
              </a:spcAft>
            </a:pPr>
            <a:r>
              <a:rPr lang="en-US" sz="3000" b="1" dirty="0"/>
              <a:t>Conformance</a:t>
            </a:r>
            <a:r>
              <a:rPr lang="en-US" sz="3000" dirty="0"/>
              <a:t> – </a:t>
            </a:r>
            <a:r>
              <a:rPr lang="en-US" sz="3000" b="0" dirty="0"/>
              <a:t>Adherence to certain numeric dimensions for the product’s performance</a:t>
            </a:r>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8" name="Slide Number Placeholder 7"/>
          <p:cNvSpPr>
            <a:spLocks noGrp="1"/>
          </p:cNvSpPr>
          <p:nvPr>
            <p:ph type="sldNum" sz="quarter" idx="12"/>
          </p:nvPr>
        </p:nvSpPr>
        <p:spPr/>
        <p:txBody>
          <a:bodyPr/>
          <a:lstStyle/>
          <a:p>
            <a:r>
              <a:rPr lang="en-US" dirty="0"/>
              <a:t>1-</a:t>
            </a:r>
            <a:fld id="{AAF7652D-00F5-4CC9-9A73-9C8E572E6AE1}" type="slidenum">
              <a:rPr lang="en-US" smtClean="0"/>
              <a:pPr/>
              <a:t>4</a:t>
            </a:fld>
            <a:endParaRPr lang="en-US" dirty="0"/>
          </a:p>
        </p:txBody>
      </p:sp>
      <p:sp>
        <p:nvSpPr>
          <p:cNvPr id="6" name="TextBox 5"/>
          <p:cNvSpPr txBox="1"/>
          <p:nvPr/>
        </p:nvSpPr>
        <p:spPr>
          <a:xfrm>
            <a:off x="5061398" y="5689476"/>
            <a:ext cx="6563746" cy="276999"/>
          </a:xfrm>
          <a:prstGeom prst="rect">
            <a:avLst/>
          </a:prstGeom>
          <a:noFill/>
        </p:spPr>
        <p:txBody>
          <a:bodyPr wrap="square" rtlCol="0">
            <a:spAutoFit/>
          </a:bodyPr>
          <a:lstStyle/>
          <a:p>
            <a:r>
              <a:rPr lang="en-US" sz="1200" dirty="0"/>
              <a:t>Garvin, D., “What Does ‘Product Quality’ Really Mean?” </a:t>
            </a:r>
            <a:r>
              <a:rPr lang="en-US" sz="1200" i="1" dirty="0"/>
              <a:t>Sloan Management Review</a:t>
            </a:r>
            <a:r>
              <a:rPr lang="en-US" sz="1200" dirty="0"/>
              <a:t> (Fall 1984): 25-43.</a:t>
            </a:r>
          </a:p>
        </p:txBody>
      </p:sp>
    </p:spTree>
    <p:extLst>
      <p:ext uri="{BB962C8B-B14F-4D97-AF65-F5344CB8AC3E}">
        <p14:creationId xmlns:p14="http://schemas.microsoft.com/office/powerpoint/2010/main" val="2284833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US" dirty="0"/>
              <a:t>Product Quality Dimensions</a:t>
            </a:r>
          </a:p>
        </p:txBody>
      </p:sp>
      <p:sp>
        <p:nvSpPr>
          <p:cNvPr id="3" name="Content Placeholder 2"/>
          <p:cNvSpPr>
            <a:spLocks noGrp="1"/>
          </p:cNvSpPr>
          <p:nvPr>
            <p:ph idx="1"/>
          </p:nvPr>
        </p:nvSpPr>
        <p:spPr>
          <a:xfrm>
            <a:off x="838200" y="1444563"/>
            <a:ext cx="10515600" cy="4351338"/>
          </a:xfrm>
        </p:spPr>
        <p:txBody>
          <a:bodyPr>
            <a:normAutofit/>
          </a:bodyPr>
          <a:lstStyle/>
          <a:p>
            <a:pPr>
              <a:spcBef>
                <a:spcPts val="0"/>
              </a:spcBef>
              <a:spcAft>
                <a:spcPts val="1800"/>
              </a:spcAft>
            </a:pPr>
            <a:r>
              <a:rPr lang="en-US" sz="3000" b="1" dirty="0"/>
              <a:t>Durability</a:t>
            </a:r>
            <a:r>
              <a:rPr lang="en-US" sz="3000" dirty="0"/>
              <a:t> – </a:t>
            </a:r>
            <a:r>
              <a:rPr lang="en-US" sz="3000" b="0" dirty="0"/>
              <a:t>The degree to which a product tolerates stress or trauma without failing </a:t>
            </a:r>
          </a:p>
          <a:p>
            <a:pPr>
              <a:spcBef>
                <a:spcPts val="0"/>
              </a:spcBef>
              <a:spcAft>
                <a:spcPts val="1800"/>
              </a:spcAft>
            </a:pPr>
            <a:r>
              <a:rPr lang="en-US" sz="3000" b="1" dirty="0"/>
              <a:t>Serviceability</a:t>
            </a:r>
            <a:r>
              <a:rPr lang="en-US" sz="3000" dirty="0"/>
              <a:t> – </a:t>
            </a:r>
            <a:r>
              <a:rPr lang="en-US" sz="3000" b="0" dirty="0"/>
              <a:t>The ease of repair for a product (easily and cheaply)</a:t>
            </a:r>
          </a:p>
          <a:p>
            <a:pPr>
              <a:spcBef>
                <a:spcPts val="0"/>
              </a:spcBef>
              <a:spcAft>
                <a:spcPts val="1800"/>
              </a:spcAft>
            </a:pPr>
            <a:r>
              <a:rPr lang="en-US" sz="3000" b="1" dirty="0"/>
              <a:t>Aesthetics </a:t>
            </a:r>
            <a:r>
              <a:rPr lang="en-US" sz="3000" dirty="0"/>
              <a:t>– </a:t>
            </a:r>
            <a:r>
              <a:rPr lang="en-US" sz="3000" b="0" dirty="0"/>
              <a:t>The degree to which product attributes are matched to consumer preferences</a:t>
            </a:r>
          </a:p>
          <a:p>
            <a:pPr>
              <a:spcBef>
                <a:spcPts val="0"/>
              </a:spcBef>
              <a:spcAft>
                <a:spcPts val="1800"/>
              </a:spcAft>
            </a:pPr>
            <a:r>
              <a:rPr lang="en-US" sz="3000" b="1" dirty="0"/>
              <a:t>Perceived quality </a:t>
            </a:r>
            <a:r>
              <a:rPr lang="en-US" sz="3000" dirty="0"/>
              <a:t>– </a:t>
            </a:r>
            <a:r>
              <a:rPr lang="en-US" sz="3000" b="0" dirty="0"/>
              <a:t>A customer’s understanding of the goodness of a product </a:t>
            </a:r>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8" name="Slide Number Placeholder 7"/>
          <p:cNvSpPr>
            <a:spLocks noGrp="1"/>
          </p:cNvSpPr>
          <p:nvPr>
            <p:ph type="sldNum" sz="quarter" idx="12"/>
          </p:nvPr>
        </p:nvSpPr>
        <p:spPr/>
        <p:txBody>
          <a:bodyPr/>
          <a:lstStyle/>
          <a:p>
            <a:r>
              <a:rPr lang="en-US" dirty="0"/>
              <a:t>1-</a:t>
            </a:r>
            <a:fld id="{AAF7652D-00F5-4CC9-9A73-9C8E572E6AE1}" type="slidenum">
              <a:rPr lang="en-US" smtClean="0"/>
              <a:pPr/>
              <a:t>5</a:t>
            </a:fld>
            <a:endParaRPr lang="en-US" dirty="0"/>
          </a:p>
        </p:txBody>
      </p:sp>
      <p:sp>
        <p:nvSpPr>
          <p:cNvPr id="7" name="TextBox 6"/>
          <p:cNvSpPr txBox="1"/>
          <p:nvPr/>
        </p:nvSpPr>
        <p:spPr>
          <a:xfrm>
            <a:off x="4855336" y="5689476"/>
            <a:ext cx="6769808" cy="276999"/>
          </a:xfrm>
          <a:prstGeom prst="rect">
            <a:avLst/>
          </a:prstGeom>
          <a:noFill/>
        </p:spPr>
        <p:txBody>
          <a:bodyPr wrap="square" rtlCol="0">
            <a:spAutoFit/>
          </a:bodyPr>
          <a:lstStyle/>
          <a:p>
            <a:r>
              <a:rPr lang="en-US" sz="1200" dirty="0"/>
              <a:t>Garvin, D., “What Does ‘Product Quality’ Really Mean?” </a:t>
            </a:r>
            <a:r>
              <a:rPr lang="en-US" sz="1200" i="1" dirty="0"/>
              <a:t>Sloan Management Review</a:t>
            </a:r>
            <a:r>
              <a:rPr lang="en-US" sz="1200" dirty="0"/>
              <a:t> (Fall 1984): 25-43.</a:t>
            </a:r>
          </a:p>
        </p:txBody>
      </p:sp>
    </p:spTree>
    <p:extLst>
      <p:ext uri="{BB962C8B-B14F-4D97-AF65-F5344CB8AC3E}">
        <p14:creationId xmlns:p14="http://schemas.microsoft.com/office/powerpoint/2010/main" val="1414548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3BCF-AE77-4968-9809-1076580E8608}"/>
              </a:ext>
            </a:extLst>
          </p:cNvPr>
          <p:cNvSpPr>
            <a:spLocks noGrp="1"/>
          </p:cNvSpPr>
          <p:nvPr>
            <p:ph type="title"/>
          </p:nvPr>
        </p:nvSpPr>
        <p:spPr/>
        <p:txBody>
          <a:bodyPr/>
          <a:lstStyle/>
          <a:p>
            <a:r>
              <a:rPr lang="en-US" dirty="0"/>
              <a:t>Open Discussion</a:t>
            </a:r>
            <a:endParaRPr lang="LID4096" dirty="0"/>
          </a:p>
        </p:txBody>
      </p:sp>
      <p:sp>
        <p:nvSpPr>
          <p:cNvPr id="3" name="Content Placeholder 2">
            <a:extLst>
              <a:ext uri="{FF2B5EF4-FFF2-40B4-BE49-F238E27FC236}">
                <a16:creationId xmlns:a16="http://schemas.microsoft.com/office/drawing/2014/main" id="{D7E04D17-F051-48D8-A35D-B50966C40DCC}"/>
              </a:ext>
            </a:extLst>
          </p:cNvPr>
          <p:cNvSpPr>
            <a:spLocks noGrp="1"/>
          </p:cNvSpPr>
          <p:nvPr>
            <p:ph idx="1"/>
          </p:nvPr>
        </p:nvSpPr>
        <p:spPr/>
        <p:txBody>
          <a:bodyPr>
            <a:normAutofit/>
          </a:bodyPr>
          <a:lstStyle/>
          <a:p>
            <a:pPr marL="0" indent="0" algn="just">
              <a:buNone/>
            </a:pPr>
            <a:r>
              <a:rPr lang="en-US" b="0" i="0" dirty="0">
                <a:effectLst/>
                <a:latin typeface="fkGroteskNeue"/>
              </a:rPr>
              <a:t>Think of a product you own and love—a laptop, car, watch, or coffee maker. Why do you think it's high quality? What matters most to you—performance, how it looks, reliability, price, or something else?</a:t>
            </a:r>
          </a:p>
          <a:p>
            <a:pPr marL="0" indent="0" algn="just">
              <a:buNone/>
            </a:pPr>
            <a:endParaRPr lang="en-US" b="0" i="0" dirty="0">
              <a:effectLst/>
              <a:latin typeface="fkGroteskNeue"/>
            </a:endParaRPr>
          </a:p>
        </p:txBody>
      </p:sp>
      <p:sp>
        <p:nvSpPr>
          <p:cNvPr id="4" name="Footer Placeholder 3">
            <a:extLst>
              <a:ext uri="{FF2B5EF4-FFF2-40B4-BE49-F238E27FC236}">
                <a16:creationId xmlns:a16="http://schemas.microsoft.com/office/drawing/2014/main" id="{920C427C-D24D-4008-9C65-6EAA99129EA4}"/>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BCC60E15-91B5-42FD-BE15-3936032BF1D5}"/>
              </a:ext>
            </a:extLst>
          </p:cNvPr>
          <p:cNvSpPr>
            <a:spLocks noGrp="1"/>
          </p:cNvSpPr>
          <p:nvPr>
            <p:ph type="sldNum" sz="quarter" idx="12"/>
          </p:nvPr>
        </p:nvSpPr>
        <p:spPr/>
        <p:txBody>
          <a:bodyPr/>
          <a:lstStyle/>
          <a:p>
            <a:r>
              <a:rPr lang="en-US"/>
              <a:t>1-</a:t>
            </a:r>
            <a:fld id="{AAF7652D-00F5-4CC9-9A73-9C8E572E6AE1}" type="slidenum">
              <a:rPr lang="en-US" smtClean="0"/>
              <a:pPr/>
              <a:t>6</a:t>
            </a:fld>
            <a:endParaRPr lang="en-US" dirty="0"/>
          </a:p>
        </p:txBody>
      </p:sp>
    </p:spTree>
    <p:extLst>
      <p:ext uri="{BB962C8B-B14F-4D97-AF65-F5344CB8AC3E}">
        <p14:creationId xmlns:p14="http://schemas.microsoft.com/office/powerpoint/2010/main" val="3143282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Quality Dimensions</a:t>
            </a:r>
          </a:p>
        </p:txBody>
      </p:sp>
      <p:sp>
        <p:nvSpPr>
          <p:cNvPr id="3" name="Content Placeholder 2"/>
          <p:cNvSpPr>
            <a:spLocks noGrp="1"/>
          </p:cNvSpPr>
          <p:nvPr>
            <p:ph idx="1"/>
          </p:nvPr>
        </p:nvSpPr>
        <p:spPr>
          <a:xfrm>
            <a:off x="838200" y="1476375"/>
            <a:ext cx="10515600" cy="4712409"/>
          </a:xfrm>
        </p:spPr>
        <p:txBody>
          <a:bodyPr>
            <a:normAutofit fontScale="92500"/>
          </a:bodyPr>
          <a:lstStyle/>
          <a:p>
            <a:r>
              <a:rPr lang="en-US" b="1" dirty="0"/>
              <a:t>Tangibles</a:t>
            </a:r>
            <a:r>
              <a:rPr lang="en-US" dirty="0"/>
              <a:t> – </a:t>
            </a:r>
            <a:r>
              <a:rPr lang="en-US" b="0" dirty="0"/>
              <a:t>The physical appearance of the service facility, the equipment, the personnel, and the communication materials </a:t>
            </a:r>
          </a:p>
          <a:p>
            <a:r>
              <a:rPr lang="en-US" b="1" dirty="0"/>
              <a:t>Service reliability </a:t>
            </a:r>
            <a:r>
              <a:rPr lang="en-US" dirty="0"/>
              <a:t>– </a:t>
            </a:r>
            <a:r>
              <a:rPr lang="en-US" b="0" dirty="0"/>
              <a:t>The ability of the service provider to perform the promised service dependably and accurately</a:t>
            </a:r>
          </a:p>
          <a:p>
            <a:r>
              <a:rPr lang="en-US" b="1" dirty="0"/>
              <a:t>Responsiveness </a:t>
            </a:r>
            <a:r>
              <a:rPr lang="en-US" dirty="0"/>
              <a:t>–  </a:t>
            </a:r>
            <a:r>
              <a:rPr lang="en-US" b="0" dirty="0"/>
              <a:t>The willingness of the service provider to be helpful and prompt in providing service</a:t>
            </a:r>
          </a:p>
          <a:p>
            <a:r>
              <a:rPr lang="en-US" b="1" dirty="0"/>
              <a:t>Assurance – </a:t>
            </a:r>
            <a:r>
              <a:rPr lang="en-US" b="0" dirty="0"/>
              <a:t>The knowledge and courtesy of employees and their ability to inspire trust and confidence</a:t>
            </a:r>
          </a:p>
          <a:p>
            <a:r>
              <a:rPr lang="en-US" b="1" dirty="0"/>
              <a:t>Empathy </a:t>
            </a:r>
            <a:r>
              <a:rPr lang="en-US" dirty="0"/>
              <a:t>–  </a:t>
            </a:r>
            <a:r>
              <a:rPr lang="en-US" b="0" dirty="0"/>
              <a:t>Caring, individualized attention from the service firm</a:t>
            </a:r>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8" name="Slide Number Placeholder 7"/>
          <p:cNvSpPr>
            <a:spLocks noGrp="1"/>
          </p:cNvSpPr>
          <p:nvPr>
            <p:ph type="sldNum" sz="quarter" idx="12"/>
          </p:nvPr>
        </p:nvSpPr>
        <p:spPr/>
        <p:txBody>
          <a:bodyPr/>
          <a:lstStyle/>
          <a:p>
            <a:r>
              <a:rPr lang="en-US" dirty="0"/>
              <a:t>1-</a:t>
            </a:r>
            <a:fld id="{AAF7652D-00F5-4CC9-9A73-9C8E572E6AE1}" type="slidenum">
              <a:rPr lang="en-US" smtClean="0"/>
              <a:pPr/>
              <a:t>7</a:t>
            </a:fld>
            <a:endParaRPr lang="en-US" dirty="0"/>
          </a:p>
        </p:txBody>
      </p:sp>
    </p:spTree>
    <p:extLst>
      <p:ext uri="{BB962C8B-B14F-4D97-AF65-F5344CB8AC3E}">
        <p14:creationId xmlns:p14="http://schemas.microsoft.com/office/powerpoint/2010/main" val="410311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BAAAB-B788-47EA-8CD4-0846781318B3}"/>
              </a:ext>
            </a:extLst>
          </p:cNvPr>
          <p:cNvSpPr>
            <a:spLocks noGrp="1"/>
          </p:cNvSpPr>
          <p:nvPr>
            <p:ph type="title"/>
          </p:nvPr>
        </p:nvSpPr>
        <p:spPr/>
        <p:txBody>
          <a:bodyPr/>
          <a:lstStyle/>
          <a:p>
            <a:r>
              <a:rPr lang="en-US" dirty="0"/>
              <a:t>Open Discussion</a:t>
            </a:r>
            <a:endParaRPr lang="LID4096" dirty="0"/>
          </a:p>
        </p:txBody>
      </p:sp>
      <p:sp>
        <p:nvSpPr>
          <p:cNvPr id="4" name="Footer Placeholder 3">
            <a:extLst>
              <a:ext uri="{FF2B5EF4-FFF2-40B4-BE49-F238E27FC236}">
                <a16:creationId xmlns:a16="http://schemas.microsoft.com/office/drawing/2014/main" id="{182E4793-7837-4385-B027-E8F0F3494335}"/>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A033CDB9-C9E6-40CD-BC98-A57C88DDF8BD}"/>
              </a:ext>
            </a:extLst>
          </p:cNvPr>
          <p:cNvSpPr>
            <a:spLocks noGrp="1"/>
          </p:cNvSpPr>
          <p:nvPr>
            <p:ph type="sldNum" sz="quarter" idx="12"/>
          </p:nvPr>
        </p:nvSpPr>
        <p:spPr/>
        <p:txBody>
          <a:bodyPr/>
          <a:lstStyle/>
          <a:p>
            <a:r>
              <a:rPr lang="en-US"/>
              <a:t>1-</a:t>
            </a:r>
            <a:fld id="{AAF7652D-00F5-4CC9-9A73-9C8E572E6AE1}" type="slidenum">
              <a:rPr lang="en-US" smtClean="0"/>
              <a:pPr/>
              <a:t>8</a:t>
            </a:fld>
            <a:endParaRPr lang="en-US" dirty="0"/>
          </a:p>
        </p:txBody>
      </p:sp>
      <p:sp>
        <p:nvSpPr>
          <p:cNvPr id="6" name="Content Placeholder 5">
            <a:extLst>
              <a:ext uri="{FF2B5EF4-FFF2-40B4-BE49-F238E27FC236}">
                <a16:creationId xmlns:a16="http://schemas.microsoft.com/office/drawing/2014/main" id="{2A6177EA-B352-4540-AD5E-17F845ACA3A7}"/>
              </a:ext>
            </a:extLst>
          </p:cNvPr>
          <p:cNvSpPr txBox="1">
            <a:spLocks noGrp="1"/>
          </p:cNvSpPr>
          <p:nvPr>
            <p:ph idx="1"/>
          </p:nvPr>
        </p:nvSpPr>
        <p:spPr>
          <a:xfrm>
            <a:off x="838200" y="1570038"/>
            <a:ext cx="10515600" cy="3579441"/>
          </a:xfrm>
          <a:prstGeom prst="rect">
            <a:avLst/>
          </a:prstGeom>
          <a:noFill/>
        </p:spPr>
        <p:txBody>
          <a:bodyPr wrap="square">
            <a:spAutoFit/>
          </a:bodyPr>
          <a:lstStyle/>
          <a:p>
            <a:pPr marL="0" indent="0" algn="just">
              <a:buNone/>
            </a:pPr>
            <a:r>
              <a:rPr lang="en-US" b="0" i="0" dirty="0">
                <a:effectLst/>
                <a:latin typeface="fkGroteskNeue"/>
              </a:rPr>
              <a:t>Have you ever returned a product or been unhappy with a service?</a:t>
            </a:r>
          </a:p>
          <a:p>
            <a:pPr marL="0" indent="0" algn="just">
              <a:buNone/>
            </a:pPr>
            <a:r>
              <a:rPr lang="en-US" b="0" i="0" dirty="0">
                <a:effectLst/>
                <a:latin typeface="fkGroteskNeue"/>
              </a:rPr>
              <a:t>Why?</a:t>
            </a:r>
          </a:p>
          <a:p>
            <a:pPr marL="0" indent="0" algn="just">
              <a:buNone/>
            </a:pPr>
            <a:endParaRPr lang="en-US" b="0" i="0" dirty="0">
              <a:effectLst/>
              <a:latin typeface="fkGroteskNeue"/>
            </a:endParaRPr>
          </a:p>
          <a:p>
            <a:pPr marL="0" indent="0" algn="just">
              <a:buNone/>
            </a:pPr>
            <a:r>
              <a:rPr lang="en-US" b="0" i="0" dirty="0">
                <a:effectLst/>
                <a:latin typeface="fkGroteskNeue"/>
              </a:rPr>
              <a:t>Was it because it didn't work, or because of something else, like slow customer service, poor appearance, or unfulfilled promises?</a:t>
            </a:r>
          </a:p>
        </p:txBody>
      </p:sp>
    </p:spTree>
    <p:extLst>
      <p:ext uri="{BB962C8B-B14F-4D97-AF65-F5344CB8AC3E}">
        <p14:creationId xmlns:p14="http://schemas.microsoft.com/office/powerpoint/2010/main" val="631863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Perspective on Quality</a:t>
            </a:r>
          </a:p>
        </p:txBody>
      </p:sp>
      <p:sp>
        <p:nvSpPr>
          <p:cNvPr id="3" name="Content Placeholder 2"/>
          <p:cNvSpPr>
            <a:spLocks noGrp="1"/>
          </p:cNvSpPr>
          <p:nvPr>
            <p:ph idx="1"/>
          </p:nvPr>
        </p:nvSpPr>
        <p:spPr/>
        <p:txBody>
          <a:bodyPr/>
          <a:lstStyle/>
          <a:p>
            <a:pPr marL="0" indent="0" algn="just">
              <a:buNone/>
            </a:pPr>
            <a:r>
              <a:rPr lang="en-US" b="0" dirty="0">
                <a:effectLst/>
                <a:latin typeface="fkGroteskNeue"/>
              </a:rPr>
              <a:t>The functional perspective on quality views the organization like a body—each function (operations, marketing, finance, HR, engineering, supply chain) has its own definition and priorities for quality, and </a:t>
            </a:r>
            <a:r>
              <a:rPr lang="en-US" b="0" dirty="0">
                <a:solidFill>
                  <a:srgbClr val="0000FF"/>
                </a:solidFill>
                <a:effectLst/>
                <a:latin typeface="fkGroteskNeue"/>
              </a:rPr>
              <a:t>overall quality </a:t>
            </a:r>
            <a:r>
              <a:rPr lang="en-US" b="0" dirty="0">
                <a:effectLst/>
                <a:latin typeface="fkGroteskNeue"/>
              </a:rPr>
              <a:t>depends on how well these parts work together</a:t>
            </a:r>
            <a:r>
              <a:rPr lang="en-US" b="0" dirty="0">
                <a:solidFill>
                  <a:srgbClr val="0000FF"/>
                </a:solidFill>
                <a:effectLst/>
                <a:latin typeface="fkGroteskNeue"/>
              </a:rPr>
              <a:t> </a:t>
            </a:r>
            <a:r>
              <a:rPr lang="en-US" b="0" dirty="0">
                <a:effectLst/>
                <a:latin typeface="fkGroteskNeue"/>
              </a:rPr>
              <a:t>rather than in isolation.</a:t>
            </a:r>
            <a:endParaRPr lang="en-US" dirty="0"/>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7" name="Slide Number Placeholder 6"/>
          <p:cNvSpPr>
            <a:spLocks noGrp="1"/>
          </p:cNvSpPr>
          <p:nvPr>
            <p:ph type="sldNum" sz="quarter" idx="12"/>
          </p:nvPr>
        </p:nvSpPr>
        <p:spPr/>
        <p:txBody>
          <a:bodyPr/>
          <a:lstStyle/>
          <a:p>
            <a:r>
              <a:rPr lang="en-US" dirty="0"/>
              <a:t>1-</a:t>
            </a:r>
            <a:fld id="{AAF7652D-00F5-4CC9-9A73-9C8E572E6AE1}" type="slidenum">
              <a:rPr lang="en-US" smtClean="0"/>
              <a:pPr/>
              <a:t>9</a:t>
            </a:fld>
            <a:endParaRPr lang="en-US" dirty="0"/>
          </a:p>
        </p:txBody>
      </p:sp>
    </p:spTree>
    <p:extLst>
      <p:ext uri="{BB962C8B-B14F-4D97-AF65-F5344CB8AC3E}">
        <p14:creationId xmlns:p14="http://schemas.microsoft.com/office/powerpoint/2010/main" val="3795262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Supply Chain Perspective</a:t>
            </a:r>
          </a:p>
        </p:txBody>
      </p:sp>
      <p:sp>
        <p:nvSpPr>
          <p:cNvPr id="3" name="Content Placeholder 2"/>
          <p:cNvSpPr>
            <a:spLocks noGrp="1"/>
          </p:cNvSpPr>
          <p:nvPr>
            <p:ph idx="1"/>
          </p:nvPr>
        </p:nvSpPr>
        <p:spPr/>
        <p:txBody>
          <a:bodyPr>
            <a:normAutofit/>
          </a:bodyPr>
          <a:lstStyle/>
          <a:p>
            <a:pPr marL="0" indent="0">
              <a:buNone/>
            </a:pPr>
            <a:r>
              <a:rPr lang="en-US" b="1" dirty="0"/>
              <a:t>Global supply </a:t>
            </a:r>
            <a:r>
              <a:rPr lang="en-US" dirty="0"/>
              <a:t>c</a:t>
            </a:r>
            <a:r>
              <a:rPr lang="en-US" b="1" dirty="0"/>
              <a:t>hain </a:t>
            </a:r>
            <a:r>
              <a:rPr lang="en-US" dirty="0"/>
              <a:t>m</a:t>
            </a:r>
            <a:r>
              <a:rPr lang="en-US" b="1" dirty="0"/>
              <a:t>odel:</a:t>
            </a:r>
          </a:p>
          <a:p>
            <a:pPr lvl="1"/>
            <a:r>
              <a:rPr lang="en-US" sz="2800" b="1" dirty="0"/>
              <a:t>Upstream processes (supply </a:t>
            </a:r>
            <a:r>
              <a:rPr lang="en-US" b="1" dirty="0"/>
              <a:t>m</a:t>
            </a:r>
            <a:r>
              <a:rPr lang="en-US" sz="2800" b="1" dirty="0"/>
              <a:t>anagement) – </a:t>
            </a:r>
            <a:r>
              <a:rPr lang="en-US" sz="2800" dirty="0"/>
              <a:t>All activities involving interaction with suppliers</a:t>
            </a:r>
            <a:endParaRPr lang="en-US" dirty="0"/>
          </a:p>
          <a:p>
            <a:pPr lvl="1"/>
            <a:endParaRPr lang="en-US" sz="2800" b="1" dirty="0"/>
          </a:p>
          <a:p>
            <a:pPr lvl="1"/>
            <a:r>
              <a:rPr lang="en-US" sz="2800" b="1" dirty="0"/>
              <a:t>Core processes (operations </a:t>
            </a:r>
            <a:r>
              <a:rPr lang="en-US" b="1" dirty="0"/>
              <a:t>m</a:t>
            </a:r>
            <a:r>
              <a:rPr lang="en-US" sz="2800" b="1" dirty="0"/>
              <a:t>anagement) – </a:t>
            </a:r>
            <a:r>
              <a:rPr lang="en-US" sz="2800" dirty="0"/>
              <a:t>Traditional process improvement</a:t>
            </a:r>
          </a:p>
          <a:p>
            <a:pPr lvl="1"/>
            <a:endParaRPr lang="en-US" sz="2800" b="1" dirty="0"/>
          </a:p>
          <a:p>
            <a:pPr lvl="1"/>
            <a:r>
              <a:rPr lang="en-US" sz="2800" b="1" dirty="0"/>
              <a:t>Downstream processes (customer </a:t>
            </a:r>
            <a:r>
              <a:rPr lang="en-US" b="1" dirty="0"/>
              <a:t>r</a:t>
            </a:r>
            <a:r>
              <a:rPr lang="en-US" sz="2800" b="1" dirty="0"/>
              <a:t>elationship </a:t>
            </a:r>
            <a:r>
              <a:rPr lang="en-US" b="1" dirty="0"/>
              <a:t>m</a:t>
            </a:r>
            <a:r>
              <a:rPr lang="en-US" sz="2800" b="1" dirty="0"/>
              <a:t>anagement) – </a:t>
            </a:r>
            <a:r>
              <a:rPr lang="en-US" sz="2800" dirty="0"/>
              <a:t>All activities involving interaction with customers </a:t>
            </a:r>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7" name="Slide Number Placeholder 6"/>
          <p:cNvSpPr>
            <a:spLocks noGrp="1"/>
          </p:cNvSpPr>
          <p:nvPr>
            <p:ph type="sldNum" sz="quarter" idx="12"/>
          </p:nvPr>
        </p:nvSpPr>
        <p:spPr/>
        <p:txBody>
          <a:bodyPr/>
          <a:lstStyle/>
          <a:p>
            <a:r>
              <a:rPr lang="en-US" dirty="0"/>
              <a:t>1-</a:t>
            </a:r>
            <a:fld id="{AAF7652D-00F5-4CC9-9A73-9C8E572E6AE1}" type="slidenum">
              <a:rPr lang="en-US" smtClean="0"/>
              <a:pPr/>
              <a:t>10</a:t>
            </a:fld>
            <a:endParaRPr lang="en-US" dirty="0"/>
          </a:p>
        </p:txBody>
      </p:sp>
    </p:spTree>
    <p:extLst>
      <p:ext uri="{BB962C8B-B14F-4D97-AF65-F5344CB8AC3E}">
        <p14:creationId xmlns:p14="http://schemas.microsoft.com/office/powerpoint/2010/main" val="356195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Engineering Perspective</a:t>
            </a:r>
          </a:p>
        </p:txBody>
      </p:sp>
      <p:sp>
        <p:nvSpPr>
          <p:cNvPr id="3" name="Content Placeholder 2"/>
          <p:cNvSpPr>
            <a:spLocks noGrp="1"/>
          </p:cNvSpPr>
          <p:nvPr>
            <p:ph sz="half" idx="1"/>
          </p:nvPr>
        </p:nvSpPr>
        <p:spPr>
          <a:xfrm>
            <a:off x="838200" y="1825625"/>
            <a:ext cx="4657725" cy="4351338"/>
          </a:xfrm>
        </p:spPr>
        <p:txBody>
          <a:bodyPr/>
          <a:lstStyle/>
          <a:p>
            <a:pPr marL="0" indent="0">
              <a:buNone/>
            </a:pPr>
            <a:r>
              <a:rPr lang="en-US" dirty="0"/>
              <a:t>Engineering:</a:t>
            </a:r>
          </a:p>
          <a:p>
            <a:pPr marL="0" indent="0" algn="just">
              <a:buNone/>
            </a:pPr>
            <a:r>
              <a:rPr lang="en-US" b="0" dirty="0"/>
              <a:t>Applying mathematical problem-solving skills and models to the problems of business and industry </a:t>
            </a:r>
          </a:p>
        </p:txBody>
      </p:sp>
      <p:sp>
        <p:nvSpPr>
          <p:cNvPr id="5" name="Footer Placeholder 4"/>
          <p:cNvSpPr>
            <a:spLocks noGrp="1"/>
          </p:cNvSpPr>
          <p:nvPr>
            <p:ph type="ftr" sz="quarter" idx="11"/>
          </p:nvPr>
        </p:nvSpPr>
        <p:spPr/>
        <p:txBody>
          <a:bodyPr/>
          <a:lstStyle/>
          <a:p>
            <a:r>
              <a:rPr lang="en-US" dirty="0"/>
              <a:t>Copyright © 2017 Pearson Education, Ltd.</a:t>
            </a:r>
          </a:p>
        </p:txBody>
      </p:sp>
      <p:sp>
        <p:nvSpPr>
          <p:cNvPr id="9" name="Slide Number Placeholder 8"/>
          <p:cNvSpPr>
            <a:spLocks noGrp="1"/>
          </p:cNvSpPr>
          <p:nvPr>
            <p:ph type="sldNum" sz="quarter" idx="12"/>
          </p:nvPr>
        </p:nvSpPr>
        <p:spPr/>
        <p:txBody>
          <a:bodyPr/>
          <a:lstStyle/>
          <a:p>
            <a:r>
              <a:rPr lang="en-US" dirty="0"/>
              <a:t>1-</a:t>
            </a:r>
            <a:fld id="{AAF7652D-00F5-4CC9-9A73-9C8E572E6AE1}" type="slidenum">
              <a:rPr lang="en-US" smtClean="0"/>
              <a:pPr/>
              <a:t>11</a:t>
            </a:fld>
            <a:endParaRPr lang="en-US" dirty="0"/>
          </a:p>
        </p:txBody>
      </p:sp>
      <p:sp>
        <p:nvSpPr>
          <p:cNvPr id="8" name="TextBox 7"/>
          <p:cNvSpPr txBox="1"/>
          <p:nvPr/>
        </p:nvSpPr>
        <p:spPr>
          <a:xfrm>
            <a:off x="9890975" y="6101968"/>
            <a:ext cx="1210614" cy="307777"/>
          </a:xfrm>
          <a:prstGeom prst="rect">
            <a:avLst/>
          </a:prstGeom>
          <a:noFill/>
        </p:spPr>
        <p:txBody>
          <a:bodyPr wrap="square" rtlCol="0">
            <a:spAutoFit/>
          </a:bodyPr>
          <a:lstStyle/>
          <a:p>
            <a:r>
              <a:rPr lang="en-US" sz="1400" b="1" dirty="0"/>
              <a:t>Figure 1-2</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0855" y="1813322"/>
            <a:ext cx="5505408" cy="4288645"/>
          </a:xfrm>
          <a:prstGeom prst="rect">
            <a:avLst/>
          </a:prstGeom>
        </p:spPr>
      </p:pic>
    </p:spTree>
    <p:extLst>
      <p:ext uri="{BB962C8B-B14F-4D97-AF65-F5344CB8AC3E}">
        <p14:creationId xmlns:p14="http://schemas.microsoft.com/office/powerpoint/2010/main" val="4168366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Engineering Perspective</a:t>
            </a:r>
          </a:p>
        </p:txBody>
      </p:sp>
      <p:sp>
        <p:nvSpPr>
          <p:cNvPr id="3" name="Content Placeholder 2"/>
          <p:cNvSpPr>
            <a:spLocks noGrp="1"/>
          </p:cNvSpPr>
          <p:nvPr>
            <p:ph sz="half" idx="1"/>
          </p:nvPr>
        </p:nvSpPr>
        <p:spPr>
          <a:xfrm>
            <a:off x="838199" y="1825625"/>
            <a:ext cx="5467117" cy="4351338"/>
          </a:xfrm>
        </p:spPr>
        <p:txBody>
          <a:bodyPr/>
          <a:lstStyle/>
          <a:p>
            <a:pPr marL="0" indent="0">
              <a:buNone/>
            </a:pPr>
            <a:r>
              <a:rPr lang="en-US" dirty="0"/>
              <a:t>Shewart’s control process:</a:t>
            </a:r>
          </a:p>
          <a:p>
            <a:pPr marL="0" indent="0" algn="just">
              <a:buNone/>
            </a:pPr>
            <a:r>
              <a:rPr lang="en-US" b="0" dirty="0"/>
              <a:t>The process underlying Statistical Process Control (SPC)</a:t>
            </a:r>
          </a:p>
        </p:txBody>
      </p:sp>
      <p:sp>
        <p:nvSpPr>
          <p:cNvPr id="5" name="Footer Placeholder 4"/>
          <p:cNvSpPr>
            <a:spLocks noGrp="1"/>
          </p:cNvSpPr>
          <p:nvPr>
            <p:ph type="ftr" sz="quarter" idx="11"/>
          </p:nvPr>
        </p:nvSpPr>
        <p:spPr/>
        <p:txBody>
          <a:bodyPr/>
          <a:lstStyle/>
          <a:p>
            <a:r>
              <a:rPr lang="en-US" dirty="0"/>
              <a:t>Copyright © 2017 Pearson Education, Ltd.</a:t>
            </a:r>
          </a:p>
        </p:txBody>
      </p:sp>
      <p:sp>
        <p:nvSpPr>
          <p:cNvPr id="9" name="Slide Number Placeholder 8"/>
          <p:cNvSpPr>
            <a:spLocks noGrp="1"/>
          </p:cNvSpPr>
          <p:nvPr>
            <p:ph type="sldNum" sz="quarter" idx="12"/>
          </p:nvPr>
        </p:nvSpPr>
        <p:spPr/>
        <p:txBody>
          <a:bodyPr/>
          <a:lstStyle/>
          <a:p>
            <a:r>
              <a:rPr lang="en-US" dirty="0"/>
              <a:t>1-</a:t>
            </a:r>
            <a:fld id="{AAF7652D-00F5-4CC9-9A73-9C8E572E6AE1}" type="slidenum">
              <a:rPr lang="en-US" smtClean="0"/>
              <a:pPr/>
              <a:t>12</a:t>
            </a:fld>
            <a:endParaRPr lang="en-US" dirty="0"/>
          </a:p>
        </p:txBody>
      </p:sp>
      <p:sp>
        <p:nvSpPr>
          <p:cNvPr id="8" name="TextBox 7"/>
          <p:cNvSpPr txBox="1"/>
          <p:nvPr/>
        </p:nvSpPr>
        <p:spPr>
          <a:xfrm>
            <a:off x="9982200" y="5687566"/>
            <a:ext cx="1210614" cy="307777"/>
          </a:xfrm>
          <a:prstGeom prst="rect">
            <a:avLst/>
          </a:prstGeom>
          <a:noFill/>
        </p:spPr>
        <p:txBody>
          <a:bodyPr wrap="square" rtlCol="0">
            <a:spAutoFit/>
          </a:bodyPr>
          <a:lstStyle/>
          <a:p>
            <a:r>
              <a:rPr lang="en-US" sz="1400" b="1" dirty="0"/>
              <a:t>Figure 1-3</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05317" y="1891737"/>
            <a:ext cx="5196255" cy="3499659"/>
          </a:xfrm>
          <a:prstGeom prst="rect">
            <a:avLst/>
          </a:prstGeom>
        </p:spPr>
      </p:pic>
    </p:spTree>
    <p:extLst>
      <p:ext uri="{BB962C8B-B14F-4D97-AF65-F5344CB8AC3E}">
        <p14:creationId xmlns:p14="http://schemas.microsoft.com/office/powerpoint/2010/main" val="3071952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Operations Perspective</a:t>
            </a:r>
          </a:p>
        </p:txBody>
      </p:sp>
      <p:sp>
        <p:nvSpPr>
          <p:cNvPr id="3" name="Content Placeholder 2"/>
          <p:cNvSpPr>
            <a:spLocks noGrp="1"/>
          </p:cNvSpPr>
          <p:nvPr>
            <p:ph idx="1"/>
          </p:nvPr>
        </p:nvSpPr>
        <p:spPr/>
        <p:txBody>
          <a:bodyPr/>
          <a:lstStyle/>
          <a:p>
            <a:pPr marL="0" indent="0" algn="just">
              <a:buNone/>
            </a:pPr>
            <a:r>
              <a:rPr lang="en-US" dirty="0"/>
              <a:t>Systems view:</a:t>
            </a:r>
          </a:p>
          <a:p>
            <a:pPr algn="just"/>
            <a:r>
              <a:rPr lang="en-US" b="0" dirty="0"/>
              <a:t>Understanding that product quality results from the interactions among several variables, such as machines, labor, procedures, planning, and management.</a:t>
            </a:r>
          </a:p>
          <a:p>
            <a:pPr algn="just"/>
            <a:r>
              <a:rPr lang="en-US" b="0" dirty="0"/>
              <a:t>Focuses management on the </a:t>
            </a:r>
            <a:r>
              <a:rPr lang="en-US" b="0" i="1" dirty="0"/>
              <a:t>system as the cause of quality problems.</a:t>
            </a:r>
            <a:endParaRPr lang="en-US" b="0" dirty="0"/>
          </a:p>
          <a:p>
            <a:pPr lvl="1"/>
            <a:endParaRPr lang="en-US" dirty="0"/>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7" name="Slide Number Placeholder 6"/>
          <p:cNvSpPr>
            <a:spLocks noGrp="1"/>
          </p:cNvSpPr>
          <p:nvPr>
            <p:ph type="sldNum" sz="quarter" idx="12"/>
          </p:nvPr>
        </p:nvSpPr>
        <p:spPr/>
        <p:txBody>
          <a:bodyPr/>
          <a:lstStyle/>
          <a:p>
            <a:r>
              <a:rPr lang="en-US" dirty="0"/>
              <a:t>1-</a:t>
            </a:r>
            <a:fld id="{AAF7652D-00F5-4CC9-9A73-9C8E572E6AE1}" type="slidenum">
              <a:rPr lang="en-US" smtClean="0"/>
              <a:pPr/>
              <a:t>13</a:t>
            </a:fld>
            <a:endParaRPr lang="en-US" dirty="0"/>
          </a:p>
        </p:txBody>
      </p:sp>
    </p:spTree>
    <p:extLst>
      <p:ext uri="{BB962C8B-B14F-4D97-AF65-F5344CB8AC3E}">
        <p14:creationId xmlns:p14="http://schemas.microsoft.com/office/powerpoint/2010/main" val="2939386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Strategic Management Perspective</a:t>
            </a:r>
          </a:p>
        </p:txBody>
      </p:sp>
      <p:sp>
        <p:nvSpPr>
          <p:cNvPr id="3" name="Content Placeholder 2"/>
          <p:cNvSpPr>
            <a:spLocks noGrp="1"/>
          </p:cNvSpPr>
          <p:nvPr>
            <p:ph sz="half" idx="1"/>
          </p:nvPr>
        </p:nvSpPr>
        <p:spPr>
          <a:xfrm>
            <a:off x="838200" y="1550988"/>
            <a:ext cx="4886325" cy="4625975"/>
          </a:xfrm>
        </p:spPr>
        <p:txBody>
          <a:bodyPr>
            <a:normAutofit fontScale="92500" lnSpcReduction="10000"/>
          </a:bodyPr>
          <a:lstStyle/>
          <a:p>
            <a:pPr algn="just"/>
            <a:r>
              <a:rPr lang="en-US" dirty="0"/>
              <a:t>Strategy</a:t>
            </a:r>
          </a:p>
          <a:p>
            <a:pPr marL="0" indent="0" algn="just">
              <a:buNone/>
            </a:pPr>
            <a:r>
              <a:rPr lang="en-US" b="0" dirty="0"/>
              <a:t>The planning process used by an organization to achieve a set of long-term goals </a:t>
            </a:r>
          </a:p>
          <a:p>
            <a:pPr algn="just"/>
            <a:r>
              <a:rPr lang="en-US" dirty="0"/>
              <a:t>Mission</a:t>
            </a:r>
          </a:p>
          <a:p>
            <a:pPr marL="0" indent="0" algn="just">
              <a:buNone/>
            </a:pPr>
            <a:r>
              <a:rPr lang="en-US" b="0" dirty="0"/>
              <a:t>Why the organization exists</a:t>
            </a:r>
          </a:p>
          <a:p>
            <a:pPr algn="just"/>
            <a:r>
              <a:rPr lang="en-US" dirty="0"/>
              <a:t>Core values </a:t>
            </a:r>
          </a:p>
          <a:p>
            <a:pPr marL="0" indent="0" algn="just">
              <a:buNone/>
            </a:pPr>
            <a:r>
              <a:rPr lang="en-US" b="0" dirty="0"/>
              <a:t>Guiding principles that simplify decision-making in that organization</a:t>
            </a:r>
          </a:p>
        </p:txBody>
      </p:sp>
      <p:sp>
        <p:nvSpPr>
          <p:cNvPr id="5" name="Footer Placeholder 4"/>
          <p:cNvSpPr>
            <a:spLocks noGrp="1"/>
          </p:cNvSpPr>
          <p:nvPr>
            <p:ph type="ftr" sz="quarter" idx="11"/>
          </p:nvPr>
        </p:nvSpPr>
        <p:spPr/>
        <p:txBody>
          <a:bodyPr/>
          <a:lstStyle/>
          <a:p>
            <a:r>
              <a:rPr lang="en-US" dirty="0"/>
              <a:t>Copyright © 2017 Pearson Education, Ltd.</a:t>
            </a:r>
          </a:p>
        </p:txBody>
      </p:sp>
      <p:sp>
        <p:nvSpPr>
          <p:cNvPr id="8" name="Slide Number Placeholder 7"/>
          <p:cNvSpPr>
            <a:spLocks noGrp="1"/>
          </p:cNvSpPr>
          <p:nvPr>
            <p:ph type="sldNum" sz="quarter" idx="12"/>
          </p:nvPr>
        </p:nvSpPr>
        <p:spPr/>
        <p:txBody>
          <a:bodyPr/>
          <a:lstStyle/>
          <a:p>
            <a:r>
              <a:rPr lang="en-US" dirty="0"/>
              <a:t>1-</a:t>
            </a:r>
            <a:fld id="{AAF7652D-00F5-4CC9-9A73-9C8E572E6AE1}" type="slidenum">
              <a:rPr lang="en-US" smtClean="0"/>
              <a:pPr/>
              <a:t>14</a:t>
            </a:fld>
            <a:endParaRPr lang="en-US" dirty="0"/>
          </a:p>
        </p:txBody>
      </p:sp>
      <p:sp>
        <p:nvSpPr>
          <p:cNvPr id="9" name="TextBox 8"/>
          <p:cNvSpPr txBox="1"/>
          <p:nvPr/>
        </p:nvSpPr>
        <p:spPr>
          <a:xfrm>
            <a:off x="9890975" y="6101968"/>
            <a:ext cx="1210614" cy="307777"/>
          </a:xfrm>
          <a:prstGeom prst="rect">
            <a:avLst/>
          </a:prstGeom>
          <a:noFill/>
        </p:spPr>
        <p:txBody>
          <a:bodyPr wrap="square" rtlCol="0">
            <a:spAutoFit/>
          </a:bodyPr>
          <a:lstStyle/>
          <a:p>
            <a:r>
              <a:rPr lang="en-US" sz="1400" b="1" dirty="0"/>
              <a:t>Figure 1-4</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2710" y="1827216"/>
            <a:ext cx="5201352" cy="4274752"/>
          </a:xfrm>
          <a:prstGeom prst="rect">
            <a:avLst/>
          </a:prstGeom>
        </p:spPr>
      </p:pic>
    </p:spTree>
    <p:extLst>
      <p:ext uri="{BB962C8B-B14F-4D97-AF65-F5344CB8AC3E}">
        <p14:creationId xmlns:p14="http://schemas.microsoft.com/office/powerpoint/2010/main" val="1775765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Marketing Perspective</a:t>
            </a:r>
          </a:p>
        </p:txBody>
      </p:sp>
      <p:sp>
        <p:nvSpPr>
          <p:cNvPr id="3" name="Content Placeholder 2"/>
          <p:cNvSpPr>
            <a:spLocks noGrp="1"/>
          </p:cNvSpPr>
          <p:nvPr>
            <p:ph sz="half" idx="1"/>
          </p:nvPr>
        </p:nvSpPr>
        <p:spPr>
          <a:xfrm>
            <a:off x="838200" y="1550988"/>
            <a:ext cx="10636876" cy="4625975"/>
          </a:xfrm>
        </p:spPr>
        <p:txBody>
          <a:bodyPr>
            <a:normAutofit lnSpcReduction="10000"/>
          </a:bodyPr>
          <a:lstStyle/>
          <a:p>
            <a:r>
              <a:rPr lang="en-US" dirty="0"/>
              <a:t>Marketing </a:t>
            </a:r>
          </a:p>
          <a:p>
            <a:pPr marL="0" indent="0">
              <a:buNone/>
            </a:pPr>
            <a:r>
              <a:rPr lang="en-US" b="0" dirty="0"/>
              <a:t>Activities involved with directing the flows of products and services from the producer to the consumer</a:t>
            </a:r>
          </a:p>
          <a:p>
            <a:pPr marL="457200" lvl="1" indent="0">
              <a:buNone/>
            </a:pPr>
            <a:endParaRPr lang="en-US" dirty="0"/>
          </a:p>
          <a:p>
            <a:r>
              <a:rPr lang="en-US" dirty="0"/>
              <a:t>Customer relationship management</a:t>
            </a:r>
          </a:p>
          <a:p>
            <a:pPr marL="0" indent="0">
              <a:buNone/>
            </a:pPr>
            <a:r>
              <a:rPr lang="en-US" b="0" dirty="0"/>
              <a:t>Satisfying the customer and delivering value to the customer</a:t>
            </a:r>
          </a:p>
          <a:p>
            <a:pPr marL="457200" lvl="1" indent="0">
              <a:buNone/>
            </a:pPr>
            <a:r>
              <a:rPr lang="en-US" dirty="0"/>
              <a:t> </a:t>
            </a:r>
          </a:p>
          <a:p>
            <a:r>
              <a:rPr lang="en-US" dirty="0"/>
              <a:t>Perceived quality</a:t>
            </a:r>
          </a:p>
          <a:p>
            <a:pPr marL="0" indent="0">
              <a:buNone/>
            </a:pPr>
            <a:r>
              <a:rPr lang="en-US" b="0" dirty="0"/>
              <a:t>The customer’s view of quality</a:t>
            </a:r>
          </a:p>
          <a:p>
            <a:pPr lvl="1"/>
            <a:endParaRPr lang="en-US" dirty="0"/>
          </a:p>
        </p:txBody>
      </p:sp>
      <p:sp>
        <p:nvSpPr>
          <p:cNvPr id="5" name="Footer Placeholder 4"/>
          <p:cNvSpPr>
            <a:spLocks noGrp="1"/>
          </p:cNvSpPr>
          <p:nvPr>
            <p:ph type="ftr" sz="quarter" idx="11"/>
          </p:nvPr>
        </p:nvSpPr>
        <p:spPr/>
        <p:txBody>
          <a:bodyPr/>
          <a:lstStyle/>
          <a:p>
            <a:r>
              <a:rPr lang="en-US" dirty="0"/>
              <a:t>Copyright © 2017 Pearson Education, Ltd.</a:t>
            </a:r>
          </a:p>
        </p:txBody>
      </p:sp>
      <p:sp>
        <p:nvSpPr>
          <p:cNvPr id="7" name="Slide Number Placeholder 6"/>
          <p:cNvSpPr>
            <a:spLocks noGrp="1"/>
          </p:cNvSpPr>
          <p:nvPr>
            <p:ph type="sldNum" sz="quarter" idx="12"/>
          </p:nvPr>
        </p:nvSpPr>
        <p:spPr/>
        <p:txBody>
          <a:bodyPr/>
          <a:lstStyle/>
          <a:p>
            <a:r>
              <a:rPr lang="en-US" dirty="0"/>
              <a:t>1-</a:t>
            </a:r>
            <a:fld id="{AAF7652D-00F5-4CC9-9A73-9C8E572E6AE1}" type="slidenum">
              <a:rPr lang="en-US" smtClean="0"/>
              <a:pPr/>
              <a:t>15</a:t>
            </a:fld>
            <a:endParaRPr lang="en-US" dirty="0"/>
          </a:p>
        </p:txBody>
      </p:sp>
    </p:spTree>
    <p:extLst>
      <p:ext uri="{BB962C8B-B14F-4D97-AF65-F5344CB8AC3E}">
        <p14:creationId xmlns:p14="http://schemas.microsoft.com/office/powerpoint/2010/main" val="1796122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Marketing Perspective</a:t>
            </a:r>
          </a:p>
        </p:txBody>
      </p:sp>
      <p:sp>
        <p:nvSpPr>
          <p:cNvPr id="3" name="Content Placeholder 2"/>
          <p:cNvSpPr>
            <a:spLocks noGrp="1"/>
          </p:cNvSpPr>
          <p:nvPr>
            <p:ph sz="half" idx="1"/>
          </p:nvPr>
        </p:nvSpPr>
        <p:spPr>
          <a:xfrm>
            <a:off x="838200" y="1825625"/>
            <a:ext cx="5181023" cy="4351338"/>
          </a:xfrm>
        </p:spPr>
        <p:txBody>
          <a:bodyPr/>
          <a:lstStyle/>
          <a:p>
            <a:pPr algn="just"/>
            <a:r>
              <a:rPr lang="en-US" b="0" dirty="0"/>
              <a:t>Primary marketing tools for influencing customer perceptions of quality are </a:t>
            </a:r>
            <a:r>
              <a:rPr lang="en-US" b="0" dirty="0">
                <a:solidFill>
                  <a:srgbClr val="0000FF"/>
                </a:solidFill>
              </a:rPr>
              <a:t>price </a:t>
            </a:r>
            <a:r>
              <a:rPr lang="en-US" b="0" dirty="0"/>
              <a:t>and</a:t>
            </a:r>
            <a:r>
              <a:rPr lang="en-US" b="0" dirty="0">
                <a:solidFill>
                  <a:srgbClr val="0000FF"/>
                </a:solidFill>
              </a:rPr>
              <a:t> advertising.</a:t>
            </a:r>
          </a:p>
          <a:p>
            <a:pPr algn="just"/>
            <a:endParaRPr lang="en-US" b="0" dirty="0"/>
          </a:p>
          <a:p>
            <a:pPr algn="just"/>
            <a:r>
              <a:rPr lang="en-US" b="0" dirty="0"/>
              <a:t>The </a:t>
            </a:r>
            <a:r>
              <a:rPr lang="en-US" b="0" dirty="0">
                <a:solidFill>
                  <a:srgbClr val="0000FF"/>
                </a:solidFill>
              </a:rPr>
              <a:t>customer</a:t>
            </a:r>
            <a:r>
              <a:rPr lang="en-US" b="0" dirty="0"/>
              <a:t> is the focus of marketing-related quality improvement.</a:t>
            </a:r>
          </a:p>
          <a:p>
            <a:endParaRPr lang="en-US" dirty="0"/>
          </a:p>
          <a:p>
            <a:endParaRPr lang="en-US" dirty="0"/>
          </a:p>
        </p:txBody>
      </p:sp>
      <p:sp>
        <p:nvSpPr>
          <p:cNvPr id="5" name="Footer Placeholder 4"/>
          <p:cNvSpPr>
            <a:spLocks noGrp="1"/>
          </p:cNvSpPr>
          <p:nvPr>
            <p:ph type="ftr" sz="quarter" idx="11"/>
          </p:nvPr>
        </p:nvSpPr>
        <p:spPr/>
        <p:txBody>
          <a:bodyPr/>
          <a:lstStyle/>
          <a:p>
            <a:r>
              <a:rPr lang="en-US" dirty="0"/>
              <a:t>Copyright © 2017 Pearson Education, Ltd.</a:t>
            </a:r>
          </a:p>
        </p:txBody>
      </p:sp>
      <p:sp>
        <p:nvSpPr>
          <p:cNvPr id="10" name="Slide Number Placeholder 9"/>
          <p:cNvSpPr>
            <a:spLocks noGrp="1"/>
          </p:cNvSpPr>
          <p:nvPr>
            <p:ph type="sldNum" sz="quarter" idx="12"/>
          </p:nvPr>
        </p:nvSpPr>
        <p:spPr/>
        <p:txBody>
          <a:bodyPr/>
          <a:lstStyle/>
          <a:p>
            <a:r>
              <a:rPr lang="en-US" dirty="0"/>
              <a:t>1-</a:t>
            </a:r>
            <a:fld id="{AAF7652D-00F5-4CC9-9A73-9C8E572E6AE1}" type="slidenum">
              <a:rPr lang="en-US" smtClean="0"/>
              <a:pPr/>
              <a:t>16</a:t>
            </a:fld>
            <a:endParaRPr lang="en-US" dirty="0"/>
          </a:p>
        </p:txBody>
      </p:sp>
      <p:sp>
        <p:nvSpPr>
          <p:cNvPr id="8" name="TextBox 7"/>
          <p:cNvSpPr txBox="1"/>
          <p:nvPr/>
        </p:nvSpPr>
        <p:spPr>
          <a:xfrm>
            <a:off x="9890975" y="5751959"/>
            <a:ext cx="1210614" cy="307777"/>
          </a:xfrm>
          <a:prstGeom prst="rect">
            <a:avLst/>
          </a:prstGeom>
          <a:noFill/>
        </p:spPr>
        <p:txBody>
          <a:bodyPr wrap="square" rtlCol="0">
            <a:spAutoFit/>
          </a:bodyPr>
          <a:lstStyle/>
          <a:p>
            <a:r>
              <a:rPr lang="en-US" sz="1400" b="1" dirty="0"/>
              <a:t>Figure 1-5</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2778" y="1452409"/>
            <a:ext cx="5424098" cy="4081491"/>
          </a:xfrm>
          <a:prstGeom prst="rect">
            <a:avLst/>
          </a:prstGeom>
        </p:spPr>
      </p:pic>
    </p:spTree>
    <p:extLst>
      <p:ext uri="{BB962C8B-B14F-4D97-AF65-F5344CB8AC3E}">
        <p14:creationId xmlns:p14="http://schemas.microsoft.com/office/powerpoint/2010/main" val="1032929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Financial Perspective</a:t>
            </a:r>
          </a:p>
        </p:txBody>
      </p:sp>
      <p:sp>
        <p:nvSpPr>
          <p:cNvPr id="3" name="Content Placeholder 2"/>
          <p:cNvSpPr>
            <a:spLocks noGrp="1"/>
          </p:cNvSpPr>
          <p:nvPr>
            <p:ph sz="half" idx="1"/>
          </p:nvPr>
        </p:nvSpPr>
        <p:spPr>
          <a:xfrm>
            <a:off x="838200" y="1596594"/>
            <a:ext cx="6274778" cy="4351338"/>
          </a:xfrm>
        </p:spPr>
        <p:txBody>
          <a:bodyPr>
            <a:normAutofit fontScale="92500" lnSpcReduction="10000"/>
          </a:bodyPr>
          <a:lstStyle/>
          <a:p>
            <a:pPr marL="0" indent="0" algn="just">
              <a:buNone/>
            </a:pPr>
            <a:r>
              <a:rPr lang="en-US" dirty="0"/>
              <a:t>The law of diminishing marginal returns:</a:t>
            </a:r>
          </a:p>
          <a:p>
            <a:pPr algn="just"/>
            <a:r>
              <a:rPr lang="en-US" b="0" dirty="0"/>
              <a:t>There is a </a:t>
            </a:r>
            <a:r>
              <a:rPr lang="en-US" b="0" dirty="0">
                <a:solidFill>
                  <a:srgbClr val="0000FF"/>
                </a:solidFill>
              </a:rPr>
              <a:t>point</a:t>
            </a:r>
            <a:r>
              <a:rPr lang="en-US" b="0" dirty="0"/>
              <a:t> at which investment in quality improvement will become uneconomical.</a:t>
            </a:r>
          </a:p>
          <a:p>
            <a:pPr algn="just"/>
            <a:r>
              <a:rPr lang="en-US" b="0" dirty="0"/>
              <a:t>The pursuit of higher levels of quality will result in higher</a:t>
            </a:r>
            <a:r>
              <a:rPr lang="en-US" b="0" dirty="0">
                <a:solidFill>
                  <a:srgbClr val="0000FF"/>
                </a:solidFill>
              </a:rPr>
              <a:t> expenditures</a:t>
            </a:r>
            <a:r>
              <a:rPr lang="en-US" b="0" dirty="0"/>
              <a:t>.</a:t>
            </a:r>
          </a:p>
          <a:p>
            <a:pPr algn="just"/>
            <a:r>
              <a:rPr lang="en-US" b="0" dirty="0"/>
              <a:t>Investing beyond the minimum cost level will result in </a:t>
            </a:r>
            <a:r>
              <a:rPr lang="en-US" b="0" dirty="0">
                <a:solidFill>
                  <a:srgbClr val="0000FF"/>
                </a:solidFill>
              </a:rPr>
              <a:t>non-economic </a:t>
            </a:r>
            <a:r>
              <a:rPr lang="en-US" b="0" dirty="0"/>
              <a:t>decisions</a:t>
            </a:r>
          </a:p>
          <a:p>
            <a:pPr marL="457200" lvl="1" indent="0">
              <a:buNone/>
            </a:pPr>
            <a:endParaRPr lang="en-US" dirty="0"/>
          </a:p>
        </p:txBody>
      </p:sp>
      <p:sp>
        <p:nvSpPr>
          <p:cNvPr id="5" name="Footer Placeholder 4"/>
          <p:cNvSpPr>
            <a:spLocks noGrp="1"/>
          </p:cNvSpPr>
          <p:nvPr>
            <p:ph type="ftr" sz="quarter" idx="11"/>
          </p:nvPr>
        </p:nvSpPr>
        <p:spPr/>
        <p:txBody>
          <a:bodyPr/>
          <a:lstStyle/>
          <a:p>
            <a:r>
              <a:rPr lang="en-US" dirty="0"/>
              <a:t>Copyright © 2017 Pearson Education, Ltd.</a:t>
            </a:r>
          </a:p>
        </p:txBody>
      </p:sp>
      <p:sp>
        <p:nvSpPr>
          <p:cNvPr id="9" name="Slide Number Placeholder 8"/>
          <p:cNvSpPr>
            <a:spLocks noGrp="1"/>
          </p:cNvSpPr>
          <p:nvPr>
            <p:ph type="sldNum" sz="quarter" idx="12"/>
          </p:nvPr>
        </p:nvSpPr>
        <p:spPr/>
        <p:txBody>
          <a:bodyPr/>
          <a:lstStyle/>
          <a:p>
            <a:r>
              <a:rPr lang="en-US" dirty="0"/>
              <a:t>1-</a:t>
            </a:r>
            <a:fld id="{AAF7652D-00F5-4CC9-9A73-9C8E572E6AE1}" type="slidenum">
              <a:rPr lang="en-US" smtClean="0"/>
              <a:pPr/>
              <a:t>17</a:t>
            </a:fld>
            <a:endParaRPr lang="en-US" dirty="0"/>
          </a:p>
        </p:txBody>
      </p:sp>
      <p:sp>
        <p:nvSpPr>
          <p:cNvPr id="8" name="TextBox 7"/>
          <p:cNvSpPr txBox="1"/>
          <p:nvPr/>
        </p:nvSpPr>
        <p:spPr>
          <a:xfrm>
            <a:off x="9982200" y="5193962"/>
            <a:ext cx="1210614" cy="307777"/>
          </a:xfrm>
          <a:prstGeom prst="rect">
            <a:avLst/>
          </a:prstGeom>
          <a:noFill/>
        </p:spPr>
        <p:txBody>
          <a:bodyPr wrap="square" rtlCol="0">
            <a:spAutoFit/>
          </a:bodyPr>
          <a:lstStyle/>
          <a:p>
            <a:r>
              <a:rPr lang="en-US" sz="1400" b="1" dirty="0"/>
              <a:t>Figure 1-6</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70383" y="2107100"/>
            <a:ext cx="4069984" cy="2737429"/>
          </a:xfrm>
          <a:prstGeom prst="rect">
            <a:avLst/>
          </a:prstGeom>
        </p:spPr>
      </p:pic>
    </p:spTree>
    <p:extLst>
      <p:ext uri="{BB962C8B-B14F-4D97-AF65-F5344CB8AC3E}">
        <p14:creationId xmlns:p14="http://schemas.microsoft.com/office/powerpoint/2010/main" val="1014496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Human Resources Perspective</a:t>
            </a:r>
          </a:p>
        </p:txBody>
      </p:sp>
      <p:sp>
        <p:nvSpPr>
          <p:cNvPr id="3" name="Content Placeholder 2"/>
          <p:cNvSpPr>
            <a:spLocks noGrp="1"/>
          </p:cNvSpPr>
          <p:nvPr>
            <p:ph idx="1"/>
          </p:nvPr>
        </p:nvSpPr>
        <p:spPr>
          <a:xfrm>
            <a:off x="838200" y="1676400"/>
            <a:ext cx="10515600" cy="4305300"/>
          </a:xfrm>
        </p:spPr>
        <p:txBody>
          <a:bodyPr>
            <a:normAutofit fontScale="85000" lnSpcReduction="10000"/>
          </a:bodyPr>
          <a:lstStyle/>
          <a:p>
            <a:pPr algn="just"/>
            <a:r>
              <a:rPr lang="en-US" dirty="0"/>
              <a:t>Employee empowerment</a:t>
            </a:r>
          </a:p>
          <a:p>
            <a:pPr marL="0" indent="0" algn="just">
              <a:buNone/>
            </a:pPr>
            <a:r>
              <a:rPr lang="en-US" b="0" dirty="0"/>
              <a:t>Moving decision-making to the lowest level possible in the organization.</a:t>
            </a:r>
          </a:p>
          <a:p>
            <a:pPr marL="457200" lvl="1" indent="0" algn="just">
              <a:buNone/>
            </a:pPr>
            <a:endParaRPr lang="en-US" dirty="0"/>
          </a:p>
          <a:p>
            <a:pPr algn="just"/>
            <a:r>
              <a:rPr lang="en-US" dirty="0"/>
              <a:t>Organizational design</a:t>
            </a:r>
          </a:p>
          <a:p>
            <a:pPr marL="0" indent="0" algn="just">
              <a:buNone/>
            </a:pPr>
            <a:r>
              <a:rPr lang="en-US" b="0" dirty="0"/>
              <a:t>Design of reward systems, pay systems, organizational structure, compensation, training mechanisms, and employee grievance arbitration.</a:t>
            </a:r>
          </a:p>
          <a:p>
            <a:pPr marL="457200" lvl="1" indent="0" algn="just">
              <a:buNone/>
            </a:pPr>
            <a:endParaRPr lang="en-US" dirty="0"/>
          </a:p>
          <a:p>
            <a:pPr algn="just"/>
            <a:r>
              <a:rPr lang="en-US" dirty="0"/>
              <a:t>Job analysis</a:t>
            </a:r>
          </a:p>
          <a:p>
            <a:pPr marL="0" indent="0" algn="just">
              <a:buNone/>
            </a:pPr>
            <a:r>
              <a:rPr lang="en-US" b="0" dirty="0"/>
              <a:t>Collecting detailed information about a particular job.</a:t>
            </a:r>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7" name="Slide Number Placeholder 6"/>
          <p:cNvSpPr>
            <a:spLocks noGrp="1"/>
          </p:cNvSpPr>
          <p:nvPr>
            <p:ph type="sldNum" sz="quarter" idx="12"/>
          </p:nvPr>
        </p:nvSpPr>
        <p:spPr/>
        <p:txBody>
          <a:bodyPr/>
          <a:lstStyle/>
          <a:p>
            <a:r>
              <a:rPr lang="en-US" dirty="0"/>
              <a:t>1-</a:t>
            </a:r>
            <a:fld id="{AAF7652D-00F5-4CC9-9A73-9C8E572E6AE1}" type="slidenum">
              <a:rPr lang="en-US" smtClean="0"/>
              <a:pPr/>
              <a:t>18</a:t>
            </a:fld>
            <a:endParaRPr lang="en-US" dirty="0"/>
          </a:p>
        </p:txBody>
      </p:sp>
    </p:spTree>
    <p:extLst>
      <p:ext uri="{BB962C8B-B14F-4D97-AF65-F5344CB8AC3E}">
        <p14:creationId xmlns:p14="http://schemas.microsoft.com/office/powerpoint/2010/main" val="2437934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Three Spheres of Quality</a:t>
            </a:r>
          </a:p>
        </p:txBody>
      </p:sp>
      <p:sp>
        <p:nvSpPr>
          <p:cNvPr id="3" name="Content Placeholder 2"/>
          <p:cNvSpPr>
            <a:spLocks noGrp="1"/>
          </p:cNvSpPr>
          <p:nvPr>
            <p:ph sz="half" idx="1"/>
          </p:nvPr>
        </p:nvSpPr>
        <p:spPr>
          <a:xfrm>
            <a:off x="838199" y="1617415"/>
            <a:ext cx="6238875" cy="4559548"/>
          </a:xfrm>
        </p:spPr>
        <p:txBody>
          <a:bodyPr>
            <a:normAutofit fontScale="92500" lnSpcReduction="10000"/>
          </a:bodyPr>
          <a:lstStyle/>
          <a:p>
            <a:r>
              <a:rPr lang="en-US" dirty="0"/>
              <a:t>Quality control</a:t>
            </a:r>
          </a:p>
          <a:p>
            <a:pPr marL="0" indent="0">
              <a:buNone/>
            </a:pPr>
            <a:r>
              <a:rPr lang="en-US" b="0" dirty="0"/>
              <a:t>Based on the Scientific Method</a:t>
            </a:r>
          </a:p>
          <a:p>
            <a:pPr marL="457200" lvl="1" indent="0">
              <a:buNone/>
            </a:pPr>
            <a:endParaRPr lang="en-US" dirty="0"/>
          </a:p>
          <a:p>
            <a:r>
              <a:rPr lang="en-US" dirty="0"/>
              <a:t>Quality assurance</a:t>
            </a:r>
          </a:p>
          <a:p>
            <a:pPr marL="0" indent="0">
              <a:buNone/>
            </a:pPr>
            <a:r>
              <a:rPr lang="en-US" b="0" dirty="0"/>
              <a:t>Activities associated with guaranteeing the quality of a product or service</a:t>
            </a:r>
          </a:p>
          <a:p>
            <a:pPr marL="457200" lvl="1" indent="0">
              <a:buNone/>
            </a:pPr>
            <a:endParaRPr lang="en-US" dirty="0"/>
          </a:p>
          <a:p>
            <a:r>
              <a:rPr lang="en-US" dirty="0"/>
              <a:t>Quality management</a:t>
            </a:r>
          </a:p>
          <a:p>
            <a:pPr marL="0" indent="0">
              <a:buNone/>
            </a:pPr>
            <a:r>
              <a:rPr lang="en-US" b="0" dirty="0"/>
              <a:t>Ties together the control and assurance activities</a:t>
            </a:r>
          </a:p>
          <a:p>
            <a:pPr lvl="1"/>
            <a:endParaRPr lang="en-US" dirty="0"/>
          </a:p>
        </p:txBody>
      </p:sp>
      <p:sp>
        <p:nvSpPr>
          <p:cNvPr id="5" name="Footer Placeholder 4"/>
          <p:cNvSpPr>
            <a:spLocks noGrp="1"/>
          </p:cNvSpPr>
          <p:nvPr>
            <p:ph type="ftr" sz="quarter" idx="11"/>
          </p:nvPr>
        </p:nvSpPr>
        <p:spPr/>
        <p:txBody>
          <a:bodyPr/>
          <a:lstStyle/>
          <a:p>
            <a:r>
              <a:rPr lang="en-US" dirty="0"/>
              <a:t>Copyright © 2017 Pearson Education, Ltd.</a:t>
            </a:r>
          </a:p>
        </p:txBody>
      </p:sp>
      <p:sp>
        <p:nvSpPr>
          <p:cNvPr id="10" name="Slide Number Placeholder 9"/>
          <p:cNvSpPr>
            <a:spLocks noGrp="1"/>
          </p:cNvSpPr>
          <p:nvPr>
            <p:ph type="sldNum" sz="quarter" idx="12"/>
          </p:nvPr>
        </p:nvSpPr>
        <p:spPr/>
        <p:txBody>
          <a:bodyPr/>
          <a:lstStyle/>
          <a:p>
            <a:r>
              <a:rPr lang="en-US" dirty="0"/>
              <a:t>1-</a:t>
            </a:r>
            <a:fld id="{AAF7652D-00F5-4CC9-9A73-9C8E572E6AE1}" type="slidenum">
              <a:rPr lang="en-US" smtClean="0"/>
              <a:pPr/>
              <a:t>19</a:t>
            </a:fld>
            <a:endParaRPr lang="en-US" dirty="0"/>
          </a:p>
        </p:txBody>
      </p:sp>
      <p:sp>
        <p:nvSpPr>
          <p:cNvPr id="8" name="TextBox 7"/>
          <p:cNvSpPr txBox="1"/>
          <p:nvPr/>
        </p:nvSpPr>
        <p:spPr>
          <a:xfrm>
            <a:off x="9982200" y="5869186"/>
            <a:ext cx="1210614" cy="307777"/>
          </a:xfrm>
          <a:prstGeom prst="rect">
            <a:avLst/>
          </a:prstGeom>
          <a:noFill/>
        </p:spPr>
        <p:txBody>
          <a:bodyPr wrap="square" rtlCol="0">
            <a:spAutoFit/>
          </a:bodyPr>
          <a:lstStyle/>
          <a:p>
            <a:r>
              <a:rPr lang="en-US" sz="1400" b="1" dirty="0"/>
              <a:t>Figure 1-7</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32632" y="1560833"/>
            <a:ext cx="3860182" cy="4091822"/>
          </a:xfrm>
          <a:prstGeom prst="rect">
            <a:avLst/>
          </a:prstGeom>
        </p:spPr>
      </p:pic>
    </p:spTree>
    <p:extLst>
      <p:ext uri="{BB962C8B-B14F-4D97-AF65-F5344CB8AC3E}">
        <p14:creationId xmlns:p14="http://schemas.microsoft.com/office/powerpoint/2010/main" val="2231873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Perspectives on Quality</a:t>
            </a:r>
          </a:p>
        </p:txBody>
      </p:sp>
      <p:sp>
        <p:nvSpPr>
          <p:cNvPr id="3" name="Content Placeholder 2"/>
          <p:cNvSpPr>
            <a:spLocks noGrp="1"/>
          </p:cNvSpPr>
          <p:nvPr>
            <p:ph idx="1"/>
          </p:nvPr>
        </p:nvSpPr>
        <p:spPr/>
        <p:txBody>
          <a:bodyPr>
            <a:normAutofit fontScale="92500" lnSpcReduction="20000"/>
          </a:bodyPr>
          <a:lstStyle/>
          <a:p>
            <a:pPr>
              <a:spcBef>
                <a:spcPts val="0"/>
              </a:spcBef>
              <a:spcAft>
                <a:spcPts val="900"/>
              </a:spcAft>
            </a:pPr>
            <a:r>
              <a:rPr lang="en-US" dirty="0"/>
              <a:t>Value-added perspective</a:t>
            </a:r>
          </a:p>
          <a:p>
            <a:pPr marL="0" indent="0">
              <a:spcBef>
                <a:spcPts val="0"/>
              </a:spcBef>
              <a:spcAft>
                <a:spcPts val="900"/>
              </a:spcAft>
              <a:buNone/>
            </a:pPr>
            <a:r>
              <a:rPr lang="en-US" b="0" dirty="0"/>
              <a:t>A subjective assessment of the efficacy of every step of the process for the customer</a:t>
            </a:r>
          </a:p>
          <a:p>
            <a:pPr marL="457200" lvl="1" indent="0">
              <a:spcBef>
                <a:spcPts val="0"/>
              </a:spcBef>
              <a:spcAft>
                <a:spcPts val="900"/>
              </a:spcAft>
              <a:buNone/>
            </a:pPr>
            <a:endParaRPr lang="en-US" dirty="0"/>
          </a:p>
          <a:p>
            <a:pPr>
              <a:spcBef>
                <a:spcPts val="0"/>
              </a:spcBef>
              <a:spcAft>
                <a:spcPts val="900"/>
              </a:spcAft>
            </a:pPr>
            <a:r>
              <a:rPr lang="en-US" dirty="0"/>
              <a:t>Cultural perspectives</a:t>
            </a:r>
          </a:p>
          <a:p>
            <a:pPr marL="0" indent="0">
              <a:spcBef>
                <a:spcPts val="0"/>
              </a:spcBef>
              <a:spcAft>
                <a:spcPts val="900"/>
              </a:spcAft>
              <a:buNone/>
            </a:pPr>
            <a:r>
              <a:rPr lang="en-US" b="0" dirty="0"/>
              <a:t>Differences in tastes and preferences among different cultures</a:t>
            </a:r>
          </a:p>
          <a:p>
            <a:pPr marL="457200" lvl="1" indent="0">
              <a:spcBef>
                <a:spcPts val="0"/>
              </a:spcBef>
              <a:spcAft>
                <a:spcPts val="1800"/>
              </a:spcAft>
              <a:buNone/>
            </a:pPr>
            <a:endParaRPr lang="en-US" dirty="0"/>
          </a:p>
          <a:p>
            <a:pPr>
              <a:spcBef>
                <a:spcPts val="0"/>
              </a:spcBef>
              <a:spcAft>
                <a:spcPts val="900"/>
              </a:spcAft>
            </a:pPr>
            <a:r>
              <a:rPr lang="en-US" dirty="0"/>
              <a:t>Contingency theory perspective</a:t>
            </a:r>
          </a:p>
          <a:p>
            <a:pPr marL="0" indent="0">
              <a:spcBef>
                <a:spcPts val="0"/>
              </a:spcBef>
              <a:spcAft>
                <a:spcPts val="900"/>
              </a:spcAft>
              <a:buNone/>
            </a:pPr>
            <a:r>
              <a:rPr lang="en-US" b="0" dirty="0"/>
              <a:t>There is no theory or method for operating a business that can be applied in all instances</a:t>
            </a:r>
          </a:p>
        </p:txBody>
      </p:sp>
      <p:sp>
        <p:nvSpPr>
          <p:cNvPr id="4" name="Footer Placeholder 3"/>
          <p:cNvSpPr>
            <a:spLocks noGrp="1"/>
          </p:cNvSpPr>
          <p:nvPr>
            <p:ph type="ftr" sz="quarter" idx="11"/>
          </p:nvPr>
        </p:nvSpPr>
        <p:spPr/>
        <p:txBody>
          <a:bodyPr/>
          <a:lstStyle/>
          <a:p>
            <a:r>
              <a:rPr lang="en-US" dirty="0"/>
              <a:t>Copyright © 2017 Pearson Education, Ltd.</a:t>
            </a:r>
          </a:p>
        </p:txBody>
      </p:sp>
      <p:sp>
        <p:nvSpPr>
          <p:cNvPr id="7" name="Slide Number Placeholder 6"/>
          <p:cNvSpPr>
            <a:spLocks noGrp="1"/>
          </p:cNvSpPr>
          <p:nvPr>
            <p:ph type="sldNum" sz="quarter" idx="12"/>
          </p:nvPr>
        </p:nvSpPr>
        <p:spPr/>
        <p:txBody>
          <a:bodyPr/>
          <a:lstStyle/>
          <a:p>
            <a:r>
              <a:rPr lang="en-US" dirty="0"/>
              <a:t>1-</a:t>
            </a:r>
            <a:fld id="{AAF7652D-00F5-4CC9-9A73-9C8E572E6AE1}" type="slidenum">
              <a:rPr lang="en-US" smtClean="0"/>
              <a:pPr/>
              <a:t>20</a:t>
            </a:fld>
            <a:endParaRPr lang="en-US" dirty="0"/>
          </a:p>
        </p:txBody>
      </p:sp>
    </p:spTree>
    <p:extLst>
      <p:ext uri="{BB962C8B-B14F-4D97-AF65-F5344CB8AC3E}">
        <p14:creationId xmlns:p14="http://schemas.microsoft.com/office/powerpoint/2010/main" val="2561334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795B-2D35-436B-8FFD-6137FDB4D94C}"/>
              </a:ext>
            </a:extLst>
          </p:cNvPr>
          <p:cNvSpPr>
            <a:spLocks noGrp="1"/>
          </p:cNvSpPr>
          <p:nvPr>
            <p:ph type="title"/>
          </p:nvPr>
        </p:nvSpPr>
        <p:spPr/>
        <p:txBody>
          <a:bodyPr/>
          <a:lstStyle/>
          <a:p>
            <a:r>
              <a:rPr lang="en-US" dirty="0"/>
              <a:t>Conclusive Remarks</a:t>
            </a:r>
            <a:endParaRPr lang="LID4096" dirty="0"/>
          </a:p>
        </p:txBody>
      </p:sp>
      <p:sp>
        <p:nvSpPr>
          <p:cNvPr id="3" name="Content Placeholder 2">
            <a:extLst>
              <a:ext uri="{FF2B5EF4-FFF2-40B4-BE49-F238E27FC236}">
                <a16:creationId xmlns:a16="http://schemas.microsoft.com/office/drawing/2014/main" id="{346DEC93-22BB-4399-8BF1-EF470BEB4D2F}"/>
              </a:ext>
            </a:extLst>
          </p:cNvPr>
          <p:cNvSpPr>
            <a:spLocks noGrp="1"/>
          </p:cNvSpPr>
          <p:nvPr>
            <p:ph idx="1"/>
          </p:nvPr>
        </p:nvSpPr>
        <p:spPr>
          <a:xfrm>
            <a:off x="838200" y="1570038"/>
            <a:ext cx="10515600" cy="4618746"/>
          </a:xfrm>
        </p:spPr>
        <p:txBody>
          <a:bodyPr>
            <a:normAutofit fontScale="92500" lnSpcReduction="20000"/>
          </a:bodyPr>
          <a:lstStyle/>
          <a:p>
            <a:pPr marL="0" indent="0" algn="just">
              <a:buNone/>
            </a:pPr>
            <a:r>
              <a:rPr lang="en-US" b="0" i="0" dirty="0">
                <a:effectLst/>
                <a:latin typeface="fkGroteskNeue"/>
              </a:rPr>
              <a:t>Today, we learned that quality is not one thing. It is:</a:t>
            </a:r>
          </a:p>
          <a:p>
            <a:pPr algn="just">
              <a:buFont typeface="Arial" panose="020B0604020202020204" pitchFamily="34" charset="0"/>
              <a:buChar char="•"/>
            </a:pPr>
            <a:r>
              <a:rPr lang="en-US" b="0" i="0" dirty="0">
                <a:solidFill>
                  <a:srgbClr val="0000FF"/>
                </a:solidFill>
                <a:effectLst/>
                <a:latin typeface="fkGroteskNeue"/>
              </a:rPr>
              <a:t>Eight</a:t>
            </a:r>
            <a:r>
              <a:rPr lang="en-US" b="0" i="0" dirty="0">
                <a:effectLst/>
                <a:latin typeface="fkGroteskNeue"/>
              </a:rPr>
              <a:t> product dimensions (Performance, Features, Reliability, Conformance, Durability, Serviceability, Aesthetics, Perceived Quality)</a:t>
            </a:r>
          </a:p>
          <a:p>
            <a:pPr algn="just">
              <a:buFont typeface="Arial" panose="020B0604020202020204" pitchFamily="34" charset="0"/>
              <a:buChar char="•"/>
            </a:pPr>
            <a:r>
              <a:rPr lang="en-US" b="0" i="0" dirty="0">
                <a:solidFill>
                  <a:srgbClr val="0000FF"/>
                </a:solidFill>
                <a:effectLst/>
                <a:latin typeface="fkGroteskNeue"/>
              </a:rPr>
              <a:t>Five </a:t>
            </a:r>
            <a:r>
              <a:rPr lang="en-US" b="0" i="0" dirty="0">
                <a:effectLst/>
                <a:latin typeface="fkGroteskNeue"/>
              </a:rPr>
              <a:t>service dimensions (Tangibles, Reliability, Responsiveness, Assurance, Empathy)</a:t>
            </a:r>
          </a:p>
          <a:p>
            <a:pPr algn="just">
              <a:buFont typeface="Arial" panose="020B0604020202020204" pitchFamily="34" charset="0"/>
              <a:buChar char="•"/>
            </a:pPr>
            <a:r>
              <a:rPr lang="en-US" b="0" i="0" dirty="0">
                <a:solidFill>
                  <a:srgbClr val="0000FF"/>
                </a:solidFill>
                <a:effectLst/>
                <a:latin typeface="fkGroteskNeue"/>
              </a:rPr>
              <a:t>Seven</a:t>
            </a:r>
            <a:r>
              <a:rPr lang="en-US" b="0" i="0" dirty="0">
                <a:effectLst/>
                <a:latin typeface="fkGroteskNeue"/>
              </a:rPr>
              <a:t> functional perspectives (Supply Chain, Engineering, Statistical Control, Operations, Strategy, Marketing, Finance, and HR)</a:t>
            </a:r>
          </a:p>
          <a:p>
            <a:pPr algn="just">
              <a:buFont typeface="Arial" panose="020B0604020202020204" pitchFamily="34" charset="0"/>
              <a:buChar char="•"/>
            </a:pPr>
            <a:r>
              <a:rPr lang="en-US" b="0" i="0" dirty="0">
                <a:effectLst/>
                <a:latin typeface="fkGroteskNeue"/>
              </a:rPr>
              <a:t>Different </a:t>
            </a:r>
            <a:r>
              <a:rPr lang="en-US" b="0" i="0" dirty="0">
                <a:solidFill>
                  <a:srgbClr val="0000FF"/>
                </a:solidFill>
                <a:effectLst/>
                <a:latin typeface="fkGroteskNeue"/>
              </a:rPr>
              <a:t>cultural values</a:t>
            </a:r>
            <a:r>
              <a:rPr lang="en-US" b="0" i="0" dirty="0">
                <a:effectLst/>
                <a:latin typeface="fkGroteskNeue"/>
              </a:rPr>
              <a:t>–What is 'good quality' in Germany is not the same as in Japan or Saudi Arabia.</a:t>
            </a:r>
          </a:p>
        </p:txBody>
      </p:sp>
      <p:sp>
        <p:nvSpPr>
          <p:cNvPr id="4" name="Footer Placeholder 3">
            <a:extLst>
              <a:ext uri="{FF2B5EF4-FFF2-40B4-BE49-F238E27FC236}">
                <a16:creationId xmlns:a16="http://schemas.microsoft.com/office/drawing/2014/main" id="{93FA3375-ECD9-4F22-98D6-09532D81D14A}"/>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E6AC7A15-9835-4194-99F4-86B77856CB62}"/>
              </a:ext>
            </a:extLst>
          </p:cNvPr>
          <p:cNvSpPr>
            <a:spLocks noGrp="1"/>
          </p:cNvSpPr>
          <p:nvPr>
            <p:ph type="sldNum" sz="quarter" idx="12"/>
          </p:nvPr>
        </p:nvSpPr>
        <p:spPr/>
        <p:txBody>
          <a:bodyPr/>
          <a:lstStyle/>
          <a:p>
            <a:r>
              <a:rPr lang="en-US"/>
              <a:t>1-</a:t>
            </a:r>
            <a:fld id="{AAF7652D-00F5-4CC9-9A73-9C8E572E6AE1}" type="slidenum">
              <a:rPr lang="en-US" smtClean="0"/>
              <a:pPr/>
              <a:t>21</a:t>
            </a:fld>
            <a:endParaRPr lang="en-US" dirty="0"/>
          </a:p>
        </p:txBody>
      </p:sp>
    </p:spTree>
    <p:extLst>
      <p:ext uri="{BB962C8B-B14F-4D97-AF65-F5344CB8AC3E}">
        <p14:creationId xmlns:p14="http://schemas.microsoft.com/office/powerpoint/2010/main" val="3991797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BF86A-0506-4292-972F-C5BE78F71032}"/>
              </a:ext>
            </a:extLst>
          </p:cNvPr>
          <p:cNvSpPr>
            <a:spLocks noGrp="1"/>
          </p:cNvSpPr>
          <p:nvPr>
            <p:ph type="title"/>
          </p:nvPr>
        </p:nvSpPr>
        <p:spPr/>
        <p:txBody>
          <a:bodyPr/>
          <a:lstStyle/>
          <a:p>
            <a:pPr algn="just"/>
            <a:r>
              <a:rPr lang="en-US" i="0" dirty="0">
                <a:effectLst/>
                <a:latin typeface="fkGroteskNeue"/>
              </a:rPr>
              <a:t>If your organization does not align these perspectives</a:t>
            </a:r>
            <a:endParaRPr lang="LID4096" dirty="0"/>
          </a:p>
        </p:txBody>
      </p:sp>
      <p:sp>
        <p:nvSpPr>
          <p:cNvPr id="3" name="Content Placeholder 2">
            <a:extLst>
              <a:ext uri="{FF2B5EF4-FFF2-40B4-BE49-F238E27FC236}">
                <a16:creationId xmlns:a16="http://schemas.microsoft.com/office/drawing/2014/main" id="{468D748B-BC08-4EEC-A176-09E5725FD573}"/>
              </a:ext>
            </a:extLst>
          </p:cNvPr>
          <p:cNvSpPr>
            <a:spLocks noGrp="1"/>
          </p:cNvSpPr>
          <p:nvPr>
            <p:ph idx="1"/>
          </p:nvPr>
        </p:nvSpPr>
        <p:spPr/>
        <p:txBody>
          <a:bodyPr>
            <a:normAutofit fontScale="85000" lnSpcReduction="10000"/>
          </a:bodyPr>
          <a:lstStyle/>
          <a:p>
            <a:pPr marL="0" indent="0" algn="ctr">
              <a:buNone/>
            </a:pPr>
            <a:r>
              <a:rPr lang="en-US" b="0" i="0" dirty="0">
                <a:solidFill>
                  <a:srgbClr val="0000FF"/>
                </a:solidFill>
                <a:effectLst/>
                <a:latin typeface="fkGroteskNeue"/>
              </a:rPr>
              <a:t>“Then you will have internal conflict.”</a:t>
            </a:r>
          </a:p>
          <a:p>
            <a:pPr algn="just">
              <a:buFont typeface="Arial" panose="020B0604020202020204" pitchFamily="34" charset="0"/>
              <a:buChar char="•"/>
            </a:pPr>
            <a:r>
              <a:rPr lang="en-US" b="0" i="0" dirty="0">
                <a:effectLst/>
                <a:latin typeface="fkGroteskNeue"/>
              </a:rPr>
              <a:t>Engineering will design for reliability; Marketing will promise features engineering can't deliver. Operations will want standardization; Sales will want customization, Finance will say 'spend less’, HR will say 'invest in employees’, Operations will say ‘improve quality.'</a:t>
            </a:r>
          </a:p>
          <a:p>
            <a:pPr algn="just"/>
            <a:r>
              <a:rPr lang="en-US" b="0" i="0" dirty="0">
                <a:effectLst/>
                <a:latin typeface="fkGroteskNeue"/>
              </a:rPr>
              <a:t>Your job as a supply chain and procurement professional is to understand these different lenses so that you can:</a:t>
            </a:r>
          </a:p>
          <a:p>
            <a:pPr algn="just">
              <a:buFont typeface="+mj-lt"/>
              <a:buAutoNum type="arabicPeriod"/>
            </a:pPr>
            <a:r>
              <a:rPr lang="en-US" b="0" i="0" dirty="0">
                <a:effectLst/>
                <a:latin typeface="fkGroteskNeue"/>
              </a:rPr>
              <a:t>Communicate quality in language that each function understands.</a:t>
            </a:r>
          </a:p>
          <a:p>
            <a:pPr algn="just">
              <a:buFont typeface="+mj-lt"/>
              <a:buAutoNum type="arabicPeriod"/>
            </a:pPr>
            <a:r>
              <a:rPr lang="en-US" b="0" i="0" dirty="0">
                <a:effectLst/>
                <a:latin typeface="fkGroteskNeue"/>
              </a:rPr>
              <a:t>Find the balance—compromise, not conflict.</a:t>
            </a:r>
          </a:p>
          <a:p>
            <a:pPr algn="just">
              <a:buFont typeface="+mj-lt"/>
              <a:buAutoNum type="arabicPeriod"/>
            </a:pPr>
            <a:r>
              <a:rPr lang="en-US" b="0" i="0" dirty="0">
                <a:effectLst/>
                <a:latin typeface="fkGroteskNeue"/>
              </a:rPr>
              <a:t>Make strategic sourcing decisions that serve the whole organization, not just one department.</a:t>
            </a:r>
          </a:p>
          <a:p>
            <a:endParaRPr lang="LID4096" dirty="0"/>
          </a:p>
        </p:txBody>
      </p:sp>
      <p:sp>
        <p:nvSpPr>
          <p:cNvPr id="4" name="Footer Placeholder 3">
            <a:extLst>
              <a:ext uri="{FF2B5EF4-FFF2-40B4-BE49-F238E27FC236}">
                <a16:creationId xmlns:a16="http://schemas.microsoft.com/office/drawing/2014/main" id="{D1B685A6-5F7F-448C-AC80-7F0935656595}"/>
              </a:ext>
            </a:extLst>
          </p:cNvPr>
          <p:cNvSpPr>
            <a:spLocks noGrp="1"/>
          </p:cNvSpPr>
          <p:nvPr>
            <p:ph type="ftr" sz="quarter" idx="11"/>
          </p:nvPr>
        </p:nvSpPr>
        <p:spPr/>
        <p:txBody>
          <a:bodyPr/>
          <a:lstStyle/>
          <a:p>
            <a:r>
              <a:rPr lang="en-US"/>
              <a:t>Copyright © 2017 Pearson Education, Ltd.</a:t>
            </a:r>
            <a:endParaRPr lang="en-US" dirty="0"/>
          </a:p>
        </p:txBody>
      </p:sp>
      <p:sp>
        <p:nvSpPr>
          <p:cNvPr id="5" name="Slide Number Placeholder 4">
            <a:extLst>
              <a:ext uri="{FF2B5EF4-FFF2-40B4-BE49-F238E27FC236}">
                <a16:creationId xmlns:a16="http://schemas.microsoft.com/office/drawing/2014/main" id="{E6CFAE3A-3794-49F7-9FAC-FA853DE6A7E7}"/>
              </a:ext>
            </a:extLst>
          </p:cNvPr>
          <p:cNvSpPr>
            <a:spLocks noGrp="1"/>
          </p:cNvSpPr>
          <p:nvPr>
            <p:ph type="sldNum" sz="quarter" idx="12"/>
          </p:nvPr>
        </p:nvSpPr>
        <p:spPr/>
        <p:txBody>
          <a:bodyPr/>
          <a:lstStyle/>
          <a:p>
            <a:r>
              <a:rPr lang="en-US"/>
              <a:t>1-</a:t>
            </a:r>
            <a:fld id="{AAF7652D-00F5-4CC9-9A73-9C8E572E6AE1}" type="slidenum">
              <a:rPr lang="en-US" smtClean="0"/>
              <a:pPr/>
              <a:t>22</a:t>
            </a:fld>
            <a:endParaRPr lang="en-US" dirty="0"/>
          </a:p>
        </p:txBody>
      </p:sp>
    </p:spTree>
    <p:extLst>
      <p:ext uri="{BB962C8B-B14F-4D97-AF65-F5344CB8AC3E}">
        <p14:creationId xmlns:p14="http://schemas.microsoft.com/office/powerpoint/2010/main" val="231316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1860</TotalTime>
  <Words>3149</Words>
  <Application>Microsoft Office PowerPoint</Application>
  <PresentationFormat>Widescreen</PresentationFormat>
  <Paragraphs>243</Paragraphs>
  <Slides>22</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Cambria</vt:lpstr>
      <vt:lpstr>fkGroteskNeue</vt:lpstr>
      <vt:lpstr>Verdana</vt:lpstr>
      <vt:lpstr>Office Theme</vt:lpstr>
      <vt:lpstr>Chapter 1</vt:lpstr>
      <vt:lpstr>Have you ever thought? </vt:lpstr>
      <vt:lpstr>Chapter Objectives</vt:lpstr>
      <vt:lpstr>Product Quality Dimensions</vt:lpstr>
      <vt:lpstr>Product Quality Dimensions</vt:lpstr>
      <vt:lpstr>Open Discussion</vt:lpstr>
      <vt:lpstr>Service Quality Dimensions</vt:lpstr>
      <vt:lpstr>Open Discussion</vt:lpstr>
      <vt:lpstr>Functional Perspective on Quality</vt:lpstr>
      <vt:lpstr>A Supply Chain Perspective</vt:lpstr>
      <vt:lpstr>An Engineering Perspective</vt:lpstr>
      <vt:lpstr>An Engineering Perspective</vt:lpstr>
      <vt:lpstr>An Operations Perspective</vt:lpstr>
      <vt:lpstr>A Strategic Management Perspective</vt:lpstr>
      <vt:lpstr>A Marketing Perspective</vt:lpstr>
      <vt:lpstr>A Marketing Perspective</vt:lpstr>
      <vt:lpstr>A Financial Perspective</vt:lpstr>
      <vt:lpstr>The Human Resources Perspective</vt:lpstr>
      <vt:lpstr>The Three Spheres of Quality</vt:lpstr>
      <vt:lpstr>Other Perspectives on Quality</vt:lpstr>
      <vt:lpstr>Conclusive Remarks</vt:lpstr>
      <vt:lpstr>If your organization does not align these perspectives</vt:lpstr>
    </vt:vector>
  </TitlesOfParts>
  <Company>Duquesne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Kathryn Marley</dc:creator>
  <cp:lastModifiedBy>Muhammad Omair</cp:lastModifiedBy>
  <cp:revision>107</cp:revision>
  <dcterms:created xsi:type="dcterms:W3CDTF">2015-11-17T01:01:34Z</dcterms:created>
  <dcterms:modified xsi:type="dcterms:W3CDTF">2026-01-13T13:18:59Z</dcterms:modified>
</cp:coreProperties>
</file>