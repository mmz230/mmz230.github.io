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handoutMasterIdLst>
    <p:handoutMasterId r:id="rId26"/>
  </p:handoutMasterIdLst>
  <p:sldIdLst>
    <p:sldId id="256" r:id="rId2"/>
    <p:sldId id="257" r:id="rId3"/>
    <p:sldId id="314" r:id="rId4"/>
    <p:sldId id="280" r:id="rId5"/>
    <p:sldId id="282" r:id="rId6"/>
    <p:sldId id="283" r:id="rId7"/>
    <p:sldId id="289" r:id="rId8"/>
    <p:sldId id="302" r:id="rId9"/>
    <p:sldId id="295" r:id="rId10"/>
    <p:sldId id="297" r:id="rId11"/>
    <p:sldId id="298" r:id="rId12"/>
    <p:sldId id="303" r:id="rId13"/>
    <p:sldId id="299" r:id="rId14"/>
    <p:sldId id="300" r:id="rId15"/>
    <p:sldId id="305" r:id="rId16"/>
    <p:sldId id="304" r:id="rId17"/>
    <p:sldId id="306" r:id="rId18"/>
    <p:sldId id="307" r:id="rId19"/>
    <p:sldId id="310" r:id="rId20"/>
    <p:sldId id="309" r:id="rId21"/>
    <p:sldId id="311" r:id="rId22"/>
    <p:sldId id="312" r:id="rId23"/>
    <p:sldId id="31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865" autoAdjust="0"/>
  </p:normalViewPr>
  <p:slideViewPr>
    <p:cSldViewPr snapToGrid="0">
      <p:cViewPr>
        <p:scale>
          <a:sx n="45" d="100"/>
          <a:sy n="45" d="100"/>
        </p:scale>
        <p:origin x="669" y="39"/>
      </p:cViewPr>
      <p:guideLst>
        <p:guide orient="horz" pos="2160"/>
        <p:guide pos="3840"/>
      </p:guideLst>
    </p:cSldViewPr>
  </p:slideViewPr>
  <p:notesTextViewPr>
    <p:cViewPr>
      <p:scale>
        <a:sx n="1" d="1"/>
        <a:sy n="1" d="1"/>
      </p:scale>
      <p:origin x="0" y="0"/>
    </p:cViewPr>
  </p:notesTextViewPr>
  <p:sorterViewPr>
    <p:cViewPr>
      <p:scale>
        <a:sx n="100" d="100"/>
        <a:sy n="100" d="100"/>
      </p:scale>
      <p:origin x="0" y="-94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EB6920-3317-A54E-BC4B-C622096B1708}" type="datetimeFigureOut">
              <a:rPr lang="en-US" smtClean="0"/>
              <a:pPr/>
              <a:t>1/16/2026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4782D30-602A-144B-9CA8-C8B5E7910B53}" type="slidenum">
              <a:rPr lang="en-US" smtClean="0"/>
              <a:pPr/>
              <a:t>‹#›</a:t>
            </a:fld>
            <a:endParaRPr lang="en-US"/>
          </a:p>
        </p:txBody>
      </p:sp>
    </p:spTree>
    <p:extLst>
      <p:ext uri="{BB962C8B-B14F-4D97-AF65-F5344CB8AC3E}">
        <p14:creationId xmlns:p14="http://schemas.microsoft.com/office/powerpoint/2010/main" val="321759772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8F5193-95A9-4C86-AF70-72A1DE388E06}" type="datetimeFigureOut">
              <a:rPr lang="en-US" smtClean="0"/>
              <a:pPr/>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F71A2E-9361-4747-878D-22E7C3225E9E}" type="slidenum">
              <a:rPr lang="en-US" smtClean="0"/>
              <a:pPr/>
              <a:t>‹#›</a:t>
            </a:fld>
            <a:endParaRPr lang="en-US" dirty="0"/>
          </a:p>
        </p:txBody>
      </p:sp>
    </p:spTree>
    <p:extLst>
      <p:ext uri="{BB962C8B-B14F-4D97-AF65-F5344CB8AC3E}">
        <p14:creationId xmlns:p14="http://schemas.microsoft.com/office/powerpoint/2010/main" val="218949394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a:t>
            </a:fld>
            <a:endParaRPr lang="en-US" dirty="0"/>
          </a:p>
        </p:txBody>
      </p:sp>
    </p:spTree>
    <p:extLst>
      <p:ext uri="{BB962C8B-B14F-4D97-AF65-F5344CB8AC3E}">
        <p14:creationId xmlns:p14="http://schemas.microsoft.com/office/powerpoint/2010/main" val="295802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2</a:t>
            </a:fld>
            <a:endParaRPr lang="en-US" dirty="0"/>
          </a:p>
        </p:txBody>
      </p:sp>
    </p:spTree>
    <p:extLst>
      <p:ext uri="{BB962C8B-B14F-4D97-AF65-F5344CB8AC3E}">
        <p14:creationId xmlns:p14="http://schemas.microsoft.com/office/powerpoint/2010/main" val="4066804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At the end of Chapter 2, we discussed several operational variables that should be addressed when assessing our future directions for quality improvement. The power of these variables is that they focus management on systemic issues rather than the tactical day-to-day problems.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However, management needs a means for assessing the approaches it has employed to improve operating performance. One of the most powerful self-assessment mechanisms is the </a:t>
            </a:r>
            <a:r>
              <a:rPr lang="en-US" sz="1200" b="1" i="0" u="none" strike="noStrike" kern="1200" baseline="0" dirty="0">
                <a:solidFill>
                  <a:schemeClr val="tx1"/>
                </a:solidFill>
                <a:latin typeface="+mn-lt"/>
                <a:ea typeface="+mn-ea"/>
                <a:cs typeface="+mn-cs"/>
              </a:rPr>
              <a:t>Baldrige Performance Excellence Program </a:t>
            </a:r>
            <a:r>
              <a:rPr lang="en-US" sz="1200" b="0" i="0" u="none" strike="noStrike" kern="1200" baseline="0" dirty="0">
                <a:solidFill>
                  <a:schemeClr val="tx1"/>
                </a:solidFill>
                <a:latin typeface="+mn-lt"/>
                <a:ea typeface="+mn-ea"/>
                <a:cs typeface="+mn-cs"/>
              </a:rPr>
              <a:t>(hereafter referred to as </a:t>
            </a:r>
            <a:r>
              <a:rPr lang="en-US" sz="1200" b="0" i="1" u="none" strike="noStrike" kern="1200" baseline="0" dirty="0">
                <a:solidFill>
                  <a:schemeClr val="tx1"/>
                </a:solidFill>
                <a:latin typeface="+mn-lt"/>
                <a:ea typeface="+mn-ea"/>
                <a:cs typeface="+mn-cs"/>
              </a:rPr>
              <a:t>Baldrige</a:t>
            </a:r>
            <a:r>
              <a:rPr lang="en-US" sz="1200" b="0" i="0" u="none" strike="noStrike" kern="1200" baseline="0" dirty="0">
                <a:solidFill>
                  <a:schemeClr val="tx1"/>
                </a:solidFill>
                <a:latin typeface="+mn-lt"/>
                <a:ea typeface="+mn-ea"/>
                <a:cs typeface="+mn-cs"/>
              </a:rPr>
              <a:t>). The success of the Baldrige program in the United States has influenced international practice and has formed the basis for several international awards. A comprehensive list of Baldrige winners is shown in Table 3-2. </a:t>
            </a:r>
          </a:p>
        </p:txBody>
      </p:sp>
      <p:sp>
        <p:nvSpPr>
          <p:cNvPr id="4" name="Slide Number Placeholder 3"/>
          <p:cNvSpPr>
            <a:spLocks noGrp="1"/>
          </p:cNvSpPr>
          <p:nvPr>
            <p:ph type="sldNum" sz="quarter" idx="10"/>
          </p:nvPr>
        </p:nvSpPr>
        <p:spPr/>
        <p:txBody>
          <a:bodyPr/>
          <a:lstStyle/>
          <a:p>
            <a:fld id="{CFF71A2E-9361-4747-878D-22E7C3225E9E}" type="slidenum">
              <a:rPr lang="en-US" smtClean="0"/>
              <a:pPr/>
              <a:t>4</a:t>
            </a:fld>
            <a:endParaRPr lang="en-US" dirty="0"/>
          </a:p>
        </p:txBody>
      </p:sp>
    </p:spTree>
    <p:extLst>
      <p:ext uri="{BB962C8B-B14F-4D97-AF65-F5344CB8AC3E}">
        <p14:creationId xmlns:p14="http://schemas.microsoft.com/office/powerpoint/2010/main" val="2779801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model for the Baldrige consists of seven interrelated categories that comprise the organizational system for performance. The seven Baldrige categories are shown in Figure 3-5.  Notice that the basis of the Baldrige model is information and analysis, which confirms the core value of management by fact. Business results are also highlighted, reinforcing the results orientation of the Baldrige framework and criteria. Each of these seven major categories is divided into </a:t>
            </a:r>
            <a:r>
              <a:rPr lang="en-US" sz="1200" b="0" i="1" u="none" strike="noStrike" kern="1200" baseline="0" dirty="0">
                <a:solidFill>
                  <a:schemeClr val="tx1"/>
                </a:solidFill>
                <a:latin typeface="+mn-lt"/>
                <a:ea typeface="+mn-ea"/>
                <a:cs typeface="+mn-cs"/>
              </a:rPr>
              <a:t>items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areas to address. </a:t>
            </a:r>
            <a:r>
              <a:rPr lang="en-US" sz="1200" b="0" i="0" u="none" strike="noStrike" kern="1200" baseline="0" dirty="0">
                <a:solidFill>
                  <a:schemeClr val="tx1"/>
                </a:solidFill>
                <a:latin typeface="+mn-lt"/>
                <a:ea typeface="+mn-ea"/>
                <a:cs typeface="+mn-cs"/>
              </a:rPr>
              <a:t>The  items are denoted by a decimal number, such as 1.1, 2.2, and so on. The areas are given a letter, such as 1.1.a, 2.2.b, and so forth. The number of items and areas varies from year to year because the award criteria are constantly updated by the Baldrige staff, examiners, and judges.</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5</a:t>
            </a:fld>
            <a:endParaRPr lang="en-US" dirty="0"/>
          </a:p>
        </p:txBody>
      </p:sp>
    </p:spTree>
    <p:extLst>
      <p:ext uri="{BB962C8B-B14F-4D97-AF65-F5344CB8AC3E}">
        <p14:creationId xmlns:p14="http://schemas.microsoft.com/office/powerpoint/2010/main" val="640357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We briefly discuss the Baldrige criteria. A complete set of the Baldrige criteria can be downloaded for free from www.nist.gov.</a:t>
            </a:r>
          </a:p>
          <a:p>
            <a:endParaRPr lang="en-US" sz="1200" b="1" i="1"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Category 1 </a:t>
            </a:r>
            <a:r>
              <a:rPr lang="en-US" sz="1200" b="0" i="0" u="none" strike="noStrike" kern="1200" baseline="0" dirty="0">
                <a:solidFill>
                  <a:schemeClr val="tx1"/>
                </a:solidFill>
                <a:latin typeface="+mn-lt"/>
                <a:ea typeface="+mn-ea"/>
                <a:cs typeface="+mn-cs"/>
              </a:rPr>
              <a:t>This category is used to evaluate the extent to which top management is personally involved in creating and reinforcing goals,</a:t>
            </a:r>
          </a:p>
          <a:p>
            <a:r>
              <a:rPr lang="en-US" sz="1200" b="0" i="0" u="none" strike="noStrike" kern="1200" baseline="0" dirty="0">
                <a:solidFill>
                  <a:schemeClr val="tx1"/>
                </a:solidFill>
                <a:latin typeface="+mn-lt"/>
                <a:ea typeface="+mn-ea"/>
                <a:cs typeface="+mn-cs"/>
              </a:rPr>
              <a:t>values, directions, customer involvement, and a variety of other issues. </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Category 2 </a:t>
            </a:r>
            <a:r>
              <a:rPr lang="en-US" sz="1200" b="0" i="0" u="none" strike="noStrike" kern="1200" baseline="0" dirty="0">
                <a:solidFill>
                  <a:schemeClr val="tx1"/>
                </a:solidFill>
                <a:latin typeface="+mn-lt"/>
                <a:ea typeface="+mn-ea"/>
                <a:cs typeface="+mn-cs"/>
              </a:rPr>
              <a:t>focuses on how the company establishes strategic directions and how it sets its tactical action plans to implement the strategic plans. </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Category 3 </a:t>
            </a:r>
            <a:r>
              <a:rPr lang="en-US" sz="1200" b="0" i="0" u="none" strike="noStrike" kern="1200" baseline="0" dirty="0">
                <a:solidFill>
                  <a:schemeClr val="tx1"/>
                </a:solidFill>
                <a:latin typeface="+mn-lt"/>
                <a:ea typeface="+mn-ea"/>
                <a:cs typeface="+mn-cs"/>
              </a:rPr>
              <a:t>addresses customer focus. To be successful in serving the customer, firms must understand the product and service attributes that are important to the customer. </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Category 4</a:t>
            </a:r>
            <a:r>
              <a:rPr lang="en-US" sz="1200" b="0" i="0" u="none" strike="noStrike" kern="1200" baseline="0" dirty="0">
                <a:solidFill>
                  <a:schemeClr val="tx1"/>
                </a:solidFill>
                <a:latin typeface="+mn-lt"/>
                <a:ea typeface="+mn-ea"/>
                <a:cs typeface="+mn-cs"/>
              </a:rPr>
              <a:t> relates to the firm’s selection, management, and use of information to support company processes and to improve firm performance.</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Category 5 </a:t>
            </a:r>
            <a:r>
              <a:rPr lang="en-US" sz="1200" b="0" i="0" u="none" strike="noStrike" kern="1200" baseline="0" dirty="0">
                <a:solidFill>
                  <a:schemeClr val="tx1"/>
                </a:solidFill>
                <a:latin typeface="+mn-lt"/>
                <a:ea typeface="+mn-ea"/>
                <a:cs typeface="+mn-cs"/>
              </a:rPr>
              <a:t>deals with the workforce focus. The workforce is to be enabled to develop and use its full potential, aligned with company objectives. </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Category 6 </a:t>
            </a:r>
            <a:r>
              <a:rPr lang="en-US" sz="1200" b="0" i="0" u="none" strike="noStrike" kern="1200" baseline="0" dirty="0">
                <a:solidFill>
                  <a:schemeClr val="tx1"/>
                </a:solidFill>
                <a:latin typeface="+mn-lt"/>
                <a:ea typeface="+mn-ea"/>
                <a:cs typeface="+mn-cs"/>
              </a:rPr>
              <a:t>examines key aspects of operations focus. These aspects include customer focus in design, work systems, design for services and products, support processes, and processes relating to partners. </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Category 7 </a:t>
            </a:r>
            <a:r>
              <a:rPr lang="en-US" sz="1200" b="0" i="0" u="none" strike="noStrike" kern="1200" baseline="0" dirty="0">
                <a:solidFill>
                  <a:schemeClr val="tx1"/>
                </a:solidFill>
                <a:latin typeface="+mn-lt"/>
                <a:ea typeface="+mn-ea"/>
                <a:cs typeface="+mn-cs"/>
              </a:rPr>
              <a:t>documents the results of the other categories and requires a series of tables and graphs that demonstrate the operational and business results of the firm. </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6</a:t>
            </a:fld>
            <a:endParaRPr lang="en-US" dirty="0"/>
          </a:p>
        </p:txBody>
      </p:sp>
    </p:spTree>
    <p:extLst>
      <p:ext uri="{BB962C8B-B14F-4D97-AF65-F5344CB8AC3E}">
        <p14:creationId xmlns:p14="http://schemas.microsoft.com/office/powerpoint/2010/main" val="1455052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 Toyota Motor Company, the focus was on the continual reduction of waste. Shigeo Shingo, the industrial engineer who was fundamental in helping Toyota to reduce</a:t>
            </a:r>
          </a:p>
          <a:p>
            <a:r>
              <a:rPr lang="en-US" sz="1200" b="0" i="0" u="none" strike="noStrike" kern="1200" baseline="0" dirty="0">
                <a:solidFill>
                  <a:schemeClr val="tx1"/>
                </a:solidFill>
                <a:latin typeface="+mn-lt"/>
                <a:ea typeface="+mn-ea"/>
                <a:cs typeface="+mn-cs"/>
              </a:rPr>
              <a:t>waste, identified a group of seven wastes that workers could address in improvement processes.</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7</a:t>
            </a:fld>
            <a:endParaRPr lang="en-US" dirty="0"/>
          </a:p>
        </p:txBody>
      </p:sp>
    </p:spTree>
    <p:extLst>
      <p:ext uri="{BB962C8B-B14F-4D97-AF65-F5344CB8AC3E}">
        <p14:creationId xmlns:p14="http://schemas.microsoft.com/office/powerpoint/2010/main" val="4012493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Are other cultures developing quality methods that will be instructive for world competitors? The Russians have long used what is now called </a:t>
            </a:r>
            <a:r>
              <a:rPr lang="en-US" sz="1200" b="1" i="0" u="none" strike="noStrike" kern="1200" baseline="0" dirty="0">
                <a:solidFill>
                  <a:schemeClr val="tx1"/>
                </a:solidFill>
                <a:latin typeface="+mn-lt"/>
                <a:ea typeface="+mn-ea"/>
                <a:cs typeface="+mn-cs"/>
              </a:rPr>
              <a:t>group technology </a:t>
            </a:r>
            <a:r>
              <a:rPr lang="en-US" sz="1200" b="0" i="0" u="none" strike="noStrike" kern="1200" baseline="0" dirty="0">
                <a:solidFill>
                  <a:schemeClr val="tx1"/>
                </a:solidFill>
                <a:latin typeface="+mn-lt"/>
                <a:ea typeface="+mn-ea"/>
                <a:cs typeface="+mn-cs"/>
              </a:rPr>
              <a:t>to produce products and to improve production. Several Asian Tiger nations, such as Malaysia, South Korea, and Singapore, have begun to make inroads in the field of quality and will become formidable competitors in the future. Chinese quality management is a work in process. </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8</a:t>
            </a:fld>
            <a:endParaRPr lang="en-US" dirty="0"/>
          </a:p>
        </p:txBody>
      </p:sp>
    </p:spTree>
    <p:extLst>
      <p:ext uri="{BB962C8B-B14F-4D97-AF65-F5344CB8AC3E}">
        <p14:creationId xmlns:p14="http://schemas.microsoft.com/office/powerpoint/2010/main" val="1120331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By 1997, the ISO 9000 family of documents had become quite cumbersome, with 20 required elements and 12 standards. ISO 9000:2015 is a much simplified document with only six requirements and three standards. </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9</a:t>
            </a:fld>
            <a:endParaRPr lang="en-US" dirty="0"/>
          </a:p>
        </p:txBody>
      </p:sp>
    </p:spTree>
    <p:extLst>
      <p:ext uri="{BB962C8B-B14F-4D97-AF65-F5344CB8AC3E}">
        <p14:creationId xmlns:p14="http://schemas.microsoft.com/office/powerpoint/2010/main" val="721052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International Organization for Standardization (ISO) Technical Committee (TC) 176 has done an excellent job of responding to the critics of the original standard by focusing on these quality management principles. Note the similarities between these principles and the Baldrige categories.</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10</a:t>
            </a:fld>
            <a:endParaRPr lang="en-US" dirty="0"/>
          </a:p>
        </p:txBody>
      </p:sp>
    </p:spTree>
    <p:extLst>
      <p:ext uri="{BB962C8B-B14F-4D97-AF65-F5344CB8AC3E}">
        <p14:creationId xmlns:p14="http://schemas.microsoft.com/office/powerpoint/2010/main" val="1108961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Although many companies have now transitioned from ISO 9001 (2000) to ISO 9000:2015, we identify a process for the first-time registering firm. The registration process for ISO 9000:2015 (including the new ISO 9001:2015) typically takes several months from initial meeting to final registration audit. This time frame differs from client to client, but each process usually follows the steps outlined in Figure 3-8.</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11</a:t>
            </a:fld>
            <a:endParaRPr lang="en-US" dirty="0"/>
          </a:p>
        </p:txBody>
      </p:sp>
    </p:spTree>
    <p:extLst>
      <p:ext uri="{BB962C8B-B14F-4D97-AF65-F5344CB8AC3E}">
        <p14:creationId xmlns:p14="http://schemas.microsoft.com/office/powerpoint/2010/main" val="112111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Given the success of ISO 9000:2015, ISO developed an international standard for environmental compliance called ISO 14000.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Such a system may provide the basis for developing </a:t>
            </a:r>
            <a:r>
              <a:rPr lang="fr-FR" sz="1200" b="0" i="0" u="none" strike="noStrike" kern="1200" baseline="0" dirty="0">
                <a:solidFill>
                  <a:schemeClr val="tx1"/>
                </a:solidFill>
                <a:latin typeface="+mn-lt"/>
                <a:ea typeface="+mn-ea"/>
                <a:cs typeface="+mn-cs"/>
              </a:rPr>
              <a:t>a comprehensive environmental management system.</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13</a:t>
            </a:fld>
            <a:endParaRPr lang="en-US" dirty="0"/>
          </a:p>
        </p:txBody>
      </p:sp>
    </p:spTree>
    <p:extLst>
      <p:ext uri="{BB962C8B-B14F-4D97-AF65-F5344CB8AC3E}">
        <p14:creationId xmlns:p14="http://schemas.microsoft.com/office/powerpoint/2010/main" val="2792232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Table 3-6 presents the ISO 14000 elements. The process for documenting these elements and seeking registration mirrors the ISO 9000:2015 process. Again, a key process has to do with selecting the appropriate registrar.</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14</a:t>
            </a:fld>
            <a:endParaRPr lang="en-US" dirty="0"/>
          </a:p>
        </p:txBody>
      </p:sp>
    </p:spTree>
    <p:extLst>
      <p:ext uri="{BB962C8B-B14F-4D97-AF65-F5344CB8AC3E}">
        <p14:creationId xmlns:p14="http://schemas.microsoft.com/office/powerpoint/2010/main" val="29137240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80100" y="1122363"/>
            <a:ext cx="4787900" cy="2387600"/>
          </a:xfrm>
        </p:spPr>
        <p:txBody>
          <a:bodyPr anchor="ctr">
            <a:normAutofit/>
          </a:bodyPr>
          <a:lstStyle>
            <a:lvl1pPr algn="ctr">
              <a:defRPr sz="5400" b="1" baseline="0">
                <a:latin typeface="+mn-lt"/>
                <a:ea typeface="Verdana" panose="020B0604030504040204" pitchFamily="34" charset="0"/>
                <a:cs typeface="Verdana" panose="020B0604030504040204" pitchFamily="34" charset="0"/>
              </a:defRPr>
            </a:lvl1pPr>
          </a:lstStyle>
          <a:p>
            <a:endParaRPr lang="en-US" dirty="0"/>
          </a:p>
        </p:txBody>
      </p:sp>
      <p:sp>
        <p:nvSpPr>
          <p:cNvPr id="3" name="Subtitle 2"/>
          <p:cNvSpPr>
            <a:spLocks noGrp="1"/>
          </p:cNvSpPr>
          <p:nvPr>
            <p:ph type="subTitle" idx="1"/>
          </p:nvPr>
        </p:nvSpPr>
        <p:spPr>
          <a:xfrm>
            <a:off x="5994400" y="3602038"/>
            <a:ext cx="4673600" cy="1655762"/>
          </a:xfrm>
        </p:spPr>
        <p:txBody>
          <a:bodyPr>
            <a:normAutofit/>
          </a:bodyPr>
          <a:lstStyle>
            <a:lvl1pPr marL="0" indent="0" algn="ctr">
              <a:buNone/>
              <a:defRPr sz="3600" b="0" baseline="0">
                <a:latin typeface="+mn-lt"/>
                <a:ea typeface="Verdana" panose="020B0604030504040204" pitchFamily="34" charset="0"/>
                <a:cs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pic>
        <p:nvPicPr>
          <p:cNvPr id="8" name="Picture 7"/>
          <p:cNvPicPr>
            <a:picLocks noChangeAspect="1"/>
          </p:cNvPicPr>
          <p:nvPr userDrawn="1"/>
        </p:nvPicPr>
        <p:blipFill>
          <a:blip r:embed="rId2" cstate="print"/>
          <a:stretch>
            <a:fillRect/>
          </a:stretch>
        </p:blipFill>
        <p:spPr>
          <a:xfrm>
            <a:off x="1212431" y="1122363"/>
            <a:ext cx="3658437" cy="4533900"/>
          </a:xfrm>
          <a:prstGeom prst="rect">
            <a:avLst/>
          </a:prstGeom>
        </p:spPr>
      </p:pic>
    </p:spTree>
    <p:extLst>
      <p:ext uri="{BB962C8B-B14F-4D97-AF65-F5344CB8AC3E}">
        <p14:creationId xmlns:p14="http://schemas.microsoft.com/office/powerpoint/2010/main" val="3933043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mn-lt"/>
                <a:ea typeface="Verdana" panose="020B0604030504040204" pitchFamily="34" charset="0"/>
                <a:cs typeface="Verdana" panose="020B060403050404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3200">
                <a:latin typeface="+mn-lt"/>
                <a:ea typeface="Verdana" panose="020B0604030504040204" pitchFamily="34" charset="0"/>
                <a:cs typeface="Verdana" panose="020B0604030504040204" pitchFamily="34" charset="0"/>
              </a:defRPr>
            </a:lvl1pPr>
            <a:lvl2pPr>
              <a:defRPr sz="2800">
                <a:latin typeface="+mn-lt"/>
                <a:ea typeface="Verdana" panose="020B0604030504040204" pitchFamily="34" charset="0"/>
                <a:cs typeface="Verdana" panose="020B0604030504040204" pitchFamily="34" charset="0"/>
              </a:defRPr>
            </a:lvl2pPr>
            <a:lvl3pPr>
              <a:defRPr sz="2400">
                <a:latin typeface="+mn-lt"/>
                <a:ea typeface="Verdana" panose="020B0604030504040204" pitchFamily="34" charset="0"/>
                <a:cs typeface="Verdana" panose="020B0604030504040204" pitchFamily="34" charset="0"/>
              </a:defRPr>
            </a:lvl3pPr>
            <a:lvl4pPr>
              <a:defRPr>
                <a:latin typeface="+mn-lt"/>
                <a:ea typeface="Verdana" panose="020B0604030504040204" pitchFamily="34" charset="0"/>
                <a:cs typeface="Verdana" panose="020B0604030504040204" pitchFamily="34" charset="0"/>
              </a:defRPr>
            </a:lvl4pPr>
            <a:lvl5pPr>
              <a:defRPr>
                <a:latin typeface="+mn-lt"/>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Cambria" panose="02040503050406030204" pitchFamily="18" charset="0"/>
              </a:defRPr>
            </a:lvl1p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atin typeface="Calibri" panose="020F0502020204030204" pitchFamily="34" charset="0"/>
              </a:defRPr>
            </a:lvl1pPr>
          </a:lstStyle>
          <a:p>
            <a:r>
              <a:rPr lang="en-US" dirty="0"/>
              <a:t>Copyright © 2017 Pearson Education, Ltd.</a:t>
            </a:r>
          </a:p>
        </p:txBody>
      </p:sp>
      <p:sp>
        <p:nvSpPr>
          <p:cNvPr id="6" name="Slide Number Placeholder 5"/>
          <p:cNvSpPr>
            <a:spLocks noGrp="1"/>
          </p:cNvSpPr>
          <p:nvPr>
            <p:ph type="sldNum" sz="quarter" idx="12"/>
          </p:nvPr>
        </p:nvSpPr>
        <p:spPr>
          <a:xfrm>
            <a:off x="8610600" y="6200605"/>
            <a:ext cx="2743200" cy="365125"/>
          </a:xfrm>
          <a:prstGeom prst="rect">
            <a:avLst/>
          </a:prstGeom>
        </p:spPr>
        <p:txBody>
          <a:bodyPr/>
          <a:lstStyle>
            <a:lvl1pPr algn="r">
              <a:defRPr sz="1200">
                <a:latin typeface="Calibri" panose="020F0502020204030204" pitchFamily="34" charset="0"/>
              </a:defRPr>
            </a:lvl1pPr>
          </a:lstStyle>
          <a:p>
            <a:r>
              <a:rPr lang="en-US" dirty="0"/>
              <a:t>3-</a:t>
            </a:r>
            <a:fld id="{AAF7652D-00F5-4CC9-9A73-9C8E572E6AE1}" type="slidenum">
              <a:rPr lang="en-US" smtClean="0"/>
              <a:pPr/>
              <a:t>‹#›</a:t>
            </a:fld>
            <a:endParaRPr lang="en-US" dirty="0"/>
          </a:p>
        </p:txBody>
      </p:sp>
    </p:spTree>
    <p:extLst>
      <p:ext uri="{BB962C8B-B14F-4D97-AF65-F5344CB8AC3E}">
        <p14:creationId xmlns:p14="http://schemas.microsoft.com/office/powerpoint/2010/main" val="528029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6" name="Slide Number Placeholder 5"/>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3371949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7" name="Slide Number Placeholder 6"/>
          <p:cNvSpPr>
            <a:spLocks noGrp="1"/>
          </p:cNvSpPr>
          <p:nvPr>
            <p:ph type="sldNum" sz="quarter" idx="12"/>
          </p:nvPr>
        </p:nvSpPr>
        <p:spPr>
          <a:xfrm>
            <a:off x="8610600" y="6200605"/>
            <a:ext cx="2743200" cy="365125"/>
          </a:xfrm>
          <a:prstGeom prst="rect">
            <a:avLst/>
          </a:prstGeom>
        </p:spPr>
        <p:txBody>
          <a:bodyPr/>
          <a:lstStyle/>
          <a:p>
            <a:r>
              <a:rPr lang="en-US" dirty="0"/>
              <a:t>3-</a:t>
            </a:r>
            <a:fld id="{AAF7652D-00F5-4CC9-9A73-9C8E572E6AE1}" type="slidenum">
              <a:rPr lang="en-US" smtClean="0"/>
              <a:pPr/>
              <a:t>‹#›</a:t>
            </a:fld>
            <a:endParaRPr lang="en-US" dirty="0"/>
          </a:p>
        </p:txBody>
      </p:sp>
    </p:spTree>
    <p:extLst>
      <p:ext uri="{BB962C8B-B14F-4D97-AF65-F5344CB8AC3E}">
        <p14:creationId xmlns:p14="http://schemas.microsoft.com/office/powerpoint/2010/main" val="2679051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9" name="Slide Number Placeholder 8"/>
          <p:cNvSpPr>
            <a:spLocks noGrp="1"/>
          </p:cNvSpPr>
          <p:nvPr>
            <p:ph type="sldNum" sz="quarter" idx="12"/>
          </p:nvPr>
        </p:nvSpPr>
        <p:spPr>
          <a:xfrm>
            <a:off x="8610600" y="6200605"/>
            <a:ext cx="2743200" cy="365125"/>
          </a:xfrm>
          <a:prstGeom prst="rect">
            <a:avLst/>
          </a:prstGeom>
        </p:spPr>
        <p:txBody>
          <a:bodyPr/>
          <a:lstStyle/>
          <a:p>
            <a:r>
              <a:rPr lang="en-US" dirty="0"/>
              <a:t>3-</a:t>
            </a:r>
            <a:fld id="{AAF7652D-00F5-4CC9-9A73-9C8E572E6AE1}" type="slidenum">
              <a:rPr lang="en-US" smtClean="0"/>
              <a:pPr/>
              <a:t>‹#›</a:t>
            </a:fld>
            <a:endParaRPr lang="en-US" dirty="0"/>
          </a:p>
        </p:txBody>
      </p:sp>
    </p:spTree>
    <p:extLst>
      <p:ext uri="{BB962C8B-B14F-4D97-AF65-F5344CB8AC3E}">
        <p14:creationId xmlns:p14="http://schemas.microsoft.com/office/powerpoint/2010/main" val="337246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a:xfrm>
            <a:off x="3695700" y="6188784"/>
            <a:ext cx="4800600" cy="365125"/>
          </a:xfrm>
          <a:prstGeom prst="rect">
            <a:avLst/>
          </a:prstGeom>
        </p:spPr>
        <p:txBody>
          <a:bodyPr/>
          <a:lstStyle/>
          <a:p>
            <a:pPr algn="ctr"/>
            <a:r>
              <a:rPr lang="en-US" sz="1200" dirty="0"/>
              <a:t>Copyright © 2017 Pearson Education, Ltd.</a:t>
            </a:r>
          </a:p>
        </p:txBody>
      </p:sp>
      <p:sp>
        <p:nvSpPr>
          <p:cNvPr id="5" name="Slide Number Placeholder 4"/>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4257001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4" name="Slide Number Placeholder 3"/>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2614279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7" name="Slide Number Placeholder 6"/>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1257616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7" name="Slide Number Placeholder 6"/>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2366035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6" name="Slide Number Placeholder 5"/>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3051799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6" name="Slide Number Placeholder 5"/>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1244038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3000">
              <a:srgbClr val="FFFFCC"/>
            </a:gs>
            <a:gs pos="94000">
              <a:srgbClr val="FFFF00"/>
            </a:gs>
            <a:gs pos="95000">
              <a:schemeClr val="accent6">
                <a:lumMod val="75000"/>
              </a:schemeClr>
            </a:gs>
            <a:gs pos="100000">
              <a:schemeClr val="accent6">
                <a:lumMod val="75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25425"/>
            <a:ext cx="10515600" cy="1325563"/>
          </a:xfrm>
          <a:prstGeom prst="rect">
            <a:avLst/>
          </a:prstGeom>
          <a:no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570038"/>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18878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8" name="Date Placeholder 3"/>
          <p:cNvSpPr txBox="1">
            <a:spLocks/>
          </p:cNvSpPr>
          <p:nvPr userDrawn="1"/>
        </p:nvSpPr>
        <p:spPr>
          <a:xfrm>
            <a:off x="8610600" y="6198309"/>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 name="Date Placeholder 3"/>
          <p:cNvSpPr txBox="1">
            <a:spLocks/>
          </p:cNvSpPr>
          <p:nvPr userDrawn="1"/>
        </p:nvSpPr>
        <p:spPr>
          <a:xfrm>
            <a:off x="8610600" y="621965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 name="Slide Number Placeholder 10"/>
          <p:cNvSpPr>
            <a:spLocks noGrp="1"/>
          </p:cNvSpPr>
          <p:nvPr>
            <p:ph type="sldNum" sz="quarter" idx="4"/>
          </p:nvPr>
        </p:nvSpPr>
        <p:spPr>
          <a:xfrm>
            <a:off x="8610600" y="621735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3-</a:t>
            </a:r>
            <a:fld id="{1A843D4F-3A69-4129-96BE-2065DA1F8A38}" type="slidenum">
              <a:rPr lang="en-US" smtClean="0"/>
              <a:pPr/>
              <a:t>‹#›</a:t>
            </a:fld>
            <a:endParaRPr lang="en-US" dirty="0"/>
          </a:p>
        </p:txBody>
      </p:sp>
      <p:sp>
        <p:nvSpPr>
          <p:cNvPr id="10" name="Footer Placeholder 3"/>
          <p:cNvSpPr>
            <a:spLocks noGrp="1"/>
          </p:cNvSpPr>
          <p:nvPr>
            <p:ph type="ftr" sz="quarter" idx="3"/>
          </p:nvPr>
        </p:nvSpPr>
        <p:spPr>
          <a:xfrm>
            <a:off x="3695700" y="6188784"/>
            <a:ext cx="4800600" cy="365125"/>
          </a:xfrm>
          <a:prstGeom prst="rect">
            <a:avLst/>
          </a:prstGeom>
        </p:spPr>
        <p:txBody>
          <a:bodyPr/>
          <a:lstStyle>
            <a:lvl1pPr>
              <a:defRPr>
                <a:latin typeface="+mn-lt"/>
              </a:defRPr>
            </a:lvl1pPr>
          </a:lstStyle>
          <a:p>
            <a:r>
              <a:rPr lang="en-US" dirty="0"/>
              <a:t>Copyright © 2017 Pearson Education, Ltd.</a:t>
            </a:r>
          </a:p>
        </p:txBody>
      </p:sp>
    </p:spTree>
    <p:extLst>
      <p:ext uri="{BB962C8B-B14F-4D97-AF65-F5344CB8AC3E}">
        <p14:creationId xmlns:p14="http://schemas.microsoft.com/office/powerpoint/2010/main" val="1334540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b="1" kern="1200">
          <a:solidFill>
            <a:schemeClr val="tx1"/>
          </a:solidFill>
          <a:latin typeface="+mn-lt"/>
          <a:ea typeface="Verdana" panose="020B0604030504040204" pitchFamily="34" charset="0"/>
          <a:cs typeface="Verdan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Verdana" panose="020B0604030504040204" pitchFamily="34" charset="0"/>
          <a:cs typeface="Verdan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Verdana" panose="020B0604030504040204" pitchFamily="34" charset="0"/>
          <a:cs typeface="Verdan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Verdan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3</a:t>
            </a:r>
          </a:p>
        </p:txBody>
      </p:sp>
      <p:sp>
        <p:nvSpPr>
          <p:cNvPr id="3" name="Subtitle 2"/>
          <p:cNvSpPr>
            <a:spLocks noGrp="1"/>
          </p:cNvSpPr>
          <p:nvPr>
            <p:ph type="subTitle" idx="1"/>
          </p:nvPr>
        </p:nvSpPr>
        <p:spPr>
          <a:xfrm>
            <a:off x="5994400" y="3602038"/>
            <a:ext cx="4673600" cy="2387600"/>
          </a:xfrm>
        </p:spPr>
        <p:txBody>
          <a:bodyPr>
            <a:noAutofit/>
          </a:bodyPr>
          <a:lstStyle/>
          <a:p>
            <a:r>
              <a:rPr lang="en-US" sz="4000" b="1" dirty="0"/>
              <a:t>Global Supply Chain Quality and International Quality Standards</a:t>
            </a:r>
          </a:p>
        </p:txBody>
      </p:sp>
    </p:spTree>
    <p:extLst>
      <p:ext uri="{BB962C8B-B14F-4D97-AF65-F5344CB8AC3E}">
        <p14:creationId xmlns:p14="http://schemas.microsoft.com/office/powerpoint/2010/main" val="1870925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Objectives</a:t>
            </a:r>
          </a:p>
        </p:txBody>
      </p:sp>
      <p:sp>
        <p:nvSpPr>
          <p:cNvPr id="3" name="Content Placeholder 2"/>
          <p:cNvSpPr>
            <a:spLocks noGrp="1"/>
          </p:cNvSpPr>
          <p:nvPr>
            <p:ph idx="1"/>
          </p:nvPr>
        </p:nvSpPr>
        <p:spPr/>
        <p:txBody>
          <a:bodyPr>
            <a:normAutofit fontScale="92500" lnSpcReduction="10000"/>
          </a:bodyPr>
          <a:lstStyle/>
          <a:p>
            <a:pPr marL="0" indent="0">
              <a:buNone/>
            </a:pPr>
            <a:r>
              <a:rPr lang="en-US" sz="2800" dirty="0"/>
              <a:t>1. 	</a:t>
            </a:r>
            <a:r>
              <a:rPr lang="en-US" sz="2800" b="0" dirty="0"/>
              <a:t>Understand the importance of quality in global economics.</a:t>
            </a:r>
          </a:p>
          <a:p>
            <a:pPr marL="0" indent="0">
              <a:buNone/>
            </a:pPr>
            <a:r>
              <a:rPr lang="en-US" sz="2800" dirty="0"/>
              <a:t>2. 	</a:t>
            </a:r>
            <a:r>
              <a:rPr lang="en-US" sz="2800" b="0" dirty="0"/>
              <a:t>Explain the role of culture in quality approaches.</a:t>
            </a:r>
          </a:p>
          <a:p>
            <a:pPr marL="0" indent="0">
              <a:buNone/>
            </a:pPr>
            <a:r>
              <a:rPr lang="en-US" sz="2800" dirty="0"/>
              <a:t>3. 	</a:t>
            </a:r>
            <a:r>
              <a:rPr lang="en-US" sz="2800" b="0" dirty="0"/>
              <a:t>Explain the Baldrige award process.</a:t>
            </a:r>
          </a:p>
          <a:p>
            <a:pPr marL="0" indent="0">
              <a:buNone/>
            </a:pPr>
            <a:r>
              <a:rPr lang="en-US" sz="2800" dirty="0"/>
              <a:t>4. 	</a:t>
            </a:r>
            <a:r>
              <a:rPr lang="en-US" sz="2800" b="0" dirty="0"/>
              <a:t>Discuss ISO 9000:2015 and how it is used in firms.</a:t>
            </a:r>
          </a:p>
          <a:p>
            <a:pPr marL="0" indent="0">
              <a:buNone/>
            </a:pPr>
            <a:r>
              <a:rPr lang="en-US" sz="2800" dirty="0"/>
              <a:t>5. 	</a:t>
            </a:r>
            <a:r>
              <a:rPr lang="en-US" sz="2800" b="0" dirty="0"/>
              <a:t>ISO 9001</a:t>
            </a:r>
          </a:p>
          <a:p>
            <a:pPr marL="0" indent="0">
              <a:buNone/>
            </a:pPr>
            <a:r>
              <a:rPr lang="en-US" sz="2800" dirty="0"/>
              <a:t>6. 	</a:t>
            </a:r>
            <a:r>
              <a:rPr lang="en-US" sz="2800" b="0" dirty="0"/>
              <a:t>ISO 14000</a:t>
            </a:r>
            <a:br>
              <a:rPr lang="en-US" sz="2800" dirty="0"/>
            </a:br>
            <a:r>
              <a:rPr lang="en-US" sz="2800" dirty="0"/>
              <a:t>7. 	</a:t>
            </a:r>
            <a:r>
              <a:rPr lang="en-US" sz="2800" b="0" dirty="0"/>
              <a:t>ISO 28000</a:t>
            </a:r>
          </a:p>
          <a:p>
            <a:pPr marL="0" indent="0">
              <a:buNone/>
            </a:pPr>
            <a:r>
              <a:rPr lang="en-US" sz="2800" dirty="0"/>
              <a:t>8. 	</a:t>
            </a:r>
            <a:r>
              <a:rPr lang="en-US" sz="2800" b="0" dirty="0"/>
              <a:t>ISO 31000</a:t>
            </a:r>
          </a:p>
          <a:p>
            <a:pPr marL="0" indent="0">
              <a:buNone/>
            </a:pPr>
            <a:r>
              <a:rPr lang="en-US" sz="2800" dirty="0"/>
              <a:t>9. 	</a:t>
            </a:r>
            <a:r>
              <a:rPr lang="en-US" sz="2800" b="0" dirty="0"/>
              <a:t>Case Studies</a:t>
            </a:r>
          </a:p>
          <a:p>
            <a:pPr marL="0" indent="0">
              <a:buNone/>
            </a:pPr>
            <a:r>
              <a:rPr lang="en-US" sz="2800" dirty="0"/>
              <a:t>10. 	</a:t>
            </a:r>
            <a:r>
              <a:rPr lang="en-US" sz="2800" b="0" dirty="0"/>
              <a:t>New Trends </a:t>
            </a:r>
          </a:p>
        </p:txBody>
      </p:sp>
      <p:sp>
        <p:nvSpPr>
          <p:cNvPr id="4" name="Footer Placeholder 3"/>
          <p:cNvSpPr>
            <a:spLocks noGrp="1"/>
          </p:cNvSpPr>
          <p:nvPr>
            <p:ph type="ftr" sz="quarter" idx="11"/>
          </p:nvPr>
        </p:nvSpPr>
        <p:spPr/>
        <p:txBody>
          <a:bodyPr/>
          <a:lstStyle/>
          <a:p>
            <a:r>
              <a:rPr lang="en-US" dirty="0">
                <a:latin typeface="Calibri" panose="020F0502020204030204" pitchFamily="34" charset="0"/>
              </a:rPr>
              <a:t>Copyright © 2017 Pearson Education, Ltd.</a:t>
            </a:r>
          </a:p>
        </p:txBody>
      </p:sp>
      <p:sp>
        <p:nvSpPr>
          <p:cNvPr id="6" name="Slide Number Placeholder 5"/>
          <p:cNvSpPr>
            <a:spLocks noGrp="1"/>
          </p:cNvSpPr>
          <p:nvPr>
            <p:ph type="sldNum" sz="quarter" idx="12"/>
          </p:nvPr>
        </p:nvSpPr>
        <p:spPr/>
        <p:txBody>
          <a:bodyPr/>
          <a:lstStyle/>
          <a:p>
            <a:r>
              <a:rPr lang="en-US"/>
              <a:t>3-</a:t>
            </a:r>
            <a:fld id="{AAF7652D-00F5-4CC9-9A73-9C8E572E6AE1}" type="slidenum">
              <a:rPr lang="en-US" smtClean="0"/>
              <a:pPr/>
              <a:t>2</a:t>
            </a:fld>
            <a:endParaRPr lang="en-US" dirty="0"/>
          </a:p>
        </p:txBody>
      </p:sp>
    </p:spTree>
    <p:extLst>
      <p:ext uri="{BB962C8B-B14F-4D97-AF65-F5344CB8AC3E}">
        <p14:creationId xmlns:p14="http://schemas.microsoft.com/office/powerpoint/2010/main" val="3723881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D0FB4-7DAB-47DA-A80E-C321190550A6}"/>
              </a:ext>
            </a:extLst>
          </p:cNvPr>
          <p:cNvSpPr>
            <a:spLocks noGrp="1"/>
          </p:cNvSpPr>
          <p:nvPr>
            <p:ph type="title"/>
          </p:nvPr>
        </p:nvSpPr>
        <p:spPr>
          <a:xfrm>
            <a:off x="838199" y="744279"/>
            <a:ext cx="10772553" cy="806709"/>
          </a:xfrm>
        </p:spPr>
        <p:txBody>
          <a:bodyPr>
            <a:normAutofit fontScale="90000"/>
          </a:bodyPr>
          <a:lstStyle/>
          <a:p>
            <a:r>
              <a:rPr lang="en-US" sz="4400" b="1" dirty="0">
                <a:latin typeface="Arial" pitchFamily="34" charset="0"/>
                <a:ea typeface="Arial" pitchFamily="34" charset="-122"/>
                <a:cs typeface="Arial" pitchFamily="34" charset="-120"/>
              </a:rPr>
              <a:t>Quality: The Foundation of Competitive Advantage</a:t>
            </a:r>
            <a:br>
              <a:rPr lang="en-US" sz="4400" dirty="0"/>
            </a:br>
            <a:endParaRPr lang="LID4096" dirty="0"/>
          </a:p>
        </p:txBody>
      </p:sp>
      <p:sp>
        <p:nvSpPr>
          <p:cNvPr id="3" name="Content Placeholder 2">
            <a:extLst>
              <a:ext uri="{FF2B5EF4-FFF2-40B4-BE49-F238E27FC236}">
                <a16:creationId xmlns:a16="http://schemas.microsoft.com/office/drawing/2014/main" id="{43951FCC-C2CD-4968-9767-C72B0AFF683D}"/>
              </a:ext>
            </a:extLst>
          </p:cNvPr>
          <p:cNvSpPr>
            <a:spLocks noGrp="1"/>
          </p:cNvSpPr>
          <p:nvPr>
            <p:ph idx="1"/>
          </p:nvPr>
        </p:nvSpPr>
        <p:spPr>
          <a:xfrm>
            <a:off x="637953" y="1807535"/>
            <a:ext cx="11079125" cy="4746374"/>
          </a:xfrm>
        </p:spPr>
        <p:txBody>
          <a:bodyPr>
            <a:normAutofit fontScale="77500" lnSpcReduction="20000"/>
          </a:bodyPr>
          <a:lstStyle/>
          <a:p>
            <a:pPr marL="457189" indent="-457189" algn="just">
              <a:lnSpc>
                <a:spcPts val="3240"/>
              </a:lnSpc>
              <a:buSzPct val="100000"/>
              <a:buChar char="•"/>
            </a:pPr>
            <a:r>
              <a:rPr lang="en-US" dirty="0"/>
              <a:t>Cost Reduction: </a:t>
            </a:r>
            <a:r>
              <a:rPr lang="en-US" b="0" dirty="0"/>
              <a:t>Quality systems reduce defects, rework, and waste by 15-25%.</a:t>
            </a:r>
          </a:p>
          <a:p>
            <a:pPr marL="457189" indent="-457189" algn="just">
              <a:lnSpc>
                <a:spcPts val="3240"/>
              </a:lnSpc>
              <a:buSzPct val="100000"/>
              <a:buChar char="•"/>
            </a:pPr>
            <a:r>
              <a:rPr lang="en-US" dirty="0"/>
              <a:t>Customer Satisfaction: </a:t>
            </a:r>
            <a:r>
              <a:rPr lang="en-US" b="0" dirty="0"/>
              <a:t>82% of consumers prefer companies with real-time transparency [1].</a:t>
            </a:r>
          </a:p>
          <a:p>
            <a:pPr marL="457189" indent="-457189" algn="just">
              <a:lnSpc>
                <a:spcPts val="3240"/>
              </a:lnSpc>
              <a:buSzPct val="100000"/>
              <a:buChar char="•"/>
            </a:pPr>
            <a:r>
              <a:rPr lang="en-US" dirty="0"/>
              <a:t>Market Access: </a:t>
            </a:r>
            <a:r>
              <a:rPr lang="en-US" b="0" dirty="0"/>
              <a:t>ISO certification enables internationalization and global expansion [2].</a:t>
            </a:r>
          </a:p>
          <a:p>
            <a:pPr marL="457189" indent="-457189" algn="just">
              <a:lnSpc>
                <a:spcPts val="3240"/>
              </a:lnSpc>
              <a:buSzPct val="100000"/>
              <a:buChar char="•"/>
            </a:pPr>
            <a:r>
              <a:rPr lang="en-US" dirty="0"/>
              <a:t>Risk Management: </a:t>
            </a:r>
            <a:r>
              <a:rPr lang="en-US" b="0" dirty="0"/>
              <a:t>Proactive quality systems prevent disruptions and crises.</a:t>
            </a:r>
          </a:p>
          <a:p>
            <a:pPr marL="0" indent="0">
              <a:lnSpc>
                <a:spcPts val="3240"/>
              </a:lnSpc>
              <a:buSzPct val="100000"/>
              <a:buNone/>
            </a:pPr>
            <a:endParaRPr lang="en-US" b="0" dirty="0"/>
          </a:p>
          <a:p>
            <a:pPr marL="0" indent="0">
              <a:lnSpc>
                <a:spcPct val="120000"/>
              </a:lnSpc>
              <a:buSzPct val="100000"/>
              <a:buNone/>
            </a:pPr>
            <a:r>
              <a:rPr lang="en-US" sz="2600" b="0" i="1" dirty="0">
                <a:latin typeface="Arial" pitchFamily="34" charset="0"/>
                <a:ea typeface="Arial" pitchFamily="34" charset="-122"/>
                <a:cs typeface="Arial" pitchFamily="34" charset="-120"/>
              </a:rPr>
              <a:t>[1]. Sensos.io Future of Supply Chains Report (2024).</a:t>
            </a:r>
          </a:p>
          <a:p>
            <a:pPr marL="0" indent="0">
              <a:lnSpc>
                <a:spcPct val="120000"/>
              </a:lnSpc>
              <a:buSzPct val="100000"/>
              <a:buNone/>
            </a:pPr>
            <a:r>
              <a:rPr lang="en-US" sz="2600" b="0" i="1" dirty="0">
                <a:latin typeface="Arial" pitchFamily="34" charset="0"/>
                <a:ea typeface="Arial" pitchFamily="34" charset="-122"/>
                <a:cs typeface="Arial" pitchFamily="34" charset="-120"/>
              </a:rPr>
              <a:t>[2]. ISO 9001 Council (2024).</a:t>
            </a:r>
            <a:endParaRPr lang="en-US" b="0" i="1" dirty="0"/>
          </a:p>
        </p:txBody>
      </p:sp>
      <p:sp>
        <p:nvSpPr>
          <p:cNvPr id="4" name="Footer Placeholder 3">
            <a:extLst>
              <a:ext uri="{FF2B5EF4-FFF2-40B4-BE49-F238E27FC236}">
                <a16:creationId xmlns:a16="http://schemas.microsoft.com/office/drawing/2014/main" id="{ABD2930B-14C3-4A26-B773-66EC0FC8D57E}"/>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9D4B3E88-7FEE-4AF4-961B-4699F0333765}"/>
              </a:ext>
            </a:extLst>
          </p:cNvPr>
          <p:cNvSpPr>
            <a:spLocks noGrp="1"/>
          </p:cNvSpPr>
          <p:nvPr>
            <p:ph type="sldNum" sz="quarter" idx="12"/>
          </p:nvPr>
        </p:nvSpPr>
        <p:spPr/>
        <p:txBody>
          <a:bodyPr/>
          <a:lstStyle/>
          <a:p>
            <a:r>
              <a:rPr lang="en-US"/>
              <a:t>3-</a:t>
            </a:r>
            <a:fld id="{AAF7652D-00F5-4CC9-9A73-9C8E572E6AE1}" type="slidenum">
              <a:rPr lang="en-US" smtClean="0"/>
              <a:pPr/>
              <a:t>3</a:t>
            </a:fld>
            <a:endParaRPr lang="en-US" dirty="0"/>
          </a:p>
        </p:txBody>
      </p:sp>
    </p:spTree>
    <p:extLst>
      <p:ext uri="{BB962C8B-B14F-4D97-AF65-F5344CB8AC3E}">
        <p14:creationId xmlns:p14="http://schemas.microsoft.com/office/powerpoint/2010/main" val="1490805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844" y="281447"/>
            <a:ext cx="10891522" cy="1325563"/>
          </a:xfrm>
        </p:spPr>
        <p:txBody>
          <a:bodyPr/>
          <a:lstStyle/>
          <a:p>
            <a:r>
              <a:rPr lang="en-US" dirty="0"/>
              <a:t>The Baldrige Performance Excellence Program</a:t>
            </a:r>
          </a:p>
        </p:txBody>
      </p:sp>
      <p:sp>
        <p:nvSpPr>
          <p:cNvPr id="3" name="Content Placeholder 2"/>
          <p:cNvSpPr>
            <a:spLocks noGrp="1"/>
          </p:cNvSpPr>
          <p:nvPr>
            <p:ph idx="1"/>
          </p:nvPr>
        </p:nvSpPr>
        <p:spPr/>
        <p:txBody>
          <a:bodyPr/>
          <a:lstStyle/>
          <a:p>
            <a:r>
              <a:rPr lang="en-US" b="0" dirty="0"/>
              <a:t>One of the most powerful self assessment mechanisms</a:t>
            </a:r>
          </a:p>
          <a:p>
            <a:pPr marL="0" indent="0">
              <a:buNone/>
            </a:pPr>
            <a:endParaRPr lang="en-US" b="0" dirty="0"/>
          </a:p>
          <a:p>
            <a:r>
              <a:rPr lang="en-US" b="0" dirty="0"/>
              <a:t>Award is open to small (fewer than 500 employees) and large firms (more than 500 employees) in the manufacturing, healthcare, education not-for-profit, and service sectors</a:t>
            </a:r>
          </a:p>
          <a:p>
            <a:endParaRPr lang="en-US" dirty="0"/>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6" name="Slide Number Placeholder 5"/>
          <p:cNvSpPr>
            <a:spLocks noGrp="1"/>
          </p:cNvSpPr>
          <p:nvPr>
            <p:ph type="sldNum" sz="quarter" idx="12"/>
          </p:nvPr>
        </p:nvSpPr>
        <p:spPr/>
        <p:txBody>
          <a:bodyPr/>
          <a:lstStyle/>
          <a:p>
            <a:r>
              <a:rPr lang="en-US"/>
              <a:t>3-</a:t>
            </a:r>
            <a:fld id="{AAF7652D-00F5-4CC9-9A73-9C8E572E6AE1}" type="slidenum">
              <a:rPr lang="en-US" smtClean="0"/>
              <a:pPr/>
              <a:t>4</a:t>
            </a:fld>
            <a:endParaRPr lang="en-US" dirty="0"/>
          </a:p>
        </p:txBody>
      </p:sp>
    </p:spTree>
    <p:extLst>
      <p:ext uri="{BB962C8B-B14F-4D97-AF65-F5344CB8AC3E}">
        <p14:creationId xmlns:p14="http://schemas.microsoft.com/office/powerpoint/2010/main" val="1838018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Baldrige Award Framework</a:t>
            </a:r>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7" name="TextBox 6"/>
          <p:cNvSpPr txBox="1"/>
          <p:nvPr/>
        </p:nvSpPr>
        <p:spPr>
          <a:xfrm>
            <a:off x="9673107" y="6034895"/>
            <a:ext cx="1210614" cy="307777"/>
          </a:xfrm>
          <a:prstGeom prst="rect">
            <a:avLst/>
          </a:prstGeom>
          <a:noFill/>
        </p:spPr>
        <p:txBody>
          <a:bodyPr wrap="square" rtlCol="0">
            <a:spAutoFit/>
          </a:bodyPr>
          <a:lstStyle/>
          <a:p>
            <a:r>
              <a:rPr lang="en-US" sz="1400" b="1" dirty="0"/>
              <a:t>Figure 3-5</a:t>
            </a:r>
          </a:p>
        </p:txBody>
      </p:sp>
      <p:sp>
        <p:nvSpPr>
          <p:cNvPr id="8" name="TextBox 7"/>
          <p:cNvSpPr txBox="1"/>
          <p:nvPr/>
        </p:nvSpPr>
        <p:spPr>
          <a:xfrm>
            <a:off x="3265600" y="5797968"/>
            <a:ext cx="6162808" cy="276999"/>
          </a:xfrm>
          <a:prstGeom prst="rect">
            <a:avLst/>
          </a:prstGeom>
          <a:noFill/>
        </p:spPr>
        <p:txBody>
          <a:bodyPr wrap="square" rtlCol="0">
            <a:spAutoFit/>
          </a:bodyPr>
          <a:lstStyle/>
          <a:p>
            <a:r>
              <a:rPr lang="en-US" sz="1200" dirty="0"/>
              <a:t>Foundation for the Malcolm Baldrige Award, 2015. Criteria for Performance Excellence, 2015.</a:t>
            </a:r>
          </a:p>
        </p:txBody>
      </p:sp>
      <p:sp>
        <p:nvSpPr>
          <p:cNvPr id="3" name="Slide Number Placeholder 2"/>
          <p:cNvSpPr>
            <a:spLocks noGrp="1"/>
          </p:cNvSpPr>
          <p:nvPr>
            <p:ph type="sldNum" sz="quarter" idx="12"/>
          </p:nvPr>
        </p:nvSpPr>
        <p:spPr/>
        <p:txBody>
          <a:bodyPr/>
          <a:lstStyle/>
          <a:p>
            <a:r>
              <a:rPr lang="en-US"/>
              <a:t>3-</a:t>
            </a:r>
            <a:fld id="{AAF7652D-00F5-4CC9-9A73-9C8E572E6AE1}" type="slidenum">
              <a:rPr lang="en-US" smtClean="0"/>
              <a:pPr/>
              <a:t>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51694" y="1525834"/>
            <a:ext cx="5790620" cy="4013585"/>
          </a:xfrm>
          <a:prstGeom prst="rect">
            <a:avLst/>
          </a:prstGeom>
        </p:spPr>
      </p:pic>
    </p:spTree>
    <p:extLst>
      <p:ext uri="{BB962C8B-B14F-4D97-AF65-F5344CB8AC3E}">
        <p14:creationId xmlns:p14="http://schemas.microsoft.com/office/powerpoint/2010/main" val="191378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Baldrige Award Criteria</a:t>
            </a:r>
          </a:p>
        </p:txBody>
      </p:sp>
      <p:sp>
        <p:nvSpPr>
          <p:cNvPr id="3" name="Content Placeholder 2"/>
          <p:cNvSpPr>
            <a:spLocks noGrp="1"/>
          </p:cNvSpPr>
          <p:nvPr>
            <p:ph idx="1"/>
          </p:nvPr>
        </p:nvSpPr>
        <p:spPr/>
        <p:txBody>
          <a:bodyPr>
            <a:normAutofit fontScale="92500" lnSpcReduction="10000"/>
          </a:bodyPr>
          <a:lstStyle/>
          <a:p>
            <a:pPr>
              <a:spcAft>
                <a:spcPts val="1200"/>
              </a:spcAft>
            </a:pPr>
            <a:r>
              <a:rPr lang="en-US" sz="2800" dirty="0"/>
              <a:t>Category 1  </a:t>
            </a:r>
            <a:r>
              <a:rPr lang="en-US" sz="2800" b="0" dirty="0"/>
              <a:t>	Leadership</a:t>
            </a:r>
          </a:p>
          <a:p>
            <a:pPr>
              <a:spcAft>
                <a:spcPts val="1200"/>
              </a:spcAft>
            </a:pPr>
            <a:r>
              <a:rPr lang="en-US" sz="2800" dirty="0"/>
              <a:t>Category 2  	</a:t>
            </a:r>
            <a:r>
              <a:rPr lang="en-US" sz="2800" b="0" dirty="0"/>
              <a:t>Strategic Direction and Tactical Action Plans</a:t>
            </a:r>
          </a:p>
          <a:p>
            <a:pPr>
              <a:spcAft>
                <a:spcPts val="1200"/>
              </a:spcAft>
            </a:pPr>
            <a:r>
              <a:rPr lang="en-US" sz="2800" dirty="0"/>
              <a:t>Category 3  </a:t>
            </a:r>
            <a:r>
              <a:rPr lang="en-US" sz="2800" b="0" dirty="0"/>
              <a:t>	Customer Focus</a:t>
            </a:r>
          </a:p>
          <a:p>
            <a:pPr>
              <a:spcAft>
                <a:spcPts val="1200"/>
              </a:spcAft>
            </a:pPr>
            <a:r>
              <a:rPr lang="en-US" sz="2800" dirty="0"/>
              <a:t>Category 4 	</a:t>
            </a:r>
            <a:r>
              <a:rPr lang="en-US" sz="2800" b="0" dirty="0"/>
              <a:t>	Measurement, Analysis, and Knowledge Management</a:t>
            </a:r>
          </a:p>
          <a:p>
            <a:pPr>
              <a:spcAft>
                <a:spcPts val="1200"/>
              </a:spcAft>
            </a:pPr>
            <a:r>
              <a:rPr lang="en-US" sz="2800" dirty="0"/>
              <a:t>Category 5 	</a:t>
            </a:r>
            <a:r>
              <a:rPr lang="en-US" sz="2800" b="0" dirty="0"/>
              <a:t>	Workforce</a:t>
            </a:r>
          </a:p>
          <a:p>
            <a:pPr>
              <a:spcAft>
                <a:spcPts val="1200"/>
              </a:spcAft>
            </a:pPr>
            <a:r>
              <a:rPr lang="en-US" sz="2800" dirty="0"/>
              <a:t>Category 6 	</a:t>
            </a:r>
            <a:r>
              <a:rPr lang="en-US" sz="2800" b="0" dirty="0"/>
              <a:t>	Operations</a:t>
            </a:r>
          </a:p>
          <a:p>
            <a:pPr>
              <a:spcAft>
                <a:spcPts val="1200"/>
              </a:spcAft>
            </a:pPr>
            <a:r>
              <a:rPr lang="en-US" sz="2800" dirty="0"/>
              <a:t>Category 7 </a:t>
            </a:r>
            <a:r>
              <a:rPr lang="en-US" sz="2800" b="0" dirty="0"/>
              <a:t>		Operational and Business Results</a:t>
            </a:r>
          </a:p>
          <a:p>
            <a:pPr>
              <a:spcAft>
                <a:spcPts val="1200"/>
              </a:spcAft>
            </a:pPr>
            <a:endParaRPr lang="en-US" sz="2800" dirty="0"/>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6" name="Slide Number Placeholder 5"/>
          <p:cNvSpPr>
            <a:spLocks noGrp="1"/>
          </p:cNvSpPr>
          <p:nvPr>
            <p:ph type="sldNum" sz="quarter" idx="12"/>
          </p:nvPr>
        </p:nvSpPr>
        <p:spPr/>
        <p:txBody>
          <a:bodyPr/>
          <a:lstStyle/>
          <a:p>
            <a:r>
              <a:rPr lang="en-US"/>
              <a:t>3-</a:t>
            </a:r>
            <a:fld id="{AAF7652D-00F5-4CC9-9A73-9C8E572E6AE1}" type="slidenum">
              <a:rPr lang="en-US" smtClean="0"/>
              <a:pPr/>
              <a:t>6</a:t>
            </a:fld>
            <a:endParaRPr lang="en-US" dirty="0"/>
          </a:p>
        </p:txBody>
      </p:sp>
    </p:spTree>
    <p:extLst>
      <p:ext uri="{BB962C8B-B14F-4D97-AF65-F5344CB8AC3E}">
        <p14:creationId xmlns:p14="http://schemas.microsoft.com/office/powerpoint/2010/main" val="1475286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Lean Wastes</a:t>
            </a:r>
          </a:p>
        </p:txBody>
      </p:sp>
      <p:sp>
        <p:nvSpPr>
          <p:cNvPr id="3" name="Content Placeholder 2"/>
          <p:cNvSpPr>
            <a:spLocks noGrp="1"/>
          </p:cNvSpPr>
          <p:nvPr>
            <p:ph idx="1"/>
          </p:nvPr>
        </p:nvSpPr>
        <p:spPr/>
        <p:txBody>
          <a:bodyPr>
            <a:normAutofit/>
          </a:bodyPr>
          <a:lstStyle/>
          <a:p>
            <a:pPr marL="0" indent="0">
              <a:buNone/>
            </a:pPr>
            <a:r>
              <a:rPr lang="en-US" dirty="0"/>
              <a:t>Shingo’s seven wastes:</a:t>
            </a:r>
          </a:p>
          <a:p>
            <a:pPr marL="971550" lvl="1" indent="-514350">
              <a:buFont typeface="+mj-lt"/>
              <a:buAutoNum type="arabicPeriod"/>
            </a:pPr>
            <a:r>
              <a:rPr lang="en-US" altLang="en-US" dirty="0"/>
              <a:t>Waste of overproduction	</a:t>
            </a:r>
          </a:p>
          <a:p>
            <a:pPr marL="971550" lvl="1" indent="-514350">
              <a:buFont typeface="+mj-lt"/>
              <a:buAutoNum type="arabicPeriod"/>
            </a:pPr>
            <a:r>
              <a:rPr lang="en-US" altLang="en-US" dirty="0"/>
              <a:t>Waste of waiting</a:t>
            </a:r>
          </a:p>
          <a:p>
            <a:pPr marL="971550" lvl="1" indent="-514350">
              <a:buFont typeface="+mj-lt"/>
              <a:buAutoNum type="arabicPeriod"/>
            </a:pPr>
            <a:r>
              <a:rPr lang="en-US" altLang="en-US" dirty="0"/>
              <a:t>Waste of transportation</a:t>
            </a:r>
          </a:p>
          <a:p>
            <a:pPr marL="971550" lvl="1" indent="-514350">
              <a:buFont typeface="+mj-lt"/>
              <a:buAutoNum type="arabicPeriod"/>
            </a:pPr>
            <a:r>
              <a:rPr lang="en-US" altLang="en-US" dirty="0"/>
              <a:t>Waste of processing itself</a:t>
            </a:r>
          </a:p>
          <a:p>
            <a:pPr marL="971550" lvl="1" indent="-514350">
              <a:buFont typeface="+mj-lt"/>
              <a:buAutoNum type="arabicPeriod"/>
            </a:pPr>
            <a:r>
              <a:rPr lang="en-US" altLang="en-US" dirty="0"/>
              <a:t>Waste of stocks</a:t>
            </a:r>
          </a:p>
          <a:p>
            <a:pPr marL="971550" lvl="1" indent="-514350">
              <a:buFont typeface="+mj-lt"/>
              <a:buAutoNum type="arabicPeriod"/>
            </a:pPr>
            <a:r>
              <a:rPr lang="en-US" altLang="en-US" dirty="0"/>
              <a:t>Waste of motion</a:t>
            </a:r>
          </a:p>
          <a:p>
            <a:pPr marL="971550" lvl="1" indent="-514350">
              <a:buFont typeface="+mj-lt"/>
              <a:buAutoNum type="arabicPeriod"/>
            </a:pPr>
            <a:r>
              <a:rPr lang="en-US" altLang="en-US" dirty="0"/>
              <a:t>Waste of making defective products</a:t>
            </a:r>
          </a:p>
          <a:p>
            <a:pPr marL="457200" lvl="1" indent="0">
              <a:buNone/>
            </a:pPr>
            <a:endParaRPr lang="en-US" dirty="0"/>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6" name="Slide Number Placeholder 5"/>
          <p:cNvSpPr>
            <a:spLocks noGrp="1"/>
          </p:cNvSpPr>
          <p:nvPr>
            <p:ph type="sldNum" sz="quarter" idx="12"/>
          </p:nvPr>
        </p:nvSpPr>
        <p:spPr/>
        <p:txBody>
          <a:bodyPr/>
          <a:lstStyle/>
          <a:p>
            <a:r>
              <a:rPr lang="en-US"/>
              <a:t>3-</a:t>
            </a:r>
            <a:fld id="{AAF7652D-00F5-4CC9-9A73-9C8E572E6AE1}" type="slidenum">
              <a:rPr lang="en-US" smtClean="0"/>
              <a:pPr/>
              <a:t>7</a:t>
            </a:fld>
            <a:endParaRPr lang="en-US" dirty="0"/>
          </a:p>
        </p:txBody>
      </p:sp>
    </p:spTree>
    <p:extLst>
      <p:ext uri="{BB962C8B-B14F-4D97-AF65-F5344CB8AC3E}">
        <p14:creationId xmlns:p14="http://schemas.microsoft.com/office/powerpoint/2010/main" val="1006225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76" y="164489"/>
            <a:ext cx="11091530" cy="1325563"/>
          </a:xfrm>
        </p:spPr>
        <p:txBody>
          <a:bodyPr/>
          <a:lstStyle/>
          <a:p>
            <a:r>
              <a:rPr lang="en-US" dirty="0"/>
              <a:t>Are Quality Approaches Influenced by Culture?</a:t>
            </a:r>
          </a:p>
        </p:txBody>
      </p:sp>
      <p:sp>
        <p:nvSpPr>
          <p:cNvPr id="3" name="Content Placeholder 2"/>
          <p:cNvSpPr>
            <a:spLocks noGrp="1"/>
          </p:cNvSpPr>
          <p:nvPr>
            <p:ph idx="1"/>
          </p:nvPr>
        </p:nvSpPr>
        <p:spPr>
          <a:xfrm>
            <a:off x="838200" y="1775452"/>
            <a:ext cx="10515600" cy="4351338"/>
          </a:xfrm>
        </p:spPr>
        <p:txBody>
          <a:bodyPr>
            <a:normAutofit fontScale="92500" lnSpcReduction="20000"/>
          </a:bodyPr>
          <a:lstStyle/>
          <a:p>
            <a:r>
              <a:rPr lang="en-US" altLang="en-US" sz="2800" dirty="0"/>
              <a:t>United States</a:t>
            </a:r>
          </a:p>
          <a:p>
            <a:pPr lvl="1"/>
            <a:r>
              <a:rPr lang="en-US" altLang="en-US" dirty="0"/>
              <a:t>Command-and-control oriented</a:t>
            </a:r>
          </a:p>
          <a:p>
            <a:pPr lvl="1"/>
            <a:r>
              <a:rPr lang="en-US" altLang="en-US" dirty="0"/>
              <a:t>Results oriented</a:t>
            </a:r>
          </a:p>
          <a:p>
            <a:r>
              <a:rPr lang="en-US" altLang="en-US" sz="2800" dirty="0"/>
              <a:t>Japanese</a:t>
            </a:r>
          </a:p>
          <a:p>
            <a:pPr lvl="1"/>
            <a:r>
              <a:rPr lang="en-US" altLang="en-US" dirty="0"/>
              <a:t>Based on ethic of consistency</a:t>
            </a:r>
          </a:p>
          <a:p>
            <a:pPr lvl="1"/>
            <a:r>
              <a:rPr lang="en-US" altLang="en-US" dirty="0"/>
              <a:t>Emphasis on reduction of waste</a:t>
            </a:r>
          </a:p>
          <a:p>
            <a:r>
              <a:rPr lang="en-US" altLang="en-US" sz="2800" dirty="0"/>
              <a:t>Europeans</a:t>
            </a:r>
          </a:p>
          <a:p>
            <a:pPr lvl="1"/>
            <a:r>
              <a:rPr lang="en-US" altLang="en-US" dirty="0"/>
              <a:t>Adopted broad standards that can be adapted to the diverse nation-states in the European Union</a:t>
            </a:r>
          </a:p>
          <a:p>
            <a:pPr lvl="1"/>
            <a:r>
              <a:rPr lang="en-US" altLang="en-US" dirty="0"/>
              <a:t>Satisfy employees</a:t>
            </a:r>
          </a:p>
          <a:p>
            <a:pPr lvl="1"/>
            <a:r>
              <a:rPr lang="en-US" altLang="en-US" dirty="0"/>
              <a:t>Focus on work as art</a:t>
            </a:r>
          </a:p>
          <a:p>
            <a:pPr lvl="1"/>
            <a:r>
              <a:rPr lang="en-US" altLang="en-US" dirty="0"/>
              <a:t>Care for the environment</a:t>
            </a:r>
          </a:p>
          <a:p>
            <a:endParaRPr lang="en-US" dirty="0"/>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6" name="Slide Number Placeholder 5"/>
          <p:cNvSpPr>
            <a:spLocks noGrp="1"/>
          </p:cNvSpPr>
          <p:nvPr>
            <p:ph type="sldNum" sz="quarter" idx="12"/>
          </p:nvPr>
        </p:nvSpPr>
        <p:spPr/>
        <p:txBody>
          <a:bodyPr/>
          <a:lstStyle/>
          <a:p>
            <a:r>
              <a:rPr lang="en-US"/>
              <a:t>3-</a:t>
            </a:r>
            <a:fld id="{AAF7652D-00F5-4CC9-9A73-9C8E572E6AE1}" type="slidenum">
              <a:rPr lang="en-US" smtClean="0"/>
              <a:pPr/>
              <a:t>8</a:t>
            </a:fld>
            <a:endParaRPr lang="en-US" dirty="0"/>
          </a:p>
        </p:txBody>
      </p:sp>
    </p:spTree>
    <p:extLst>
      <p:ext uri="{BB962C8B-B14F-4D97-AF65-F5344CB8AC3E}">
        <p14:creationId xmlns:p14="http://schemas.microsoft.com/office/powerpoint/2010/main" val="3232127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9000:2015</a:t>
            </a:r>
          </a:p>
        </p:txBody>
      </p:sp>
      <p:sp>
        <p:nvSpPr>
          <p:cNvPr id="3" name="Content Placeholder 2"/>
          <p:cNvSpPr>
            <a:spLocks noGrp="1"/>
          </p:cNvSpPr>
          <p:nvPr>
            <p:ph idx="1"/>
          </p:nvPr>
        </p:nvSpPr>
        <p:spPr/>
        <p:txBody>
          <a:bodyPr/>
          <a:lstStyle/>
          <a:p>
            <a:pPr marL="0" indent="0">
              <a:buNone/>
              <a:defRPr/>
            </a:pPr>
            <a:r>
              <a:rPr lang="en-US" sz="3600" dirty="0">
                <a:ea typeface="ＭＳ Ｐゴシック" pitchFamily="122" charset="-128"/>
              </a:rPr>
              <a:t>Three standards:</a:t>
            </a:r>
          </a:p>
          <a:p>
            <a:pPr marL="457200" indent="-457200">
              <a:buFont typeface="Arial" charset="0"/>
              <a:buAutoNum type="arabicPeriod"/>
              <a:defRPr/>
            </a:pPr>
            <a:r>
              <a:rPr lang="en-US" dirty="0">
                <a:ea typeface="ＭＳ Ｐゴシック" pitchFamily="122" charset="-128"/>
              </a:rPr>
              <a:t>ISO 9000 </a:t>
            </a:r>
            <a:r>
              <a:rPr lang="en-US" b="0" dirty="0">
                <a:ea typeface="ＭＳ Ｐゴシック" pitchFamily="122" charset="-128"/>
              </a:rPr>
              <a:t>– Quality management systems: fundamentals and vocabulary</a:t>
            </a:r>
          </a:p>
          <a:p>
            <a:pPr marL="457200" indent="-457200">
              <a:buFont typeface="Arial" charset="0"/>
              <a:buAutoNum type="arabicPeriod"/>
              <a:defRPr/>
            </a:pPr>
            <a:endParaRPr lang="en-US" b="0" i="1" dirty="0">
              <a:ea typeface="ＭＳ Ｐゴシック" pitchFamily="122" charset="-128"/>
            </a:endParaRPr>
          </a:p>
          <a:p>
            <a:pPr marL="457200" indent="-457200">
              <a:buFont typeface="Arial" charset="0"/>
              <a:buAutoNum type="arabicPeriod"/>
              <a:defRPr/>
            </a:pPr>
            <a:r>
              <a:rPr lang="en-US" dirty="0">
                <a:ea typeface="ＭＳ Ｐゴシック" pitchFamily="122" charset="-128"/>
              </a:rPr>
              <a:t>ISO 9001 </a:t>
            </a:r>
            <a:r>
              <a:rPr lang="en-US" b="0" dirty="0">
                <a:ea typeface="ＭＳ Ｐゴシック" pitchFamily="122" charset="-128"/>
              </a:rPr>
              <a:t>– Specific requirements of the standard</a:t>
            </a:r>
          </a:p>
          <a:p>
            <a:pPr marL="457200" indent="-457200">
              <a:buFont typeface="Arial" charset="0"/>
              <a:buAutoNum type="arabicPeriod"/>
              <a:defRPr/>
            </a:pPr>
            <a:endParaRPr lang="en-US" b="0" dirty="0">
              <a:ea typeface="ＭＳ Ｐゴシック" pitchFamily="122" charset="-128"/>
            </a:endParaRPr>
          </a:p>
          <a:p>
            <a:pPr marL="457200" indent="-457200">
              <a:buFont typeface="Arial" charset="0"/>
              <a:buAutoNum type="arabicPeriod"/>
              <a:defRPr/>
            </a:pPr>
            <a:r>
              <a:rPr lang="en-US" dirty="0">
                <a:ea typeface="ＭＳ Ｐゴシック" pitchFamily="122" charset="-128"/>
              </a:rPr>
              <a:t>ISO 9004 </a:t>
            </a:r>
            <a:r>
              <a:rPr lang="en-US" b="0" dirty="0">
                <a:ea typeface="ＭＳ Ｐゴシック" pitchFamily="122" charset="-128"/>
              </a:rPr>
              <a:t>– Managing for the sustained success of an organization</a:t>
            </a:r>
            <a:endParaRPr lang="en-US" b="0" dirty="0"/>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6" name="Slide Number Placeholder 5"/>
          <p:cNvSpPr>
            <a:spLocks noGrp="1"/>
          </p:cNvSpPr>
          <p:nvPr>
            <p:ph type="sldNum" sz="quarter" idx="12"/>
          </p:nvPr>
        </p:nvSpPr>
        <p:spPr/>
        <p:txBody>
          <a:bodyPr/>
          <a:lstStyle/>
          <a:p>
            <a:r>
              <a:rPr lang="en-US"/>
              <a:t>3-</a:t>
            </a:r>
            <a:fld id="{AAF7652D-00F5-4CC9-9A73-9C8E572E6AE1}" type="slidenum">
              <a:rPr lang="en-US" smtClean="0"/>
              <a:pPr/>
              <a:t>9</a:t>
            </a:fld>
            <a:endParaRPr lang="en-US" dirty="0"/>
          </a:p>
        </p:txBody>
      </p:sp>
    </p:spTree>
    <p:extLst>
      <p:ext uri="{BB962C8B-B14F-4D97-AF65-F5344CB8AC3E}">
        <p14:creationId xmlns:p14="http://schemas.microsoft.com/office/powerpoint/2010/main" val="421097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9000:2015 Seven Principles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altLang="en-US" b="0" dirty="0"/>
              <a:t>Customer focus</a:t>
            </a:r>
          </a:p>
          <a:p>
            <a:pPr marL="514350" indent="-514350">
              <a:buFont typeface="+mj-lt"/>
              <a:buAutoNum type="arabicPeriod"/>
            </a:pPr>
            <a:r>
              <a:rPr lang="en-US" altLang="en-US" b="0" dirty="0"/>
              <a:t>Leadership</a:t>
            </a:r>
          </a:p>
          <a:p>
            <a:pPr marL="514350" indent="-514350">
              <a:buFont typeface="+mj-lt"/>
              <a:buAutoNum type="arabicPeriod"/>
            </a:pPr>
            <a:r>
              <a:rPr lang="en-US" altLang="en-US" b="0" dirty="0"/>
              <a:t>Engagement of people</a:t>
            </a:r>
          </a:p>
          <a:p>
            <a:pPr marL="514350" indent="-514350">
              <a:buFont typeface="+mj-lt"/>
              <a:buAutoNum type="arabicPeriod"/>
            </a:pPr>
            <a:r>
              <a:rPr lang="en-US" altLang="en-US" b="0" dirty="0"/>
              <a:t>Process approach</a:t>
            </a:r>
          </a:p>
          <a:p>
            <a:pPr marL="514350" indent="-514350">
              <a:buFont typeface="+mj-lt"/>
              <a:buAutoNum type="arabicPeriod"/>
            </a:pPr>
            <a:r>
              <a:rPr lang="en-US" altLang="en-US" b="0" dirty="0"/>
              <a:t>Improvement</a:t>
            </a:r>
          </a:p>
          <a:p>
            <a:pPr marL="514350" indent="-514350">
              <a:buFont typeface="+mj-lt"/>
              <a:buAutoNum type="arabicPeriod"/>
            </a:pPr>
            <a:r>
              <a:rPr lang="en-US" altLang="en-US" b="0" dirty="0"/>
              <a:t>Evidence-based decision making</a:t>
            </a:r>
          </a:p>
          <a:p>
            <a:pPr marL="514350" indent="-514350">
              <a:buFont typeface="+mj-lt"/>
              <a:buAutoNum type="arabicPeriod"/>
            </a:pPr>
            <a:r>
              <a:rPr lang="en-US" altLang="en-US" b="0" dirty="0"/>
              <a:t>Relationship management</a:t>
            </a:r>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6" name="Slide Number Placeholder 5"/>
          <p:cNvSpPr>
            <a:spLocks noGrp="1"/>
          </p:cNvSpPr>
          <p:nvPr>
            <p:ph type="sldNum" sz="quarter" idx="12"/>
          </p:nvPr>
        </p:nvSpPr>
        <p:spPr/>
        <p:txBody>
          <a:bodyPr/>
          <a:lstStyle/>
          <a:p>
            <a:r>
              <a:rPr lang="en-US"/>
              <a:t>3-</a:t>
            </a:r>
            <a:fld id="{AAF7652D-00F5-4CC9-9A73-9C8E572E6AE1}" type="slidenum">
              <a:rPr lang="en-US" smtClean="0"/>
              <a:pPr/>
              <a:t>10</a:t>
            </a:fld>
            <a:endParaRPr lang="en-US" dirty="0"/>
          </a:p>
        </p:txBody>
      </p:sp>
    </p:spTree>
    <p:extLst>
      <p:ext uri="{BB962C8B-B14F-4D97-AF65-F5344CB8AC3E}">
        <p14:creationId xmlns:p14="http://schemas.microsoft.com/office/powerpoint/2010/main" val="2904922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9000:2015 Process</a:t>
            </a:r>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9" name="TextBox 8"/>
          <p:cNvSpPr txBox="1"/>
          <p:nvPr/>
        </p:nvSpPr>
        <p:spPr>
          <a:xfrm>
            <a:off x="9451483" y="6034895"/>
            <a:ext cx="1210614" cy="307777"/>
          </a:xfrm>
          <a:prstGeom prst="rect">
            <a:avLst/>
          </a:prstGeom>
          <a:noFill/>
        </p:spPr>
        <p:txBody>
          <a:bodyPr wrap="square" rtlCol="0">
            <a:spAutoFit/>
          </a:bodyPr>
          <a:lstStyle/>
          <a:p>
            <a:r>
              <a:rPr lang="en-US" sz="1400" b="1" dirty="0"/>
              <a:t>Figure 3-8</a:t>
            </a:r>
          </a:p>
        </p:txBody>
      </p:sp>
      <p:sp>
        <p:nvSpPr>
          <p:cNvPr id="3" name="Slide Number Placeholder 2"/>
          <p:cNvSpPr>
            <a:spLocks noGrp="1"/>
          </p:cNvSpPr>
          <p:nvPr>
            <p:ph type="sldNum" sz="quarter" idx="12"/>
          </p:nvPr>
        </p:nvSpPr>
        <p:spPr/>
        <p:txBody>
          <a:bodyPr/>
          <a:lstStyle/>
          <a:p>
            <a:r>
              <a:rPr lang="en-US"/>
              <a:t>3-</a:t>
            </a:r>
            <a:fld id="{AAF7652D-00F5-4CC9-9A73-9C8E572E6AE1}" type="slidenum">
              <a:rPr lang="en-US" smtClean="0"/>
              <a:pPr/>
              <a:t>11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634" y="1242910"/>
            <a:ext cx="6819366" cy="4814723"/>
          </a:xfrm>
          <a:prstGeom prst="rect">
            <a:avLst/>
          </a:prstGeom>
        </p:spPr>
      </p:pic>
    </p:spTree>
    <p:extLst>
      <p:ext uri="{BB962C8B-B14F-4D97-AF65-F5344CB8AC3E}">
        <p14:creationId xmlns:p14="http://schemas.microsoft.com/office/powerpoint/2010/main" val="1894595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A0F5A-6BEA-494E-B621-F8C7D6C8509A}"/>
              </a:ext>
            </a:extLst>
          </p:cNvPr>
          <p:cNvSpPr>
            <a:spLocks noGrp="1"/>
          </p:cNvSpPr>
          <p:nvPr>
            <p:ph type="title"/>
          </p:nvPr>
        </p:nvSpPr>
        <p:spPr/>
        <p:txBody>
          <a:bodyPr/>
          <a:lstStyle/>
          <a:p>
            <a:r>
              <a:rPr lang="en-US" dirty="0"/>
              <a:t>ISO 19001</a:t>
            </a:r>
            <a:endParaRPr lang="LID4096" dirty="0"/>
          </a:p>
        </p:txBody>
      </p:sp>
      <p:sp>
        <p:nvSpPr>
          <p:cNvPr id="3" name="Content Placeholder 2">
            <a:extLst>
              <a:ext uri="{FF2B5EF4-FFF2-40B4-BE49-F238E27FC236}">
                <a16:creationId xmlns:a16="http://schemas.microsoft.com/office/drawing/2014/main" id="{7E62FC21-D1BF-4038-AB08-73824663E503}"/>
              </a:ext>
            </a:extLst>
          </p:cNvPr>
          <p:cNvSpPr>
            <a:spLocks noGrp="1"/>
          </p:cNvSpPr>
          <p:nvPr>
            <p:ph idx="1"/>
          </p:nvPr>
        </p:nvSpPr>
        <p:spPr/>
        <p:txBody>
          <a:bodyPr/>
          <a:lstStyle/>
          <a:p>
            <a:endParaRPr lang="LID4096" dirty="0"/>
          </a:p>
        </p:txBody>
      </p:sp>
      <p:sp>
        <p:nvSpPr>
          <p:cNvPr id="4" name="Footer Placeholder 3">
            <a:extLst>
              <a:ext uri="{FF2B5EF4-FFF2-40B4-BE49-F238E27FC236}">
                <a16:creationId xmlns:a16="http://schemas.microsoft.com/office/drawing/2014/main" id="{F468DE6E-AF6C-4160-BB8D-76930D536915}"/>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D06D33A0-C4FA-4277-9E4C-620E6C093579}"/>
              </a:ext>
            </a:extLst>
          </p:cNvPr>
          <p:cNvSpPr>
            <a:spLocks noGrp="1"/>
          </p:cNvSpPr>
          <p:nvPr>
            <p:ph type="sldNum" sz="quarter" idx="12"/>
          </p:nvPr>
        </p:nvSpPr>
        <p:spPr/>
        <p:txBody>
          <a:bodyPr/>
          <a:lstStyle/>
          <a:p>
            <a:r>
              <a:rPr lang="en-US"/>
              <a:t>3-</a:t>
            </a:r>
            <a:fld id="{AAF7652D-00F5-4CC9-9A73-9C8E572E6AE1}" type="slidenum">
              <a:rPr lang="en-US" smtClean="0"/>
              <a:pPr/>
              <a:t>12</a:t>
            </a:fld>
            <a:endParaRPr lang="en-US" dirty="0"/>
          </a:p>
        </p:txBody>
      </p:sp>
      <p:pic>
        <p:nvPicPr>
          <p:cNvPr id="7" name="Picture 6">
            <a:extLst>
              <a:ext uri="{FF2B5EF4-FFF2-40B4-BE49-F238E27FC236}">
                <a16:creationId xmlns:a16="http://schemas.microsoft.com/office/drawing/2014/main" id="{03136EA3-1444-423C-B692-183F59D6B4CD}"/>
              </a:ext>
            </a:extLst>
          </p:cNvPr>
          <p:cNvPicPr>
            <a:picLocks noChangeAspect="1"/>
          </p:cNvPicPr>
          <p:nvPr/>
        </p:nvPicPr>
        <p:blipFill rotWithShape="1">
          <a:blip r:embed="rId2"/>
          <a:srcRect t="13535" r="8782"/>
          <a:stretch/>
        </p:blipFill>
        <p:spPr>
          <a:xfrm>
            <a:off x="359735" y="1438216"/>
            <a:ext cx="11472530" cy="5156243"/>
          </a:xfrm>
          <a:prstGeom prst="rect">
            <a:avLst/>
          </a:prstGeom>
        </p:spPr>
      </p:pic>
    </p:spTree>
    <p:extLst>
      <p:ext uri="{BB962C8B-B14F-4D97-AF65-F5344CB8AC3E}">
        <p14:creationId xmlns:p14="http://schemas.microsoft.com/office/powerpoint/2010/main" val="453685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14000</a:t>
            </a:r>
          </a:p>
        </p:txBody>
      </p:sp>
      <p:sp>
        <p:nvSpPr>
          <p:cNvPr id="3" name="Content Placeholder 2"/>
          <p:cNvSpPr>
            <a:spLocks noGrp="1"/>
          </p:cNvSpPr>
          <p:nvPr>
            <p:ph idx="1"/>
          </p:nvPr>
        </p:nvSpPr>
        <p:spPr/>
        <p:txBody>
          <a:bodyPr/>
          <a:lstStyle/>
          <a:p>
            <a:pPr algn="just">
              <a:defRPr/>
            </a:pPr>
            <a:r>
              <a:rPr lang="en-US" b="0" dirty="0"/>
              <a:t>International standard for environmental compliance</a:t>
            </a:r>
          </a:p>
          <a:p>
            <a:pPr marL="0" indent="0" algn="just">
              <a:buNone/>
              <a:defRPr/>
            </a:pPr>
            <a:endParaRPr lang="en-US" b="0" dirty="0"/>
          </a:p>
          <a:p>
            <a:pPr algn="just">
              <a:defRPr/>
            </a:pPr>
            <a:r>
              <a:rPr lang="en-US" b="0" dirty="0"/>
              <a:t>Uses the same basic approach as ISO 9000:2015 </a:t>
            </a:r>
          </a:p>
          <a:p>
            <a:pPr marL="0" indent="0" algn="just">
              <a:buNone/>
              <a:defRPr/>
            </a:pPr>
            <a:endParaRPr lang="en-US" b="0" dirty="0"/>
          </a:p>
          <a:p>
            <a:pPr algn="just">
              <a:defRPr/>
            </a:pPr>
            <a:r>
              <a:rPr lang="en-US" b="0" dirty="0"/>
              <a:t>Also includes quantified targets, established objectives, emergency and disaster preparedness, and disclosure of environmental policies</a:t>
            </a:r>
          </a:p>
          <a:p>
            <a:pPr marL="0" indent="0">
              <a:buNone/>
            </a:pPr>
            <a:endParaRPr lang="en-US" dirty="0"/>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6" name="Slide Number Placeholder 5"/>
          <p:cNvSpPr>
            <a:spLocks noGrp="1"/>
          </p:cNvSpPr>
          <p:nvPr>
            <p:ph type="sldNum" sz="quarter" idx="12"/>
          </p:nvPr>
        </p:nvSpPr>
        <p:spPr/>
        <p:txBody>
          <a:bodyPr/>
          <a:lstStyle/>
          <a:p>
            <a:r>
              <a:rPr lang="en-US"/>
              <a:t>3-</a:t>
            </a:r>
            <a:fld id="{AAF7652D-00F5-4CC9-9A73-9C8E572E6AE1}" type="slidenum">
              <a:rPr lang="en-US" smtClean="0"/>
              <a:pPr/>
              <a:t>13</a:t>
            </a:fld>
            <a:endParaRPr lang="en-US" dirty="0"/>
          </a:p>
        </p:txBody>
      </p:sp>
    </p:spTree>
    <p:extLst>
      <p:ext uri="{BB962C8B-B14F-4D97-AF65-F5344CB8AC3E}">
        <p14:creationId xmlns:p14="http://schemas.microsoft.com/office/powerpoint/2010/main" val="1908283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14000 Elements</a:t>
            </a:r>
          </a:p>
        </p:txBody>
      </p:sp>
      <p:sp>
        <p:nvSpPr>
          <p:cNvPr id="4" name="Footer Placeholder 3"/>
          <p:cNvSpPr>
            <a:spLocks noGrp="1"/>
          </p:cNvSpPr>
          <p:nvPr>
            <p:ph type="ftr" sz="quarter" idx="11"/>
          </p:nvPr>
        </p:nvSpPr>
        <p:spPr/>
        <p:txBody>
          <a:bodyPr/>
          <a:lstStyle/>
          <a:p>
            <a:r>
              <a:rPr lang="en-US" dirty="0"/>
              <a:t>Copyright © 2017 Pearson Education, Ltd.</a:t>
            </a:r>
          </a:p>
        </p:txBody>
      </p:sp>
      <p:pic>
        <p:nvPicPr>
          <p:cNvPr id="6" name="Picture 5"/>
          <p:cNvPicPr>
            <a:picLocks noChangeAspect="1"/>
          </p:cNvPicPr>
          <p:nvPr/>
        </p:nvPicPr>
        <p:blipFill>
          <a:blip r:embed="rId3" cstate="print"/>
          <a:stretch>
            <a:fillRect/>
          </a:stretch>
        </p:blipFill>
        <p:spPr>
          <a:xfrm>
            <a:off x="2610159" y="1233557"/>
            <a:ext cx="7977348" cy="4649617"/>
          </a:xfrm>
          <a:prstGeom prst="rect">
            <a:avLst/>
          </a:prstGeom>
        </p:spPr>
      </p:pic>
      <p:sp>
        <p:nvSpPr>
          <p:cNvPr id="7" name="TextBox 6"/>
          <p:cNvSpPr txBox="1"/>
          <p:nvPr/>
        </p:nvSpPr>
        <p:spPr>
          <a:xfrm>
            <a:off x="9492802" y="5892828"/>
            <a:ext cx="1210614" cy="307777"/>
          </a:xfrm>
          <a:prstGeom prst="rect">
            <a:avLst/>
          </a:prstGeom>
          <a:noFill/>
        </p:spPr>
        <p:txBody>
          <a:bodyPr wrap="square" rtlCol="0">
            <a:spAutoFit/>
          </a:bodyPr>
          <a:lstStyle/>
          <a:p>
            <a:r>
              <a:rPr lang="en-US" sz="1400" b="1" dirty="0"/>
              <a:t>Table 3-6</a:t>
            </a:r>
          </a:p>
        </p:txBody>
      </p:sp>
      <p:sp>
        <p:nvSpPr>
          <p:cNvPr id="8" name="TextBox 7"/>
          <p:cNvSpPr txBox="1"/>
          <p:nvPr/>
        </p:nvSpPr>
        <p:spPr>
          <a:xfrm>
            <a:off x="2610159" y="5897479"/>
            <a:ext cx="6598235" cy="276999"/>
          </a:xfrm>
          <a:prstGeom prst="rect">
            <a:avLst/>
          </a:prstGeom>
          <a:noFill/>
        </p:spPr>
        <p:txBody>
          <a:bodyPr wrap="square" rtlCol="0">
            <a:spAutoFit/>
          </a:bodyPr>
          <a:lstStyle/>
          <a:p>
            <a:r>
              <a:rPr lang="en-US" sz="1200" dirty="0"/>
              <a:t>International Standards Organization, Geneva, Switzerland, 2010. Used with permission of Capaccio..</a:t>
            </a:r>
          </a:p>
        </p:txBody>
      </p:sp>
      <p:sp>
        <p:nvSpPr>
          <p:cNvPr id="3" name="Slide Number Placeholder 2"/>
          <p:cNvSpPr>
            <a:spLocks noGrp="1"/>
          </p:cNvSpPr>
          <p:nvPr>
            <p:ph type="sldNum" sz="quarter" idx="12"/>
          </p:nvPr>
        </p:nvSpPr>
        <p:spPr/>
        <p:txBody>
          <a:bodyPr/>
          <a:lstStyle/>
          <a:p>
            <a:r>
              <a:rPr lang="en-US"/>
              <a:t>3-</a:t>
            </a:r>
            <a:fld id="{AAF7652D-00F5-4CC9-9A73-9C8E572E6AE1}" type="slidenum">
              <a:rPr lang="en-US" smtClean="0"/>
              <a:pPr/>
              <a:t>14</a:t>
            </a:fld>
            <a:endParaRPr lang="en-US" dirty="0"/>
          </a:p>
        </p:txBody>
      </p:sp>
    </p:spTree>
    <p:extLst>
      <p:ext uri="{BB962C8B-B14F-4D97-AF65-F5344CB8AC3E}">
        <p14:creationId xmlns:p14="http://schemas.microsoft.com/office/powerpoint/2010/main" val="87493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FD6B3-CA24-42AC-981E-3D0F7C0499DD}"/>
              </a:ext>
            </a:extLst>
          </p:cNvPr>
          <p:cNvSpPr>
            <a:spLocks noGrp="1"/>
          </p:cNvSpPr>
          <p:nvPr>
            <p:ph type="title"/>
          </p:nvPr>
        </p:nvSpPr>
        <p:spPr/>
        <p:txBody>
          <a:bodyPr/>
          <a:lstStyle/>
          <a:p>
            <a:r>
              <a:rPr lang="en-US" dirty="0"/>
              <a:t>ISO 14001: Environmental Management</a:t>
            </a:r>
            <a:endParaRPr lang="LID4096" dirty="0"/>
          </a:p>
        </p:txBody>
      </p:sp>
      <p:sp>
        <p:nvSpPr>
          <p:cNvPr id="3" name="Content Placeholder 2">
            <a:extLst>
              <a:ext uri="{FF2B5EF4-FFF2-40B4-BE49-F238E27FC236}">
                <a16:creationId xmlns:a16="http://schemas.microsoft.com/office/drawing/2014/main" id="{C78F5B0A-A896-4FE1-859A-3AC830EB1C19}"/>
              </a:ext>
            </a:extLst>
          </p:cNvPr>
          <p:cNvSpPr>
            <a:spLocks noGrp="1"/>
          </p:cNvSpPr>
          <p:nvPr>
            <p:ph idx="1"/>
          </p:nvPr>
        </p:nvSpPr>
        <p:spPr/>
        <p:txBody>
          <a:bodyPr/>
          <a:lstStyle/>
          <a:p>
            <a:endParaRPr lang="LID4096"/>
          </a:p>
        </p:txBody>
      </p:sp>
      <p:sp>
        <p:nvSpPr>
          <p:cNvPr id="4" name="Footer Placeholder 3">
            <a:extLst>
              <a:ext uri="{FF2B5EF4-FFF2-40B4-BE49-F238E27FC236}">
                <a16:creationId xmlns:a16="http://schemas.microsoft.com/office/drawing/2014/main" id="{4B030D61-371A-44D0-AF9E-83801408AC68}"/>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E0F875C9-15AB-4A91-9785-7E33BD15D57B}"/>
              </a:ext>
            </a:extLst>
          </p:cNvPr>
          <p:cNvSpPr>
            <a:spLocks noGrp="1"/>
          </p:cNvSpPr>
          <p:nvPr>
            <p:ph type="sldNum" sz="quarter" idx="12"/>
          </p:nvPr>
        </p:nvSpPr>
        <p:spPr/>
        <p:txBody>
          <a:bodyPr/>
          <a:lstStyle/>
          <a:p>
            <a:r>
              <a:rPr lang="en-US"/>
              <a:t>3-</a:t>
            </a:r>
            <a:fld id="{AAF7652D-00F5-4CC9-9A73-9C8E572E6AE1}" type="slidenum">
              <a:rPr lang="en-US" smtClean="0"/>
              <a:pPr/>
              <a:t>15</a:t>
            </a:fld>
            <a:endParaRPr lang="en-US" dirty="0"/>
          </a:p>
        </p:txBody>
      </p:sp>
      <p:pic>
        <p:nvPicPr>
          <p:cNvPr id="7" name="Picture 6">
            <a:extLst>
              <a:ext uri="{FF2B5EF4-FFF2-40B4-BE49-F238E27FC236}">
                <a16:creationId xmlns:a16="http://schemas.microsoft.com/office/drawing/2014/main" id="{0964EEDD-957E-4E09-8CC3-C5D40B6D1602}"/>
              </a:ext>
            </a:extLst>
          </p:cNvPr>
          <p:cNvPicPr>
            <a:picLocks noChangeAspect="1"/>
          </p:cNvPicPr>
          <p:nvPr/>
        </p:nvPicPr>
        <p:blipFill rotWithShape="1">
          <a:blip r:embed="rId2"/>
          <a:srcRect t="20326"/>
          <a:stretch/>
        </p:blipFill>
        <p:spPr>
          <a:xfrm>
            <a:off x="543874" y="1570038"/>
            <a:ext cx="10934131" cy="4584456"/>
          </a:xfrm>
          <a:prstGeom prst="rect">
            <a:avLst/>
          </a:prstGeom>
        </p:spPr>
      </p:pic>
    </p:spTree>
    <p:extLst>
      <p:ext uri="{BB962C8B-B14F-4D97-AF65-F5344CB8AC3E}">
        <p14:creationId xmlns:p14="http://schemas.microsoft.com/office/powerpoint/2010/main" val="4012137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AD7C6-CB78-4A15-95DA-D3B6D7CACC71}"/>
              </a:ext>
            </a:extLst>
          </p:cNvPr>
          <p:cNvSpPr>
            <a:spLocks noGrp="1"/>
          </p:cNvSpPr>
          <p:nvPr>
            <p:ph type="title"/>
          </p:nvPr>
        </p:nvSpPr>
        <p:spPr/>
        <p:txBody>
          <a:bodyPr/>
          <a:lstStyle/>
          <a:p>
            <a:r>
              <a:rPr lang="en-US" dirty="0"/>
              <a:t>ISO 28000: Security and Resilience</a:t>
            </a:r>
            <a:endParaRPr lang="LID4096" dirty="0"/>
          </a:p>
        </p:txBody>
      </p:sp>
      <p:sp>
        <p:nvSpPr>
          <p:cNvPr id="3" name="Content Placeholder 2">
            <a:extLst>
              <a:ext uri="{FF2B5EF4-FFF2-40B4-BE49-F238E27FC236}">
                <a16:creationId xmlns:a16="http://schemas.microsoft.com/office/drawing/2014/main" id="{2785EA66-10A7-4869-A569-0B83BE5535FC}"/>
              </a:ext>
            </a:extLst>
          </p:cNvPr>
          <p:cNvSpPr>
            <a:spLocks noGrp="1"/>
          </p:cNvSpPr>
          <p:nvPr>
            <p:ph idx="1"/>
          </p:nvPr>
        </p:nvSpPr>
        <p:spPr/>
        <p:txBody>
          <a:bodyPr/>
          <a:lstStyle/>
          <a:p>
            <a:endParaRPr lang="LID4096"/>
          </a:p>
        </p:txBody>
      </p:sp>
      <p:sp>
        <p:nvSpPr>
          <p:cNvPr id="4" name="Footer Placeholder 3">
            <a:extLst>
              <a:ext uri="{FF2B5EF4-FFF2-40B4-BE49-F238E27FC236}">
                <a16:creationId xmlns:a16="http://schemas.microsoft.com/office/drawing/2014/main" id="{EDE29276-BA2C-4823-9334-4AFD5942CB58}"/>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6936E225-331C-4543-8A4E-18705C38F340}"/>
              </a:ext>
            </a:extLst>
          </p:cNvPr>
          <p:cNvSpPr>
            <a:spLocks noGrp="1"/>
          </p:cNvSpPr>
          <p:nvPr>
            <p:ph type="sldNum" sz="quarter" idx="12"/>
          </p:nvPr>
        </p:nvSpPr>
        <p:spPr/>
        <p:txBody>
          <a:bodyPr/>
          <a:lstStyle/>
          <a:p>
            <a:r>
              <a:rPr lang="en-US"/>
              <a:t>3-</a:t>
            </a:r>
            <a:fld id="{AAF7652D-00F5-4CC9-9A73-9C8E572E6AE1}" type="slidenum">
              <a:rPr lang="en-US" smtClean="0"/>
              <a:pPr/>
              <a:t>16</a:t>
            </a:fld>
            <a:endParaRPr lang="en-US" dirty="0"/>
          </a:p>
        </p:txBody>
      </p:sp>
      <p:pic>
        <p:nvPicPr>
          <p:cNvPr id="7" name="Picture 6">
            <a:extLst>
              <a:ext uri="{FF2B5EF4-FFF2-40B4-BE49-F238E27FC236}">
                <a16:creationId xmlns:a16="http://schemas.microsoft.com/office/drawing/2014/main" id="{C763E7E6-F0C7-48CB-9635-45CE0847416E}"/>
              </a:ext>
            </a:extLst>
          </p:cNvPr>
          <p:cNvPicPr>
            <a:picLocks noChangeAspect="1"/>
          </p:cNvPicPr>
          <p:nvPr/>
        </p:nvPicPr>
        <p:blipFill rotWithShape="1">
          <a:blip r:embed="rId2"/>
          <a:srcRect t="15945"/>
          <a:stretch/>
        </p:blipFill>
        <p:spPr>
          <a:xfrm>
            <a:off x="563966" y="1550988"/>
            <a:ext cx="11064068" cy="4711300"/>
          </a:xfrm>
          <a:prstGeom prst="rect">
            <a:avLst/>
          </a:prstGeom>
        </p:spPr>
      </p:pic>
    </p:spTree>
    <p:extLst>
      <p:ext uri="{BB962C8B-B14F-4D97-AF65-F5344CB8AC3E}">
        <p14:creationId xmlns:p14="http://schemas.microsoft.com/office/powerpoint/2010/main" val="834456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8B425-92CD-4CFB-A933-3762F279F492}"/>
              </a:ext>
            </a:extLst>
          </p:cNvPr>
          <p:cNvSpPr>
            <a:spLocks noGrp="1"/>
          </p:cNvSpPr>
          <p:nvPr>
            <p:ph type="title"/>
          </p:nvPr>
        </p:nvSpPr>
        <p:spPr/>
        <p:txBody>
          <a:bodyPr/>
          <a:lstStyle/>
          <a:p>
            <a:r>
              <a:rPr lang="en-US" dirty="0"/>
              <a:t>ISO 31000: Risk Management</a:t>
            </a:r>
            <a:endParaRPr lang="LID4096" dirty="0"/>
          </a:p>
        </p:txBody>
      </p:sp>
      <p:pic>
        <p:nvPicPr>
          <p:cNvPr id="7" name="Content Placeholder 6">
            <a:extLst>
              <a:ext uri="{FF2B5EF4-FFF2-40B4-BE49-F238E27FC236}">
                <a16:creationId xmlns:a16="http://schemas.microsoft.com/office/drawing/2014/main" id="{1B7CC01F-4173-48C3-8E87-E7CA9B69BA14}"/>
              </a:ext>
            </a:extLst>
          </p:cNvPr>
          <p:cNvPicPr>
            <a:picLocks noGrp="1" noChangeAspect="1"/>
          </p:cNvPicPr>
          <p:nvPr>
            <p:ph idx="1"/>
          </p:nvPr>
        </p:nvPicPr>
        <p:blipFill rotWithShape="1">
          <a:blip r:embed="rId2"/>
          <a:srcRect t="20765"/>
          <a:stretch/>
        </p:blipFill>
        <p:spPr>
          <a:xfrm>
            <a:off x="508591" y="1648047"/>
            <a:ext cx="11408733" cy="4905862"/>
          </a:xfrm>
        </p:spPr>
      </p:pic>
      <p:sp>
        <p:nvSpPr>
          <p:cNvPr id="4" name="Footer Placeholder 3">
            <a:extLst>
              <a:ext uri="{FF2B5EF4-FFF2-40B4-BE49-F238E27FC236}">
                <a16:creationId xmlns:a16="http://schemas.microsoft.com/office/drawing/2014/main" id="{34245EE1-510B-4468-95CC-348036173E8F}"/>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4A1FD8CD-CFD4-419C-99ED-5517293BE73D}"/>
              </a:ext>
            </a:extLst>
          </p:cNvPr>
          <p:cNvSpPr>
            <a:spLocks noGrp="1"/>
          </p:cNvSpPr>
          <p:nvPr>
            <p:ph type="sldNum" sz="quarter" idx="12"/>
          </p:nvPr>
        </p:nvSpPr>
        <p:spPr/>
        <p:txBody>
          <a:bodyPr/>
          <a:lstStyle/>
          <a:p>
            <a:r>
              <a:rPr lang="en-US"/>
              <a:t>3-</a:t>
            </a:r>
            <a:fld id="{AAF7652D-00F5-4CC9-9A73-9C8E572E6AE1}" type="slidenum">
              <a:rPr lang="en-US" smtClean="0"/>
              <a:pPr/>
              <a:t>17</a:t>
            </a:fld>
            <a:endParaRPr lang="en-US" dirty="0"/>
          </a:p>
        </p:txBody>
      </p:sp>
    </p:spTree>
    <p:extLst>
      <p:ext uri="{BB962C8B-B14F-4D97-AF65-F5344CB8AC3E}">
        <p14:creationId xmlns:p14="http://schemas.microsoft.com/office/powerpoint/2010/main" val="2210711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7C61F-B66E-467D-B344-AB92CA374AD9}"/>
              </a:ext>
            </a:extLst>
          </p:cNvPr>
          <p:cNvSpPr>
            <a:spLocks noGrp="1"/>
          </p:cNvSpPr>
          <p:nvPr>
            <p:ph type="title"/>
          </p:nvPr>
        </p:nvSpPr>
        <p:spPr/>
        <p:txBody>
          <a:bodyPr/>
          <a:lstStyle/>
          <a:p>
            <a:r>
              <a:rPr lang="en-US" dirty="0"/>
              <a:t>Case study 01: Boeing 787 Dreamliner</a:t>
            </a:r>
            <a:endParaRPr lang="LID4096" dirty="0"/>
          </a:p>
        </p:txBody>
      </p:sp>
      <p:sp>
        <p:nvSpPr>
          <p:cNvPr id="3" name="Content Placeholder 2">
            <a:extLst>
              <a:ext uri="{FF2B5EF4-FFF2-40B4-BE49-F238E27FC236}">
                <a16:creationId xmlns:a16="http://schemas.microsoft.com/office/drawing/2014/main" id="{FCB11519-FF5E-4517-BCAB-C651107577B5}"/>
              </a:ext>
            </a:extLst>
          </p:cNvPr>
          <p:cNvSpPr>
            <a:spLocks noGrp="1"/>
          </p:cNvSpPr>
          <p:nvPr>
            <p:ph idx="1"/>
          </p:nvPr>
        </p:nvSpPr>
        <p:spPr/>
        <p:txBody>
          <a:bodyPr/>
          <a:lstStyle/>
          <a:p>
            <a:endParaRPr lang="LID4096" dirty="0"/>
          </a:p>
        </p:txBody>
      </p:sp>
      <p:sp>
        <p:nvSpPr>
          <p:cNvPr id="4" name="Footer Placeholder 3">
            <a:extLst>
              <a:ext uri="{FF2B5EF4-FFF2-40B4-BE49-F238E27FC236}">
                <a16:creationId xmlns:a16="http://schemas.microsoft.com/office/drawing/2014/main" id="{843C468B-16C8-4E11-972C-AC210872210A}"/>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55909A9C-4BEB-42CD-9356-D6BA3DF57084}"/>
              </a:ext>
            </a:extLst>
          </p:cNvPr>
          <p:cNvSpPr>
            <a:spLocks noGrp="1"/>
          </p:cNvSpPr>
          <p:nvPr>
            <p:ph type="sldNum" sz="quarter" idx="12"/>
          </p:nvPr>
        </p:nvSpPr>
        <p:spPr/>
        <p:txBody>
          <a:bodyPr/>
          <a:lstStyle/>
          <a:p>
            <a:r>
              <a:rPr lang="en-US"/>
              <a:t>3-</a:t>
            </a:r>
            <a:fld id="{AAF7652D-00F5-4CC9-9A73-9C8E572E6AE1}" type="slidenum">
              <a:rPr lang="en-US" smtClean="0"/>
              <a:pPr/>
              <a:t>18</a:t>
            </a:fld>
            <a:endParaRPr lang="en-US" dirty="0"/>
          </a:p>
        </p:txBody>
      </p:sp>
      <p:pic>
        <p:nvPicPr>
          <p:cNvPr id="8" name="Content Placeholder 8">
            <a:extLst>
              <a:ext uri="{FF2B5EF4-FFF2-40B4-BE49-F238E27FC236}">
                <a16:creationId xmlns:a16="http://schemas.microsoft.com/office/drawing/2014/main" id="{3C5F39DA-6CEF-464A-A3E6-AF9F42D4FC15}"/>
              </a:ext>
            </a:extLst>
          </p:cNvPr>
          <p:cNvPicPr>
            <a:picLocks noChangeAspect="1"/>
          </p:cNvPicPr>
          <p:nvPr/>
        </p:nvPicPr>
        <p:blipFill>
          <a:blip r:embed="rId2"/>
          <a:stretch>
            <a:fillRect/>
          </a:stretch>
        </p:blipFill>
        <p:spPr>
          <a:xfrm>
            <a:off x="87205" y="1550986"/>
            <a:ext cx="12104795" cy="5307013"/>
          </a:xfrm>
          <a:prstGeom prst="rect">
            <a:avLst/>
          </a:prstGeom>
        </p:spPr>
      </p:pic>
    </p:spTree>
    <p:extLst>
      <p:ext uri="{BB962C8B-B14F-4D97-AF65-F5344CB8AC3E}">
        <p14:creationId xmlns:p14="http://schemas.microsoft.com/office/powerpoint/2010/main" val="2433526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CD62-0F5F-4FEB-9DD0-6F1AEC066F60}"/>
              </a:ext>
            </a:extLst>
          </p:cNvPr>
          <p:cNvSpPr>
            <a:spLocks noGrp="1"/>
          </p:cNvSpPr>
          <p:nvPr>
            <p:ph type="title"/>
          </p:nvPr>
        </p:nvSpPr>
        <p:spPr/>
        <p:txBody>
          <a:bodyPr/>
          <a:lstStyle/>
          <a:p>
            <a:r>
              <a:rPr lang="en-US" dirty="0"/>
              <a:t>Case study 02: Deere &amp; Company</a:t>
            </a:r>
            <a:endParaRPr lang="LID4096" dirty="0"/>
          </a:p>
        </p:txBody>
      </p:sp>
      <p:sp>
        <p:nvSpPr>
          <p:cNvPr id="3" name="Content Placeholder 2">
            <a:extLst>
              <a:ext uri="{FF2B5EF4-FFF2-40B4-BE49-F238E27FC236}">
                <a16:creationId xmlns:a16="http://schemas.microsoft.com/office/drawing/2014/main" id="{CB1B8458-0CE0-4CD9-95D5-740A5C650FC2}"/>
              </a:ext>
            </a:extLst>
          </p:cNvPr>
          <p:cNvSpPr>
            <a:spLocks noGrp="1"/>
          </p:cNvSpPr>
          <p:nvPr>
            <p:ph idx="1"/>
          </p:nvPr>
        </p:nvSpPr>
        <p:spPr/>
        <p:txBody>
          <a:bodyPr/>
          <a:lstStyle/>
          <a:p>
            <a:endParaRPr lang="LID4096"/>
          </a:p>
        </p:txBody>
      </p:sp>
      <p:sp>
        <p:nvSpPr>
          <p:cNvPr id="4" name="Footer Placeholder 3">
            <a:extLst>
              <a:ext uri="{FF2B5EF4-FFF2-40B4-BE49-F238E27FC236}">
                <a16:creationId xmlns:a16="http://schemas.microsoft.com/office/drawing/2014/main" id="{4256FDE9-26F5-4910-9C54-8CEC9F37D4E8}"/>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F2A2372E-E4EA-4F33-BFE8-7ABCF0710F1D}"/>
              </a:ext>
            </a:extLst>
          </p:cNvPr>
          <p:cNvSpPr>
            <a:spLocks noGrp="1"/>
          </p:cNvSpPr>
          <p:nvPr>
            <p:ph type="sldNum" sz="quarter" idx="12"/>
          </p:nvPr>
        </p:nvSpPr>
        <p:spPr/>
        <p:txBody>
          <a:bodyPr/>
          <a:lstStyle/>
          <a:p>
            <a:r>
              <a:rPr lang="en-US"/>
              <a:t>3-</a:t>
            </a:r>
            <a:fld id="{AAF7652D-00F5-4CC9-9A73-9C8E572E6AE1}" type="slidenum">
              <a:rPr lang="en-US" smtClean="0"/>
              <a:pPr/>
              <a:t>19</a:t>
            </a:fld>
            <a:endParaRPr lang="en-US" dirty="0"/>
          </a:p>
        </p:txBody>
      </p:sp>
      <p:pic>
        <p:nvPicPr>
          <p:cNvPr id="7" name="Picture 6">
            <a:extLst>
              <a:ext uri="{FF2B5EF4-FFF2-40B4-BE49-F238E27FC236}">
                <a16:creationId xmlns:a16="http://schemas.microsoft.com/office/drawing/2014/main" id="{01B7A303-AD99-4B24-8E19-B0A4F25B1744}"/>
              </a:ext>
            </a:extLst>
          </p:cNvPr>
          <p:cNvPicPr>
            <a:picLocks noChangeAspect="1"/>
          </p:cNvPicPr>
          <p:nvPr/>
        </p:nvPicPr>
        <p:blipFill>
          <a:blip r:embed="rId2"/>
          <a:stretch>
            <a:fillRect/>
          </a:stretch>
        </p:blipFill>
        <p:spPr>
          <a:xfrm>
            <a:off x="0" y="1307806"/>
            <a:ext cx="12192000" cy="5550194"/>
          </a:xfrm>
          <a:prstGeom prst="rect">
            <a:avLst/>
          </a:prstGeom>
        </p:spPr>
      </p:pic>
    </p:spTree>
    <p:extLst>
      <p:ext uri="{BB962C8B-B14F-4D97-AF65-F5344CB8AC3E}">
        <p14:creationId xmlns:p14="http://schemas.microsoft.com/office/powerpoint/2010/main" val="1159679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54A34-2124-4C80-B1A5-2237285D0325}"/>
              </a:ext>
            </a:extLst>
          </p:cNvPr>
          <p:cNvSpPr>
            <a:spLocks noGrp="1"/>
          </p:cNvSpPr>
          <p:nvPr>
            <p:ph type="title"/>
          </p:nvPr>
        </p:nvSpPr>
        <p:spPr>
          <a:xfrm>
            <a:off x="838200" y="225425"/>
            <a:ext cx="11134060" cy="1077205"/>
          </a:xfrm>
        </p:spPr>
        <p:txBody>
          <a:bodyPr>
            <a:normAutofit fontScale="90000"/>
          </a:bodyPr>
          <a:lstStyle/>
          <a:p>
            <a:r>
              <a:rPr lang="en-US" dirty="0"/>
              <a:t>Case study 03: Samsonite digital product passport</a:t>
            </a:r>
            <a:endParaRPr lang="LID4096" dirty="0"/>
          </a:p>
        </p:txBody>
      </p:sp>
      <p:sp>
        <p:nvSpPr>
          <p:cNvPr id="3" name="Content Placeholder 2">
            <a:extLst>
              <a:ext uri="{FF2B5EF4-FFF2-40B4-BE49-F238E27FC236}">
                <a16:creationId xmlns:a16="http://schemas.microsoft.com/office/drawing/2014/main" id="{AEFD6885-95EE-40FA-ABFE-2B1A1473E26B}"/>
              </a:ext>
            </a:extLst>
          </p:cNvPr>
          <p:cNvSpPr>
            <a:spLocks noGrp="1"/>
          </p:cNvSpPr>
          <p:nvPr>
            <p:ph idx="1"/>
          </p:nvPr>
        </p:nvSpPr>
        <p:spPr/>
        <p:txBody>
          <a:bodyPr/>
          <a:lstStyle/>
          <a:p>
            <a:endParaRPr lang="LID4096"/>
          </a:p>
        </p:txBody>
      </p:sp>
      <p:sp>
        <p:nvSpPr>
          <p:cNvPr id="4" name="Footer Placeholder 3">
            <a:extLst>
              <a:ext uri="{FF2B5EF4-FFF2-40B4-BE49-F238E27FC236}">
                <a16:creationId xmlns:a16="http://schemas.microsoft.com/office/drawing/2014/main" id="{D24BC317-81C0-40EE-A463-9C2B1D04DE10}"/>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52DE1065-F44C-4F60-A7B6-EB1F6064A84C}"/>
              </a:ext>
            </a:extLst>
          </p:cNvPr>
          <p:cNvSpPr>
            <a:spLocks noGrp="1"/>
          </p:cNvSpPr>
          <p:nvPr>
            <p:ph type="sldNum" sz="quarter" idx="12"/>
          </p:nvPr>
        </p:nvSpPr>
        <p:spPr/>
        <p:txBody>
          <a:bodyPr/>
          <a:lstStyle/>
          <a:p>
            <a:r>
              <a:rPr lang="en-US"/>
              <a:t>3-</a:t>
            </a:r>
            <a:fld id="{AAF7652D-00F5-4CC9-9A73-9C8E572E6AE1}" type="slidenum">
              <a:rPr lang="en-US" smtClean="0"/>
              <a:pPr/>
              <a:t>20</a:t>
            </a:fld>
            <a:endParaRPr lang="en-US" dirty="0"/>
          </a:p>
        </p:txBody>
      </p:sp>
      <p:pic>
        <p:nvPicPr>
          <p:cNvPr id="7" name="Picture 6">
            <a:extLst>
              <a:ext uri="{FF2B5EF4-FFF2-40B4-BE49-F238E27FC236}">
                <a16:creationId xmlns:a16="http://schemas.microsoft.com/office/drawing/2014/main" id="{DDBD0A87-F2CB-4004-A55F-F820CEAF446D}"/>
              </a:ext>
            </a:extLst>
          </p:cNvPr>
          <p:cNvPicPr>
            <a:picLocks noChangeAspect="1"/>
          </p:cNvPicPr>
          <p:nvPr/>
        </p:nvPicPr>
        <p:blipFill>
          <a:blip r:embed="rId2"/>
          <a:stretch>
            <a:fillRect/>
          </a:stretch>
        </p:blipFill>
        <p:spPr>
          <a:xfrm>
            <a:off x="0" y="1302630"/>
            <a:ext cx="12192000" cy="5555370"/>
          </a:xfrm>
          <a:prstGeom prst="rect">
            <a:avLst/>
          </a:prstGeom>
        </p:spPr>
      </p:pic>
    </p:spTree>
    <p:extLst>
      <p:ext uri="{BB962C8B-B14F-4D97-AF65-F5344CB8AC3E}">
        <p14:creationId xmlns:p14="http://schemas.microsoft.com/office/powerpoint/2010/main" val="3106902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966F1-FDDE-46F5-8B76-F1BEABE972A0}"/>
              </a:ext>
            </a:extLst>
          </p:cNvPr>
          <p:cNvSpPr>
            <a:spLocks noGrp="1"/>
          </p:cNvSpPr>
          <p:nvPr>
            <p:ph type="title"/>
          </p:nvPr>
        </p:nvSpPr>
        <p:spPr>
          <a:xfrm>
            <a:off x="710610" y="225425"/>
            <a:ext cx="10932042" cy="1325563"/>
          </a:xfrm>
        </p:spPr>
        <p:txBody>
          <a:bodyPr/>
          <a:lstStyle/>
          <a:p>
            <a:pPr algn="just"/>
            <a:r>
              <a:rPr lang="en-US" dirty="0"/>
              <a:t>Scenario 01: Implementing ISO 9001 in a company</a:t>
            </a:r>
            <a:endParaRPr lang="LID4096" dirty="0"/>
          </a:p>
        </p:txBody>
      </p:sp>
      <p:sp>
        <p:nvSpPr>
          <p:cNvPr id="3" name="Content Placeholder 2">
            <a:extLst>
              <a:ext uri="{FF2B5EF4-FFF2-40B4-BE49-F238E27FC236}">
                <a16:creationId xmlns:a16="http://schemas.microsoft.com/office/drawing/2014/main" id="{350F3473-F789-4143-83B1-61FAF154B7C1}"/>
              </a:ext>
            </a:extLst>
          </p:cNvPr>
          <p:cNvSpPr>
            <a:spLocks noGrp="1"/>
          </p:cNvSpPr>
          <p:nvPr>
            <p:ph idx="1"/>
          </p:nvPr>
        </p:nvSpPr>
        <p:spPr/>
        <p:txBody>
          <a:bodyPr/>
          <a:lstStyle/>
          <a:p>
            <a:endParaRPr lang="LID4096"/>
          </a:p>
        </p:txBody>
      </p:sp>
      <p:sp>
        <p:nvSpPr>
          <p:cNvPr id="4" name="Footer Placeholder 3">
            <a:extLst>
              <a:ext uri="{FF2B5EF4-FFF2-40B4-BE49-F238E27FC236}">
                <a16:creationId xmlns:a16="http://schemas.microsoft.com/office/drawing/2014/main" id="{B2C50630-A754-4658-BA26-7E93D25A4788}"/>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72B76A40-380B-4552-8C60-ED7EE6BD9D26}"/>
              </a:ext>
            </a:extLst>
          </p:cNvPr>
          <p:cNvSpPr>
            <a:spLocks noGrp="1"/>
          </p:cNvSpPr>
          <p:nvPr>
            <p:ph type="sldNum" sz="quarter" idx="12"/>
          </p:nvPr>
        </p:nvSpPr>
        <p:spPr/>
        <p:txBody>
          <a:bodyPr/>
          <a:lstStyle/>
          <a:p>
            <a:r>
              <a:rPr lang="en-US"/>
              <a:t>3-</a:t>
            </a:r>
            <a:fld id="{AAF7652D-00F5-4CC9-9A73-9C8E572E6AE1}" type="slidenum">
              <a:rPr lang="en-US" smtClean="0"/>
              <a:pPr/>
              <a:t>21</a:t>
            </a:fld>
            <a:endParaRPr lang="en-US" dirty="0"/>
          </a:p>
        </p:txBody>
      </p:sp>
      <p:pic>
        <p:nvPicPr>
          <p:cNvPr id="7" name="Picture 6">
            <a:extLst>
              <a:ext uri="{FF2B5EF4-FFF2-40B4-BE49-F238E27FC236}">
                <a16:creationId xmlns:a16="http://schemas.microsoft.com/office/drawing/2014/main" id="{C24DF946-C83F-456F-98A9-36399307D6AA}"/>
              </a:ext>
            </a:extLst>
          </p:cNvPr>
          <p:cNvPicPr>
            <a:picLocks noChangeAspect="1"/>
          </p:cNvPicPr>
          <p:nvPr/>
        </p:nvPicPr>
        <p:blipFill rotWithShape="1">
          <a:blip r:embed="rId2"/>
          <a:srcRect t="10038"/>
          <a:stretch/>
        </p:blipFill>
        <p:spPr>
          <a:xfrm>
            <a:off x="0" y="1496616"/>
            <a:ext cx="12191999" cy="5361384"/>
          </a:xfrm>
          <a:prstGeom prst="rect">
            <a:avLst/>
          </a:prstGeom>
        </p:spPr>
      </p:pic>
    </p:spTree>
    <p:extLst>
      <p:ext uri="{BB962C8B-B14F-4D97-AF65-F5344CB8AC3E}">
        <p14:creationId xmlns:p14="http://schemas.microsoft.com/office/powerpoint/2010/main" val="4151295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53F35-4A9B-4879-BF98-FAB9E01736FE}"/>
              </a:ext>
            </a:extLst>
          </p:cNvPr>
          <p:cNvSpPr>
            <a:spLocks noGrp="1"/>
          </p:cNvSpPr>
          <p:nvPr>
            <p:ph type="title"/>
          </p:nvPr>
        </p:nvSpPr>
        <p:spPr/>
        <p:txBody>
          <a:bodyPr/>
          <a:lstStyle/>
          <a:p>
            <a:r>
              <a:rPr lang="en-US" dirty="0"/>
              <a:t>Scenario 02: Global Supply Chain Disruption Recovery</a:t>
            </a:r>
            <a:endParaRPr lang="LID4096" dirty="0"/>
          </a:p>
        </p:txBody>
      </p:sp>
      <p:sp>
        <p:nvSpPr>
          <p:cNvPr id="4" name="Footer Placeholder 3">
            <a:extLst>
              <a:ext uri="{FF2B5EF4-FFF2-40B4-BE49-F238E27FC236}">
                <a16:creationId xmlns:a16="http://schemas.microsoft.com/office/drawing/2014/main" id="{22575AA5-0335-412D-B6BD-AE650111A7DA}"/>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39035E5E-40FD-46A9-9431-2E4DB044E15D}"/>
              </a:ext>
            </a:extLst>
          </p:cNvPr>
          <p:cNvSpPr>
            <a:spLocks noGrp="1"/>
          </p:cNvSpPr>
          <p:nvPr>
            <p:ph type="sldNum" sz="quarter" idx="12"/>
          </p:nvPr>
        </p:nvSpPr>
        <p:spPr/>
        <p:txBody>
          <a:bodyPr/>
          <a:lstStyle/>
          <a:p>
            <a:r>
              <a:rPr lang="en-US"/>
              <a:t>3-</a:t>
            </a:r>
            <a:fld id="{AAF7652D-00F5-4CC9-9A73-9C8E572E6AE1}" type="slidenum">
              <a:rPr lang="en-US" smtClean="0"/>
              <a:pPr/>
              <a:t>22</a:t>
            </a:fld>
            <a:endParaRPr lang="en-US" dirty="0"/>
          </a:p>
        </p:txBody>
      </p:sp>
      <p:sp>
        <p:nvSpPr>
          <p:cNvPr id="14" name="Rectangle 5">
            <a:extLst>
              <a:ext uri="{FF2B5EF4-FFF2-40B4-BE49-F238E27FC236}">
                <a16:creationId xmlns:a16="http://schemas.microsoft.com/office/drawing/2014/main" id="{73E924FA-E107-415B-B267-44827DCE166C}"/>
              </a:ext>
            </a:extLst>
          </p:cNvPr>
          <p:cNvSpPr>
            <a:spLocks noChangeArrowheads="1"/>
          </p:cNvSpPr>
          <p:nvPr/>
        </p:nvSpPr>
        <p:spPr bwMode="auto">
          <a:xfrm>
            <a:off x="10160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pic>
        <p:nvPicPr>
          <p:cNvPr id="19" name="Content Placeholder 18">
            <a:extLst>
              <a:ext uri="{FF2B5EF4-FFF2-40B4-BE49-F238E27FC236}">
                <a16:creationId xmlns:a16="http://schemas.microsoft.com/office/drawing/2014/main" id="{B438304A-BA00-4940-8B91-1539B8A7E1AD}"/>
              </a:ext>
            </a:extLst>
          </p:cNvPr>
          <p:cNvPicPr>
            <a:picLocks noGrp="1" noChangeAspect="1"/>
          </p:cNvPicPr>
          <p:nvPr>
            <p:ph idx="1"/>
          </p:nvPr>
        </p:nvPicPr>
        <p:blipFill rotWithShape="1">
          <a:blip r:embed="rId2"/>
          <a:srcRect t="11116" r="1104"/>
          <a:stretch/>
        </p:blipFill>
        <p:spPr>
          <a:xfrm>
            <a:off x="0" y="1550988"/>
            <a:ext cx="12057321" cy="5381437"/>
          </a:xfrm>
        </p:spPr>
      </p:pic>
    </p:spTree>
    <p:extLst>
      <p:ext uri="{BB962C8B-B14F-4D97-AF65-F5344CB8AC3E}">
        <p14:creationId xmlns:p14="http://schemas.microsoft.com/office/powerpoint/2010/main" val="4191522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0B09D-83D1-4BB3-B54F-93FF86D97E99}"/>
              </a:ext>
            </a:extLst>
          </p:cNvPr>
          <p:cNvSpPr>
            <a:spLocks noGrp="1"/>
          </p:cNvSpPr>
          <p:nvPr>
            <p:ph type="title"/>
          </p:nvPr>
        </p:nvSpPr>
        <p:spPr/>
        <p:txBody>
          <a:bodyPr/>
          <a:lstStyle/>
          <a:p>
            <a:r>
              <a:rPr lang="en-US" dirty="0"/>
              <a:t>New Trends in Supply chain Quality</a:t>
            </a:r>
            <a:endParaRPr lang="LID4096" dirty="0"/>
          </a:p>
        </p:txBody>
      </p:sp>
      <p:sp>
        <p:nvSpPr>
          <p:cNvPr id="3" name="Content Placeholder 2">
            <a:extLst>
              <a:ext uri="{FF2B5EF4-FFF2-40B4-BE49-F238E27FC236}">
                <a16:creationId xmlns:a16="http://schemas.microsoft.com/office/drawing/2014/main" id="{B2D12838-4AE1-4760-A9A0-22A82D5DB04F}"/>
              </a:ext>
            </a:extLst>
          </p:cNvPr>
          <p:cNvSpPr>
            <a:spLocks noGrp="1"/>
          </p:cNvSpPr>
          <p:nvPr>
            <p:ph idx="1"/>
          </p:nvPr>
        </p:nvSpPr>
        <p:spPr>
          <a:xfrm>
            <a:off x="838200" y="1570038"/>
            <a:ext cx="10515600" cy="4862660"/>
          </a:xfrm>
        </p:spPr>
        <p:txBody>
          <a:bodyPr>
            <a:normAutofit/>
          </a:bodyPr>
          <a:lstStyle/>
          <a:p>
            <a:pPr marL="0" indent="0" algn="just">
              <a:buNone/>
            </a:pPr>
            <a:r>
              <a:rPr lang="en-US" sz="2400" dirty="0"/>
              <a:t>Digital Product Passports (DPP): </a:t>
            </a:r>
            <a:r>
              <a:rPr lang="en-US" sz="2400" b="0" dirty="0"/>
              <a:t>Product traceability from throughout life cycle. </a:t>
            </a:r>
          </a:p>
          <a:p>
            <a:pPr marL="0" indent="0" algn="just">
              <a:buNone/>
            </a:pPr>
            <a:r>
              <a:rPr lang="en-US" sz="2400" dirty="0"/>
              <a:t>AI &amp; Predictive Quality: </a:t>
            </a:r>
            <a:r>
              <a:rPr lang="en-US" sz="2400" b="0" dirty="0"/>
              <a:t>Machine learning predicts quality issues before they occur</a:t>
            </a:r>
          </a:p>
          <a:p>
            <a:pPr marL="0" indent="0" algn="just">
              <a:buNone/>
            </a:pPr>
            <a:r>
              <a:rPr lang="en-US" sz="2400" dirty="0"/>
              <a:t>Blockchain for Transparency: </a:t>
            </a:r>
            <a:r>
              <a:rPr lang="en-US" sz="2400" b="0" dirty="0"/>
              <a:t>Immutable ledgers ensuring supply chain data integrity through tamper‑proof, auditable transaction records.​</a:t>
            </a:r>
          </a:p>
          <a:p>
            <a:pPr marL="0" indent="0" algn="just">
              <a:buNone/>
            </a:pPr>
            <a:r>
              <a:rPr lang="en-US" sz="2400" dirty="0"/>
              <a:t>IoT Sensors: </a:t>
            </a:r>
            <a:r>
              <a:rPr lang="en-US" sz="2400" b="0" dirty="0"/>
              <a:t>Real‑time monitoring of product quality​</a:t>
            </a:r>
          </a:p>
          <a:p>
            <a:pPr marL="0" indent="0" algn="just">
              <a:buNone/>
            </a:pPr>
            <a:r>
              <a:rPr lang="en-US" sz="2400" dirty="0"/>
              <a:t>Circular Economy Integration: </a:t>
            </a:r>
            <a:r>
              <a:rPr lang="en-US" sz="2400" b="0" dirty="0"/>
              <a:t>ISO and related standards expanding to include product lifecycle management </a:t>
            </a:r>
          </a:p>
          <a:p>
            <a:pPr marL="0" indent="0" algn="just">
              <a:buNone/>
            </a:pPr>
            <a:r>
              <a:rPr lang="en-US" sz="2400" dirty="0"/>
              <a:t>Sustainability Reporting: </a:t>
            </a:r>
            <a:r>
              <a:rPr lang="en-US" sz="2400" b="0" dirty="0"/>
              <a:t>CSRD (Corporate Sustainability Reporting Directive) and ESG metrics requiring standardized disclosure of environmental and social performance.​</a:t>
            </a:r>
          </a:p>
        </p:txBody>
      </p:sp>
      <p:sp>
        <p:nvSpPr>
          <p:cNvPr id="4" name="Footer Placeholder 3">
            <a:extLst>
              <a:ext uri="{FF2B5EF4-FFF2-40B4-BE49-F238E27FC236}">
                <a16:creationId xmlns:a16="http://schemas.microsoft.com/office/drawing/2014/main" id="{12C8F98C-B04C-446C-ABA4-42CC1CFE26FF}"/>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B20A41AA-0566-4586-9CE9-510800A4E00D}"/>
              </a:ext>
            </a:extLst>
          </p:cNvPr>
          <p:cNvSpPr>
            <a:spLocks noGrp="1"/>
          </p:cNvSpPr>
          <p:nvPr>
            <p:ph type="sldNum" sz="quarter" idx="12"/>
          </p:nvPr>
        </p:nvSpPr>
        <p:spPr/>
        <p:txBody>
          <a:bodyPr/>
          <a:lstStyle/>
          <a:p>
            <a:r>
              <a:rPr lang="en-US"/>
              <a:t>3-</a:t>
            </a:r>
            <a:fld id="{AAF7652D-00F5-4CC9-9A73-9C8E572E6AE1}" type="slidenum">
              <a:rPr lang="en-US" smtClean="0"/>
              <a:pPr/>
              <a:t>23</a:t>
            </a:fld>
            <a:endParaRPr lang="en-US" dirty="0"/>
          </a:p>
        </p:txBody>
      </p:sp>
    </p:spTree>
    <p:extLst>
      <p:ext uri="{BB962C8B-B14F-4D97-AF65-F5344CB8AC3E}">
        <p14:creationId xmlns:p14="http://schemas.microsoft.com/office/powerpoint/2010/main" val="34820563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2465</TotalTime>
  <Words>1699</Words>
  <Application>Microsoft Office PowerPoint</Application>
  <PresentationFormat>Widescreen</PresentationFormat>
  <Paragraphs>184</Paragraphs>
  <Slides>23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vt:lpstr>
      <vt:lpstr>Verdana</vt:lpstr>
      <vt:lpstr>Office Theme</vt:lpstr>
      <vt:lpstr>Chapter 3</vt:lpstr>
      <vt:lpstr>Chapter Objectives</vt:lpstr>
      <vt:lpstr>Quality: The Foundation of Competitive Advantage </vt:lpstr>
      <vt:lpstr>The Baldrige Performance Excellence Program</vt:lpstr>
      <vt:lpstr>Baldrige Award Framework</vt:lpstr>
      <vt:lpstr>Baldrige Award Criteria</vt:lpstr>
      <vt:lpstr>Lean Wastes</vt:lpstr>
      <vt:lpstr>Are Quality Approaches Influenced by Culture?</vt:lpstr>
      <vt:lpstr>ISO 9000:2015</vt:lpstr>
      <vt:lpstr>ISO 9000:2015 Seven Principles</vt:lpstr>
      <vt:lpstr>ISO 9000:2015 Process</vt:lpstr>
      <vt:lpstr>ISO 19001</vt:lpstr>
      <vt:lpstr>ISO 14000</vt:lpstr>
      <vt:lpstr>ISO 14000 Elements</vt:lpstr>
      <vt:lpstr>ISO 14001: Environmental Management</vt:lpstr>
      <vt:lpstr>ISO 28000: Security and Resilience</vt:lpstr>
      <vt:lpstr>ISO 31000: Risk Management</vt:lpstr>
      <vt:lpstr>Case study 01: Boeing 787 Dreamliner</vt:lpstr>
      <vt:lpstr>Case study 02: Deere &amp; Company</vt:lpstr>
      <vt:lpstr>Case study 03: Samsonite digital product passport</vt:lpstr>
      <vt:lpstr>Scenario 01: Implementing ISO 9001 in a company</vt:lpstr>
      <vt:lpstr>Scenario 02: Global Supply Chain Disruption Recovery</vt:lpstr>
      <vt:lpstr>New Trends in Supply chain Quality</vt:lpstr>
    </vt:vector>
  </TitlesOfParts>
  <Company>Duquesne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Kathryn Marley</dc:creator>
  <cp:lastModifiedBy>Muhammad Omair</cp:lastModifiedBy>
  <cp:revision>138</cp:revision>
  <dcterms:created xsi:type="dcterms:W3CDTF">2015-11-17T01:01:34Z</dcterms:created>
  <dcterms:modified xsi:type="dcterms:W3CDTF">2026-01-16T17:41:00Z</dcterms:modified>
</cp:coreProperties>
</file>