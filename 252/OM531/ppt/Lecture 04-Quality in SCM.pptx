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308" r:id="rId4"/>
    <p:sldId id="309" r:id="rId5"/>
    <p:sldId id="310" r:id="rId6"/>
    <p:sldId id="311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312" r:id="rId15"/>
    <p:sldId id="265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7" r:id="rId44"/>
    <p:sldId id="296" r:id="rId45"/>
    <p:sldId id="298" r:id="rId46"/>
    <p:sldId id="302" r:id="rId47"/>
    <p:sldId id="299" r:id="rId48"/>
    <p:sldId id="300" r:id="rId49"/>
    <p:sldId id="301" r:id="rId50"/>
    <p:sldId id="303" r:id="rId5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996633"/>
    <a:srgbClr val="66FF66"/>
    <a:srgbClr val="33CC33"/>
    <a:srgbClr val="000066"/>
    <a:srgbClr val="669900"/>
    <a:srgbClr val="CC99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08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B272F0-89B3-4E85-ADAA-2874D5A1598A}" type="doc">
      <dgm:prSet loTypeId="urn:microsoft.com/office/officeart/2005/8/layout/cycle2" loCatId="cycle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27BE25AE-4F4A-4444-81A4-CA681E34145F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u="sng" dirty="0">
              <a:solidFill>
                <a:schemeClr val="tx1"/>
              </a:solidFill>
              <a:effectLst/>
            </a:rPr>
            <a:t>D</a:t>
          </a:r>
          <a:r>
            <a:rPr lang="en-US" b="1" dirty="0">
              <a:solidFill>
                <a:schemeClr val="tx1"/>
              </a:solidFill>
              <a:effectLst/>
            </a:rPr>
            <a:t>efine</a:t>
          </a:r>
        </a:p>
      </dgm:t>
    </dgm:pt>
    <dgm:pt modelId="{A0409D08-FDB7-4BD9-91D7-BAE2BBF404D2}" type="parTrans" cxnId="{4D5647F4-E1B4-499D-A429-446754F4A89E}">
      <dgm:prSet/>
      <dgm:spPr/>
      <dgm:t>
        <a:bodyPr/>
        <a:lstStyle/>
        <a:p>
          <a:endParaRPr lang="en-US"/>
        </a:p>
      </dgm:t>
    </dgm:pt>
    <dgm:pt modelId="{EB63DF3F-51F0-420B-B793-628FA5745284}" type="sibTrans" cxnId="{4D5647F4-E1B4-499D-A429-446754F4A89E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DAD57604-912F-4E50-9E3D-C137F126C679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M</a:t>
          </a:r>
          <a:r>
            <a:rPr lang="en-US" b="1" u="none" dirty="0">
              <a:solidFill>
                <a:schemeClr val="tx1"/>
              </a:solidFill>
            </a:rPr>
            <a:t>ea</a:t>
          </a:r>
          <a:r>
            <a:rPr lang="en-US" b="1" dirty="0">
              <a:solidFill>
                <a:schemeClr val="tx1"/>
              </a:solidFill>
            </a:rPr>
            <a:t>sure</a:t>
          </a:r>
        </a:p>
      </dgm:t>
    </dgm:pt>
    <dgm:pt modelId="{77C773B6-2A3E-4401-A3C2-90B1DAC7F26D}" type="parTrans" cxnId="{576E5D8E-7B9E-426B-9071-369807F3745D}">
      <dgm:prSet/>
      <dgm:spPr/>
      <dgm:t>
        <a:bodyPr/>
        <a:lstStyle/>
        <a:p>
          <a:endParaRPr lang="en-US"/>
        </a:p>
      </dgm:t>
    </dgm:pt>
    <dgm:pt modelId="{6A8ADB88-635F-4397-8E7C-F719DA7F6629}" type="sibTrans" cxnId="{576E5D8E-7B9E-426B-9071-369807F3745D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076057BA-D299-48F7-A968-F76CBFCCCDFF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A</a:t>
          </a:r>
          <a:r>
            <a:rPr lang="en-US" b="1" dirty="0">
              <a:solidFill>
                <a:schemeClr val="tx1"/>
              </a:solidFill>
            </a:rPr>
            <a:t>nalyze</a:t>
          </a:r>
        </a:p>
      </dgm:t>
    </dgm:pt>
    <dgm:pt modelId="{B83AE8A1-6A62-4E0E-A65E-74E08F16CEF2}" type="parTrans" cxnId="{60FE94ED-5094-438F-8EF4-F51E044F87EB}">
      <dgm:prSet/>
      <dgm:spPr/>
      <dgm:t>
        <a:bodyPr/>
        <a:lstStyle/>
        <a:p>
          <a:endParaRPr lang="en-US"/>
        </a:p>
      </dgm:t>
    </dgm:pt>
    <dgm:pt modelId="{5C95008F-66A9-498B-8408-4DCD0DAB6701}" type="sibTrans" cxnId="{60FE94ED-5094-438F-8EF4-F51E044F87EB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5D54065A-6AD4-45B8-9917-1F68C72C1342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I</a:t>
          </a:r>
          <a:r>
            <a:rPr lang="en-US" b="1" dirty="0">
              <a:solidFill>
                <a:schemeClr val="tx1"/>
              </a:solidFill>
            </a:rPr>
            <a:t>mprove</a:t>
          </a:r>
        </a:p>
      </dgm:t>
    </dgm:pt>
    <dgm:pt modelId="{C1A9CC47-B894-4EC8-A5A2-0963ADA2E058}" type="parTrans" cxnId="{A4FB30FE-8D36-42CD-B471-9D48B7A1CE9A}">
      <dgm:prSet/>
      <dgm:spPr/>
      <dgm:t>
        <a:bodyPr/>
        <a:lstStyle/>
        <a:p>
          <a:endParaRPr lang="en-US"/>
        </a:p>
      </dgm:t>
    </dgm:pt>
    <dgm:pt modelId="{E09EE3CF-8B50-421E-A4AE-A2DB2C808055}" type="sibTrans" cxnId="{A4FB30FE-8D36-42CD-B471-9D48B7A1CE9A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09ABF8EC-270E-467C-A171-F4E1A2A68A4B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C</a:t>
          </a:r>
          <a:r>
            <a:rPr lang="en-US" b="1" dirty="0">
              <a:solidFill>
                <a:schemeClr val="tx1"/>
              </a:solidFill>
            </a:rPr>
            <a:t>ontrol</a:t>
          </a:r>
        </a:p>
      </dgm:t>
    </dgm:pt>
    <dgm:pt modelId="{DA753572-A154-428D-AB19-25D282EC53A6}" type="parTrans" cxnId="{E820FAB6-22C0-4ED9-BB52-E8DA0440883D}">
      <dgm:prSet/>
      <dgm:spPr/>
      <dgm:t>
        <a:bodyPr/>
        <a:lstStyle/>
        <a:p>
          <a:endParaRPr lang="en-US"/>
        </a:p>
      </dgm:t>
    </dgm:pt>
    <dgm:pt modelId="{F6793588-66B7-4281-9034-1D4A5C906014}" type="sibTrans" cxnId="{E820FAB6-22C0-4ED9-BB52-E8DA0440883D}">
      <dgm:prSet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BB18DD8-F118-45E8-A33E-849988AC3B18}" type="pres">
      <dgm:prSet presAssocID="{1DB272F0-89B3-4E85-ADAA-2874D5A1598A}" presName="cycle" presStyleCnt="0">
        <dgm:presLayoutVars>
          <dgm:dir/>
          <dgm:resizeHandles val="exact"/>
        </dgm:presLayoutVars>
      </dgm:prSet>
      <dgm:spPr/>
    </dgm:pt>
    <dgm:pt modelId="{867CB2EC-6A3C-4F9D-9EB3-5B2C7EE34373}" type="pres">
      <dgm:prSet presAssocID="{27BE25AE-4F4A-4444-81A4-CA681E34145F}" presName="node" presStyleLbl="node1" presStyleIdx="0" presStyleCnt="5" custScaleX="107080">
        <dgm:presLayoutVars>
          <dgm:bulletEnabled val="1"/>
        </dgm:presLayoutVars>
      </dgm:prSet>
      <dgm:spPr/>
    </dgm:pt>
    <dgm:pt modelId="{D640F65B-D152-474E-A3EB-EB6A885366A2}" type="pres">
      <dgm:prSet presAssocID="{EB63DF3F-51F0-420B-B793-628FA5745284}" presName="sibTrans" presStyleLbl="sibTrans2D1" presStyleIdx="0" presStyleCnt="5"/>
      <dgm:spPr/>
    </dgm:pt>
    <dgm:pt modelId="{0AA44A75-784E-4500-BCD1-5BD9ADDFD547}" type="pres">
      <dgm:prSet presAssocID="{EB63DF3F-51F0-420B-B793-628FA5745284}" presName="connectorText" presStyleLbl="sibTrans2D1" presStyleIdx="0" presStyleCnt="5"/>
      <dgm:spPr/>
    </dgm:pt>
    <dgm:pt modelId="{5E9C2AE6-C8B5-49E9-8055-C0B4AFCD84A1}" type="pres">
      <dgm:prSet presAssocID="{DAD57604-912F-4E50-9E3D-C137F126C679}" presName="node" presStyleLbl="node1" presStyleIdx="1" presStyleCnt="5" custScaleX="108523">
        <dgm:presLayoutVars>
          <dgm:bulletEnabled val="1"/>
        </dgm:presLayoutVars>
      </dgm:prSet>
      <dgm:spPr/>
    </dgm:pt>
    <dgm:pt modelId="{C817A65D-E54F-4811-830C-339370CE2382}" type="pres">
      <dgm:prSet presAssocID="{6A8ADB88-635F-4397-8E7C-F719DA7F6629}" presName="sibTrans" presStyleLbl="sibTrans2D1" presStyleIdx="1" presStyleCnt="5"/>
      <dgm:spPr/>
    </dgm:pt>
    <dgm:pt modelId="{A9CA5196-C14D-4ECE-B9EE-D315D46A59BD}" type="pres">
      <dgm:prSet presAssocID="{6A8ADB88-635F-4397-8E7C-F719DA7F6629}" presName="connectorText" presStyleLbl="sibTrans2D1" presStyleIdx="1" presStyleCnt="5"/>
      <dgm:spPr/>
    </dgm:pt>
    <dgm:pt modelId="{820FE6E2-0176-426C-A4E4-31A7DCD98BFE}" type="pres">
      <dgm:prSet presAssocID="{076057BA-D299-48F7-A968-F76CBFCCCDFF}" presName="node" presStyleLbl="node1" presStyleIdx="2" presStyleCnt="5" custScaleX="103675">
        <dgm:presLayoutVars>
          <dgm:bulletEnabled val="1"/>
        </dgm:presLayoutVars>
      </dgm:prSet>
      <dgm:spPr/>
    </dgm:pt>
    <dgm:pt modelId="{5C27FF43-EDDA-4A77-B73A-D5873E780C3F}" type="pres">
      <dgm:prSet presAssocID="{5C95008F-66A9-498B-8408-4DCD0DAB6701}" presName="sibTrans" presStyleLbl="sibTrans2D1" presStyleIdx="2" presStyleCnt="5"/>
      <dgm:spPr/>
    </dgm:pt>
    <dgm:pt modelId="{516C1023-03E0-4A33-8A89-F927C8A30D94}" type="pres">
      <dgm:prSet presAssocID="{5C95008F-66A9-498B-8408-4DCD0DAB6701}" presName="connectorText" presStyleLbl="sibTrans2D1" presStyleIdx="2" presStyleCnt="5"/>
      <dgm:spPr/>
    </dgm:pt>
    <dgm:pt modelId="{E164B8EA-7255-496A-B0DE-9E28846EC303}" type="pres">
      <dgm:prSet presAssocID="{5D54065A-6AD4-45B8-9917-1F68C72C1342}" presName="node" presStyleLbl="node1" presStyleIdx="3" presStyleCnt="5" custScaleX="105531">
        <dgm:presLayoutVars>
          <dgm:bulletEnabled val="1"/>
        </dgm:presLayoutVars>
      </dgm:prSet>
      <dgm:spPr/>
    </dgm:pt>
    <dgm:pt modelId="{F6713137-6C5D-46E2-8DDC-E9D1A471E8E5}" type="pres">
      <dgm:prSet presAssocID="{E09EE3CF-8B50-421E-A4AE-A2DB2C808055}" presName="sibTrans" presStyleLbl="sibTrans2D1" presStyleIdx="3" presStyleCnt="5" custLinFactNeighborX="3781" custLinFactNeighborY="-12037"/>
      <dgm:spPr/>
    </dgm:pt>
    <dgm:pt modelId="{A3CC7ECA-EDD1-445E-991E-066DB6854A8D}" type="pres">
      <dgm:prSet presAssocID="{E09EE3CF-8B50-421E-A4AE-A2DB2C808055}" presName="connectorText" presStyleLbl="sibTrans2D1" presStyleIdx="3" presStyleCnt="5"/>
      <dgm:spPr/>
    </dgm:pt>
    <dgm:pt modelId="{68CB4EC9-6180-4067-BC0E-D0C854FCE20E}" type="pres">
      <dgm:prSet presAssocID="{09ABF8EC-270E-467C-A171-F4E1A2A68A4B}" presName="node" presStyleLbl="node1" presStyleIdx="4" presStyleCnt="5" custScaleX="110379">
        <dgm:presLayoutVars>
          <dgm:bulletEnabled val="1"/>
        </dgm:presLayoutVars>
      </dgm:prSet>
      <dgm:spPr/>
    </dgm:pt>
    <dgm:pt modelId="{854C87B1-44E0-4397-A20B-118263196AB8}" type="pres">
      <dgm:prSet presAssocID="{F6793588-66B7-4281-9034-1D4A5C906014}" presName="sibTrans" presStyleLbl="sibTrans2D1" presStyleIdx="4" presStyleCnt="5"/>
      <dgm:spPr/>
    </dgm:pt>
    <dgm:pt modelId="{62EF4D30-9507-43AE-B096-A5E0DF00ECAC}" type="pres">
      <dgm:prSet presAssocID="{F6793588-66B7-4281-9034-1D4A5C906014}" presName="connectorText" presStyleLbl="sibTrans2D1" presStyleIdx="4" presStyleCnt="5"/>
      <dgm:spPr/>
    </dgm:pt>
  </dgm:ptLst>
  <dgm:cxnLst>
    <dgm:cxn modelId="{075C6700-1A60-40B2-AA7F-A2EF14EE1E1D}" type="presOf" srcId="{27BE25AE-4F4A-4444-81A4-CA681E34145F}" destId="{867CB2EC-6A3C-4F9D-9EB3-5B2C7EE34373}" srcOrd="0" destOrd="0" presId="urn:microsoft.com/office/officeart/2005/8/layout/cycle2"/>
    <dgm:cxn modelId="{C87AED0F-FDFF-4886-AD52-34DD04D476B5}" type="presOf" srcId="{1DB272F0-89B3-4E85-ADAA-2874D5A1598A}" destId="{4BB18DD8-F118-45E8-A33E-849988AC3B18}" srcOrd="0" destOrd="0" presId="urn:microsoft.com/office/officeart/2005/8/layout/cycle2"/>
    <dgm:cxn modelId="{00F87D1A-B1DE-449B-A54D-DE3A8558B440}" type="presOf" srcId="{09ABF8EC-270E-467C-A171-F4E1A2A68A4B}" destId="{68CB4EC9-6180-4067-BC0E-D0C854FCE20E}" srcOrd="0" destOrd="0" presId="urn:microsoft.com/office/officeart/2005/8/layout/cycle2"/>
    <dgm:cxn modelId="{2481735F-5318-4B82-8C3B-AE9B6111D116}" type="presOf" srcId="{6A8ADB88-635F-4397-8E7C-F719DA7F6629}" destId="{A9CA5196-C14D-4ECE-B9EE-D315D46A59BD}" srcOrd="1" destOrd="0" presId="urn:microsoft.com/office/officeart/2005/8/layout/cycle2"/>
    <dgm:cxn modelId="{A9002A49-4FFA-4D5E-B441-D0FB63926D96}" type="presOf" srcId="{6A8ADB88-635F-4397-8E7C-F719DA7F6629}" destId="{C817A65D-E54F-4811-830C-339370CE2382}" srcOrd="0" destOrd="0" presId="urn:microsoft.com/office/officeart/2005/8/layout/cycle2"/>
    <dgm:cxn modelId="{EFFC536C-A82F-40A5-B4D9-E63D32D5A630}" type="presOf" srcId="{F6793588-66B7-4281-9034-1D4A5C906014}" destId="{854C87B1-44E0-4397-A20B-118263196AB8}" srcOrd="0" destOrd="0" presId="urn:microsoft.com/office/officeart/2005/8/layout/cycle2"/>
    <dgm:cxn modelId="{576E5D8E-7B9E-426B-9071-369807F3745D}" srcId="{1DB272F0-89B3-4E85-ADAA-2874D5A1598A}" destId="{DAD57604-912F-4E50-9E3D-C137F126C679}" srcOrd="1" destOrd="0" parTransId="{77C773B6-2A3E-4401-A3C2-90B1DAC7F26D}" sibTransId="{6A8ADB88-635F-4397-8E7C-F719DA7F6629}"/>
    <dgm:cxn modelId="{D5F50A94-60E0-4D99-A772-6A2123BD0A39}" type="presOf" srcId="{F6793588-66B7-4281-9034-1D4A5C906014}" destId="{62EF4D30-9507-43AE-B096-A5E0DF00ECAC}" srcOrd="1" destOrd="0" presId="urn:microsoft.com/office/officeart/2005/8/layout/cycle2"/>
    <dgm:cxn modelId="{C0F3F1A1-2B22-4D46-A580-7F0AFE757608}" type="presOf" srcId="{076057BA-D299-48F7-A968-F76CBFCCCDFF}" destId="{820FE6E2-0176-426C-A4E4-31A7DCD98BFE}" srcOrd="0" destOrd="0" presId="urn:microsoft.com/office/officeart/2005/8/layout/cycle2"/>
    <dgm:cxn modelId="{977534A4-41CC-4488-86EC-1E09328162CD}" type="presOf" srcId="{5C95008F-66A9-498B-8408-4DCD0DAB6701}" destId="{5C27FF43-EDDA-4A77-B73A-D5873E780C3F}" srcOrd="0" destOrd="0" presId="urn:microsoft.com/office/officeart/2005/8/layout/cycle2"/>
    <dgm:cxn modelId="{432033A6-A86F-4418-8DDA-FF8B7338222C}" type="presOf" srcId="{5C95008F-66A9-498B-8408-4DCD0DAB6701}" destId="{516C1023-03E0-4A33-8A89-F927C8A30D94}" srcOrd="1" destOrd="0" presId="urn:microsoft.com/office/officeart/2005/8/layout/cycle2"/>
    <dgm:cxn modelId="{E820FAB6-22C0-4ED9-BB52-E8DA0440883D}" srcId="{1DB272F0-89B3-4E85-ADAA-2874D5A1598A}" destId="{09ABF8EC-270E-467C-A171-F4E1A2A68A4B}" srcOrd="4" destOrd="0" parTransId="{DA753572-A154-428D-AB19-25D282EC53A6}" sibTransId="{F6793588-66B7-4281-9034-1D4A5C906014}"/>
    <dgm:cxn modelId="{995303BE-444B-4E52-AC8A-393ED51E4AAC}" type="presOf" srcId="{5D54065A-6AD4-45B8-9917-1F68C72C1342}" destId="{E164B8EA-7255-496A-B0DE-9E28846EC303}" srcOrd="0" destOrd="0" presId="urn:microsoft.com/office/officeart/2005/8/layout/cycle2"/>
    <dgm:cxn modelId="{49A6BCCA-5BE8-4727-9F1F-4891DE9CC8D4}" type="presOf" srcId="{EB63DF3F-51F0-420B-B793-628FA5745284}" destId="{D640F65B-D152-474E-A3EB-EB6A885366A2}" srcOrd="0" destOrd="0" presId="urn:microsoft.com/office/officeart/2005/8/layout/cycle2"/>
    <dgm:cxn modelId="{8006BDCB-F695-49B7-810A-7B62C6520028}" type="presOf" srcId="{EB63DF3F-51F0-420B-B793-628FA5745284}" destId="{0AA44A75-784E-4500-BCD1-5BD9ADDFD547}" srcOrd="1" destOrd="0" presId="urn:microsoft.com/office/officeart/2005/8/layout/cycle2"/>
    <dgm:cxn modelId="{60FE94ED-5094-438F-8EF4-F51E044F87EB}" srcId="{1DB272F0-89B3-4E85-ADAA-2874D5A1598A}" destId="{076057BA-D299-48F7-A968-F76CBFCCCDFF}" srcOrd="2" destOrd="0" parTransId="{B83AE8A1-6A62-4E0E-A65E-74E08F16CEF2}" sibTransId="{5C95008F-66A9-498B-8408-4DCD0DAB6701}"/>
    <dgm:cxn modelId="{AEDEB6F1-1FF9-4D6B-8183-3C2321170CB3}" type="presOf" srcId="{E09EE3CF-8B50-421E-A4AE-A2DB2C808055}" destId="{A3CC7ECA-EDD1-445E-991E-066DB6854A8D}" srcOrd="1" destOrd="0" presId="urn:microsoft.com/office/officeart/2005/8/layout/cycle2"/>
    <dgm:cxn modelId="{4D5647F4-E1B4-499D-A429-446754F4A89E}" srcId="{1DB272F0-89B3-4E85-ADAA-2874D5A1598A}" destId="{27BE25AE-4F4A-4444-81A4-CA681E34145F}" srcOrd="0" destOrd="0" parTransId="{A0409D08-FDB7-4BD9-91D7-BAE2BBF404D2}" sibTransId="{EB63DF3F-51F0-420B-B793-628FA5745284}"/>
    <dgm:cxn modelId="{DD47BFF4-DD21-456E-A6A1-AC2E7B4A1A58}" type="presOf" srcId="{DAD57604-912F-4E50-9E3D-C137F126C679}" destId="{5E9C2AE6-C8B5-49E9-8055-C0B4AFCD84A1}" srcOrd="0" destOrd="0" presId="urn:microsoft.com/office/officeart/2005/8/layout/cycle2"/>
    <dgm:cxn modelId="{6D118EF7-6C79-47C0-A09B-B152304F59CC}" type="presOf" srcId="{E09EE3CF-8B50-421E-A4AE-A2DB2C808055}" destId="{F6713137-6C5D-46E2-8DDC-E9D1A471E8E5}" srcOrd="0" destOrd="0" presId="urn:microsoft.com/office/officeart/2005/8/layout/cycle2"/>
    <dgm:cxn modelId="{A4FB30FE-8D36-42CD-B471-9D48B7A1CE9A}" srcId="{1DB272F0-89B3-4E85-ADAA-2874D5A1598A}" destId="{5D54065A-6AD4-45B8-9917-1F68C72C1342}" srcOrd="3" destOrd="0" parTransId="{C1A9CC47-B894-4EC8-A5A2-0963ADA2E058}" sibTransId="{E09EE3CF-8B50-421E-A4AE-A2DB2C808055}"/>
    <dgm:cxn modelId="{8248EEB5-20F1-4679-8D21-017896A5FC59}" type="presParOf" srcId="{4BB18DD8-F118-45E8-A33E-849988AC3B18}" destId="{867CB2EC-6A3C-4F9D-9EB3-5B2C7EE34373}" srcOrd="0" destOrd="0" presId="urn:microsoft.com/office/officeart/2005/8/layout/cycle2"/>
    <dgm:cxn modelId="{B13F2447-1867-40F2-9773-CEF459163398}" type="presParOf" srcId="{4BB18DD8-F118-45E8-A33E-849988AC3B18}" destId="{D640F65B-D152-474E-A3EB-EB6A885366A2}" srcOrd="1" destOrd="0" presId="urn:microsoft.com/office/officeart/2005/8/layout/cycle2"/>
    <dgm:cxn modelId="{FB75D756-0671-4E7E-BA05-3B84AE784FB1}" type="presParOf" srcId="{D640F65B-D152-474E-A3EB-EB6A885366A2}" destId="{0AA44A75-784E-4500-BCD1-5BD9ADDFD547}" srcOrd="0" destOrd="0" presId="urn:microsoft.com/office/officeart/2005/8/layout/cycle2"/>
    <dgm:cxn modelId="{E7106BAF-915F-4C64-9827-F66A22FEF22F}" type="presParOf" srcId="{4BB18DD8-F118-45E8-A33E-849988AC3B18}" destId="{5E9C2AE6-C8B5-49E9-8055-C0B4AFCD84A1}" srcOrd="2" destOrd="0" presId="urn:microsoft.com/office/officeart/2005/8/layout/cycle2"/>
    <dgm:cxn modelId="{82F15308-0B39-4085-8D6E-B2CB35D0D06A}" type="presParOf" srcId="{4BB18DD8-F118-45E8-A33E-849988AC3B18}" destId="{C817A65D-E54F-4811-830C-339370CE2382}" srcOrd="3" destOrd="0" presId="urn:microsoft.com/office/officeart/2005/8/layout/cycle2"/>
    <dgm:cxn modelId="{09D41C5F-712B-4EBE-8D55-1B5A7CC872EA}" type="presParOf" srcId="{C817A65D-E54F-4811-830C-339370CE2382}" destId="{A9CA5196-C14D-4ECE-B9EE-D315D46A59BD}" srcOrd="0" destOrd="0" presId="urn:microsoft.com/office/officeart/2005/8/layout/cycle2"/>
    <dgm:cxn modelId="{804371CE-2445-4700-8270-EF2ABCB804C7}" type="presParOf" srcId="{4BB18DD8-F118-45E8-A33E-849988AC3B18}" destId="{820FE6E2-0176-426C-A4E4-31A7DCD98BFE}" srcOrd="4" destOrd="0" presId="urn:microsoft.com/office/officeart/2005/8/layout/cycle2"/>
    <dgm:cxn modelId="{534BA2F7-18DF-48D8-83D6-98142B99576F}" type="presParOf" srcId="{4BB18DD8-F118-45E8-A33E-849988AC3B18}" destId="{5C27FF43-EDDA-4A77-B73A-D5873E780C3F}" srcOrd="5" destOrd="0" presId="urn:microsoft.com/office/officeart/2005/8/layout/cycle2"/>
    <dgm:cxn modelId="{0A969705-2639-49CD-9DF1-1D8C9CA8732F}" type="presParOf" srcId="{5C27FF43-EDDA-4A77-B73A-D5873E780C3F}" destId="{516C1023-03E0-4A33-8A89-F927C8A30D94}" srcOrd="0" destOrd="0" presId="urn:microsoft.com/office/officeart/2005/8/layout/cycle2"/>
    <dgm:cxn modelId="{756E4238-7D45-46A6-90E4-2FD75B78D195}" type="presParOf" srcId="{4BB18DD8-F118-45E8-A33E-849988AC3B18}" destId="{E164B8EA-7255-496A-B0DE-9E28846EC303}" srcOrd="6" destOrd="0" presId="urn:microsoft.com/office/officeart/2005/8/layout/cycle2"/>
    <dgm:cxn modelId="{BE6C788C-E8A5-48D2-B5E7-46BF3FADFF48}" type="presParOf" srcId="{4BB18DD8-F118-45E8-A33E-849988AC3B18}" destId="{F6713137-6C5D-46E2-8DDC-E9D1A471E8E5}" srcOrd="7" destOrd="0" presId="urn:microsoft.com/office/officeart/2005/8/layout/cycle2"/>
    <dgm:cxn modelId="{FB687792-F6FE-4E5A-8792-67651E7E9881}" type="presParOf" srcId="{F6713137-6C5D-46E2-8DDC-E9D1A471E8E5}" destId="{A3CC7ECA-EDD1-445E-991E-066DB6854A8D}" srcOrd="0" destOrd="0" presId="urn:microsoft.com/office/officeart/2005/8/layout/cycle2"/>
    <dgm:cxn modelId="{1174CA2C-4442-4652-9F43-93E3ED451AD9}" type="presParOf" srcId="{4BB18DD8-F118-45E8-A33E-849988AC3B18}" destId="{68CB4EC9-6180-4067-BC0E-D0C854FCE20E}" srcOrd="8" destOrd="0" presId="urn:microsoft.com/office/officeart/2005/8/layout/cycle2"/>
    <dgm:cxn modelId="{A99196D3-E718-49C5-AECC-1BAFE417E9BD}" type="presParOf" srcId="{4BB18DD8-F118-45E8-A33E-849988AC3B18}" destId="{854C87B1-44E0-4397-A20B-118263196AB8}" srcOrd="9" destOrd="0" presId="urn:microsoft.com/office/officeart/2005/8/layout/cycle2"/>
    <dgm:cxn modelId="{FD6E6167-7AFC-4F14-B60C-576BD7000DAD}" type="presParOf" srcId="{854C87B1-44E0-4397-A20B-118263196AB8}" destId="{62EF4D30-9507-43AE-B096-A5E0DF00ECA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CB87D6-BCEF-4605-957F-3F41809C2C9C}" type="doc">
      <dgm:prSet loTypeId="urn:microsoft.com/office/officeart/2005/8/layout/process4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E44EE4DB-97A4-44BF-8BAB-B950142AD243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effectLst/>
            </a:rPr>
            <a:t>Meet and Plan</a:t>
          </a:r>
        </a:p>
      </dgm:t>
    </dgm:pt>
    <dgm:pt modelId="{22953D8F-993C-46C6-86B3-AFC0022C383E}" type="parTrans" cxnId="{045B6D37-3F5E-4A2D-B3D8-F053C7CAD83F}">
      <dgm:prSet/>
      <dgm:spPr/>
      <dgm:t>
        <a:bodyPr/>
        <a:lstStyle/>
        <a:p>
          <a:endParaRPr lang="en-US"/>
        </a:p>
      </dgm:t>
    </dgm:pt>
    <dgm:pt modelId="{76ABC682-3FAE-4BDD-AC0A-6FFD188D1E74}" type="sibTrans" cxnId="{045B6D37-3F5E-4A2D-B3D8-F053C7CAD83F}">
      <dgm:prSet/>
      <dgm:spPr/>
      <dgm:t>
        <a:bodyPr/>
        <a:lstStyle/>
        <a:p>
          <a:endParaRPr lang="en-US"/>
        </a:p>
      </dgm:t>
    </dgm:pt>
    <dgm:pt modelId="{6A733E97-B7A3-4B16-AC63-0EC77A1B50FF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The Supplier Self-Survey</a:t>
          </a:r>
        </a:p>
      </dgm:t>
    </dgm:pt>
    <dgm:pt modelId="{8BEE9531-813F-47F8-8611-FF831AB6F75D}" type="parTrans" cxnId="{2619564B-DB67-4B43-B7F9-AA9528D6CA4D}">
      <dgm:prSet/>
      <dgm:spPr/>
      <dgm:t>
        <a:bodyPr/>
        <a:lstStyle/>
        <a:p>
          <a:endParaRPr lang="en-US"/>
        </a:p>
      </dgm:t>
    </dgm:pt>
    <dgm:pt modelId="{3F457F2F-6522-4834-B5AB-E66CD02AE417}" type="sibTrans" cxnId="{2619564B-DB67-4B43-B7F9-AA9528D6CA4D}">
      <dgm:prSet/>
      <dgm:spPr/>
      <dgm:t>
        <a:bodyPr/>
        <a:lstStyle/>
        <a:p>
          <a:endParaRPr lang="en-US"/>
        </a:p>
      </dgm:t>
    </dgm:pt>
    <dgm:pt modelId="{30EAB859-B1AE-49CA-A267-1BC1B52FCE01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Strategy Planning</a:t>
          </a:r>
        </a:p>
      </dgm:t>
    </dgm:pt>
    <dgm:pt modelId="{C0C11618-FBEF-415F-BABC-23B8B863E328}" type="parTrans" cxnId="{A902FF21-3034-46C2-B765-745DC31D75BD}">
      <dgm:prSet/>
      <dgm:spPr/>
      <dgm:t>
        <a:bodyPr/>
        <a:lstStyle/>
        <a:p>
          <a:endParaRPr lang="en-US"/>
        </a:p>
      </dgm:t>
    </dgm:pt>
    <dgm:pt modelId="{4F2B73E2-4770-4ADC-813C-58B273A7875B}" type="sibTrans" cxnId="{A902FF21-3034-46C2-B765-745DC31D75BD}">
      <dgm:prSet/>
      <dgm:spPr/>
      <dgm:t>
        <a:bodyPr/>
        <a:lstStyle/>
        <a:p>
          <a:endParaRPr lang="en-US"/>
        </a:p>
      </dgm:t>
    </dgm:pt>
    <dgm:pt modelId="{B4170A29-80FD-417C-B4F3-2E5BB1C318FA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The Trial Audit</a:t>
          </a:r>
        </a:p>
      </dgm:t>
    </dgm:pt>
    <dgm:pt modelId="{81B73146-D39B-4996-8F84-73977C4F088A}" type="parTrans" cxnId="{DAD32020-8C53-4F5B-BE69-A5E0DD044C62}">
      <dgm:prSet/>
      <dgm:spPr/>
      <dgm:t>
        <a:bodyPr/>
        <a:lstStyle/>
        <a:p>
          <a:endParaRPr lang="en-US"/>
        </a:p>
      </dgm:t>
    </dgm:pt>
    <dgm:pt modelId="{C634613F-E762-4FF0-9426-B8B5343BE95C}" type="sibTrans" cxnId="{DAD32020-8C53-4F5B-BE69-A5E0DD044C62}">
      <dgm:prSet/>
      <dgm:spPr/>
      <dgm:t>
        <a:bodyPr/>
        <a:lstStyle/>
        <a:p>
          <a:endParaRPr lang="en-US"/>
        </a:p>
      </dgm:t>
    </dgm:pt>
    <dgm:pt modelId="{7A18AE3A-0798-4C36-A2AF-060FBCBB9168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The Formal Audit</a:t>
          </a:r>
        </a:p>
      </dgm:t>
    </dgm:pt>
    <dgm:pt modelId="{3D6BAE7F-5B5C-4993-8217-0EACCF8D91C5}" type="parTrans" cxnId="{09FEB436-8556-4652-A6BC-A6C072EFF684}">
      <dgm:prSet/>
      <dgm:spPr/>
      <dgm:t>
        <a:bodyPr/>
        <a:lstStyle/>
        <a:p>
          <a:endParaRPr lang="en-US"/>
        </a:p>
      </dgm:t>
    </dgm:pt>
    <dgm:pt modelId="{0DF1733F-16BE-4504-8AFB-1A65A80140E1}" type="sibTrans" cxnId="{09FEB436-8556-4652-A6BC-A6C072EFF684}">
      <dgm:prSet/>
      <dgm:spPr/>
      <dgm:t>
        <a:bodyPr/>
        <a:lstStyle/>
        <a:p>
          <a:endParaRPr lang="en-US"/>
        </a:p>
      </dgm:t>
    </dgm:pt>
    <dgm:pt modelId="{8A70009B-9C78-434B-9FC5-0FB28DBEEC89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Recommendation Review</a:t>
          </a:r>
        </a:p>
      </dgm:t>
    </dgm:pt>
    <dgm:pt modelId="{FBB116DC-4D13-48C5-AD93-3643966A3AE5}" type="parTrans" cxnId="{2EB8F35B-A75C-45A9-9F6B-BA42C2B9BA42}">
      <dgm:prSet/>
      <dgm:spPr/>
      <dgm:t>
        <a:bodyPr/>
        <a:lstStyle/>
        <a:p>
          <a:endParaRPr lang="en-US"/>
        </a:p>
      </dgm:t>
    </dgm:pt>
    <dgm:pt modelId="{5251382F-9F70-466F-B5B6-BAC9DAA4D52D}" type="sibTrans" cxnId="{2EB8F35B-A75C-45A9-9F6B-BA42C2B9BA42}">
      <dgm:prSet/>
      <dgm:spPr/>
      <dgm:t>
        <a:bodyPr/>
        <a:lstStyle/>
        <a:p>
          <a:endParaRPr lang="en-US"/>
        </a:p>
      </dgm:t>
    </dgm:pt>
    <dgm:pt modelId="{389AA8DD-A945-4DB2-972A-5D2F05778F28}" type="pres">
      <dgm:prSet presAssocID="{FDCB87D6-BCEF-4605-957F-3F41809C2C9C}" presName="Name0" presStyleCnt="0">
        <dgm:presLayoutVars>
          <dgm:dir/>
          <dgm:animLvl val="lvl"/>
          <dgm:resizeHandles val="exact"/>
        </dgm:presLayoutVars>
      </dgm:prSet>
      <dgm:spPr/>
    </dgm:pt>
    <dgm:pt modelId="{3D722C53-5D4E-47FC-AA29-3CCB5CB8052B}" type="pres">
      <dgm:prSet presAssocID="{8A70009B-9C78-434B-9FC5-0FB28DBEEC89}" presName="boxAndChildren" presStyleCnt="0"/>
      <dgm:spPr/>
    </dgm:pt>
    <dgm:pt modelId="{ACD5B277-34A8-4AAB-8C41-F1041D8E0DAB}" type="pres">
      <dgm:prSet presAssocID="{8A70009B-9C78-434B-9FC5-0FB28DBEEC89}" presName="parentTextBox" presStyleLbl="node1" presStyleIdx="0" presStyleCnt="6"/>
      <dgm:spPr/>
    </dgm:pt>
    <dgm:pt modelId="{974642E7-C62D-43F5-A765-F86D77C65C94}" type="pres">
      <dgm:prSet presAssocID="{0DF1733F-16BE-4504-8AFB-1A65A80140E1}" presName="sp" presStyleCnt="0"/>
      <dgm:spPr/>
    </dgm:pt>
    <dgm:pt modelId="{C5126ACF-B1C3-4E4F-87B5-D7026EDC00BF}" type="pres">
      <dgm:prSet presAssocID="{7A18AE3A-0798-4C36-A2AF-060FBCBB9168}" presName="arrowAndChildren" presStyleCnt="0"/>
      <dgm:spPr/>
    </dgm:pt>
    <dgm:pt modelId="{D2637FEE-E4BC-45AE-BB57-F382B03C4CE3}" type="pres">
      <dgm:prSet presAssocID="{7A18AE3A-0798-4C36-A2AF-060FBCBB9168}" presName="parentTextArrow" presStyleLbl="node1" presStyleIdx="1" presStyleCnt="6"/>
      <dgm:spPr/>
    </dgm:pt>
    <dgm:pt modelId="{ECA99075-6FB1-49BF-A2E5-B8BEFF22E934}" type="pres">
      <dgm:prSet presAssocID="{C634613F-E762-4FF0-9426-B8B5343BE95C}" presName="sp" presStyleCnt="0"/>
      <dgm:spPr/>
    </dgm:pt>
    <dgm:pt modelId="{67908650-2CAD-4692-A903-AC34EA12422E}" type="pres">
      <dgm:prSet presAssocID="{B4170A29-80FD-417C-B4F3-2E5BB1C318FA}" presName="arrowAndChildren" presStyleCnt="0"/>
      <dgm:spPr/>
    </dgm:pt>
    <dgm:pt modelId="{8FCE662A-11AA-4F4B-B272-A5D7CD829002}" type="pres">
      <dgm:prSet presAssocID="{B4170A29-80FD-417C-B4F3-2E5BB1C318FA}" presName="parentTextArrow" presStyleLbl="node1" presStyleIdx="2" presStyleCnt="6"/>
      <dgm:spPr/>
    </dgm:pt>
    <dgm:pt modelId="{BF7599FC-429D-43D8-9C8A-104A9002C4C0}" type="pres">
      <dgm:prSet presAssocID="{4F2B73E2-4770-4ADC-813C-58B273A7875B}" presName="sp" presStyleCnt="0"/>
      <dgm:spPr/>
    </dgm:pt>
    <dgm:pt modelId="{9FFB6BA8-D47A-461E-ACAA-84F83BFD6E78}" type="pres">
      <dgm:prSet presAssocID="{30EAB859-B1AE-49CA-A267-1BC1B52FCE01}" presName="arrowAndChildren" presStyleCnt="0"/>
      <dgm:spPr/>
    </dgm:pt>
    <dgm:pt modelId="{7807F46F-85D2-4137-8BCF-AB5A6157511A}" type="pres">
      <dgm:prSet presAssocID="{30EAB859-B1AE-49CA-A267-1BC1B52FCE01}" presName="parentTextArrow" presStyleLbl="node1" presStyleIdx="3" presStyleCnt="6"/>
      <dgm:spPr/>
    </dgm:pt>
    <dgm:pt modelId="{F6D91F8D-FBDB-49DA-A2BF-015692F7ABA7}" type="pres">
      <dgm:prSet presAssocID="{3F457F2F-6522-4834-B5AB-E66CD02AE417}" presName="sp" presStyleCnt="0"/>
      <dgm:spPr/>
    </dgm:pt>
    <dgm:pt modelId="{1E7A8EF1-D807-4A50-98DC-B6147B82C64A}" type="pres">
      <dgm:prSet presAssocID="{6A733E97-B7A3-4B16-AC63-0EC77A1B50FF}" presName="arrowAndChildren" presStyleCnt="0"/>
      <dgm:spPr/>
    </dgm:pt>
    <dgm:pt modelId="{75EA079E-A7C9-447D-A94E-CD504DC49F79}" type="pres">
      <dgm:prSet presAssocID="{6A733E97-B7A3-4B16-AC63-0EC77A1B50FF}" presName="parentTextArrow" presStyleLbl="node1" presStyleIdx="4" presStyleCnt="6"/>
      <dgm:spPr/>
    </dgm:pt>
    <dgm:pt modelId="{B9C5ABF1-9DB3-4BBA-B767-23A3A455E54F}" type="pres">
      <dgm:prSet presAssocID="{76ABC682-3FAE-4BDD-AC0A-6FFD188D1E74}" presName="sp" presStyleCnt="0"/>
      <dgm:spPr/>
    </dgm:pt>
    <dgm:pt modelId="{EBE0D820-6ABB-4553-BB02-54710599CF72}" type="pres">
      <dgm:prSet presAssocID="{E44EE4DB-97A4-44BF-8BAB-B950142AD243}" presName="arrowAndChildren" presStyleCnt="0"/>
      <dgm:spPr/>
    </dgm:pt>
    <dgm:pt modelId="{6319E989-FDD4-40E8-9DD9-CB1890DD22C3}" type="pres">
      <dgm:prSet presAssocID="{E44EE4DB-97A4-44BF-8BAB-B950142AD243}" presName="parentTextArrow" presStyleLbl="node1" presStyleIdx="5" presStyleCnt="6" custLinFactNeighborY="-9610"/>
      <dgm:spPr/>
    </dgm:pt>
  </dgm:ptLst>
  <dgm:cxnLst>
    <dgm:cxn modelId="{DAD32020-8C53-4F5B-BE69-A5E0DD044C62}" srcId="{FDCB87D6-BCEF-4605-957F-3F41809C2C9C}" destId="{B4170A29-80FD-417C-B4F3-2E5BB1C318FA}" srcOrd="3" destOrd="0" parTransId="{81B73146-D39B-4996-8F84-73977C4F088A}" sibTransId="{C634613F-E762-4FF0-9426-B8B5343BE95C}"/>
    <dgm:cxn modelId="{A902FF21-3034-46C2-B765-745DC31D75BD}" srcId="{FDCB87D6-BCEF-4605-957F-3F41809C2C9C}" destId="{30EAB859-B1AE-49CA-A267-1BC1B52FCE01}" srcOrd="2" destOrd="0" parTransId="{C0C11618-FBEF-415F-BABC-23B8B863E328}" sibTransId="{4F2B73E2-4770-4ADC-813C-58B273A7875B}"/>
    <dgm:cxn modelId="{09FEB436-8556-4652-A6BC-A6C072EFF684}" srcId="{FDCB87D6-BCEF-4605-957F-3F41809C2C9C}" destId="{7A18AE3A-0798-4C36-A2AF-060FBCBB9168}" srcOrd="4" destOrd="0" parTransId="{3D6BAE7F-5B5C-4993-8217-0EACCF8D91C5}" sibTransId="{0DF1733F-16BE-4504-8AFB-1A65A80140E1}"/>
    <dgm:cxn modelId="{045B6D37-3F5E-4A2D-B3D8-F053C7CAD83F}" srcId="{FDCB87D6-BCEF-4605-957F-3F41809C2C9C}" destId="{E44EE4DB-97A4-44BF-8BAB-B950142AD243}" srcOrd="0" destOrd="0" parTransId="{22953D8F-993C-46C6-86B3-AFC0022C383E}" sibTransId="{76ABC682-3FAE-4BDD-AC0A-6FFD188D1E74}"/>
    <dgm:cxn modelId="{2EB8F35B-A75C-45A9-9F6B-BA42C2B9BA42}" srcId="{FDCB87D6-BCEF-4605-957F-3F41809C2C9C}" destId="{8A70009B-9C78-434B-9FC5-0FB28DBEEC89}" srcOrd="5" destOrd="0" parTransId="{FBB116DC-4D13-48C5-AD93-3643966A3AE5}" sibTransId="{5251382F-9F70-466F-B5B6-BAC9DAA4D52D}"/>
    <dgm:cxn modelId="{2886405D-1F4C-4F1F-90FC-B76FBB0A8CE3}" type="presOf" srcId="{30EAB859-B1AE-49CA-A267-1BC1B52FCE01}" destId="{7807F46F-85D2-4137-8BCF-AB5A6157511A}" srcOrd="0" destOrd="0" presId="urn:microsoft.com/office/officeart/2005/8/layout/process4"/>
    <dgm:cxn modelId="{32F17143-CE7F-480E-8C64-EB305470DD0A}" type="presOf" srcId="{8A70009B-9C78-434B-9FC5-0FB28DBEEC89}" destId="{ACD5B277-34A8-4AAB-8C41-F1041D8E0DAB}" srcOrd="0" destOrd="0" presId="urn:microsoft.com/office/officeart/2005/8/layout/process4"/>
    <dgm:cxn modelId="{6CD20748-F0C2-4B2C-BC37-0921836BF775}" type="presOf" srcId="{6A733E97-B7A3-4B16-AC63-0EC77A1B50FF}" destId="{75EA079E-A7C9-447D-A94E-CD504DC49F79}" srcOrd="0" destOrd="0" presId="urn:microsoft.com/office/officeart/2005/8/layout/process4"/>
    <dgm:cxn modelId="{2619564B-DB67-4B43-B7F9-AA9528D6CA4D}" srcId="{FDCB87D6-BCEF-4605-957F-3F41809C2C9C}" destId="{6A733E97-B7A3-4B16-AC63-0EC77A1B50FF}" srcOrd="1" destOrd="0" parTransId="{8BEE9531-813F-47F8-8611-FF831AB6F75D}" sibTransId="{3F457F2F-6522-4834-B5AB-E66CD02AE417}"/>
    <dgm:cxn modelId="{566D0775-285C-4845-B80E-71980D7B3DF5}" type="presOf" srcId="{E44EE4DB-97A4-44BF-8BAB-B950142AD243}" destId="{6319E989-FDD4-40E8-9DD9-CB1890DD22C3}" srcOrd="0" destOrd="0" presId="urn:microsoft.com/office/officeart/2005/8/layout/process4"/>
    <dgm:cxn modelId="{F5874682-6AB6-46ED-8633-B89656629882}" type="presOf" srcId="{7A18AE3A-0798-4C36-A2AF-060FBCBB9168}" destId="{D2637FEE-E4BC-45AE-BB57-F382B03C4CE3}" srcOrd="0" destOrd="0" presId="urn:microsoft.com/office/officeart/2005/8/layout/process4"/>
    <dgm:cxn modelId="{91892992-236E-437B-B29A-003B32F06973}" type="presOf" srcId="{B4170A29-80FD-417C-B4F3-2E5BB1C318FA}" destId="{8FCE662A-11AA-4F4B-B272-A5D7CD829002}" srcOrd="0" destOrd="0" presId="urn:microsoft.com/office/officeart/2005/8/layout/process4"/>
    <dgm:cxn modelId="{70EAFDA7-5893-47C7-A2AC-38153AA2F790}" type="presOf" srcId="{FDCB87D6-BCEF-4605-957F-3F41809C2C9C}" destId="{389AA8DD-A945-4DB2-972A-5D2F05778F28}" srcOrd="0" destOrd="0" presId="urn:microsoft.com/office/officeart/2005/8/layout/process4"/>
    <dgm:cxn modelId="{0E83AAA3-0946-4AFF-AA4B-48A501EF139A}" type="presParOf" srcId="{389AA8DD-A945-4DB2-972A-5D2F05778F28}" destId="{3D722C53-5D4E-47FC-AA29-3CCB5CB8052B}" srcOrd="0" destOrd="0" presId="urn:microsoft.com/office/officeart/2005/8/layout/process4"/>
    <dgm:cxn modelId="{EF319751-8B34-442A-BB8F-C310C2AC0793}" type="presParOf" srcId="{3D722C53-5D4E-47FC-AA29-3CCB5CB8052B}" destId="{ACD5B277-34A8-4AAB-8C41-F1041D8E0DAB}" srcOrd="0" destOrd="0" presId="urn:microsoft.com/office/officeart/2005/8/layout/process4"/>
    <dgm:cxn modelId="{E11D8BBD-41BF-4DBB-B47F-88FFB6E522BF}" type="presParOf" srcId="{389AA8DD-A945-4DB2-972A-5D2F05778F28}" destId="{974642E7-C62D-43F5-A765-F86D77C65C94}" srcOrd="1" destOrd="0" presId="urn:microsoft.com/office/officeart/2005/8/layout/process4"/>
    <dgm:cxn modelId="{F1B2FBE0-39FD-42D0-9738-23D4BC2DAEA8}" type="presParOf" srcId="{389AA8DD-A945-4DB2-972A-5D2F05778F28}" destId="{C5126ACF-B1C3-4E4F-87B5-D7026EDC00BF}" srcOrd="2" destOrd="0" presId="urn:microsoft.com/office/officeart/2005/8/layout/process4"/>
    <dgm:cxn modelId="{1AAB54D0-79C8-49F4-8C49-1AB2BE7575A1}" type="presParOf" srcId="{C5126ACF-B1C3-4E4F-87B5-D7026EDC00BF}" destId="{D2637FEE-E4BC-45AE-BB57-F382B03C4CE3}" srcOrd="0" destOrd="0" presId="urn:microsoft.com/office/officeart/2005/8/layout/process4"/>
    <dgm:cxn modelId="{A2F5C0C8-518A-48A6-9E5E-C8D59CF2CBBC}" type="presParOf" srcId="{389AA8DD-A945-4DB2-972A-5D2F05778F28}" destId="{ECA99075-6FB1-49BF-A2E5-B8BEFF22E934}" srcOrd="3" destOrd="0" presId="urn:microsoft.com/office/officeart/2005/8/layout/process4"/>
    <dgm:cxn modelId="{D4D0E2DD-3F3F-4E4D-A3C0-92C62B8A912C}" type="presParOf" srcId="{389AA8DD-A945-4DB2-972A-5D2F05778F28}" destId="{67908650-2CAD-4692-A903-AC34EA12422E}" srcOrd="4" destOrd="0" presId="urn:microsoft.com/office/officeart/2005/8/layout/process4"/>
    <dgm:cxn modelId="{A8550264-0324-4FED-8FE9-424DDFB1546B}" type="presParOf" srcId="{67908650-2CAD-4692-A903-AC34EA12422E}" destId="{8FCE662A-11AA-4F4B-B272-A5D7CD829002}" srcOrd="0" destOrd="0" presId="urn:microsoft.com/office/officeart/2005/8/layout/process4"/>
    <dgm:cxn modelId="{4A7BBE50-258E-4D8E-AC89-D02253B63B6C}" type="presParOf" srcId="{389AA8DD-A945-4DB2-972A-5D2F05778F28}" destId="{BF7599FC-429D-43D8-9C8A-104A9002C4C0}" srcOrd="5" destOrd="0" presId="urn:microsoft.com/office/officeart/2005/8/layout/process4"/>
    <dgm:cxn modelId="{268E5AE2-0DF6-4CE2-AA5C-01B11845D79A}" type="presParOf" srcId="{389AA8DD-A945-4DB2-972A-5D2F05778F28}" destId="{9FFB6BA8-D47A-461E-ACAA-84F83BFD6E78}" srcOrd="6" destOrd="0" presId="urn:microsoft.com/office/officeart/2005/8/layout/process4"/>
    <dgm:cxn modelId="{06D5BCB5-15AD-45D3-8419-3EAE346F9963}" type="presParOf" srcId="{9FFB6BA8-D47A-461E-ACAA-84F83BFD6E78}" destId="{7807F46F-85D2-4137-8BCF-AB5A6157511A}" srcOrd="0" destOrd="0" presId="urn:microsoft.com/office/officeart/2005/8/layout/process4"/>
    <dgm:cxn modelId="{9D43E673-D8D1-4A70-905A-224A8FAD3D4A}" type="presParOf" srcId="{389AA8DD-A945-4DB2-972A-5D2F05778F28}" destId="{F6D91F8D-FBDB-49DA-A2BF-015692F7ABA7}" srcOrd="7" destOrd="0" presId="urn:microsoft.com/office/officeart/2005/8/layout/process4"/>
    <dgm:cxn modelId="{0773E796-DD99-49ED-B9D8-219B07261237}" type="presParOf" srcId="{389AA8DD-A945-4DB2-972A-5D2F05778F28}" destId="{1E7A8EF1-D807-4A50-98DC-B6147B82C64A}" srcOrd="8" destOrd="0" presId="urn:microsoft.com/office/officeart/2005/8/layout/process4"/>
    <dgm:cxn modelId="{9EF3C4E8-6959-4C45-9C97-B0C963E2A238}" type="presParOf" srcId="{1E7A8EF1-D807-4A50-98DC-B6147B82C64A}" destId="{75EA079E-A7C9-447D-A94E-CD504DC49F79}" srcOrd="0" destOrd="0" presId="urn:microsoft.com/office/officeart/2005/8/layout/process4"/>
    <dgm:cxn modelId="{9F863F40-852C-4B5A-80A2-60CF1E7D14E0}" type="presParOf" srcId="{389AA8DD-A945-4DB2-972A-5D2F05778F28}" destId="{B9C5ABF1-9DB3-4BBA-B767-23A3A455E54F}" srcOrd="9" destOrd="0" presId="urn:microsoft.com/office/officeart/2005/8/layout/process4"/>
    <dgm:cxn modelId="{FE0A1897-280A-4D9B-B921-4D5495B086B5}" type="presParOf" srcId="{389AA8DD-A945-4DB2-972A-5D2F05778F28}" destId="{EBE0D820-6ABB-4553-BB02-54710599CF72}" srcOrd="10" destOrd="0" presId="urn:microsoft.com/office/officeart/2005/8/layout/process4"/>
    <dgm:cxn modelId="{5D33A9ED-EC8C-4E03-B82D-F9175F72EC59}" type="presParOf" srcId="{EBE0D820-6ABB-4553-BB02-54710599CF72}" destId="{6319E989-FDD4-40E8-9DD9-CB1890DD22C3}" srcOrd="0" destOrd="0" presId="urn:microsoft.com/office/officeart/2005/8/layout/process4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CB2EC-6A3C-4F9D-9EB3-5B2C7EE34373}">
      <dsp:nvSpPr>
        <dsp:cNvPr id="0" name=""/>
        <dsp:cNvSpPr/>
      </dsp:nvSpPr>
      <dsp:spPr>
        <a:xfrm>
          <a:off x="3789979" y="376"/>
          <a:ext cx="1577715" cy="147339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chemeClr val="tx1"/>
              </a:solidFill>
              <a:effectLst/>
            </a:rPr>
            <a:t>D</a:t>
          </a:r>
          <a:r>
            <a:rPr lang="en-US" sz="2000" b="1" kern="1200" dirty="0">
              <a:solidFill>
                <a:schemeClr val="tx1"/>
              </a:solidFill>
              <a:effectLst/>
            </a:rPr>
            <a:t>efine</a:t>
          </a:r>
        </a:p>
      </dsp:txBody>
      <dsp:txXfrm>
        <a:off x="4021030" y="216150"/>
        <a:ext cx="1115613" cy="1041850"/>
      </dsp:txXfrm>
    </dsp:sp>
    <dsp:sp modelId="{D640F65B-D152-474E-A3EB-EB6A885366A2}">
      <dsp:nvSpPr>
        <dsp:cNvPr id="0" name=""/>
        <dsp:cNvSpPr/>
      </dsp:nvSpPr>
      <dsp:spPr>
        <a:xfrm rot="2160000">
          <a:off x="5286234" y="1130535"/>
          <a:ext cx="352741" cy="497271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296339" y="1198889"/>
        <a:ext cx="246919" cy="298363"/>
      </dsp:txXfrm>
    </dsp:sp>
    <dsp:sp modelId="{5E9C2AE6-C8B5-49E9-8055-C0B4AFCD84A1}">
      <dsp:nvSpPr>
        <dsp:cNvPr id="0" name=""/>
        <dsp:cNvSpPr/>
      </dsp:nvSpPr>
      <dsp:spPr>
        <a:xfrm>
          <a:off x="5568226" y="1300072"/>
          <a:ext cx="1598976" cy="147339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chemeClr val="tx1"/>
              </a:solidFill>
            </a:rPr>
            <a:t>M</a:t>
          </a:r>
          <a:r>
            <a:rPr lang="en-US" sz="2000" b="1" u="none" kern="1200" dirty="0">
              <a:solidFill>
                <a:schemeClr val="tx1"/>
              </a:solidFill>
            </a:rPr>
            <a:t>ea</a:t>
          </a:r>
          <a:r>
            <a:rPr lang="en-US" sz="2000" b="1" kern="1200" dirty="0">
              <a:solidFill>
                <a:schemeClr val="tx1"/>
              </a:solidFill>
            </a:rPr>
            <a:t>sure</a:t>
          </a:r>
        </a:p>
      </dsp:txBody>
      <dsp:txXfrm>
        <a:off x="5802391" y="1515846"/>
        <a:ext cx="1130646" cy="1041850"/>
      </dsp:txXfrm>
    </dsp:sp>
    <dsp:sp modelId="{C817A65D-E54F-4811-830C-339370CE2382}">
      <dsp:nvSpPr>
        <dsp:cNvPr id="0" name=""/>
        <dsp:cNvSpPr/>
      </dsp:nvSpPr>
      <dsp:spPr>
        <a:xfrm rot="6480000">
          <a:off x="5835567" y="2830579"/>
          <a:ext cx="386873" cy="497271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5911531" y="2874842"/>
        <a:ext cx="270811" cy="298363"/>
      </dsp:txXfrm>
    </dsp:sp>
    <dsp:sp modelId="{820FE6E2-0176-426C-A4E4-31A7DCD98BFE}">
      <dsp:nvSpPr>
        <dsp:cNvPr id="0" name=""/>
        <dsp:cNvSpPr/>
      </dsp:nvSpPr>
      <dsp:spPr>
        <a:xfrm>
          <a:off x="4920651" y="3403025"/>
          <a:ext cx="1527545" cy="147339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chemeClr val="tx1"/>
              </a:solidFill>
            </a:rPr>
            <a:t>A</a:t>
          </a:r>
          <a:r>
            <a:rPr lang="en-US" sz="2000" b="1" kern="1200" dirty="0">
              <a:solidFill>
                <a:schemeClr val="tx1"/>
              </a:solidFill>
            </a:rPr>
            <a:t>nalyze</a:t>
          </a:r>
        </a:p>
      </dsp:txBody>
      <dsp:txXfrm>
        <a:off x="5144355" y="3618799"/>
        <a:ext cx="1080137" cy="1041850"/>
      </dsp:txXfrm>
    </dsp:sp>
    <dsp:sp modelId="{5C27FF43-EDDA-4A77-B73A-D5873E780C3F}">
      <dsp:nvSpPr>
        <dsp:cNvPr id="0" name=""/>
        <dsp:cNvSpPr/>
      </dsp:nvSpPr>
      <dsp:spPr>
        <a:xfrm rot="10800000">
          <a:off x="4418184" y="3891088"/>
          <a:ext cx="355076" cy="497271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524707" y="3990542"/>
        <a:ext cx="248553" cy="298363"/>
      </dsp:txXfrm>
    </dsp:sp>
    <dsp:sp modelId="{E164B8EA-7255-496A-B0DE-9E28846EC303}">
      <dsp:nvSpPr>
        <dsp:cNvPr id="0" name=""/>
        <dsp:cNvSpPr/>
      </dsp:nvSpPr>
      <dsp:spPr>
        <a:xfrm>
          <a:off x="2695802" y="3403025"/>
          <a:ext cx="1554892" cy="147339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chemeClr val="tx1"/>
              </a:solidFill>
            </a:rPr>
            <a:t>I</a:t>
          </a:r>
          <a:r>
            <a:rPr lang="en-US" sz="2000" b="1" kern="1200" dirty="0">
              <a:solidFill>
                <a:schemeClr val="tx1"/>
              </a:solidFill>
            </a:rPr>
            <a:t>mprove</a:t>
          </a:r>
        </a:p>
      </dsp:txBody>
      <dsp:txXfrm>
        <a:off x="2923511" y="3618799"/>
        <a:ext cx="1099474" cy="1041850"/>
      </dsp:txXfrm>
    </dsp:sp>
    <dsp:sp modelId="{F6713137-6C5D-46E2-8DDC-E9D1A471E8E5}">
      <dsp:nvSpPr>
        <dsp:cNvPr id="0" name=""/>
        <dsp:cNvSpPr/>
      </dsp:nvSpPr>
      <dsp:spPr>
        <a:xfrm rot="15120000">
          <a:off x="2957128" y="2791454"/>
          <a:ext cx="385720" cy="497271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3032865" y="2945934"/>
        <a:ext cx="270004" cy="298363"/>
      </dsp:txXfrm>
    </dsp:sp>
    <dsp:sp modelId="{68CB4EC9-6180-4067-BC0E-D0C854FCE20E}">
      <dsp:nvSpPr>
        <dsp:cNvPr id="0" name=""/>
        <dsp:cNvSpPr/>
      </dsp:nvSpPr>
      <dsp:spPr>
        <a:xfrm>
          <a:off x="1976796" y="1300072"/>
          <a:ext cx="1626322" cy="147339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>
              <a:solidFill>
                <a:schemeClr val="tx1"/>
              </a:solidFill>
            </a:rPr>
            <a:t>C</a:t>
          </a:r>
          <a:r>
            <a:rPr lang="en-US" sz="2000" b="1" kern="1200" dirty="0">
              <a:solidFill>
                <a:schemeClr val="tx1"/>
              </a:solidFill>
            </a:rPr>
            <a:t>ontrol</a:t>
          </a:r>
        </a:p>
      </dsp:txBody>
      <dsp:txXfrm>
        <a:off x="2214965" y="1515846"/>
        <a:ext cx="1149984" cy="1041850"/>
      </dsp:txXfrm>
    </dsp:sp>
    <dsp:sp modelId="{854C87B1-44E0-4397-A20B-118263196AB8}">
      <dsp:nvSpPr>
        <dsp:cNvPr id="0" name=""/>
        <dsp:cNvSpPr/>
      </dsp:nvSpPr>
      <dsp:spPr>
        <a:xfrm rot="19440000">
          <a:off x="3508067" y="1139818"/>
          <a:ext cx="348446" cy="497271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518049" y="1269994"/>
        <a:ext cx="243912" cy="298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5B277-34A8-4AAB-8C41-F1041D8E0DAB}">
      <dsp:nvSpPr>
        <dsp:cNvPr id="0" name=""/>
        <dsp:cNvSpPr/>
      </dsp:nvSpPr>
      <dsp:spPr>
        <a:xfrm>
          <a:off x="0" y="4039637"/>
          <a:ext cx="5715000" cy="530200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Recommendation Review</a:t>
          </a:r>
        </a:p>
      </dsp:txBody>
      <dsp:txXfrm>
        <a:off x="0" y="4039637"/>
        <a:ext cx="5715000" cy="530200"/>
      </dsp:txXfrm>
    </dsp:sp>
    <dsp:sp modelId="{D2637FEE-E4BC-45AE-BB57-F382B03C4CE3}">
      <dsp:nvSpPr>
        <dsp:cNvPr id="0" name=""/>
        <dsp:cNvSpPr/>
      </dsp:nvSpPr>
      <dsp:spPr>
        <a:xfrm rot="10800000">
          <a:off x="0" y="3232142"/>
          <a:ext cx="5715000" cy="815447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The Formal Audit</a:t>
          </a:r>
        </a:p>
      </dsp:txBody>
      <dsp:txXfrm rot="10800000">
        <a:off x="0" y="3232142"/>
        <a:ext cx="5715000" cy="529853"/>
      </dsp:txXfrm>
    </dsp:sp>
    <dsp:sp modelId="{8FCE662A-11AA-4F4B-B272-A5D7CD829002}">
      <dsp:nvSpPr>
        <dsp:cNvPr id="0" name=""/>
        <dsp:cNvSpPr/>
      </dsp:nvSpPr>
      <dsp:spPr>
        <a:xfrm rot="10800000">
          <a:off x="0" y="2424647"/>
          <a:ext cx="5715000" cy="815447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The Trial Audit</a:t>
          </a:r>
        </a:p>
      </dsp:txBody>
      <dsp:txXfrm rot="10800000">
        <a:off x="0" y="2424647"/>
        <a:ext cx="5715000" cy="529853"/>
      </dsp:txXfrm>
    </dsp:sp>
    <dsp:sp modelId="{7807F46F-85D2-4137-8BCF-AB5A6157511A}">
      <dsp:nvSpPr>
        <dsp:cNvPr id="0" name=""/>
        <dsp:cNvSpPr/>
      </dsp:nvSpPr>
      <dsp:spPr>
        <a:xfrm rot="10800000">
          <a:off x="0" y="1617152"/>
          <a:ext cx="5715000" cy="815447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Strategy Planning</a:t>
          </a:r>
        </a:p>
      </dsp:txBody>
      <dsp:txXfrm rot="10800000">
        <a:off x="0" y="1617152"/>
        <a:ext cx="5715000" cy="529853"/>
      </dsp:txXfrm>
    </dsp:sp>
    <dsp:sp modelId="{75EA079E-A7C9-447D-A94E-CD504DC49F79}">
      <dsp:nvSpPr>
        <dsp:cNvPr id="0" name=""/>
        <dsp:cNvSpPr/>
      </dsp:nvSpPr>
      <dsp:spPr>
        <a:xfrm rot="10800000">
          <a:off x="0" y="809657"/>
          <a:ext cx="5715000" cy="815447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The Supplier Self-Survey</a:t>
          </a:r>
        </a:p>
      </dsp:txBody>
      <dsp:txXfrm rot="10800000">
        <a:off x="0" y="809657"/>
        <a:ext cx="5715000" cy="529853"/>
      </dsp:txXfrm>
    </dsp:sp>
    <dsp:sp modelId="{6319E989-FDD4-40E8-9DD9-CB1890DD22C3}">
      <dsp:nvSpPr>
        <dsp:cNvPr id="0" name=""/>
        <dsp:cNvSpPr/>
      </dsp:nvSpPr>
      <dsp:spPr>
        <a:xfrm rot="10800000">
          <a:off x="0" y="0"/>
          <a:ext cx="5715000" cy="815447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effectLst/>
            </a:rPr>
            <a:t>Meet and Plan</a:t>
          </a:r>
        </a:p>
      </dsp:txBody>
      <dsp:txXfrm rot="10800000">
        <a:off x="0" y="0"/>
        <a:ext cx="5715000" cy="529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6E0BC1-2BF4-4265-99D0-CAE9B35C41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F56FD-653F-426F-AC11-BBFD6EDCE1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2D86821-69AC-4205-88DC-7BDD55C5F608}" type="datetimeFigureOut">
              <a:rPr lang="en-US"/>
              <a:pPr>
                <a:defRPr/>
              </a:pPr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A134D-189A-4DAC-9F35-ED5ED91C8E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8D4DE-6DCA-48DC-97B0-81CAAD6F04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0282C93-78CA-428D-B9C7-C5125FF3036D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5ACDDC-B029-4F37-AF3E-B7C600CC18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5C5A1B3-409E-409B-9D42-8B2B58CDE7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5C906E7-4D0D-49F7-B0A1-0620602A7C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7E5DE93-82C1-4086-B951-075A8747563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75017D6-A184-462E-85D0-358C81EDAA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67176F8-92DD-4A35-95E3-4F7D33C13F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74C343-42EC-49EB-8029-634F8E3B6745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73C1DB76-7262-4614-AD5E-F84E635B55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E11369ED-FE22-4F58-80B3-F205B8574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7017E72E-45B6-4C31-8D85-E4D6BD15C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330D35-F304-4E38-BAD1-FB0BAB4A61E6}" type="slidenum">
              <a:rPr lang="en-US" altLang="LID4096"/>
              <a:pPr/>
              <a:t>1</a:t>
            </a:fld>
            <a:endParaRPr lang="en-US" altLang="LID409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B7006A49-CD3D-49CF-8144-88E6B59E8F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0CA7104-DC3A-4123-B079-68F779DEB19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DAADEE3-157D-41FE-93AC-1FB051DC9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B32A0F1B-09BD-4F76-B894-B25B2212469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42C8870F-7A6C-499C-80D9-7B52632F7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221A671-C8CA-4276-A811-C6AFB0CFC26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0EC6625-E67A-4747-87AA-06A3853826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91D34691-A652-44DB-8171-A040A5AB697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A22323A2-0AB2-4D94-9571-8BACFDA363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36F7175-0EDC-4559-B5BB-236CD5AC013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551958C-C4CA-40B2-9F74-02CB0D3B4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1F75615-B0B2-4D66-87B1-1BB672703AD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3C90EEFF-9AA0-434B-BC82-A61DF06C86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28E73D37-F0E5-45A5-9003-3F64F6E72F7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599E4B3E-72D6-4F9C-BE44-F3E2990A05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DB79EDFF-4C5A-4857-908F-9119F90D85C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B403588D-6D8F-4F27-B058-0D74B425E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AB1EC6C8-90F9-4068-8A4F-7820584BF0A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F98D097-60BB-4D2F-9E16-360E1355D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13BD0CFD-B3C9-418B-AC07-0609E2670FD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4CE1D346-376A-4294-8A31-F56C62A984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1B3E9ECE-D254-45EE-A852-A0C5BE72BD7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0206930-5AE7-4462-BE32-59CD11EBB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043036C-E16A-4071-8A78-6CF6F1C7B08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7065761D-51AA-4335-813F-F84912A52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393E8EC-89AD-434F-8371-9BC62AEE13C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8AE22B13-5FC4-4ACD-B1F3-5ECD8637A9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FD10E14C-20C7-4301-9306-A37C8BCAE68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4674E9E1-D96D-4740-B76F-7E0EAAD07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9F4E2E6-35EF-43C0-B00B-32A336389A0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4BA67F-28A3-4C73-9F59-A287F3EB04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64D1705D-125C-4139-87A2-272075FF0AC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97710645-D75A-4878-B99E-518CF53CF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1B146844-45FD-4B02-B51D-CF1718C42FA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9E5ED473-82DE-489C-A5A9-5D71563CF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8C618EB3-C3F3-4870-B3F4-F6DFFDEA85D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D011256A-145E-422F-8BE1-3A8197BCC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B1E6534-8F01-4249-99B2-E2563831EC9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BD3A58D9-DDC0-42A4-8857-466322995A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FD62620-0895-4039-8009-66E8E3A6823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17834C6D-7AD6-410F-809C-AAF8C8D3A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77C99F42-AA93-450B-B231-9AC6DF344F5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6B7C1CCB-CA4F-460E-9DF2-762CA234D3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663C39B-834D-44E2-B472-EA94216D9C8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B0A222AF-9F4E-4E92-A6A8-AED245AC6D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A7930F38-8041-4A2B-9190-1042E762D2C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CB6932C3-B37C-43AF-BFF2-1C3D364D58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3A36EB9A-4D29-4FF5-811C-D6D095F28B3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77CE9157-0966-4306-8692-138A82BB7E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0A1A43C8-6431-44C7-BDFD-5D32862E31D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B01499F-D549-4990-99B7-CD51913D6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5E3B1C2-8788-4FF2-9918-589DE376D6C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2B7D236F-B7A5-4BCE-A652-E5F4B3C6FC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3D0A52D-9140-4127-BB31-2E4E423FB65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63E0318D-BC87-4BBE-B081-65389A9E40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9517752B-FE1F-4EF1-A0D7-C322143FD66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D38ABF70-808E-4D94-BE2C-6416576F13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37AC70A8-D376-4AFE-89C9-D0D0B3D55EA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41EBAD07-DF47-4C80-8795-B2E252448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CB220961-1405-4DB0-8808-601F4A50F25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73F3D5EF-5CAE-438D-A52B-886FA18F0C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D7C459FB-D0B8-419E-A1AD-4DD454CFAFF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5F8480C0-4949-46AB-B9E4-F4CA6ECD9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D26BCD23-6C9A-4432-81EC-F20BFFC1533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1D28F09F-3A6F-492C-941D-8107B6419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5D52D576-B2C0-48A7-B39C-F9A087A6F89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76C7895-100D-4D0B-98B6-9BD329DD94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B5B12A0-A8D5-4F18-8C38-2EA87166A33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B2F35018-5C82-4ED7-9AA9-0A3197A3A1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16ADECEE-33F5-4E00-9328-AA8A252E632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F14C1246-2216-48C7-8F09-B4853CFF8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13B63699-3227-410C-A32F-C2FDD33343B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57143402-D215-40AF-AC36-54E36A634B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87D5E55F-6F18-4D75-8057-3709FF9B906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80E8F469-B0BC-4CA6-BCFE-FAE67ED198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24434DA-A965-4120-A33C-2317BD560B9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1F561B1B-8FA8-4925-BC30-C5A526DE9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2D22F8CC-852A-4B06-81FE-C37972AD5C8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28ADC9A-C888-4490-9474-8A356336E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82B69DC3-3B46-4074-B1D0-F0432A9C431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667D0E92-973E-4147-A07A-DEF674E98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E686FD1F-01E3-45C5-A6E3-F4DC14B2D59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67FD7F7C-E8A0-4646-985A-40893142AB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A1B246C0-DE1B-40FD-8993-4ABBB089461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FB7AEF7-EAE3-4F8F-9950-5B6AB51EF2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D69D0A90-9C09-44D0-84DE-0777B565184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423945F8-E385-4F46-8C8F-A6D681CE27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D75E9420-0748-4E22-9210-876E15107E7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62E297A6-071F-48F9-A32B-A49464A557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152400"/>
            <a:ext cx="9144000" cy="406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PURCHASING &amp; SUPPLY CHAIN MANAGEMENT, 4e</a:t>
            </a:r>
          </a:p>
        </p:txBody>
      </p:sp>
      <p:pic>
        <p:nvPicPr>
          <p:cNvPr id="5" name="Picture 6" descr="P&amp;SCM 4e.jpg">
            <a:extLst>
              <a:ext uri="{FF2B5EF4-FFF2-40B4-BE49-F238E27FC236}">
                <a16:creationId xmlns:a16="http://schemas.microsoft.com/office/drawing/2014/main" id="{FB72193A-50FD-47A5-9137-3405F14AC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953000"/>
            <a:ext cx="1382713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143000"/>
            <a:ext cx="8534400" cy="2457450"/>
          </a:xfrm>
          <a:gradFill>
            <a:gsLst>
              <a:gs pos="0">
                <a:srgbClr val="66FF66"/>
              </a:gs>
              <a:gs pos="100000">
                <a:srgbClr val="66FF66">
                  <a:gamma/>
                  <a:shade val="74510"/>
                  <a:invGamma/>
                </a:srgbClr>
              </a:gs>
            </a:gsLst>
          </a:gradFill>
        </p:spPr>
        <p:txBody>
          <a:bodyPr tIns="45720" bIns="45720"/>
          <a:lstStyle>
            <a:lvl1pPr>
              <a:defRPr sz="4800" i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7010400" cy="1524000"/>
          </a:xfrm>
        </p:spPr>
        <p:txBody>
          <a:bodyPr/>
          <a:lstStyle>
            <a:lvl1pPr marL="0" indent="0" algn="r">
              <a:buFontTx/>
              <a:buNone/>
              <a:defRPr sz="36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2B93-D72A-4DCE-AC28-2648639A8D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4191000" y="6019800"/>
            <a:ext cx="4648200" cy="701675"/>
          </a:xfrm>
        </p:spPr>
        <p:txBody>
          <a:bodyPr/>
          <a:lstStyle>
            <a:lvl1pPr>
              <a:defRPr sz="1600" i="0"/>
            </a:lvl1pPr>
          </a:lstStyle>
          <a:p>
            <a:pPr>
              <a:defRPr/>
            </a:pPr>
            <a:r>
              <a:rPr lang="en-US"/>
              <a:t>Cengage Learning</a:t>
            </a:r>
          </a:p>
          <a:p>
            <a:pPr>
              <a:defRPr/>
            </a:pPr>
            <a:r>
              <a:rPr lang="en-US"/>
              <a:t>Monczka – Handfield – Giunipero – Patterson</a:t>
            </a:r>
          </a:p>
        </p:txBody>
      </p:sp>
    </p:spTree>
    <p:extLst>
      <p:ext uri="{BB962C8B-B14F-4D97-AF65-F5344CB8AC3E}">
        <p14:creationId xmlns:p14="http://schemas.microsoft.com/office/powerpoint/2010/main" val="270164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037E0-817F-4402-8AB2-2E578D2B0F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8AC6A-39A3-41E5-BB03-1285BBA465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090446-B158-482D-A73B-4B834FD5C1A8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27186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F616F-601F-46F8-8FD8-9E21975E5D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9EC00-7023-45A9-BD30-FC9E8C1E3C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14FEB8-924C-421D-AE3D-5F782D823839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7902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7719-4979-4F8F-931C-5D8AD2A560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0337D-7D28-49E5-B5BB-D16E624F76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813E24-93AF-471A-8795-F59592E815B5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42825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7CDB79-5D5C-4555-8F2E-8731CBBE08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420BE3-918E-459F-927F-BD861C814D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9D1E8A-09D8-4A66-8EAC-74F39A199B3F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42758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0D7D0-CA09-4797-B5CE-725A194896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4240A-1D17-4ADF-B91D-49FF6D3B28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3E9508-3113-43E3-A2F8-377CC073AF24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094498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C9C5ED-9A7B-4E62-9CCD-AD9833FE8B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and Supply Chain Management, 4e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97CF69-6194-4ABB-B3A3-B621145A3A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D9EEA5-BFDE-4A9C-9193-E5007794BB3E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53716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C5254-CB38-4DDA-801E-1A6E00DFD4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6423D-9BF2-4CF1-B496-610413743D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B5E768-6902-47B1-B8B7-738153AEB331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30450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4CEDA-5D39-476A-89CF-C86701E4FA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13E0F-730A-4AA6-BC7B-BA919F1A68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0AB6C3-8312-4689-8B0C-A46AD868B342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4743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FFD04-BA39-4EE7-B797-26380C0219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570C5-10B0-4DF7-862E-830BD8036B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97C652-DEDD-40D6-9361-E72ABC4ACD18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99271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502AE-3907-425C-9E19-9B1CA98098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A1983-9E66-443C-969C-1DC8D0F410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2288B2-04FC-4512-889E-1FA5F3987939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7521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181847">
                <a:alpha val="39999"/>
              </a:srgbClr>
            </a:gs>
            <a:gs pos="100000">
              <a:schemeClr val="accent2">
                <a:alpha val="64999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FBE156-B167-43B9-A515-6832FA6D8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FC54F"/>
              </a:gs>
              <a:gs pos="100000">
                <a:srgbClr val="66FF6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LID4096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FE0455E-6233-4787-ABBB-8149E1DFF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F2F252E-CC82-4EEC-A73E-2BAE78B213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096000"/>
            <a:ext cx="8153400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 i="1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729B035-8C4C-4842-A6EF-1F7F788498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5200" y="6245225"/>
            <a:ext cx="137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C78C5EA1-C158-4179-ABC0-961CD3439E34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D364021A-7663-441C-98DC-284D1D14BB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4343400" y="6019800"/>
            <a:ext cx="4648200" cy="701675"/>
          </a:xfrm>
        </p:spPr>
        <p:txBody>
          <a:bodyPr/>
          <a:lstStyle/>
          <a:p>
            <a:pPr>
              <a:defRPr/>
            </a:pPr>
            <a:r>
              <a:rPr lang="en-US" sz="1800">
                <a:solidFill>
                  <a:schemeClr val="bg1"/>
                </a:solidFill>
              </a:rPr>
              <a:t>CENGAGE LEARNING</a:t>
            </a:r>
          </a:p>
          <a:p>
            <a:pPr>
              <a:defRPr/>
            </a:pPr>
            <a:r>
              <a:rPr lang="en-US" i="1">
                <a:solidFill>
                  <a:schemeClr val="bg1"/>
                </a:solidFill>
              </a:rPr>
              <a:t>Monczka – Handfield – Giunipero – Patterson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AC3F8CC-A3E0-4C45-8950-C2DCAB038F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1600200"/>
            <a:ext cx="8763000" cy="200025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Supplier Quality Management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88A919F-ED45-4E67-AF95-E81C45183E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>
                <a:solidFill>
                  <a:schemeClr val="accent3"/>
                </a:solidFill>
              </a:rPr>
              <a:t>Chapter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407F1CB2-1BCA-4DFC-908C-29E48C33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Chapter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A356-80E2-4B4A-B22C-149859722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just">
              <a:defRPr/>
            </a:pPr>
            <a:r>
              <a:rPr lang="en-US" sz="2800" dirty="0"/>
              <a:t>Case study: Strategic </a:t>
            </a:r>
            <a:r>
              <a:rPr lang="en-US" sz="2800" dirty="0">
                <a:solidFill>
                  <a:srgbClr val="0000FF"/>
                </a:solidFill>
              </a:rPr>
              <a:t>quality failure </a:t>
            </a:r>
            <a:r>
              <a:rPr lang="en-US" sz="2800" dirty="0"/>
              <a:t>in Global SCM</a:t>
            </a:r>
          </a:p>
          <a:p>
            <a:pPr algn="just">
              <a:defRPr/>
            </a:pPr>
            <a:r>
              <a:rPr lang="en-US" sz="2800" dirty="0"/>
              <a:t>Overview of supplier quality management</a:t>
            </a:r>
          </a:p>
          <a:p>
            <a:pPr algn="just">
              <a:defRPr/>
            </a:pPr>
            <a:r>
              <a:rPr lang="en-US" sz="2800" dirty="0">
                <a:solidFill>
                  <a:srgbClr val="0000FF"/>
                </a:solidFill>
              </a:rPr>
              <a:t>Factors </a:t>
            </a:r>
            <a:r>
              <a:rPr lang="en-US" sz="2800" dirty="0"/>
              <a:t>affecting supply management’s role in managing supplier quality</a:t>
            </a:r>
          </a:p>
          <a:p>
            <a:pPr algn="just">
              <a:defRPr/>
            </a:pPr>
            <a:r>
              <a:rPr lang="en-US" sz="2800" dirty="0"/>
              <a:t>Supply quality management using a </a:t>
            </a:r>
            <a:r>
              <a:rPr lang="en-US" sz="2800" dirty="0">
                <a:solidFill>
                  <a:srgbClr val="0000FF"/>
                </a:solidFill>
              </a:rPr>
              <a:t>TQM perspective</a:t>
            </a:r>
          </a:p>
          <a:p>
            <a:pPr algn="just">
              <a:defRPr/>
            </a:pPr>
            <a:r>
              <a:rPr lang="en-US" sz="2800" dirty="0">
                <a:solidFill>
                  <a:srgbClr val="0000FF"/>
                </a:solidFill>
              </a:rPr>
              <a:t>Process capability</a:t>
            </a:r>
          </a:p>
          <a:p>
            <a:pPr algn="just">
              <a:defRPr/>
            </a:pPr>
            <a:r>
              <a:rPr lang="en-US" sz="2800" dirty="0">
                <a:solidFill>
                  <a:srgbClr val="0000FF"/>
                </a:solidFill>
              </a:rPr>
              <a:t>Cost of quality</a:t>
            </a:r>
          </a:p>
          <a:p>
            <a:pPr algn="just">
              <a:defRPr/>
            </a:pPr>
            <a:r>
              <a:rPr lang="en-US" sz="2800" dirty="0"/>
              <a:t>Pursuing Six Sigma supplier quality</a:t>
            </a:r>
          </a:p>
          <a:p>
            <a:pPr algn="just">
              <a:defRPr/>
            </a:pPr>
            <a:r>
              <a:rPr lang="en-US" sz="2800" dirty="0"/>
              <a:t>Using </a:t>
            </a:r>
            <a:r>
              <a:rPr lang="en-US" sz="2800" dirty="0">
                <a:solidFill>
                  <a:srgbClr val="0000FF"/>
                </a:solidFill>
              </a:rPr>
              <a:t>ISO and the MBNQA </a:t>
            </a:r>
            <a:r>
              <a:rPr lang="en-US" sz="2800" dirty="0"/>
              <a:t>criteria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96EE1-63B0-4E58-ADE4-23DA0A87EB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BBDF1-DC7E-4DDF-87AF-6CBAC2297F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ED83DCF-D680-40D8-9940-C67AE64ADEA5}" type="slidenum">
              <a:rPr lang="en-US" altLang="LID4096">
                <a:solidFill>
                  <a:srgbClr val="FFFFFF"/>
                </a:solidFill>
              </a:rPr>
              <a:pPr/>
              <a:t>2</a:t>
            </a:fld>
            <a:endParaRPr lang="en-US" altLang="LID4096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AF7F-22E9-441D-92AE-9160DE6D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Alpha Motors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A47DE-85CC-440F-BC25-221113B11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2667000"/>
          </a:xfrm>
        </p:spPr>
        <p:txBody>
          <a:bodyPr/>
          <a:lstStyle/>
          <a:p>
            <a:pPr marL="0" marR="0" indent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trategic Supplier Quality Failure in Global Sourcing</a:t>
            </a: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Alpha Motors (a global automotive OEM) sources nearly 65% of its components from external suppliers across Asia and Eastern Europe. </a:t>
            </a:r>
            <a:endParaRPr lang="LID4096" sz="40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8EA2F-3132-403B-9986-45463B3C6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90446-B158-482D-A73B-4B834FD5C1A8}" type="slidenum">
              <a:rPr lang="en-US" altLang="LID4096" smtClean="0"/>
              <a:pPr/>
              <a:t>3</a:t>
            </a:fld>
            <a:endParaRPr lang="en-US" altLang="LID4096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D654C5-A1DB-410D-9506-96B997976AAF}"/>
              </a:ext>
            </a:extLst>
          </p:cNvPr>
          <p:cNvSpPr txBox="1">
            <a:spLocks/>
          </p:cNvSpPr>
          <p:nvPr/>
        </p:nvSpPr>
        <p:spPr bwMode="auto">
          <a:xfrm>
            <a:off x="152400" y="2514599"/>
            <a:ext cx="8763000" cy="247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None/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improve cost competitiveness, Alpha Motors’ procurement team decided to outsource brake caliper components to a new supplier, Sigma Components Ltd., located in a low-cost country, because it  offered: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18% lower unit cost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Acceptable initial quality reports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 9001 certification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sz="2400" b="0" kern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Based mainly on cost savings and short-term financial targets, Sigma was awarded a single-source contract for three years.</a:t>
            </a:r>
            <a:endParaRPr lang="LID4096" sz="4000" b="0" kern="0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pic>
        <p:nvPicPr>
          <p:cNvPr id="143362" name="Picture 2" descr="Brake Calipers: Function, Types &amp; Signs of Failure | Spring ...">
            <a:extLst>
              <a:ext uri="{FF2B5EF4-FFF2-40B4-BE49-F238E27FC236}">
                <a16:creationId xmlns:a16="http://schemas.microsoft.com/office/drawing/2014/main" id="{64CD573E-7EC8-4D17-9FD7-06C4A0AA4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3886200"/>
            <a:ext cx="2362200" cy="197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4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C761-8F7C-4ADA-9A1A-4F907FC7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Alpha Motors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F1AA1-58FD-4360-9058-151DF0992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873625"/>
          </a:xfrm>
        </p:spPr>
        <p:txBody>
          <a:bodyPr/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Problem: Within 12 months of production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Defect rates increased 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0.8% to 4.5%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Assembly </a:t>
            </a:r>
            <a:r>
              <a:rPr lang="en-US" sz="2400" b="0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 stoppages 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became frequent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complaints 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related to braking noise and performance increased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regional markets initiated safety </a:t>
            </a:r>
            <a:r>
              <a:rPr lang="en-US" sz="2400" b="0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investigations</a:t>
            </a:r>
            <a:endParaRPr lang="en-US" sz="2400" b="0" kern="100" dirty="0">
              <a:solidFill>
                <a:srgbClr val="0000FF"/>
              </a:solidFill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Although Sigma met contractual delivery volumes, </a:t>
            </a:r>
            <a:r>
              <a:rPr lang="en-US" sz="2400" b="0" kern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variation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0" kern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weak continuous improvement 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capabilities were identified during audits.</a:t>
            </a:r>
            <a:endParaRPr lang="en-US" sz="2400" b="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A7F45-F06E-4CF7-A082-94913FACCB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Purchasing &amp; Supply Chain Management, 4e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1FCEE-4293-4A9D-9E9F-638CF91CC7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90446-B158-482D-A73B-4B834FD5C1A8}" type="slidenum">
              <a:rPr lang="en-US" altLang="LID4096" smtClean="0"/>
              <a:pPr/>
              <a:t>4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87220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1408-3F99-4128-BAF4-4BEB8F57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Alpha Motors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8B235-4709-4A60-8772-0CEDE6F3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4876800"/>
          </a:xfrm>
        </p:spPr>
        <p:txBody>
          <a:bodyPr/>
          <a:lstStyle/>
          <a:p>
            <a:pPr marL="0" marR="0" indent="0" algn="just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Procurement’s Dilemma: 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Alpha Motors faces a strategic decision.</a:t>
            </a:r>
            <a:endParaRPr lang="en-US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Terminate the contract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of supply disruption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 short-term costs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the supplier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Invest time, resources, and training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guaranteed improvement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Dual-source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 complexity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dependency risk</a:t>
            </a: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LID4096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D673A-BF36-4335-BE04-AF959AECC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245225"/>
            <a:ext cx="81534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Purchasing &amp; Supply Chain Management, 4e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8673E-3E75-458D-A2FC-92BC6F0707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90446-B158-482D-A73B-4B834FD5C1A8}" type="slidenum">
              <a:rPr lang="en-US" altLang="LID4096" smtClean="0"/>
              <a:pPr/>
              <a:t>5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73081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D790-40E1-4CB3-BAE5-758F8640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Alpha Motors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DDE9D-DDEA-44E0-947A-4C924CCCE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026"/>
            <a:ext cx="8229600" cy="4422774"/>
          </a:xfrm>
        </p:spPr>
        <p:txBody>
          <a:bodyPr/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Think: What Went Wrong at Alpha Motors?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Overemphasis on cost-based sourcing: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Weak supplier capability assessment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Absence of supplier development strategy: 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b="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Poor quality governance in outsourcing decisions: </a:t>
            </a:r>
            <a:r>
              <a:rPr lang="en-US" sz="2400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system to monitor</a:t>
            </a:r>
            <a:endParaRPr lang="LID4096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5EEA4-C9C0-4025-8FD5-0B2F36FBBE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901BA-8C72-4EC1-BC50-982E87CA87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90446-B158-482D-A73B-4B834FD5C1A8}" type="slidenum">
              <a:rPr lang="en-US" altLang="LID4096" smtClean="0"/>
              <a:pPr/>
              <a:t>6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6849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8547BD21-8661-4AF0-8678-6EFEA78F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What Is Supplier Quality?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D111-C575-4A6C-B74C-FE3B3BD0F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026"/>
            <a:ext cx="8229600" cy="4910138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The ability to meet or exceed current and future customer expectations or requirements within critical performance areas on a </a:t>
            </a:r>
            <a:r>
              <a:rPr lang="en-US" dirty="0">
                <a:solidFill>
                  <a:srgbClr val="0000FF"/>
                </a:solidFill>
              </a:rPr>
              <a:t>consistent basis</a:t>
            </a:r>
          </a:p>
          <a:p>
            <a:pPr algn="just">
              <a:defRPr/>
            </a:pPr>
            <a:r>
              <a:rPr lang="en-US" dirty="0"/>
              <a:t>Keys to supplier quality:</a:t>
            </a:r>
          </a:p>
          <a:p>
            <a:pPr lvl="1" algn="just">
              <a:defRPr/>
            </a:pPr>
            <a:r>
              <a:rPr lang="en-US" dirty="0">
                <a:solidFill>
                  <a:srgbClr val="0000FF"/>
                </a:solidFill>
              </a:rPr>
              <a:t>Meet or exceed</a:t>
            </a:r>
          </a:p>
          <a:p>
            <a:pPr lvl="1" algn="just">
              <a:defRPr/>
            </a:pPr>
            <a:r>
              <a:rPr lang="en-US" dirty="0"/>
              <a:t>Current and future </a:t>
            </a:r>
            <a:r>
              <a:rPr lang="en-US" dirty="0">
                <a:solidFill>
                  <a:srgbClr val="0000FF"/>
                </a:solidFill>
              </a:rPr>
              <a:t>requirements</a:t>
            </a:r>
          </a:p>
          <a:p>
            <a:pPr lvl="1" algn="just">
              <a:defRPr/>
            </a:pPr>
            <a:r>
              <a:rPr lang="en-US" dirty="0"/>
              <a:t>On a </a:t>
            </a:r>
            <a:r>
              <a:rPr lang="en-US" dirty="0">
                <a:solidFill>
                  <a:srgbClr val="0000FF"/>
                </a:solidFill>
              </a:rPr>
              <a:t>consistent</a:t>
            </a:r>
            <a:r>
              <a:rPr lang="en-US" dirty="0"/>
              <a:t> basis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27A0B-1C22-4EA7-B96F-8B9E2B8B22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FDD4A-F883-4044-87E3-DA49FBB9FE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EBF0AE-2C3D-4068-9ED7-069D8C98E290}" type="slidenum">
              <a:rPr lang="en-US" altLang="LID4096">
                <a:solidFill>
                  <a:srgbClr val="FFFFFF"/>
                </a:solidFill>
              </a:rPr>
              <a:pPr/>
              <a:t>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D1795DF6-83B0-4DC7-9C38-2BE34E90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 Quality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3560-D2A7-4539-8A58-D3F51D8AA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Supplier </a:t>
            </a:r>
            <a:r>
              <a:rPr lang="en-US" dirty="0">
                <a:solidFill>
                  <a:srgbClr val="0000FF"/>
                </a:solidFill>
              </a:rPr>
              <a:t>impact on quality: 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Continuous improvement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Outsourcing </a:t>
            </a:r>
            <a:r>
              <a:rPr lang="en-US" dirty="0"/>
              <a:t>of purchase requirements: </a:t>
            </a:r>
            <a:r>
              <a:rPr lang="en-US" b="0" dirty="0"/>
              <a:t>Depending on suppliers because of limited resources.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9CA4D-B093-437C-A88E-F250640ED1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E645D-2E74-4198-9FBF-C382D9990D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3EEBB6-AAB4-47BD-8838-F866883F1468}" type="slidenum">
              <a:rPr lang="en-US" altLang="LID4096">
                <a:solidFill>
                  <a:srgbClr val="FFFFFF"/>
                </a:solidFill>
              </a:rPr>
              <a:pPr/>
              <a:t>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521C3BFC-4B56-4F76-94C9-93278651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 dirty="0"/>
              <a:t>6 Factors: Supply Management’s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66E2-6468-40FD-A567-EB221E8A2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4009"/>
            <a:ext cx="8229600" cy="4101991"/>
          </a:xfrm>
        </p:spPr>
        <p:txBody>
          <a:bodyPr/>
          <a:lstStyle/>
          <a:p>
            <a:pPr marL="514350" indent="-514350" algn="just">
              <a:buAutoNum type="arabicPeriod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ability</a:t>
            </a:r>
            <a:r>
              <a:rPr lang="en-US" dirty="0"/>
              <a:t> of a supplier to affect a buyer’s total quality, e.g., Packaging vs Brake Supplier</a:t>
            </a:r>
          </a:p>
          <a:p>
            <a:pPr marL="0" indent="0" algn="just">
              <a:buNone/>
              <a:defRPr/>
            </a:pPr>
            <a:r>
              <a:rPr lang="en-US" dirty="0"/>
              <a:t>2. The </a:t>
            </a:r>
            <a:r>
              <a:rPr lang="en-US" dirty="0">
                <a:solidFill>
                  <a:srgbClr val="0000FF"/>
                </a:solidFill>
              </a:rPr>
              <a:t>resources available </a:t>
            </a:r>
            <a:r>
              <a:rPr lang="en-US" dirty="0"/>
              <a:t>to support supplier quality improvement: Time, cost,</a:t>
            </a:r>
          </a:p>
          <a:p>
            <a:pPr marL="0" indent="0" algn="just">
              <a:buNone/>
              <a:defRPr/>
            </a:pPr>
            <a:r>
              <a:rPr lang="en-US" dirty="0"/>
              <a:t>3. Ability of a </a:t>
            </a:r>
            <a:r>
              <a:rPr lang="en-US" dirty="0">
                <a:solidFill>
                  <a:srgbClr val="0000FF"/>
                </a:solidFill>
              </a:rPr>
              <a:t>buying firm </a:t>
            </a:r>
            <a:r>
              <a:rPr lang="en-US" dirty="0"/>
              <a:t>to practice world-class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35B22-FC38-46EB-8B02-8446BAC49E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4B732-A92E-4A08-8FFC-84E920E872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FADD07-64E9-449D-B7D3-73902AA8E716}" type="slidenum">
              <a:rPr lang="en-US" altLang="LID4096">
                <a:solidFill>
                  <a:srgbClr val="FFFFFF"/>
                </a:solidFill>
              </a:rPr>
              <a:pPr/>
              <a:t>9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9AD08-C2A4-4659-ABF4-77EE216B28A8}"/>
              </a:ext>
            </a:extLst>
          </p:cNvPr>
          <p:cNvSpPr txBox="1"/>
          <p:nvPr/>
        </p:nvSpPr>
        <p:spPr>
          <a:xfrm>
            <a:off x="219074" y="1151156"/>
            <a:ext cx="8543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highlight>
                  <a:srgbClr val="FFFF00"/>
                </a:highlight>
              </a:rPr>
              <a:t>Supply management does not control quality directly; it enables or limits it through strategic decisions.</a:t>
            </a:r>
            <a:endParaRPr lang="LID4096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282F8E4A-681C-46E6-8B43-4FBA3464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Factors: Supply Management’s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BA0A6-3571-489B-9341-25989694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defRPr/>
            </a:pPr>
            <a:r>
              <a:rPr lang="en-US" dirty="0"/>
              <a:t>4. A supplier’s </a:t>
            </a:r>
            <a:r>
              <a:rPr lang="en-US" dirty="0">
                <a:solidFill>
                  <a:srgbClr val="0000FF"/>
                </a:solidFill>
              </a:rPr>
              <a:t>willingness</a:t>
            </a:r>
            <a:r>
              <a:rPr lang="en-US" dirty="0"/>
              <a:t> to work jointly with the buyer to improve quality</a:t>
            </a:r>
          </a:p>
          <a:p>
            <a:pPr algn="just">
              <a:defRPr/>
            </a:pPr>
            <a:endParaRPr lang="en-US" dirty="0"/>
          </a:p>
          <a:p>
            <a:pPr marL="0" indent="0" algn="just">
              <a:buNone/>
              <a:defRPr/>
            </a:pPr>
            <a:r>
              <a:rPr lang="en-US" dirty="0"/>
              <a:t>5. A supplier’s </a:t>
            </a:r>
            <a:r>
              <a:rPr lang="en-US" dirty="0">
                <a:solidFill>
                  <a:srgbClr val="0000FF"/>
                </a:solidFill>
              </a:rPr>
              <a:t>current quality levels</a:t>
            </a:r>
          </a:p>
          <a:p>
            <a:pPr algn="just">
              <a:defRPr/>
            </a:pPr>
            <a:endParaRPr lang="en-US" dirty="0"/>
          </a:p>
          <a:p>
            <a:pPr marL="0" indent="0" algn="just">
              <a:buNone/>
              <a:defRPr/>
            </a:pPr>
            <a:r>
              <a:rPr lang="en-US" dirty="0"/>
              <a:t>6. A buyer’s ability to collect and analyze quality-related </a:t>
            </a:r>
            <a:r>
              <a:rPr lang="en-US" dirty="0">
                <a:solidFill>
                  <a:srgbClr val="0000FF"/>
                </a:solidFill>
              </a:rPr>
              <a:t>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9A2C8-880C-4E64-B9B3-D69057F772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51C16-A4CC-4DB2-8A26-AFF5FEB590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2465D1-C60C-4518-A8F5-D4EAE9DFEF62}" type="slidenum">
              <a:rPr lang="en-US" altLang="LID4096">
                <a:solidFill>
                  <a:srgbClr val="FFFFFF"/>
                </a:solidFill>
              </a:rPr>
              <a:pPr/>
              <a:t>10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D4A5E8BB-E9F1-470E-9275-26E7D4A0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A TQM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C8C7C-BF2E-43A1-9D6A-EC7A6C46F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5" y="1307306"/>
            <a:ext cx="8229600" cy="4678363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Defining quality in terms of </a:t>
            </a:r>
            <a:r>
              <a:rPr lang="en-US" dirty="0">
                <a:solidFill>
                  <a:srgbClr val="0000FF"/>
                </a:solidFill>
              </a:rPr>
              <a:t>customers and their requirements</a:t>
            </a:r>
          </a:p>
          <a:p>
            <a:pPr algn="just">
              <a:defRPr/>
            </a:pPr>
            <a:r>
              <a:rPr lang="en-US" dirty="0"/>
              <a:t>Deming’s 14 Points</a:t>
            </a:r>
          </a:p>
          <a:p>
            <a:pPr algn="just">
              <a:defRPr/>
            </a:pPr>
            <a:r>
              <a:rPr lang="en-US" dirty="0"/>
              <a:t>Pursuing quality at the </a:t>
            </a:r>
            <a:r>
              <a:rPr lang="en-US" dirty="0">
                <a:solidFill>
                  <a:srgbClr val="0000FF"/>
                </a:solidFill>
              </a:rPr>
              <a:t>source</a:t>
            </a:r>
          </a:p>
          <a:p>
            <a:pPr algn="just">
              <a:defRPr/>
            </a:pPr>
            <a:r>
              <a:rPr lang="en-US" dirty="0"/>
              <a:t>Stressing objective measurement and analysis</a:t>
            </a:r>
          </a:p>
          <a:p>
            <a:pPr algn="just">
              <a:defRPr/>
            </a:pPr>
            <a:r>
              <a:rPr lang="en-US" dirty="0"/>
              <a:t>Emphasizing </a:t>
            </a:r>
            <a:r>
              <a:rPr lang="en-US" dirty="0">
                <a:solidFill>
                  <a:srgbClr val="0000FF"/>
                </a:solidFill>
              </a:rPr>
              <a:t>prevention</a:t>
            </a:r>
            <a:r>
              <a:rPr lang="en-US" dirty="0"/>
              <a:t> rather than detection of defects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1D503-A113-49AE-A2DF-2CCCE2B0C3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BF164-2536-43BC-B0B5-5BD78DDC4B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829609-D67F-4F33-B25A-53291EA02C97}" type="slidenum">
              <a:rPr lang="en-US" altLang="LID4096">
                <a:solidFill>
                  <a:srgbClr val="FFFFFF"/>
                </a:solidFill>
              </a:rPr>
              <a:pPr/>
              <a:t>11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C47DB5C8-BF8C-474D-A671-69D5FDB1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 dirty="0"/>
              <a:t>A TQM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240D-EF0C-4A8B-BA4B-4DDB5A6EB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873625"/>
          </a:xfrm>
        </p:spPr>
        <p:txBody>
          <a:bodyPr/>
          <a:lstStyle/>
          <a:p>
            <a:pPr>
              <a:defRPr/>
            </a:pPr>
            <a:r>
              <a:rPr lang="en-US" dirty="0"/>
              <a:t>Focusing on </a:t>
            </a:r>
            <a:r>
              <a:rPr lang="en-US" dirty="0">
                <a:solidFill>
                  <a:srgbClr val="0000FF"/>
                </a:solidFill>
              </a:rPr>
              <a:t>process </a:t>
            </a:r>
            <a:r>
              <a:rPr lang="en-US" dirty="0"/>
              <a:t>rather than output</a:t>
            </a:r>
          </a:p>
          <a:p>
            <a:pPr>
              <a:defRPr/>
            </a:pPr>
            <a:r>
              <a:rPr lang="en-US" dirty="0"/>
              <a:t>Basics of </a:t>
            </a:r>
            <a:r>
              <a:rPr lang="en-US" dirty="0">
                <a:solidFill>
                  <a:srgbClr val="0000FF"/>
                </a:solidFill>
              </a:rPr>
              <a:t>process capability</a:t>
            </a:r>
          </a:p>
          <a:p>
            <a:pPr>
              <a:defRPr/>
            </a:pPr>
            <a:r>
              <a:rPr lang="en-US" dirty="0"/>
              <a:t>Striving for </a:t>
            </a:r>
            <a:r>
              <a:rPr lang="en-US" dirty="0">
                <a:solidFill>
                  <a:srgbClr val="0000FF"/>
                </a:solidFill>
              </a:rPr>
              <a:t>zero defects</a:t>
            </a:r>
          </a:p>
          <a:p>
            <a:pPr algn="just">
              <a:defRPr/>
            </a:pPr>
            <a:r>
              <a:rPr lang="en-US" dirty="0"/>
              <a:t>Cost of quality: </a:t>
            </a:r>
            <a:r>
              <a:rPr lang="en-US" b="0" dirty="0"/>
              <a:t>Cost of quality is NOT the cost of making a high-quality product. It is the cost of doing things right and wrong.</a:t>
            </a:r>
          </a:p>
          <a:p>
            <a:pPr>
              <a:defRPr/>
            </a:pPr>
            <a:r>
              <a:rPr lang="en-US" dirty="0"/>
              <a:t>Establishing </a:t>
            </a:r>
            <a:r>
              <a:rPr lang="en-US" dirty="0">
                <a:solidFill>
                  <a:srgbClr val="0000FF"/>
                </a:solidFill>
              </a:rPr>
              <a:t>continuous improvement </a:t>
            </a:r>
            <a:r>
              <a:rPr lang="en-US" dirty="0"/>
              <a:t>as a way of life</a:t>
            </a:r>
          </a:p>
          <a:p>
            <a:pPr>
              <a:defRPr/>
            </a:pPr>
            <a:r>
              <a:rPr lang="en-US" dirty="0"/>
              <a:t>Making quality </a:t>
            </a:r>
            <a:r>
              <a:rPr lang="en-US" dirty="0">
                <a:solidFill>
                  <a:srgbClr val="0000FF"/>
                </a:solidFill>
              </a:rPr>
              <a:t>everyone’s responsibility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10861-69DD-4E18-8549-F6B5589A5E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324600"/>
            <a:ext cx="8153400" cy="396875"/>
          </a:xfrm>
        </p:spPr>
        <p:txBody>
          <a:bodyPr/>
          <a:lstStyle/>
          <a:p>
            <a:pPr>
              <a:defRPr/>
            </a:pPr>
            <a:r>
              <a:rPr lang="en-US" dirty="0"/>
              <a:t>Purchasing &amp; Supply Chain Management, 4e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4F7A4-4A9D-4BA6-8F30-F3A748C99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31959B-BF43-44C8-8BE4-5620B91664F9}" type="slidenum">
              <a:rPr lang="en-US" altLang="LID4096">
                <a:solidFill>
                  <a:srgbClr val="FFFFFF"/>
                </a:solidFill>
              </a:rPr>
              <a:pPr/>
              <a:t>12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7B217E1A-CA80-412D-AF63-CA7CAF4A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Quality: The Customer’s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96B8-26E0-4249-A43F-4F93139C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Nonconforming supplier quality is often due to </a:t>
            </a:r>
            <a:r>
              <a:rPr lang="en-US" dirty="0">
                <a:solidFill>
                  <a:srgbClr val="0000FF"/>
                </a:solidFill>
              </a:rPr>
              <a:t>inconsistent communication </a:t>
            </a:r>
            <a:r>
              <a:rPr lang="en-US" dirty="0"/>
              <a:t>and resultant </a:t>
            </a:r>
            <a:r>
              <a:rPr lang="en-US" dirty="0">
                <a:solidFill>
                  <a:srgbClr val="0000FF"/>
                </a:solidFill>
              </a:rPr>
              <a:t>misunderstanding</a:t>
            </a:r>
            <a:r>
              <a:rPr lang="en-US" dirty="0"/>
              <a:t> of specifications, expectations, and requirements within the supply chain</a:t>
            </a:r>
          </a:p>
          <a:p>
            <a:pPr lvl="1" algn="just">
              <a:defRPr/>
            </a:pPr>
            <a:r>
              <a:rPr lang="en-US" dirty="0"/>
              <a:t>Need for clear specifications and performance requirements</a:t>
            </a:r>
          </a:p>
          <a:p>
            <a:pPr lvl="1" algn="just">
              <a:defRPr/>
            </a:pPr>
            <a:r>
              <a:rPr lang="en-US" dirty="0"/>
              <a:t>Sharing of final product requirements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A2C61-B0F5-455D-8941-CCF65E1748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7B185-6B2B-41CA-997E-47DC1181A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4EB22D-FC73-4110-A193-9E8CDF59696E}" type="slidenum">
              <a:rPr lang="en-US" altLang="LID4096">
                <a:solidFill>
                  <a:srgbClr val="FFFFFF"/>
                </a:solidFill>
              </a:rPr>
              <a:pPr/>
              <a:t>13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B72A-1CE8-4959-8C1E-E25CB6DB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Concepts in SCM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F327F-09E8-4D76-98E1-034E57DBE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90446-B158-482D-A73B-4B834FD5C1A8}" type="slidenum">
              <a:rPr lang="en-US" altLang="LID4096" smtClean="0"/>
              <a:pPr/>
              <a:t>14</a:t>
            </a:fld>
            <a:endParaRPr lang="en-US" altLang="LID40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88AAF6-41DD-4EBE-9B0C-C367A9B4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34" y="943084"/>
            <a:ext cx="6516566" cy="591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F2ABD515-6615-45A0-A1B7-39DA518B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Developing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6A4D0-29B3-4C45-AD7B-5CD175DF2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12081"/>
            <a:ext cx="8229600" cy="4525963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Ability of the buying company to briefly identify, clearly define, quantify, or specify its </a:t>
            </a:r>
            <a:r>
              <a:rPr lang="en-US" dirty="0">
                <a:solidFill>
                  <a:srgbClr val="0000FF"/>
                </a:solidFill>
              </a:rPr>
              <a:t>technical and sourcing </a:t>
            </a:r>
            <a:r>
              <a:rPr lang="en-US" dirty="0"/>
              <a:t>requirements.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Buyer’s ability and initiative to </a:t>
            </a:r>
            <a:r>
              <a:rPr lang="en-US" dirty="0">
                <a:solidFill>
                  <a:srgbClr val="0000FF"/>
                </a:solidFill>
              </a:rPr>
              <a:t>effectively communicate </a:t>
            </a:r>
            <a:r>
              <a:rPr lang="en-US" dirty="0"/>
              <a:t>these requirements to the supplier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A1A77-8B2C-4375-B826-FAE308BDC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EAC45-F723-4D18-A65D-5D6FD7F697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31FC1A-2231-4985-AEA2-EF1942D26882}" type="slidenum">
              <a:rPr lang="en-US" altLang="LID4096">
                <a:solidFill>
                  <a:srgbClr val="FFFFFF"/>
                </a:solidFill>
              </a:rPr>
              <a:pPr/>
              <a:t>15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2CDB9241-9416-4B2E-B8F0-2B383E8C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Quality at the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D255-ADA6-4743-BB8A-27E538BCB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dirty="0"/>
              <a:t>Doing </a:t>
            </a:r>
            <a:r>
              <a:rPr lang="en-US" dirty="0">
                <a:solidFill>
                  <a:srgbClr val="0000FF"/>
                </a:solidFill>
              </a:rPr>
              <a:t>quality right </a:t>
            </a:r>
            <a:r>
              <a:rPr lang="en-US" dirty="0"/>
              <a:t>where the work is done—so defects are prevented, not detected later. Product and process design</a:t>
            </a:r>
          </a:p>
          <a:p>
            <a:pPr lvl="1" algn="just">
              <a:defRPr/>
            </a:pPr>
            <a:r>
              <a:rPr lang="en-US" dirty="0"/>
              <a:t>Early supply management involvement (ESMI)</a:t>
            </a:r>
          </a:p>
          <a:p>
            <a:pPr lvl="1" algn="just">
              <a:defRPr/>
            </a:pPr>
            <a:r>
              <a:rPr lang="en-US" dirty="0"/>
              <a:t>Early supplier design involvement (ESDI)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9476F-9656-4350-BFCB-2B5BF0ACE9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95141-3321-470B-9F1A-171FBADA4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EC5391-7F49-48FB-BC2B-7F8566D6C3A3}" type="slidenum">
              <a:rPr lang="en-US" altLang="LID4096">
                <a:solidFill>
                  <a:srgbClr val="FFFFFF"/>
                </a:solidFill>
              </a:rPr>
              <a:pPr/>
              <a:t>16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BD037D0E-6458-4703-A4BF-8E82898B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Objective Measurement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6564D-8E97-4871-82C2-82B33205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>
              <a:defRPr/>
            </a:pPr>
            <a:r>
              <a:rPr lang="en-US" dirty="0"/>
              <a:t>Make decisions </a:t>
            </a:r>
            <a:r>
              <a:rPr lang="en-US" dirty="0">
                <a:solidFill>
                  <a:srgbClr val="0000FF"/>
                </a:solidFill>
              </a:rPr>
              <a:t>on facts, not feelings</a:t>
            </a:r>
          </a:p>
          <a:p>
            <a:pPr>
              <a:defRPr/>
            </a:pPr>
            <a:r>
              <a:rPr lang="en-US" dirty="0"/>
              <a:t>Need for a rigorous evaluation system</a:t>
            </a:r>
          </a:p>
          <a:p>
            <a:pPr lvl="1">
              <a:defRPr/>
            </a:pPr>
            <a:r>
              <a:rPr lang="en-US" dirty="0"/>
              <a:t>Provide feedback to support </a:t>
            </a:r>
            <a:r>
              <a:rPr lang="en-US" dirty="0">
                <a:solidFill>
                  <a:srgbClr val="0000FF"/>
                </a:solidFill>
              </a:rPr>
              <a:t>corrective action</a:t>
            </a:r>
          </a:p>
          <a:p>
            <a:pPr lvl="1">
              <a:defRPr/>
            </a:pPr>
            <a:r>
              <a:rPr lang="en-US" dirty="0">
                <a:solidFill>
                  <a:srgbClr val="0000FF"/>
                </a:solidFill>
              </a:rPr>
              <a:t>Track results </a:t>
            </a:r>
            <a:r>
              <a:rPr lang="en-US" dirty="0"/>
              <a:t>from improvement initiatives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F0324-C006-44FF-A2B5-9B182AFB41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388C-5A9F-4A44-9E56-61E75C55BB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063E0E-E24A-4582-A85D-844A62B3FCF3}" type="slidenum">
              <a:rPr lang="en-US" altLang="LID4096">
                <a:solidFill>
                  <a:srgbClr val="FFFFFF"/>
                </a:solidFill>
              </a:rPr>
              <a:pPr/>
              <a:t>17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FB5459BF-7388-4826-8A50-662977B5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 dirty="0"/>
              <a:t>Prevention of Nonconformance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9D27F-8946-44C5-85D7-937DEDA5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Need for </a:t>
            </a:r>
            <a:r>
              <a:rPr lang="en-US" dirty="0">
                <a:solidFill>
                  <a:srgbClr val="0000FF"/>
                </a:solidFill>
              </a:rPr>
              <a:t>process consistency</a:t>
            </a:r>
          </a:p>
          <a:p>
            <a:pPr algn="just">
              <a:defRPr/>
            </a:pPr>
            <a:endParaRPr lang="en-US" dirty="0">
              <a:solidFill>
                <a:srgbClr val="0000FF"/>
              </a:solidFill>
            </a:endParaRPr>
          </a:p>
          <a:p>
            <a:pPr algn="just">
              <a:defRPr/>
            </a:pPr>
            <a:r>
              <a:rPr lang="en-US" dirty="0"/>
              <a:t>Reduce </a:t>
            </a:r>
            <a:r>
              <a:rPr lang="en-US" dirty="0">
                <a:solidFill>
                  <a:srgbClr val="0000FF"/>
                </a:solidFill>
              </a:rPr>
              <a:t>process variation</a:t>
            </a:r>
          </a:p>
          <a:p>
            <a:pPr algn="just">
              <a:defRPr/>
            </a:pPr>
            <a:endParaRPr lang="en-US" dirty="0">
              <a:solidFill>
                <a:srgbClr val="0000FF"/>
              </a:solidFill>
            </a:endParaRPr>
          </a:p>
          <a:p>
            <a:pPr algn="just">
              <a:defRPr/>
            </a:pPr>
            <a:r>
              <a:rPr lang="en-US" dirty="0"/>
              <a:t>Reduce reliance on </a:t>
            </a:r>
            <a:r>
              <a:rPr lang="en-US" dirty="0">
                <a:solidFill>
                  <a:srgbClr val="0000FF"/>
                </a:solidFill>
              </a:rPr>
              <a:t>appraisal</a:t>
            </a:r>
            <a:r>
              <a:rPr lang="en-US" dirty="0"/>
              <a:t>, inspection, and detection activities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Use of </a:t>
            </a:r>
            <a:r>
              <a:rPr lang="en-US" dirty="0">
                <a:solidFill>
                  <a:srgbClr val="0000FF"/>
                </a:solidFill>
              </a:rPr>
              <a:t>corrective action </a:t>
            </a:r>
            <a:r>
              <a:rPr lang="en-US" dirty="0"/>
              <a:t>requests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27DAC-C234-4652-9D2C-A339DF56A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6CE18-FD00-46B1-9988-451F2362F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A9D731-947E-45A1-8FEE-6A8DB6BC635E}" type="slidenum">
              <a:rPr lang="en-US" altLang="LID4096">
                <a:solidFill>
                  <a:srgbClr val="FFFFFF"/>
                </a:solidFill>
              </a:rPr>
              <a:pPr/>
              <a:t>18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B5553BCD-3488-4E93-A7DD-C03C1276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Focus on Process, Not 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DB839-EF9B-46DC-A90B-CC6C6A833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pPr>
              <a:defRPr/>
            </a:pPr>
            <a:r>
              <a:rPr lang="en-US" dirty="0"/>
              <a:t>Move from </a:t>
            </a:r>
            <a:r>
              <a:rPr lang="en-US" dirty="0">
                <a:solidFill>
                  <a:srgbClr val="0000FF"/>
                </a:solidFill>
              </a:rPr>
              <a:t>product</a:t>
            </a:r>
            <a:r>
              <a:rPr lang="en-US" dirty="0"/>
              <a:t> orientation </a:t>
            </a:r>
            <a:r>
              <a:rPr lang="en-US" dirty="0">
                <a:solidFill>
                  <a:srgbClr val="0000FF"/>
                </a:solidFill>
              </a:rPr>
              <a:t>to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p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rocess</a:t>
            </a:r>
            <a:r>
              <a:rPr lang="en-US" dirty="0">
                <a:sym typeface="Wingdings" pitchFamily="2" charset="2"/>
              </a:rPr>
              <a:t> orientation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Quality processes  quality output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Supplier must 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provide evidence </a:t>
            </a:r>
            <a:r>
              <a:rPr lang="en-US" dirty="0">
                <a:sym typeface="Wingdings" pitchFamily="2" charset="2"/>
              </a:rPr>
              <a:t>of process capability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Structured, </a:t>
            </a:r>
            <a:r>
              <a:rPr lang="en-US" dirty="0">
                <a:sym typeface="Wingdings" pitchFamily="2" charset="2"/>
              </a:rPr>
              <a:t>companywide supplier evaluation and selection system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7CDC9-BD31-488C-B96F-1BE111B73F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486B9-92BB-4D59-B520-D609F73795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6F45CF-E1A0-457F-9E61-D8BB650123A4}" type="slidenum">
              <a:rPr lang="en-US" altLang="LID4096">
                <a:solidFill>
                  <a:srgbClr val="FFFFFF"/>
                </a:solidFill>
              </a:rPr>
              <a:pPr/>
              <a:t>19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5B15FA87-6C00-4F32-8131-F89D828A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Focusing on Sample Inspections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9480C-3FCF-4EFB-A87B-EE420076B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>
              <a:defRPr/>
            </a:pPr>
            <a:r>
              <a:rPr lang="en-US" dirty="0"/>
              <a:t>What supplier would knowingly submit a poor sample?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How many parts did the supplier produce </a:t>
            </a:r>
            <a:r>
              <a:rPr lang="en-US" dirty="0">
                <a:solidFill>
                  <a:srgbClr val="0000FF"/>
                </a:solidFill>
              </a:rPr>
              <a:t>to get an acceptable sample</a:t>
            </a:r>
            <a:r>
              <a:rPr lang="en-US" dirty="0"/>
              <a:t>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Are the </a:t>
            </a:r>
            <a:r>
              <a:rPr lang="en-US" dirty="0">
                <a:solidFill>
                  <a:srgbClr val="0000FF"/>
                </a:solidFill>
              </a:rPr>
              <a:t>samples representative </a:t>
            </a:r>
            <a:r>
              <a:rPr lang="en-US" dirty="0"/>
              <a:t>of the process under normal conditions?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4324E-45A9-44FC-8ADF-D386BECF21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18699-9661-4261-8134-52AC1D88BF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4F56A8-93EA-4EE9-9DEA-6FA73C3FD410}" type="slidenum">
              <a:rPr lang="en-US" altLang="LID4096">
                <a:solidFill>
                  <a:srgbClr val="FFFFFF"/>
                </a:solidFill>
              </a:rPr>
              <a:pPr/>
              <a:t>20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FD08D821-2568-4546-80C0-77C4A73B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Focusing on Sample Inspections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B70F4-9186-4990-8AD0-E67CBBE0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026"/>
            <a:ext cx="8305800" cy="4910138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Did the supplier use the </a:t>
            </a:r>
            <a:r>
              <a:rPr lang="en-US" dirty="0">
                <a:solidFill>
                  <a:srgbClr val="0000FF"/>
                </a:solidFill>
              </a:rPr>
              <a:t>same process</a:t>
            </a:r>
            <a:r>
              <a:rPr lang="en-US" dirty="0"/>
              <a:t>, methods, and materials that will be used in normal production?</a:t>
            </a:r>
          </a:p>
          <a:p>
            <a:pPr algn="just">
              <a:defRPr/>
            </a:pPr>
            <a:r>
              <a:rPr lang="en-US" dirty="0"/>
              <a:t>Or was the </a:t>
            </a:r>
            <a:r>
              <a:rPr lang="en-US" dirty="0">
                <a:solidFill>
                  <a:srgbClr val="0000FF"/>
                </a:solidFill>
              </a:rPr>
              <a:t>sample made </a:t>
            </a:r>
            <a:r>
              <a:rPr lang="en-US" dirty="0"/>
              <a:t>under controlled laboratory conditions?</a:t>
            </a:r>
          </a:p>
          <a:p>
            <a:pPr algn="just">
              <a:defRPr/>
            </a:pPr>
            <a:r>
              <a:rPr lang="en-US" dirty="0"/>
              <a:t>Did the supplier actually </a:t>
            </a:r>
            <a:r>
              <a:rPr lang="en-US" dirty="0">
                <a:solidFill>
                  <a:srgbClr val="0000FF"/>
                </a:solidFill>
              </a:rPr>
              <a:t>produce the sample or use a subcontractor</a:t>
            </a:r>
            <a:r>
              <a:rPr lang="en-US" dirty="0"/>
              <a:t>?</a:t>
            </a:r>
          </a:p>
          <a:p>
            <a:pPr algn="just">
              <a:defRPr/>
            </a:pPr>
            <a:r>
              <a:rPr lang="en-US" dirty="0"/>
              <a:t>Do the samples show evidence of </a:t>
            </a:r>
            <a:r>
              <a:rPr lang="en-US" dirty="0">
                <a:solidFill>
                  <a:srgbClr val="0000FF"/>
                </a:solidFill>
              </a:rPr>
              <a:t>capacity or process capability</a:t>
            </a:r>
            <a:r>
              <a:rPr lang="en-US" dirty="0"/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52555-D523-41D9-AB9C-7850A8C74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75D8C-BA62-4BC0-B902-A3E954533B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44F2BD-179C-4312-B2F6-CF9C00079B03}" type="slidenum">
              <a:rPr lang="en-US" altLang="LID4096">
                <a:solidFill>
                  <a:srgbClr val="FFFFFF"/>
                </a:solidFill>
              </a:rPr>
              <a:pPr/>
              <a:t>21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7A7AD344-E258-4107-862A-5B45F928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Basics of Process Capability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422B-B374-4492-856A-6B3C6E9D5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026"/>
            <a:ext cx="8229600" cy="4910138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Process capability is the ability of a process to generate outputs that meet engineering specifications or customer requirements</a:t>
            </a:r>
          </a:p>
          <a:p>
            <a:pPr algn="just">
              <a:defRPr/>
            </a:pPr>
            <a:r>
              <a:rPr lang="en-US" dirty="0"/>
              <a:t>Outputs must fall between pre-established upper and lower specification limits</a:t>
            </a:r>
          </a:p>
          <a:p>
            <a:pPr algn="just">
              <a:defRPr/>
            </a:pPr>
            <a:r>
              <a:rPr lang="en-US" dirty="0"/>
              <a:t>No special causes of variation exist in the process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2AD2F-2B2E-41D1-B2A9-845A9E86B6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125DE-ECB7-4024-8716-9441932BD9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7B84C1-483C-4B2F-BFC4-BC6D5B5C950E}" type="slidenum">
              <a:rPr lang="en-US" altLang="LID4096">
                <a:solidFill>
                  <a:srgbClr val="FFFFFF"/>
                </a:solidFill>
              </a:rPr>
              <a:pPr/>
              <a:t>22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2A8A0213-DA71-485E-80AC-9035A7F2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Basics of Process Capability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53004-E342-483C-AD3A-ABBB214A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>
              <a:defRPr/>
            </a:pPr>
            <a:r>
              <a:rPr lang="en-US" dirty="0"/>
              <a:t>99.73% of all output fall between ± 3 standard deviations of the process mean</a:t>
            </a:r>
          </a:p>
          <a:p>
            <a:pPr>
              <a:defRPr/>
            </a:pPr>
            <a:r>
              <a:rPr lang="en-US" dirty="0"/>
              <a:t>A stable process and in statistical control can be expected to produce virtually all of its output within these natural tolerance limits</a:t>
            </a:r>
          </a:p>
          <a:p>
            <a:pPr>
              <a:defRPr/>
            </a:pPr>
            <a:r>
              <a:rPr lang="en-US" dirty="0"/>
              <a:t>A process’s natural limits must fall within specification limits to be capable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8A240-1422-4DD2-B96F-21EC824C75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F1F35-BCA9-429F-8967-B970B88336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B01C87-5BA3-4D7F-A528-D9E9C06D894F}" type="slidenum">
              <a:rPr lang="en-US" altLang="LID4096">
                <a:solidFill>
                  <a:srgbClr val="FFFFFF"/>
                </a:solidFill>
              </a:rPr>
              <a:pPr/>
              <a:t>23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BDA28EFD-60BD-43C5-8BB7-1151F79E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Process Capability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7FA1C-ED4D-4076-9131-A013D469B9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405C76-2B0E-4971-B9AB-B2F6B00298B0}" type="slidenum">
              <a:rPr lang="en-US" altLang="LID4096">
                <a:solidFill>
                  <a:srgbClr val="FFFFFF"/>
                </a:solidFill>
              </a:rPr>
              <a:pPr/>
              <a:t>24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70BCE7EF-660A-4268-AA1A-E39B94D16EF6}"/>
              </a:ext>
            </a:extLst>
          </p:cNvPr>
          <p:cNvSpPr txBox="1">
            <a:spLocks/>
          </p:cNvSpPr>
          <p:nvPr/>
        </p:nvSpPr>
        <p:spPr bwMode="auto">
          <a:xfrm>
            <a:off x="1143000" y="5867400"/>
            <a:ext cx="6629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400" b="1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Source:</a:t>
            </a:r>
          </a:p>
          <a:p>
            <a:pPr algn="ctr">
              <a:defRPr/>
            </a:pPr>
            <a:r>
              <a:rPr lang="en-US" sz="1400" b="1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MANAGING FOR QUALITY AND PERFORMANCE EXCELLENCE, 7e, © 2008</a:t>
            </a:r>
          </a:p>
          <a:p>
            <a:pPr algn="ctr">
              <a:defRPr/>
            </a:pPr>
            <a:r>
              <a:rPr lang="en-US" sz="1400" b="1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Evans and Lindsay - Thomson South-Western</a:t>
            </a:r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EA2501EC-4DFB-496C-ACBA-32DEE3D405C2}"/>
              </a:ext>
            </a:extLst>
          </p:cNvPr>
          <p:cNvSpPr txBox="1">
            <a:spLocks/>
          </p:cNvSpPr>
          <p:nvPr/>
        </p:nvSpPr>
        <p:spPr bwMode="auto">
          <a:xfrm>
            <a:off x="8001000" y="63246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endParaRPr lang="en-US" sz="1400" b="1" dirty="0">
              <a:solidFill>
                <a:schemeClr val="accent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pSp>
        <p:nvGrpSpPr>
          <p:cNvPr id="40965" name="Group 3">
            <a:extLst>
              <a:ext uri="{FF2B5EF4-FFF2-40B4-BE49-F238E27FC236}">
                <a16:creationId xmlns:a16="http://schemas.microsoft.com/office/drawing/2014/main" id="{25D707A6-9E62-441E-B6D1-C70932F961E6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143000"/>
            <a:ext cx="8534400" cy="4511675"/>
            <a:chOff x="577" y="1046"/>
            <a:chExt cx="4751" cy="2514"/>
          </a:xfrm>
        </p:grpSpPr>
        <p:sp>
          <p:nvSpPr>
            <p:cNvPr id="40966" name="Line 4">
              <a:extLst>
                <a:ext uri="{FF2B5EF4-FFF2-40B4-BE49-F238E27FC236}">
                  <a16:creationId xmlns:a16="http://schemas.microsoft.com/office/drawing/2014/main" id="{1EB87644-4636-4E07-8F2F-D1FEA57EF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1728"/>
              <a:ext cx="167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43EA3AE6-F09D-402A-B5D6-804519D51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" y="1382"/>
              <a:ext cx="126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Specification</a:t>
              </a:r>
              <a:endPara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0968" name="Line 6">
              <a:extLst>
                <a:ext uri="{FF2B5EF4-FFF2-40B4-BE49-F238E27FC236}">
                  <a16:creationId xmlns:a16="http://schemas.microsoft.com/office/drawing/2014/main" id="{D07EEB40-FA32-4DB7-9CA5-690BA4DB5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" y="1728"/>
              <a:ext cx="167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1774F564-6EB2-40B7-944C-E5F84FF84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1382"/>
              <a:ext cx="1237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Specification</a:t>
              </a:r>
              <a:endPara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0970" name="Line 8">
              <a:extLst>
                <a:ext uri="{FF2B5EF4-FFF2-40B4-BE49-F238E27FC236}">
                  <a16:creationId xmlns:a16="http://schemas.microsoft.com/office/drawing/2014/main" id="{7C8AABC6-AC8E-4503-A8D1-5D6E7AA6F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1" y="3072"/>
              <a:ext cx="110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D42C39-A3EC-4A38-A3C8-A932533C1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26"/>
              <a:ext cx="139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Specification</a:t>
              </a:r>
            </a:p>
          </p:txBody>
        </p:sp>
        <p:sp>
          <p:nvSpPr>
            <p:cNvPr id="40972" name="Line 10">
              <a:extLst>
                <a:ext uri="{FF2B5EF4-FFF2-40B4-BE49-F238E27FC236}">
                  <a16:creationId xmlns:a16="http://schemas.microsoft.com/office/drawing/2014/main" id="{904E3CC0-AA72-4462-892E-E47E87C0F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9" y="3072"/>
              <a:ext cx="167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41" name="Rectangle 11">
              <a:extLst>
                <a:ext uri="{FF2B5EF4-FFF2-40B4-BE49-F238E27FC236}">
                  <a16:creationId xmlns:a16="http://schemas.microsoft.com/office/drawing/2014/main" id="{26758BDC-251E-4E7E-86C3-27C0AA184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8" y="2726"/>
              <a:ext cx="1222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Specification</a:t>
              </a:r>
              <a:endPara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0974" name="Line 12">
              <a:extLst>
                <a:ext uri="{FF2B5EF4-FFF2-40B4-BE49-F238E27FC236}">
                  <a16:creationId xmlns:a16="http://schemas.microsoft.com/office/drawing/2014/main" id="{A7A2A073-35CB-4E22-AB1B-E2E5E8766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3" y="1872"/>
              <a:ext cx="767" cy="0"/>
            </a:xfrm>
            <a:prstGeom prst="line">
              <a:avLst/>
            </a:prstGeom>
            <a:noFill/>
            <a:ln w="50800">
              <a:solidFill>
                <a:srgbClr val="FFC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43" name="Rectangle 13">
              <a:extLst>
                <a:ext uri="{FF2B5EF4-FFF2-40B4-BE49-F238E27FC236}">
                  <a16:creationId xmlns:a16="http://schemas.microsoft.com/office/drawing/2014/main" id="{E60B9360-5D63-43CE-A218-1C7ECE04D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1958"/>
              <a:ext cx="1625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Natural Variation</a:t>
              </a:r>
            </a:p>
          </p:txBody>
        </p:sp>
        <p:sp>
          <p:nvSpPr>
            <p:cNvPr id="40976" name="Line 14">
              <a:extLst>
                <a:ext uri="{FF2B5EF4-FFF2-40B4-BE49-F238E27FC236}">
                  <a16:creationId xmlns:a16="http://schemas.microsoft.com/office/drawing/2014/main" id="{C5EEBA43-A977-42D2-BF67-FB19DA908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" y="1872"/>
              <a:ext cx="1679" cy="0"/>
            </a:xfrm>
            <a:prstGeom prst="line">
              <a:avLst/>
            </a:prstGeom>
            <a:noFill/>
            <a:ln w="50800">
              <a:solidFill>
                <a:srgbClr val="FFC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45" name="Rectangle 15">
              <a:extLst>
                <a:ext uri="{FF2B5EF4-FFF2-40B4-BE49-F238E27FC236}">
                  <a16:creationId xmlns:a16="http://schemas.microsoft.com/office/drawing/2014/main" id="{661A8754-BC72-4291-8836-708BB3DE3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1958"/>
              <a:ext cx="153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Natural Variation</a:t>
              </a:r>
            </a:p>
          </p:txBody>
        </p:sp>
        <p:sp>
          <p:nvSpPr>
            <p:cNvPr id="40978" name="Rectangle 16">
              <a:extLst>
                <a:ext uri="{FF2B5EF4-FFF2-40B4-BE49-F238E27FC236}">
                  <a16:creationId xmlns:a16="http://schemas.microsoft.com/office/drawing/2014/main" id="{17D4B459-9871-43AC-A1F9-52E5FFFB4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046"/>
              <a:ext cx="31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LID4096">
                  <a:solidFill>
                    <a:srgbClr val="F6F5CD"/>
                  </a:solidFill>
                </a:rPr>
                <a:t>(a)</a:t>
              </a:r>
            </a:p>
          </p:txBody>
        </p:sp>
        <p:sp>
          <p:nvSpPr>
            <p:cNvPr id="40979" name="Rectangle 17">
              <a:extLst>
                <a:ext uri="{FF2B5EF4-FFF2-40B4-BE49-F238E27FC236}">
                  <a16:creationId xmlns:a16="http://schemas.microsoft.com/office/drawing/2014/main" id="{AB260A3D-3246-4E34-AB43-6C09022BF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1046"/>
              <a:ext cx="32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LID4096">
                  <a:solidFill>
                    <a:srgbClr val="F6F5CD"/>
                  </a:solidFill>
                </a:rPr>
                <a:t>(b)</a:t>
              </a:r>
            </a:p>
          </p:txBody>
        </p:sp>
        <p:sp>
          <p:nvSpPr>
            <p:cNvPr id="40980" name="Line 18">
              <a:extLst>
                <a:ext uri="{FF2B5EF4-FFF2-40B4-BE49-F238E27FC236}">
                  <a16:creationId xmlns:a16="http://schemas.microsoft.com/office/drawing/2014/main" id="{9057B22B-5EDC-4B97-A224-2F32E999D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" y="3216"/>
              <a:ext cx="2303" cy="0"/>
            </a:xfrm>
            <a:prstGeom prst="line">
              <a:avLst/>
            </a:prstGeom>
            <a:noFill/>
            <a:ln w="50800">
              <a:solidFill>
                <a:srgbClr val="FFC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49" name="Rectangle 19">
              <a:extLst>
                <a:ext uri="{FF2B5EF4-FFF2-40B4-BE49-F238E27FC236}">
                  <a16:creationId xmlns:a16="http://schemas.microsoft.com/office/drawing/2014/main" id="{03F93ED5-B221-4A44-8224-B69C1EACD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" y="3302"/>
              <a:ext cx="166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Natural Variation</a:t>
              </a:r>
            </a:p>
          </p:txBody>
        </p:sp>
        <p:sp>
          <p:nvSpPr>
            <p:cNvPr id="40982" name="Line 20">
              <a:extLst>
                <a:ext uri="{FF2B5EF4-FFF2-40B4-BE49-F238E27FC236}">
                  <a16:creationId xmlns:a16="http://schemas.microsoft.com/office/drawing/2014/main" id="{C613E6C2-8608-4949-A8FD-604A9FAC1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" y="3216"/>
              <a:ext cx="1679" cy="0"/>
            </a:xfrm>
            <a:prstGeom prst="line">
              <a:avLst/>
            </a:prstGeom>
            <a:noFill/>
            <a:ln w="50800">
              <a:solidFill>
                <a:srgbClr val="FFC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51" name="Rectangle 21">
              <a:extLst>
                <a:ext uri="{FF2B5EF4-FFF2-40B4-BE49-F238E27FC236}">
                  <a16:creationId xmlns:a16="http://schemas.microsoft.com/office/drawing/2014/main" id="{71BE5834-26E1-40AE-A3CB-9531C7542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3302"/>
              <a:ext cx="1511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lang="en-US" sz="2400" b="1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Natural Variation</a:t>
              </a:r>
            </a:p>
          </p:txBody>
        </p:sp>
        <p:sp>
          <p:nvSpPr>
            <p:cNvPr id="40984" name="Rectangle 22">
              <a:extLst>
                <a:ext uri="{FF2B5EF4-FFF2-40B4-BE49-F238E27FC236}">
                  <a16:creationId xmlns:a16="http://schemas.microsoft.com/office/drawing/2014/main" id="{82949495-66AD-4684-A02E-562C324C1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2390"/>
              <a:ext cx="31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LID4096">
                  <a:solidFill>
                    <a:srgbClr val="F6F5CD"/>
                  </a:solidFill>
                </a:rPr>
                <a:t>(c)</a:t>
              </a:r>
            </a:p>
          </p:txBody>
        </p:sp>
        <p:sp>
          <p:nvSpPr>
            <p:cNvPr id="40985" name="Rectangle 23">
              <a:extLst>
                <a:ext uri="{FF2B5EF4-FFF2-40B4-BE49-F238E27FC236}">
                  <a16:creationId xmlns:a16="http://schemas.microsoft.com/office/drawing/2014/main" id="{3C266533-F5A9-4035-9703-02B6DC4AE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390"/>
              <a:ext cx="32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LID4096">
                  <a:solidFill>
                    <a:srgbClr val="F6F5CD"/>
                  </a:solidFill>
                </a:rPr>
                <a:t>(d)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CC815CFB-7DEB-49CC-AE7A-1D68BA57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Zero Defects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29375-5001-4A59-8A4F-35CE26253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Conformance to requirements (Crosby)</a:t>
            </a:r>
          </a:p>
          <a:p>
            <a:pPr>
              <a:defRPr/>
            </a:pPr>
            <a:r>
              <a:rPr lang="en-US" dirty="0"/>
              <a:t>Key metrics to identify improvement opportunities</a:t>
            </a:r>
          </a:p>
          <a:p>
            <a:pPr>
              <a:defRPr/>
            </a:pPr>
            <a:r>
              <a:rPr lang="en-US" dirty="0"/>
              <a:t>Supply base rationalization and optimization</a:t>
            </a:r>
          </a:p>
          <a:p>
            <a:pPr lvl="1">
              <a:defRPr/>
            </a:pPr>
            <a:r>
              <a:rPr lang="en-US" dirty="0"/>
              <a:t>Average supplier quality improves as lower performers are eliminated from the supply base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B4D41-13A5-42E8-AA8A-F0FA8DCFBD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6320D-2CE5-473C-9D80-9493B9F3E5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DEF284-FE5A-4162-A932-6DEEDFA18A42}" type="slidenum">
              <a:rPr lang="en-US" altLang="LID4096">
                <a:solidFill>
                  <a:srgbClr val="FFFFFF"/>
                </a:solidFill>
              </a:rPr>
              <a:pPr/>
              <a:t>25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6410F141-AA4E-4DA6-B48A-6B33769C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Cost of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0CC78-4D30-4DD1-803A-12BDD9201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>
              <a:defRPr/>
            </a:pPr>
            <a:r>
              <a:rPr lang="en-US" dirty="0"/>
              <a:t>Appraisal costs</a:t>
            </a:r>
          </a:p>
          <a:p>
            <a:pPr lvl="1">
              <a:defRPr/>
            </a:pPr>
            <a:r>
              <a:rPr lang="en-US" dirty="0"/>
              <a:t>Direct costs of measuring quality</a:t>
            </a:r>
          </a:p>
          <a:p>
            <a:pPr>
              <a:defRPr/>
            </a:pPr>
            <a:r>
              <a:rPr lang="en-US" dirty="0"/>
              <a:t>Failure costs</a:t>
            </a:r>
          </a:p>
          <a:p>
            <a:pPr lvl="1">
              <a:defRPr/>
            </a:pPr>
            <a:r>
              <a:rPr lang="en-US" dirty="0"/>
              <a:t>Internal – occur before product or service is provided to customer</a:t>
            </a:r>
          </a:p>
          <a:p>
            <a:pPr lvl="1">
              <a:defRPr/>
            </a:pPr>
            <a:r>
              <a:rPr lang="en-US" dirty="0"/>
              <a:t>External – occur following production or after customer takes possession</a:t>
            </a:r>
          </a:p>
          <a:p>
            <a:pPr>
              <a:defRPr/>
            </a:pPr>
            <a:r>
              <a:rPr lang="en-US" dirty="0"/>
              <a:t>Prevention costs</a:t>
            </a:r>
          </a:p>
          <a:p>
            <a:pPr lvl="1">
              <a:defRPr/>
            </a:pPr>
            <a:r>
              <a:rPr lang="en-US" dirty="0"/>
              <a:t>Prevent defects from occurring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019B-B0DB-40C7-95C6-2857389D9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F0566-A9DB-4FBA-97FE-FE6FFDBBD5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3E0C0D-9D91-4EE1-AA89-CA16C50515DE}" type="slidenum">
              <a:rPr lang="en-US" altLang="LID4096">
                <a:solidFill>
                  <a:srgbClr val="FFFFFF"/>
                </a:solidFill>
              </a:rPr>
              <a:pPr/>
              <a:t>26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9E94D79D-9839-49DC-A693-61446049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Appraisal Cost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0A30-9B4A-436E-9A95-389354536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Laboratory testing of samples</a:t>
            </a:r>
          </a:p>
          <a:p>
            <a:pPr>
              <a:defRPr/>
            </a:pPr>
            <a:r>
              <a:rPr lang="en-US" dirty="0"/>
              <a:t>Inspection activities during production</a:t>
            </a:r>
          </a:p>
          <a:p>
            <a:pPr>
              <a:defRPr/>
            </a:pPr>
            <a:r>
              <a:rPr lang="en-US" dirty="0"/>
              <a:t>Supplier quality audits</a:t>
            </a:r>
          </a:p>
          <a:p>
            <a:pPr>
              <a:defRPr/>
            </a:pPr>
            <a:r>
              <a:rPr lang="en-US" dirty="0"/>
              <a:t>Incoming material inspections</a:t>
            </a:r>
          </a:p>
          <a:p>
            <a:pPr>
              <a:defRPr/>
            </a:pPr>
            <a:r>
              <a:rPr lang="en-US" dirty="0"/>
              <a:t>Other forms of monitoring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7F780-67D0-47D5-9E92-4E8EFCD378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63810-B8B5-490B-9EF7-5A3F51C105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67E3D1-F678-4684-8D1D-FAC762E94534}" type="slidenum">
              <a:rPr lang="en-US" altLang="LID4096">
                <a:solidFill>
                  <a:srgbClr val="FFFFFF"/>
                </a:solidFill>
              </a:rPr>
              <a:pPr/>
              <a:t>27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B393B998-A31E-4A4E-B76B-3D2BF047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Internal Failure Cost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A73FE-BD57-43A4-B0A4-6BBC8486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defRPr/>
            </a:pPr>
            <a:r>
              <a:rPr lang="en-US" dirty="0"/>
              <a:t>Troubleshooting</a:t>
            </a:r>
          </a:p>
          <a:p>
            <a:pPr>
              <a:defRPr/>
            </a:pPr>
            <a:r>
              <a:rPr lang="en-US" dirty="0"/>
              <a:t>Re inspection following detection of defects</a:t>
            </a:r>
          </a:p>
          <a:p>
            <a:pPr>
              <a:defRPr/>
            </a:pPr>
            <a:r>
              <a:rPr lang="en-US" dirty="0"/>
              <a:t>Production downtime caused by defects</a:t>
            </a:r>
          </a:p>
          <a:p>
            <a:pPr>
              <a:defRPr/>
            </a:pPr>
            <a:r>
              <a:rPr lang="en-US" dirty="0"/>
              <a:t>Scrap</a:t>
            </a:r>
          </a:p>
          <a:p>
            <a:pPr>
              <a:defRPr/>
            </a:pPr>
            <a:r>
              <a:rPr lang="en-US" dirty="0"/>
              <a:t>Process waste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1D8F2-F52E-403F-9C18-A2B8A2DC6A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0025F-B76C-4743-8785-1EFA8D6F38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EA8AD9-18BA-4A99-ADAD-87E2007B1CA8}" type="slidenum">
              <a:rPr lang="en-US" altLang="LID4096">
                <a:solidFill>
                  <a:srgbClr val="FFFFFF"/>
                </a:solidFill>
              </a:rPr>
              <a:pPr/>
              <a:t>28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AE2F3304-E3B8-4F2C-A2DA-EE244EF3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External Failure Cost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903BE-2692-4BC9-BEC5-503D2FFC9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defRPr/>
            </a:pPr>
            <a:r>
              <a:rPr lang="en-US" dirty="0"/>
              <a:t>Warranty costs</a:t>
            </a:r>
          </a:p>
          <a:p>
            <a:pPr>
              <a:defRPr/>
            </a:pPr>
            <a:r>
              <a:rPr lang="en-US" dirty="0"/>
              <a:t>Replacement of defective products</a:t>
            </a:r>
          </a:p>
          <a:p>
            <a:pPr>
              <a:defRPr/>
            </a:pPr>
            <a:r>
              <a:rPr lang="en-US" dirty="0"/>
              <a:t>Product liability lawsuits</a:t>
            </a:r>
          </a:p>
          <a:p>
            <a:pPr>
              <a:defRPr/>
            </a:pPr>
            <a:r>
              <a:rPr lang="en-US" dirty="0"/>
              <a:t>Loss of customers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09027-556C-4BAC-A85F-08DEC168DC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2F833-3CD1-4FF6-AA81-FA257FAC2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F39ADB-883D-4BC2-9484-F6944D5BB0D1}" type="slidenum">
              <a:rPr lang="en-US" altLang="LID4096">
                <a:solidFill>
                  <a:srgbClr val="FFFFFF"/>
                </a:solidFill>
              </a:rPr>
              <a:pPr/>
              <a:t>29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C04CA549-E83C-4286-BE98-59F4D0EF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Prevention Cost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8DBE-4268-4249-9800-FF90BB16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Quality planning</a:t>
            </a:r>
          </a:p>
          <a:p>
            <a:pPr>
              <a:defRPr/>
            </a:pPr>
            <a:r>
              <a:rPr lang="en-US" dirty="0"/>
              <a:t>Equipment calibration</a:t>
            </a:r>
          </a:p>
          <a:p>
            <a:pPr>
              <a:defRPr/>
            </a:pPr>
            <a:r>
              <a:rPr lang="en-US" dirty="0"/>
              <a:t>Quality training</a:t>
            </a:r>
          </a:p>
          <a:p>
            <a:pPr>
              <a:defRPr/>
            </a:pPr>
            <a:r>
              <a:rPr lang="en-US" dirty="0"/>
              <a:t>Maintenance of a quality management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FF5A7-404C-458F-8CC5-115CC0FFFC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B5CC7-299E-482E-8A24-2014B851B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B815B-8DD2-4F59-A927-91435D6E4AD4}" type="slidenum">
              <a:rPr lang="en-US" altLang="LID4096">
                <a:solidFill>
                  <a:srgbClr val="FFFFFF"/>
                </a:solidFill>
              </a:rPr>
              <a:pPr/>
              <a:t>30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F5E93801-0FF2-4D62-856D-A3F75086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Continuous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E9A61-79D9-4430-B7D5-B26994CD5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Value analysis/value engineering (VA/VE)</a:t>
            </a:r>
          </a:p>
          <a:p>
            <a:pPr algn="just">
              <a:defRPr/>
            </a:pPr>
            <a:r>
              <a:rPr lang="en-US" dirty="0"/>
              <a:t>Supplier development</a:t>
            </a:r>
          </a:p>
          <a:p>
            <a:pPr algn="just">
              <a:defRPr/>
            </a:pPr>
            <a:r>
              <a:rPr lang="en-US" dirty="0"/>
              <a:t>Supply base rationalization and optimization</a:t>
            </a:r>
          </a:p>
          <a:p>
            <a:pPr algn="just">
              <a:defRPr/>
            </a:pPr>
            <a:r>
              <a:rPr lang="en-US" dirty="0"/>
              <a:t>Supplier incentive and reward systems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09FFD-ED13-42DD-B813-EBE58C8156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26C66-7096-444E-BE65-40D47FE270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A9070D-6316-49E0-A27D-4226B8EF1587}" type="slidenum">
              <a:rPr lang="en-US" altLang="LID4096">
                <a:solidFill>
                  <a:srgbClr val="FFFFFF"/>
                </a:solidFill>
              </a:rPr>
              <a:pPr/>
              <a:t>31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FDD2EB7B-9C46-47A7-8044-077290F0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 Incentives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B4B1-7D50-4378-BE31-EDF2528EE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Longer-term contracts</a:t>
            </a:r>
          </a:p>
          <a:p>
            <a:pPr>
              <a:defRPr/>
            </a:pPr>
            <a:r>
              <a:rPr lang="en-US" dirty="0"/>
              <a:t>Higher share of purchase volume</a:t>
            </a:r>
          </a:p>
          <a:p>
            <a:pPr>
              <a:defRPr/>
            </a:pPr>
            <a:r>
              <a:rPr lang="en-US" dirty="0"/>
              <a:t>Public recognition and awards</a:t>
            </a:r>
          </a:p>
          <a:p>
            <a:pPr>
              <a:defRPr/>
            </a:pPr>
            <a:r>
              <a:rPr lang="en-US" dirty="0"/>
              <a:t>Shared cost savings</a:t>
            </a:r>
          </a:p>
          <a:p>
            <a:pPr>
              <a:defRPr/>
            </a:pPr>
            <a:r>
              <a:rPr lang="en-US" dirty="0"/>
              <a:t>Access to new technology from buyer</a:t>
            </a:r>
          </a:p>
          <a:p>
            <a:pPr>
              <a:defRPr/>
            </a:pPr>
            <a:r>
              <a:rPr lang="en-US" dirty="0"/>
              <a:t>Early insight to new business opportunities and product development plans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6D8AF-F10D-473D-9161-499AE5E770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12384-35E2-451B-9253-54D13A2987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1B318B-8033-4CC7-B4E6-06B3CF2A7714}" type="slidenum">
              <a:rPr lang="en-US" altLang="LID4096">
                <a:solidFill>
                  <a:srgbClr val="FFFFFF"/>
                </a:solidFill>
              </a:rPr>
              <a:pPr/>
              <a:t>32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D0EFAE7F-08B1-4ECC-AC11-A2ADE296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 Incentives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864E7-6435-420A-AF40-7B4891BEE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Early participation in new product and process development projects</a:t>
            </a:r>
          </a:p>
          <a:p>
            <a:pPr>
              <a:defRPr/>
            </a:pPr>
            <a:r>
              <a:rPr lang="en-US" dirty="0"/>
              <a:t>Use of buyer’s supply agreements to obtain favorable pricing</a:t>
            </a:r>
          </a:p>
          <a:p>
            <a:pPr>
              <a:defRPr/>
            </a:pPr>
            <a:r>
              <a:rPr lang="en-US" dirty="0"/>
              <a:t>Participation in executive buyer-supplier councils</a:t>
            </a:r>
          </a:p>
          <a:p>
            <a:pPr>
              <a:defRPr/>
            </a:pPr>
            <a:r>
              <a:rPr lang="en-US" dirty="0"/>
              <a:t>Listed as preferred supplier with first opportunity for new business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36FAC-A331-47CE-B353-4A616D337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485E6-62A7-491E-BEAF-F44CD668E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8E7F4C-0999-4B72-9426-2358B1279FDE}" type="slidenum">
              <a:rPr lang="en-US" altLang="LID4096">
                <a:solidFill>
                  <a:srgbClr val="FFFFFF"/>
                </a:solidFill>
              </a:rPr>
              <a:pPr/>
              <a:t>33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0AC3EC4C-71AA-4D6C-87C5-77C02E95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Quality: Everyone’s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F09B-EFBB-40B3-A014-FF619E344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Aligned vision and goals</a:t>
            </a:r>
          </a:p>
          <a:p>
            <a:pPr>
              <a:defRPr/>
            </a:pPr>
            <a:r>
              <a:rPr lang="en-US" dirty="0"/>
              <a:t>Physical co-location</a:t>
            </a:r>
          </a:p>
          <a:p>
            <a:pPr>
              <a:defRPr/>
            </a:pPr>
            <a:r>
              <a:rPr lang="en-US" dirty="0"/>
              <a:t>Executive-level buyer-supplier councils</a:t>
            </a:r>
          </a:p>
          <a:p>
            <a:pPr>
              <a:defRPr/>
            </a:pPr>
            <a:r>
              <a:rPr lang="en-US" dirty="0"/>
              <a:t>Shared technologies</a:t>
            </a:r>
          </a:p>
          <a:p>
            <a:pPr>
              <a:defRPr/>
            </a:pPr>
            <a:r>
              <a:rPr lang="en-US" dirty="0"/>
              <a:t>Joint projects</a:t>
            </a:r>
          </a:p>
          <a:p>
            <a:pPr>
              <a:defRPr/>
            </a:pPr>
            <a:r>
              <a:rPr lang="en-US" dirty="0"/>
              <a:t>More collaborative buyer-supplier relationships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10CC0-53DC-4FB9-B7A9-0ABE033735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ABE21-9A95-46DD-B88C-F946B78136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40DFF3-4415-4E58-8C6A-507573A3778D}" type="slidenum">
              <a:rPr lang="en-US" altLang="LID4096">
                <a:solidFill>
                  <a:srgbClr val="FFFFFF"/>
                </a:solidFill>
              </a:rPr>
              <a:pPr/>
              <a:t>34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06F3679A-20B8-4599-9673-0F70210E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Six Sigma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A131-FC89-4173-9D5B-D877AFB85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pPr>
              <a:defRPr/>
            </a:pPr>
            <a:r>
              <a:rPr lang="en-US" dirty="0"/>
              <a:t>Proven quality principles and techniques</a:t>
            </a:r>
          </a:p>
          <a:p>
            <a:pPr>
              <a:defRPr/>
            </a:pPr>
            <a:r>
              <a:rPr lang="en-US" dirty="0"/>
              <a:t>Virtually error-free business performance</a:t>
            </a:r>
          </a:p>
          <a:p>
            <a:pPr>
              <a:defRPr/>
            </a:pPr>
            <a:r>
              <a:rPr lang="en-US" dirty="0"/>
              <a:t>Expressed as 3.4 errors (or defects) per million opportunities (DPMO)</a:t>
            </a:r>
          </a:p>
          <a:p>
            <a:pPr>
              <a:defRPr/>
            </a:pPr>
            <a:r>
              <a:rPr lang="en-US" dirty="0"/>
              <a:t>Increasing expectations from customers</a:t>
            </a:r>
          </a:p>
          <a:p>
            <a:pPr>
              <a:defRPr/>
            </a:pPr>
            <a:r>
              <a:rPr lang="en-US" dirty="0"/>
              <a:t>Focus on defect prevention, cycle time reduction, and cost savings</a:t>
            </a:r>
          </a:p>
          <a:p>
            <a:pPr>
              <a:defRPr/>
            </a:pPr>
            <a:r>
              <a:rPr lang="en-US" dirty="0"/>
              <a:t>Use of Six Sigma Black Belts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8B2CF-1B1F-4B69-B588-B6E359CEF6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2C10C-FB13-4D29-9975-CC17147A87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34D2F5-863F-41F0-A753-2F40DADA69A6}" type="slidenum">
              <a:rPr lang="en-US" altLang="LID4096">
                <a:solidFill>
                  <a:srgbClr val="FFFFFF"/>
                </a:solidFill>
              </a:rPr>
              <a:pPr/>
              <a:t>35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5">
            <a:extLst>
              <a:ext uri="{FF2B5EF4-FFF2-40B4-BE49-F238E27FC236}">
                <a16:creationId xmlns:a16="http://schemas.microsoft.com/office/drawing/2014/main" id="{B1319C72-ECC9-4C2B-9CEB-93A8A4126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The DMAIC Model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28888A1-A9F3-4CFF-BBBE-78C4380054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1143000"/>
          <a:ext cx="9144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F5CC0-BE47-4ACF-BB60-0F3B1E2FE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Purchasing &amp; Supply Chain Management, 4e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84048-B89B-40F4-B20B-FFF093923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0A269A-9848-40CB-9730-BAA888EA90C6}" type="slidenum">
              <a:rPr lang="en-US" altLang="LID4096">
                <a:solidFill>
                  <a:srgbClr val="FFFFFF"/>
                </a:solidFill>
              </a:rPr>
              <a:pPr/>
              <a:t>36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B4FE1DB3-E1E8-4ABE-9271-F44F944C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The DMAIC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5567D-FA16-4AEE-B86F-20B9C88F2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u="sng" dirty="0"/>
              <a:t>D</a:t>
            </a:r>
            <a:r>
              <a:rPr lang="en-US" dirty="0"/>
              <a:t>efine improvement activity and goals</a:t>
            </a:r>
          </a:p>
          <a:p>
            <a:pPr>
              <a:spcBef>
                <a:spcPts val="0"/>
              </a:spcBef>
              <a:defRPr/>
            </a:pPr>
            <a:r>
              <a:rPr lang="en-US" u="sng" dirty="0"/>
              <a:t>M</a:t>
            </a:r>
            <a:r>
              <a:rPr lang="en-US" dirty="0"/>
              <a:t>easure existing system, establish metrics, and identify performance baseline</a:t>
            </a:r>
          </a:p>
          <a:p>
            <a:pPr>
              <a:spcBef>
                <a:spcPts val="0"/>
              </a:spcBef>
              <a:defRPr/>
            </a:pPr>
            <a:r>
              <a:rPr lang="en-US" u="sng" dirty="0"/>
              <a:t>A</a:t>
            </a:r>
            <a:r>
              <a:rPr lang="en-US" dirty="0"/>
              <a:t>nalyze system and develop hypotheses</a:t>
            </a:r>
          </a:p>
          <a:p>
            <a:pPr>
              <a:spcBef>
                <a:spcPts val="0"/>
              </a:spcBef>
              <a:defRPr/>
            </a:pPr>
            <a:r>
              <a:rPr lang="en-US" u="sng" dirty="0"/>
              <a:t>I</a:t>
            </a:r>
            <a:r>
              <a:rPr lang="en-US" dirty="0"/>
              <a:t>mprove – develop ideas, test solutions, and implement new process, structure, and system</a:t>
            </a:r>
          </a:p>
          <a:p>
            <a:pPr>
              <a:spcBef>
                <a:spcPts val="0"/>
              </a:spcBef>
              <a:defRPr/>
            </a:pPr>
            <a:r>
              <a:rPr lang="en-US" u="sng" dirty="0"/>
              <a:t>C</a:t>
            </a:r>
            <a:r>
              <a:rPr lang="en-US" dirty="0"/>
              <a:t>ontrol – measures and procedures to ensure system stays in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B6273-EE9F-4BE1-969C-975CF808D6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232525"/>
            <a:ext cx="8153400" cy="625475"/>
          </a:xfrm>
        </p:spPr>
        <p:txBody>
          <a:bodyPr/>
          <a:lstStyle/>
          <a:p>
            <a:pPr>
              <a:defRPr/>
            </a:pPr>
            <a:r>
              <a:rPr lang="en-US" dirty="0"/>
              <a:t>Purchasing &amp; Supply Chain Management, 4e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AD138-81D1-47E6-AA25-FA882BBBBB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297906-F42F-42DE-993E-F26B066E4D47}" type="slidenum">
              <a:rPr lang="en-US" altLang="LID4096">
                <a:solidFill>
                  <a:srgbClr val="FFFFFF"/>
                </a:solidFill>
              </a:rPr>
              <a:pPr/>
              <a:t>37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1D23C13D-5864-4921-A2EC-F7A9AC09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Using ISO and MBNQA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D28B-FA2E-41E5-91EB-F8480F540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Widely accepted quality management frameworks</a:t>
            </a:r>
          </a:p>
          <a:p>
            <a:pPr lvl="1">
              <a:defRPr/>
            </a:pPr>
            <a:r>
              <a:rPr lang="en-US" dirty="0"/>
              <a:t>ISO 9000:2000</a:t>
            </a:r>
          </a:p>
          <a:p>
            <a:pPr lvl="1">
              <a:defRPr/>
            </a:pPr>
            <a:r>
              <a:rPr lang="en-US" dirty="0"/>
              <a:t>ISO 14000</a:t>
            </a:r>
          </a:p>
          <a:p>
            <a:pPr lvl="1">
              <a:defRPr/>
            </a:pPr>
            <a:r>
              <a:rPr lang="en-US" dirty="0"/>
              <a:t>Malcolm </a:t>
            </a:r>
            <a:r>
              <a:rPr lang="en-US" dirty="0" err="1"/>
              <a:t>Baldrige</a:t>
            </a:r>
            <a:r>
              <a:rPr lang="en-US" dirty="0"/>
              <a:t> National Quality Award</a:t>
            </a:r>
          </a:p>
          <a:p>
            <a:pPr>
              <a:defRPr/>
            </a:pPr>
            <a:r>
              <a:rPr lang="en-US" dirty="0"/>
              <a:t>Criteria are often used as the basis for supplier certification programs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3A22D-723F-4F88-AE79-E5722307EC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F4DD1-779E-4175-868B-32F9442755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930BB2-ABF9-4E90-A696-812A38E06C2F}" type="slidenum">
              <a:rPr lang="en-US" altLang="LID4096">
                <a:solidFill>
                  <a:srgbClr val="FFFFFF"/>
                </a:solidFill>
              </a:rPr>
              <a:pPr/>
              <a:t>38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F96C1454-297E-4052-86E7-938AD6C6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ISO 9000:2000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1F640-2F6A-47B4-B2BE-D0F383BA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Originally developed in the European Common Market in 1987</a:t>
            </a:r>
          </a:p>
          <a:p>
            <a:pPr>
              <a:defRPr/>
            </a:pPr>
            <a:r>
              <a:rPr lang="en-US" dirty="0"/>
              <a:t>Updated in 1994 and 2000</a:t>
            </a:r>
          </a:p>
          <a:p>
            <a:pPr>
              <a:defRPr/>
            </a:pPr>
            <a:r>
              <a:rPr lang="en-US" dirty="0"/>
              <a:t>Expected to be updated again in 2008</a:t>
            </a:r>
          </a:p>
          <a:p>
            <a:pPr>
              <a:defRPr/>
            </a:pPr>
            <a:r>
              <a:rPr lang="en-US" dirty="0"/>
              <a:t>Third-party registration process</a:t>
            </a:r>
          </a:p>
          <a:p>
            <a:pPr>
              <a:defRPr/>
            </a:pPr>
            <a:r>
              <a:rPr lang="en-US" dirty="0"/>
              <a:t>Internationally accepted and recognized quality process standards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121A9-0F51-46A5-8234-6521752C0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3125A-7EFB-4C69-BC68-D4C0A68DB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4D9DEA-A1C2-4D5F-A0B5-C50F231BFAE3}" type="slidenum">
              <a:rPr lang="en-US" altLang="LID4096">
                <a:solidFill>
                  <a:srgbClr val="FFFFFF"/>
                </a:solidFill>
              </a:rPr>
              <a:pPr/>
              <a:t>39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1A863DFF-1418-4BE4-9219-7357D123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Eight Principles of ISO 9000:2000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60AF7-54C6-4DF8-B83C-747DCE6742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/>
              <a:t>Customer focus</a:t>
            </a:r>
          </a:p>
          <a:p>
            <a:pPr>
              <a:defRPr/>
            </a:pPr>
            <a:r>
              <a:rPr lang="en-US" sz="3200" dirty="0"/>
              <a:t>Leadership</a:t>
            </a:r>
          </a:p>
          <a:p>
            <a:pPr>
              <a:defRPr/>
            </a:pPr>
            <a:r>
              <a:rPr lang="en-US" sz="3200" dirty="0"/>
              <a:t>Involvement of people</a:t>
            </a:r>
          </a:p>
          <a:p>
            <a:pPr>
              <a:defRPr/>
            </a:pPr>
            <a:r>
              <a:rPr lang="en-US" sz="3200" dirty="0"/>
              <a:t>Process approach</a:t>
            </a:r>
          </a:p>
          <a:p>
            <a:pPr>
              <a:defRPr/>
            </a:pPr>
            <a:r>
              <a:rPr lang="en-US" sz="3200" dirty="0"/>
              <a:t>System approach to management</a:t>
            </a:r>
          </a:p>
          <a:p>
            <a:pPr>
              <a:defRPr/>
            </a:pPr>
            <a:endParaRPr lang="en-US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5131D1-D1A0-4A36-850E-077C011F0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267200" cy="4525963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Continual improvement</a:t>
            </a:r>
          </a:p>
          <a:p>
            <a:pPr>
              <a:defRPr/>
            </a:pPr>
            <a:r>
              <a:rPr lang="en-US" sz="3200" dirty="0"/>
              <a:t>Factual approach to decision-making</a:t>
            </a:r>
          </a:p>
          <a:p>
            <a:pPr>
              <a:defRPr/>
            </a:pPr>
            <a:r>
              <a:rPr lang="en-US" sz="3200" dirty="0"/>
              <a:t>Mutually beneficial supplier relationships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3C019-4FE6-482D-BA76-A07137530A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C63F5-1D3C-4F40-9AD3-0A9049DDC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DBF48C-02C9-4101-9571-43BA1802CD26}" type="slidenum">
              <a:rPr lang="en-US" altLang="LID4096">
                <a:solidFill>
                  <a:srgbClr val="FFFFFF"/>
                </a:solidFill>
              </a:rPr>
              <a:pPr/>
              <a:t>40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6">
            <a:extLst>
              <a:ext uri="{FF2B5EF4-FFF2-40B4-BE49-F238E27FC236}">
                <a16:creationId xmlns:a16="http://schemas.microsoft.com/office/drawing/2014/main" id="{0A50B53A-B0F2-48FD-9343-9F9F1150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Buyer’s Benefits of ISO 9000:2000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9A1157-2F20-4578-811E-11790583D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Few firms have sufficient resources to develop and implement their own comprehensive supplier certification audits</a:t>
            </a:r>
          </a:p>
          <a:p>
            <a:pPr>
              <a:defRPr/>
            </a:pPr>
            <a:r>
              <a:rPr lang="en-US" dirty="0"/>
              <a:t>Supplier assumes responsibility for meeting the ISO 9000:2000 standards and paying its own registration fees</a:t>
            </a:r>
          </a:p>
          <a:p>
            <a:pPr>
              <a:defRPr/>
            </a:pPr>
            <a:r>
              <a:rPr lang="en-US" dirty="0"/>
              <a:t>Supplier demonstrates higher quality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FBD68-B9E7-4B62-BF45-D695A42CEE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2F7E0-7D81-43D9-9F53-7831A718F5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01604A-D665-4C79-829F-A102E5810DA6}" type="slidenum">
              <a:rPr lang="en-US" altLang="LID4096">
                <a:solidFill>
                  <a:srgbClr val="FFFFFF"/>
                </a:solidFill>
              </a:rPr>
              <a:pPr/>
              <a:t>41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F8F5B8FF-9362-47F8-8A57-765DE914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ISO 14000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C3F3-9362-4A36-B174-260DF1E0B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754563"/>
          </a:xfrm>
        </p:spPr>
        <p:txBody>
          <a:bodyPr/>
          <a:lstStyle/>
          <a:p>
            <a:pPr>
              <a:defRPr/>
            </a:pPr>
            <a:r>
              <a:rPr lang="en-US" dirty="0"/>
              <a:t>Established in 1993 to promote environmental protection and pollution prevention</a:t>
            </a:r>
          </a:p>
          <a:p>
            <a:pPr>
              <a:defRPr/>
            </a:pPr>
            <a:r>
              <a:rPr lang="en-US" dirty="0"/>
              <a:t>Used to analyze a supplier’s ability to proactively manage its environmental impact</a:t>
            </a:r>
          </a:p>
          <a:p>
            <a:pPr>
              <a:defRPr/>
            </a:pPr>
            <a:r>
              <a:rPr lang="en-US" dirty="0"/>
              <a:t>Range from environmental management systems to addressing auditing, labeling, and product standards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890E0-9807-475C-A4C8-DCB6D388D9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5B32-E133-4743-B2E0-67BBF1174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BBB24B-8EBB-48FC-9D4F-93CE2472A621}" type="slidenum">
              <a:rPr lang="en-US" altLang="LID4096">
                <a:solidFill>
                  <a:srgbClr val="FFFFFF"/>
                </a:solidFill>
              </a:rPr>
              <a:pPr/>
              <a:t>42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3E3827C2-3D57-406F-8F01-5749A333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ISO 14000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FEEE-0FB2-4728-81F2-B65FBE337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>
              <a:defRPr/>
            </a:pPr>
            <a:r>
              <a:rPr lang="en-US" dirty="0"/>
              <a:t>Set of voluntary standards</a:t>
            </a:r>
          </a:p>
          <a:p>
            <a:pPr>
              <a:defRPr/>
            </a:pPr>
            <a:r>
              <a:rPr lang="en-US" dirty="0"/>
              <a:t>Classifications</a:t>
            </a:r>
          </a:p>
          <a:p>
            <a:pPr lvl="1">
              <a:defRPr/>
            </a:pPr>
            <a:r>
              <a:rPr lang="en-US" dirty="0"/>
              <a:t>Process-oriented standards</a:t>
            </a:r>
          </a:p>
          <a:p>
            <a:pPr lvl="1">
              <a:defRPr/>
            </a:pPr>
            <a:r>
              <a:rPr lang="en-US" dirty="0"/>
              <a:t>Product-oriented standards</a:t>
            </a:r>
          </a:p>
          <a:p>
            <a:pPr>
              <a:defRPr/>
            </a:pPr>
            <a:r>
              <a:rPr lang="en-US" dirty="0"/>
              <a:t>But, it does </a:t>
            </a:r>
            <a:r>
              <a:rPr lang="en-US" i="1" u="sng" dirty="0"/>
              <a:t>not</a:t>
            </a:r>
            <a:r>
              <a:rPr lang="en-US" dirty="0"/>
              <a:t>:</a:t>
            </a:r>
          </a:p>
          <a:p>
            <a:pPr lvl="1">
              <a:defRPr/>
            </a:pPr>
            <a:r>
              <a:rPr lang="en-US" dirty="0"/>
              <a:t>Build on existing governmental regulations</a:t>
            </a:r>
          </a:p>
          <a:p>
            <a:pPr lvl="1">
              <a:defRPr/>
            </a:pPr>
            <a:r>
              <a:rPr lang="en-US" dirty="0"/>
              <a:t>Establish emissions and pollution levels</a:t>
            </a:r>
          </a:p>
          <a:p>
            <a:pPr lvl="1">
              <a:defRPr/>
            </a:pPr>
            <a:r>
              <a:rPr lang="en-US" dirty="0"/>
              <a:t>Detail any specific testing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0B46D-8FDE-46AD-900A-34DB5580DB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227DC-50A6-4740-8F9B-CF27FF26EC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9A49FF-5AA5-4808-85BB-C41943E13EBA}" type="slidenum">
              <a:rPr lang="en-US" altLang="LID4096">
                <a:solidFill>
                  <a:srgbClr val="FFFFFF"/>
                </a:solidFill>
              </a:rPr>
              <a:pPr/>
              <a:t>43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ED3D140A-9618-4754-B0F7-D0A44038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Benefits of ISO 14000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8687-BA92-4CC0-8385-57D49ACEB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pPr>
              <a:defRPr/>
            </a:pPr>
            <a:r>
              <a:rPr lang="en-US" dirty="0"/>
              <a:t>Fewer pollutants generated</a:t>
            </a:r>
          </a:p>
          <a:p>
            <a:pPr>
              <a:defRPr/>
            </a:pPr>
            <a:r>
              <a:rPr lang="en-US" dirty="0"/>
              <a:t>Reduced liability risk</a:t>
            </a:r>
          </a:p>
          <a:p>
            <a:pPr>
              <a:defRPr/>
            </a:pPr>
            <a:r>
              <a:rPr lang="en-US" dirty="0"/>
              <a:t>Improved regulatory compliance</a:t>
            </a:r>
          </a:p>
          <a:p>
            <a:pPr>
              <a:defRPr/>
            </a:pPr>
            <a:r>
              <a:rPr lang="en-US" dirty="0"/>
              <a:t>Better public and community relations</a:t>
            </a:r>
          </a:p>
          <a:p>
            <a:pPr>
              <a:defRPr/>
            </a:pPr>
            <a:r>
              <a:rPr lang="en-US" dirty="0"/>
              <a:t>Lowered insurance premiums</a:t>
            </a:r>
          </a:p>
          <a:p>
            <a:pPr>
              <a:defRPr/>
            </a:pPr>
            <a:r>
              <a:rPr lang="en-US" dirty="0"/>
              <a:t>Enhanced profitability through:</a:t>
            </a:r>
          </a:p>
          <a:p>
            <a:pPr lvl="1">
              <a:defRPr/>
            </a:pPr>
            <a:r>
              <a:rPr lang="en-US" dirty="0"/>
              <a:t>Improved resource management</a:t>
            </a:r>
          </a:p>
          <a:p>
            <a:pPr lvl="1">
              <a:defRPr/>
            </a:pPr>
            <a:r>
              <a:rPr lang="en-US" dirty="0"/>
              <a:t>Reduced waste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C5A25-04AA-4C44-9D21-16E02981A4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09D51-5980-46A0-8829-A74DECAEE0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DC8C10-72A7-464F-A3EB-5658597065DE}" type="slidenum">
              <a:rPr lang="en-US" altLang="LID4096">
                <a:solidFill>
                  <a:srgbClr val="FFFFFF"/>
                </a:solidFill>
              </a:rPr>
              <a:pPr/>
              <a:t>44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0C996BFD-B9CD-4106-A525-76AC076B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The MBNQA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DB71-BE55-494A-8626-4925262E8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Established in 1987</a:t>
            </a:r>
          </a:p>
          <a:p>
            <a:pPr>
              <a:defRPr/>
            </a:pPr>
            <a:r>
              <a:rPr lang="en-US" dirty="0"/>
              <a:t>A de facto definition of TQM and competitive set of criteria</a:t>
            </a:r>
          </a:p>
          <a:p>
            <a:pPr>
              <a:defRPr/>
            </a:pPr>
            <a:r>
              <a:rPr lang="en-US" dirty="0"/>
              <a:t>More comprehensive set of quality-related criteria than ISO 9000:2000</a:t>
            </a:r>
          </a:p>
          <a:p>
            <a:pPr>
              <a:defRPr/>
            </a:pPr>
            <a:r>
              <a:rPr lang="en-US" dirty="0"/>
              <a:t>Implies that an organization excels not only in quality management but also in quality achievement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61B33-B128-4C45-B051-A1D46767D6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D5C48-7B77-47DE-B140-3A2D38F52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436B92-EF0B-48D4-B90D-1C063B09B0E9}" type="slidenum">
              <a:rPr lang="en-US" altLang="LID4096">
                <a:solidFill>
                  <a:srgbClr val="FFFFFF"/>
                </a:solidFill>
              </a:rPr>
              <a:pPr/>
              <a:t>45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F2028C05-1F43-413C-A197-5335D80D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The MBNQA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E54D0-593A-45F0-81CC-447C372A0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Much of current application is for internal use as a quality management tool and not for award purposes</a:t>
            </a:r>
          </a:p>
          <a:p>
            <a:pPr>
              <a:defRPr/>
            </a:pPr>
            <a:r>
              <a:rPr lang="en-US" dirty="0"/>
              <a:t>May take 8 – 10 years to adequately prepare a competitive quality system</a:t>
            </a:r>
          </a:p>
          <a:p>
            <a:pPr>
              <a:defRPr/>
            </a:pPr>
            <a:r>
              <a:rPr lang="en-US" dirty="0"/>
              <a:t>Built upon a continuous improvement philosophy</a:t>
            </a:r>
          </a:p>
          <a:p>
            <a:pPr>
              <a:defRPr/>
            </a:pPr>
            <a:r>
              <a:rPr lang="en-US" dirty="0"/>
              <a:t>Both process and results oriented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A6E4B-5AA7-40C4-8AF2-D2E24149EC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118A6-A6AB-48CD-9A5D-56FF9FAA95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79B821-9FF3-4E89-9E14-43835E89E327}" type="slidenum">
              <a:rPr lang="en-US" altLang="LID4096">
                <a:solidFill>
                  <a:srgbClr val="FFFFFF"/>
                </a:solidFill>
              </a:rPr>
              <a:pPr/>
              <a:t>46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75806EC1-8221-423F-8C00-8FF8BF9D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MBNQA Criteria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178A-846B-44CF-9C86-B7E66B371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defRPr/>
            </a:pPr>
            <a:r>
              <a:rPr lang="en-US" dirty="0"/>
              <a:t>Leadership</a:t>
            </a:r>
          </a:p>
          <a:p>
            <a:pPr lvl="1">
              <a:defRPr/>
            </a:pPr>
            <a:r>
              <a:rPr lang="en-US" dirty="0"/>
              <a:t>Organizational leadership</a:t>
            </a:r>
          </a:p>
          <a:p>
            <a:pPr lvl="1">
              <a:defRPr/>
            </a:pPr>
            <a:r>
              <a:rPr lang="en-US" dirty="0"/>
              <a:t>Public responsibility and citizenship</a:t>
            </a:r>
          </a:p>
          <a:p>
            <a:pPr>
              <a:defRPr/>
            </a:pPr>
            <a:r>
              <a:rPr lang="en-US" dirty="0"/>
              <a:t>Strategic planning</a:t>
            </a:r>
          </a:p>
          <a:p>
            <a:pPr lvl="1">
              <a:defRPr/>
            </a:pPr>
            <a:r>
              <a:rPr lang="en-US" dirty="0"/>
              <a:t>Strategy development</a:t>
            </a:r>
          </a:p>
          <a:p>
            <a:pPr lvl="1">
              <a:defRPr/>
            </a:pPr>
            <a:r>
              <a:rPr lang="en-US" dirty="0"/>
              <a:t>Strategy deployment</a:t>
            </a:r>
          </a:p>
          <a:p>
            <a:pPr>
              <a:defRPr/>
            </a:pPr>
            <a:r>
              <a:rPr lang="en-US" dirty="0"/>
              <a:t>Customer and market focus</a:t>
            </a:r>
          </a:p>
          <a:p>
            <a:pPr lvl="1">
              <a:defRPr/>
            </a:pPr>
            <a:r>
              <a:rPr lang="en-US" dirty="0"/>
              <a:t>Customer and market knowledge</a:t>
            </a:r>
          </a:p>
          <a:p>
            <a:pPr lvl="1">
              <a:defRPr/>
            </a:pPr>
            <a:r>
              <a:rPr lang="en-US" dirty="0"/>
              <a:t>Customer satisfaction and relationships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4CEC7-94E0-410E-B91B-29DCD9FE5C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CF8F2-71DC-47A2-9552-D897886947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43EB28-342F-4128-B3A7-63C70D1989F1}" type="slidenum">
              <a:rPr lang="en-US" altLang="LID4096">
                <a:solidFill>
                  <a:srgbClr val="FFFFFF"/>
                </a:solidFill>
              </a:rPr>
              <a:pPr/>
              <a:t>47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6998DD5-EE1F-4D28-95BD-B5DB5899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MBNQA Criteria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C3A3B-4A27-46AE-8E3E-238059FC2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defRPr/>
            </a:pPr>
            <a:r>
              <a:rPr lang="en-US" dirty="0"/>
              <a:t>Information and analysis</a:t>
            </a:r>
          </a:p>
          <a:p>
            <a:pPr lvl="1">
              <a:defRPr/>
            </a:pPr>
            <a:r>
              <a:rPr lang="en-US" dirty="0"/>
              <a:t>Measurement of organizational performance</a:t>
            </a:r>
          </a:p>
          <a:p>
            <a:pPr lvl="1">
              <a:defRPr/>
            </a:pPr>
            <a:r>
              <a:rPr lang="en-US" dirty="0"/>
              <a:t>Analysis of organizational performance</a:t>
            </a:r>
          </a:p>
          <a:p>
            <a:pPr>
              <a:defRPr/>
            </a:pPr>
            <a:r>
              <a:rPr lang="en-US" dirty="0"/>
              <a:t>Human resource focus</a:t>
            </a:r>
          </a:p>
          <a:p>
            <a:pPr lvl="1">
              <a:defRPr/>
            </a:pPr>
            <a:r>
              <a:rPr lang="en-US" dirty="0"/>
              <a:t>Work systems</a:t>
            </a:r>
          </a:p>
          <a:p>
            <a:pPr lvl="1">
              <a:defRPr/>
            </a:pPr>
            <a:r>
              <a:rPr lang="en-US" dirty="0"/>
              <a:t>Employee education, training, and development</a:t>
            </a:r>
          </a:p>
          <a:p>
            <a:pPr lvl="1">
              <a:defRPr/>
            </a:pPr>
            <a:r>
              <a:rPr lang="en-US" dirty="0"/>
              <a:t>Employee well-being and satisfaction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1E465-B424-483A-A226-3EA73C568A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34B43-242D-4AED-9EAA-F14C4A8D64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4D1834-C971-49E9-8211-6BE553CBB3FC}" type="slidenum">
              <a:rPr lang="en-US" altLang="LID4096">
                <a:solidFill>
                  <a:srgbClr val="FFFFFF"/>
                </a:solidFill>
              </a:rPr>
              <a:pPr/>
              <a:t>48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8926ED47-0F3D-4B65-9A55-CB164A1C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MBNQA Criteria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D9560-9F4A-45E9-80EE-E2287AEB2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defRPr/>
            </a:pPr>
            <a:r>
              <a:rPr lang="en-US" dirty="0"/>
              <a:t>Process management</a:t>
            </a:r>
          </a:p>
          <a:p>
            <a:pPr lvl="1">
              <a:defRPr/>
            </a:pPr>
            <a:r>
              <a:rPr lang="en-US" dirty="0"/>
              <a:t>Product and service processes</a:t>
            </a:r>
          </a:p>
          <a:p>
            <a:pPr lvl="1">
              <a:defRPr/>
            </a:pPr>
            <a:r>
              <a:rPr lang="en-US" dirty="0"/>
              <a:t>Support processes</a:t>
            </a:r>
          </a:p>
          <a:p>
            <a:pPr lvl="1">
              <a:defRPr/>
            </a:pPr>
            <a:r>
              <a:rPr lang="en-US" dirty="0"/>
              <a:t>Supplier and partnering processes</a:t>
            </a:r>
          </a:p>
          <a:p>
            <a:pPr>
              <a:defRPr/>
            </a:pPr>
            <a:r>
              <a:rPr lang="en-US" dirty="0"/>
              <a:t>Business results</a:t>
            </a:r>
          </a:p>
          <a:p>
            <a:pPr lvl="1">
              <a:defRPr/>
            </a:pPr>
            <a:r>
              <a:rPr lang="en-US" dirty="0"/>
              <a:t>Customer focused results</a:t>
            </a:r>
          </a:p>
          <a:p>
            <a:pPr lvl="1">
              <a:defRPr/>
            </a:pPr>
            <a:r>
              <a:rPr lang="en-US" dirty="0"/>
              <a:t>Financial and market results</a:t>
            </a:r>
          </a:p>
          <a:p>
            <a:pPr lvl="1">
              <a:defRPr/>
            </a:pPr>
            <a:r>
              <a:rPr lang="en-US" dirty="0"/>
              <a:t>Human resource results</a:t>
            </a:r>
          </a:p>
          <a:p>
            <a:pPr lvl="1">
              <a:defRPr/>
            </a:pPr>
            <a:r>
              <a:rPr lang="en-US" dirty="0"/>
              <a:t>Supplier and partner results</a:t>
            </a:r>
          </a:p>
          <a:p>
            <a:pPr lvl="1">
              <a:defRPr/>
            </a:pPr>
            <a:r>
              <a:rPr lang="en-US" dirty="0"/>
              <a:t>Organizational effectiveness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C95E7-931E-467A-B6A6-5F2A4F9AB7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B9F743-0514-42AF-A21E-03C47EA19FCC}" type="slidenum">
              <a:rPr lang="en-US" altLang="LID4096">
                <a:solidFill>
                  <a:srgbClr val="FFFFFF"/>
                </a:solidFill>
              </a:rPr>
              <a:pPr/>
              <a:t>49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5AE421CC-9ED3-4ED3-A6D9-5CECEBFC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 Certification at Alcoa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84FBA34-C2BE-4584-9F90-18F61626C2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52600" y="1371601"/>
          <a:ext cx="5715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BB07C-728B-484A-B61F-1C4A6B0D1F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D7185-59D2-48E4-8FD1-2FA78A9ED4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21CEBE-268F-4191-A0B7-B81B5FB55F23}" type="slidenum">
              <a:rPr lang="en-US" altLang="LID4096">
                <a:solidFill>
                  <a:srgbClr val="FFFFFF"/>
                </a:solidFill>
              </a:rPr>
              <a:pPr/>
              <a:t>50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2131</TotalTime>
  <Words>2164</Words>
  <Application>Microsoft Office PowerPoint</Application>
  <PresentationFormat>On-screen Show (4:3)</PresentationFormat>
  <Paragraphs>414</Paragraphs>
  <Slides>50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Times New Roman</vt:lpstr>
      <vt:lpstr>Wingdings</vt:lpstr>
      <vt:lpstr>Copperplate Gothic Bold</vt:lpstr>
      <vt:lpstr>Default Design</vt:lpstr>
      <vt:lpstr>Supplier Quality Management</vt:lpstr>
      <vt:lpstr>Chapter Overview</vt:lpstr>
      <vt:lpstr>Case Study: Alpha Motors</vt:lpstr>
      <vt:lpstr>Case Study: Alpha Motors</vt:lpstr>
      <vt:lpstr>Case Study: Alpha Motors</vt:lpstr>
      <vt:lpstr>Case Study: Alpha Motors</vt:lpstr>
      <vt:lpstr>What Is Supplier Quality?</vt:lpstr>
      <vt:lpstr>Supplier Quality Concerns</vt:lpstr>
      <vt:lpstr>6 Factors: Supply Management’s Role</vt:lpstr>
      <vt:lpstr>Factors: Supply Management’s Role</vt:lpstr>
      <vt:lpstr>A TQM Perspective</vt:lpstr>
      <vt:lpstr>A TQM Perspective</vt:lpstr>
      <vt:lpstr>Quality: The Customer’s Perspective</vt:lpstr>
      <vt:lpstr>Quality Concepts in SCM</vt:lpstr>
      <vt:lpstr>Developing Clarity</vt:lpstr>
      <vt:lpstr>Quality at the Source</vt:lpstr>
      <vt:lpstr>Objective Measurement and Analysis</vt:lpstr>
      <vt:lpstr>Prevention of Nonconformance</vt:lpstr>
      <vt:lpstr>Focus on Process, Not on Output</vt:lpstr>
      <vt:lpstr>Focusing on Sample Inspections</vt:lpstr>
      <vt:lpstr>Focusing on Sample Inspections</vt:lpstr>
      <vt:lpstr>Basics of Process Capability</vt:lpstr>
      <vt:lpstr>Basics of Process Capability</vt:lpstr>
      <vt:lpstr>Process Capability</vt:lpstr>
      <vt:lpstr>Zero Defects</vt:lpstr>
      <vt:lpstr>Cost of Quality</vt:lpstr>
      <vt:lpstr>Appraisal Cost Examples</vt:lpstr>
      <vt:lpstr>Internal Failure Cost Examples</vt:lpstr>
      <vt:lpstr>External Failure Cost Examples</vt:lpstr>
      <vt:lpstr>Prevention Cost Examples</vt:lpstr>
      <vt:lpstr>Continuous Improvement</vt:lpstr>
      <vt:lpstr>Supplier Incentives</vt:lpstr>
      <vt:lpstr>Supplier Incentives</vt:lpstr>
      <vt:lpstr>Quality: Everyone’s Responsibility</vt:lpstr>
      <vt:lpstr>Six Sigma Quality</vt:lpstr>
      <vt:lpstr>The DMAIC Model</vt:lpstr>
      <vt:lpstr>The DMAIC Model</vt:lpstr>
      <vt:lpstr>Using ISO and MBNQA Criteria</vt:lpstr>
      <vt:lpstr>ISO 9000:2000</vt:lpstr>
      <vt:lpstr>Eight Principles of ISO 9000:2000</vt:lpstr>
      <vt:lpstr>Buyer’s Benefits of ISO 9000:2000</vt:lpstr>
      <vt:lpstr>ISO 14000</vt:lpstr>
      <vt:lpstr>ISO 14000</vt:lpstr>
      <vt:lpstr>Benefits of ISO 14000</vt:lpstr>
      <vt:lpstr>The MBNQA</vt:lpstr>
      <vt:lpstr>The MBNQA</vt:lpstr>
      <vt:lpstr>MBNQA Criteria Items</vt:lpstr>
      <vt:lpstr>MBNQA Criteria Items</vt:lpstr>
      <vt:lpstr>MBNQA Criteria Items</vt:lpstr>
      <vt:lpstr>Supplier Certification at Alcoa</vt:lpstr>
    </vt:vector>
  </TitlesOfParts>
  <Company>Western Illinois University Quad Cities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 James L. Patterson, C.P.M., A.P.P.</dc:creator>
  <cp:lastModifiedBy>Muhammad Omair</cp:lastModifiedBy>
  <cp:revision>84</cp:revision>
  <dcterms:created xsi:type="dcterms:W3CDTF">2007-10-03T17:47:56Z</dcterms:created>
  <dcterms:modified xsi:type="dcterms:W3CDTF">2026-01-31T18:24:16Z</dcterms:modified>
</cp:coreProperties>
</file>