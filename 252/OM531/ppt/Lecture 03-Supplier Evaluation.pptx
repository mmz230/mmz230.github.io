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handoutMasterIdLst>
    <p:handoutMasterId r:id="rId40"/>
  </p:handoutMasterIdLst>
  <p:sldIdLst>
    <p:sldId id="256" r:id="rId2"/>
    <p:sldId id="299" r:id="rId3"/>
    <p:sldId id="300" r:id="rId4"/>
    <p:sldId id="301" r:id="rId5"/>
    <p:sldId id="257" r:id="rId6"/>
    <p:sldId id="258" r:id="rId7"/>
    <p:sldId id="298" r:id="rId8"/>
    <p:sldId id="261" r:id="rId9"/>
    <p:sldId id="262" r:id="rId10"/>
    <p:sldId id="263" r:id="rId11"/>
    <p:sldId id="264" r:id="rId12"/>
    <p:sldId id="265" r:id="rId13"/>
    <p:sldId id="266" r:id="rId14"/>
    <p:sldId id="267" r:id="rId15"/>
    <p:sldId id="268" r:id="rId16"/>
    <p:sldId id="303" r:id="rId17"/>
    <p:sldId id="304" r:id="rId18"/>
    <p:sldId id="305" r:id="rId19"/>
    <p:sldId id="269" r:id="rId20"/>
    <p:sldId id="302" r:id="rId21"/>
    <p:sldId id="270" r:id="rId22"/>
    <p:sldId id="273" r:id="rId23"/>
    <p:sldId id="274" r:id="rId24"/>
    <p:sldId id="284" r:id="rId25"/>
    <p:sldId id="275" r:id="rId26"/>
    <p:sldId id="276" r:id="rId27"/>
    <p:sldId id="278" r:id="rId28"/>
    <p:sldId id="280" r:id="rId29"/>
    <p:sldId id="281" r:id="rId30"/>
    <p:sldId id="282" r:id="rId31"/>
    <p:sldId id="283" r:id="rId32"/>
    <p:sldId id="285" r:id="rId33"/>
    <p:sldId id="286" r:id="rId34"/>
    <p:sldId id="287" r:id="rId35"/>
    <p:sldId id="288" r:id="rId36"/>
    <p:sldId id="292" r:id="rId37"/>
    <p:sldId id="296" r:id="rId38"/>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0066"/>
    <a:srgbClr val="33CC33"/>
    <a:srgbClr val="669900"/>
    <a:srgbClr val="996633"/>
    <a:srgbClr val="CC9900"/>
    <a:srgbClr val="003300"/>
    <a:srgbClr val="006600"/>
    <a:srgbClr val="66FF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950" autoAdjust="0"/>
    <p:restoredTop sz="97354" autoAdjust="0"/>
  </p:normalViewPr>
  <p:slideViewPr>
    <p:cSldViewPr>
      <p:cViewPr varScale="1">
        <p:scale>
          <a:sx n="50" d="100"/>
          <a:sy n="50" d="100"/>
        </p:scale>
        <p:origin x="981" y="1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2220"/>
    </p:cViewPr>
  </p:sorterViewPr>
  <p:notesViewPr>
    <p:cSldViewPr>
      <p:cViewPr varScale="1">
        <p:scale>
          <a:sx n="55" d="100"/>
          <a:sy n="55" d="100"/>
        </p:scale>
        <p:origin x="-1878" y="-102"/>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A041705-65DC-48F0-AFEA-A2822222DC83}" type="doc">
      <dgm:prSet loTypeId="urn:microsoft.com/office/officeart/2005/8/layout/process4" loCatId="list" qsTypeId="urn:microsoft.com/office/officeart/2005/8/quickstyle/simple1#7" qsCatId="simple" csTypeId="urn:microsoft.com/office/officeart/2005/8/colors/accent0_2" csCatId="mainScheme" phldr="1"/>
      <dgm:spPr/>
      <dgm:t>
        <a:bodyPr/>
        <a:lstStyle/>
        <a:p>
          <a:endParaRPr lang="en-US"/>
        </a:p>
      </dgm:t>
    </dgm:pt>
    <dgm:pt modelId="{0563EF47-17BA-4E08-97B7-27A2FA183387}">
      <dgm:prSet phldrT="[Text]" custT="1"/>
      <dgm:spPr>
        <a:solidFill>
          <a:srgbClr val="FFC000"/>
        </a:solidFill>
      </dgm:spPr>
      <dgm:t>
        <a:bodyPr/>
        <a:lstStyle/>
        <a:p>
          <a:r>
            <a:rPr lang="en-US" sz="2200" b="1" dirty="0"/>
            <a:t>1. Recognize the need for supplier selection</a:t>
          </a:r>
        </a:p>
      </dgm:t>
    </dgm:pt>
    <dgm:pt modelId="{89E60574-F380-4AFE-B4E5-E401DDCD6F9C}" type="parTrans" cxnId="{594B6805-172A-4D6D-A1B5-A90387ACC74C}">
      <dgm:prSet/>
      <dgm:spPr/>
      <dgm:t>
        <a:bodyPr/>
        <a:lstStyle/>
        <a:p>
          <a:endParaRPr lang="en-US">
            <a:solidFill>
              <a:sysClr val="windowText" lastClr="000000"/>
            </a:solidFill>
          </a:endParaRPr>
        </a:p>
      </dgm:t>
    </dgm:pt>
    <dgm:pt modelId="{5D8C3FDB-E209-49FD-81A3-694C60E66EF0}" type="sibTrans" cxnId="{594B6805-172A-4D6D-A1B5-A90387ACC74C}">
      <dgm:prSet/>
      <dgm:spPr/>
      <dgm:t>
        <a:bodyPr/>
        <a:lstStyle/>
        <a:p>
          <a:endParaRPr lang="en-US">
            <a:solidFill>
              <a:sysClr val="windowText" lastClr="000000"/>
            </a:solidFill>
          </a:endParaRPr>
        </a:p>
      </dgm:t>
    </dgm:pt>
    <dgm:pt modelId="{6041BDEC-C6C4-41B2-BAF0-3A83E9CAC2F0}">
      <dgm:prSet phldrT="[Text]" custT="1"/>
      <dgm:spPr>
        <a:solidFill>
          <a:srgbClr val="FFC000"/>
        </a:solidFill>
      </dgm:spPr>
      <dgm:t>
        <a:bodyPr/>
        <a:lstStyle/>
        <a:p>
          <a:r>
            <a:rPr lang="en-US" sz="2200" b="1" dirty="0"/>
            <a:t>2. Identify key sourcing requirements</a:t>
          </a:r>
        </a:p>
      </dgm:t>
    </dgm:pt>
    <dgm:pt modelId="{AE13863D-948A-4DAD-B4D9-2F306C743552}" type="parTrans" cxnId="{1D06C838-5F59-42DF-B4C5-C7F615EFD8F8}">
      <dgm:prSet/>
      <dgm:spPr/>
      <dgm:t>
        <a:bodyPr/>
        <a:lstStyle/>
        <a:p>
          <a:endParaRPr lang="en-US">
            <a:solidFill>
              <a:sysClr val="windowText" lastClr="000000"/>
            </a:solidFill>
          </a:endParaRPr>
        </a:p>
      </dgm:t>
    </dgm:pt>
    <dgm:pt modelId="{02096AFE-5BD7-453E-8B7A-00D1E3489DF8}" type="sibTrans" cxnId="{1D06C838-5F59-42DF-B4C5-C7F615EFD8F8}">
      <dgm:prSet/>
      <dgm:spPr/>
      <dgm:t>
        <a:bodyPr/>
        <a:lstStyle/>
        <a:p>
          <a:endParaRPr lang="en-US">
            <a:solidFill>
              <a:sysClr val="windowText" lastClr="000000"/>
            </a:solidFill>
          </a:endParaRPr>
        </a:p>
      </dgm:t>
    </dgm:pt>
    <dgm:pt modelId="{08DF0B90-0105-49BA-9864-EAE67ED53D38}">
      <dgm:prSet phldrT="[Text]" custT="1"/>
      <dgm:spPr>
        <a:solidFill>
          <a:srgbClr val="FFC000"/>
        </a:solidFill>
      </dgm:spPr>
      <dgm:t>
        <a:bodyPr/>
        <a:lstStyle/>
        <a:p>
          <a:r>
            <a:rPr lang="en-US" sz="2200" b="1" dirty="0"/>
            <a:t>3. Determine sourcing strategy</a:t>
          </a:r>
        </a:p>
      </dgm:t>
    </dgm:pt>
    <dgm:pt modelId="{313D7C54-00CF-442D-84DA-AACF5472779C}" type="parTrans" cxnId="{00755B80-EC1A-411E-948F-6AAFFC89349E}">
      <dgm:prSet/>
      <dgm:spPr/>
      <dgm:t>
        <a:bodyPr/>
        <a:lstStyle/>
        <a:p>
          <a:endParaRPr lang="en-US">
            <a:solidFill>
              <a:sysClr val="windowText" lastClr="000000"/>
            </a:solidFill>
          </a:endParaRPr>
        </a:p>
      </dgm:t>
    </dgm:pt>
    <dgm:pt modelId="{8B25E8E4-EFF6-4778-B345-7D44DF0FFE8C}" type="sibTrans" cxnId="{00755B80-EC1A-411E-948F-6AAFFC89349E}">
      <dgm:prSet/>
      <dgm:spPr/>
      <dgm:t>
        <a:bodyPr/>
        <a:lstStyle/>
        <a:p>
          <a:endParaRPr lang="en-US">
            <a:solidFill>
              <a:sysClr val="windowText" lastClr="000000"/>
            </a:solidFill>
          </a:endParaRPr>
        </a:p>
      </dgm:t>
    </dgm:pt>
    <dgm:pt modelId="{AD74B1BA-A63C-4CB9-AE11-E146A8A06C63}">
      <dgm:prSet phldrT="[Text]" custT="1"/>
      <dgm:spPr>
        <a:solidFill>
          <a:srgbClr val="FFC000"/>
        </a:solidFill>
      </dgm:spPr>
      <dgm:t>
        <a:bodyPr/>
        <a:lstStyle/>
        <a:p>
          <a:r>
            <a:rPr lang="en-US" sz="2200" b="1" dirty="0"/>
            <a:t>4. Identify potential supply sources</a:t>
          </a:r>
        </a:p>
      </dgm:t>
    </dgm:pt>
    <dgm:pt modelId="{B24FE63C-5C6F-4649-9F2C-DF7BE030ACFF}" type="parTrans" cxnId="{66E154F6-F814-4A22-8C12-13DC7C22EB96}">
      <dgm:prSet/>
      <dgm:spPr/>
      <dgm:t>
        <a:bodyPr/>
        <a:lstStyle/>
        <a:p>
          <a:endParaRPr lang="en-US">
            <a:solidFill>
              <a:sysClr val="windowText" lastClr="000000"/>
            </a:solidFill>
          </a:endParaRPr>
        </a:p>
      </dgm:t>
    </dgm:pt>
    <dgm:pt modelId="{44A7CE50-7658-4325-8EAA-96EAA6109A7E}" type="sibTrans" cxnId="{66E154F6-F814-4A22-8C12-13DC7C22EB96}">
      <dgm:prSet/>
      <dgm:spPr/>
      <dgm:t>
        <a:bodyPr/>
        <a:lstStyle/>
        <a:p>
          <a:endParaRPr lang="en-US">
            <a:solidFill>
              <a:sysClr val="windowText" lastClr="000000"/>
            </a:solidFill>
          </a:endParaRPr>
        </a:p>
      </dgm:t>
    </dgm:pt>
    <dgm:pt modelId="{BE0DF1CF-F556-456B-9EFA-2F17F525A8DB}">
      <dgm:prSet phldrT="[Text]" custT="1"/>
      <dgm:spPr>
        <a:solidFill>
          <a:srgbClr val="FFC000"/>
        </a:solidFill>
      </dgm:spPr>
      <dgm:t>
        <a:bodyPr/>
        <a:lstStyle/>
        <a:p>
          <a:r>
            <a:rPr lang="en-US" sz="2200" b="1" dirty="0"/>
            <a:t>5. Limit suppliers in selection pool</a:t>
          </a:r>
        </a:p>
      </dgm:t>
    </dgm:pt>
    <dgm:pt modelId="{15EEDEB8-4E9F-424D-B04A-3B9F31E07997}" type="parTrans" cxnId="{7D2622B7-99FC-40C6-A58C-01FDCB7A6457}">
      <dgm:prSet/>
      <dgm:spPr/>
      <dgm:t>
        <a:bodyPr/>
        <a:lstStyle/>
        <a:p>
          <a:endParaRPr lang="en-US">
            <a:solidFill>
              <a:sysClr val="windowText" lastClr="000000"/>
            </a:solidFill>
          </a:endParaRPr>
        </a:p>
      </dgm:t>
    </dgm:pt>
    <dgm:pt modelId="{71C03E22-03E2-4FC9-8FDD-3E6772D41F89}" type="sibTrans" cxnId="{7D2622B7-99FC-40C6-A58C-01FDCB7A6457}">
      <dgm:prSet/>
      <dgm:spPr/>
      <dgm:t>
        <a:bodyPr/>
        <a:lstStyle/>
        <a:p>
          <a:endParaRPr lang="en-US">
            <a:solidFill>
              <a:sysClr val="windowText" lastClr="000000"/>
            </a:solidFill>
          </a:endParaRPr>
        </a:p>
      </dgm:t>
    </dgm:pt>
    <dgm:pt modelId="{565B4C04-224E-43CC-A9B3-5697B9E93AA9}">
      <dgm:prSet phldrT="[Text]" custT="1"/>
      <dgm:spPr>
        <a:solidFill>
          <a:srgbClr val="FFC000"/>
        </a:solidFill>
      </dgm:spPr>
      <dgm:t>
        <a:bodyPr/>
        <a:lstStyle/>
        <a:p>
          <a:r>
            <a:rPr lang="en-US" sz="2200" b="1" dirty="0"/>
            <a:t>6. Determine method of supplier evaluation and selection</a:t>
          </a:r>
        </a:p>
      </dgm:t>
    </dgm:pt>
    <dgm:pt modelId="{0815849D-F5BA-45C3-BF6A-5B88B1F971B2}" type="parTrans" cxnId="{4E647E1D-4BBB-4973-8056-8B9342AA100C}">
      <dgm:prSet/>
      <dgm:spPr/>
      <dgm:t>
        <a:bodyPr/>
        <a:lstStyle/>
        <a:p>
          <a:endParaRPr lang="en-US">
            <a:solidFill>
              <a:sysClr val="windowText" lastClr="000000"/>
            </a:solidFill>
          </a:endParaRPr>
        </a:p>
      </dgm:t>
    </dgm:pt>
    <dgm:pt modelId="{904CF333-1487-43A7-9161-7F2011F063F5}" type="sibTrans" cxnId="{4E647E1D-4BBB-4973-8056-8B9342AA100C}">
      <dgm:prSet/>
      <dgm:spPr/>
      <dgm:t>
        <a:bodyPr/>
        <a:lstStyle/>
        <a:p>
          <a:endParaRPr lang="en-US">
            <a:solidFill>
              <a:sysClr val="windowText" lastClr="000000"/>
            </a:solidFill>
          </a:endParaRPr>
        </a:p>
      </dgm:t>
    </dgm:pt>
    <dgm:pt modelId="{52E7E18A-2744-4580-A204-D45EAAD9664B}">
      <dgm:prSet phldrT="[Text]" custT="1"/>
      <dgm:spPr>
        <a:solidFill>
          <a:srgbClr val="FFC000"/>
        </a:solidFill>
      </dgm:spPr>
      <dgm:t>
        <a:bodyPr/>
        <a:lstStyle/>
        <a:p>
          <a:r>
            <a:rPr lang="en-US" sz="2200" b="1" dirty="0"/>
            <a:t>7. Select supplier and reach agreement</a:t>
          </a:r>
        </a:p>
      </dgm:t>
    </dgm:pt>
    <dgm:pt modelId="{AE2536CB-BC1C-482B-BF16-747DED239E41}" type="parTrans" cxnId="{7A6532E9-DB26-44CB-BE8D-CEA36AE50079}">
      <dgm:prSet/>
      <dgm:spPr/>
      <dgm:t>
        <a:bodyPr/>
        <a:lstStyle/>
        <a:p>
          <a:endParaRPr lang="en-US">
            <a:solidFill>
              <a:sysClr val="windowText" lastClr="000000"/>
            </a:solidFill>
          </a:endParaRPr>
        </a:p>
      </dgm:t>
    </dgm:pt>
    <dgm:pt modelId="{EE7CDABE-A8C3-4410-B453-7C44567548FC}" type="sibTrans" cxnId="{7A6532E9-DB26-44CB-BE8D-CEA36AE50079}">
      <dgm:prSet/>
      <dgm:spPr/>
      <dgm:t>
        <a:bodyPr/>
        <a:lstStyle/>
        <a:p>
          <a:endParaRPr lang="en-US">
            <a:solidFill>
              <a:sysClr val="windowText" lastClr="000000"/>
            </a:solidFill>
          </a:endParaRPr>
        </a:p>
      </dgm:t>
    </dgm:pt>
    <dgm:pt modelId="{305AD105-555D-4E26-A688-5E9A48D2C7F1}" type="pres">
      <dgm:prSet presAssocID="{6A041705-65DC-48F0-AFEA-A2822222DC83}" presName="Name0" presStyleCnt="0">
        <dgm:presLayoutVars>
          <dgm:dir/>
          <dgm:animLvl val="lvl"/>
          <dgm:resizeHandles val="exact"/>
        </dgm:presLayoutVars>
      </dgm:prSet>
      <dgm:spPr/>
    </dgm:pt>
    <dgm:pt modelId="{AA71B4D7-1DFB-4987-8A28-B7EA10576515}" type="pres">
      <dgm:prSet presAssocID="{52E7E18A-2744-4580-A204-D45EAAD9664B}" presName="boxAndChildren" presStyleCnt="0"/>
      <dgm:spPr/>
    </dgm:pt>
    <dgm:pt modelId="{DF1D754C-39DF-4A02-816B-85D36B0C4E9B}" type="pres">
      <dgm:prSet presAssocID="{52E7E18A-2744-4580-A204-D45EAAD9664B}" presName="parentTextBox" presStyleLbl="node1" presStyleIdx="0" presStyleCnt="7"/>
      <dgm:spPr/>
    </dgm:pt>
    <dgm:pt modelId="{65A464F8-D22B-4188-B2B9-B886B93EC843}" type="pres">
      <dgm:prSet presAssocID="{904CF333-1487-43A7-9161-7F2011F063F5}" presName="sp" presStyleCnt="0"/>
      <dgm:spPr/>
    </dgm:pt>
    <dgm:pt modelId="{5FF0C803-BC3A-4EA9-A56E-379F65C78093}" type="pres">
      <dgm:prSet presAssocID="{565B4C04-224E-43CC-A9B3-5697B9E93AA9}" presName="arrowAndChildren" presStyleCnt="0"/>
      <dgm:spPr/>
    </dgm:pt>
    <dgm:pt modelId="{947DBDB6-911A-49C3-92BD-03E62F9A6CAD}" type="pres">
      <dgm:prSet presAssocID="{565B4C04-224E-43CC-A9B3-5697B9E93AA9}" presName="parentTextArrow" presStyleLbl="node1" presStyleIdx="1" presStyleCnt="7"/>
      <dgm:spPr/>
    </dgm:pt>
    <dgm:pt modelId="{523A3A70-4FA6-4E4E-9B35-8DF753C69A41}" type="pres">
      <dgm:prSet presAssocID="{71C03E22-03E2-4FC9-8FDD-3E6772D41F89}" presName="sp" presStyleCnt="0"/>
      <dgm:spPr/>
    </dgm:pt>
    <dgm:pt modelId="{02391BF2-DC40-44CE-B9DF-FECBCA290DCC}" type="pres">
      <dgm:prSet presAssocID="{BE0DF1CF-F556-456B-9EFA-2F17F525A8DB}" presName="arrowAndChildren" presStyleCnt="0"/>
      <dgm:spPr/>
    </dgm:pt>
    <dgm:pt modelId="{FE951571-F342-44C9-8948-815E6E4F10D3}" type="pres">
      <dgm:prSet presAssocID="{BE0DF1CF-F556-456B-9EFA-2F17F525A8DB}" presName="parentTextArrow" presStyleLbl="node1" presStyleIdx="2" presStyleCnt="7"/>
      <dgm:spPr/>
    </dgm:pt>
    <dgm:pt modelId="{F498467C-8B65-41FF-B8C9-16F959EEF839}" type="pres">
      <dgm:prSet presAssocID="{44A7CE50-7658-4325-8EAA-96EAA6109A7E}" presName="sp" presStyleCnt="0"/>
      <dgm:spPr/>
    </dgm:pt>
    <dgm:pt modelId="{3E4B1C69-069F-4964-B619-DE74E576CD96}" type="pres">
      <dgm:prSet presAssocID="{AD74B1BA-A63C-4CB9-AE11-E146A8A06C63}" presName="arrowAndChildren" presStyleCnt="0"/>
      <dgm:spPr/>
    </dgm:pt>
    <dgm:pt modelId="{7A7DAE9D-F27E-4F70-8188-3B3FFF9213F3}" type="pres">
      <dgm:prSet presAssocID="{AD74B1BA-A63C-4CB9-AE11-E146A8A06C63}" presName="parentTextArrow" presStyleLbl="node1" presStyleIdx="3" presStyleCnt="7"/>
      <dgm:spPr/>
    </dgm:pt>
    <dgm:pt modelId="{4E073618-FDEE-469A-87F8-536353E38683}" type="pres">
      <dgm:prSet presAssocID="{8B25E8E4-EFF6-4778-B345-7D44DF0FFE8C}" presName="sp" presStyleCnt="0"/>
      <dgm:spPr/>
    </dgm:pt>
    <dgm:pt modelId="{FF1663A1-1455-42D3-AB94-5DEA33B27FEE}" type="pres">
      <dgm:prSet presAssocID="{08DF0B90-0105-49BA-9864-EAE67ED53D38}" presName="arrowAndChildren" presStyleCnt="0"/>
      <dgm:spPr/>
    </dgm:pt>
    <dgm:pt modelId="{55A441F5-BE79-4B32-ADDE-251BC806C29C}" type="pres">
      <dgm:prSet presAssocID="{08DF0B90-0105-49BA-9864-EAE67ED53D38}" presName="parentTextArrow" presStyleLbl="node1" presStyleIdx="4" presStyleCnt="7"/>
      <dgm:spPr/>
    </dgm:pt>
    <dgm:pt modelId="{820E5000-A582-4CC8-B7C1-8AA18C637715}" type="pres">
      <dgm:prSet presAssocID="{02096AFE-5BD7-453E-8B7A-00D1E3489DF8}" presName="sp" presStyleCnt="0"/>
      <dgm:spPr/>
    </dgm:pt>
    <dgm:pt modelId="{B79513FB-F4A4-4DFD-9E81-23D72AD45646}" type="pres">
      <dgm:prSet presAssocID="{6041BDEC-C6C4-41B2-BAF0-3A83E9CAC2F0}" presName="arrowAndChildren" presStyleCnt="0"/>
      <dgm:spPr/>
    </dgm:pt>
    <dgm:pt modelId="{B1354B4D-02B4-4B92-9439-51172E67F150}" type="pres">
      <dgm:prSet presAssocID="{6041BDEC-C6C4-41B2-BAF0-3A83E9CAC2F0}" presName="parentTextArrow" presStyleLbl="node1" presStyleIdx="5" presStyleCnt="7"/>
      <dgm:spPr/>
    </dgm:pt>
    <dgm:pt modelId="{06D427E1-0FFE-4023-B5BC-08209DF64BF4}" type="pres">
      <dgm:prSet presAssocID="{5D8C3FDB-E209-49FD-81A3-694C60E66EF0}" presName="sp" presStyleCnt="0"/>
      <dgm:spPr/>
    </dgm:pt>
    <dgm:pt modelId="{1A9B92B3-B699-445C-A41B-57EDCE9AEC0B}" type="pres">
      <dgm:prSet presAssocID="{0563EF47-17BA-4E08-97B7-27A2FA183387}" presName="arrowAndChildren" presStyleCnt="0"/>
      <dgm:spPr/>
    </dgm:pt>
    <dgm:pt modelId="{3A2EBE11-44AF-4783-A059-C8DE18B01845}" type="pres">
      <dgm:prSet presAssocID="{0563EF47-17BA-4E08-97B7-27A2FA183387}" presName="parentTextArrow" presStyleLbl="node1" presStyleIdx="6" presStyleCnt="7"/>
      <dgm:spPr/>
    </dgm:pt>
  </dgm:ptLst>
  <dgm:cxnLst>
    <dgm:cxn modelId="{594B6805-172A-4D6D-A1B5-A90387ACC74C}" srcId="{6A041705-65DC-48F0-AFEA-A2822222DC83}" destId="{0563EF47-17BA-4E08-97B7-27A2FA183387}" srcOrd="0" destOrd="0" parTransId="{89E60574-F380-4AFE-B4E5-E401DDCD6F9C}" sibTransId="{5D8C3FDB-E209-49FD-81A3-694C60E66EF0}"/>
    <dgm:cxn modelId="{E46CBA06-E648-45C4-A86A-C8B99630C52A}" type="presOf" srcId="{BE0DF1CF-F556-456B-9EFA-2F17F525A8DB}" destId="{FE951571-F342-44C9-8948-815E6E4F10D3}" srcOrd="0" destOrd="0" presId="urn:microsoft.com/office/officeart/2005/8/layout/process4"/>
    <dgm:cxn modelId="{4E647E1D-4BBB-4973-8056-8B9342AA100C}" srcId="{6A041705-65DC-48F0-AFEA-A2822222DC83}" destId="{565B4C04-224E-43CC-A9B3-5697B9E93AA9}" srcOrd="5" destOrd="0" parTransId="{0815849D-F5BA-45C3-BF6A-5B88B1F971B2}" sibTransId="{904CF333-1487-43A7-9161-7F2011F063F5}"/>
    <dgm:cxn modelId="{05D35424-4EC1-4B23-A0A0-8070AE45A044}" type="presOf" srcId="{08DF0B90-0105-49BA-9864-EAE67ED53D38}" destId="{55A441F5-BE79-4B32-ADDE-251BC806C29C}" srcOrd="0" destOrd="0" presId="urn:microsoft.com/office/officeart/2005/8/layout/process4"/>
    <dgm:cxn modelId="{1D06C838-5F59-42DF-B4C5-C7F615EFD8F8}" srcId="{6A041705-65DC-48F0-AFEA-A2822222DC83}" destId="{6041BDEC-C6C4-41B2-BAF0-3A83E9CAC2F0}" srcOrd="1" destOrd="0" parTransId="{AE13863D-948A-4DAD-B4D9-2F306C743552}" sibTransId="{02096AFE-5BD7-453E-8B7A-00D1E3489DF8}"/>
    <dgm:cxn modelId="{2422FD47-3A6F-4F93-966A-3CD8B888BCE7}" type="presOf" srcId="{AD74B1BA-A63C-4CB9-AE11-E146A8A06C63}" destId="{7A7DAE9D-F27E-4F70-8188-3B3FFF9213F3}" srcOrd="0" destOrd="0" presId="urn:microsoft.com/office/officeart/2005/8/layout/process4"/>
    <dgm:cxn modelId="{38BCD74D-E500-40BA-B968-8D1F57E172A6}" type="presOf" srcId="{6A041705-65DC-48F0-AFEA-A2822222DC83}" destId="{305AD105-555D-4E26-A688-5E9A48D2C7F1}" srcOrd="0" destOrd="0" presId="urn:microsoft.com/office/officeart/2005/8/layout/process4"/>
    <dgm:cxn modelId="{00755B80-EC1A-411E-948F-6AAFFC89349E}" srcId="{6A041705-65DC-48F0-AFEA-A2822222DC83}" destId="{08DF0B90-0105-49BA-9864-EAE67ED53D38}" srcOrd="2" destOrd="0" parTransId="{313D7C54-00CF-442D-84DA-AACF5472779C}" sibTransId="{8B25E8E4-EFF6-4778-B345-7D44DF0FFE8C}"/>
    <dgm:cxn modelId="{7D2622B7-99FC-40C6-A58C-01FDCB7A6457}" srcId="{6A041705-65DC-48F0-AFEA-A2822222DC83}" destId="{BE0DF1CF-F556-456B-9EFA-2F17F525A8DB}" srcOrd="4" destOrd="0" parTransId="{15EEDEB8-4E9F-424D-B04A-3B9F31E07997}" sibTransId="{71C03E22-03E2-4FC9-8FDD-3E6772D41F89}"/>
    <dgm:cxn modelId="{6E0302C2-345F-4599-A9D2-805634401B7A}" type="presOf" srcId="{52E7E18A-2744-4580-A204-D45EAAD9664B}" destId="{DF1D754C-39DF-4A02-816B-85D36B0C4E9B}" srcOrd="0" destOrd="0" presId="urn:microsoft.com/office/officeart/2005/8/layout/process4"/>
    <dgm:cxn modelId="{E224C1DC-04F8-46B4-9A9E-DD5DF0DBA9A4}" type="presOf" srcId="{565B4C04-224E-43CC-A9B3-5697B9E93AA9}" destId="{947DBDB6-911A-49C3-92BD-03E62F9A6CAD}" srcOrd="0" destOrd="0" presId="urn:microsoft.com/office/officeart/2005/8/layout/process4"/>
    <dgm:cxn modelId="{ADCF0DE1-15FF-4F96-970A-B719B565A6A0}" type="presOf" srcId="{0563EF47-17BA-4E08-97B7-27A2FA183387}" destId="{3A2EBE11-44AF-4783-A059-C8DE18B01845}" srcOrd="0" destOrd="0" presId="urn:microsoft.com/office/officeart/2005/8/layout/process4"/>
    <dgm:cxn modelId="{7A6532E9-DB26-44CB-BE8D-CEA36AE50079}" srcId="{6A041705-65DC-48F0-AFEA-A2822222DC83}" destId="{52E7E18A-2744-4580-A204-D45EAAD9664B}" srcOrd="6" destOrd="0" parTransId="{AE2536CB-BC1C-482B-BF16-747DED239E41}" sibTransId="{EE7CDABE-A8C3-4410-B453-7C44567548FC}"/>
    <dgm:cxn modelId="{AFA929F3-210C-4092-8C4A-D347B349D721}" type="presOf" srcId="{6041BDEC-C6C4-41B2-BAF0-3A83E9CAC2F0}" destId="{B1354B4D-02B4-4B92-9439-51172E67F150}" srcOrd="0" destOrd="0" presId="urn:microsoft.com/office/officeart/2005/8/layout/process4"/>
    <dgm:cxn modelId="{66E154F6-F814-4A22-8C12-13DC7C22EB96}" srcId="{6A041705-65DC-48F0-AFEA-A2822222DC83}" destId="{AD74B1BA-A63C-4CB9-AE11-E146A8A06C63}" srcOrd="3" destOrd="0" parTransId="{B24FE63C-5C6F-4649-9F2C-DF7BE030ACFF}" sibTransId="{44A7CE50-7658-4325-8EAA-96EAA6109A7E}"/>
    <dgm:cxn modelId="{F836F871-A7E0-405B-A7AF-87F4CB7BC1D8}" type="presParOf" srcId="{305AD105-555D-4E26-A688-5E9A48D2C7F1}" destId="{AA71B4D7-1DFB-4987-8A28-B7EA10576515}" srcOrd="0" destOrd="0" presId="urn:microsoft.com/office/officeart/2005/8/layout/process4"/>
    <dgm:cxn modelId="{7FF67274-DEB6-4223-966C-DE94BB2D4E08}" type="presParOf" srcId="{AA71B4D7-1DFB-4987-8A28-B7EA10576515}" destId="{DF1D754C-39DF-4A02-816B-85D36B0C4E9B}" srcOrd="0" destOrd="0" presId="urn:microsoft.com/office/officeart/2005/8/layout/process4"/>
    <dgm:cxn modelId="{BBAB038E-829B-46D4-8B80-D52BC26E29AF}" type="presParOf" srcId="{305AD105-555D-4E26-A688-5E9A48D2C7F1}" destId="{65A464F8-D22B-4188-B2B9-B886B93EC843}" srcOrd="1" destOrd="0" presId="urn:microsoft.com/office/officeart/2005/8/layout/process4"/>
    <dgm:cxn modelId="{79418A91-56A5-4BCC-AB85-9491B39E5022}" type="presParOf" srcId="{305AD105-555D-4E26-A688-5E9A48D2C7F1}" destId="{5FF0C803-BC3A-4EA9-A56E-379F65C78093}" srcOrd="2" destOrd="0" presId="urn:microsoft.com/office/officeart/2005/8/layout/process4"/>
    <dgm:cxn modelId="{E44E8579-F1D9-4C5B-97D2-3DA589A429CC}" type="presParOf" srcId="{5FF0C803-BC3A-4EA9-A56E-379F65C78093}" destId="{947DBDB6-911A-49C3-92BD-03E62F9A6CAD}" srcOrd="0" destOrd="0" presId="urn:microsoft.com/office/officeart/2005/8/layout/process4"/>
    <dgm:cxn modelId="{D2A27B7A-C99F-4679-B01B-6099E4186843}" type="presParOf" srcId="{305AD105-555D-4E26-A688-5E9A48D2C7F1}" destId="{523A3A70-4FA6-4E4E-9B35-8DF753C69A41}" srcOrd="3" destOrd="0" presId="urn:microsoft.com/office/officeart/2005/8/layout/process4"/>
    <dgm:cxn modelId="{5A42E871-9D89-46AB-8D78-0E3D84CA83D2}" type="presParOf" srcId="{305AD105-555D-4E26-A688-5E9A48D2C7F1}" destId="{02391BF2-DC40-44CE-B9DF-FECBCA290DCC}" srcOrd="4" destOrd="0" presId="urn:microsoft.com/office/officeart/2005/8/layout/process4"/>
    <dgm:cxn modelId="{DCCEE8F0-F819-4993-895E-3B3B15117A45}" type="presParOf" srcId="{02391BF2-DC40-44CE-B9DF-FECBCA290DCC}" destId="{FE951571-F342-44C9-8948-815E6E4F10D3}" srcOrd="0" destOrd="0" presId="urn:microsoft.com/office/officeart/2005/8/layout/process4"/>
    <dgm:cxn modelId="{A81DC619-636C-4B72-AD72-0BE526F258F1}" type="presParOf" srcId="{305AD105-555D-4E26-A688-5E9A48D2C7F1}" destId="{F498467C-8B65-41FF-B8C9-16F959EEF839}" srcOrd="5" destOrd="0" presId="urn:microsoft.com/office/officeart/2005/8/layout/process4"/>
    <dgm:cxn modelId="{A69885CE-121D-4511-B47B-54ECBA91C92B}" type="presParOf" srcId="{305AD105-555D-4E26-A688-5E9A48D2C7F1}" destId="{3E4B1C69-069F-4964-B619-DE74E576CD96}" srcOrd="6" destOrd="0" presId="urn:microsoft.com/office/officeart/2005/8/layout/process4"/>
    <dgm:cxn modelId="{A172DA34-D67E-45E7-A123-6BA278246B2F}" type="presParOf" srcId="{3E4B1C69-069F-4964-B619-DE74E576CD96}" destId="{7A7DAE9D-F27E-4F70-8188-3B3FFF9213F3}" srcOrd="0" destOrd="0" presId="urn:microsoft.com/office/officeart/2005/8/layout/process4"/>
    <dgm:cxn modelId="{F09623D7-1B1E-454E-A1AF-37837F61DDF6}" type="presParOf" srcId="{305AD105-555D-4E26-A688-5E9A48D2C7F1}" destId="{4E073618-FDEE-469A-87F8-536353E38683}" srcOrd="7" destOrd="0" presId="urn:microsoft.com/office/officeart/2005/8/layout/process4"/>
    <dgm:cxn modelId="{DDF849AE-B58F-40FA-9617-AB3BCD5AEA99}" type="presParOf" srcId="{305AD105-555D-4E26-A688-5E9A48D2C7F1}" destId="{FF1663A1-1455-42D3-AB94-5DEA33B27FEE}" srcOrd="8" destOrd="0" presId="urn:microsoft.com/office/officeart/2005/8/layout/process4"/>
    <dgm:cxn modelId="{4FAAA6AE-A372-49F1-A863-7E3F4815365B}" type="presParOf" srcId="{FF1663A1-1455-42D3-AB94-5DEA33B27FEE}" destId="{55A441F5-BE79-4B32-ADDE-251BC806C29C}" srcOrd="0" destOrd="0" presId="urn:microsoft.com/office/officeart/2005/8/layout/process4"/>
    <dgm:cxn modelId="{EC665407-EA32-437C-AD52-F5F01D66E52B}" type="presParOf" srcId="{305AD105-555D-4E26-A688-5E9A48D2C7F1}" destId="{820E5000-A582-4CC8-B7C1-8AA18C637715}" srcOrd="9" destOrd="0" presId="urn:microsoft.com/office/officeart/2005/8/layout/process4"/>
    <dgm:cxn modelId="{1D4C6A3D-034F-4AC5-82CB-0972503C3A32}" type="presParOf" srcId="{305AD105-555D-4E26-A688-5E9A48D2C7F1}" destId="{B79513FB-F4A4-4DFD-9E81-23D72AD45646}" srcOrd="10" destOrd="0" presId="urn:microsoft.com/office/officeart/2005/8/layout/process4"/>
    <dgm:cxn modelId="{C7C38319-5ACD-43F1-B719-028EF81885DD}" type="presParOf" srcId="{B79513FB-F4A4-4DFD-9E81-23D72AD45646}" destId="{B1354B4D-02B4-4B92-9439-51172E67F150}" srcOrd="0" destOrd="0" presId="urn:microsoft.com/office/officeart/2005/8/layout/process4"/>
    <dgm:cxn modelId="{59055A43-258E-41A4-8DAE-7120D5F5D1B2}" type="presParOf" srcId="{305AD105-555D-4E26-A688-5E9A48D2C7F1}" destId="{06D427E1-0FFE-4023-B5BC-08209DF64BF4}" srcOrd="11" destOrd="0" presId="urn:microsoft.com/office/officeart/2005/8/layout/process4"/>
    <dgm:cxn modelId="{AF230567-2051-4C69-A4BA-0DE947333076}" type="presParOf" srcId="{305AD105-555D-4E26-A688-5E9A48D2C7F1}" destId="{1A9B92B3-B699-445C-A41B-57EDCE9AEC0B}" srcOrd="12" destOrd="0" presId="urn:microsoft.com/office/officeart/2005/8/layout/process4"/>
    <dgm:cxn modelId="{56589E18-383C-4637-A5C3-58C0958CED9F}" type="presParOf" srcId="{1A9B92B3-B699-445C-A41B-57EDCE9AEC0B}" destId="{3A2EBE11-44AF-4783-A059-C8DE18B01845}" srcOrd="0" destOrd="0" presId="urn:microsoft.com/office/officeart/2005/8/layout/process4"/>
  </dgm:cxnLst>
  <dgm:bg>
    <a:noFill/>
  </dgm:bg>
  <dgm:whole>
    <a:ln>
      <a:solidFill>
        <a:schemeClr val="tx1"/>
      </a:solidFill>
    </a:ln>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1D754C-39DF-4A02-816B-85D36B0C4E9B}">
      <dsp:nvSpPr>
        <dsp:cNvPr id="0" name=""/>
        <dsp:cNvSpPr/>
      </dsp:nvSpPr>
      <dsp:spPr>
        <a:xfrm>
          <a:off x="0" y="4120912"/>
          <a:ext cx="8229600" cy="450949"/>
        </a:xfrm>
        <a:prstGeom prst="rect">
          <a:avLst/>
        </a:prstGeom>
        <a:solidFill>
          <a:srgbClr val="FFC000"/>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n-US" sz="2200" b="1" kern="1200" dirty="0"/>
            <a:t>7. Select supplier and reach agreement</a:t>
          </a:r>
        </a:p>
      </dsp:txBody>
      <dsp:txXfrm>
        <a:off x="0" y="4120912"/>
        <a:ext cx="8229600" cy="450949"/>
      </dsp:txXfrm>
    </dsp:sp>
    <dsp:sp modelId="{947DBDB6-911A-49C3-92BD-03E62F9A6CAD}">
      <dsp:nvSpPr>
        <dsp:cNvPr id="0" name=""/>
        <dsp:cNvSpPr/>
      </dsp:nvSpPr>
      <dsp:spPr>
        <a:xfrm rot="10800000">
          <a:off x="0" y="3434116"/>
          <a:ext cx="8229600" cy="693559"/>
        </a:xfrm>
        <a:prstGeom prst="upArrowCallout">
          <a:avLst/>
        </a:prstGeom>
        <a:solidFill>
          <a:srgbClr val="FFC000"/>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n-US" sz="2200" b="1" kern="1200" dirty="0"/>
            <a:t>6. Determine method of supplier evaluation and selection</a:t>
          </a:r>
        </a:p>
      </dsp:txBody>
      <dsp:txXfrm rot="10800000">
        <a:off x="0" y="3434116"/>
        <a:ext cx="8229600" cy="450654"/>
      </dsp:txXfrm>
    </dsp:sp>
    <dsp:sp modelId="{FE951571-F342-44C9-8948-815E6E4F10D3}">
      <dsp:nvSpPr>
        <dsp:cNvPr id="0" name=""/>
        <dsp:cNvSpPr/>
      </dsp:nvSpPr>
      <dsp:spPr>
        <a:xfrm rot="10800000">
          <a:off x="0" y="2747321"/>
          <a:ext cx="8229600" cy="693559"/>
        </a:xfrm>
        <a:prstGeom prst="upArrowCallout">
          <a:avLst/>
        </a:prstGeom>
        <a:solidFill>
          <a:srgbClr val="FFC000"/>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n-US" sz="2200" b="1" kern="1200" dirty="0"/>
            <a:t>5. Limit suppliers in selection pool</a:t>
          </a:r>
        </a:p>
      </dsp:txBody>
      <dsp:txXfrm rot="10800000">
        <a:off x="0" y="2747321"/>
        <a:ext cx="8229600" cy="450654"/>
      </dsp:txXfrm>
    </dsp:sp>
    <dsp:sp modelId="{7A7DAE9D-F27E-4F70-8188-3B3FFF9213F3}">
      <dsp:nvSpPr>
        <dsp:cNvPr id="0" name=""/>
        <dsp:cNvSpPr/>
      </dsp:nvSpPr>
      <dsp:spPr>
        <a:xfrm rot="10800000">
          <a:off x="0" y="2060525"/>
          <a:ext cx="8229600" cy="693559"/>
        </a:xfrm>
        <a:prstGeom prst="upArrowCallout">
          <a:avLst/>
        </a:prstGeom>
        <a:solidFill>
          <a:srgbClr val="FFC000"/>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n-US" sz="2200" b="1" kern="1200" dirty="0"/>
            <a:t>4. Identify potential supply sources</a:t>
          </a:r>
        </a:p>
      </dsp:txBody>
      <dsp:txXfrm rot="10800000">
        <a:off x="0" y="2060525"/>
        <a:ext cx="8229600" cy="450654"/>
      </dsp:txXfrm>
    </dsp:sp>
    <dsp:sp modelId="{55A441F5-BE79-4B32-ADDE-251BC806C29C}">
      <dsp:nvSpPr>
        <dsp:cNvPr id="0" name=""/>
        <dsp:cNvSpPr/>
      </dsp:nvSpPr>
      <dsp:spPr>
        <a:xfrm rot="10800000">
          <a:off x="0" y="1373729"/>
          <a:ext cx="8229600" cy="693559"/>
        </a:xfrm>
        <a:prstGeom prst="upArrowCallout">
          <a:avLst/>
        </a:prstGeom>
        <a:solidFill>
          <a:srgbClr val="FFC000"/>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n-US" sz="2200" b="1" kern="1200" dirty="0"/>
            <a:t>3. Determine sourcing strategy</a:t>
          </a:r>
        </a:p>
      </dsp:txBody>
      <dsp:txXfrm rot="10800000">
        <a:off x="0" y="1373729"/>
        <a:ext cx="8229600" cy="450654"/>
      </dsp:txXfrm>
    </dsp:sp>
    <dsp:sp modelId="{B1354B4D-02B4-4B92-9439-51172E67F150}">
      <dsp:nvSpPr>
        <dsp:cNvPr id="0" name=""/>
        <dsp:cNvSpPr/>
      </dsp:nvSpPr>
      <dsp:spPr>
        <a:xfrm rot="10800000">
          <a:off x="0" y="686934"/>
          <a:ext cx="8229600" cy="693559"/>
        </a:xfrm>
        <a:prstGeom prst="upArrowCallout">
          <a:avLst/>
        </a:prstGeom>
        <a:solidFill>
          <a:srgbClr val="FFC000"/>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n-US" sz="2200" b="1" kern="1200" dirty="0"/>
            <a:t>2. Identify key sourcing requirements</a:t>
          </a:r>
        </a:p>
      </dsp:txBody>
      <dsp:txXfrm rot="10800000">
        <a:off x="0" y="686934"/>
        <a:ext cx="8229600" cy="450654"/>
      </dsp:txXfrm>
    </dsp:sp>
    <dsp:sp modelId="{3A2EBE11-44AF-4783-A059-C8DE18B01845}">
      <dsp:nvSpPr>
        <dsp:cNvPr id="0" name=""/>
        <dsp:cNvSpPr/>
      </dsp:nvSpPr>
      <dsp:spPr>
        <a:xfrm rot="10800000">
          <a:off x="0" y="138"/>
          <a:ext cx="8229600" cy="693559"/>
        </a:xfrm>
        <a:prstGeom prst="upArrowCallout">
          <a:avLst/>
        </a:prstGeom>
        <a:solidFill>
          <a:srgbClr val="FFC000"/>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n-US" sz="2200" b="1" kern="1200" dirty="0"/>
            <a:t>1. Recognize the need for supplier selection</a:t>
          </a:r>
        </a:p>
      </dsp:txBody>
      <dsp:txXfrm rot="10800000">
        <a:off x="0" y="138"/>
        <a:ext cx="8229600" cy="450654"/>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7">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4A4C2D5-D1AB-4B3E-A522-51B85874ED79}"/>
              </a:ext>
            </a:extLst>
          </p:cNvPr>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atin typeface="Arial" charset="0"/>
              </a:defRPr>
            </a:lvl1pPr>
          </a:lstStyle>
          <a:p>
            <a:pPr>
              <a:defRPr/>
            </a:pPr>
            <a:endParaRPr lang="en-US"/>
          </a:p>
        </p:txBody>
      </p:sp>
      <p:sp>
        <p:nvSpPr>
          <p:cNvPr id="3" name="Date Placeholder 2">
            <a:extLst>
              <a:ext uri="{FF2B5EF4-FFF2-40B4-BE49-F238E27FC236}">
                <a16:creationId xmlns:a16="http://schemas.microsoft.com/office/drawing/2014/main" id="{4BFC5BD7-98B6-4137-AEA2-D3015856E0AE}"/>
              </a:ext>
            </a:extLst>
          </p:cNvPr>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atin typeface="Arial" charset="0"/>
              </a:defRPr>
            </a:lvl1pPr>
          </a:lstStyle>
          <a:p>
            <a:pPr>
              <a:defRPr/>
            </a:pPr>
            <a:fld id="{806188AE-8589-4657-89D7-E59CF6D0FC6A}" type="datetimeFigureOut">
              <a:rPr lang="en-US"/>
              <a:pPr>
                <a:defRPr/>
              </a:pPr>
              <a:t>1/24/2026</a:t>
            </a:fld>
            <a:endParaRPr lang="en-US"/>
          </a:p>
        </p:txBody>
      </p:sp>
      <p:sp>
        <p:nvSpPr>
          <p:cNvPr id="4" name="Footer Placeholder 3">
            <a:extLst>
              <a:ext uri="{FF2B5EF4-FFF2-40B4-BE49-F238E27FC236}">
                <a16:creationId xmlns:a16="http://schemas.microsoft.com/office/drawing/2014/main" id="{030202E4-9891-4076-AC94-157945AABD7C}"/>
              </a:ext>
            </a:extLst>
          </p:cNvPr>
          <p:cNvSpPr>
            <a:spLocks noGrp="1"/>
          </p:cNvSpPr>
          <p:nvPr>
            <p:ph type="ftr" sz="quarter" idx="2"/>
          </p:nvPr>
        </p:nvSpPr>
        <p:spPr>
          <a:xfrm>
            <a:off x="0" y="8829675"/>
            <a:ext cx="3038475" cy="465138"/>
          </a:xfrm>
          <a:prstGeom prst="rect">
            <a:avLst/>
          </a:prstGeom>
        </p:spPr>
        <p:txBody>
          <a:bodyPr vert="horz" lIns="91440" tIns="45720" rIns="91440" bIns="45720" rtlCol="0" anchor="b"/>
          <a:lstStyle>
            <a:lvl1pPr algn="l">
              <a:defRPr sz="1200">
                <a:latin typeface="Arial" charset="0"/>
              </a:defRPr>
            </a:lvl1pPr>
          </a:lstStyle>
          <a:p>
            <a:pPr>
              <a:defRPr/>
            </a:pPr>
            <a:endParaRPr lang="en-US"/>
          </a:p>
        </p:txBody>
      </p:sp>
      <p:sp>
        <p:nvSpPr>
          <p:cNvPr id="5" name="Slide Number Placeholder 4">
            <a:extLst>
              <a:ext uri="{FF2B5EF4-FFF2-40B4-BE49-F238E27FC236}">
                <a16:creationId xmlns:a16="http://schemas.microsoft.com/office/drawing/2014/main" id="{5F63F66E-60EE-4A12-AC53-3E6CB8205164}"/>
              </a:ext>
            </a:extLst>
          </p:cNvPr>
          <p:cNvSpPr>
            <a:spLocks noGrp="1"/>
          </p:cNvSpPr>
          <p:nvPr>
            <p:ph type="sldNum" sz="quarter" idx="3"/>
          </p:nvPr>
        </p:nvSpPr>
        <p:spPr>
          <a:xfrm>
            <a:off x="3970338" y="8829675"/>
            <a:ext cx="3038475" cy="465138"/>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978A26CE-FF76-47FA-BAED-DD5341A10D3D}" type="slidenum">
              <a:rPr lang="en-US" altLang="LID4096"/>
              <a:pPr/>
              <a:t>‹#›</a:t>
            </a:fld>
            <a:endParaRPr lang="en-US" altLang="LID4096"/>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2E132ACE-67EB-4459-B88A-24E12CB08645}"/>
              </a:ext>
            </a:extLst>
          </p:cNvPr>
          <p:cNvSpPr>
            <a:spLocks noGrp="1" noChangeArrowheads="1"/>
          </p:cNvSpPr>
          <p:nvPr>
            <p:ph type="hdr" sz="quarter"/>
          </p:nvPr>
        </p:nvSpPr>
        <p:spPr bwMode="auto">
          <a:xfrm>
            <a:off x="0" y="0"/>
            <a:ext cx="3038475"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en-US"/>
          </a:p>
        </p:txBody>
      </p:sp>
      <p:sp>
        <p:nvSpPr>
          <p:cNvPr id="4099" name="Rectangle 3">
            <a:extLst>
              <a:ext uri="{FF2B5EF4-FFF2-40B4-BE49-F238E27FC236}">
                <a16:creationId xmlns:a16="http://schemas.microsoft.com/office/drawing/2014/main" id="{4C78E77E-4C45-4667-AF19-A2C8FED20165}"/>
              </a:ext>
            </a:extLst>
          </p:cNvPr>
          <p:cNvSpPr>
            <a:spLocks noGrp="1" noChangeArrowheads="1"/>
          </p:cNvSpPr>
          <p:nvPr>
            <p:ph type="dt" idx="1"/>
          </p:nvPr>
        </p:nvSpPr>
        <p:spPr bwMode="auto">
          <a:xfrm>
            <a:off x="3970338" y="0"/>
            <a:ext cx="3038475"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US"/>
          </a:p>
        </p:txBody>
      </p:sp>
      <p:sp>
        <p:nvSpPr>
          <p:cNvPr id="13316" name="Rectangle 4">
            <a:extLst>
              <a:ext uri="{FF2B5EF4-FFF2-40B4-BE49-F238E27FC236}">
                <a16:creationId xmlns:a16="http://schemas.microsoft.com/office/drawing/2014/main" id="{FF496CC7-7137-4FA2-8EF0-90E5ED56421A}"/>
              </a:ext>
            </a:extLst>
          </p:cNvPr>
          <p:cNvSpPr>
            <a:spLocks noGrp="1" noRot="1" noChangeAspect="1" noChangeArrowheads="1" noTextEdit="1"/>
          </p:cNvSpPr>
          <p:nvPr>
            <p:ph type="sldImg" idx="2"/>
          </p:nvPr>
        </p:nvSpPr>
        <p:spPr bwMode="auto">
          <a:xfrm>
            <a:off x="1181100" y="696913"/>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BD0CF7E5-A90C-42AF-BE0A-DCFE39ECF41F}"/>
              </a:ext>
            </a:extLst>
          </p:cNvPr>
          <p:cNvSpPr>
            <a:spLocks noGrp="1" noChangeArrowheads="1"/>
          </p:cNvSpPr>
          <p:nvPr>
            <p:ph type="body" sz="quarter" idx="3"/>
          </p:nvPr>
        </p:nvSpPr>
        <p:spPr bwMode="auto">
          <a:xfrm>
            <a:off x="701675" y="4416425"/>
            <a:ext cx="5607050" cy="41830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a:extLst>
              <a:ext uri="{FF2B5EF4-FFF2-40B4-BE49-F238E27FC236}">
                <a16:creationId xmlns:a16="http://schemas.microsoft.com/office/drawing/2014/main" id="{ECB1226F-F7E4-4FFB-A968-6A6F985AC4F1}"/>
              </a:ext>
            </a:extLst>
          </p:cNvPr>
          <p:cNvSpPr>
            <a:spLocks noGrp="1" noChangeArrowheads="1"/>
          </p:cNvSpPr>
          <p:nvPr>
            <p:ph type="ftr" sz="quarter" idx="4"/>
          </p:nvPr>
        </p:nvSpPr>
        <p:spPr bwMode="auto">
          <a:xfrm>
            <a:off x="0" y="8829675"/>
            <a:ext cx="3038475" cy="4651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en-US"/>
          </a:p>
        </p:txBody>
      </p:sp>
      <p:sp>
        <p:nvSpPr>
          <p:cNvPr id="4103" name="Rectangle 7">
            <a:extLst>
              <a:ext uri="{FF2B5EF4-FFF2-40B4-BE49-F238E27FC236}">
                <a16:creationId xmlns:a16="http://schemas.microsoft.com/office/drawing/2014/main" id="{25F5BBFF-F19C-44EC-BC35-A55922A0BAEB}"/>
              </a:ext>
            </a:extLst>
          </p:cNvPr>
          <p:cNvSpPr>
            <a:spLocks noGrp="1" noChangeArrowheads="1"/>
          </p:cNvSpPr>
          <p:nvPr>
            <p:ph type="sldNum" sz="quarter" idx="5"/>
          </p:nvPr>
        </p:nvSpPr>
        <p:spPr bwMode="auto">
          <a:xfrm>
            <a:off x="3970338" y="8829675"/>
            <a:ext cx="3038475" cy="4651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C4998665-FCDA-46DA-823D-CEA0311BACC7}" type="slidenum">
              <a:rPr lang="en-US" altLang="LID4096"/>
              <a:pPr/>
              <a:t>‹#›</a:t>
            </a:fld>
            <a:endParaRPr lang="en-US" altLang="LID4096"/>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a:extLst>
              <a:ext uri="{FF2B5EF4-FFF2-40B4-BE49-F238E27FC236}">
                <a16:creationId xmlns:a16="http://schemas.microsoft.com/office/drawing/2014/main" id="{836FAFB6-ECBF-419D-9C58-6849A439F4A3}"/>
              </a:ext>
            </a:extLst>
          </p:cNvPr>
          <p:cNvSpPr>
            <a:spLocks noGrp="1" noRot="1" noChangeAspect="1" noTextEdit="1"/>
          </p:cNvSpPr>
          <p:nvPr>
            <p:ph type="sldImg"/>
          </p:nvPr>
        </p:nvSpPr>
        <p:spPr>
          <a:ln/>
        </p:spPr>
      </p:sp>
      <p:sp>
        <p:nvSpPr>
          <p:cNvPr id="16386" name="Notes Placeholder 2">
            <a:extLst>
              <a:ext uri="{FF2B5EF4-FFF2-40B4-BE49-F238E27FC236}">
                <a16:creationId xmlns:a16="http://schemas.microsoft.com/office/drawing/2014/main" id="{421FAB5B-3B64-47B2-A9BF-B6695AF7DED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ID4096" altLang="LID4096">
              <a:latin typeface="Arial" panose="020B0604020202020204" pitchFamily="34" charset="0"/>
            </a:endParaRPr>
          </a:p>
        </p:txBody>
      </p:sp>
      <p:sp>
        <p:nvSpPr>
          <p:cNvPr id="16387" name="Slide Number Placeholder 3">
            <a:extLst>
              <a:ext uri="{FF2B5EF4-FFF2-40B4-BE49-F238E27FC236}">
                <a16:creationId xmlns:a16="http://schemas.microsoft.com/office/drawing/2014/main" id="{6343443E-13B5-48B7-83F3-1151B4345A7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fld id="{2B5546EE-B01A-4DB0-94B5-A5A29E6A7AF8}" type="slidenum">
              <a:rPr lang="en-US" altLang="LID4096"/>
              <a:pPr/>
              <a:t>1</a:t>
            </a:fld>
            <a:endParaRPr lang="en-US" altLang="LID4096"/>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CFDFC308-F663-4577-8892-2A4C2E039DC6}"/>
              </a:ext>
            </a:extLst>
          </p:cNvPr>
          <p:cNvSpPr>
            <a:spLocks noGrp="1" noRot="1" noChangeAspect="1" noChangeArrowheads="1" noTextEdit="1"/>
          </p:cNvSpPr>
          <p:nvPr>
            <p:ph type="sldImg"/>
          </p:nvPr>
        </p:nvSpPr>
        <p:spPr>
          <a:ln/>
        </p:spPr>
      </p:sp>
      <p:sp>
        <p:nvSpPr>
          <p:cNvPr id="69635" name="Rectangle 3">
            <a:extLst>
              <a:ext uri="{FF2B5EF4-FFF2-40B4-BE49-F238E27FC236}">
                <a16:creationId xmlns:a16="http://schemas.microsoft.com/office/drawing/2014/main" id="{10331581-742B-4134-999A-D3D67558D9CA}"/>
              </a:ext>
            </a:extLst>
          </p:cNvPr>
          <p:cNvSpPr>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ID4096" altLang="LID4096">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21639EF6-3969-472D-8BCD-B20F79655D39}"/>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8F128D2B-913C-4323-9709-EA06E33E99E2}"/>
              </a:ext>
            </a:extLst>
          </p:cNvPr>
          <p:cNvSpPr>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ID4096" altLang="LID4096">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8AA672E0-9842-42D7-8DC1-355357904BF8}"/>
              </a:ext>
            </a:extLst>
          </p:cNvPr>
          <p:cNvSpPr>
            <a:spLocks noGrp="1" noRot="1" noChangeAspect="1" noChangeArrowheads="1" noTextEdit="1"/>
          </p:cNvSpPr>
          <p:nvPr>
            <p:ph type="sldImg"/>
          </p:nvPr>
        </p:nvSpPr>
        <p:spPr>
          <a:ln/>
        </p:spPr>
      </p:sp>
      <p:sp>
        <p:nvSpPr>
          <p:cNvPr id="71683" name="Rectangle 3">
            <a:extLst>
              <a:ext uri="{FF2B5EF4-FFF2-40B4-BE49-F238E27FC236}">
                <a16:creationId xmlns:a16="http://schemas.microsoft.com/office/drawing/2014/main" id="{F975A3FA-7E7D-451B-8B63-35664B83DEE8}"/>
              </a:ext>
            </a:extLst>
          </p:cNvPr>
          <p:cNvSpPr>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ID4096" altLang="LID4096">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73A22F68-ADD7-4D68-8A95-56A4049424B7}"/>
              </a:ext>
            </a:extLst>
          </p:cNvPr>
          <p:cNvSpPr>
            <a:spLocks noGrp="1" noRot="1" noChangeAspect="1" noChangeArrowheads="1" noTextEdit="1"/>
          </p:cNvSpPr>
          <p:nvPr>
            <p:ph type="sldImg"/>
          </p:nvPr>
        </p:nvSpPr>
        <p:spPr>
          <a:ln/>
        </p:spPr>
      </p:sp>
      <p:sp>
        <p:nvSpPr>
          <p:cNvPr id="72707" name="Rectangle 3">
            <a:extLst>
              <a:ext uri="{FF2B5EF4-FFF2-40B4-BE49-F238E27FC236}">
                <a16:creationId xmlns:a16="http://schemas.microsoft.com/office/drawing/2014/main" id="{656B38F6-35D1-48ED-BF0C-3A6FE396DFEE}"/>
              </a:ext>
            </a:extLst>
          </p:cNvPr>
          <p:cNvSpPr>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ID4096" altLang="LID4096">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191D4C7D-1EE0-4648-AB49-282D946CB4F8}"/>
              </a:ext>
            </a:extLst>
          </p:cNvPr>
          <p:cNvSpPr>
            <a:spLocks noGrp="1" noRot="1" noChangeAspect="1" noChangeArrowheads="1" noTextEdit="1"/>
          </p:cNvSpPr>
          <p:nvPr>
            <p:ph type="sldImg"/>
          </p:nvPr>
        </p:nvSpPr>
        <p:spPr>
          <a:ln/>
        </p:spPr>
      </p:sp>
      <p:sp>
        <p:nvSpPr>
          <p:cNvPr id="73731" name="Rectangle 3">
            <a:extLst>
              <a:ext uri="{FF2B5EF4-FFF2-40B4-BE49-F238E27FC236}">
                <a16:creationId xmlns:a16="http://schemas.microsoft.com/office/drawing/2014/main" id="{854AC262-E634-4E93-818A-8ABE5A3437D7}"/>
              </a:ext>
            </a:extLst>
          </p:cNvPr>
          <p:cNvSpPr>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ID4096" altLang="LID4096">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3D67EC2D-1D46-40B6-905D-3526F41FCAF8}"/>
              </a:ext>
            </a:extLst>
          </p:cNvPr>
          <p:cNvSpPr>
            <a:spLocks noGrp="1" noRot="1" noChangeAspect="1" noChangeArrowheads="1" noTextEdit="1"/>
          </p:cNvSpPr>
          <p:nvPr>
            <p:ph type="sldImg"/>
          </p:nvPr>
        </p:nvSpPr>
        <p:spPr>
          <a:ln/>
        </p:spPr>
      </p:sp>
      <p:sp>
        <p:nvSpPr>
          <p:cNvPr id="74755" name="Rectangle 3">
            <a:extLst>
              <a:ext uri="{FF2B5EF4-FFF2-40B4-BE49-F238E27FC236}">
                <a16:creationId xmlns:a16="http://schemas.microsoft.com/office/drawing/2014/main" id="{325370D2-E6CE-467A-99D3-09770B86A58A}"/>
              </a:ext>
            </a:extLst>
          </p:cNvPr>
          <p:cNvSpPr>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ID4096" altLang="LID4096">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CE7A4275-F06D-4D77-AF8B-51D9D0DE3163}"/>
              </a:ext>
            </a:extLst>
          </p:cNvPr>
          <p:cNvSpPr>
            <a:spLocks noGrp="1" noRot="1" noChangeAspect="1" noChangeArrowheads="1" noTextEdit="1"/>
          </p:cNvSpPr>
          <p:nvPr>
            <p:ph type="sldImg"/>
          </p:nvPr>
        </p:nvSpPr>
        <p:spPr>
          <a:ln/>
        </p:spPr>
      </p:sp>
      <p:sp>
        <p:nvSpPr>
          <p:cNvPr id="75779" name="Rectangle 3">
            <a:extLst>
              <a:ext uri="{FF2B5EF4-FFF2-40B4-BE49-F238E27FC236}">
                <a16:creationId xmlns:a16="http://schemas.microsoft.com/office/drawing/2014/main" id="{7159E937-E215-4C5E-B20E-BAAB7152859C}"/>
              </a:ext>
            </a:extLst>
          </p:cNvPr>
          <p:cNvSpPr>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ID4096" altLang="LID4096">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281B44C6-5DA6-43E7-BFF8-E293FBB209CF}"/>
              </a:ext>
            </a:extLst>
          </p:cNvPr>
          <p:cNvSpPr>
            <a:spLocks noGrp="1" noRot="1" noChangeAspect="1" noChangeArrowheads="1" noTextEdit="1"/>
          </p:cNvSpPr>
          <p:nvPr>
            <p:ph type="sldImg"/>
          </p:nvPr>
        </p:nvSpPr>
        <p:spPr>
          <a:ln/>
        </p:spPr>
      </p:sp>
      <p:sp>
        <p:nvSpPr>
          <p:cNvPr id="76803" name="Rectangle 3">
            <a:extLst>
              <a:ext uri="{FF2B5EF4-FFF2-40B4-BE49-F238E27FC236}">
                <a16:creationId xmlns:a16="http://schemas.microsoft.com/office/drawing/2014/main" id="{F473C376-FE83-49B2-AC7F-55375576B14E}"/>
              </a:ext>
            </a:extLst>
          </p:cNvPr>
          <p:cNvSpPr>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ID4096" altLang="LID4096">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D3E72E71-746D-4B0F-A0C9-EB00D12F5FE6}"/>
              </a:ext>
            </a:extLst>
          </p:cNvPr>
          <p:cNvSpPr>
            <a:spLocks noGrp="1" noRot="1" noChangeAspect="1" noChangeArrowheads="1" noTextEdit="1"/>
          </p:cNvSpPr>
          <p:nvPr>
            <p:ph type="sldImg"/>
          </p:nvPr>
        </p:nvSpPr>
        <p:spPr>
          <a:ln/>
        </p:spPr>
      </p:sp>
      <p:sp>
        <p:nvSpPr>
          <p:cNvPr id="77827" name="Rectangle 3">
            <a:extLst>
              <a:ext uri="{FF2B5EF4-FFF2-40B4-BE49-F238E27FC236}">
                <a16:creationId xmlns:a16="http://schemas.microsoft.com/office/drawing/2014/main" id="{83B9AA2F-17AE-4135-8BA2-900A9C6294CE}"/>
              </a:ext>
            </a:extLst>
          </p:cNvPr>
          <p:cNvSpPr>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ID4096" altLang="LID4096">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3431C9F3-885C-4350-894C-D46E8257DBC6}"/>
              </a:ext>
            </a:extLst>
          </p:cNvPr>
          <p:cNvSpPr>
            <a:spLocks noGrp="1" noRot="1" noChangeAspect="1" noChangeArrowheads="1" noTextEdit="1"/>
          </p:cNvSpPr>
          <p:nvPr>
            <p:ph type="sldImg"/>
          </p:nvPr>
        </p:nvSpPr>
        <p:spPr>
          <a:ln/>
        </p:spPr>
      </p:sp>
      <p:sp>
        <p:nvSpPr>
          <p:cNvPr id="78851" name="Rectangle 3">
            <a:extLst>
              <a:ext uri="{FF2B5EF4-FFF2-40B4-BE49-F238E27FC236}">
                <a16:creationId xmlns:a16="http://schemas.microsoft.com/office/drawing/2014/main" id="{D3446685-AFF0-459B-BD69-FFECF2F14BC4}"/>
              </a:ext>
            </a:extLst>
          </p:cNvPr>
          <p:cNvSpPr>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ID4096" altLang="LID4096">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A1535075-8AB2-4B80-8BB6-F8919F585136}"/>
              </a:ext>
            </a:extLst>
          </p:cNvPr>
          <p:cNvSpPr>
            <a:spLocks noGrp="1" noRot="1" noChangeAspect="1" noChangeArrowheads="1" noTextEdit="1"/>
          </p:cNvSpPr>
          <p:nvPr>
            <p:ph type="sldImg"/>
          </p:nvPr>
        </p:nvSpPr>
        <p:spPr>
          <a:ln/>
        </p:spPr>
      </p:sp>
      <p:sp>
        <p:nvSpPr>
          <p:cNvPr id="79875" name="Rectangle 3">
            <a:extLst>
              <a:ext uri="{FF2B5EF4-FFF2-40B4-BE49-F238E27FC236}">
                <a16:creationId xmlns:a16="http://schemas.microsoft.com/office/drawing/2014/main" id="{EAFFA851-1478-4199-9D95-D4665DD1B8EF}"/>
              </a:ext>
            </a:extLst>
          </p:cNvPr>
          <p:cNvSpPr>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ID4096" altLang="LID4096">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4FAB39C7-A7B6-446E-88AE-9A0A6B1ABB4E}"/>
              </a:ext>
            </a:extLst>
          </p:cNvPr>
          <p:cNvSpPr>
            <a:spLocks noGrp="1" noRot="1" noChangeAspect="1" noChangeArrowheads="1" noTextEdit="1"/>
          </p:cNvSpPr>
          <p:nvPr>
            <p:ph type="sldImg"/>
          </p:nvPr>
        </p:nvSpPr>
        <p:spPr>
          <a:ln/>
        </p:spPr>
      </p:sp>
      <p:sp>
        <p:nvSpPr>
          <p:cNvPr id="80899" name="Rectangle 3">
            <a:extLst>
              <a:ext uri="{FF2B5EF4-FFF2-40B4-BE49-F238E27FC236}">
                <a16:creationId xmlns:a16="http://schemas.microsoft.com/office/drawing/2014/main" id="{1804659E-5071-49A2-AA6D-99257D822DC5}"/>
              </a:ext>
            </a:extLst>
          </p:cNvPr>
          <p:cNvSpPr>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ID4096" altLang="LID4096">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BB29F382-9631-4401-B937-30E5B4A8ECEC}"/>
              </a:ext>
            </a:extLst>
          </p:cNvPr>
          <p:cNvSpPr>
            <a:spLocks noGrp="1" noRot="1" noChangeAspect="1" noChangeArrowheads="1" noTextEdit="1"/>
          </p:cNvSpPr>
          <p:nvPr>
            <p:ph type="sldImg"/>
          </p:nvPr>
        </p:nvSpPr>
        <p:spPr>
          <a:ln/>
        </p:spPr>
      </p:sp>
      <p:sp>
        <p:nvSpPr>
          <p:cNvPr id="81923" name="Rectangle 3">
            <a:extLst>
              <a:ext uri="{FF2B5EF4-FFF2-40B4-BE49-F238E27FC236}">
                <a16:creationId xmlns:a16="http://schemas.microsoft.com/office/drawing/2014/main" id="{DDDD7620-BBFD-4A86-AC60-5CC04A046905}"/>
              </a:ext>
            </a:extLst>
          </p:cNvPr>
          <p:cNvSpPr>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ID4096" altLang="LID4096">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94042884-9CF1-48DB-8544-5547AF933F26}"/>
              </a:ext>
            </a:extLst>
          </p:cNvPr>
          <p:cNvSpPr>
            <a:spLocks noGrp="1" noRot="1" noChangeAspect="1" noChangeArrowheads="1" noTextEdit="1"/>
          </p:cNvSpPr>
          <p:nvPr>
            <p:ph type="sldImg"/>
          </p:nvPr>
        </p:nvSpPr>
        <p:spPr>
          <a:ln/>
        </p:spPr>
      </p:sp>
      <p:sp>
        <p:nvSpPr>
          <p:cNvPr id="82947" name="Rectangle 3">
            <a:extLst>
              <a:ext uri="{FF2B5EF4-FFF2-40B4-BE49-F238E27FC236}">
                <a16:creationId xmlns:a16="http://schemas.microsoft.com/office/drawing/2014/main" id="{E6C1D7EE-9540-4CD2-ADF1-0393E6F07BA5}"/>
              </a:ext>
            </a:extLst>
          </p:cNvPr>
          <p:cNvSpPr>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ID4096" altLang="LID4096">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D0793DC8-C0E6-424F-9461-2DA88D4EF85E}"/>
              </a:ext>
            </a:extLst>
          </p:cNvPr>
          <p:cNvSpPr>
            <a:spLocks noGrp="1" noRot="1" noChangeAspect="1" noChangeArrowheads="1" noTextEdit="1"/>
          </p:cNvSpPr>
          <p:nvPr>
            <p:ph type="sldImg"/>
          </p:nvPr>
        </p:nvSpPr>
        <p:spPr>
          <a:ln/>
        </p:spPr>
      </p:sp>
      <p:sp>
        <p:nvSpPr>
          <p:cNvPr id="83971" name="Rectangle 3">
            <a:extLst>
              <a:ext uri="{FF2B5EF4-FFF2-40B4-BE49-F238E27FC236}">
                <a16:creationId xmlns:a16="http://schemas.microsoft.com/office/drawing/2014/main" id="{E7609F16-DB3E-4990-9FB5-AAA9FC4B929D}"/>
              </a:ext>
            </a:extLst>
          </p:cNvPr>
          <p:cNvSpPr>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ID4096" altLang="LID4096">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47778CAC-5DE7-4F25-82FB-E9C8A6252048}"/>
              </a:ext>
            </a:extLst>
          </p:cNvPr>
          <p:cNvSpPr>
            <a:spLocks noGrp="1" noRot="1" noChangeAspect="1" noChangeArrowheads="1" noTextEdit="1"/>
          </p:cNvSpPr>
          <p:nvPr>
            <p:ph type="sldImg"/>
          </p:nvPr>
        </p:nvSpPr>
        <p:spPr>
          <a:ln/>
        </p:spPr>
      </p:sp>
      <p:sp>
        <p:nvSpPr>
          <p:cNvPr id="94211" name="Rectangle 3">
            <a:extLst>
              <a:ext uri="{FF2B5EF4-FFF2-40B4-BE49-F238E27FC236}">
                <a16:creationId xmlns:a16="http://schemas.microsoft.com/office/drawing/2014/main" id="{E7DC9DBB-D3BF-4891-911A-6B64559749B7}"/>
              </a:ext>
            </a:extLst>
          </p:cNvPr>
          <p:cNvSpPr>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ID4096" altLang="LID4096">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58C71D76-18E1-44EE-8C55-A44D1E6E913D}"/>
              </a:ext>
            </a:extLst>
          </p:cNvPr>
          <p:cNvSpPr>
            <a:spLocks noGrp="1" noRot="1" noChangeAspect="1" noChangeArrowheads="1" noTextEdit="1"/>
          </p:cNvSpPr>
          <p:nvPr>
            <p:ph type="sldImg"/>
          </p:nvPr>
        </p:nvSpPr>
        <p:spPr>
          <a:ln/>
        </p:spPr>
      </p:sp>
      <p:sp>
        <p:nvSpPr>
          <p:cNvPr id="84995" name="Rectangle 3">
            <a:extLst>
              <a:ext uri="{FF2B5EF4-FFF2-40B4-BE49-F238E27FC236}">
                <a16:creationId xmlns:a16="http://schemas.microsoft.com/office/drawing/2014/main" id="{B893FB86-33DA-45D2-AC65-4ED07FF9300B}"/>
              </a:ext>
            </a:extLst>
          </p:cNvPr>
          <p:cNvSpPr>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ID4096" altLang="LID4096">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D440A371-C994-4B34-9EFB-23D8FA2F2D1F}"/>
              </a:ext>
            </a:extLst>
          </p:cNvPr>
          <p:cNvSpPr>
            <a:spLocks noGrp="1" noRot="1" noChangeAspect="1" noChangeArrowheads="1" noTextEdit="1"/>
          </p:cNvSpPr>
          <p:nvPr>
            <p:ph type="sldImg"/>
          </p:nvPr>
        </p:nvSpPr>
        <p:spPr>
          <a:ln/>
        </p:spPr>
      </p:sp>
      <p:sp>
        <p:nvSpPr>
          <p:cNvPr id="86019" name="Rectangle 3">
            <a:extLst>
              <a:ext uri="{FF2B5EF4-FFF2-40B4-BE49-F238E27FC236}">
                <a16:creationId xmlns:a16="http://schemas.microsoft.com/office/drawing/2014/main" id="{38127B7C-A955-4EA4-8174-6A9A6F22DEF7}"/>
              </a:ext>
            </a:extLst>
          </p:cNvPr>
          <p:cNvSpPr>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ID4096" altLang="LID4096">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464B43A6-0A00-4118-A046-508E58F55F5C}"/>
              </a:ext>
            </a:extLst>
          </p:cNvPr>
          <p:cNvSpPr>
            <a:spLocks noGrp="1" noRot="1" noChangeAspect="1" noChangeArrowheads="1" noTextEdit="1"/>
          </p:cNvSpPr>
          <p:nvPr>
            <p:ph type="sldImg"/>
          </p:nvPr>
        </p:nvSpPr>
        <p:spPr>
          <a:ln/>
        </p:spPr>
      </p:sp>
      <p:sp>
        <p:nvSpPr>
          <p:cNvPr id="88067" name="Rectangle 3">
            <a:extLst>
              <a:ext uri="{FF2B5EF4-FFF2-40B4-BE49-F238E27FC236}">
                <a16:creationId xmlns:a16="http://schemas.microsoft.com/office/drawing/2014/main" id="{227420FE-A9E0-4877-B725-873FA399EB7E}"/>
              </a:ext>
            </a:extLst>
          </p:cNvPr>
          <p:cNvSpPr>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ID4096" altLang="LID4096">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883B94A6-9759-42FB-9042-3C3C3B31AA34}"/>
              </a:ext>
            </a:extLst>
          </p:cNvPr>
          <p:cNvSpPr>
            <a:spLocks noGrp="1" noRot="1" noChangeAspect="1" noChangeArrowheads="1" noTextEdit="1"/>
          </p:cNvSpPr>
          <p:nvPr>
            <p:ph type="sldImg"/>
          </p:nvPr>
        </p:nvSpPr>
        <p:spPr>
          <a:ln/>
        </p:spPr>
      </p:sp>
      <p:sp>
        <p:nvSpPr>
          <p:cNvPr id="90115" name="Rectangle 3">
            <a:extLst>
              <a:ext uri="{FF2B5EF4-FFF2-40B4-BE49-F238E27FC236}">
                <a16:creationId xmlns:a16="http://schemas.microsoft.com/office/drawing/2014/main" id="{72C5C1F9-99B9-4542-9392-B611B28367C4}"/>
              </a:ext>
            </a:extLst>
          </p:cNvPr>
          <p:cNvSpPr>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ID4096" altLang="LID4096">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AAFCB225-E0DE-42A2-AA39-10C2131C0EB8}"/>
              </a:ext>
            </a:extLst>
          </p:cNvPr>
          <p:cNvSpPr>
            <a:spLocks noGrp="1" noRot="1" noChangeAspect="1" noChangeArrowheads="1" noTextEdit="1"/>
          </p:cNvSpPr>
          <p:nvPr>
            <p:ph type="sldImg"/>
          </p:nvPr>
        </p:nvSpPr>
        <p:spPr>
          <a:ln/>
        </p:spPr>
      </p:sp>
      <p:sp>
        <p:nvSpPr>
          <p:cNvPr id="91139" name="Rectangle 3">
            <a:extLst>
              <a:ext uri="{FF2B5EF4-FFF2-40B4-BE49-F238E27FC236}">
                <a16:creationId xmlns:a16="http://schemas.microsoft.com/office/drawing/2014/main" id="{AF908E03-43D8-4ED4-8D2B-8DD8BD274A07}"/>
              </a:ext>
            </a:extLst>
          </p:cNvPr>
          <p:cNvSpPr>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ID4096" altLang="LID4096">
              <a:latin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31F3B596-38F2-4146-89CD-01D731647693}"/>
              </a:ext>
            </a:extLst>
          </p:cNvPr>
          <p:cNvSpPr>
            <a:spLocks noGrp="1" noRot="1" noChangeAspect="1" noChangeArrowheads="1" noTextEdit="1"/>
          </p:cNvSpPr>
          <p:nvPr>
            <p:ph type="sldImg"/>
          </p:nvPr>
        </p:nvSpPr>
        <p:spPr>
          <a:ln/>
        </p:spPr>
      </p:sp>
      <p:sp>
        <p:nvSpPr>
          <p:cNvPr id="92163" name="Rectangle 3">
            <a:extLst>
              <a:ext uri="{FF2B5EF4-FFF2-40B4-BE49-F238E27FC236}">
                <a16:creationId xmlns:a16="http://schemas.microsoft.com/office/drawing/2014/main" id="{03214413-BEFA-42BF-BF7C-BF96C3AE8E79}"/>
              </a:ext>
            </a:extLst>
          </p:cNvPr>
          <p:cNvSpPr>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ID4096" altLang="LID4096">
              <a:latin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DF1CF641-B6AB-454C-BBFA-64A36055E70D}"/>
              </a:ext>
            </a:extLst>
          </p:cNvPr>
          <p:cNvSpPr>
            <a:spLocks noGrp="1" noRot="1" noChangeAspect="1" noChangeArrowheads="1" noTextEdit="1"/>
          </p:cNvSpPr>
          <p:nvPr>
            <p:ph type="sldImg"/>
          </p:nvPr>
        </p:nvSpPr>
        <p:spPr>
          <a:ln/>
        </p:spPr>
      </p:sp>
      <p:sp>
        <p:nvSpPr>
          <p:cNvPr id="93187" name="Rectangle 3">
            <a:extLst>
              <a:ext uri="{FF2B5EF4-FFF2-40B4-BE49-F238E27FC236}">
                <a16:creationId xmlns:a16="http://schemas.microsoft.com/office/drawing/2014/main" id="{2B512662-3B35-4008-AE02-AC8E95B4AEB7}"/>
              </a:ext>
            </a:extLst>
          </p:cNvPr>
          <p:cNvSpPr>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ID4096" altLang="LID4096">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E8843E85-E381-4157-B6E0-26F6FF70EC90}"/>
              </a:ext>
            </a:extLst>
          </p:cNvPr>
          <p:cNvSpPr>
            <a:spLocks noGrp="1" noRot="1" noChangeAspect="1" noChangeArrowheads="1" noTextEdit="1"/>
          </p:cNvSpPr>
          <p:nvPr>
            <p:ph type="sldImg"/>
          </p:nvPr>
        </p:nvSpPr>
        <p:spPr>
          <a:ln/>
        </p:spPr>
      </p:sp>
      <p:sp>
        <p:nvSpPr>
          <p:cNvPr id="97283" name="Rectangle 3">
            <a:extLst>
              <a:ext uri="{FF2B5EF4-FFF2-40B4-BE49-F238E27FC236}">
                <a16:creationId xmlns:a16="http://schemas.microsoft.com/office/drawing/2014/main" id="{E11CB2D2-2C0E-4A8D-9DE1-0C4751B2A010}"/>
              </a:ext>
            </a:extLst>
          </p:cNvPr>
          <p:cNvSpPr>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ID4096" altLang="LID4096">
              <a:latin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75D64E26-C097-4EAE-B9DF-5B688B960740}"/>
              </a:ext>
            </a:extLst>
          </p:cNvPr>
          <p:cNvSpPr>
            <a:spLocks noGrp="1" noRot="1" noChangeAspect="1" noChangeArrowheads="1" noTextEdit="1"/>
          </p:cNvSpPr>
          <p:nvPr>
            <p:ph type="sldImg"/>
          </p:nvPr>
        </p:nvSpPr>
        <p:spPr>
          <a:ln/>
        </p:spPr>
      </p:sp>
      <p:sp>
        <p:nvSpPr>
          <p:cNvPr id="98307" name="Rectangle 3">
            <a:extLst>
              <a:ext uri="{FF2B5EF4-FFF2-40B4-BE49-F238E27FC236}">
                <a16:creationId xmlns:a16="http://schemas.microsoft.com/office/drawing/2014/main" id="{7427F4B2-F1E4-49C0-B9A3-7FFC44432E1C}"/>
              </a:ext>
            </a:extLst>
          </p:cNvPr>
          <p:cNvSpPr>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ID4096" altLang="LID4096">
              <a:latin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8C97075A-C271-45F6-B119-40A7E9305AF9}"/>
              </a:ext>
            </a:extLst>
          </p:cNvPr>
          <p:cNvSpPr>
            <a:spLocks noGrp="1" noRot="1" noChangeAspect="1" noChangeArrowheads="1" noTextEdit="1"/>
          </p:cNvSpPr>
          <p:nvPr>
            <p:ph type="sldImg"/>
          </p:nvPr>
        </p:nvSpPr>
        <p:spPr>
          <a:ln/>
        </p:spPr>
      </p:sp>
      <p:sp>
        <p:nvSpPr>
          <p:cNvPr id="99331" name="Rectangle 3">
            <a:extLst>
              <a:ext uri="{FF2B5EF4-FFF2-40B4-BE49-F238E27FC236}">
                <a16:creationId xmlns:a16="http://schemas.microsoft.com/office/drawing/2014/main" id="{119AD55E-8F3F-45E6-9A94-8FBE37D5309B}"/>
              </a:ext>
            </a:extLst>
          </p:cNvPr>
          <p:cNvSpPr>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ID4096" altLang="LID4096">
              <a:latin typeface="Arial" panose="020B060402020202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0D578517-5426-4D23-9BA1-AE2CE6356803}"/>
              </a:ext>
            </a:extLst>
          </p:cNvPr>
          <p:cNvSpPr>
            <a:spLocks noGrp="1" noRot="1" noChangeAspect="1" noChangeArrowheads="1" noTextEdit="1"/>
          </p:cNvSpPr>
          <p:nvPr>
            <p:ph type="sldImg"/>
          </p:nvPr>
        </p:nvSpPr>
        <p:spPr>
          <a:ln/>
        </p:spPr>
      </p:sp>
      <p:sp>
        <p:nvSpPr>
          <p:cNvPr id="100355" name="Rectangle 3">
            <a:extLst>
              <a:ext uri="{FF2B5EF4-FFF2-40B4-BE49-F238E27FC236}">
                <a16:creationId xmlns:a16="http://schemas.microsoft.com/office/drawing/2014/main" id="{BF21467D-79E8-4033-9BC5-BAE69ADAEB71}"/>
              </a:ext>
            </a:extLst>
          </p:cNvPr>
          <p:cNvSpPr>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ID4096" altLang="LID4096">
              <a:latin typeface="Arial" panose="020B060402020202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8A6D44E0-E421-4731-844D-F57E04749FD1}"/>
              </a:ext>
            </a:extLst>
          </p:cNvPr>
          <p:cNvSpPr>
            <a:spLocks noGrp="1" noRot="1" noChangeAspect="1" noChangeArrowheads="1" noTextEdit="1"/>
          </p:cNvSpPr>
          <p:nvPr>
            <p:ph type="sldImg"/>
          </p:nvPr>
        </p:nvSpPr>
        <p:spPr>
          <a:ln/>
        </p:spPr>
      </p:sp>
      <p:sp>
        <p:nvSpPr>
          <p:cNvPr id="104451" name="Rectangle 3">
            <a:extLst>
              <a:ext uri="{FF2B5EF4-FFF2-40B4-BE49-F238E27FC236}">
                <a16:creationId xmlns:a16="http://schemas.microsoft.com/office/drawing/2014/main" id="{4522014F-7220-431A-856E-3F4FCFD2509C}"/>
              </a:ext>
            </a:extLst>
          </p:cNvPr>
          <p:cNvSpPr>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ID4096" altLang="LID4096">
              <a:latin typeface="Arial" panose="020B060402020202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A431561A-D512-4823-B868-106E2DA8A3F1}"/>
              </a:ext>
            </a:extLst>
          </p:cNvPr>
          <p:cNvSpPr>
            <a:spLocks noGrp="1" noRot="1" noChangeAspect="1" noChangeArrowheads="1" noTextEdit="1"/>
          </p:cNvSpPr>
          <p:nvPr>
            <p:ph type="sldImg"/>
          </p:nvPr>
        </p:nvSpPr>
        <p:spPr>
          <a:ln/>
        </p:spPr>
      </p:sp>
      <p:sp>
        <p:nvSpPr>
          <p:cNvPr id="108547" name="Rectangle 3">
            <a:extLst>
              <a:ext uri="{FF2B5EF4-FFF2-40B4-BE49-F238E27FC236}">
                <a16:creationId xmlns:a16="http://schemas.microsoft.com/office/drawing/2014/main" id="{ABE2C2B4-29BD-423A-8A16-BB2485D48EF7}"/>
              </a:ext>
            </a:extLst>
          </p:cNvPr>
          <p:cNvSpPr>
            <a:spLocks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LID4096" altLang="LID4096">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Text Box 7">
            <a:extLst>
              <a:ext uri="{FF2B5EF4-FFF2-40B4-BE49-F238E27FC236}">
                <a16:creationId xmlns:a16="http://schemas.microsoft.com/office/drawing/2014/main" id="{B2E0B7E0-A2C6-4A10-A7C6-2AF8156AE4A6}"/>
              </a:ext>
            </a:extLst>
          </p:cNvPr>
          <p:cNvSpPr txBox="1">
            <a:spLocks noChangeArrowheads="1"/>
          </p:cNvSpPr>
          <p:nvPr userDrawn="1"/>
        </p:nvSpPr>
        <p:spPr bwMode="auto">
          <a:xfrm>
            <a:off x="0" y="152400"/>
            <a:ext cx="9144000" cy="406400"/>
          </a:xfrm>
          <a:prstGeom prst="rect">
            <a:avLst/>
          </a:prstGeom>
          <a:solidFill>
            <a:srgbClr val="C0C0C0"/>
          </a:solidFill>
          <a:ln w="9525">
            <a:solidFill>
              <a:schemeClr val="tx1"/>
            </a:solidFill>
            <a:miter lim="800000"/>
            <a:headEnd/>
            <a:tailEnd/>
          </a:ln>
          <a:effectLst/>
        </p:spPr>
        <p:txBody>
          <a:bodyPr>
            <a:spAutoFit/>
          </a:bodyPr>
          <a:lstStyle/>
          <a:p>
            <a:pPr algn="ctr">
              <a:spcBef>
                <a:spcPct val="50000"/>
              </a:spcBef>
              <a:defRPr/>
            </a:pPr>
            <a:r>
              <a:rPr lang="en-US" sz="2000" b="1" dirty="0">
                <a:solidFill>
                  <a:srgbClr val="000066"/>
                </a:solidFill>
                <a:effectLst>
                  <a:outerShdw blurRad="38100" dist="38100" dir="2700000" algn="tl">
                    <a:srgbClr val="000000"/>
                  </a:outerShdw>
                </a:effectLst>
                <a:latin typeface="Copperplate Gothic Bold" pitchFamily="34" charset="0"/>
              </a:rPr>
              <a:t>PURCHASING &amp; SUPPLY CHAIN MANAGEMENT, 4e</a:t>
            </a:r>
          </a:p>
        </p:txBody>
      </p:sp>
      <p:pic>
        <p:nvPicPr>
          <p:cNvPr id="5" name="Picture 6" descr="P&amp;SCM 4e.jpg">
            <a:extLst>
              <a:ext uri="{FF2B5EF4-FFF2-40B4-BE49-F238E27FC236}">
                <a16:creationId xmlns:a16="http://schemas.microsoft.com/office/drawing/2014/main" id="{884C7E39-BFE4-480C-A93E-5D4107A01CE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28600" y="4953000"/>
            <a:ext cx="1382713" cy="167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304800" y="1143000"/>
            <a:ext cx="8534400" cy="2457450"/>
          </a:xfrm>
          <a:gradFill>
            <a:gsLst>
              <a:gs pos="0">
                <a:srgbClr val="66FF66"/>
              </a:gs>
              <a:gs pos="100000">
                <a:srgbClr val="66FF66">
                  <a:gamma/>
                  <a:shade val="74510"/>
                  <a:invGamma/>
                </a:srgbClr>
              </a:gs>
            </a:gsLst>
          </a:gradFill>
        </p:spPr>
        <p:txBody>
          <a:bodyPr tIns="45720" bIns="45720"/>
          <a:lstStyle>
            <a:lvl1pPr>
              <a:defRPr sz="4800" i="1"/>
            </a:lvl1pPr>
          </a:lstStyle>
          <a:p>
            <a:r>
              <a:rPr lang="en-US" dirty="0"/>
              <a:t>Click to edit Master title style</a:t>
            </a:r>
          </a:p>
        </p:txBody>
      </p:sp>
      <p:sp>
        <p:nvSpPr>
          <p:cNvPr id="3075" name="Rectangle 3"/>
          <p:cNvSpPr>
            <a:spLocks noGrp="1" noChangeArrowheads="1"/>
          </p:cNvSpPr>
          <p:nvPr>
            <p:ph type="subTitle" idx="1"/>
          </p:nvPr>
        </p:nvSpPr>
        <p:spPr>
          <a:xfrm>
            <a:off x="1828800" y="4114800"/>
            <a:ext cx="7010400" cy="1524000"/>
          </a:xfrm>
        </p:spPr>
        <p:txBody>
          <a:bodyPr/>
          <a:lstStyle>
            <a:lvl1pPr marL="0" indent="0" algn="r">
              <a:buFontTx/>
              <a:buNone/>
              <a:defRPr sz="3600"/>
            </a:lvl1pPr>
          </a:lstStyle>
          <a:p>
            <a:r>
              <a:rPr lang="en-US" dirty="0"/>
              <a:t>Click to edit Master subtitle style</a:t>
            </a:r>
          </a:p>
        </p:txBody>
      </p:sp>
      <p:sp>
        <p:nvSpPr>
          <p:cNvPr id="6" name="Footer Placeholder 5">
            <a:extLst>
              <a:ext uri="{FF2B5EF4-FFF2-40B4-BE49-F238E27FC236}">
                <a16:creationId xmlns:a16="http://schemas.microsoft.com/office/drawing/2014/main" id="{57D348D3-6410-4D55-97A6-13AB34CEB108}"/>
              </a:ext>
            </a:extLst>
          </p:cNvPr>
          <p:cNvSpPr>
            <a:spLocks noGrp="1" noChangeArrowheads="1"/>
          </p:cNvSpPr>
          <p:nvPr>
            <p:ph type="ftr" sz="quarter" idx="10"/>
          </p:nvPr>
        </p:nvSpPr>
        <p:spPr>
          <a:xfrm>
            <a:off x="4191000" y="6019800"/>
            <a:ext cx="4648200" cy="701675"/>
          </a:xfrm>
        </p:spPr>
        <p:txBody>
          <a:bodyPr/>
          <a:lstStyle>
            <a:lvl1pPr>
              <a:defRPr sz="1600" i="0"/>
            </a:lvl1pPr>
          </a:lstStyle>
          <a:p>
            <a:pPr>
              <a:defRPr/>
            </a:pPr>
            <a:r>
              <a:rPr lang="en-US"/>
              <a:t>Cengage Learning</a:t>
            </a:r>
          </a:p>
          <a:p>
            <a:pPr>
              <a:defRPr/>
            </a:pPr>
            <a:r>
              <a:rPr lang="en-US"/>
              <a:t>Monczka – Handfield – Giunipero – Patterson</a:t>
            </a:r>
          </a:p>
        </p:txBody>
      </p:sp>
    </p:spTree>
    <p:extLst>
      <p:ext uri="{BB962C8B-B14F-4D97-AF65-F5344CB8AC3E}">
        <p14:creationId xmlns:p14="http://schemas.microsoft.com/office/powerpoint/2010/main" val="22035130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C3023DF6-1301-4E36-8AAB-DF750700D833}"/>
              </a:ext>
            </a:extLst>
          </p:cNvPr>
          <p:cNvSpPr>
            <a:spLocks noGrp="1" noChangeArrowheads="1"/>
          </p:cNvSpPr>
          <p:nvPr>
            <p:ph type="ftr" sz="quarter" idx="10"/>
          </p:nvPr>
        </p:nvSpPr>
        <p:spPr/>
        <p:txBody>
          <a:bodyPr/>
          <a:lstStyle>
            <a:lvl1pPr>
              <a:defRPr sz="1400" i="1"/>
            </a:lvl1pPr>
          </a:lstStyle>
          <a:p>
            <a:pPr>
              <a:defRPr/>
            </a:pPr>
            <a:r>
              <a:rPr lang="en-US"/>
              <a:t>Purchasing &amp; Supply Chain Management, 4e</a:t>
            </a:r>
          </a:p>
          <a:p>
            <a:pPr>
              <a:defRPr/>
            </a:pPr>
            <a:endParaRPr lang="en-US"/>
          </a:p>
        </p:txBody>
      </p:sp>
      <p:sp>
        <p:nvSpPr>
          <p:cNvPr id="5" name="Slide Number Placeholder 4">
            <a:extLst>
              <a:ext uri="{FF2B5EF4-FFF2-40B4-BE49-F238E27FC236}">
                <a16:creationId xmlns:a16="http://schemas.microsoft.com/office/drawing/2014/main" id="{BA3D307D-E178-4DFB-9AAC-D442E8148426}"/>
              </a:ext>
            </a:extLst>
          </p:cNvPr>
          <p:cNvSpPr>
            <a:spLocks noGrp="1" noChangeArrowheads="1"/>
          </p:cNvSpPr>
          <p:nvPr>
            <p:ph type="sldNum" sz="quarter" idx="11"/>
          </p:nvPr>
        </p:nvSpPr>
        <p:spPr/>
        <p:txBody>
          <a:bodyPr/>
          <a:lstStyle>
            <a:lvl1pPr>
              <a:defRPr/>
            </a:lvl1pPr>
          </a:lstStyle>
          <a:p>
            <a:fld id="{8BF4BE55-F1BA-4FEC-A992-35DFF9897356}" type="slidenum">
              <a:rPr lang="en-US" altLang="LID4096"/>
              <a:pPr/>
              <a:t>‹#›</a:t>
            </a:fld>
            <a:endParaRPr lang="en-US" altLang="LID4096"/>
          </a:p>
        </p:txBody>
      </p:sp>
    </p:spTree>
    <p:extLst>
      <p:ext uri="{BB962C8B-B14F-4D97-AF65-F5344CB8AC3E}">
        <p14:creationId xmlns:p14="http://schemas.microsoft.com/office/powerpoint/2010/main" val="362535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Footer Placeholder 3">
            <a:extLst>
              <a:ext uri="{FF2B5EF4-FFF2-40B4-BE49-F238E27FC236}">
                <a16:creationId xmlns:a16="http://schemas.microsoft.com/office/drawing/2014/main" id="{4E08C2B8-F933-4611-8D5B-733057658142}"/>
              </a:ext>
            </a:extLst>
          </p:cNvPr>
          <p:cNvSpPr>
            <a:spLocks noGrp="1" noChangeArrowheads="1"/>
          </p:cNvSpPr>
          <p:nvPr>
            <p:ph type="ftr" sz="quarter" idx="10"/>
          </p:nvPr>
        </p:nvSpPr>
        <p:spPr/>
        <p:txBody>
          <a:bodyPr/>
          <a:lstStyle>
            <a:lvl1pPr>
              <a:defRPr sz="1400" i="1"/>
            </a:lvl1pPr>
          </a:lstStyle>
          <a:p>
            <a:pPr>
              <a:defRPr/>
            </a:pPr>
            <a:r>
              <a:rPr lang="en-US"/>
              <a:t>Purchasing &amp; Supply Chain Management, 4e</a:t>
            </a:r>
          </a:p>
        </p:txBody>
      </p:sp>
      <p:sp>
        <p:nvSpPr>
          <p:cNvPr id="5" name="Slide Number Placeholder 4">
            <a:extLst>
              <a:ext uri="{FF2B5EF4-FFF2-40B4-BE49-F238E27FC236}">
                <a16:creationId xmlns:a16="http://schemas.microsoft.com/office/drawing/2014/main" id="{9309C7BC-2580-4A56-A59D-B6225B791B6F}"/>
              </a:ext>
            </a:extLst>
          </p:cNvPr>
          <p:cNvSpPr>
            <a:spLocks noGrp="1" noChangeArrowheads="1"/>
          </p:cNvSpPr>
          <p:nvPr>
            <p:ph type="sldNum" sz="quarter" idx="11"/>
          </p:nvPr>
        </p:nvSpPr>
        <p:spPr/>
        <p:txBody>
          <a:bodyPr/>
          <a:lstStyle>
            <a:lvl1pPr>
              <a:defRPr/>
            </a:lvl1pPr>
          </a:lstStyle>
          <a:p>
            <a:fld id="{FE103529-8B26-4C40-9D72-E272AD05D87B}" type="slidenum">
              <a:rPr lang="en-US" altLang="LID4096"/>
              <a:pPr/>
              <a:t>‹#›</a:t>
            </a:fld>
            <a:endParaRPr lang="en-US" altLang="LID4096"/>
          </a:p>
        </p:txBody>
      </p:sp>
    </p:spTree>
    <p:extLst>
      <p:ext uri="{BB962C8B-B14F-4D97-AF65-F5344CB8AC3E}">
        <p14:creationId xmlns:p14="http://schemas.microsoft.com/office/powerpoint/2010/main" val="11527157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EDC049CE-5E33-43D9-B520-E165C4B97578}"/>
              </a:ext>
            </a:extLst>
          </p:cNvPr>
          <p:cNvSpPr>
            <a:spLocks noGrp="1" noChangeArrowheads="1"/>
          </p:cNvSpPr>
          <p:nvPr>
            <p:ph type="ftr" sz="quarter" idx="10"/>
          </p:nvPr>
        </p:nvSpPr>
        <p:spPr/>
        <p:txBody>
          <a:bodyPr/>
          <a:lstStyle>
            <a:lvl1pPr>
              <a:defRPr sz="1400" i="1"/>
            </a:lvl1pPr>
          </a:lstStyle>
          <a:p>
            <a:pPr>
              <a:defRPr/>
            </a:pPr>
            <a:r>
              <a:rPr lang="en-US"/>
              <a:t>Purchasing &amp; Supply Chain Management, 4e</a:t>
            </a:r>
          </a:p>
        </p:txBody>
      </p:sp>
      <p:sp>
        <p:nvSpPr>
          <p:cNvPr id="6" name="Slide Number Placeholder 5">
            <a:extLst>
              <a:ext uri="{FF2B5EF4-FFF2-40B4-BE49-F238E27FC236}">
                <a16:creationId xmlns:a16="http://schemas.microsoft.com/office/drawing/2014/main" id="{1DBF6E0F-AE55-44E7-8CD2-56386D854760}"/>
              </a:ext>
            </a:extLst>
          </p:cNvPr>
          <p:cNvSpPr>
            <a:spLocks noGrp="1" noChangeArrowheads="1"/>
          </p:cNvSpPr>
          <p:nvPr>
            <p:ph type="sldNum" sz="quarter" idx="11"/>
          </p:nvPr>
        </p:nvSpPr>
        <p:spPr/>
        <p:txBody>
          <a:bodyPr/>
          <a:lstStyle>
            <a:lvl1pPr>
              <a:defRPr/>
            </a:lvl1pPr>
          </a:lstStyle>
          <a:p>
            <a:fld id="{6EC0585D-609D-4938-9EA0-E4B4EE8FB49B}" type="slidenum">
              <a:rPr lang="en-US" altLang="LID4096"/>
              <a:pPr/>
              <a:t>‹#›</a:t>
            </a:fld>
            <a:endParaRPr lang="en-US" altLang="LID4096"/>
          </a:p>
        </p:txBody>
      </p:sp>
    </p:spTree>
    <p:extLst>
      <p:ext uri="{BB962C8B-B14F-4D97-AF65-F5344CB8AC3E}">
        <p14:creationId xmlns:p14="http://schemas.microsoft.com/office/powerpoint/2010/main" val="20213473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6ED0D6B7-5D37-4489-957A-F38385E350D2}"/>
              </a:ext>
            </a:extLst>
          </p:cNvPr>
          <p:cNvSpPr>
            <a:spLocks noGrp="1" noChangeArrowheads="1"/>
          </p:cNvSpPr>
          <p:nvPr>
            <p:ph type="ftr" sz="quarter" idx="10"/>
          </p:nvPr>
        </p:nvSpPr>
        <p:spPr/>
        <p:txBody>
          <a:bodyPr/>
          <a:lstStyle>
            <a:lvl1pPr>
              <a:defRPr sz="1400" i="1"/>
            </a:lvl1pPr>
          </a:lstStyle>
          <a:p>
            <a:pPr>
              <a:defRPr/>
            </a:pPr>
            <a:r>
              <a:rPr lang="en-US"/>
              <a:t>Purchasing &amp; Supply Chain Management, 4e</a:t>
            </a:r>
          </a:p>
        </p:txBody>
      </p:sp>
      <p:sp>
        <p:nvSpPr>
          <p:cNvPr id="8" name="Slide Number Placeholder 7">
            <a:extLst>
              <a:ext uri="{FF2B5EF4-FFF2-40B4-BE49-F238E27FC236}">
                <a16:creationId xmlns:a16="http://schemas.microsoft.com/office/drawing/2014/main" id="{85159A78-15BE-459A-A30F-9BA44F8EDEB6}"/>
              </a:ext>
            </a:extLst>
          </p:cNvPr>
          <p:cNvSpPr>
            <a:spLocks noGrp="1" noChangeArrowheads="1"/>
          </p:cNvSpPr>
          <p:nvPr>
            <p:ph type="sldNum" sz="quarter" idx="11"/>
          </p:nvPr>
        </p:nvSpPr>
        <p:spPr/>
        <p:txBody>
          <a:bodyPr/>
          <a:lstStyle>
            <a:lvl1pPr>
              <a:defRPr/>
            </a:lvl1pPr>
          </a:lstStyle>
          <a:p>
            <a:fld id="{B86B65CA-20E3-4B91-896A-ED2758E0B040}" type="slidenum">
              <a:rPr lang="en-US" altLang="LID4096"/>
              <a:pPr/>
              <a:t>‹#›</a:t>
            </a:fld>
            <a:endParaRPr lang="en-US" altLang="LID4096"/>
          </a:p>
        </p:txBody>
      </p:sp>
    </p:spTree>
    <p:extLst>
      <p:ext uri="{BB962C8B-B14F-4D97-AF65-F5344CB8AC3E}">
        <p14:creationId xmlns:p14="http://schemas.microsoft.com/office/powerpoint/2010/main" val="41558606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3015BE21-53D8-4B3F-8C31-FE079D49E1C2}"/>
              </a:ext>
            </a:extLst>
          </p:cNvPr>
          <p:cNvSpPr>
            <a:spLocks noGrp="1" noChangeArrowheads="1"/>
          </p:cNvSpPr>
          <p:nvPr>
            <p:ph type="ftr" sz="quarter" idx="10"/>
          </p:nvPr>
        </p:nvSpPr>
        <p:spPr/>
        <p:txBody>
          <a:bodyPr/>
          <a:lstStyle>
            <a:lvl1pPr>
              <a:defRPr sz="1400" i="1"/>
            </a:lvl1pPr>
          </a:lstStyle>
          <a:p>
            <a:pPr>
              <a:defRPr/>
            </a:pPr>
            <a:r>
              <a:rPr lang="en-US"/>
              <a:t>Purchasing &amp; Supply Chain Management, 4e</a:t>
            </a:r>
          </a:p>
        </p:txBody>
      </p:sp>
      <p:sp>
        <p:nvSpPr>
          <p:cNvPr id="4" name="Slide Number Placeholder 3">
            <a:extLst>
              <a:ext uri="{FF2B5EF4-FFF2-40B4-BE49-F238E27FC236}">
                <a16:creationId xmlns:a16="http://schemas.microsoft.com/office/drawing/2014/main" id="{A4104AA3-A4A6-4D44-B379-71192492F243}"/>
              </a:ext>
            </a:extLst>
          </p:cNvPr>
          <p:cNvSpPr>
            <a:spLocks noGrp="1" noChangeArrowheads="1"/>
          </p:cNvSpPr>
          <p:nvPr>
            <p:ph type="sldNum" sz="quarter" idx="11"/>
          </p:nvPr>
        </p:nvSpPr>
        <p:spPr/>
        <p:txBody>
          <a:bodyPr/>
          <a:lstStyle>
            <a:lvl1pPr>
              <a:defRPr/>
            </a:lvl1pPr>
          </a:lstStyle>
          <a:p>
            <a:fld id="{E9A28322-8EC1-4676-A8D2-B0FB3F441590}" type="slidenum">
              <a:rPr lang="en-US" altLang="LID4096"/>
              <a:pPr/>
              <a:t>‹#›</a:t>
            </a:fld>
            <a:endParaRPr lang="en-US" altLang="LID4096"/>
          </a:p>
        </p:txBody>
      </p:sp>
    </p:spTree>
    <p:extLst>
      <p:ext uri="{BB962C8B-B14F-4D97-AF65-F5344CB8AC3E}">
        <p14:creationId xmlns:p14="http://schemas.microsoft.com/office/powerpoint/2010/main" val="186480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A45F592-1A93-49DA-A124-13DC0B622F93}"/>
              </a:ext>
            </a:extLst>
          </p:cNvPr>
          <p:cNvSpPr>
            <a:spLocks noGrp="1"/>
          </p:cNvSpPr>
          <p:nvPr>
            <p:ph type="ftr" sz="quarter" idx="10"/>
          </p:nvPr>
        </p:nvSpPr>
        <p:spPr/>
        <p:txBody>
          <a:bodyPr/>
          <a:lstStyle>
            <a:lvl1pPr>
              <a:defRPr sz="1400" i="1"/>
            </a:lvl1pPr>
          </a:lstStyle>
          <a:p>
            <a:pPr>
              <a:defRPr/>
            </a:pPr>
            <a:r>
              <a:rPr lang="en-US"/>
              <a:t>Purchasing and Supply Chain Management, 4e</a:t>
            </a:r>
          </a:p>
        </p:txBody>
      </p:sp>
      <p:sp>
        <p:nvSpPr>
          <p:cNvPr id="3" name="Slide Number Placeholder 2">
            <a:extLst>
              <a:ext uri="{FF2B5EF4-FFF2-40B4-BE49-F238E27FC236}">
                <a16:creationId xmlns:a16="http://schemas.microsoft.com/office/drawing/2014/main" id="{A746F827-7A46-4A3D-9054-8EF6904FED50}"/>
              </a:ext>
            </a:extLst>
          </p:cNvPr>
          <p:cNvSpPr>
            <a:spLocks noGrp="1"/>
          </p:cNvSpPr>
          <p:nvPr>
            <p:ph type="sldNum" sz="quarter" idx="11"/>
          </p:nvPr>
        </p:nvSpPr>
        <p:spPr/>
        <p:txBody>
          <a:bodyPr/>
          <a:lstStyle>
            <a:lvl1pPr>
              <a:defRPr/>
            </a:lvl1pPr>
          </a:lstStyle>
          <a:p>
            <a:fld id="{16B82026-1268-4A03-9B93-D61F29019CE2}" type="slidenum">
              <a:rPr lang="en-US" altLang="LID4096"/>
              <a:pPr/>
              <a:t>‹#›</a:t>
            </a:fld>
            <a:endParaRPr lang="en-US" altLang="LID4096"/>
          </a:p>
        </p:txBody>
      </p:sp>
    </p:spTree>
    <p:extLst>
      <p:ext uri="{BB962C8B-B14F-4D97-AF65-F5344CB8AC3E}">
        <p14:creationId xmlns:p14="http://schemas.microsoft.com/office/powerpoint/2010/main" val="20934299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a:extLst>
              <a:ext uri="{FF2B5EF4-FFF2-40B4-BE49-F238E27FC236}">
                <a16:creationId xmlns:a16="http://schemas.microsoft.com/office/drawing/2014/main" id="{0E0BDD3D-5DFF-436F-A31A-990C0E51CEA9}"/>
              </a:ext>
            </a:extLst>
          </p:cNvPr>
          <p:cNvSpPr>
            <a:spLocks noGrp="1" noChangeArrowheads="1"/>
          </p:cNvSpPr>
          <p:nvPr>
            <p:ph type="ftr" sz="quarter" idx="10"/>
          </p:nvPr>
        </p:nvSpPr>
        <p:spPr/>
        <p:txBody>
          <a:bodyPr/>
          <a:lstStyle>
            <a:lvl1pPr>
              <a:defRPr sz="1400" i="1"/>
            </a:lvl1pPr>
          </a:lstStyle>
          <a:p>
            <a:pPr>
              <a:defRPr/>
            </a:pPr>
            <a:r>
              <a:rPr lang="en-US"/>
              <a:t>Purchasing &amp; Supply Chain Management, 4e</a:t>
            </a:r>
          </a:p>
        </p:txBody>
      </p:sp>
      <p:sp>
        <p:nvSpPr>
          <p:cNvPr id="6" name="Slide Number Placeholder 5">
            <a:extLst>
              <a:ext uri="{FF2B5EF4-FFF2-40B4-BE49-F238E27FC236}">
                <a16:creationId xmlns:a16="http://schemas.microsoft.com/office/drawing/2014/main" id="{D0B8AFAD-352B-47F1-AD69-A850EDA15470}"/>
              </a:ext>
            </a:extLst>
          </p:cNvPr>
          <p:cNvSpPr>
            <a:spLocks noGrp="1" noChangeArrowheads="1"/>
          </p:cNvSpPr>
          <p:nvPr>
            <p:ph type="sldNum" sz="quarter" idx="11"/>
          </p:nvPr>
        </p:nvSpPr>
        <p:spPr/>
        <p:txBody>
          <a:bodyPr/>
          <a:lstStyle>
            <a:lvl1pPr>
              <a:defRPr/>
            </a:lvl1pPr>
          </a:lstStyle>
          <a:p>
            <a:fld id="{692B8400-90E7-4C86-ADBC-9C317E168781}" type="slidenum">
              <a:rPr lang="en-US" altLang="LID4096"/>
              <a:pPr/>
              <a:t>‹#›</a:t>
            </a:fld>
            <a:endParaRPr lang="en-US" altLang="LID4096"/>
          </a:p>
        </p:txBody>
      </p:sp>
    </p:spTree>
    <p:extLst>
      <p:ext uri="{BB962C8B-B14F-4D97-AF65-F5344CB8AC3E}">
        <p14:creationId xmlns:p14="http://schemas.microsoft.com/office/powerpoint/2010/main" val="28254473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a:extLst>
              <a:ext uri="{FF2B5EF4-FFF2-40B4-BE49-F238E27FC236}">
                <a16:creationId xmlns:a16="http://schemas.microsoft.com/office/drawing/2014/main" id="{005F4F5E-B14E-44E8-8589-B457954CE067}"/>
              </a:ext>
            </a:extLst>
          </p:cNvPr>
          <p:cNvSpPr>
            <a:spLocks noGrp="1" noChangeArrowheads="1"/>
          </p:cNvSpPr>
          <p:nvPr>
            <p:ph type="ftr" sz="quarter" idx="10"/>
          </p:nvPr>
        </p:nvSpPr>
        <p:spPr/>
        <p:txBody>
          <a:bodyPr/>
          <a:lstStyle>
            <a:lvl1pPr>
              <a:defRPr sz="1400" i="1"/>
            </a:lvl1pPr>
          </a:lstStyle>
          <a:p>
            <a:pPr>
              <a:defRPr/>
            </a:pPr>
            <a:r>
              <a:rPr lang="en-US"/>
              <a:t>Purchasing &amp; Supply Chain Management, 4e</a:t>
            </a:r>
          </a:p>
        </p:txBody>
      </p:sp>
      <p:sp>
        <p:nvSpPr>
          <p:cNvPr id="6" name="Slide Number Placeholder 5">
            <a:extLst>
              <a:ext uri="{FF2B5EF4-FFF2-40B4-BE49-F238E27FC236}">
                <a16:creationId xmlns:a16="http://schemas.microsoft.com/office/drawing/2014/main" id="{42E2FBF7-F339-4624-9B47-86B55839A100}"/>
              </a:ext>
            </a:extLst>
          </p:cNvPr>
          <p:cNvSpPr>
            <a:spLocks noGrp="1" noChangeArrowheads="1"/>
          </p:cNvSpPr>
          <p:nvPr>
            <p:ph type="sldNum" sz="quarter" idx="11"/>
          </p:nvPr>
        </p:nvSpPr>
        <p:spPr/>
        <p:txBody>
          <a:bodyPr/>
          <a:lstStyle>
            <a:lvl1pPr>
              <a:defRPr/>
            </a:lvl1pPr>
          </a:lstStyle>
          <a:p>
            <a:fld id="{27CFBEA4-3C60-4C47-8415-76FE3F6FCED1}" type="slidenum">
              <a:rPr lang="en-US" altLang="LID4096"/>
              <a:pPr/>
              <a:t>‹#›</a:t>
            </a:fld>
            <a:endParaRPr lang="en-US" altLang="LID4096"/>
          </a:p>
        </p:txBody>
      </p:sp>
    </p:spTree>
    <p:extLst>
      <p:ext uri="{BB962C8B-B14F-4D97-AF65-F5344CB8AC3E}">
        <p14:creationId xmlns:p14="http://schemas.microsoft.com/office/powerpoint/2010/main" val="2862138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E4168CFD-E7B5-44B8-A63E-FE30C37666EF}"/>
              </a:ext>
            </a:extLst>
          </p:cNvPr>
          <p:cNvSpPr>
            <a:spLocks noGrp="1" noChangeArrowheads="1"/>
          </p:cNvSpPr>
          <p:nvPr>
            <p:ph type="ftr" sz="quarter" idx="10"/>
          </p:nvPr>
        </p:nvSpPr>
        <p:spPr/>
        <p:txBody>
          <a:bodyPr/>
          <a:lstStyle>
            <a:lvl1pPr>
              <a:defRPr sz="1400" i="1"/>
            </a:lvl1pPr>
          </a:lstStyle>
          <a:p>
            <a:pPr>
              <a:defRPr/>
            </a:pPr>
            <a:r>
              <a:rPr lang="en-US"/>
              <a:t>Purchasing &amp; Supply Chain Management, 4e</a:t>
            </a:r>
          </a:p>
        </p:txBody>
      </p:sp>
      <p:sp>
        <p:nvSpPr>
          <p:cNvPr id="5" name="Slide Number Placeholder 4">
            <a:extLst>
              <a:ext uri="{FF2B5EF4-FFF2-40B4-BE49-F238E27FC236}">
                <a16:creationId xmlns:a16="http://schemas.microsoft.com/office/drawing/2014/main" id="{94542C02-606E-4B7A-98AE-0F1FA2E45E59}"/>
              </a:ext>
            </a:extLst>
          </p:cNvPr>
          <p:cNvSpPr>
            <a:spLocks noGrp="1" noChangeArrowheads="1"/>
          </p:cNvSpPr>
          <p:nvPr>
            <p:ph type="sldNum" sz="quarter" idx="11"/>
          </p:nvPr>
        </p:nvSpPr>
        <p:spPr/>
        <p:txBody>
          <a:bodyPr/>
          <a:lstStyle>
            <a:lvl1pPr>
              <a:defRPr/>
            </a:lvl1pPr>
          </a:lstStyle>
          <a:p>
            <a:fld id="{C03572DB-0603-4AD6-9DBC-19D2D182834E}" type="slidenum">
              <a:rPr lang="en-US" altLang="LID4096"/>
              <a:pPr/>
              <a:t>‹#›</a:t>
            </a:fld>
            <a:endParaRPr lang="en-US" altLang="LID4096"/>
          </a:p>
        </p:txBody>
      </p:sp>
    </p:spTree>
    <p:extLst>
      <p:ext uri="{BB962C8B-B14F-4D97-AF65-F5344CB8AC3E}">
        <p14:creationId xmlns:p14="http://schemas.microsoft.com/office/powerpoint/2010/main" val="21981932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0"/>
            <a:ext cx="2286000" cy="61261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0" y="0"/>
            <a:ext cx="6705600" cy="61261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E03313BD-3236-48B3-BFA4-FA76AF19D2F1}"/>
              </a:ext>
            </a:extLst>
          </p:cNvPr>
          <p:cNvSpPr>
            <a:spLocks noGrp="1" noChangeArrowheads="1"/>
          </p:cNvSpPr>
          <p:nvPr>
            <p:ph type="ftr" sz="quarter" idx="10"/>
          </p:nvPr>
        </p:nvSpPr>
        <p:spPr/>
        <p:txBody>
          <a:bodyPr/>
          <a:lstStyle>
            <a:lvl1pPr>
              <a:defRPr sz="1400" i="1"/>
            </a:lvl1pPr>
          </a:lstStyle>
          <a:p>
            <a:pPr>
              <a:defRPr/>
            </a:pPr>
            <a:r>
              <a:rPr lang="en-US"/>
              <a:t>Purchasing &amp; Supply Chain Management, 4e</a:t>
            </a:r>
          </a:p>
        </p:txBody>
      </p:sp>
      <p:sp>
        <p:nvSpPr>
          <p:cNvPr id="5" name="Slide Number Placeholder 4">
            <a:extLst>
              <a:ext uri="{FF2B5EF4-FFF2-40B4-BE49-F238E27FC236}">
                <a16:creationId xmlns:a16="http://schemas.microsoft.com/office/drawing/2014/main" id="{C6E6B65A-571F-4D6D-A278-1BC05C95C256}"/>
              </a:ext>
            </a:extLst>
          </p:cNvPr>
          <p:cNvSpPr>
            <a:spLocks noGrp="1" noChangeArrowheads="1"/>
          </p:cNvSpPr>
          <p:nvPr>
            <p:ph type="sldNum" sz="quarter" idx="11"/>
          </p:nvPr>
        </p:nvSpPr>
        <p:spPr/>
        <p:txBody>
          <a:bodyPr/>
          <a:lstStyle>
            <a:lvl1pPr>
              <a:defRPr/>
            </a:lvl1pPr>
          </a:lstStyle>
          <a:p>
            <a:fld id="{A3C25A94-D180-4F0A-B99A-F2F994CC1410}" type="slidenum">
              <a:rPr lang="en-US" altLang="LID4096"/>
              <a:pPr/>
              <a:t>‹#›</a:t>
            </a:fld>
            <a:endParaRPr lang="en-US" altLang="LID4096"/>
          </a:p>
        </p:txBody>
      </p:sp>
    </p:spTree>
    <p:extLst>
      <p:ext uri="{BB962C8B-B14F-4D97-AF65-F5344CB8AC3E}">
        <p14:creationId xmlns:p14="http://schemas.microsoft.com/office/powerpoint/2010/main" val="76265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rotWithShape="1">
          <a:gsLst>
            <a:gs pos="0">
              <a:srgbClr val="181847">
                <a:alpha val="39999"/>
              </a:srgbClr>
            </a:gs>
            <a:gs pos="100000">
              <a:schemeClr val="accent2">
                <a:alpha val="64999"/>
              </a:schemeClr>
            </a:gs>
          </a:gsLst>
          <a:path path="rect">
            <a:fillToRect l="100000" t="100000"/>
          </a:path>
        </a:gra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1CAACC01-A772-434B-87DF-CC6368D4A66E}"/>
              </a:ext>
            </a:extLst>
          </p:cNvPr>
          <p:cNvSpPr>
            <a:spLocks noGrp="1" noChangeArrowheads="1"/>
          </p:cNvSpPr>
          <p:nvPr>
            <p:ph type="title"/>
          </p:nvPr>
        </p:nvSpPr>
        <p:spPr bwMode="auto">
          <a:xfrm>
            <a:off x="0" y="0"/>
            <a:ext cx="9144000" cy="1066800"/>
          </a:xfrm>
          <a:prstGeom prst="rect">
            <a:avLst/>
          </a:prstGeom>
          <a:gradFill rotWithShape="1">
            <a:gsLst>
              <a:gs pos="0">
                <a:srgbClr val="4FC54F"/>
              </a:gs>
              <a:gs pos="100000">
                <a:srgbClr val="66FF66"/>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91440" rIns="91440" bIns="91440" numCol="1" anchor="ctr" anchorCtr="0" compatLnSpc="1">
            <a:prstTxWarp prst="textNoShape">
              <a:avLst/>
            </a:prstTxWarp>
          </a:bodyPr>
          <a:lstStyle/>
          <a:p>
            <a:pPr lvl="0"/>
            <a:r>
              <a:rPr lang="en-US" altLang="LID4096"/>
              <a:t>Click to edit Master title style</a:t>
            </a:r>
          </a:p>
        </p:txBody>
      </p:sp>
      <p:sp>
        <p:nvSpPr>
          <p:cNvPr id="1027" name="Rectangle 3">
            <a:extLst>
              <a:ext uri="{FF2B5EF4-FFF2-40B4-BE49-F238E27FC236}">
                <a16:creationId xmlns:a16="http://schemas.microsoft.com/office/drawing/2014/main" id="{B9270659-DBD4-4F08-997E-51632E3C8706}"/>
              </a:ext>
            </a:extLst>
          </p:cNvPr>
          <p:cNvSpPr>
            <a:spLocks noGrp="1" noChangeArrowheads="1"/>
          </p:cNvSpPr>
          <p:nvPr>
            <p:ph type="body" idx="1"/>
          </p:nvPr>
        </p:nvSpPr>
        <p:spPr bwMode="auto">
          <a:xfrm>
            <a:off x="457200" y="1600200"/>
            <a:ext cx="8229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9" name="Rectangle 5">
            <a:extLst>
              <a:ext uri="{FF2B5EF4-FFF2-40B4-BE49-F238E27FC236}">
                <a16:creationId xmlns:a16="http://schemas.microsoft.com/office/drawing/2014/main" id="{CD364EFF-3A5C-4010-B80C-D45A8CF40A68}"/>
              </a:ext>
            </a:extLst>
          </p:cNvPr>
          <p:cNvSpPr>
            <a:spLocks noGrp="1" noChangeArrowheads="1"/>
          </p:cNvSpPr>
          <p:nvPr>
            <p:ph type="ftr" sz="quarter" idx="3"/>
          </p:nvPr>
        </p:nvSpPr>
        <p:spPr bwMode="auto">
          <a:xfrm>
            <a:off x="457200" y="6096000"/>
            <a:ext cx="8153400" cy="625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b="1" i="1">
                <a:solidFill>
                  <a:schemeClr val="accent3"/>
                </a:solidFill>
                <a:effectLst>
                  <a:outerShdw blurRad="38100" dist="38100" dir="2700000" algn="tl">
                    <a:srgbClr val="000000"/>
                  </a:outerShdw>
                </a:effectLst>
                <a:latin typeface="Arial" charset="0"/>
              </a:defRPr>
            </a:lvl1pPr>
          </a:lstStyle>
          <a:p>
            <a:pPr>
              <a:defRPr/>
            </a:pPr>
            <a:r>
              <a:rPr lang="en-US"/>
              <a:t>Purchasing &amp; Supply Chain Management, 4e</a:t>
            </a:r>
          </a:p>
        </p:txBody>
      </p:sp>
      <p:sp>
        <p:nvSpPr>
          <p:cNvPr id="1030" name="Rectangle 6">
            <a:extLst>
              <a:ext uri="{FF2B5EF4-FFF2-40B4-BE49-F238E27FC236}">
                <a16:creationId xmlns:a16="http://schemas.microsoft.com/office/drawing/2014/main" id="{C1C185E4-16C9-4F22-A19D-A935A9E65AAF}"/>
              </a:ext>
            </a:extLst>
          </p:cNvPr>
          <p:cNvSpPr>
            <a:spLocks noGrp="1" noChangeArrowheads="1"/>
          </p:cNvSpPr>
          <p:nvPr>
            <p:ph type="sldNum" sz="quarter" idx="4"/>
          </p:nvPr>
        </p:nvSpPr>
        <p:spPr bwMode="auto">
          <a:xfrm>
            <a:off x="7315200" y="6245225"/>
            <a:ext cx="1371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1">
                <a:solidFill>
                  <a:srgbClr val="FFFFFF"/>
                </a:solidFill>
                <a:effectLst>
                  <a:outerShdw blurRad="38100" dist="38100" dir="2700000" algn="tl">
                    <a:srgbClr val="000000"/>
                  </a:outerShdw>
                </a:effectLst>
              </a:defRPr>
            </a:lvl1pPr>
          </a:lstStyle>
          <a:p>
            <a:fld id="{0706AF1B-8B16-489B-94C0-9D222B03B817}" type="slidenum">
              <a:rPr lang="en-US" altLang="LID4096"/>
              <a:pPr/>
              <a:t>‹#›</a:t>
            </a:fld>
            <a:endParaRPr lang="en-US" altLang="LID4096"/>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hf hdr="0" dt="0"/>
  <p:txStyles>
    <p:titleStyle>
      <a:lvl1pPr algn="ctr" rtl="0" eaLnBrk="0" fontAlgn="base" hangingPunct="0">
        <a:spcBef>
          <a:spcPct val="0"/>
        </a:spcBef>
        <a:spcAft>
          <a:spcPct val="0"/>
        </a:spcAft>
        <a:defRPr sz="4400" b="1" i="1">
          <a:solidFill>
            <a:srgbClr val="003300"/>
          </a:solidFill>
          <a:latin typeface="+mj-lt"/>
          <a:ea typeface="+mj-ea"/>
          <a:cs typeface="+mj-cs"/>
        </a:defRPr>
      </a:lvl1pPr>
      <a:lvl2pPr algn="ctr" rtl="0" eaLnBrk="0" fontAlgn="base" hangingPunct="0">
        <a:spcBef>
          <a:spcPct val="0"/>
        </a:spcBef>
        <a:spcAft>
          <a:spcPct val="0"/>
        </a:spcAft>
        <a:defRPr sz="4400" b="1" i="1">
          <a:solidFill>
            <a:srgbClr val="003300"/>
          </a:solidFill>
          <a:latin typeface="Times New Roman" pitchFamily="18" charset="0"/>
        </a:defRPr>
      </a:lvl2pPr>
      <a:lvl3pPr algn="ctr" rtl="0" eaLnBrk="0" fontAlgn="base" hangingPunct="0">
        <a:spcBef>
          <a:spcPct val="0"/>
        </a:spcBef>
        <a:spcAft>
          <a:spcPct val="0"/>
        </a:spcAft>
        <a:defRPr sz="4400" b="1" i="1">
          <a:solidFill>
            <a:srgbClr val="003300"/>
          </a:solidFill>
          <a:latin typeface="Times New Roman" pitchFamily="18" charset="0"/>
        </a:defRPr>
      </a:lvl3pPr>
      <a:lvl4pPr algn="ctr" rtl="0" eaLnBrk="0" fontAlgn="base" hangingPunct="0">
        <a:spcBef>
          <a:spcPct val="0"/>
        </a:spcBef>
        <a:spcAft>
          <a:spcPct val="0"/>
        </a:spcAft>
        <a:defRPr sz="4400" b="1" i="1">
          <a:solidFill>
            <a:srgbClr val="003300"/>
          </a:solidFill>
          <a:latin typeface="Times New Roman" pitchFamily="18" charset="0"/>
        </a:defRPr>
      </a:lvl4pPr>
      <a:lvl5pPr algn="ctr" rtl="0" eaLnBrk="0" fontAlgn="base" hangingPunct="0">
        <a:spcBef>
          <a:spcPct val="0"/>
        </a:spcBef>
        <a:spcAft>
          <a:spcPct val="0"/>
        </a:spcAft>
        <a:defRPr sz="4400" b="1" i="1">
          <a:solidFill>
            <a:srgbClr val="003300"/>
          </a:solidFill>
          <a:latin typeface="Times New Roman" pitchFamily="18" charset="0"/>
        </a:defRPr>
      </a:lvl5pPr>
      <a:lvl6pPr marL="457200" algn="ctr" rtl="0" fontAlgn="base">
        <a:spcBef>
          <a:spcPct val="0"/>
        </a:spcBef>
        <a:spcAft>
          <a:spcPct val="0"/>
        </a:spcAft>
        <a:defRPr sz="4400" b="1">
          <a:solidFill>
            <a:srgbClr val="003300"/>
          </a:solidFill>
          <a:latin typeface="Times New Roman" pitchFamily="18" charset="0"/>
        </a:defRPr>
      </a:lvl6pPr>
      <a:lvl7pPr marL="914400" algn="ctr" rtl="0" fontAlgn="base">
        <a:spcBef>
          <a:spcPct val="0"/>
        </a:spcBef>
        <a:spcAft>
          <a:spcPct val="0"/>
        </a:spcAft>
        <a:defRPr sz="4400" b="1">
          <a:solidFill>
            <a:srgbClr val="003300"/>
          </a:solidFill>
          <a:latin typeface="Times New Roman" pitchFamily="18" charset="0"/>
        </a:defRPr>
      </a:lvl7pPr>
      <a:lvl8pPr marL="1371600" algn="ctr" rtl="0" fontAlgn="base">
        <a:spcBef>
          <a:spcPct val="0"/>
        </a:spcBef>
        <a:spcAft>
          <a:spcPct val="0"/>
        </a:spcAft>
        <a:defRPr sz="4400" b="1">
          <a:solidFill>
            <a:srgbClr val="003300"/>
          </a:solidFill>
          <a:latin typeface="Times New Roman" pitchFamily="18" charset="0"/>
        </a:defRPr>
      </a:lvl8pPr>
      <a:lvl9pPr marL="1828800" algn="ctr" rtl="0" fontAlgn="base">
        <a:spcBef>
          <a:spcPct val="0"/>
        </a:spcBef>
        <a:spcAft>
          <a:spcPct val="0"/>
        </a:spcAft>
        <a:defRPr sz="4400" b="1">
          <a:solidFill>
            <a:srgbClr val="003300"/>
          </a:solidFill>
          <a:latin typeface="Times New Roman" pitchFamily="18" charset="0"/>
        </a:defRPr>
      </a:lvl9pPr>
    </p:titleStyle>
    <p:bodyStyle>
      <a:lvl1pPr marL="342900" indent="-342900" algn="l" rtl="0" eaLnBrk="0" fontAlgn="base" hangingPunct="0">
        <a:spcBef>
          <a:spcPct val="20000"/>
        </a:spcBef>
        <a:spcAft>
          <a:spcPct val="0"/>
        </a:spcAft>
        <a:buFont typeface="Wingdings" panose="05000000000000000000" pitchFamily="2" charset="2"/>
        <a:buChar char="§"/>
        <a:defRPr sz="3200" b="1">
          <a:solidFill>
            <a:schemeClr val="bg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Font typeface="Wingdings" panose="05000000000000000000" pitchFamily="2" charset="2"/>
        <a:buChar char="§"/>
        <a:defRPr sz="2800" b="1">
          <a:solidFill>
            <a:schemeClr val="bg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Font typeface="Wingdings" panose="05000000000000000000" pitchFamily="2" charset="2"/>
        <a:buChar char="§"/>
        <a:defRPr sz="2400" b="1">
          <a:solidFill>
            <a:schemeClr val="bg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bg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bg1"/>
          </a:solidFill>
          <a:effectLst>
            <a:outerShdw blurRad="38100" dist="38100" dir="2700000" algn="tl">
              <a:srgbClr val="000000"/>
            </a:outerShdw>
          </a:effectLst>
          <a:latin typeface="+mn-lt"/>
        </a:defRPr>
      </a:lvl5pPr>
      <a:lvl6pPr marL="2514600" indent="-228600" algn="l" rtl="0" fontAlgn="base">
        <a:spcBef>
          <a:spcPct val="20000"/>
        </a:spcBef>
        <a:spcAft>
          <a:spcPct val="0"/>
        </a:spcAft>
        <a:buChar char="»"/>
        <a:defRPr sz="2000" b="1">
          <a:solidFill>
            <a:schemeClr val="bg1"/>
          </a:solidFill>
          <a:effectLst>
            <a:outerShdw blurRad="38100" dist="38100" dir="2700000" algn="tl">
              <a:srgbClr val="000000"/>
            </a:outerShdw>
          </a:effectLst>
          <a:latin typeface="+mn-lt"/>
        </a:defRPr>
      </a:lvl6pPr>
      <a:lvl7pPr marL="2971800" indent="-228600" algn="l" rtl="0" fontAlgn="base">
        <a:spcBef>
          <a:spcPct val="20000"/>
        </a:spcBef>
        <a:spcAft>
          <a:spcPct val="0"/>
        </a:spcAft>
        <a:buChar char="»"/>
        <a:defRPr sz="2000" b="1">
          <a:solidFill>
            <a:schemeClr val="bg1"/>
          </a:solidFill>
          <a:effectLst>
            <a:outerShdw blurRad="38100" dist="38100" dir="2700000" algn="tl">
              <a:srgbClr val="000000"/>
            </a:outerShdw>
          </a:effectLst>
          <a:latin typeface="+mn-lt"/>
        </a:defRPr>
      </a:lvl7pPr>
      <a:lvl8pPr marL="3429000" indent="-228600" algn="l" rtl="0" fontAlgn="base">
        <a:spcBef>
          <a:spcPct val="20000"/>
        </a:spcBef>
        <a:spcAft>
          <a:spcPct val="0"/>
        </a:spcAft>
        <a:buChar char="»"/>
        <a:defRPr sz="2000" b="1">
          <a:solidFill>
            <a:schemeClr val="bg1"/>
          </a:solidFill>
          <a:effectLst>
            <a:outerShdw blurRad="38100" dist="38100" dir="2700000" algn="tl">
              <a:srgbClr val="000000"/>
            </a:outerShdw>
          </a:effectLst>
          <a:latin typeface="+mn-lt"/>
        </a:defRPr>
      </a:lvl8pPr>
      <a:lvl9pPr marL="3886200" indent="-228600" algn="l" rtl="0" fontAlgn="base">
        <a:spcBef>
          <a:spcPct val="20000"/>
        </a:spcBef>
        <a:spcAft>
          <a:spcPct val="0"/>
        </a:spcAft>
        <a:buChar char="»"/>
        <a:defRPr sz="2000" b="1">
          <a:solidFill>
            <a:schemeClr val="bg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46B3BDFF-0051-4BE8-9B9C-6EF31ED17374}"/>
              </a:ext>
            </a:extLst>
          </p:cNvPr>
          <p:cNvSpPr>
            <a:spLocks noGrp="1" noChangeArrowheads="1"/>
          </p:cNvSpPr>
          <p:nvPr>
            <p:ph type="ftr" sz="quarter" idx="10"/>
          </p:nvPr>
        </p:nvSpPr>
        <p:spPr>
          <a:xfrm>
            <a:off x="4343400" y="6019800"/>
            <a:ext cx="4648200" cy="701675"/>
          </a:xfrm>
        </p:spPr>
        <p:txBody>
          <a:bodyPr/>
          <a:lstStyle/>
          <a:p>
            <a:pPr>
              <a:defRPr/>
            </a:pPr>
            <a:r>
              <a:rPr lang="en-US" sz="1800" dirty="0">
                <a:solidFill>
                  <a:schemeClr val="bg1"/>
                </a:solidFill>
              </a:rPr>
              <a:t>CENGAGE LEARNING</a:t>
            </a:r>
          </a:p>
          <a:p>
            <a:pPr>
              <a:defRPr/>
            </a:pPr>
            <a:r>
              <a:rPr lang="en-US" i="1" dirty="0" err="1">
                <a:solidFill>
                  <a:schemeClr val="bg1"/>
                </a:solidFill>
              </a:rPr>
              <a:t>Monczka</a:t>
            </a:r>
            <a:r>
              <a:rPr lang="en-US" i="1">
                <a:solidFill>
                  <a:schemeClr val="bg1"/>
                </a:solidFill>
              </a:rPr>
              <a:t> – Handfield – Giunipero – Patterson</a:t>
            </a:r>
          </a:p>
        </p:txBody>
      </p:sp>
      <p:sp>
        <p:nvSpPr>
          <p:cNvPr id="13315" name="Rectangle 2">
            <a:extLst>
              <a:ext uri="{FF2B5EF4-FFF2-40B4-BE49-F238E27FC236}">
                <a16:creationId xmlns:a16="http://schemas.microsoft.com/office/drawing/2014/main" id="{D838F8B1-6AC4-43FD-B917-4BC7B5514E16}"/>
              </a:ext>
            </a:extLst>
          </p:cNvPr>
          <p:cNvSpPr>
            <a:spLocks noGrp="1" noChangeArrowheads="1"/>
          </p:cNvSpPr>
          <p:nvPr>
            <p:ph type="ctrTitle"/>
          </p:nvPr>
        </p:nvSpPr>
        <p:spPr>
          <a:xfrm>
            <a:off x="152400" y="1600200"/>
            <a:ext cx="8763000" cy="2000250"/>
          </a:xfrm>
        </p:spPr>
        <p:txBody>
          <a:bodyPr/>
          <a:lstStyle/>
          <a:p>
            <a:pPr eaLnBrk="1" hangingPunct="1">
              <a:defRPr/>
            </a:pPr>
            <a:r>
              <a:rPr lang="en-US" sz="6000" dirty="0">
                <a:effectLst>
                  <a:outerShdw blurRad="38100" dist="38100" dir="2700000" algn="tl">
                    <a:srgbClr val="000000">
                      <a:alpha val="43137"/>
                    </a:srgbClr>
                  </a:outerShdw>
                </a:effectLst>
              </a:rPr>
              <a:t>Supplier Evaluation</a:t>
            </a:r>
            <a:br>
              <a:rPr lang="en-US" sz="6000" dirty="0">
                <a:effectLst>
                  <a:outerShdw blurRad="38100" dist="38100" dir="2700000" algn="tl">
                    <a:srgbClr val="000000">
                      <a:alpha val="43137"/>
                    </a:srgbClr>
                  </a:outerShdw>
                </a:effectLst>
              </a:rPr>
            </a:br>
            <a:r>
              <a:rPr lang="en-US" sz="6000" dirty="0">
                <a:effectLst>
                  <a:outerShdw blurRad="38100" dist="38100" dir="2700000" algn="tl">
                    <a:srgbClr val="000000">
                      <a:alpha val="43137"/>
                    </a:srgbClr>
                  </a:outerShdw>
                </a:effectLst>
              </a:rPr>
              <a:t>and Selection</a:t>
            </a:r>
          </a:p>
        </p:txBody>
      </p:sp>
      <p:sp>
        <p:nvSpPr>
          <p:cNvPr id="2051" name="Rectangle 3">
            <a:extLst>
              <a:ext uri="{FF2B5EF4-FFF2-40B4-BE49-F238E27FC236}">
                <a16:creationId xmlns:a16="http://schemas.microsoft.com/office/drawing/2014/main" id="{E6062466-8DAA-4B3D-878C-514771351A38}"/>
              </a:ext>
            </a:extLst>
          </p:cNvPr>
          <p:cNvSpPr>
            <a:spLocks noGrp="1" noChangeArrowheads="1"/>
          </p:cNvSpPr>
          <p:nvPr>
            <p:ph type="subTitle" idx="1"/>
          </p:nvPr>
        </p:nvSpPr>
        <p:spPr/>
        <p:txBody>
          <a:bodyPr/>
          <a:lstStyle/>
          <a:p>
            <a:pPr eaLnBrk="1" hangingPunct="1">
              <a:defRPr/>
            </a:pPr>
            <a:r>
              <a:rPr lang="en-US" sz="4000" dirty="0">
                <a:solidFill>
                  <a:schemeClr val="accent3"/>
                </a:solidFill>
              </a:rPr>
              <a:t>Chapter 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77609-2EFD-4715-A14B-755D4BEB56E8}"/>
              </a:ext>
            </a:extLst>
          </p:cNvPr>
          <p:cNvSpPr>
            <a:spLocks noGrp="1"/>
          </p:cNvSpPr>
          <p:nvPr>
            <p:ph type="title"/>
          </p:nvPr>
        </p:nvSpPr>
        <p:spPr/>
        <p:txBody>
          <a:bodyPr/>
          <a:lstStyle/>
          <a:p>
            <a:r>
              <a:rPr lang="en-US" sz="4400" b="1" dirty="0">
                <a:solidFill>
                  <a:schemeClr val="tx1"/>
                </a:solidFill>
                <a:ea typeface="Arial" pitchFamily="34" charset="-122"/>
                <a:cs typeface="Arial" pitchFamily="34" charset="-120"/>
              </a:rPr>
              <a:t>The Right SC Partner Matters</a:t>
            </a:r>
            <a:endParaRPr lang="LID4096" dirty="0">
              <a:solidFill>
                <a:schemeClr val="tx1"/>
              </a:solidFill>
            </a:endParaRPr>
          </a:p>
        </p:txBody>
      </p:sp>
      <p:sp>
        <p:nvSpPr>
          <p:cNvPr id="3" name="Content Placeholder 2">
            <a:extLst>
              <a:ext uri="{FF2B5EF4-FFF2-40B4-BE49-F238E27FC236}">
                <a16:creationId xmlns:a16="http://schemas.microsoft.com/office/drawing/2014/main" id="{54D13645-A635-4733-9564-E4CFD9DBA548}"/>
              </a:ext>
            </a:extLst>
          </p:cNvPr>
          <p:cNvSpPr>
            <a:spLocks noGrp="1"/>
          </p:cNvSpPr>
          <p:nvPr>
            <p:ph idx="1"/>
          </p:nvPr>
        </p:nvSpPr>
        <p:spPr>
          <a:xfrm>
            <a:off x="457200" y="1447800"/>
            <a:ext cx="8229600" cy="5029200"/>
          </a:xfrm>
        </p:spPr>
        <p:txBody>
          <a:bodyPr/>
          <a:lstStyle/>
          <a:p>
            <a:pPr marL="457200" indent="-457200" algn="just"/>
            <a:r>
              <a:rPr lang="en-US" sz="2400" dirty="0"/>
              <a:t>One supplier decision can determine your </a:t>
            </a:r>
            <a:r>
              <a:rPr lang="en-US" sz="2400" dirty="0">
                <a:solidFill>
                  <a:srgbClr val="0000FF"/>
                </a:solidFill>
              </a:rPr>
              <a:t>competitive advantage</a:t>
            </a:r>
            <a:r>
              <a:rPr lang="en-US" sz="2400" dirty="0"/>
              <a:t>.</a:t>
            </a:r>
          </a:p>
          <a:p>
            <a:pPr marL="457200" indent="-457200" algn="just"/>
            <a:r>
              <a:rPr lang="en-US" sz="2400" dirty="0"/>
              <a:t>Did you know? </a:t>
            </a:r>
            <a:r>
              <a:rPr lang="en-US" sz="2400" dirty="0">
                <a:solidFill>
                  <a:srgbClr val="0000FF"/>
                </a:solidFill>
              </a:rPr>
              <a:t>70-80%</a:t>
            </a:r>
            <a:r>
              <a:rPr lang="en-US" sz="2400" dirty="0"/>
              <a:t> of the total cost is influenced by supply chain decisions.</a:t>
            </a:r>
          </a:p>
          <a:p>
            <a:pPr marL="457200" indent="-457200" algn="just"/>
            <a:r>
              <a:rPr lang="en-US" sz="2400" dirty="0"/>
              <a:t> Your supplier selection today shapes your </a:t>
            </a:r>
            <a:r>
              <a:rPr lang="en-US" sz="2400" dirty="0">
                <a:solidFill>
                  <a:srgbClr val="0000FF"/>
                </a:solidFill>
              </a:rPr>
              <a:t>profitability tomorrow</a:t>
            </a:r>
            <a:r>
              <a:rPr lang="en-US" sz="2400" dirty="0"/>
              <a:t>.</a:t>
            </a:r>
          </a:p>
          <a:p>
            <a:pPr marL="457200" indent="-457200" algn="just"/>
            <a:r>
              <a:rPr lang="en-US" sz="2400" dirty="0"/>
              <a:t>Supply chains that practice early supplier involvement achieve, on average, a 20% reduction in material </a:t>
            </a:r>
            <a:r>
              <a:rPr lang="en-US" sz="2400" dirty="0">
                <a:solidFill>
                  <a:srgbClr val="0000FF"/>
                </a:solidFill>
              </a:rPr>
              <a:t>cost</a:t>
            </a:r>
            <a:r>
              <a:rPr lang="en-US" sz="2400" dirty="0"/>
              <a:t>, a 20% improvement in material </a:t>
            </a:r>
            <a:r>
              <a:rPr lang="en-US" sz="2400" dirty="0">
                <a:solidFill>
                  <a:srgbClr val="0000FF"/>
                </a:solidFill>
              </a:rPr>
              <a:t>quality</a:t>
            </a:r>
            <a:r>
              <a:rPr lang="en-US" sz="2400" dirty="0"/>
              <a:t>, and a 20% reduction in </a:t>
            </a:r>
            <a:r>
              <a:rPr lang="en-US" sz="2400" dirty="0">
                <a:solidFill>
                  <a:srgbClr val="0000FF"/>
                </a:solidFill>
              </a:rPr>
              <a:t>development time.</a:t>
            </a:r>
          </a:p>
          <a:p>
            <a:pPr marL="0" indent="0">
              <a:lnSpc>
                <a:spcPts val="1890"/>
              </a:lnSpc>
              <a:buNone/>
            </a:pPr>
            <a:endParaRPr lang="en-US" sz="2000" b="0" dirty="0">
              <a:ea typeface="Arial" pitchFamily="34" charset="-122"/>
              <a:cs typeface="Arial" pitchFamily="34" charset="-120"/>
            </a:endParaRPr>
          </a:p>
          <a:p>
            <a:pPr marL="0" indent="0">
              <a:lnSpc>
                <a:spcPts val="1890"/>
              </a:lnSpc>
              <a:buNone/>
            </a:pPr>
            <a:r>
              <a:rPr lang="en-US" sz="1800" b="0" i="1" dirty="0" err="1">
                <a:solidFill>
                  <a:schemeClr val="tx1"/>
                </a:solidFill>
                <a:ea typeface="Arial" pitchFamily="34" charset="-122"/>
                <a:cs typeface="Arial" pitchFamily="34" charset="-120"/>
              </a:rPr>
              <a:t>Monczka</a:t>
            </a:r>
            <a:r>
              <a:rPr lang="en-US" sz="1800" b="0" i="1" dirty="0">
                <a:solidFill>
                  <a:schemeClr val="tx1"/>
                </a:solidFill>
                <a:ea typeface="Arial" pitchFamily="34" charset="-122"/>
                <a:cs typeface="Arial" pitchFamily="34" charset="-120"/>
              </a:rPr>
              <a:t>, Trent, &amp; Handfield, (2005)</a:t>
            </a:r>
          </a:p>
          <a:p>
            <a:pPr marL="0" indent="0">
              <a:lnSpc>
                <a:spcPts val="1890"/>
              </a:lnSpc>
              <a:buNone/>
            </a:pPr>
            <a:r>
              <a:rPr lang="en-US" sz="1800" b="0" i="1" dirty="0" err="1">
                <a:solidFill>
                  <a:schemeClr val="tx1"/>
                </a:solidFill>
              </a:rPr>
              <a:t>Ketchen</a:t>
            </a:r>
            <a:r>
              <a:rPr lang="en-US" sz="1800" b="0" i="1" dirty="0">
                <a:solidFill>
                  <a:schemeClr val="tx1"/>
                </a:solidFill>
              </a:rPr>
              <a:t> Jr, D. J., </a:t>
            </a:r>
            <a:r>
              <a:rPr lang="en-US" sz="1800" b="0" i="1" dirty="0" err="1">
                <a:solidFill>
                  <a:schemeClr val="tx1"/>
                </a:solidFill>
              </a:rPr>
              <a:t>Rebarick</a:t>
            </a:r>
            <a:r>
              <a:rPr lang="en-US" sz="1800" b="0" i="1" dirty="0">
                <a:solidFill>
                  <a:schemeClr val="tx1"/>
                </a:solidFill>
              </a:rPr>
              <a:t>, W., </a:t>
            </a:r>
            <a:r>
              <a:rPr lang="en-US" sz="1800" b="0" i="1" dirty="0" err="1">
                <a:solidFill>
                  <a:schemeClr val="tx1"/>
                </a:solidFill>
              </a:rPr>
              <a:t>Hult</a:t>
            </a:r>
            <a:r>
              <a:rPr lang="en-US" sz="1800" b="0" i="1" dirty="0">
                <a:solidFill>
                  <a:schemeClr val="tx1"/>
                </a:solidFill>
              </a:rPr>
              <a:t>, G. T. M., &amp; Meyer, D. (2008). </a:t>
            </a:r>
            <a:endParaRPr lang="en-US" sz="2000" b="0" i="1" dirty="0"/>
          </a:p>
          <a:p>
            <a:endParaRPr lang="en-US" sz="2000" b="0" dirty="0">
              <a:ea typeface="Arial" pitchFamily="34" charset="-122"/>
              <a:cs typeface="Arial" pitchFamily="34" charset="-120"/>
            </a:endParaRPr>
          </a:p>
          <a:p>
            <a:endParaRPr lang="en-US" sz="2000" b="0" dirty="0"/>
          </a:p>
          <a:p>
            <a:endParaRPr lang="LID4096" sz="2000" b="0" dirty="0"/>
          </a:p>
        </p:txBody>
      </p:sp>
      <p:sp>
        <p:nvSpPr>
          <p:cNvPr id="5" name="Slide Number Placeholder 4">
            <a:extLst>
              <a:ext uri="{FF2B5EF4-FFF2-40B4-BE49-F238E27FC236}">
                <a16:creationId xmlns:a16="http://schemas.microsoft.com/office/drawing/2014/main" id="{C4719840-DB46-4321-AB41-A8AB36020D11}"/>
              </a:ext>
            </a:extLst>
          </p:cNvPr>
          <p:cNvSpPr>
            <a:spLocks noGrp="1"/>
          </p:cNvSpPr>
          <p:nvPr>
            <p:ph type="sldNum" sz="quarter" idx="11"/>
          </p:nvPr>
        </p:nvSpPr>
        <p:spPr/>
        <p:txBody>
          <a:bodyPr/>
          <a:lstStyle/>
          <a:p>
            <a:fld id="{8BF4BE55-F1BA-4FEC-A992-35DFF9897356}" type="slidenum">
              <a:rPr lang="en-US" altLang="LID4096" smtClean="0"/>
              <a:pPr/>
              <a:t>2</a:t>
            </a:fld>
            <a:endParaRPr lang="en-US" altLang="LID4096"/>
          </a:p>
        </p:txBody>
      </p:sp>
    </p:spTree>
    <p:extLst>
      <p:ext uri="{BB962C8B-B14F-4D97-AF65-F5344CB8AC3E}">
        <p14:creationId xmlns:p14="http://schemas.microsoft.com/office/powerpoint/2010/main" val="20298965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72CA9-54A0-4E3D-A199-6B4B1113A495}"/>
              </a:ext>
            </a:extLst>
          </p:cNvPr>
          <p:cNvSpPr>
            <a:spLocks noGrp="1"/>
          </p:cNvSpPr>
          <p:nvPr>
            <p:ph type="title"/>
          </p:nvPr>
        </p:nvSpPr>
        <p:spPr/>
        <p:txBody>
          <a:bodyPr/>
          <a:lstStyle/>
          <a:p>
            <a:r>
              <a:rPr lang="en-US" dirty="0"/>
              <a:t>Supplier Selection Dilemma</a:t>
            </a:r>
            <a:endParaRPr lang="LID4096" dirty="0"/>
          </a:p>
        </p:txBody>
      </p:sp>
      <p:sp>
        <p:nvSpPr>
          <p:cNvPr id="3" name="Content Placeholder 2">
            <a:extLst>
              <a:ext uri="{FF2B5EF4-FFF2-40B4-BE49-F238E27FC236}">
                <a16:creationId xmlns:a16="http://schemas.microsoft.com/office/drawing/2014/main" id="{3C51D2BE-A8D3-4290-B321-74F8D5D5EF00}"/>
              </a:ext>
            </a:extLst>
          </p:cNvPr>
          <p:cNvSpPr>
            <a:spLocks noGrp="1"/>
          </p:cNvSpPr>
          <p:nvPr>
            <p:ph idx="1"/>
          </p:nvPr>
        </p:nvSpPr>
        <p:spPr>
          <a:xfrm>
            <a:off x="304800" y="1166018"/>
            <a:ext cx="8229600" cy="4525963"/>
          </a:xfrm>
        </p:spPr>
        <p:txBody>
          <a:bodyPr/>
          <a:lstStyle/>
          <a:p>
            <a:pPr marL="0" indent="0" fontAlgn="auto">
              <a:spcBef>
                <a:spcPts val="0"/>
              </a:spcBef>
              <a:spcAft>
                <a:spcPts val="0"/>
              </a:spcAft>
              <a:buNone/>
            </a:pPr>
            <a:r>
              <a:rPr lang="en-US" sz="2800" dirty="0">
                <a:solidFill>
                  <a:schemeClr val="tx1"/>
                </a:solidFill>
                <a:ea typeface="Arial" pitchFamily="34" charset="-122"/>
                <a:cs typeface="Arial" pitchFamily="34" charset="-120"/>
              </a:rPr>
              <a:t> </a:t>
            </a:r>
            <a:r>
              <a:rPr lang="en-US" sz="2800" b="1" dirty="0">
                <a:solidFill>
                  <a:schemeClr val="tx1"/>
                </a:solidFill>
                <a:ea typeface="Arial" pitchFamily="34" charset="-122"/>
                <a:cs typeface="Arial" pitchFamily="34" charset="-120"/>
              </a:rPr>
              <a:t>Supplier A: Low Cost</a:t>
            </a:r>
            <a:endParaRPr lang="en-US" sz="2800" dirty="0">
              <a:solidFill>
                <a:schemeClr val="tx1"/>
              </a:solidFill>
              <a:ea typeface="Arial" pitchFamily="34" charset="-122"/>
              <a:cs typeface="Arial" pitchFamily="34" charset="-120"/>
            </a:endParaRPr>
          </a:p>
          <a:p>
            <a:pPr fontAlgn="auto">
              <a:spcBef>
                <a:spcPts val="0"/>
              </a:spcBef>
              <a:spcAft>
                <a:spcPts val="0"/>
              </a:spcAft>
            </a:pPr>
            <a:r>
              <a:rPr lang="en-US" sz="2800" dirty="0">
                <a:solidFill>
                  <a:srgbClr val="CBD5E1"/>
                </a:solidFill>
                <a:ea typeface="Arial" pitchFamily="34" charset="-122"/>
                <a:cs typeface="Arial" pitchFamily="34" charset="-120"/>
              </a:rPr>
              <a:t>Price: 15% below market</a:t>
            </a:r>
          </a:p>
          <a:p>
            <a:pPr fontAlgn="auto">
              <a:spcBef>
                <a:spcPts val="0"/>
              </a:spcBef>
              <a:spcAft>
                <a:spcPts val="0"/>
              </a:spcAft>
            </a:pPr>
            <a:r>
              <a:rPr lang="en-US" sz="2800" dirty="0">
                <a:solidFill>
                  <a:srgbClr val="CBD5E1"/>
                </a:solidFill>
                <a:ea typeface="Arial" pitchFamily="34" charset="-122"/>
                <a:cs typeface="Arial" pitchFamily="34" charset="-120"/>
              </a:rPr>
              <a:t>Lead time: 12 weeks</a:t>
            </a:r>
          </a:p>
          <a:p>
            <a:pPr fontAlgn="auto">
              <a:spcBef>
                <a:spcPts val="0"/>
              </a:spcBef>
              <a:spcAft>
                <a:spcPts val="0"/>
              </a:spcAft>
            </a:pPr>
            <a:r>
              <a:rPr lang="en-US" sz="2800" dirty="0">
                <a:solidFill>
                  <a:srgbClr val="CBD5E1"/>
                </a:solidFill>
                <a:ea typeface="Arial" pitchFamily="34" charset="-122"/>
                <a:cs typeface="Arial" pitchFamily="34" charset="-120"/>
              </a:rPr>
              <a:t>Financial stability: Unclear</a:t>
            </a:r>
          </a:p>
          <a:p>
            <a:pPr fontAlgn="auto">
              <a:spcBef>
                <a:spcPts val="0"/>
              </a:spcBef>
              <a:spcAft>
                <a:spcPts val="0"/>
              </a:spcAft>
            </a:pPr>
            <a:r>
              <a:rPr lang="en-US" sz="2800" dirty="0">
                <a:solidFill>
                  <a:srgbClr val="CBD5E1"/>
                </a:solidFill>
                <a:ea typeface="Arial" pitchFamily="34" charset="-122"/>
                <a:cs typeface="Arial" pitchFamily="34" charset="-120"/>
              </a:rPr>
              <a:t>No long-term commitment</a:t>
            </a:r>
          </a:p>
          <a:p>
            <a:pPr fontAlgn="auto">
              <a:spcBef>
                <a:spcPts val="0"/>
              </a:spcBef>
              <a:spcAft>
                <a:spcPts val="0"/>
              </a:spcAft>
            </a:pPr>
            <a:endParaRPr lang="en-US" sz="2800" dirty="0">
              <a:solidFill>
                <a:srgbClr val="CBD5E1"/>
              </a:solidFill>
              <a:ea typeface="Arial" pitchFamily="34" charset="-122"/>
              <a:cs typeface="Arial" pitchFamily="34" charset="-120"/>
            </a:endParaRPr>
          </a:p>
          <a:p>
            <a:pPr marL="0" indent="0" fontAlgn="auto">
              <a:spcBef>
                <a:spcPts val="0"/>
              </a:spcBef>
              <a:spcAft>
                <a:spcPts val="0"/>
              </a:spcAft>
              <a:buNone/>
            </a:pPr>
            <a:r>
              <a:rPr lang="en-US" sz="2800" b="1" dirty="0">
                <a:solidFill>
                  <a:schemeClr val="tx1"/>
                </a:solidFill>
                <a:ea typeface="Arial" pitchFamily="34" charset="-122"/>
                <a:cs typeface="Arial" pitchFamily="34" charset="-120"/>
              </a:rPr>
              <a:t>Supplier B: Stable Partner</a:t>
            </a:r>
            <a:r>
              <a:rPr lang="en-US" sz="2800" dirty="0">
                <a:solidFill>
                  <a:schemeClr val="tx1"/>
                </a:solidFill>
                <a:ea typeface="Arial" pitchFamily="34" charset="-122"/>
                <a:cs typeface="Arial" pitchFamily="34" charset="-120"/>
              </a:rPr>
              <a:t> </a:t>
            </a:r>
          </a:p>
          <a:p>
            <a:pPr fontAlgn="auto">
              <a:spcBef>
                <a:spcPts val="0"/>
              </a:spcBef>
              <a:spcAft>
                <a:spcPts val="0"/>
              </a:spcAft>
            </a:pPr>
            <a:r>
              <a:rPr lang="en-US" sz="2800" dirty="0">
                <a:solidFill>
                  <a:srgbClr val="CBD5E1"/>
                </a:solidFill>
                <a:ea typeface="Arial" pitchFamily="34" charset="-122"/>
                <a:cs typeface="Arial" pitchFamily="34" charset="-120"/>
              </a:rPr>
              <a:t>Price: Market standard</a:t>
            </a:r>
          </a:p>
          <a:p>
            <a:pPr fontAlgn="auto">
              <a:spcBef>
                <a:spcPts val="0"/>
              </a:spcBef>
              <a:spcAft>
                <a:spcPts val="0"/>
              </a:spcAft>
            </a:pPr>
            <a:r>
              <a:rPr lang="en-US" sz="2800" dirty="0">
                <a:solidFill>
                  <a:srgbClr val="CBD5E1"/>
                </a:solidFill>
                <a:ea typeface="Arial" pitchFamily="34" charset="-122"/>
                <a:cs typeface="Arial" pitchFamily="34" charset="-120"/>
              </a:rPr>
              <a:t>Lead time: 6 weeks</a:t>
            </a:r>
          </a:p>
          <a:p>
            <a:pPr fontAlgn="auto">
              <a:spcBef>
                <a:spcPts val="0"/>
              </a:spcBef>
              <a:spcAft>
                <a:spcPts val="0"/>
              </a:spcAft>
            </a:pPr>
            <a:r>
              <a:rPr lang="en-US" sz="2800" dirty="0">
                <a:solidFill>
                  <a:srgbClr val="CBD5E1"/>
                </a:solidFill>
                <a:ea typeface="Arial" pitchFamily="34" charset="-122"/>
                <a:cs typeface="Arial" pitchFamily="34" charset="-120"/>
              </a:rPr>
              <a:t>ISO 9001, strong financials</a:t>
            </a:r>
          </a:p>
          <a:p>
            <a:pPr fontAlgn="auto">
              <a:spcBef>
                <a:spcPts val="0"/>
              </a:spcBef>
              <a:spcAft>
                <a:spcPts val="0"/>
              </a:spcAft>
            </a:pPr>
            <a:r>
              <a:rPr lang="en-US" sz="2800" dirty="0">
                <a:solidFill>
                  <a:srgbClr val="CBD5E1"/>
                </a:solidFill>
                <a:ea typeface="Arial" pitchFamily="34" charset="-122"/>
                <a:cs typeface="Arial" pitchFamily="34" charset="-120"/>
              </a:rPr>
              <a:t>Proven 5-year track record</a:t>
            </a:r>
            <a:endParaRPr lang="en-US" sz="2800" dirty="0">
              <a:solidFill>
                <a:prstClr val="black"/>
              </a:solidFill>
              <a:latin typeface="Calibri" panose="020F0502020204030204"/>
            </a:endParaRPr>
          </a:p>
          <a:p>
            <a:pPr fontAlgn="auto">
              <a:spcBef>
                <a:spcPts val="0"/>
              </a:spcBef>
              <a:spcAft>
                <a:spcPts val="0"/>
              </a:spcAft>
            </a:pPr>
            <a:endParaRPr lang="en-US" sz="2800" dirty="0">
              <a:solidFill>
                <a:prstClr val="black"/>
              </a:solidFill>
              <a:latin typeface="Calibri" panose="020F0502020204030204"/>
            </a:endParaRPr>
          </a:p>
          <a:p>
            <a:endParaRPr lang="LID4096" sz="2800" dirty="0"/>
          </a:p>
        </p:txBody>
      </p:sp>
      <p:sp>
        <p:nvSpPr>
          <p:cNvPr id="5" name="Slide Number Placeholder 4">
            <a:extLst>
              <a:ext uri="{FF2B5EF4-FFF2-40B4-BE49-F238E27FC236}">
                <a16:creationId xmlns:a16="http://schemas.microsoft.com/office/drawing/2014/main" id="{02D2357A-BC2B-478D-9384-AE1CB9721A86}"/>
              </a:ext>
            </a:extLst>
          </p:cNvPr>
          <p:cNvSpPr>
            <a:spLocks noGrp="1"/>
          </p:cNvSpPr>
          <p:nvPr>
            <p:ph type="sldNum" sz="quarter" idx="11"/>
          </p:nvPr>
        </p:nvSpPr>
        <p:spPr/>
        <p:txBody>
          <a:bodyPr/>
          <a:lstStyle/>
          <a:p>
            <a:fld id="{8BF4BE55-F1BA-4FEC-A992-35DFF9897356}" type="slidenum">
              <a:rPr lang="en-US" altLang="LID4096" smtClean="0"/>
              <a:pPr/>
              <a:t>3</a:t>
            </a:fld>
            <a:endParaRPr lang="en-US" altLang="LID4096"/>
          </a:p>
        </p:txBody>
      </p:sp>
    </p:spTree>
    <p:extLst>
      <p:ext uri="{BB962C8B-B14F-4D97-AF65-F5344CB8AC3E}">
        <p14:creationId xmlns:p14="http://schemas.microsoft.com/office/powerpoint/2010/main" val="15903240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32B43-6FA6-4784-AC1E-0C453B05B4C1}"/>
              </a:ext>
            </a:extLst>
          </p:cNvPr>
          <p:cNvSpPr>
            <a:spLocks noGrp="1"/>
          </p:cNvSpPr>
          <p:nvPr>
            <p:ph type="title"/>
          </p:nvPr>
        </p:nvSpPr>
        <p:spPr/>
        <p:txBody>
          <a:bodyPr/>
          <a:lstStyle/>
          <a:p>
            <a:r>
              <a:rPr lang="en-US" dirty="0"/>
              <a:t>Open Discussion</a:t>
            </a:r>
            <a:endParaRPr lang="LID4096" dirty="0"/>
          </a:p>
        </p:txBody>
      </p:sp>
      <p:sp>
        <p:nvSpPr>
          <p:cNvPr id="3" name="Content Placeholder 2">
            <a:extLst>
              <a:ext uri="{FF2B5EF4-FFF2-40B4-BE49-F238E27FC236}">
                <a16:creationId xmlns:a16="http://schemas.microsoft.com/office/drawing/2014/main" id="{C3F42A49-2667-4941-AFFD-F20DF9D7FA8A}"/>
              </a:ext>
            </a:extLst>
          </p:cNvPr>
          <p:cNvSpPr>
            <a:spLocks noGrp="1"/>
          </p:cNvSpPr>
          <p:nvPr>
            <p:ph idx="1"/>
          </p:nvPr>
        </p:nvSpPr>
        <p:spPr/>
        <p:txBody>
          <a:bodyPr/>
          <a:lstStyle/>
          <a:p>
            <a:pPr marL="514350" indent="-514350" algn="just">
              <a:buFont typeface="+mj-lt"/>
              <a:buAutoNum type="arabicPeriod"/>
            </a:pPr>
            <a:r>
              <a:rPr lang="en-US" sz="3200" b="1" dirty="0">
                <a:latin typeface="Arial" pitchFamily="34" charset="0"/>
                <a:ea typeface="Arial" pitchFamily="34" charset="-122"/>
                <a:cs typeface="Arial" pitchFamily="34" charset="-120"/>
              </a:rPr>
              <a:t>What criteria matter most?</a:t>
            </a:r>
          </a:p>
          <a:p>
            <a:pPr marL="514350" indent="-514350" algn="just">
              <a:buFont typeface="+mj-lt"/>
              <a:buAutoNum type="arabicPeriod"/>
            </a:pPr>
            <a:endParaRPr lang="en-US" sz="3200" dirty="0"/>
          </a:p>
          <a:p>
            <a:pPr marL="514350" indent="-514350" algn="just">
              <a:buFont typeface="+mj-lt"/>
              <a:buAutoNum type="arabicPeriod"/>
            </a:pPr>
            <a:r>
              <a:rPr lang="en-US" sz="3200" b="1" dirty="0">
                <a:latin typeface="Arial" pitchFamily="34" charset="0"/>
                <a:ea typeface="Arial" pitchFamily="34" charset="-122"/>
                <a:cs typeface="Arial" pitchFamily="34" charset="-120"/>
              </a:rPr>
              <a:t>How do we measure supplier capability?</a:t>
            </a:r>
          </a:p>
          <a:p>
            <a:pPr marL="514350" indent="-514350" algn="just">
              <a:buFont typeface="+mj-lt"/>
              <a:buAutoNum type="arabicPeriod"/>
            </a:pPr>
            <a:endParaRPr lang="en-US" sz="3200" dirty="0"/>
          </a:p>
          <a:p>
            <a:pPr marL="514350" indent="-514350" algn="just">
              <a:buFont typeface="+mj-lt"/>
              <a:buAutoNum type="arabicPeriod"/>
            </a:pPr>
            <a:r>
              <a:rPr lang="en-US" sz="3200" b="1" dirty="0">
                <a:latin typeface="Arial" pitchFamily="34" charset="0"/>
                <a:ea typeface="Arial" pitchFamily="34" charset="-122"/>
                <a:cs typeface="Arial" pitchFamily="34" charset="-120"/>
              </a:rPr>
              <a:t>Should strategy differ by commodity?</a:t>
            </a:r>
            <a:endParaRPr lang="en-US" sz="3200" dirty="0"/>
          </a:p>
          <a:p>
            <a:endParaRPr lang="LID4096" dirty="0"/>
          </a:p>
        </p:txBody>
      </p:sp>
      <p:sp>
        <p:nvSpPr>
          <p:cNvPr id="4" name="Footer Placeholder 3">
            <a:extLst>
              <a:ext uri="{FF2B5EF4-FFF2-40B4-BE49-F238E27FC236}">
                <a16:creationId xmlns:a16="http://schemas.microsoft.com/office/drawing/2014/main" id="{23AF68C0-6259-4E80-B6A0-74BAEA12B681}"/>
              </a:ext>
            </a:extLst>
          </p:cNvPr>
          <p:cNvSpPr>
            <a:spLocks noGrp="1"/>
          </p:cNvSpPr>
          <p:nvPr>
            <p:ph type="ftr" sz="quarter" idx="10"/>
          </p:nvPr>
        </p:nvSpPr>
        <p:spPr/>
        <p:txBody>
          <a:bodyPr/>
          <a:lstStyle/>
          <a:p>
            <a:pPr>
              <a:defRPr/>
            </a:pPr>
            <a:r>
              <a:rPr lang="en-US"/>
              <a:t>Purchasing &amp; Supply Chain Management, 4e</a:t>
            </a:r>
          </a:p>
          <a:p>
            <a:pPr>
              <a:defRPr/>
            </a:pPr>
            <a:endParaRPr lang="en-US"/>
          </a:p>
        </p:txBody>
      </p:sp>
      <p:sp>
        <p:nvSpPr>
          <p:cNvPr id="5" name="Slide Number Placeholder 4">
            <a:extLst>
              <a:ext uri="{FF2B5EF4-FFF2-40B4-BE49-F238E27FC236}">
                <a16:creationId xmlns:a16="http://schemas.microsoft.com/office/drawing/2014/main" id="{659D0E8C-CD55-40B9-97AF-471A7157E5FD}"/>
              </a:ext>
            </a:extLst>
          </p:cNvPr>
          <p:cNvSpPr>
            <a:spLocks noGrp="1"/>
          </p:cNvSpPr>
          <p:nvPr>
            <p:ph type="sldNum" sz="quarter" idx="11"/>
          </p:nvPr>
        </p:nvSpPr>
        <p:spPr/>
        <p:txBody>
          <a:bodyPr/>
          <a:lstStyle/>
          <a:p>
            <a:fld id="{8BF4BE55-F1BA-4FEC-A992-35DFF9897356}" type="slidenum">
              <a:rPr lang="en-US" altLang="LID4096" smtClean="0"/>
              <a:pPr/>
              <a:t>4</a:t>
            </a:fld>
            <a:endParaRPr lang="en-US" altLang="LID4096"/>
          </a:p>
        </p:txBody>
      </p:sp>
      <p:sp>
        <p:nvSpPr>
          <p:cNvPr id="9" name="Text 3">
            <a:extLst>
              <a:ext uri="{FF2B5EF4-FFF2-40B4-BE49-F238E27FC236}">
                <a16:creationId xmlns:a16="http://schemas.microsoft.com/office/drawing/2014/main" id="{F328374B-548A-4193-A094-D166CC8ABDDA}"/>
              </a:ext>
            </a:extLst>
          </p:cNvPr>
          <p:cNvSpPr/>
          <p:nvPr/>
        </p:nvSpPr>
        <p:spPr>
          <a:xfrm>
            <a:off x="609600" y="609600"/>
            <a:ext cx="8083296" cy="411460"/>
          </a:xfrm>
          <a:prstGeom prst="rect">
            <a:avLst/>
          </a:prstGeom>
          <a:noFill/>
          <a:ln/>
        </p:spPr>
        <p:txBody>
          <a:bodyPr wrap="square" lIns="0" tIns="0" rIns="0" bIns="0" rtlCol="0" anchor="t"/>
          <a:lstStyle/>
          <a:p>
            <a:pPr marL="0" indent="0">
              <a:lnSpc>
                <a:spcPts val="3240"/>
              </a:lnSpc>
              <a:buNone/>
            </a:pPr>
            <a:endParaRPr lang="en-US" sz="2700" dirty="0"/>
          </a:p>
        </p:txBody>
      </p:sp>
      <p:sp>
        <p:nvSpPr>
          <p:cNvPr id="10" name="Text 4">
            <a:extLst>
              <a:ext uri="{FF2B5EF4-FFF2-40B4-BE49-F238E27FC236}">
                <a16:creationId xmlns:a16="http://schemas.microsoft.com/office/drawing/2014/main" id="{44AFA268-D3F4-4FBB-AB3F-23CAF92E0BA8}"/>
              </a:ext>
            </a:extLst>
          </p:cNvPr>
          <p:cNvSpPr/>
          <p:nvPr/>
        </p:nvSpPr>
        <p:spPr>
          <a:xfrm>
            <a:off x="876300" y="1478261"/>
            <a:ext cx="7578090" cy="274241"/>
          </a:xfrm>
          <a:prstGeom prst="rect">
            <a:avLst/>
          </a:prstGeom>
          <a:noFill/>
          <a:ln/>
        </p:spPr>
        <p:txBody>
          <a:bodyPr wrap="square" lIns="0" tIns="0" rIns="0" bIns="0" rtlCol="0" anchor="t"/>
          <a:lstStyle/>
          <a:p>
            <a:pPr marL="0" indent="0">
              <a:lnSpc>
                <a:spcPts val="2160"/>
              </a:lnSpc>
              <a:buNone/>
            </a:pPr>
            <a:endParaRPr lang="en-US" sz="1800" dirty="0"/>
          </a:p>
        </p:txBody>
      </p:sp>
      <p:sp>
        <p:nvSpPr>
          <p:cNvPr id="12" name="Text 6">
            <a:extLst>
              <a:ext uri="{FF2B5EF4-FFF2-40B4-BE49-F238E27FC236}">
                <a16:creationId xmlns:a16="http://schemas.microsoft.com/office/drawing/2014/main" id="{6901BBA9-1A0A-4CE2-8A6C-34C98974CC99}"/>
              </a:ext>
            </a:extLst>
          </p:cNvPr>
          <p:cNvSpPr/>
          <p:nvPr/>
        </p:nvSpPr>
        <p:spPr>
          <a:xfrm>
            <a:off x="876300" y="2679006"/>
            <a:ext cx="7578090" cy="274241"/>
          </a:xfrm>
          <a:prstGeom prst="rect">
            <a:avLst/>
          </a:prstGeom>
          <a:noFill/>
          <a:ln/>
        </p:spPr>
        <p:txBody>
          <a:bodyPr wrap="square" lIns="0" tIns="0" rIns="0" bIns="0" rtlCol="0" anchor="t"/>
          <a:lstStyle/>
          <a:p>
            <a:pPr marL="0" indent="0">
              <a:lnSpc>
                <a:spcPts val="2160"/>
              </a:lnSpc>
              <a:buNone/>
            </a:pPr>
            <a:endParaRPr lang="en-US" sz="1800" dirty="0"/>
          </a:p>
        </p:txBody>
      </p:sp>
      <p:sp>
        <p:nvSpPr>
          <p:cNvPr id="14" name="Text 8">
            <a:extLst>
              <a:ext uri="{FF2B5EF4-FFF2-40B4-BE49-F238E27FC236}">
                <a16:creationId xmlns:a16="http://schemas.microsoft.com/office/drawing/2014/main" id="{3E3BE937-58F0-4B5D-9361-2B92125645C7}"/>
              </a:ext>
            </a:extLst>
          </p:cNvPr>
          <p:cNvSpPr/>
          <p:nvPr/>
        </p:nvSpPr>
        <p:spPr>
          <a:xfrm>
            <a:off x="876300" y="3879752"/>
            <a:ext cx="7578090" cy="274241"/>
          </a:xfrm>
          <a:prstGeom prst="rect">
            <a:avLst/>
          </a:prstGeom>
          <a:noFill/>
          <a:ln/>
        </p:spPr>
        <p:txBody>
          <a:bodyPr wrap="square" lIns="0" tIns="0" rIns="0" bIns="0" rtlCol="0" anchor="t"/>
          <a:lstStyle/>
          <a:p>
            <a:pPr marL="0" indent="0">
              <a:lnSpc>
                <a:spcPts val="2160"/>
              </a:lnSpc>
              <a:buNone/>
            </a:pPr>
            <a:endParaRPr lang="en-US" sz="1800" dirty="0"/>
          </a:p>
        </p:txBody>
      </p:sp>
    </p:spTree>
    <p:extLst>
      <p:ext uri="{BB962C8B-B14F-4D97-AF65-F5344CB8AC3E}">
        <p14:creationId xmlns:p14="http://schemas.microsoft.com/office/powerpoint/2010/main" val="13198140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DC42BDF9-D709-4402-9A77-170FA1D00752}"/>
              </a:ext>
            </a:extLst>
          </p:cNvPr>
          <p:cNvSpPr>
            <a:spLocks noGrp="1"/>
          </p:cNvSpPr>
          <p:nvPr>
            <p:ph type="title"/>
          </p:nvPr>
        </p:nvSpPr>
        <p:spPr/>
        <p:txBody>
          <a:bodyPr/>
          <a:lstStyle/>
          <a:p>
            <a:r>
              <a:rPr lang="en-US" altLang="LID4096"/>
              <a:t>Chapter Overview</a:t>
            </a:r>
          </a:p>
        </p:txBody>
      </p:sp>
      <p:sp>
        <p:nvSpPr>
          <p:cNvPr id="3" name="Content Placeholder 2">
            <a:extLst>
              <a:ext uri="{FF2B5EF4-FFF2-40B4-BE49-F238E27FC236}">
                <a16:creationId xmlns:a16="http://schemas.microsoft.com/office/drawing/2014/main" id="{6BC255DD-BA97-4C26-8CBA-F9F99370E201}"/>
              </a:ext>
            </a:extLst>
          </p:cNvPr>
          <p:cNvSpPr>
            <a:spLocks noGrp="1"/>
          </p:cNvSpPr>
          <p:nvPr>
            <p:ph idx="1"/>
          </p:nvPr>
        </p:nvSpPr>
        <p:spPr/>
        <p:txBody>
          <a:bodyPr/>
          <a:lstStyle/>
          <a:p>
            <a:pPr algn="just">
              <a:defRPr/>
            </a:pPr>
            <a:r>
              <a:rPr lang="en-US" dirty="0">
                <a:solidFill>
                  <a:srgbClr val="0000FF"/>
                </a:solidFill>
              </a:rPr>
              <a:t>Supplier</a:t>
            </a:r>
            <a:r>
              <a:rPr lang="en-US" dirty="0"/>
              <a:t> evaluation and selection process</a:t>
            </a:r>
          </a:p>
          <a:p>
            <a:pPr algn="just">
              <a:defRPr/>
            </a:pPr>
            <a:r>
              <a:rPr lang="en-US" dirty="0"/>
              <a:t>Key supplier </a:t>
            </a:r>
            <a:r>
              <a:rPr lang="en-US" dirty="0">
                <a:solidFill>
                  <a:srgbClr val="0000FF"/>
                </a:solidFill>
              </a:rPr>
              <a:t>evaluation </a:t>
            </a:r>
            <a:r>
              <a:rPr lang="en-US" dirty="0"/>
              <a:t>criteria</a:t>
            </a:r>
          </a:p>
          <a:p>
            <a:pPr algn="just">
              <a:defRPr/>
            </a:pPr>
            <a:r>
              <a:rPr lang="en-US" dirty="0"/>
              <a:t>Developing a supplier evaluation and selection survey</a:t>
            </a:r>
          </a:p>
          <a:p>
            <a:pPr algn="just">
              <a:defRPr/>
            </a:pPr>
            <a:r>
              <a:rPr lang="en-US" dirty="0"/>
              <a:t>Critical supplier </a:t>
            </a:r>
            <a:r>
              <a:rPr lang="en-US" dirty="0">
                <a:solidFill>
                  <a:srgbClr val="0000FF"/>
                </a:solidFill>
              </a:rPr>
              <a:t>selection issues</a:t>
            </a:r>
          </a:p>
          <a:p>
            <a:pPr algn="just">
              <a:defRPr/>
            </a:pPr>
            <a:r>
              <a:rPr lang="en-US" dirty="0"/>
              <a:t>Reducing supplier evaluation and selection cycle time</a:t>
            </a:r>
          </a:p>
        </p:txBody>
      </p:sp>
      <p:sp>
        <p:nvSpPr>
          <p:cNvPr id="4" name="Footer Placeholder 3">
            <a:extLst>
              <a:ext uri="{FF2B5EF4-FFF2-40B4-BE49-F238E27FC236}">
                <a16:creationId xmlns:a16="http://schemas.microsoft.com/office/drawing/2014/main" id="{761CDBB0-3F94-4524-A0F5-8651399C9A84}"/>
              </a:ext>
            </a:extLst>
          </p:cNvPr>
          <p:cNvSpPr>
            <a:spLocks noGrp="1"/>
          </p:cNvSpPr>
          <p:nvPr>
            <p:ph type="ftr" sz="quarter" idx="10"/>
          </p:nvPr>
        </p:nvSpPr>
        <p:spPr/>
        <p:txBody>
          <a:bodyPr/>
          <a:lstStyle/>
          <a:p>
            <a:pPr>
              <a:defRPr/>
            </a:pPr>
            <a:r>
              <a:rPr lang="en-US"/>
              <a:t>Purchasing &amp; Supply Chain Management, 4e</a:t>
            </a:r>
          </a:p>
          <a:p>
            <a:pPr>
              <a:defRPr/>
            </a:pPr>
            <a:endParaRPr lang="en-US"/>
          </a:p>
        </p:txBody>
      </p:sp>
      <p:sp>
        <p:nvSpPr>
          <p:cNvPr id="5" name="Slide Number Placeholder 4">
            <a:extLst>
              <a:ext uri="{FF2B5EF4-FFF2-40B4-BE49-F238E27FC236}">
                <a16:creationId xmlns:a16="http://schemas.microsoft.com/office/drawing/2014/main" id="{51A8BA32-280E-4573-BBD9-B3A6A6D993CD}"/>
              </a:ext>
            </a:extLst>
          </p:cNvPr>
          <p:cNvSpPr>
            <a:spLocks noGrp="1"/>
          </p:cNvSpPr>
          <p:nvPr>
            <p:ph type="sldNum" sz="quarter" idx="11"/>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fld id="{8700114A-96BB-4BE4-95B9-D793C4C4C611}" type="slidenum">
              <a:rPr lang="en-US" altLang="LID4096">
                <a:solidFill>
                  <a:srgbClr val="FFFFFF"/>
                </a:solidFill>
              </a:rPr>
              <a:pPr/>
              <a:t>5</a:t>
            </a:fld>
            <a:endParaRPr lang="en-US" altLang="LID4096">
              <a:solidFill>
                <a:srgbClr val="FFFFF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a:extLst>
              <a:ext uri="{FF2B5EF4-FFF2-40B4-BE49-F238E27FC236}">
                <a16:creationId xmlns:a16="http://schemas.microsoft.com/office/drawing/2014/main" id="{8A40E85A-8831-404F-8AE6-6FD5AE60B96F}"/>
              </a:ext>
            </a:extLst>
          </p:cNvPr>
          <p:cNvSpPr>
            <a:spLocks noGrp="1"/>
          </p:cNvSpPr>
          <p:nvPr>
            <p:ph type="title"/>
          </p:nvPr>
        </p:nvSpPr>
        <p:spPr/>
        <p:txBody>
          <a:bodyPr/>
          <a:lstStyle/>
          <a:p>
            <a:r>
              <a:rPr lang="en-US" altLang="LID4096"/>
              <a:t>Evaluation and Selection Process</a:t>
            </a:r>
          </a:p>
        </p:txBody>
      </p:sp>
      <p:sp>
        <p:nvSpPr>
          <p:cNvPr id="3" name="Content Placeholder 2">
            <a:extLst>
              <a:ext uri="{FF2B5EF4-FFF2-40B4-BE49-F238E27FC236}">
                <a16:creationId xmlns:a16="http://schemas.microsoft.com/office/drawing/2014/main" id="{6D7C7BF3-BC8E-455B-BA38-798EFCF5F5FC}"/>
              </a:ext>
            </a:extLst>
          </p:cNvPr>
          <p:cNvSpPr>
            <a:spLocks noGrp="1"/>
          </p:cNvSpPr>
          <p:nvPr>
            <p:ph idx="1"/>
          </p:nvPr>
        </p:nvSpPr>
        <p:spPr/>
        <p:txBody>
          <a:bodyPr/>
          <a:lstStyle/>
          <a:p>
            <a:pPr>
              <a:defRPr/>
            </a:pPr>
            <a:r>
              <a:rPr lang="en-US" dirty="0"/>
              <a:t>No “one best way.”</a:t>
            </a:r>
          </a:p>
          <a:p>
            <a:pPr>
              <a:defRPr/>
            </a:pPr>
            <a:r>
              <a:rPr lang="en-US" dirty="0"/>
              <a:t>Overall objective is to reduce </a:t>
            </a:r>
            <a:r>
              <a:rPr lang="en-US" dirty="0">
                <a:solidFill>
                  <a:srgbClr val="0000FF"/>
                </a:solidFill>
              </a:rPr>
              <a:t>sourcing risk</a:t>
            </a:r>
            <a:r>
              <a:rPr lang="en-US" dirty="0"/>
              <a:t> and </a:t>
            </a:r>
            <a:r>
              <a:rPr lang="en-US" dirty="0">
                <a:solidFill>
                  <a:srgbClr val="0000FF"/>
                </a:solidFill>
              </a:rPr>
              <a:t>maximize value </a:t>
            </a:r>
            <a:r>
              <a:rPr lang="en-US" dirty="0"/>
              <a:t>to the buyer</a:t>
            </a:r>
          </a:p>
          <a:p>
            <a:pPr>
              <a:defRPr/>
            </a:pPr>
            <a:r>
              <a:rPr lang="en-US" dirty="0"/>
              <a:t>Need to select suppliers for the </a:t>
            </a:r>
            <a:r>
              <a:rPr lang="en-US" dirty="0">
                <a:solidFill>
                  <a:srgbClr val="0000FF"/>
                </a:solidFill>
              </a:rPr>
              <a:t>long-term</a:t>
            </a:r>
          </a:p>
        </p:txBody>
      </p:sp>
      <p:sp>
        <p:nvSpPr>
          <p:cNvPr id="4" name="Footer Placeholder 3">
            <a:extLst>
              <a:ext uri="{FF2B5EF4-FFF2-40B4-BE49-F238E27FC236}">
                <a16:creationId xmlns:a16="http://schemas.microsoft.com/office/drawing/2014/main" id="{0F5FB702-F874-465E-9EB3-F1833C912F11}"/>
              </a:ext>
            </a:extLst>
          </p:cNvPr>
          <p:cNvSpPr>
            <a:spLocks noGrp="1"/>
          </p:cNvSpPr>
          <p:nvPr>
            <p:ph type="ftr" sz="quarter" idx="10"/>
          </p:nvPr>
        </p:nvSpPr>
        <p:spPr/>
        <p:txBody>
          <a:bodyPr/>
          <a:lstStyle/>
          <a:p>
            <a:pPr>
              <a:defRPr/>
            </a:pPr>
            <a:r>
              <a:rPr lang="en-US"/>
              <a:t>Purchasing &amp; Supply Chain Management, 4e</a:t>
            </a:r>
          </a:p>
          <a:p>
            <a:pPr>
              <a:defRPr/>
            </a:pPr>
            <a:endParaRPr lang="en-US"/>
          </a:p>
        </p:txBody>
      </p:sp>
      <p:sp>
        <p:nvSpPr>
          <p:cNvPr id="5" name="Slide Number Placeholder 4">
            <a:extLst>
              <a:ext uri="{FF2B5EF4-FFF2-40B4-BE49-F238E27FC236}">
                <a16:creationId xmlns:a16="http://schemas.microsoft.com/office/drawing/2014/main" id="{B7F0A659-ACA7-4459-A3DD-399B5037F060}"/>
              </a:ext>
            </a:extLst>
          </p:cNvPr>
          <p:cNvSpPr>
            <a:spLocks noGrp="1"/>
          </p:cNvSpPr>
          <p:nvPr>
            <p:ph type="sldNum" sz="quarter" idx="11"/>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fld id="{E67531F5-AA1D-41C4-86CB-61B5D7E2B287}" type="slidenum">
              <a:rPr lang="en-US" altLang="LID4096">
                <a:solidFill>
                  <a:srgbClr val="FFFFFF"/>
                </a:solidFill>
              </a:rPr>
              <a:pPr/>
              <a:t>6</a:t>
            </a:fld>
            <a:endParaRPr lang="en-US" altLang="LID4096">
              <a:solidFill>
                <a:srgbClr val="FFFFFF"/>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a:extLst>
              <a:ext uri="{FF2B5EF4-FFF2-40B4-BE49-F238E27FC236}">
                <a16:creationId xmlns:a16="http://schemas.microsoft.com/office/drawing/2014/main" id="{EC19B8F3-78DC-46A4-82EC-6722D5D9C807}"/>
              </a:ext>
            </a:extLst>
          </p:cNvPr>
          <p:cNvSpPr>
            <a:spLocks noGrp="1"/>
          </p:cNvSpPr>
          <p:nvPr>
            <p:ph type="title"/>
          </p:nvPr>
        </p:nvSpPr>
        <p:spPr/>
        <p:txBody>
          <a:bodyPr/>
          <a:lstStyle/>
          <a:p>
            <a:r>
              <a:rPr lang="en-US" altLang="LID4096"/>
              <a:t>Supplier Selection and Evaluation</a:t>
            </a:r>
          </a:p>
        </p:txBody>
      </p:sp>
      <p:graphicFrame>
        <p:nvGraphicFramePr>
          <p:cNvPr id="6" name="Content Placeholder 5">
            <a:extLst>
              <a:ext uri="{FF2B5EF4-FFF2-40B4-BE49-F238E27FC236}">
                <a16:creationId xmlns:a16="http://schemas.microsoft.com/office/drawing/2014/main" id="{0BDBABD5-640D-461D-A995-E4C525C6D77D}"/>
              </a:ext>
            </a:extLst>
          </p:cNvPr>
          <p:cNvGraphicFramePr>
            <a:graphicFrameLocks noGrp="1"/>
          </p:cNvGraphicFramePr>
          <p:nvPr>
            <p:ph idx="1"/>
            <p:extLst>
              <p:ext uri="{D42A27DB-BD31-4B8C-83A1-F6EECF244321}">
                <p14:modId xmlns:p14="http://schemas.microsoft.com/office/powerpoint/2010/main" val="2814787543"/>
              </p:ext>
            </p:extLst>
          </p:nvPr>
        </p:nvGraphicFramePr>
        <p:xfrm>
          <a:off x="457200" y="1371601"/>
          <a:ext cx="8229600"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Footer Placeholder 3">
            <a:extLst>
              <a:ext uri="{FF2B5EF4-FFF2-40B4-BE49-F238E27FC236}">
                <a16:creationId xmlns:a16="http://schemas.microsoft.com/office/drawing/2014/main" id="{71F5E063-3376-4E6C-A9E3-3782898605A4}"/>
              </a:ext>
            </a:extLst>
          </p:cNvPr>
          <p:cNvSpPr>
            <a:spLocks noGrp="1"/>
          </p:cNvSpPr>
          <p:nvPr>
            <p:ph type="ftr" sz="quarter" idx="10"/>
          </p:nvPr>
        </p:nvSpPr>
        <p:spPr/>
        <p:txBody>
          <a:bodyPr/>
          <a:lstStyle/>
          <a:p>
            <a:pPr>
              <a:defRPr/>
            </a:pPr>
            <a:r>
              <a:rPr lang="en-US"/>
              <a:t>Purchasing &amp; Supply Chain Management, 4e</a:t>
            </a:r>
          </a:p>
          <a:p>
            <a:pPr>
              <a:defRPr/>
            </a:pPr>
            <a:endParaRPr lang="en-US"/>
          </a:p>
        </p:txBody>
      </p:sp>
      <p:sp>
        <p:nvSpPr>
          <p:cNvPr id="5" name="Slide Number Placeholder 4">
            <a:extLst>
              <a:ext uri="{FF2B5EF4-FFF2-40B4-BE49-F238E27FC236}">
                <a16:creationId xmlns:a16="http://schemas.microsoft.com/office/drawing/2014/main" id="{A78F9E25-E4B1-4AA9-B33B-A7417041E3FF}"/>
              </a:ext>
            </a:extLst>
          </p:cNvPr>
          <p:cNvSpPr>
            <a:spLocks noGrp="1"/>
          </p:cNvSpPr>
          <p:nvPr>
            <p:ph type="sldNum" sz="quarter" idx="11"/>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fld id="{E9624A3A-B219-4EDC-97FC-FB31EA0E9282}" type="slidenum">
              <a:rPr lang="en-US" altLang="LID4096">
                <a:solidFill>
                  <a:srgbClr val="FFFFFF"/>
                </a:solidFill>
              </a:rPr>
              <a:pPr/>
              <a:t>7</a:t>
            </a:fld>
            <a:endParaRPr lang="en-US" altLang="LID4096">
              <a:solidFill>
                <a:srgbClr val="FFFFFF"/>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a:extLst>
              <a:ext uri="{FF2B5EF4-FFF2-40B4-BE49-F238E27FC236}">
                <a16:creationId xmlns:a16="http://schemas.microsoft.com/office/drawing/2014/main" id="{70BCF556-E2DC-436B-970A-357DF89B8221}"/>
              </a:ext>
            </a:extLst>
          </p:cNvPr>
          <p:cNvSpPr>
            <a:spLocks noGrp="1"/>
          </p:cNvSpPr>
          <p:nvPr>
            <p:ph type="title"/>
          </p:nvPr>
        </p:nvSpPr>
        <p:spPr/>
        <p:txBody>
          <a:bodyPr/>
          <a:lstStyle/>
          <a:p>
            <a:r>
              <a:rPr lang="en-US" altLang="LID4096" dirty="0"/>
              <a:t>1. Need of supplier selection</a:t>
            </a:r>
          </a:p>
        </p:txBody>
      </p:sp>
      <p:sp>
        <p:nvSpPr>
          <p:cNvPr id="3" name="Content Placeholder 2">
            <a:extLst>
              <a:ext uri="{FF2B5EF4-FFF2-40B4-BE49-F238E27FC236}">
                <a16:creationId xmlns:a16="http://schemas.microsoft.com/office/drawing/2014/main" id="{275E1999-E50D-49F4-8B1B-880FA3B6BF82}"/>
              </a:ext>
            </a:extLst>
          </p:cNvPr>
          <p:cNvSpPr>
            <a:spLocks noGrp="1"/>
          </p:cNvSpPr>
          <p:nvPr>
            <p:ph idx="1"/>
          </p:nvPr>
        </p:nvSpPr>
        <p:spPr/>
        <p:txBody>
          <a:bodyPr/>
          <a:lstStyle/>
          <a:p>
            <a:pPr algn="just">
              <a:defRPr/>
            </a:pPr>
            <a:r>
              <a:rPr lang="en-US" dirty="0"/>
              <a:t>During </a:t>
            </a:r>
            <a:r>
              <a:rPr lang="en-US" dirty="0">
                <a:solidFill>
                  <a:srgbClr val="0000FF"/>
                </a:solidFill>
              </a:rPr>
              <a:t>new product </a:t>
            </a:r>
            <a:r>
              <a:rPr lang="en-US" dirty="0"/>
              <a:t>development</a:t>
            </a:r>
          </a:p>
          <a:p>
            <a:pPr algn="just">
              <a:defRPr/>
            </a:pPr>
            <a:r>
              <a:rPr lang="en-US" dirty="0"/>
              <a:t>Due to </a:t>
            </a:r>
            <a:r>
              <a:rPr lang="en-US" dirty="0">
                <a:solidFill>
                  <a:srgbClr val="0000FF"/>
                </a:solidFill>
              </a:rPr>
              <a:t>poor existing</a:t>
            </a:r>
            <a:r>
              <a:rPr lang="en-US" dirty="0"/>
              <a:t> supplier performance</a:t>
            </a:r>
          </a:p>
          <a:p>
            <a:pPr algn="just">
              <a:defRPr/>
            </a:pPr>
            <a:r>
              <a:rPr lang="en-US" dirty="0"/>
              <a:t>At the </a:t>
            </a:r>
            <a:r>
              <a:rPr lang="en-US" dirty="0">
                <a:solidFill>
                  <a:srgbClr val="0000FF"/>
                </a:solidFill>
              </a:rPr>
              <a:t>end</a:t>
            </a:r>
            <a:r>
              <a:rPr lang="en-US" dirty="0"/>
              <a:t> of an existing contract</a:t>
            </a:r>
          </a:p>
          <a:p>
            <a:pPr algn="just">
              <a:defRPr/>
            </a:pPr>
            <a:r>
              <a:rPr lang="en-US" dirty="0"/>
              <a:t>Buying </a:t>
            </a:r>
            <a:r>
              <a:rPr lang="en-US" dirty="0">
                <a:solidFill>
                  <a:srgbClr val="0000FF"/>
                </a:solidFill>
              </a:rPr>
              <a:t>new equipment</a:t>
            </a:r>
          </a:p>
          <a:p>
            <a:pPr algn="just">
              <a:defRPr/>
            </a:pPr>
            <a:r>
              <a:rPr lang="en-US" dirty="0"/>
              <a:t>Expanding into </a:t>
            </a:r>
            <a:r>
              <a:rPr lang="en-US" dirty="0">
                <a:solidFill>
                  <a:srgbClr val="0000FF"/>
                </a:solidFill>
              </a:rPr>
              <a:t>new markets </a:t>
            </a:r>
            <a:r>
              <a:rPr lang="en-US" dirty="0"/>
              <a:t>or product lines</a:t>
            </a:r>
          </a:p>
        </p:txBody>
      </p:sp>
      <p:sp>
        <p:nvSpPr>
          <p:cNvPr id="4" name="Footer Placeholder 3">
            <a:extLst>
              <a:ext uri="{FF2B5EF4-FFF2-40B4-BE49-F238E27FC236}">
                <a16:creationId xmlns:a16="http://schemas.microsoft.com/office/drawing/2014/main" id="{0CA84167-AA50-4E20-B3EF-711E24B161AE}"/>
              </a:ext>
            </a:extLst>
          </p:cNvPr>
          <p:cNvSpPr>
            <a:spLocks noGrp="1"/>
          </p:cNvSpPr>
          <p:nvPr>
            <p:ph type="ftr" sz="quarter" idx="10"/>
          </p:nvPr>
        </p:nvSpPr>
        <p:spPr/>
        <p:txBody>
          <a:bodyPr/>
          <a:lstStyle/>
          <a:p>
            <a:pPr>
              <a:defRPr/>
            </a:pPr>
            <a:r>
              <a:rPr lang="en-US" dirty="0"/>
              <a:t>Purchasing &amp; Supply Chain Management, 4e</a:t>
            </a:r>
          </a:p>
          <a:p>
            <a:pPr>
              <a:defRPr/>
            </a:pPr>
            <a:endParaRPr lang="en-US" dirty="0"/>
          </a:p>
        </p:txBody>
      </p:sp>
      <p:sp>
        <p:nvSpPr>
          <p:cNvPr id="5" name="Slide Number Placeholder 4">
            <a:extLst>
              <a:ext uri="{FF2B5EF4-FFF2-40B4-BE49-F238E27FC236}">
                <a16:creationId xmlns:a16="http://schemas.microsoft.com/office/drawing/2014/main" id="{976EAE51-98F4-43D9-8DED-7ACF5825DD8F}"/>
              </a:ext>
            </a:extLst>
          </p:cNvPr>
          <p:cNvSpPr>
            <a:spLocks noGrp="1"/>
          </p:cNvSpPr>
          <p:nvPr>
            <p:ph type="sldNum" sz="quarter" idx="11"/>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fld id="{953C857A-0658-4553-8D4A-0B72F269EC9D}" type="slidenum">
              <a:rPr lang="en-US" altLang="LID4096">
                <a:solidFill>
                  <a:srgbClr val="FFFFFF"/>
                </a:solidFill>
              </a:rPr>
              <a:pPr/>
              <a:t>8</a:t>
            </a:fld>
            <a:endParaRPr lang="en-US" altLang="LID4096">
              <a:solidFill>
                <a:srgbClr val="FFFFF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a:extLst>
              <a:ext uri="{FF2B5EF4-FFF2-40B4-BE49-F238E27FC236}">
                <a16:creationId xmlns:a16="http://schemas.microsoft.com/office/drawing/2014/main" id="{2DE67CAD-189B-46A4-B0DB-E465633CB114}"/>
              </a:ext>
            </a:extLst>
          </p:cNvPr>
          <p:cNvSpPr>
            <a:spLocks noGrp="1"/>
          </p:cNvSpPr>
          <p:nvPr>
            <p:ph type="title"/>
          </p:nvPr>
        </p:nvSpPr>
        <p:spPr/>
        <p:txBody>
          <a:bodyPr/>
          <a:lstStyle/>
          <a:p>
            <a:r>
              <a:rPr lang="en-US" altLang="LID4096" dirty="0"/>
              <a:t>1. Need of supplier selection</a:t>
            </a:r>
          </a:p>
        </p:txBody>
      </p:sp>
      <p:sp>
        <p:nvSpPr>
          <p:cNvPr id="3" name="Content Placeholder 2">
            <a:extLst>
              <a:ext uri="{FF2B5EF4-FFF2-40B4-BE49-F238E27FC236}">
                <a16:creationId xmlns:a16="http://schemas.microsoft.com/office/drawing/2014/main" id="{D151A91B-85D1-4311-A76D-1DB82FF34E2F}"/>
              </a:ext>
            </a:extLst>
          </p:cNvPr>
          <p:cNvSpPr>
            <a:spLocks noGrp="1"/>
          </p:cNvSpPr>
          <p:nvPr>
            <p:ph idx="1"/>
          </p:nvPr>
        </p:nvSpPr>
        <p:spPr>
          <a:xfrm>
            <a:off x="457200" y="1447800"/>
            <a:ext cx="8458200" cy="4678363"/>
          </a:xfrm>
        </p:spPr>
        <p:txBody>
          <a:bodyPr/>
          <a:lstStyle/>
          <a:p>
            <a:pPr algn="just">
              <a:defRPr/>
            </a:pPr>
            <a:r>
              <a:rPr lang="en-US" dirty="0"/>
              <a:t>Performing market tests</a:t>
            </a:r>
          </a:p>
          <a:p>
            <a:pPr algn="just">
              <a:defRPr/>
            </a:pPr>
            <a:r>
              <a:rPr lang="en-US" dirty="0"/>
              <a:t>Facing </a:t>
            </a:r>
            <a:r>
              <a:rPr lang="en-US" dirty="0">
                <a:solidFill>
                  <a:srgbClr val="0000FF"/>
                </a:solidFill>
              </a:rPr>
              <a:t>countertrade</a:t>
            </a:r>
            <a:r>
              <a:rPr lang="en-US" dirty="0"/>
              <a:t> requirements</a:t>
            </a:r>
          </a:p>
          <a:p>
            <a:pPr algn="just">
              <a:defRPr/>
            </a:pPr>
            <a:r>
              <a:rPr lang="en-US" dirty="0"/>
              <a:t>During </a:t>
            </a:r>
            <a:r>
              <a:rPr lang="en-US" dirty="0">
                <a:solidFill>
                  <a:srgbClr val="0000FF"/>
                </a:solidFill>
              </a:rPr>
              <a:t>outsourcing</a:t>
            </a:r>
            <a:r>
              <a:rPr lang="en-US" dirty="0"/>
              <a:t> analysis</a:t>
            </a:r>
          </a:p>
          <a:p>
            <a:pPr algn="just">
              <a:defRPr/>
            </a:pPr>
            <a:r>
              <a:rPr lang="en-US" dirty="0">
                <a:solidFill>
                  <a:srgbClr val="0000FF"/>
                </a:solidFill>
              </a:rPr>
              <a:t>Consolidating</a:t>
            </a:r>
            <a:r>
              <a:rPr lang="en-US" dirty="0"/>
              <a:t> volumes</a:t>
            </a:r>
          </a:p>
          <a:p>
            <a:pPr algn="just">
              <a:defRPr/>
            </a:pPr>
            <a:r>
              <a:rPr lang="en-US" dirty="0"/>
              <a:t>Conducting a </a:t>
            </a:r>
            <a:r>
              <a:rPr lang="en-US" dirty="0">
                <a:solidFill>
                  <a:srgbClr val="0000FF"/>
                </a:solidFill>
              </a:rPr>
              <a:t>reverse auction</a:t>
            </a:r>
          </a:p>
          <a:p>
            <a:pPr algn="just">
              <a:defRPr/>
            </a:pPr>
            <a:r>
              <a:rPr lang="en-US" dirty="0"/>
              <a:t>When current suppliers have </a:t>
            </a:r>
            <a:r>
              <a:rPr lang="en-US" dirty="0">
                <a:solidFill>
                  <a:srgbClr val="0000FF"/>
                </a:solidFill>
              </a:rPr>
              <a:t>insufficient capacity</a:t>
            </a:r>
          </a:p>
          <a:p>
            <a:pPr algn="just">
              <a:defRPr/>
            </a:pPr>
            <a:r>
              <a:rPr lang="en-US" dirty="0"/>
              <a:t>Reducing </a:t>
            </a:r>
            <a:r>
              <a:rPr lang="en-US" dirty="0">
                <a:solidFill>
                  <a:srgbClr val="0000FF"/>
                </a:solidFill>
              </a:rPr>
              <a:t>supply base size</a:t>
            </a:r>
          </a:p>
        </p:txBody>
      </p:sp>
      <p:sp>
        <p:nvSpPr>
          <p:cNvPr id="4" name="Footer Placeholder 3">
            <a:extLst>
              <a:ext uri="{FF2B5EF4-FFF2-40B4-BE49-F238E27FC236}">
                <a16:creationId xmlns:a16="http://schemas.microsoft.com/office/drawing/2014/main" id="{2A85646E-A761-4992-9BF7-BAB27D55B0C9}"/>
              </a:ext>
            </a:extLst>
          </p:cNvPr>
          <p:cNvSpPr>
            <a:spLocks noGrp="1"/>
          </p:cNvSpPr>
          <p:nvPr>
            <p:ph type="ftr" sz="quarter" idx="10"/>
          </p:nvPr>
        </p:nvSpPr>
        <p:spPr/>
        <p:txBody>
          <a:bodyPr/>
          <a:lstStyle/>
          <a:p>
            <a:pPr>
              <a:defRPr/>
            </a:pPr>
            <a:r>
              <a:rPr lang="en-US"/>
              <a:t>Purchasing &amp; Supply Chain Management, 4e</a:t>
            </a:r>
          </a:p>
          <a:p>
            <a:pPr>
              <a:defRPr/>
            </a:pPr>
            <a:endParaRPr lang="en-US"/>
          </a:p>
        </p:txBody>
      </p:sp>
      <p:sp>
        <p:nvSpPr>
          <p:cNvPr id="5" name="Slide Number Placeholder 4">
            <a:extLst>
              <a:ext uri="{FF2B5EF4-FFF2-40B4-BE49-F238E27FC236}">
                <a16:creationId xmlns:a16="http://schemas.microsoft.com/office/drawing/2014/main" id="{78997610-8EE2-4C4A-A717-61C618B4BA3C}"/>
              </a:ext>
            </a:extLst>
          </p:cNvPr>
          <p:cNvSpPr>
            <a:spLocks noGrp="1"/>
          </p:cNvSpPr>
          <p:nvPr>
            <p:ph type="sldNum" sz="quarter" idx="11"/>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fld id="{88880AE4-AAB8-48F4-8DCC-DF1DFAA5AB07}" type="slidenum">
              <a:rPr lang="en-US" altLang="LID4096">
                <a:solidFill>
                  <a:srgbClr val="FFFFFF"/>
                </a:solidFill>
              </a:rPr>
              <a:pPr/>
              <a:t>9</a:t>
            </a:fld>
            <a:endParaRPr lang="en-US" altLang="LID4096">
              <a:solidFill>
                <a:srgbClr val="FFFFFF"/>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a:extLst>
              <a:ext uri="{FF2B5EF4-FFF2-40B4-BE49-F238E27FC236}">
                <a16:creationId xmlns:a16="http://schemas.microsoft.com/office/drawing/2014/main" id="{6E94D84D-43CB-4CD8-9422-91DBD433FDF3}"/>
              </a:ext>
            </a:extLst>
          </p:cNvPr>
          <p:cNvSpPr>
            <a:spLocks noGrp="1"/>
          </p:cNvSpPr>
          <p:nvPr>
            <p:ph type="title"/>
          </p:nvPr>
        </p:nvSpPr>
        <p:spPr/>
        <p:txBody>
          <a:bodyPr/>
          <a:lstStyle/>
          <a:p>
            <a:r>
              <a:rPr lang="en-US" altLang="LID4096" dirty="0"/>
              <a:t>2. Identify Key Sourcing Requirements</a:t>
            </a:r>
          </a:p>
        </p:txBody>
      </p:sp>
      <p:sp>
        <p:nvSpPr>
          <p:cNvPr id="3" name="Content Placeholder 2">
            <a:extLst>
              <a:ext uri="{FF2B5EF4-FFF2-40B4-BE49-F238E27FC236}">
                <a16:creationId xmlns:a16="http://schemas.microsoft.com/office/drawing/2014/main" id="{513FC643-F173-4A6D-8340-38B3FF4D2C01}"/>
              </a:ext>
            </a:extLst>
          </p:cNvPr>
          <p:cNvSpPr>
            <a:spLocks noGrp="1"/>
          </p:cNvSpPr>
          <p:nvPr>
            <p:ph idx="1"/>
          </p:nvPr>
        </p:nvSpPr>
        <p:spPr/>
        <p:txBody>
          <a:bodyPr/>
          <a:lstStyle/>
          <a:p>
            <a:pPr algn="just">
              <a:defRPr/>
            </a:pPr>
            <a:r>
              <a:rPr lang="en-US" dirty="0"/>
              <a:t>May be determined by internal and external customers</a:t>
            </a:r>
          </a:p>
          <a:p>
            <a:pPr lvl="1" algn="just">
              <a:defRPr/>
            </a:pPr>
            <a:r>
              <a:rPr lang="en-US" dirty="0">
                <a:solidFill>
                  <a:srgbClr val="0000FF"/>
                </a:solidFill>
              </a:rPr>
              <a:t>Supplier quality</a:t>
            </a:r>
          </a:p>
          <a:p>
            <a:pPr lvl="1" algn="just">
              <a:defRPr/>
            </a:pPr>
            <a:r>
              <a:rPr lang="en-US" dirty="0">
                <a:solidFill>
                  <a:srgbClr val="0000FF"/>
                </a:solidFill>
              </a:rPr>
              <a:t>Cost</a:t>
            </a:r>
          </a:p>
          <a:p>
            <a:pPr lvl="1" algn="just">
              <a:defRPr/>
            </a:pPr>
            <a:r>
              <a:rPr lang="en-US" dirty="0">
                <a:solidFill>
                  <a:srgbClr val="0000FF"/>
                </a:solidFill>
              </a:rPr>
              <a:t>Delivery performance</a:t>
            </a:r>
          </a:p>
          <a:p>
            <a:pPr lvl="1" algn="just">
              <a:defRPr/>
            </a:pPr>
            <a:r>
              <a:rPr lang="en-US" dirty="0"/>
              <a:t>Other</a:t>
            </a:r>
          </a:p>
          <a:p>
            <a:pPr algn="just">
              <a:defRPr/>
            </a:pPr>
            <a:r>
              <a:rPr lang="en-US" dirty="0"/>
              <a:t>Vary widely from item to item</a:t>
            </a:r>
          </a:p>
        </p:txBody>
      </p:sp>
      <p:sp>
        <p:nvSpPr>
          <p:cNvPr id="4" name="Footer Placeholder 3">
            <a:extLst>
              <a:ext uri="{FF2B5EF4-FFF2-40B4-BE49-F238E27FC236}">
                <a16:creationId xmlns:a16="http://schemas.microsoft.com/office/drawing/2014/main" id="{AD4BA621-3A80-4109-89A2-7A37184A4520}"/>
              </a:ext>
            </a:extLst>
          </p:cNvPr>
          <p:cNvSpPr>
            <a:spLocks noGrp="1"/>
          </p:cNvSpPr>
          <p:nvPr>
            <p:ph type="ftr" sz="quarter" idx="10"/>
          </p:nvPr>
        </p:nvSpPr>
        <p:spPr/>
        <p:txBody>
          <a:bodyPr/>
          <a:lstStyle/>
          <a:p>
            <a:pPr>
              <a:defRPr/>
            </a:pPr>
            <a:r>
              <a:rPr lang="en-US"/>
              <a:t>Purchasing &amp; Supply Chain Management, 4e</a:t>
            </a:r>
          </a:p>
          <a:p>
            <a:pPr>
              <a:defRPr/>
            </a:pPr>
            <a:endParaRPr lang="en-US"/>
          </a:p>
        </p:txBody>
      </p:sp>
      <p:sp>
        <p:nvSpPr>
          <p:cNvPr id="5" name="Slide Number Placeholder 4">
            <a:extLst>
              <a:ext uri="{FF2B5EF4-FFF2-40B4-BE49-F238E27FC236}">
                <a16:creationId xmlns:a16="http://schemas.microsoft.com/office/drawing/2014/main" id="{C3905B53-F677-46BF-B9BD-D66C9CBA0146}"/>
              </a:ext>
            </a:extLst>
          </p:cNvPr>
          <p:cNvSpPr>
            <a:spLocks noGrp="1"/>
          </p:cNvSpPr>
          <p:nvPr>
            <p:ph type="sldNum" sz="quarter" idx="11"/>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fld id="{E2CFCDAA-9435-48BF-8EF5-39487DFF6A9E}" type="slidenum">
              <a:rPr lang="en-US" altLang="LID4096">
                <a:solidFill>
                  <a:srgbClr val="FFFFFF"/>
                </a:solidFill>
              </a:rPr>
              <a:pPr/>
              <a:t>10</a:t>
            </a:fld>
            <a:endParaRPr lang="en-US" altLang="LID4096">
              <a:solidFill>
                <a:srgbClr val="FFFFFF"/>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a:extLst>
              <a:ext uri="{FF2B5EF4-FFF2-40B4-BE49-F238E27FC236}">
                <a16:creationId xmlns:a16="http://schemas.microsoft.com/office/drawing/2014/main" id="{9BD91C0B-7326-4579-8FBF-2BA076FF6604}"/>
              </a:ext>
            </a:extLst>
          </p:cNvPr>
          <p:cNvSpPr>
            <a:spLocks noGrp="1"/>
          </p:cNvSpPr>
          <p:nvPr>
            <p:ph type="title"/>
          </p:nvPr>
        </p:nvSpPr>
        <p:spPr/>
        <p:txBody>
          <a:bodyPr/>
          <a:lstStyle/>
          <a:p>
            <a:r>
              <a:rPr lang="en-US" altLang="LID4096" dirty="0"/>
              <a:t>3. Determine Sourcing Strategy</a:t>
            </a:r>
          </a:p>
        </p:txBody>
      </p:sp>
      <p:sp>
        <p:nvSpPr>
          <p:cNvPr id="3" name="Content Placeholder 2">
            <a:extLst>
              <a:ext uri="{FF2B5EF4-FFF2-40B4-BE49-F238E27FC236}">
                <a16:creationId xmlns:a16="http://schemas.microsoft.com/office/drawing/2014/main" id="{50A967D4-D0C0-4213-A140-C7B485C0B7DD}"/>
              </a:ext>
            </a:extLst>
          </p:cNvPr>
          <p:cNvSpPr>
            <a:spLocks noGrp="1"/>
          </p:cNvSpPr>
          <p:nvPr>
            <p:ph idx="1"/>
          </p:nvPr>
        </p:nvSpPr>
        <p:spPr/>
        <p:txBody>
          <a:bodyPr/>
          <a:lstStyle/>
          <a:p>
            <a:pPr algn="just">
              <a:defRPr/>
            </a:pPr>
            <a:r>
              <a:rPr lang="en-US" dirty="0">
                <a:solidFill>
                  <a:srgbClr val="0000FF"/>
                </a:solidFill>
              </a:rPr>
              <a:t>Single vs. multiple </a:t>
            </a:r>
            <a:r>
              <a:rPr lang="en-US" dirty="0"/>
              <a:t>sourcing</a:t>
            </a:r>
          </a:p>
          <a:p>
            <a:pPr algn="just">
              <a:defRPr/>
            </a:pPr>
            <a:r>
              <a:rPr lang="en-US" dirty="0">
                <a:solidFill>
                  <a:srgbClr val="0000FF"/>
                </a:solidFill>
              </a:rPr>
              <a:t>Short-term vs. long-term </a:t>
            </a:r>
            <a:r>
              <a:rPr lang="en-US" dirty="0"/>
              <a:t>contracts</a:t>
            </a:r>
          </a:p>
          <a:p>
            <a:pPr algn="just">
              <a:defRPr/>
            </a:pPr>
            <a:r>
              <a:rPr lang="en-US" dirty="0">
                <a:solidFill>
                  <a:srgbClr val="0000FF"/>
                </a:solidFill>
              </a:rPr>
              <a:t>Design support vs. operational </a:t>
            </a:r>
            <a:r>
              <a:rPr lang="en-US" dirty="0"/>
              <a:t>support</a:t>
            </a:r>
          </a:p>
          <a:p>
            <a:pPr algn="just">
              <a:defRPr/>
            </a:pPr>
            <a:r>
              <a:rPr lang="en-US" dirty="0">
                <a:solidFill>
                  <a:srgbClr val="0000FF"/>
                </a:solidFill>
              </a:rPr>
              <a:t>Full-service</a:t>
            </a:r>
            <a:r>
              <a:rPr lang="en-US" dirty="0"/>
              <a:t> vs. non-full-service suppliers</a:t>
            </a:r>
          </a:p>
          <a:p>
            <a:pPr algn="just">
              <a:defRPr/>
            </a:pPr>
            <a:r>
              <a:rPr lang="en-US" dirty="0"/>
              <a:t>Domestic vs. foreign-based suppliers</a:t>
            </a:r>
          </a:p>
          <a:p>
            <a:pPr algn="just">
              <a:defRPr/>
            </a:pPr>
            <a:r>
              <a:rPr lang="en-US" dirty="0"/>
              <a:t>Collaboration vs. arm’s length relationship</a:t>
            </a:r>
          </a:p>
        </p:txBody>
      </p:sp>
      <p:sp>
        <p:nvSpPr>
          <p:cNvPr id="4" name="Footer Placeholder 3">
            <a:extLst>
              <a:ext uri="{FF2B5EF4-FFF2-40B4-BE49-F238E27FC236}">
                <a16:creationId xmlns:a16="http://schemas.microsoft.com/office/drawing/2014/main" id="{DB132950-48E6-4F56-9100-EA815AA653D1}"/>
              </a:ext>
            </a:extLst>
          </p:cNvPr>
          <p:cNvSpPr>
            <a:spLocks noGrp="1"/>
          </p:cNvSpPr>
          <p:nvPr>
            <p:ph type="ftr" sz="quarter" idx="10"/>
          </p:nvPr>
        </p:nvSpPr>
        <p:spPr/>
        <p:txBody>
          <a:bodyPr/>
          <a:lstStyle/>
          <a:p>
            <a:pPr>
              <a:defRPr/>
            </a:pPr>
            <a:r>
              <a:rPr lang="en-US"/>
              <a:t>Purchasing &amp; Supply Chain Management, 4e</a:t>
            </a:r>
          </a:p>
          <a:p>
            <a:pPr>
              <a:defRPr/>
            </a:pPr>
            <a:endParaRPr lang="en-US"/>
          </a:p>
        </p:txBody>
      </p:sp>
      <p:sp>
        <p:nvSpPr>
          <p:cNvPr id="5" name="Slide Number Placeholder 4">
            <a:extLst>
              <a:ext uri="{FF2B5EF4-FFF2-40B4-BE49-F238E27FC236}">
                <a16:creationId xmlns:a16="http://schemas.microsoft.com/office/drawing/2014/main" id="{1CC97534-A5B0-4063-B0C2-22D14F53B927}"/>
              </a:ext>
            </a:extLst>
          </p:cNvPr>
          <p:cNvSpPr>
            <a:spLocks noGrp="1"/>
          </p:cNvSpPr>
          <p:nvPr>
            <p:ph type="sldNum" sz="quarter" idx="11"/>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fld id="{C19861CB-6316-4DAA-B841-6EAB22D4E262}" type="slidenum">
              <a:rPr lang="en-US" altLang="LID4096">
                <a:solidFill>
                  <a:srgbClr val="FFFFFF"/>
                </a:solidFill>
              </a:rPr>
              <a:pPr/>
              <a:t>11</a:t>
            </a:fld>
            <a:endParaRPr lang="en-US" altLang="LID4096">
              <a:solidFill>
                <a:srgbClr val="FFFFFF"/>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a:extLst>
              <a:ext uri="{FF2B5EF4-FFF2-40B4-BE49-F238E27FC236}">
                <a16:creationId xmlns:a16="http://schemas.microsoft.com/office/drawing/2014/main" id="{5A06D1B7-3416-473D-AC1E-378D8E1904DC}"/>
              </a:ext>
            </a:extLst>
          </p:cNvPr>
          <p:cNvSpPr>
            <a:spLocks noGrp="1"/>
          </p:cNvSpPr>
          <p:nvPr>
            <p:ph type="title"/>
          </p:nvPr>
        </p:nvSpPr>
        <p:spPr/>
        <p:txBody>
          <a:bodyPr/>
          <a:lstStyle/>
          <a:p>
            <a:r>
              <a:rPr lang="en-US" altLang="LID4096" dirty="0"/>
              <a:t>4. Identify Potential Sources</a:t>
            </a:r>
          </a:p>
        </p:txBody>
      </p:sp>
      <p:sp>
        <p:nvSpPr>
          <p:cNvPr id="3" name="Content Placeholder 2">
            <a:extLst>
              <a:ext uri="{FF2B5EF4-FFF2-40B4-BE49-F238E27FC236}">
                <a16:creationId xmlns:a16="http://schemas.microsoft.com/office/drawing/2014/main" id="{B50E1E6F-809C-4EEB-A98E-FD8A175E65C1}"/>
              </a:ext>
            </a:extLst>
          </p:cNvPr>
          <p:cNvSpPr>
            <a:spLocks noGrp="1"/>
          </p:cNvSpPr>
          <p:nvPr>
            <p:ph idx="1"/>
          </p:nvPr>
        </p:nvSpPr>
        <p:spPr/>
        <p:txBody>
          <a:bodyPr/>
          <a:lstStyle/>
          <a:p>
            <a:pPr algn="just">
              <a:defRPr/>
            </a:pPr>
            <a:r>
              <a:rPr lang="en-US" dirty="0">
                <a:solidFill>
                  <a:srgbClr val="0000FF"/>
                </a:solidFill>
              </a:rPr>
              <a:t>How well </a:t>
            </a:r>
            <a:r>
              <a:rPr lang="en-US" dirty="0"/>
              <a:t>existing suppliers can satisfy cost, quality, and/or other performance objectives</a:t>
            </a:r>
          </a:p>
          <a:p>
            <a:pPr algn="just">
              <a:defRPr/>
            </a:pPr>
            <a:r>
              <a:rPr lang="en-US" dirty="0">
                <a:solidFill>
                  <a:srgbClr val="0000FF"/>
                </a:solidFill>
              </a:rPr>
              <a:t>Strategic importance </a:t>
            </a:r>
            <a:r>
              <a:rPr lang="en-US" dirty="0"/>
              <a:t>of purchase requirement</a:t>
            </a:r>
          </a:p>
          <a:p>
            <a:pPr algn="just">
              <a:defRPr/>
            </a:pPr>
            <a:r>
              <a:rPr lang="en-US" dirty="0">
                <a:solidFill>
                  <a:srgbClr val="0000FF"/>
                </a:solidFill>
              </a:rPr>
              <a:t>Technical complexity </a:t>
            </a:r>
            <a:r>
              <a:rPr lang="en-US" dirty="0"/>
              <a:t>of purchase requirement</a:t>
            </a:r>
          </a:p>
        </p:txBody>
      </p:sp>
      <p:sp>
        <p:nvSpPr>
          <p:cNvPr id="4" name="Footer Placeholder 3">
            <a:extLst>
              <a:ext uri="{FF2B5EF4-FFF2-40B4-BE49-F238E27FC236}">
                <a16:creationId xmlns:a16="http://schemas.microsoft.com/office/drawing/2014/main" id="{47B75B44-1DC3-46A5-88FE-CA4956F234BD}"/>
              </a:ext>
            </a:extLst>
          </p:cNvPr>
          <p:cNvSpPr>
            <a:spLocks noGrp="1"/>
          </p:cNvSpPr>
          <p:nvPr>
            <p:ph type="ftr" sz="quarter" idx="10"/>
          </p:nvPr>
        </p:nvSpPr>
        <p:spPr/>
        <p:txBody>
          <a:bodyPr/>
          <a:lstStyle/>
          <a:p>
            <a:pPr>
              <a:defRPr/>
            </a:pPr>
            <a:r>
              <a:rPr lang="en-US"/>
              <a:t>Purchasing &amp; Supply Chain Management, 4e</a:t>
            </a:r>
          </a:p>
          <a:p>
            <a:pPr>
              <a:defRPr/>
            </a:pPr>
            <a:endParaRPr lang="en-US"/>
          </a:p>
        </p:txBody>
      </p:sp>
      <p:sp>
        <p:nvSpPr>
          <p:cNvPr id="5" name="Slide Number Placeholder 4">
            <a:extLst>
              <a:ext uri="{FF2B5EF4-FFF2-40B4-BE49-F238E27FC236}">
                <a16:creationId xmlns:a16="http://schemas.microsoft.com/office/drawing/2014/main" id="{FEB95457-1A11-45CD-9B80-BBE6F08ADBB7}"/>
              </a:ext>
            </a:extLst>
          </p:cNvPr>
          <p:cNvSpPr>
            <a:spLocks noGrp="1"/>
          </p:cNvSpPr>
          <p:nvPr>
            <p:ph type="sldNum" sz="quarter" idx="11"/>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fld id="{AEF00AC2-315A-4872-9E62-6D8D0651660B}" type="slidenum">
              <a:rPr lang="en-US" altLang="LID4096">
                <a:solidFill>
                  <a:srgbClr val="FFFFFF"/>
                </a:solidFill>
              </a:rPr>
              <a:pPr/>
              <a:t>12</a:t>
            </a:fld>
            <a:endParaRPr lang="en-US" altLang="LID4096">
              <a:solidFill>
                <a:srgbClr val="FFFFFF"/>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a:extLst>
              <a:ext uri="{FF2B5EF4-FFF2-40B4-BE49-F238E27FC236}">
                <a16:creationId xmlns:a16="http://schemas.microsoft.com/office/drawing/2014/main" id="{71756970-70E4-469D-97D4-145A1172E243}"/>
              </a:ext>
            </a:extLst>
          </p:cNvPr>
          <p:cNvSpPr>
            <a:spLocks noGrp="1"/>
          </p:cNvSpPr>
          <p:nvPr>
            <p:ph type="title"/>
          </p:nvPr>
        </p:nvSpPr>
        <p:spPr/>
        <p:txBody>
          <a:bodyPr/>
          <a:lstStyle/>
          <a:p>
            <a:r>
              <a:rPr lang="en-US" altLang="LID4096" dirty="0"/>
              <a:t>4. Information Search Requirements</a:t>
            </a:r>
          </a:p>
        </p:txBody>
      </p:sp>
      <p:sp>
        <p:nvSpPr>
          <p:cNvPr id="4" name="Footer Placeholder 3">
            <a:extLst>
              <a:ext uri="{FF2B5EF4-FFF2-40B4-BE49-F238E27FC236}">
                <a16:creationId xmlns:a16="http://schemas.microsoft.com/office/drawing/2014/main" id="{B14DCE27-4066-44B9-A279-A0212B4017A9}"/>
              </a:ext>
            </a:extLst>
          </p:cNvPr>
          <p:cNvSpPr>
            <a:spLocks noGrp="1"/>
          </p:cNvSpPr>
          <p:nvPr>
            <p:ph type="ftr" sz="quarter" idx="10"/>
          </p:nvPr>
        </p:nvSpPr>
        <p:spPr/>
        <p:txBody>
          <a:bodyPr/>
          <a:lstStyle/>
          <a:p>
            <a:pPr>
              <a:defRPr/>
            </a:pPr>
            <a:r>
              <a:rPr lang="en-US"/>
              <a:t>Purchasing &amp; Supply Chain Management, 4e</a:t>
            </a:r>
          </a:p>
          <a:p>
            <a:pPr>
              <a:defRPr/>
            </a:pPr>
            <a:endParaRPr lang="en-US"/>
          </a:p>
        </p:txBody>
      </p:sp>
      <p:sp>
        <p:nvSpPr>
          <p:cNvPr id="5" name="Slide Number Placeholder 4">
            <a:extLst>
              <a:ext uri="{FF2B5EF4-FFF2-40B4-BE49-F238E27FC236}">
                <a16:creationId xmlns:a16="http://schemas.microsoft.com/office/drawing/2014/main" id="{BE3C00C5-8EC1-46E5-BD35-27CC6D405CC5}"/>
              </a:ext>
            </a:extLst>
          </p:cNvPr>
          <p:cNvSpPr>
            <a:spLocks noGrp="1"/>
          </p:cNvSpPr>
          <p:nvPr>
            <p:ph type="sldNum" sz="quarter" idx="11"/>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fld id="{EC598181-352B-4E1F-98EE-EDAB39511167}" type="slidenum">
              <a:rPr lang="en-US" altLang="LID4096">
                <a:solidFill>
                  <a:srgbClr val="FFFFFF"/>
                </a:solidFill>
              </a:rPr>
              <a:pPr/>
              <a:t>13</a:t>
            </a:fld>
            <a:endParaRPr lang="en-US" altLang="LID4096">
              <a:solidFill>
                <a:srgbClr val="FFFFFF"/>
              </a:solidFill>
            </a:endParaRPr>
          </a:p>
        </p:txBody>
      </p:sp>
      <p:graphicFrame>
        <p:nvGraphicFramePr>
          <p:cNvPr id="8" name="Content Placeholder 7">
            <a:extLst>
              <a:ext uri="{FF2B5EF4-FFF2-40B4-BE49-F238E27FC236}">
                <a16:creationId xmlns:a16="http://schemas.microsoft.com/office/drawing/2014/main" id="{B8F37CA0-7200-420C-AE0F-D274BBDB9284}"/>
              </a:ext>
            </a:extLst>
          </p:cNvPr>
          <p:cNvGraphicFramePr>
            <a:graphicFrameLocks noGrp="1"/>
          </p:cNvGraphicFramePr>
          <p:nvPr>
            <p:ph idx="1"/>
            <p:extLst>
              <p:ext uri="{D42A27DB-BD31-4B8C-83A1-F6EECF244321}">
                <p14:modId xmlns:p14="http://schemas.microsoft.com/office/powerpoint/2010/main" val="1531377113"/>
              </p:ext>
            </p:extLst>
          </p:nvPr>
        </p:nvGraphicFramePr>
        <p:xfrm>
          <a:off x="228600" y="1295400"/>
          <a:ext cx="8686800" cy="4648201"/>
        </p:xfrm>
        <a:graphic>
          <a:graphicData uri="http://schemas.openxmlformats.org/drawingml/2006/table">
            <a:tbl>
              <a:tblPr firstRow="1" bandRow="1">
                <a:tableStyleId>{5C22544A-7EE6-4342-B048-85BDC9FD1C3A}</a:tableStyleId>
              </a:tblPr>
              <a:tblGrid>
                <a:gridCol w="2895600">
                  <a:extLst>
                    <a:ext uri="{9D8B030D-6E8A-4147-A177-3AD203B41FA5}">
                      <a16:colId xmlns:a16="http://schemas.microsoft.com/office/drawing/2014/main" val="20000"/>
                    </a:ext>
                  </a:extLst>
                </a:gridCol>
                <a:gridCol w="2895600">
                  <a:extLst>
                    <a:ext uri="{9D8B030D-6E8A-4147-A177-3AD203B41FA5}">
                      <a16:colId xmlns:a16="http://schemas.microsoft.com/office/drawing/2014/main" val="20001"/>
                    </a:ext>
                  </a:extLst>
                </a:gridCol>
                <a:gridCol w="2895600">
                  <a:extLst>
                    <a:ext uri="{9D8B030D-6E8A-4147-A177-3AD203B41FA5}">
                      <a16:colId xmlns:a16="http://schemas.microsoft.com/office/drawing/2014/main" val="20002"/>
                    </a:ext>
                  </a:extLst>
                </a:gridCol>
              </a:tblGrid>
              <a:tr h="1459077">
                <a:tc>
                  <a:txBody>
                    <a:bodyPr/>
                    <a:lstStyle/>
                    <a:p>
                      <a:pPr algn="ctr"/>
                      <a:endParaRPr lang="en-US" sz="2400" b="1" dirty="0">
                        <a:solidFill>
                          <a:schemeClr val="tx1"/>
                        </a:solidFill>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b="1" i="1" dirty="0">
                          <a:solidFill>
                            <a:schemeClr val="bg1"/>
                          </a:solidFill>
                          <a:effectLst>
                            <a:outerShdw blurRad="38100" dist="38100" dir="2700000" algn="tl">
                              <a:srgbClr val="000000">
                                <a:alpha val="43137"/>
                              </a:srgbClr>
                            </a:outerShdw>
                          </a:effectLst>
                        </a:rPr>
                        <a:t>High Capability of Suppliers</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b="1" i="1" dirty="0">
                          <a:solidFill>
                            <a:schemeClr val="bg1"/>
                          </a:solidFill>
                          <a:effectLst>
                            <a:outerShdw blurRad="38100" dist="38100" dir="2700000" algn="tl">
                              <a:srgbClr val="000000">
                                <a:alpha val="43137"/>
                              </a:srgbClr>
                            </a:outerShdw>
                          </a:effectLst>
                        </a:rPr>
                        <a:t>Low Capability of Suppliers</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594562">
                <a:tc>
                  <a:txBody>
                    <a:bodyPr/>
                    <a:lstStyle/>
                    <a:p>
                      <a:pPr algn="ctr"/>
                      <a:r>
                        <a:rPr lang="en-US" sz="2400" b="1" i="1" dirty="0">
                          <a:solidFill>
                            <a:schemeClr val="bg1"/>
                          </a:solidFill>
                          <a:effectLst>
                            <a:outerShdw blurRad="38100" dist="38100" dir="2700000" algn="tl">
                              <a:srgbClr val="000000">
                                <a:alpha val="43137"/>
                              </a:srgbClr>
                            </a:outerShdw>
                          </a:effectLst>
                        </a:rPr>
                        <a:t>High Strategic Importance to Buyer</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b="1" dirty="0">
                          <a:solidFill>
                            <a:schemeClr val="tx1"/>
                          </a:solidFill>
                        </a:rPr>
                        <a:t>Minor to Moderate Information Search</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Major Information Search</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594562">
                <a:tc>
                  <a:txBody>
                    <a:bodyPr/>
                    <a:lstStyle/>
                    <a:p>
                      <a:pPr algn="ctr"/>
                      <a:r>
                        <a:rPr lang="en-US" sz="2400" b="1" i="1" dirty="0">
                          <a:solidFill>
                            <a:schemeClr val="bg1"/>
                          </a:solidFill>
                          <a:effectLst>
                            <a:outerShdw blurRad="38100" dist="38100" dir="2700000" algn="tl">
                              <a:srgbClr val="000000">
                                <a:alpha val="43137"/>
                              </a:srgbClr>
                            </a:outerShdw>
                          </a:effectLst>
                        </a:rPr>
                        <a:t>Low Strategic Importance to Buyer</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b="1" dirty="0">
                          <a:solidFill>
                            <a:schemeClr val="tx1"/>
                          </a:solidFill>
                        </a:rPr>
                        <a:t>Minor Information Search</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Minor to Moderate Information Search</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a:extLst>
              <a:ext uri="{FF2B5EF4-FFF2-40B4-BE49-F238E27FC236}">
                <a16:creationId xmlns:a16="http://schemas.microsoft.com/office/drawing/2014/main" id="{A0BCEC19-4A23-4FF1-BE24-DA081428BF07}"/>
              </a:ext>
            </a:extLst>
          </p:cNvPr>
          <p:cNvSpPr>
            <a:spLocks noGrp="1"/>
          </p:cNvSpPr>
          <p:nvPr>
            <p:ph type="title"/>
          </p:nvPr>
        </p:nvSpPr>
        <p:spPr/>
        <p:txBody>
          <a:bodyPr/>
          <a:lstStyle/>
          <a:p>
            <a:r>
              <a:rPr lang="en-US" altLang="LID4096"/>
              <a:t>Sources of Information</a:t>
            </a:r>
          </a:p>
        </p:txBody>
      </p:sp>
      <p:sp>
        <p:nvSpPr>
          <p:cNvPr id="3" name="Content Placeholder 2">
            <a:extLst>
              <a:ext uri="{FF2B5EF4-FFF2-40B4-BE49-F238E27FC236}">
                <a16:creationId xmlns:a16="http://schemas.microsoft.com/office/drawing/2014/main" id="{1D35256E-013B-4329-A4E4-5EBD29FE9340}"/>
              </a:ext>
            </a:extLst>
          </p:cNvPr>
          <p:cNvSpPr>
            <a:spLocks noGrp="1"/>
          </p:cNvSpPr>
          <p:nvPr>
            <p:ph sz="half" idx="1"/>
          </p:nvPr>
        </p:nvSpPr>
        <p:spPr/>
        <p:txBody>
          <a:bodyPr/>
          <a:lstStyle/>
          <a:p>
            <a:pPr>
              <a:defRPr/>
            </a:pPr>
            <a:r>
              <a:rPr lang="en-US" dirty="0"/>
              <a:t>Current suppliers</a:t>
            </a:r>
          </a:p>
          <a:p>
            <a:pPr>
              <a:defRPr/>
            </a:pPr>
            <a:r>
              <a:rPr lang="en-US" dirty="0"/>
              <a:t>Preferred suppliers</a:t>
            </a:r>
          </a:p>
          <a:p>
            <a:pPr>
              <a:defRPr/>
            </a:pPr>
            <a:r>
              <a:rPr lang="en-US" dirty="0"/>
              <a:t>Sales representatives</a:t>
            </a:r>
          </a:p>
          <a:p>
            <a:pPr>
              <a:defRPr/>
            </a:pPr>
            <a:r>
              <a:rPr lang="en-US" dirty="0"/>
              <a:t>Information databases</a:t>
            </a:r>
          </a:p>
          <a:p>
            <a:pPr>
              <a:defRPr/>
            </a:pPr>
            <a:r>
              <a:rPr lang="en-US" dirty="0"/>
              <a:t>Experience</a:t>
            </a:r>
          </a:p>
        </p:txBody>
      </p:sp>
      <p:sp>
        <p:nvSpPr>
          <p:cNvPr id="6" name="Content Placeholder 5">
            <a:extLst>
              <a:ext uri="{FF2B5EF4-FFF2-40B4-BE49-F238E27FC236}">
                <a16:creationId xmlns:a16="http://schemas.microsoft.com/office/drawing/2014/main" id="{C0DD3167-8D1C-48CF-8D69-F80ACABE1699}"/>
              </a:ext>
            </a:extLst>
          </p:cNvPr>
          <p:cNvSpPr>
            <a:spLocks noGrp="1"/>
          </p:cNvSpPr>
          <p:nvPr>
            <p:ph sz="half" idx="2"/>
          </p:nvPr>
        </p:nvSpPr>
        <p:spPr/>
        <p:txBody>
          <a:bodyPr/>
          <a:lstStyle/>
          <a:p>
            <a:pPr>
              <a:defRPr/>
            </a:pPr>
            <a:r>
              <a:rPr lang="en-US" dirty="0"/>
              <a:t>Trade journals</a:t>
            </a:r>
          </a:p>
          <a:p>
            <a:pPr>
              <a:defRPr/>
            </a:pPr>
            <a:r>
              <a:rPr lang="en-US" dirty="0"/>
              <a:t>Trade directories</a:t>
            </a:r>
          </a:p>
          <a:p>
            <a:pPr>
              <a:defRPr/>
            </a:pPr>
            <a:r>
              <a:rPr lang="en-US" dirty="0"/>
              <a:t>Trade shows</a:t>
            </a:r>
          </a:p>
          <a:p>
            <a:pPr>
              <a:defRPr/>
            </a:pPr>
            <a:r>
              <a:rPr lang="en-US" dirty="0"/>
              <a:t>Second-party or indirect information</a:t>
            </a:r>
          </a:p>
          <a:p>
            <a:pPr>
              <a:defRPr/>
            </a:pPr>
            <a:r>
              <a:rPr lang="en-US" dirty="0"/>
              <a:t>Internal sources</a:t>
            </a:r>
          </a:p>
          <a:p>
            <a:pPr>
              <a:defRPr/>
            </a:pPr>
            <a:r>
              <a:rPr lang="en-US" dirty="0"/>
              <a:t>Internet searches</a:t>
            </a:r>
          </a:p>
        </p:txBody>
      </p:sp>
      <p:sp>
        <p:nvSpPr>
          <p:cNvPr id="4" name="Footer Placeholder 3">
            <a:extLst>
              <a:ext uri="{FF2B5EF4-FFF2-40B4-BE49-F238E27FC236}">
                <a16:creationId xmlns:a16="http://schemas.microsoft.com/office/drawing/2014/main" id="{F6427D87-51D0-4C99-8DFE-33B2857AAEC0}"/>
              </a:ext>
            </a:extLst>
          </p:cNvPr>
          <p:cNvSpPr>
            <a:spLocks noGrp="1"/>
          </p:cNvSpPr>
          <p:nvPr>
            <p:ph type="ftr" sz="quarter" idx="10"/>
          </p:nvPr>
        </p:nvSpPr>
        <p:spPr/>
        <p:txBody>
          <a:bodyPr/>
          <a:lstStyle/>
          <a:p>
            <a:pPr>
              <a:defRPr/>
            </a:pPr>
            <a:r>
              <a:rPr lang="en-US"/>
              <a:t>Purchasing &amp; Supply Chain Management, 4e</a:t>
            </a:r>
          </a:p>
          <a:p>
            <a:pPr>
              <a:defRPr/>
            </a:pPr>
            <a:endParaRPr lang="en-US"/>
          </a:p>
        </p:txBody>
      </p:sp>
      <p:sp>
        <p:nvSpPr>
          <p:cNvPr id="5" name="Slide Number Placeholder 4">
            <a:extLst>
              <a:ext uri="{FF2B5EF4-FFF2-40B4-BE49-F238E27FC236}">
                <a16:creationId xmlns:a16="http://schemas.microsoft.com/office/drawing/2014/main" id="{0D65A23B-FB31-4AB3-98AB-5EA0FA186930}"/>
              </a:ext>
            </a:extLst>
          </p:cNvPr>
          <p:cNvSpPr>
            <a:spLocks noGrp="1"/>
          </p:cNvSpPr>
          <p:nvPr>
            <p:ph type="sldNum" sz="quarter" idx="11"/>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fld id="{ABD2333E-7145-4F90-BFE2-509980CCC900}" type="slidenum">
              <a:rPr lang="en-US" altLang="LID4096">
                <a:solidFill>
                  <a:srgbClr val="FFFFFF"/>
                </a:solidFill>
              </a:rPr>
              <a:pPr/>
              <a:t>14</a:t>
            </a:fld>
            <a:endParaRPr lang="en-US" altLang="LID4096">
              <a:solidFill>
                <a:srgbClr val="FFFFFF"/>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6">
            <a:extLst>
              <a:ext uri="{FF2B5EF4-FFF2-40B4-BE49-F238E27FC236}">
                <a16:creationId xmlns:a16="http://schemas.microsoft.com/office/drawing/2014/main" id="{6CD87E12-36E6-4D31-A657-657FF4754F2A}"/>
              </a:ext>
            </a:extLst>
          </p:cNvPr>
          <p:cNvSpPr>
            <a:spLocks noGrp="1"/>
          </p:cNvSpPr>
          <p:nvPr>
            <p:ph type="title"/>
          </p:nvPr>
        </p:nvSpPr>
        <p:spPr/>
        <p:txBody>
          <a:bodyPr/>
          <a:lstStyle/>
          <a:p>
            <a:r>
              <a:rPr lang="en-US" altLang="LID4096"/>
              <a:t>Sourcing Alternatives</a:t>
            </a:r>
          </a:p>
        </p:txBody>
      </p:sp>
      <p:sp>
        <p:nvSpPr>
          <p:cNvPr id="8" name="Content Placeholder 7">
            <a:extLst>
              <a:ext uri="{FF2B5EF4-FFF2-40B4-BE49-F238E27FC236}">
                <a16:creationId xmlns:a16="http://schemas.microsoft.com/office/drawing/2014/main" id="{B61EC821-692C-4FDC-BC88-C39A258627AA}"/>
              </a:ext>
            </a:extLst>
          </p:cNvPr>
          <p:cNvSpPr>
            <a:spLocks noGrp="1"/>
          </p:cNvSpPr>
          <p:nvPr>
            <p:ph idx="1"/>
          </p:nvPr>
        </p:nvSpPr>
        <p:spPr>
          <a:xfrm>
            <a:off x="457200" y="1600200"/>
            <a:ext cx="8534400" cy="4525963"/>
          </a:xfrm>
        </p:spPr>
        <p:txBody>
          <a:bodyPr/>
          <a:lstStyle/>
          <a:p>
            <a:pPr>
              <a:defRPr/>
            </a:pPr>
            <a:r>
              <a:rPr lang="en-US" dirty="0"/>
              <a:t>Manufacturer vs. distributor</a:t>
            </a:r>
          </a:p>
          <a:p>
            <a:pPr lvl="1">
              <a:defRPr/>
            </a:pPr>
            <a:r>
              <a:rPr lang="en-US" dirty="0"/>
              <a:t>Vendor-managed inventory</a:t>
            </a:r>
          </a:p>
          <a:p>
            <a:pPr lvl="1">
              <a:defRPr/>
            </a:pPr>
            <a:r>
              <a:rPr lang="en-US" dirty="0"/>
              <a:t>Integrated supply</a:t>
            </a:r>
          </a:p>
          <a:p>
            <a:pPr>
              <a:defRPr/>
            </a:pPr>
            <a:r>
              <a:rPr lang="en-US" dirty="0"/>
              <a:t>Local, national, or </a:t>
            </a:r>
            <a:r>
              <a:rPr lang="en-US" dirty="0">
                <a:solidFill>
                  <a:srgbClr val="0000FF"/>
                </a:solidFill>
              </a:rPr>
              <a:t>international </a:t>
            </a:r>
            <a:r>
              <a:rPr lang="en-US" dirty="0"/>
              <a:t>suppliers</a:t>
            </a:r>
          </a:p>
          <a:p>
            <a:pPr>
              <a:defRPr/>
            </a:pPr>
            <a:r>
              <a:rPr lang="en-US" dirty="0"/>
              <a:t>Large vs. small suppliers</a:t>
            </a:r>
          </a:p>
          <a:p>
            <a:pPr lvl="1">
              <a:defRPr/>
            </a:pPr>
            <a:r>
              <a:rPr lang="en-US" dirty="0">
                <a:solidFill>
                  <a:srgbClr val="0000FF"/>
                </a:solidFill>
              </a:rPr>
              <a:t>Capability</a:t>
            </a:r>
          </a:p>
          <a:p>
            <a:pPr>
              <a:defRPr/>
            </a:pPr>
            <a:r>
              <a:rPr lang="en-US" dirty="0"/>
              <a:t>Multiple vs. single </a:t>
            </a:r>
            <a:r>
              <a:rPr lang="en-US" dirty="0">
                <a:solidFill>
                  <a:srgbClr val="0000FF"/>
                </a:solidFill>
              </a:rPr>
              <a:t>sourcing</a:t>
            </a:r>
          </a:p>
        </p:txBody>
      </p:sp>
      <p:sp>
        <p:nvSpPr>
          <p:cNvPr id="5" name="Footer Placeholder 4">
            <a:extLst>
              <a:ext uri="{FF2B5EF4-FFF2-40B4-BE49-F238E27FC236}">
                <a16:creationId xmlns:a16="http://schemas.microsoft.com/office/drawing/2014/main" id="{8FF05473-E063-4F23-895F-A190EC9C24E8}"/>
              </a:ext>
            </a:extLst>
          </p:cNvPr>
          <p:cNvSpPr>
            <a:spLocks noGrp="1"/>
          </p:cNvSpPr>
          <p:nvPr>
            <p:ph type="ftr" sz="quarter" idx="10"/>
          </p:nvPr>
        </p:nvSpPr>
        <p:spPr/>
        <p:txBody>
          <a:bodyPr/>
          <a:lstStyle/>
          <a:p>
            <a:pPr>
              <a:defRPr/>
            </a:pPr>
            <a:r>
              <a:rPr lang="en-US"/>
              <a:t>Purchasing &amp; Supply Chain Management, 4e</a:t>
            </a:r>
          </a:p>
        </p:txBody>
      </p:sp>
      <p:sp>
        <p:nvSpPr>
          <p:cNvPr id="6" name="Slide Number Placeholder 5">
            <a:extLst>
              <a:ext uri="{FF2B5EF4-FFF2-40B4-BE49-F238E27FC236}">
                <a16:creationId xmlns:a16="http://schemas.microsoft.com/office/drawing/2014/main" id="{B167EB45-983E-4B22-B4A8-1BEFEE52E7C2}"/>
              </a:ext>
            </a:extLst>
          </p:cNvPr>
          <p:cNvSpPr>
            <a:spLocks noGrp="1"/>
          </p:cNvSpPr>
          <p:nvPr>
            <p:ph type="sldNum" sz="quarter" idx="11"/>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fld id="{252D3194-2FC8-42A2-B6B9-033CB327621E}" type="slidenum">
              <a:rPr lang="en-US" altLang="LID4096">
                <a:solidFill>
                  <a:srgbClr val="FFFFFF"/>
                </a:solidFill>
              </a:rPr>
              <a:pPr/>
              <a:t>15</a:t>
            </a:fld>
            <a:endParaRPr lang="en-US" altLang="LID4096">
              <a:solidFill>
                <a:srgbClr val="FFFFFF"/>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9C328-7DE2-4885-99A1-228EDDC585BE}"/>
              </a:ext>
            </a:extLst>
          </p:cNvPr>
          <p:cNvSpPr>
            <a:spLocks noGrp="1"/>
          </p:cNvSpPr>
          <p:nvPr>
            <p:ph type="title"/>
          </p:nvPr>
        </p:nvSpPr>
        <p:spPr/>
        <p:txBody>
          <a:bodyPr/>
          <a:lstStyle/>
          <a:p>
            <a:r>
              <a:rPr lang="en-US" dirty="0"/>
              <a:t>Honda Case Example</a:t>
            </a:r>
            <a:endParaRPr lang="LID4096" dirty="0"/>
          </a:p>
        </p:txBody>
      </p:sp>
      <p:sp>
        <p:nvSpPr>
          <p:cNvPr id="3" name="Content Placeholder 2">
            <a:extLst>
              <a:ext uri="{FF2B5EF4-FFF2-40B4-BE49-F238E27FC236}">
                <a16:creationId xmlns:a16="http://schemas.microsoft.com/office/drawing/2014/main" id="{597B7DDB-4368-4A44-9FD0-48D921E4423B}"/>
              </a:ext>
            </a:extLst>
          </p:cNvPr>
          <p:cNvSpPr>
            <a:spLocks noGrp="1"/>
          </p:cNvSpPr>
          <p:nvPr>
            <p:ph idx="1"/>
          </p:nvPr>
        </p:nvSpPr>
        <p:spPr>
          <a:xfrm>
            <a:off x="381000" y="1318418"/>
            <a:ext cx="8229600" cy="4525963"/>
          </a:xfrm>
        </p:spPr>
        <p:txBody>
          <a:bodyPr/>
          <a:lstStyle/>
          <a:p>
            <a:pPr marL="0" indent="0" algn="just">
              <a:buNone/>
            </a:pPr>
            <a:r>
              <a:rPr lang="en-US" sz="2800" dirty="0"/>
              <a:t>Honda built assembly plants in the US (e.g., Ohio) and needed a </a:t>
            </a:r>
            <a:r>
              <a:rPr lang="en-US" sz="2800" dirty="0">
                <a:solidFill>
                  <a:srgbClr val="0000FF"/>
                </a:solidFill>
              </a:rPr>
              <a:t>network of local suppliers </a:t>
            </a:r>
            <a:r>
              <a:rPr lang="en-US" sz="2800" dirty="0"/>
              <a:t>for key components such </a:t>
            </a:r>
            <a:r>
              <a:rPr lang="en-US" sz="2800" dirty="0">
                <a:solidFill>
                  <a:srgbClr val="0000FF"/>
                </a:solidFill>
              </a:rPr>
              <a:t>as engines, transmissions, and chassis parts</a:t>
            </a:r>
            <a:r>
              <a:rPr lang="en-US" sz="2800" dirty="0"/>
              <a:t>.</a:t>
            </a:r>
          </a:p>
          <a:p>
            <a:pPr marL="0" indent="0" algn="just">
              <a:buNone/>
            </a:pPr>
            <a:r>
              <a:rPr lang="en-US" sz="2800" dirty="0"/>
              <a:t>Strategic Goal: </a:t>
            </a:r>
            <a:r>
              <a:rPr lang="en-US" sz="2800" b="0" dirty="0"/>
              <a:t>Because </a:t>
            </a:r>
            <a:r>
              <a:rPr lang="en-US" sz="2800" b="0" dirty="0">
                <a:solidFill>
                  <a:srgbClr val="0000FF"/>
                </a:solidFill>
              </a:rPr>
              <a:t>quality and delivery </a:t>
            </a:r>
            <a:r>
              <a:rPr lang="en-US" sz="2800" b="0" dirty="0"/>
              <a:t>are critical in automotive, supplier selection and evaluation were treated as a strategic process, not just a price comparison.</a:t>
            </a:r>
          </a:p>
          <a:p>
            <a:pPr marL="0" indent="0" algn="just">
              <a:buNone/>
            </a:pPr>
            <a:r>
              <a:rPr lang="en-US" sz="2800" dirty="0"/>
              <a:t>Selection Criteria: </a:t>
            </a:r>
            <a:r>
              <a:rPr lang="en-US" sz="2800" b="0" dirty="0"/>
              <a:t>Cost, quality, delivery, technology, management, and culture.</a:t>
            </a:r>
          </a:p>
          <a:p>
            <a:pPr marL="0" indent="0" algn="just">
              <a:buNone/>
            </a:pPr>
            <a:endParaRPr lang="LID4096" sz="2800" b="0" dirty="0"/>
          </a:p>
        </p:txBody>
      </p:sp>
      <p:sp>
        <p:nvSpPr>
          <p:cNvPr id="4" name="Footer Placeholder 3">
            <a:extLst>
              <a:ext uri="{FF2B5EF4-FFF2-40B4-BE49-F238E27FC236}">
                <a16:creationId xmlns:a16="http://schemas.microsoft.com/office/drawing/2014/main" id="{66A44929-FB88-49CD-9029-B31C06BF7B12}"/>
              </a:ext>
            </a:extLst>
          </p:cNvPr>
          <p:cNvSpPr>
            <a:spLocks noGrp="1"/>
          </p:cNvSpPr>
          <p:nvPr>
            <p:ph type="ftr" sz="quarter" idx="10"/>
          </p:nvPr>
        </p:nvSpPr>
        <p:spPr/>
        <p:txBody>
          <a:bodyPr/>
          <a:lstStyle/>
          <a:p>
            <a:pPr>
              <a:defRPr/>
            </a:pPr>
            <a:r>
              <a:rPr lang="en-US"/>
              <a:t>Purchasing &amp; Supply Chain Management, 4e</a:t>
            </a:r>
          </a:p>
          <a:p>
            <a:pPr>
              <a:defRPr/>
            </a:pPr>
            <a:endParaRPr lang="en-US"/>
          </a:p>
        </p:txBody>
      </p:sp>
      <p:sp>
        <p:nvSpPr>
          <p:cNvPr id="5" name="Slide Number Placeholder 4">
            <a:extLst>
              <a:ext uri="{FF2B5EF4-FFF2-40B4-BE49-F238E27FC236}">
                <a16:creationId xmlns:a16="http://schemas.microsoft.com/office/drawing/2014/main" id="{8C4F035F-2337-467A-949B-A3F392EE0FC3}"/>
              </a:ext>
            </a:extLst>
          </p:cNvPr>
          <p:cNvSpPr>
            <a:spLocks noGrp="1"/>
          </p:cNvSpPr>
          <p:nvPr>
            <p:ph type="sldNum" sz="quarter" idx="11"/>
          </p:nvPr>
        </p:nvSpPr>
        <p:spPr/>
        <p:txBody>
          <a:bodyPr/>
          <a:lstStyle/>
          <a:p>
            <a:fld id="{8BF4BE55-F1BA-4FEC-A992-35DFF9897356}" type="slidenum">
              <a:rPr lang="en-US" altLang="LID4096" smtClean="0"/>
              <a:pPr/>
              <a:t>16</a:t>
            </a:fld>
            <a:endParaRPr lang="en-US" altLang="LID4096"/>
          </a:p>
        </p:txBody>
      </p:sp>
    </p:spTree>
    <p:extLst>
      <p:ext uri="{BB962C8B-B14F-4D97-AF65-F5344CB8AC3E}">
        <p14:creationId xmlns:p14="http://schemas.microsoft.com/office/powerpoint/2010/main" val="16050215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BEC26-9DBD-47D2-BCC4-996963242DF4}"/>
              </a:ext>
            </a:extLst>
          </p:cNvPr>
          <p:cNvSpPr>
            <a:spLocks noGrp="1"/>
          </p:cNvSpPr>
          <p:nvPr>
            <p:ph type="title"/>
          </p:nvPr>
        </p:nvSpPr>
        <p:spPr/>
        <p:txBody>
          <a:bodyPr/>
          <a:lstStyle/>
          <a:p>
            <a:r>
              <a:rPr lang="en-US" dirty="0"/>
              <a:t>Honda Case Example (Selection)</a:t>
            </a:r>
            <a:endParaRPr lang="LID4096" dirty="0"/>
          </a:p>
        </p:txBody>
      </p:sp>
      <p:sp>
        <p:nvSpPr>
          <p:cNvPr id="3" name="Content Placeholder 2">
            <a:extLst>
              <a:ext uri="{FF2B5EF4-FFF2-40B4-BE49-F238E27FC236}">
                <a16:creationId xmlns:a16="http://schemas.microsoft.com/office/drawing/2014/main" id="{7741634F-C931-4CEA-911D-4CC245B642C0}"/>
              </a:ext>
            </a:extLst>
          </p:cNvPr>
          <p:cNvSpPr>
            <a:spLocks noGrp="1"/>
          </p:cNvSpPr>
          <p:nvPr>
            <p:ph idx="1"/>
          </p:nvPr>
        </p:nvSpPr>
        <p:spPr>
          <a:xfrm>
            <a:off x="228600" y="1057275"/>
            <a:ext cx="8534400" cy="4525963"/>
          </a:xfrm>
        </p:spPr>
        <p:txBody>
          <a:bodyPr/>
          <a:lstStyle/>
          <a:p>
            <a:pPr marL="0" indent="0" algn="just">
              <a:buNone/>
            </a:pPr>
            <a:r>
              <a:rPr lang="en-US" sz="2800" b="0" dirty="0"/>
              <a:t>1</a:t>
            </a:r>
            <a:r>
              <a:rPr lang="en-US" sz="2800" b="0" dirty="0">
                <a:solidFill>
                  <a:srgbClr val="0000FF"/>
                </a:solidFill>
              </a:rPr>
              <a:t>. Long list: </a:t>
            </a:r>
            <a:r>
              <a:rPr lang="en-US" sz="2800" b="0" dirty="0"/>
              <a:t>Existing global and local candidates.</a:t>
            </a:r>
          </a:p>
          <a:p>
            <a:pPr marL="0" indent="0" algn="just">
              <a:buNone/>
            </a:pPr>
            <a:r>
              <a:rPr lang="en-US" sz="2800" b="0" dirty="0">
                <a:solidFill>
                  <a:srgbClr val="0000FF"/>
                </a:solidFill>
              </a:rPr>
              <a:t>2. Pre‑qualification: </a:t>
            </a:r>
            <a:r>
              <a:rPr lang="en-US" sz="2800" b="0" dirty="0"/>
              <a:t>financial and basic capability.</a:t>
            </a:r>
          </a:p>
          <a:p>
            <a:pPr marL="0" indent="0" algn="just">
              <a:buNone/>
            </a:pPr>
            <a:r>
              <a:rPr lang="en-US" sz="2800" b="0" dirty="0"/>
              <a:t>3. Cross‑</a:t>
            </a:r>
            <a:r>
              <a:rPr lang="en-US" sz="2800" b="0" dirty="0">
                <a:solidFill>
                  <a:srgbClr val="0000FF"/>
                </a:solidFill>
              </a:rPr>
              <a:t>functional audits </a:t>
            </a:r>
            <a:r>
              <a:rPr lang="en-US" sz="2800" b="0" dirty="0"/>
              <a:t>at the plant: production, quality, maintenance, logistics.</a:t>
            </a:r>
          </a:p>
          <a:p>
            <a:pPr marL="0" indent="0" algn="just">
              <a:buNone/>
            </a:pPr>
            <a:r>
              <a:rPr lang="en-US" sz="2800" b="0" dirty="0"/>
              <a:t>4. Scoring on a </a:t>
            </a:r>
            <a:r>
              <a:rPr lang="en-US" sz="2800" b="0" dirty="0">
                <a:solidFill>
                  <a:srgbClr val="0000FF"/>
                </a:solidFill>
              </a:rPr>
              <a:t>weighted scorecard</a:t>
            </a:r>
            <a:r>
              <a:rPr lang="en-US" sz="2800" b="0" dirty="0"/>
              <a:t>; only top‑ranked suppliers invited to quote.</a:t>
            </a:r>
          </a:p>
          <a:p>
            <a:pPr marL="0" indent="0" algn="just">
              <a:buNone/>
            </a:pPr>
            <a:r>
              <a:rPr lang="en-US" sz="2800" b="0" dirty="0"/>
              <a:t>5. Pilot production: </a:t>
            </a:r>
            <a:r>
              <a:rPr lang="en-US" sz="2400" b="0" dirty="0">
                <a:effectLst/>
                <a:latin typeface="fkGroteskNeue"/>
              </a:rPr>
              <a:t>After advanced product quality planning (APQP) and before awarding full volume, Honda requires suppliers to run a pilot production lot under real conditions and submit the Production part approval process (PPAP). Only if the pilot parts and data meet requirements does Honda approve the supplier for serial production.</a:t>
            </a:r>
            <a:endParaRPr lang="en-US" sz="4000" b="0" dirty="0"/>
          </a:p>
          <a:p>
            <a:endParaRPr lang="LID4096" dirty="0"/>
          </a:p>
        </p:txBody>
      </p:sp>
      <p:sp>
        <p:nvSpPr>
          <p:cNvPr id="5" name="Slide Number Placeholder 4">
            <a:extLst>
              <a:ext uri="{FF2B5EF4-FFF2-40B4-BE49-F238E27FC236}">
                <a16:creationId xmlns:a16="http://schemas.microsoft.com/office/drawing/2014/main" id="{AD70D1C4-B1C4-4973-8772-B820570D0A66}"/>
              </a:ext>
            </a:extLst>
          </p:cNvPr>
          <p:cNvSpPr>
            <a:spLocks noGrp="1"/>
          </p:cNvSpPr>
          <p:nvPr>
            <p:ph type="sldNum" sz="quarter" idx="11"/>
          </p:nvPr>
        </p:nvSpPr>
        <p:spPr/>
        <p:txBody>
          <a:bodyPr/>
          <a:lstStyle/>
          <a:p>
            <a:fld id="{8BF4BE55-F1BA-4FEC-A992-35DFF9897356}" type="slidenum">
              <a:rPr lang="en-US" altLang="LID4096" smtClean="0"/>
              <a:pPr/>
              <a:t>17</a:t>
            </a:fld>
            <a:endParaRPr lang="en-US" altLang="LID4096"/>
          </a:p>
        </p:txBody>
      </p:sp>
    </p:spTree>
    <p:extLst>
      <p:ext uri="{BB962C8B-B14F-4D97-AF65-F5344CB8AC3E}">
        <p14:creationId xmlns:p14="http://schemas.microsoft.com/office/powerpoint/2010/main" val="14656170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03472-7374-47E2-82A7-1E99890B7063}"/>
              </a:ext>
            </a:extLst>
          </p:cNvPr>
          <p:cNvSpPr>
            <a:spLocks noGrp="1"/>
          </p:cNvSpPr>
          <p:nvPr>
            <p:ph type="title"/>
          </p:nvPr>
        </p:nvSpPr>
        <p:spPr/>
        <p:txBody>
          <a:bodyPr/>
          <a:lstStyle/>
          <a:p>
            <a:r>
              <a:rPr lang="en-US" dirty="0"/>
              <a:t>Honda Case Example</a:t>
            </a:r>
            <a:endParaRPr lang="LID4096" dirty="0"/>
          </a:p>
        </p:txBody>
      </p:sp>
      <p:sp>
        <p:nvSpPr>
          <p:cNvPr id="3" name="Content Placeholder 2">
            <a:extLst>
              <a:ext uri="{FF2B5EF4-FFF2-40B4-BE49-F238E27FC236}">
                <a16:creationId xmlns:a16="http://schemas.microsoft.com/office/drawing/2014/main" id="{E60DC160-4BD7-4FBD-9243-21EE9C2DFBE1}"/>
              </a:ext>
            </a:extLst>
          </p:cNvPr>
          <p:cNvSpPr>
            <a:spLocks noGrp="1"/>
          </p:cNvSpPr>
          <p:nvPr>
            <p:ph idx="1"/>
          </p:nvPr>
        </p:nvSpPr>
        <p:spPr>
          <a:xfrm>
            <a:off x="381000" y="1089818"/>
            <a:ext cx="8229600" cy="4678363"/>
          </a:xfrm>
        </p:spPr>
        <p:txBody>
          <a:bodyPr/>
          <a:lstStyle/>
          <a:p>
            <a:pPr marL="0" indent="0" algn="just">
              <a:buNone/>
            </a:pPr>
            <a:r>
              <a:rPr lang="en-US" sz="2400" i="0" dirty="0">
                <a:effectLst/>
                <a:latin typeface="fkGroteskNeue"/>
              </a:rPr>
              <a:t>Ongoing supplier evaluation strategy: </a:t>
            </a:r>
            <a:r>
              <a:rPr lang="en-US" sz="2400" b="0" i="0" dirty="0">
                <a:effectLst/>
                <a:latin typeface="fkGroteskNeue"/>
              </a:rPr>
              <a:t>Once selected, Honda used a formal supplier performance evaluation system:</a:t>
            </a:r>
          </a:p>
          <a:p>
            <a:pPr algn="just">
              <a:buFont typeface="Arial" panose="020B0604020202020204" pitchFamily="34" charset="0"/>
              <a:buChar char="•"/>
            </a:pPr>
            <a:r>
              <a:rPr lang="en-US" sz="2400" b="0" i="0" dirty="0">
                <a:solidFill>
                  <a:srgbClr val="0000FF"/>
                </a:solidFill>
                <a:effectLst/>
                <a:latin typeface="fkGroteskNeue"/>
              </a:rPr>
              <a:t>Monthly</a:t>
            </a:r>
            <a:r>
              <a:rPr lang="en-US" sz="2400" b="0" i="0" dirty="0">
                <a:effectLst/>
                <a:latin typeface="fkGroteskNeue"/>
              </a:rPr>
              <a:t> metrics: PPM defects, on‑time delivery, responsiveness to problems.</a:t>
            </a:r>
          </a:p>
          <a:p>
            <a:pPr algn="just">
              <a:buFont typeface="Arial" panose="020B0604020202020204" pitchFamily="34" charset="0"/>
              <a:buChar char="•"/>
            </a:pPr>
            <a:r>
              <a:rPr lang="en-US" sz="2400" b="0" i="0" dirty="0">
                <a:solidFill>
                  <a:srgbClr val="0000FF"/>
                </a:solidFill>
                <a:effectLst/>
                <a:latin typeface="fkGroteskNeue"/>
              </a:rPr>
              <a:t>Annual</a:t>
            </a:r>
            <a:r>
              <a:rPr lang="en-US" sz="2400" b="0" i="0" dirty="0">
                <a:effectLst/>
                <a:latin typeface="fkGroteskNeue"/>
              </a:rPr>
              <a:t> evaluations combining quantitative scores with plant‑visit assessments.</a:t>
            </a:r>
          </a:p>
          <a:p>
            <a:pPr algn="just">
              <a:buFont typeface="Arial" panose="020B0604020202020204" pitchFamily="34" charset="0"/>
              <a:buChar char="•"/>
            </a:pPr>
            <a:r>
              <a:rPr lang="en-US" sz="2400" b="0" i="0" dirty="0">
                <a:solidFill>
                  <a:srgbClr val="0000FF"/>
                </a:solidFill>
                <a:effectLst/>
                <a:latin typeface="fkGroteskNeue"/>
              </a:rPr>
              <a:t>Set joint </a:t>
            </a:r>
            <a:r>
              <a:rPr lang="en-US" sz="2400" b="0" i="0" dirty="0">
                <a:effectLst/>
                <a:latin typeface="fkGroteskNeue"/>
              </a:rPr>
              <a:t>improvement targets (cost, scrap, changeover time).</a:t>
            </a:r>
          </a:p>
        </p:txBody>
      </p:sp>
      <p:sp>
        <p:nvSpPr>
          <p:cNvPr id="4" name="Footer Placeholder 3">
            <a:extLst>
              <a:ext uri="{FF2B5EF4-FFF2-40B4-BE49-F238E27FC236}">
                <a16:creationId xmlns:a16="http://schemas.microsoft.com/office/drawing/2014/main" id="{AF842EBF-9980-462C-BDE7-8388C461691F}"/>
              </a:ext>
            </a:extLst>
          </p:cNvPr>
          <p:cNvSpPr>
            <a:spLocks noGrp="1"/>
          </p:cNvSpPr>
          <p:nvPr>
            <p:ph type="ftr" sz="quarter" idx="10"/>
          </p:nvPr>
        </p:nvSpPr>
        <p:spPr/>
        <p:txBody>
          <a:bodyPr/>
          <a:lstStyle/>
          <a:p>
            <a:pPr>
              <a:defRPr/>
            </a:pPr>
            <a:r>
              <a:rPr lang="en-US"/>
              <a:t>Purchasing &amp; Supply Chain Management, 4e</a:t>
            </a:r>
          </a:p>
          <a:p>
            <a:pPr>
              <a:defRPr/>
            </a:pPr>
            <a:endParaRPr lang="en-US"/>
          </a:p>
        </p:txBody>
      </p:sp>
      <p:sp>
        <p:nvSpPr>
          <p:cNvPr id="5" name="Slide Number Placeholder 4">
            <a:extLst>
              <a:ext uri="{FF2B5EF4-FFF2-40B4-BE49-F238E27FC236}">
                <a16:creationId xmlns:a16="http://schemas.microsoft.com/office/drawing/2014/main" id="{2887A1C2-4329-4A15-B178-65DC899C7105}"/>
              </a:ext>
            </a:extLst>
          </p:cNvPr>
          <p:cNvSpPr>
            <a:spLocks noGrp="1"/>
          </p:cNvSpPr>
          <p:nvPr>
            <p:ph type="sldNum" sz="quarter" idx="11"/>
          </p:nvPr>
        </p:nvSpPr>
        <p:spPr/>
        <p:txBody>
          <a:bodyPr/>
          <a:lstStyle/>
          <a:p>
            <a:fld id="{8BF4BE55-F1BA-4FEC-A992-35DFF9897356}" type="slidenum">
              <a:rPr lang="en-US" altLang="LID4096" smtClean="0"/>
              <a:pPr/>
              <a:t>18</a:t>
            </a:fld>
            <a:endParaRPr lang="en-US" altLang="LID4096"/>
          </a:p>
        </p:txBody>
      </p:sp>
    </p:spTree>
    <p:extLst>
      <p:ext uri="{BB962C8B-B14F-4D97-AF65-F5344CB8AC3E}">
        <p14:creationId xmlns:p14="http://schemas.microsoft.com/office/powerpoint/2010/main" val="37583134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a:extLst>
              <a:ext uri="{FF2B5EF4-FFF2-40B4-BE49-F238E27FC236}">
                <a16:creationId xmlns:a16="http://schemas.microsoft.com/office/drawing/2014/main" id="{F9AB5036-8292-4947-B0FB-B938DBF348CC}"/>
              </a:ext>
            </a:extLst>
          </p:cNvPr>
          <p:cNvSpPr>
            <a:spLocks noGrp="1"/>
          </p:cNvSpPr>
          <p:nvPr>
            <p:ph type="title"/>
          </p:nvPr>
        </p:nvSpPr>
        <p:spPr/>
        <p:txBody>
          <a:bodyPr/>
          <a:lstStyle/>
          <a:p>
            <a:r>
              <a:rPr lang="en-US" altLang="LID4096" dirty="0"/>
              <a:t>5. Limit Suppliers in Selection Pool</a:t>
            </a:r>
          </a:p>
        </p:txBody>
      </p:sp>
      <p:sp>
        <p:nvSpPr>
          <p:cNvPr id="3" name="Content Placeholder 2">
            <a:extLst>
              <a:ext uri="{FF2B5EF4-FFF2-40B4-BE49-F238E27FC236}">
                <a16:creationId xmlns:a16="http://schemas.microsoft.com/office/drawing/2014/main" id="{52F3162B-4659-4590-BA4F-E1928ABD8FDE}"/>
              </a:ext>
            </a:extLst>
          </p:cNvPr>
          <p:cNvSpPr>
            <a:spLocks noGrp="1"/>
          </p:cNvSpPr>
          <p:nvPr>
            <p:ph idx="1"/>
          </p:nvPr>
        </p:nvSpPr>
        <p:spPr>
          <a:xfrm>
            <a:off x="228600" y="1219200"/>
            <a:ext cx="8534400" cy="4724401"/>
          </a:xfrm>
        </p:spPr>
        <p:txBody>
          <a:bodyPr/>
          <a:lstStyle/>
          <a:p>
            <a:pPr marL="0" indent="0">
              <a:buNone/>
              <a:defRPr/>
            </a:pPr>
            <a:r>
              <a:rPr lang="en-US" sz="2800" u="sng" dirty="0"/>
              <a:t>Financial risk analysis:</a:t>
            </a:r>
          </a:p>
          <a:p>
            <a:pPr marL="0" indent="0" algn="just">
              <a:buNone/>
            </a:pPr>
            <a:r>
              <a:rPr lang="en-US" sz="2400" dirty="0"/>
              <a:t>A PAYDEX score is Dun &amp; Bradstreet’s 1–100 rating that shows how quickly a business pays its bills. Companies use it to assess a supplier’s payment behavior and its financial reliability.</a:t>
            </a:r>
          </a:p>
          <a:p>
            <a:pPr algn="just">
              <a:buFont typeface="Arial" panose="020B0604020202020204" pitchFamily="34" charset="0"/>
              <a:buChar char="•"/>
            </a:pPr>
            <a:r>
              <a:rPr lang="en-US" sz="2400" dirty="0"/>
              <a:t>80–100: pays on time or earlier than terms (low risk).</a:t>
            </a:r>
          </a:p>
          <a:p>
            <a:pPr algn="just">
              <a:buFont typeface="Arial" panose="020B0604020202020204" pitchFamily="34" charset="0"/>
              <a:buChar char="•"/>
            </a:pPr>
            <a:r>
              <a:rPr lang="en-US" sz="2400" dirty="0"/>
              <a:t>50–79: sometimes late, 30 days (moderate risk).</a:t>
            </a:r>
          </a:p>
          <a:p>
            <a:pPr algn="just">
              <a:buFont typeface="Arial" panose="020B0604020202020204" pitchFamily="34" charset="0"/>
              <a:buChar char="•"/>
            </a:pPr>
            <a:r>
              <a:rPr lang="en-US" sz="2400" dirty="0"/>
              <a:t>Below 50: very late, 30–90 days (high risk).</a:t>
            </a:r>
          </a:p>
          <a:p>
            <a:pPr marL="0" indent="0" algn="just">
              <a:buNone/>
            </a:pPr>
            <a:r>
              <a:rPr lang="en-US" sz="2400" dirty="0"/>
              <a:t>E.g., Supplier A: PAYDEX </a:t>
            </a:r>
            <a:r>
              <a:rPr lang="en-US" sz="2400" dirty="0">
                <a:solidFill>
                  <a:srgbClr val="0000FF"/>
                </a:solidFill>
              </a:rPr>
              <a:t>85</a:t>
            </a:r>
            <a:r>
              <a:rPr lang="en-US" sz="2400" dirty="0"/>
              <a:t>, SER 2 → pays bills on time, low risk of failure.</a:t>
            </a:r>
          </a:p>
          <a:p>
            <a:pPr algn="just">
              <a:buFont typeface="Arial" panose="020B0604020202020204" pitchFamily="34" charset="0"/>
              <a:buChar char="•"/>
            </a:pPr>
            <a:r>
              <a:rPr lang="en-US" sz="2400" dirty="0"/>
              <a:t>Supplier B: PAYDEX </a:t>
            </a:r>
            <a:r>
              <a:rPr lang="en-US" sz="2400" dirty="0">
                <a:solidFill>
                  <a:srgbClr val="0000FF"/>
                </a:solidFill>
              </a:rPr>
              <a:t>55</a:t>
            </a:r>
            <a:r>
              <a:rPr lang="en-US" sz="2400" dirty="0"/>
              <a:t>, SER 7 → often pays late, higher risk of financial trouble.</a:t>
            </a:r>
          </a:p>
        </p:txBody>
      </p:sp>
      <p:sp>
        <p:nvSpPr>
          <p:cNvPr id="5" name="Slide Number Placeholder 4">
            <a:extLst>
              <a:ext uri="{FF2B5EF4-FFF2-40B4-BE49-F238E27FC236}">
                <a16:creationId xmlns:a16="http://schemas.microsoft.com/office/drawing/2014/main" id="{5AFB9640-E899-48CC-89DF-21A2343DF1A3}"/>
              </a:ext>
            </a:extLst>
          </p:cNvPr>
          <p:cNvSpPr>
            <a:spLocks noGrp="1"/>
          </p:cNvSpPr>
          <p:nvPr>
            <p:ph type="sldNum" sz="quarter" idx="11"/>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fld id="{A3671694-EEE3-47F7-8999-BB721255ACE8}" type="slidenum">
              <a:rPr lang="en-US" altLang="LID4096">
                <a:solidFill>
                  <a:srgbClr val="FFFFFF"/>
                </a:solidFill>
              </a:rPr>
              <a:pPr/>
              <a:t>19</a:t>
            </a:fld>
            <a:endParaRPr lang="en-US" altLang="LID4096">
              <a:solidFill>
                <a:srgbClr val="FFFFFF"/>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9ED60-717A-4438-9FB7-26D4ECACD9DC}"/>
              </a:ext>
            </a:extLst>
          </p:cNvPr>
          <p:cNvSpPr>
            <a:spLocks noGrp="1"/>
          </p:cNvSpPr>
          <p:nvPr>
            <p:ph type="title"/>
          </p:nvPr>
        </p:nvSpPr>
        <p:spPr/>
        <p:txBody>
          <a:bodyPr/>
          <a:lstStyle/>
          <a:p>
            <a:r>
              <a:rPr lang="en-US" altLang="LID4096" dirty="0"/>
              <a:t>5. Limit Suppliers in Selection Pool</a:t>
            </a:r>
            <a:endParaRPr lang="LID4096" dirty="0"/>
          </a:p>
        </p:txBody>
      </p:sp>
      <p:sp>
        <p:nvSpPr>
          <p:cNvPr id="3" name="Content Placeholder 2">
            <a:extLst>
              <a:ext uri="{FF2B5EF4-FFF2-40B4-BE49-F238E27FC236}">
                <a16:creationId xmlns:a16="http://schemas.microsoft.com/office/drawing/2014/main" id="{48D26826-F120-415A-84CD-FC6C2DEDE081}"/>
              </a:ext>
            </a:extLst>
          </p:cNvPr>
          <p:cNvSpPr>
            <a:spLocks noGrp="1"/>
          </p:cNvSpPr>
          <p:nvPr>
            <p:ph idx="1"/>
          </p:nvPr>
        </p:nvSpPr>
        <p:spPr/>
        <p:txBody>
          <a:bodyPr/>
          <a:lstStyle/>
          <a:p>
            <a:pPr>
              <a:defRPr/>
            </a:pPr>
            <a:r>
              <a:rPr lang="en-US" dirty="0">
                <a:solidFill>
                  <a:srgbClr val="0000FF"/>
                </a:solidFill>
              </a:rPr>
              <a:t>Evaluation</a:t>
            </a:r>
            <a:r>
              <a:rPr lang="en-US" dirty="0"/>
              <a:t> of supplier performance</a:t>
            </a:r>
          </a:p>
          <a:p>
            <a:pPr lvl="1">
              <a:defRPr/>
            </a:pPr>
            <a:r>
              <a:rPr lang="en-US" dirty="0"/>
              <a:t>For existing suppliers</a:t>
            </a:r>
          </a:p>
          <a:p>
            <a:pPr>
              <a:defRPr/>
            </a:pPr>
            <a:r>
              <a:rPr lang="en-US" dirty="0"/>
              <a:t>Evaluation of supplier-provided</a:t>
            </a:r>
          </a:p>
          <a:p>
            <a:pPr>
              <a:defRPr/>
            </a:pPr>
            <a:r>
              <a:rPr lang="en-US" dirty="0"/>
              <a:t> </a:t>
            </a:r>
            <a:r>
              <a:rPr lang="en-US" dirty="0">
                <a:solidFill>
                  <a:srgbClr val="0000FF"/>
                </a:solidFill>
              </a:rPr>
              <a:t>information</a:t>
            </a:r>
          </a:p>
          <a:p>
            <a:pPr lvl="1">
              <a:defRPr/>
            </a:pPr>
            <a:r>
              <a:rPr lang="en-US" dirty="0"/>
              <a:t>Preliminary surveys (entry qualifiers)</a:t>
            </a:r>
          </a:p>
          <a:p>
            <a:pPr lvl="1">
              <a:defRPr/>
            </a:pPr>
            <a:r>
              <a:rPr lang="en-US" dirty="0"/>
              <a:t>RFIs, RFPs, or RFQs</a:t>
            </a:r>
          </a:p>
          <a:p>
            <a:endParaRPr lang="LID4096" dirty="0"/>
          </a:p>
        </p:txBody>
      </p:sp>
      <p:sp>
        <p:nvSpPr>
          <p:cNvPr id="4" name="Footer Placeholder 3">
            <a:extLst>
              <a:ext uri="{FF2B5EF4-FFF2-40B4-BE49-F238E27FC236}">
                <a16:creationId xmlns:a16="http://schemas.microsoft.com/office/drawing/2014/main" id="{8ECF1E00-CDCF-4E96-A429-52F9DFEF912B}"/>
              </a:ext>
            </a:extLst>
          </p:cNvPr>
          <p:cNvSpPr>
            <a:spLocks noGrp="1"/>
          </p:cNvSpPr>
          <p:nvPr>
            <p:ph type="ftr" sz="quarter" idx="10"/>
          </p:nvPr>
        </p:nvSpPr>
        <p:spPr/>
        <p:txBody>
          <a:bodyPr/>
          <a:lstStyle/>
          <a:p>
            <a:pPr>
              <a:defRPr/>
            </a:pPr>
            <a:r>
              <a:rPr lang="en-US"/>
              <a:t>Purchasing &amp; Supply Chain Management, 4e</a:t>
            </a:r>
          </a:p>
          <a:p>
            <a:pPr>
              <a:defRPr/>
            </a:pPr>
            <a:endParaRPr lang="en-US"/>
          </a:p>
        </p:txBody>
      </p:sp>
      <p:sp>
        <p:nvSpPr>
          <p:cNvPr id="5" name="Slide Number Placeholder 4">
            <a:extLst>
              <a:ext uri="{FF2B5EF4-FFF2-40B4-BE49-F238E27FC236}">
                <a16:creationId xmlns:a16="http://schemas.microsoft.com/office/drawing/2014/main" id="{A22D5F04-2772-4E68-826D-590B55A78B67}"/>
              </a:ext>
            </a:extLst>
          </p:cNvPr>
          <p:cNvSpPr>
            <a:spLocks noGrp="1"/>
          </p:cNvSpPr>
          <p:nvPr>
            <p:ph type="sldNum" sz="quarter" idx="11"/>
          </p:nvPr>
        </p:nvSpPr>
        <p:spPr/>
        <p:txBody>
          <a:bodyPr/>
          <a:lstStyle/>
          <a:p>
            <a:fld id="{8BF4BE55-F1BA-4FEC-A992-35DFF9897356}" type="slidenum">
              <a:rPr lang="en-US" altLang="LID4096" smtClean="0"/>
              <a:pPr/>
              <a:t>20</a:t>
            </a:fld>
            <a:endParaRPr lang="en-US" altLang="LID4096"/>
          </a:p>
        </p:txBody>
      </p:sp>
    </p:spTree>
    <p:extLst>
      <p:ext uri="{BB962C8B-B14F-4D97-AF65-F5344CB8AC3E}">
        <p14:creationId xmlns:p14="http://schemas.microsoft.com/office/powerpoint/2010/main" val="6236575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a:extLst>
              <a:ext uri="{FF2B5EF4-FFF2-40B4-BE49-F238E27FC236}">
                <a16:creationId xmlns:a16="http://schemas.microsoft.com/office/drawing/2014/main" id="{BDC211A8-A4DD-408B-9BA5-CC4457B9580D}"/>
              </a:ext>
            </a:extLst>
          </p:cNvPr>
          <p:cNvSpPr>
            <a:spLocks noGrp="1"/>
          </p:cNvSpPr>
          <p:nvPr>
            <p:ph type="title"/>
          </p:nvPr>
        </p:nvSpPr>
        <p:spPr/>
        <p:txBody>
          <a:bodyPr/>
          <a:lstStyle/>
          <a:p>
            <a:r>
              <a:rPr lang="en-US" altLang="LID4096" dirty="0"/>
              <a:t>6. Method of Evaluation and Selection</a:t>
            </a:r>
          </a:p>
        </p:txBody>
      </p:sp>
      <p:sp>
        <p:nvSpPr>
          <p:cNvPr id="3" name="Content Placeholder 2">
            <a:extLst>
              <a:ext uri="{FF2B5EF4-FFF2-40B4-BE49-F238E27FC236}">
                <a16:creationId xmlns:a16="http://schemas.microsoft.com/office/drawing/2014/main" id="{E2DCEA8A-0E84-4AFD-8621-C95E0241956C}"/>
              </a:ext>
            </a:extLst>
          </p:cNvPr>
          <p:cNvSpPr>
            <a:spLocks noGrp="1"/>
          </p:cNvSpPr>
          <p:nvPr>
            <p:ph idx="1"/>
          </p:nvPr>
        </p:nvSpPr>
        <p:spPr/>
        <p:txBody>
          <a:bodyPr/>
          <a:lstStyle/>
          <a:p>
            <a:pPr>
              <a:defRPr/>
            </a:pPr>
            <a:r>
              <a:rPr lang="en-US" dirty="0"/>
              <a:t>Evaluation from </a:t>
            </a:r>
            <a:r>
              <a:rPr lang="en-US" dirty="0">
                <a:solidFill>
                  <a:srgbClr val="0000FF"/>
                </a:solidFill>
              </a:rPr>
              <a:t>supplier-provided information</a:t>
            </a:r>
          </a:p>
          <a:p>
            <a:pPr>
              <a:defRPr/>
            </a:pPr>
            <a:r>
              <a:rPr lang="en-US" dirty="0">
                <a:solidFill>
                  <a:srgbClr val="0000FF"/>
                </a:solidFill>
              </a:rPr>
              <a:t>Supplier visits</a:t>
            </a:r>
          </a:p>
          <a:p>
            <a:pPr>
              <a:defRPr/>
            </a:pPr>
            <a:r>
              <a:rPr lang="en-US" dirty="0"/>
              <a:t>Use of preferred suppliers</a:t>
            </a:r>
          </a:p>
          <a:p>
            <a:pPr>
              <a:defRPr/>
            </a:pPr>
            <a:r>
              <a:rPr lang="en-US" dirty="0"/>
              <a:t>External or third-party </a:t>
            </a:r>
            <a:r>
              <a:rPr lang="en-US" dirty="0">
                <a:solidFill>
                  <a:srgbClr val="0000FF"/>
                </a:solidFill>
              </a:rPr>
              <a:t>information</a:t>
            </a:r>
          </a:p>
        </p:txBody>
      </p:sp>
      <p:sp>
        <p:nvSpPr>
          <p:cNvPr id="4" name="Footer Placeholder 3">
            <a:extLst>
              <a:ext uri="{FF2B5EF4-FFF2-40B4-BE49-F238E27FC236}">
                <a16:creationId xmlns:a16="http://schemas.microsoft.com/office/drawing/2014/main" id="{0714D4BA-E0DA-48FB-A0C2-28004375714B}"/>
              </a:ext>
            </a:extLst>
          </p:cNvPr>
          <p:cNvSpPr>
            <a:spLocks noGrp="1"/>
          </p:cNvSpPr>
          <p:nvPr>
            <p:ph type="ftr" sz="quarter" idx="10"/>
          </p:nvPr>
        </p:nvSpPr>
        <p:spPr/>
        <p:txBody>
          <a:bodyPr/>
          <a:lstStyle/>
          <a:p>
            <a:pPr>
              <a:defRPr/>
            </a:pPr>
            <a:r>
              <a:rPr lang="en-US"/>
              <a:t>Purchasing &amp; Supply Chain Management, 4e</a:t>
            </a:r>
          </a:p>
          <a:p>
            <a:pPr>
              <a:defRPr/>
            </a:pPr>
            <a:endParaRPr lang="en-US"/>
          </a:p>
        </p:txBody>
      </p:sp>
      <p:sp>
        <p:nvSpPr>
          <p:cNvPr id="5" name="Slide Number Placeholder 4">
            <a:extLst>
              <a:ext uri="{FF2B5EF4-FFF2-40B4-BE49-F238E27FC236}">
                <a16:creationId xmlns:a16="http://schemas.microsoft.com/office/drawing/2014/main" id="{326B99F7-A44C-42B9-8323-7DC162B36553}"/>
              </a:ext>
            </a:extLst>
          </p:cNvPr>
          <p:cNvSpPr>
            <a:spLocks noGrp="1"/>
          </p:cNvSpPr>
          <p:nvPr>
            <p:ph type="sldNum" sz="quarter" idx="11"/>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fld id="{C2A01698-BB0A-4957-A8A0-74C8A28C53BA}" type="slidenum">
              <a:rPr lang="en-US" altLang="LID4096">
                <a:solidFill>
                  <a:srgbClr val="FFFFFF"/>
                </a:solidFill>
              </a:rPr>
              <a:pPr/>
              <a:t>21</a:t>
            </a:fld>
            <a:endParaRPr lang="en-US" altLang="LID4096">
              <a:solidFill>
                <a:srgbClr val="FFFFFF"/>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
            <a:extLst>
              <a:ext uri="{FF2B5EF4-FFF2-40B4-BE49-F238E27FC236}">
                <a16:creationId xmlns:a16="http://schemas.microsoft.com/office/drawing/2014/main" id="{D8091F2B-9321-44C6-B357-5B8A8A641870}"/>
              </a:ext>
            </a:extLst>
          </p:cNvPr>
          <p:cNvSpPr>
            <a:spLocks noGrp="1"/>
          </p:cNvSpPr>
          <p:nvPr>
            <p:ph type="title"/>
          </p:nvPr>
        </p:nvSpPr>
        <p:spPr/>
        <p:txBody>
          <a:bodyPr/>
          <a:lstStyle/>
          <a:p>
            <a:r>
              <a:rPr lang="en-US" altLang="LID4096"/>
              <a:t>Key Suppliers Evaluation Criteria</a:t>
            </a:r>
          </a:p>
        </p:txBody>
      </p:sp>
      <p:sp>
        <p:nvSpPr>
          <p:cNvPr id="3" name="Content Placeholder 2">
            <a:extLst>
              <a:ext uri="{FF2B5EF4-FFF2-40B4-BE49-F238E27FC236}">
                <a16:creationId xmlns:a16="http://schemas.microsoft.com/office/drawing/2014/main" id="{8EED6D28-BD26-4367-B2A8-B1D74B453D33}"/>
              </a:ext>
            </a:extLst>
          </p:cNvPr>
          <p:cNvSpPr>
            <a:spLocks noGrp="1"/>
          </p:cNvSpPr>
          <p:nvPr>
            <p:ph idx="1"/>
          </p:nvPr>
        </p:nvSpPr>
        <p:spPr/>
        <p:txBody>
          <a:bodyPr/>
          <a:lstStyle/>
          <a:p>
            <a:pPr algn="just">
              <a:defRPr/>
            </a:pPr>
            <a:r>
              <a:rPr lang="en-US" dirty="0"/>
              <a:t>Price, quality, and delivery</a:t>
            </a:r>
          </a:p>
          <a:p>
            <a:pPr algn="just">
              <a:defRPr/>
            </a:pPr>
            <a:r>
              <a:rPr lang="en-US" dirty="0"/>
              <a:t>Management capability</a:t>
            </a:r>
          </a:p>
          <a:p>
            <a:pPr algn="just">
              <a:defRPr/>
            </a:pPr>
            <a:r>
              <a:rPr lang="en-US" dirty="0"/>
              <a:t>Employees capabilities</a:t>
            </a:r>
          </a:p>
          <a:p>
            <a:pPr algn="just">
              <a:defRPr/>
            </a:pPr>
            <a:r>
              <a:rPr lang="en-US" dirty="0"/>
              <a:t>Cost structure</a:t>
            </a:r>
          </a:p>
          <a:p>
            <a:pPr algn="just">
              <a:defRPr/>
            </a:pPr>
            <a:r>
              <a:rPr lang="en-US" dirty="0"/>
              <a:t>Total quality performance, systems, and philosophy</a:t>
            </a:r>
          </a:p>
          <a:p>
            <a:pPr algn="just">
              <a:defRPr/>
            </a:pPr>
            <a:r>
              <a:rPr lang="en-US" dirty="0"/>
              <a:t>Process and technological capability</a:t>
            </a:r>
          </a:p>
        </p:txBody>
      </p:sp>
      <p:sp>
        <p:nvSpPr>
          <p:cNvPr id="4" name="Footer Placeholder 3">
            <a:extLst>
              <a:ext uri="{FF2B5EF4-FFF2-40B4-BE49-F238E27FC236}">
                <a16:creationId xmlns:a16="http://schemas.microsoft.com/office/drawing/2014/main" id="{177CB9B3-5E52-469E-BF47-8F4042793F4F}"/>
              </a:ext>
            </a:extLst>
          </p:cNvPr>
          <p:cNvSpPr>
            <a:spLocks noGrp="1"/>
          </p:cNvSpPr>
          <p:nvPr>
            <p:ph type="ftr" sz="quarter" idx="10"/>
          </p:nvPr>
        </p:nvSpPr>
        <p:spPr/>
        <p:txBody>
          <a:bodyPr/>
          <a:lstStyle/>
          <a:p>
            <a:pPr>
              <a:defRPr/>
            </a:pPr>
            <a:r>
              <a:rPr lang="en-US"/>
              <a:t>Purchasing &amp; Supply Chain Management, 4e</a:t>
            </a:r>
          </a:p>
          <a:p>
            <a:pPr>
              <a:defRPr/>
            </a:pPr>
            <a:endParaRPr lang="en-US"/>
          </a:p>
        </p:txBody>
      </p:sp>
      <p:sp>
        <p:nvSpPr>
          <p:cNvPr id="5" name="Slide Number Placeholder 4">
            <a:extLst>
              <a:ext uri="{FF2B5EF4-FFF2-40B4-BE49-F238E27FC236}">
                <a16:creationId xmlns:a16="http://schemas.microsoft.com/office/drawing/2014/main" id="{E8093FE5-B26C-4417-9C1D-7F4E840805B6}"/>
              </a:ext>
            </a:extLst>
          </p:cNvPr>
          <p:cNvSpPr>
            <a:spLocks noGrp="1"/>
          </p:cNvSpPr>
          <p:nvPr>
            <p:ph type="sldNum" sz="quarter" idx="11"/>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fld id="{34B92388-3E61-4E93-B757-2257A553A9AD}" type="slidenum">
              <a:rPr lang="en-US" altLang="LID4096">
                <a:solidFill>
                  <a:srgbClr val="FFFFFF"/>
                </a:solidFill>
              </a:rPr>
              <a:pPr/>
              <a:t>22</a:t>
            </a:fld>
            <a:endParaRPr lang="en-US" altLang="LID4096">
              <a:solidFill>
                <a:srgbClr val="FFFFFF"/>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a:extLst>
              <a:ext uri="{FF2B5EF4-FFF2-40B4-BE49-F238E27FC236}">
                <a16:creationId xmlns:a16="http://schemas.microsoft.com/office/drawing/2014/main" id="{101BEE08-B0C0-476A-AA25-DC68D8C128F4}"/>
              </a:ext>
            </a:extLst>
          </p:cNvPr>
          <p:cNvSpPr>
            <a:spLocks noGrp="1"/>
          </p:cNvSpPr>
          <p:nvPr>
            <p:ph type="title"/>
          </p:nvPr>
        </p:nvSpPr>
        <p:spPr/>
        <p:txBody>
          <a:bodyPr/>
          <a:lstStyle/>
          <a:p>
            <a:r>
              <a:rPr lang="en-US" altLang="LID4096"/>
              <a:t>Key Suppliers Evaluation Criteria</a:t>
            </a:r>
          </a:p>
        </p:txBody>
      </p:sp>
      <p:sp>
        <p:nvSpPr>
          <p:cNvPr id="3" name="Content Placeholder 2">
            <a:extLst>
              <a:ext uri="{FF2B5EF4-FFF2-40B4-BE49-F238E27FC236}">
                <a16:creationId xmlns:a16="http://schemas.microsoft.com/office/drawing/2014/main" id="{2CDA0B99-99D0-4D40-BF05-2AF57955EE1B}"/>
              </a:ext>
            </a:extLst>
          </p:cNvPr>
          <p:cNvSpPr>
            <a:spLocks noGrp="1"/>
          </p:cNvSpPr>
          <p:nvPr>
            <p:ph idx="1"/>
          </p:nvPr>
        </p:nvSpPr>
        <p:spPr/>
        <p:txBody>
          <a:bodyPr/>
          <a:lstStyle/>
          <a:p>
            <a:pPr>
              <a:defRPr/>
            </a:pPr>
            <a:r>
              <a:rPr lang="en-US" dirty="0"/>
              <a:t>Environmental regulation compliance</a:t>
            </a:r>
          </a:p>
          <a:p>
            <a:pPr>
              <a:defRPr/>
            </a:pPr>
            <a:r>
              <a:rPr lang="en-US" dirty="0">
                <a:solidFill>
                  <a:srgbClr val="0000FF"/>
                </a:solidFill>
              </a:rPr>
              <a:t>Financial </a:t>
            </a:r>
            <a:r>
              <a:rPr lang="en-US" dirty="0"/>
              <a:t>stability</a:t>
            </a:r>
          </a:p>
          <a:p>
            <a:pPr>
              <a:defRPr/>
            </a:pPr>
            <a:r>
              <a:rPr lang="en-US" dirty="0"/>
              <a:t>Production scheduling and control systems</a:t>
            </a:r>
          </a:p>
          <a:p>
            <a:pPr>
              <a:defRPr/>
            </a:pPr>
            <a:r>
              <a:rPr lang="en-US" dirty="0">
                <a:solidFill>
                  <a:srgbClr val="0000FF"/>
                </a:solidFill>
              </a:rPr>
              <a:t>E-commerce</a:t>
            </a:r>
            <a:r>
              <a:rPr lang="en-US" dirty="0"/>
              <a:t> capability</a:t>
            </a:r>
          </a:p>
          <a:p>
            <a:pPr>
              <a:defRPr/>
            </a:pPr>
            <a:r>
              <a:rPr lang="en-US" dirty="0"/>
              <a:t>Supplier’s sourcing strategies, </a:t>
            </a:r>
            <a:r>
              <a:rPr lang="en-US" dirty="0">
                <a:solidFill>
                  <a:srgbClr val="0000FF"/>
                </a:solidFill>
              </a:rPr>
              <a:t>policies</a:t>
            </a:r>
            <a:r>
              <a:rPr lang="en-US" dirty="0"/>
              <a:t>, and techniques</a:t>
            </a:r>
          </a:p>
          <a:p>
            <a:pPr>
              <a:defRPr/>
            </a:pPr>
            <a:r>
              <a:rPr lang="en-US" dirty="0"/>
              <a:t>Longer-term </a:t>
            </a:r>
            <a:r>
              <a:rPr lang="en-US" dirty="0">
                <a:solidFill>
                  <a:srgbClr val="0000FF"/>
                </a:solidFill>
              </a:rPr>
              <a:t>relationship </a:t>
            </a:r>
            <a:r>
              <a:rPr lang="en-US" dirty="0"/>
              <a:t>potential</a:t>
            </a:r>
          </a:p>
        </p:txBody>
      </p:sp>
      <p:sp>
        <p:nvSpPr>
          <p:cNvPr id="4" name="Footer Placeholder 3">
            <a:extLst>
              <a:ext uri="{FF2B5EF4-FFF2-40B4-BE49-F238E27FC236}">
                <a16:creationId xmlns:a16="http://schemas.microsoft.com/office/drawing/2014/main" id="{AFC73C70-6EFC-4442-9F37-D5828D9FB380}"/>
              </a:ext>
            </a:extLst>
          </p:cNvPr>
          <p:cNvSpPr>
            <a:spLocks noGrp="1"/>
          </p:cNvSpPr>
          <p:nvPr>
            <p:ph type="ftr" sz="quarter" idx="10"/>
          </p:nvPr>
        </p:nvSpPr>
        <p:spPr/>
        <p:txBody>
          <a:bodyPr/>
          <a:lstStyle/>
          <a:p>
            <a:pPr>
              <a:defRPr/>
            </a:pPr>
            <a:r>
              <a:rPr lang="en-US"/>
              <a:t>Purchasing &amp; Supply Chain Management, 4e</a:t>
            </a:r>
          </a:p>
          <a:p>
            <a:pPr>
              <a:defRPr/>
            </a:pPr>
            <a:endParaRPr lang="en-US"/>
          </a:p>
        </p:txBody>
      </p:sp>
      <p:sp>
        <p:nvSpPr>
          <p:cNvPr id="5" name="Slide Number Placeholder 4">
            <a:extLst>
              <a:ext uri="{FF2B5EF4-FFF2-40B4-BE49-F238E27FC236}">
                <a16:creationId xmlns:a16="http://schemas.microsoft.com/office/drawing/2014/main" id="{B85F0FCA-2B20-4B6B-B517-3FE0F8FD9D0D}"/>
              </a:ext>
            </a:extLst>
          </p:cNvPr>
          <p:cNvSpPr>
            <a:spLocks noGrp="1"/>
          </p:cNvSpPr>
          <p:nvPr>
            <p:ph type="sldNum" sz="quarter" idx="11"/>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fld id="{8A8AD5D5-EF23-4844-B947-0D5FA8DD0E78}" type="slidenum">
              <a:rPr lang="en-US" altLang="LID4096">
                <a:solidFill>
                  <a:srgbClr val="FFFFFF"/>
                </a:solidFill>
              </a:rPr>
              <a:pPr/>
              <a:t>23</a:t>
            </a:fld>
            <a:endParaRPr lang="en-US" altLang="LID4096">
              <a:solidFill>
                <a:srgbClr val="FFFFFF"/>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a:extLst>
              <a:ext uri="{FF2B5EF4-FFF2-40B4-BE49-F238E27FC236}">
                <a16:creationId xmlns:a16="http://schemas.microsoft.com/office/drawing/2014/main" id="{D2CD54CC-FD02-4D73-B2B9-FCFEB4732079}"/>
              </a:ext>
            </a:extLst>
          </p:cNvPr>
          <p:cNvSpPr>
            <a:spLocks noGrp="1"/>
          </p:cNvSpPr>
          <p:nvPr>
            <p:ph type="title"/>
          </p:nvPr>
        </p:nvSpPr>
        <p:spPr/>
        <p:txBody>
          <a:bodyPr/>
          <a:lstStyle/>
          <a:p>
            <a:r>
              <a:rPr lang="en-US" altLang="LID4096"/>
              <a:t>Financial Stability</a:t>
            </a:r>
          </a:p>
        </p:txBody>
      </p:sp>
      <p:sp>
        <p:nvSpPr>
          <p:cNvPr id="3" name="Content Placeholder 2">
            <a:extLst>
              <a:ext uri="{FF2B5EF4-FFF2-40B4-BE49-F238E27FC236}">
                <a16:creationId xmlns:a16="http://schemas.microsoft.com/office/drawing/2014/main" id="{95EAB1DD-673D-4490-B3BC-B466E402DE81}"/>
              </a:ext>
            </a:extLst>
          </p:cNvPr>
          <p:cNvSpPr>
            <a:spLocks noGrp="1"/>
          </p:cNvSpPr>
          <p:nvPr>
            <p:ph idx="1"/>
          </p:nvPr>
        </p:nvSpPr>
        <p:spPr>
          <a:xfrm>
            <a:off x="457200" y="1447800"/>
            <a:ext cx="8229600" cy="4678363"/>
          </a:xfrm>
        </p:spPr>
        <p:txBody>
          <a:bodyPr/>
          <a:lstStyle/>
          <a:p>
            <a:pPr algn="just">
              <a:defRPr/>
            </a:pPr>
            <a:r>
              <a:rPr lang="en-US" dirty="0"/>
              <a:t>Often used as a </a:t>
            </a:r>
            <a:r>
              <a:rPr lang="en-US" dirty="0">
                <a:solidFill>
                  <a:srgbClr val="0000FF"/>
                </a:solidFill>
              </a:rPr>
              <a:t>screening process </a:t>
            </a:r>
            <a:r>
              <a:rPr lang="en-US" dirty="0"/>
              <a:t>in the initial selection phase</a:t>
            </a:r>
          </a:p>
          <a:p>
            <a:pPr algn="just">
              <a:defRPr/>
            </a:pPr>
            <a:r>
              <a:rPr lang="en-US" dirty="0">
                <a:solidFill>
                  <a:srgbClr val="0000FF"/>
                </a:solidFill>
              </a:rPr>
              <a:t>Risks</a:t>
            </a:r>
            <a:r>
              <a:rPr lang="en-US" dirty="0"/>
              <a:t> of a financially weak supplier</a:t>
            </a:r>
          </a:p>
          <a:p>
            <a:pPr lvl="1" algn="just">
              <a:defRPr/>
            </a:pPr>
            <a:r>
              <a:rPr lang="en-US" dirty="0"/>
              <a:t>Supplier will go out of business</a:t>
            </a:r>
          </a:p>
          <a:p>
            <a:pPr lvl="1" algn="just">
              <a:defRPr/>
            </a:pPr>
            <a:r>
              <a:rPr lang="en-US" dirty="0"/>
              <a:t>Insufficient resources to invest in improved plant and equipment</a:t>
            </a:r>
          </a:p>
          <a:p>
            <a:pPr lvl="1" algn="just">
              <a:defRPr/>
            </a:pPr>
            <a:r>
              <a:rPr lang="en-US" dirty="0"/>
              <a:t>Supplier may become too dependent on buyer</a:t>
            </a:r>
          </a:p>
          <a:p>
            <a:pPr lvl="1" algn="just">
              <a:defRPr/>
            </a:pPr>
            <a:r>
              <a:rPr lang="en-US" dirty="0"/>
              <a:t>May be an indicator of other problems</a:t>
            </a:r>
          </a:p>
        </p:txBody>
      </p:sp>
      <p:sp>
        <p:nvSpPr>
          <p:cNvPr id="4" name="Footer Placeholder 3">
            <a:extLst>
              <a:ext uri="{FF2B5EF4-FFF2-40B4-BE49-F238E27FC236}">
                <a16:creationId xmlns:a16="http://schemas.microsoft.com/office/drawing/2014/main" id="{69BFBAE8-0051-4984-A077-CAA5D8DE8BFF}"/>
              </a:ext>
            </a:extLst>
          </p:cNvPr>
          <p:cNvSpPr>
            <a:spLocks noGrp="1"/>
          </p:cNvSpPr>
          <p:nvPr>
            <p:ph type="ftr" sz="quarter" idx="10"/>
          </p:nvPr>
        </p:nvSpPr>
        <p:spPr/>
        <p:txBody>
          <a:bodyPr/>
          <a:lstStyle/>
          <a:p>
            <a:pPr>
              <a:defRPr/>
            </a:pPr>
            <a:r>
              <a:rPr lang="en-US"/>
              <a:t>Purchasing &amp; Supply Chain Management, 4e</a:t>
            </a:r>
          </a:p>
          <a:p>
            <a:pPr>
              <a:defRPr/>
            </a:pPr>
            <a:endParaRPr lang="en-US"/>
          </a:p>
        </p:txBody>
      </p:sp>
      <p:sp>
        <p:nvSpPr>
          <p:cNvPr id="5" name="Slide Number Placeholder 4">
            <a:extLst>
              <a:ext uri="{FF2B5EF4-FFF2-40B4-BE49-F238E27FC236}">
                <a16:creationId xmlns:a16="http://schemas.microsoft.com/office/drawing/2014/main" id="{555F3805-A770-4258-B786-242D702EC27E}"/>
              </a:ext>
            </a:extLst>
          </p:cNvPr>
          <p:cNvSpPr>
            <a:spLocks noGrp="1"/>
          </p:cNvSpPr>
          <p:nvPr>
            <p:ph type="sldNum" sz="quarter" idx="11"/>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fld id="{B0675B45-EF98-485D-BE4F-07CF924F8124}" type="slidenum">
              <a:rPr lang="en-US" altLang="LID4096">
                <a:solidFill>
                  <a:srgbClr val="FFFFFF"/>
                </a:solidFill>
              </a:rPr>
              <a:pPr/>
              <a:t>24</a:t>
            </a:fld>
            <a:endParaRPr lang="en-US" altLang="LID4096">
              <a:solidFill>
                <a:srgbClr val="FFFFFF"/>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a:extLst>
              <a:ext uri="{FF2B5EF4-FFF2-40B4-BE49-F238E27FC236}">
                <a16:creationId xmlns:a16="http://schemas.microsoft.com/office/drawing/2014/main" id="{1EF719EE-BBFB-4D8B-95FC-3ABFB6B1D67B}"/>
              </a:ext>
            </a:extLst>
          </p:cNvPr>
          <p:cNvSpPr>
            <a:spLocks noGrp="1"/>
          </p:cNvSpPr>
          <p:nvPr>
            <p:ph type="title"/>
          </p:nvPr>
        </p:nvSpPr>
        <p:spPr/>
        <p:txBody>
          <a:bodyPr/>
          <a:lstStyle/>
          <a:p>
            <a:r>
              <a:rPr lang="en-US" altLang="LID4096" dirty="0"/>
              <a:t>Management Capabilities</a:t>
            </a:r>
          </a:p>
        </p:txBody>
      </p:sp>
      <p:sp>
        <p:nvSpPr>
          <p:cNvPr id="3" name="Content Placeholder 2">
            <a:extLst>
              <a:ext uri="{FF2B5EF4-FFF2-40B4-BE49-F238E27FC236}">
                <a16:creationId xmlns:a16="http://schemas.microsoft.com/office/drawing/2014/main" id="{44416036-C768-4034-B99D-AB9A2B6E5382}"/>
              </a:ext>
            </a:extLst>
          </p:cNvPr>
          <p:cNvSpPr>
            <a:spLocks noGrp="1"/>
          </p:cNvSpPr>
          <p:nvPr>
            <p:ph idx="1"/>
          </p:nvPr>
        </p:nvSpPr>
        <p:spPr>
          <a:xfrm>
            <a:off x="457200" y="1295400"/>
            <a:ext cx="8382000" cy="4830763"/>
          </a:xfrm>
        </p:spPr>
        <p:txBody>
          <a:bodyPr/>
          <a:lstStyle/>
          <a:p>
            <a:pPr algn="just">
              <a:defRPr/>
            </a:pPr>
            <a:r>
              <a:rPr lang="en-US" dirty="0"/>
              <a:t>Does management practice </a:t>
            </a:r>
            <a:r>
              <a:rPr lang="en-US" dirty="0">
                <a:solidFill>
                  <a:srgbClr val="0000FF"/>
                </a:solidFill>
              </a:rPr>
              <a:t>long-range planning</a:t>
            </a:r>
            <a:r>
              <a:rPr lang="en-US" dirty="0"/>
              <a:t>?</a:t>
            </a:r>
          </a:p>
          <a:p>
            <a:pPr algn="just">
              <a:defRPr/>
            </a:pPr>
            <a:r>
              <a:rPr lang="en-US" dirty="0"/>
              <a:t>Has management committed to total </a:t>
            </a:r>
            <a:r>
              <a:rPr lang="en-US" dirty="0">
                <a:solidFill>
                  <a:srgbClr val="0000FF"/>
                </a:solidFill>
              </a:rPr>
              <a:t>quality</a:t>
            </a:r>
            <a:r>
              <a:rPr lang="en-US" dirty="0"/>
              <a:t> management and continuous improvement?</a:t>
            </a:r>
          </a:p>
          <a:p>
            <a:pPr algn="just">
              <a:defRPr/>
            </a:pPr>
            <a:r>
              <a:rPr lang="en-US" dirty="0"/>
              <a:t>How high is management </a:t>
            </a:r>
            <a:r>
              <a:rPr lang="en-US" dirty="0">
                <a:solidFill>
                  <a:srgbClr val="0000FF"/>
                </a:solidFill>
              </a:rPr>
              <a:t>turnover</a:t>
            </a:r>
            <a:r>
              <a:rPr lang="en-US" dirty="0"/>
              <a:t>? </a:t>
            </a:r>
            <a:r>
              <a:rPr lang="en-US" sz="2000" b="0" i="0" dirty="0">
                <a:effectLst/>
                <a:latin typeface="fkGroteskNeue"/>
              </a:rPr>
              <a:t>Supplier A has had three plant managers in two years and </a:t>
            </a:r>
            <a:r>
              <a:rPr lang="en-US" sz="2000" b="0" i="0" dirty="0">
                <a:solidFill>
                  <a:srgbClr val="0000FF"/>
                </a:solidFill>
                <a:effectLst/>
                <a:latin typeface="fkGroteskNeue"/>
              </a:rPr>
              <a:t>frequent changes </a:t>
            </a:r>
            <a:r>
              <a:rPr lang="en-US" sz="2000" b="0" i="0" dirty="0">
                <a:effectLst/>
                <a:latin typeface="fkGroteskNeue"/>
              </a:rPr>
              <a:t>in quality heads—this is a </a:t>
            </a:r>
            <a:r>
              <a:rPr lang="en-US" sz="2000" b="0" i="0" dirty="0">
                <a:solidFill>
                  <a:srgbClr val="0000FF"/>
                </a:solidFill>
                <a:effectLst/>
                <a:latin typeface="fkGroteskNeue"/>
              </a:rPr>
              <a:t>red flag </a:t>
            </a:r>
            <a:r>
              <a:rPr lang="en-US" sz="2000" b="0" i="0" dirty="0">
                <a:effectLst/>
                <a:latin typeface="fkGroteskNeue"/>
              </a:rPr>
              <a:t>compared to Supplier B, whose leadership team has been stable for 8–10 years.</a:t>
            </a:r>
            <a:endParaRPr lang="en-US" sz="2000" dirty="0"/>
          </a:p>
          <a:p>
            <a:pPr algn="just">
              <a:defRPr/>
            </a:pPr>
            <a:r>
              <a:rPr lang="en-US" dirty="0"/>
              <a:t>Professional and </a:t>
            </a:r>
            <a:r>
              <a:rPr lang="en-US" dirty="0">
                <a:solidFill>
                  <a:srgbClr val="0000FF"/>
                </a:solidFill>
              </a:rPr>
              <a:t>educational</a:t>
            </a:r>
            <a:r>
              <a:rPr lang="en-US" dirty="0"/>
              <a:t> backgrounds of key managers?</a:t>
            </a:r>
          </a:p>
        </p:txBody>
      </p:sp>
      <p:sp>
        <p:nvSpPr>
          <p:cNvPr id="5" name="Slide Number Placeholder 4">
            <a:extLst>
              <a:ext uri="{FF2B5EF4-FFF2-40B4-BE49-F238E27FC236}">
                <a16:creationId xmlns:a16="http://schemas.microsoft.com/office/drawing/2014/main" id="{866A2FCF-D573-48DE-996E-5D86845C1311}"/>
              </a:ext>
            </a:extLst>
          </p:cNvPr>
          <p:cNvSpPr>
            <a:spLocks noGrp="1"/>
          </p:cNvSpPr>
          <p:nvPr>
            <p:ph type="sldNum" sz="quarter" idx="11"/>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fld id="{2176A585-6597-4520-B139-E374A80D8537}" type="slidenum">
              <a:rPr lang="en-US" altLang="LID4096">
                <a:solidFill>
                  <a:srgbClr val="FFFFFF"/>
                </a:solidFill>
              </a:rPr>
              <a:pPr/>
              <a:t>25</a:t>
            </a:fld>
            <a:endParaRPr lang="en-US" altLang="LID4096">
              <a:solidFill>
                <a:srgbClr val="FFFFFF"/>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1">
            <a:extLst>
              <a:ext uri="{FF2B5EF4-FFF2-40B4-BE49-F238E27FC236}">
                <a16:creationId xmlns:a16="http://schemas.microsoft.com/office/drawing/2014/main" id="{7ECA9FDC-31B0-4F79-863C-070A2431DF81}"/>
              </a:ext>
            </a:extLst>
          </p:cNvPr>
          <p:cNvSpPr>
            <a:spLocks noGrp="1"/>
          </p:cNvSpPr>
          <p:nvPr>
            <p:ph type="title"/>
          </p:nvPr>
        </p:nvSpPr>
        <p:spPr/>
        <p:txBody>
          <a:bodyPr/>
          <a:lstStyle/>
          <a:p>
            <a:r>
              <a:rPr lang="en-US" altLang="LID4096"/>
              <a:t>Management Capabilities</a:t>
            </a:r>
          </a:p>
        </p:txBody>
      </p:sp>
      <p:sp>
        <p:nvSpPr>
          <p:cNvPr id="3" name="Content Placeholder 2">
            <a:extLst>
              <a:ext uri="{FF2B5EF4-FFF2-40B4-BE49-F238E27FC236}">
                <a16:creationId xmlns:a16="http://schemas.microsoft.com/office/drawing/2014/main" id="{D2BCCCEA-4749-455B-AA33-6AED399A8946}"/>
              </a:ext>
            </a:extLst>
          </p:cNvPr>
          <p:cNvSpPr>
            <a:spLocks noGrp="1"/>
          </p:cNvSpPr>
          <p:nvPr>
            <p:ph idx="1"/>
          </p:nvPr>
        </p:nvSpPr>
        <p:spPr>
          <a:xfrm>
            <a:off x="533400" y="1600200"/>
            <a:ext cx="8001000" cy="4525963"/>
          </a:xfrm>
        </p:spPr>
        <p:txBody>
          <a:bodyPr/>
          <a:lstStyle/>
          <a:p>
            <a:pPr algn="just">
              <a:defRPr/>
            </a:pPr>
            <a:r>
              <a:rPr lang="en-US" dirty="0"/>
              <a:t>What is the </a:t>
            </a:r>
            <a:r>
              <a:rPr lang="en-US" dirty="0">
                <a:solidFill>
                  <a:srgbClr val="0000FF"/>
                </a:solidFill>
              </a:rPr>
              <a:t>organization’s vision</a:t>
            </a:r>
            <a:r>
              <a:rPr lang="en-US" dirty="0"/>
              <a:t>?</a:t>
            </a:r>
          </a:p>
          <a:p>
            <a:pPr algn="just">
              <a:defRPr/>
            </a:pPr>
            <a:r>
              <a:rPr lang="en-US" dirty="0"/>
              <a:t>Is the company </a:t>
            </a:r>
            <a:r>
              <a:rPr lang="en-US" dirty="0">
                <a:solidFill>
                  <a:srgbClr val="0000FF"/>
                </a:solidFill>
              </a:rPr>
              <a:t>customer</a:t>
            </a:r>
            <a:r>
              <a:rPr lang="en-US" dirty="0"/>
              <a:t>-focused?</a:t>
            </a:r>
          </a:p>
          <a:p>
            <a:pPr algn="just">
              <a:defRPr/>
            </a:pPr>
            <a:endParaRPr lang="en-US" dirty="0"/>
          </a:p>
          <a:p>
            <a:pPr algn="just">
              <a:defRPr/>
            </a:pPr>
            <a:r>
              <a:rPr lang="en-US" dirty="0"/>
              <a:t>What is the history of </a:t>
            </a:r>
            <a:r>
              <a:rPr lang="en-US" dirty="0">
                <a:solidFill>
                  <a:srgbClr val="0000FF"/>
                </a:solidFill>
              </a:rPr>
              <a:t>labor</a:t>
            </a:r>
            <a:r>
              <a:rPr lang="en-US" dirty="0"/>
              <a:t>-management relations?</a:t>
            </a:r>
          </a:p>
          <a:p>
            <a:pPr algn="just">
              <a:defRPr/>
            </a:pPr>
            <a:endParaRPr lang="en-US" dirty="0"/>
          </a:p>
          <a:p>
            <a:pPr algn="just">
              <a:defRPr/>
            </a:pPr>
            <a:r>
              <a:rPr lang="en-US" dirty="0"/>
              <a:t>Is the organization making </a:t>
            </a:r>
            <a:r>
              <a:rPr lang="en-US" dirty="0">
                <a:solidFill>
                  <a:srgbClr val="0000FF"/>
                </a:solidFill>
              </a:rPr>
              <a:t>necessary capital investments</a:t>
            </a:r>
            <a:r>
              <a:rPr lang="en-US" dirty="0"/>
              <a:t>?</a:t>
            </a:r>
          </a:p>
        </p:txBody>
      </p:sp>
      <p:sp>
        <p:nvSpPr>
          <p:cNvPr id="4" name="Footer Placeholder 3">
            <a:extLst>
              <a:ext uri="{FF2B5EF4-FFF2-40B4-BE49-F238E27FC236}">
                <a16:creationId xmlns:a16="http://schemas.microsoft.com/office/drawing/2014/main" id="{62DC9BCD-57A8-49E3-B344-61F8C9503BD2}"/>
              </a:ext>
            </a:extLst>
          </p:cNvPr>
          <p:cNvSpPr>
            <a:spLocks noGrp="1"/>
          </p:cNvSpPr>
          <p:nvPr>
            <p:ph type="ftr" sz="quarter" idx="10"/>
          </p:nvPr>
        </p:nvSpPr>
        <p:spPr/>
        <p:txBody>
          <a:bodyPr/>
          <a:lstStyle/>
          <a:p>
            <a:pPr>
              <a:defRPr/>
            </a:pPr>
            <a:r>
              <a:rPr lang="en-US"/>
              <a:t>Purchasing &amp; Supply Chain Management, 4e</a:t>
            </a:r>
          </a:p>
          <a:p>
            <a:pPr>
              <a:defRPr/>
            </a:pPr>
            <a:endParaRPr lang="en-US"/>
          </a:p>
        </p:txBody>
      </p:sp>
      <p:sp>
        <p:nvSpPr>
          <p:cNvPr id="5" name="Slide Number Placeholder 4">
            <a:extLst>
              <a:ext uri="{FF2B5EF4-FFF2-40B4-BE49-F238E27FC236}">
                <a16:creationId xmlns:a16="http://schemas.microsoft.com/office/drawing/2014/main" id="{56404211-78D4-4A71-B1EA-4DB18008DDA8}"/>
              </a:ext>
            </a:extLst>
          </p:cNvPr>
          <p:cNvSpPr>
            <a:spLocks noGrp="1"/>
          </p:cNvSpPr>
          <p:nvPr>
            <p:ph type="sldNum" sz="quarter" idx="11"/>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fld id="{914FC0ED-742C-4992-AD67-953DA7CF499E}" type="slidenum">
              <a:rPr lang="en-US" altLang="LID4096">
                <a:solidFill>
                  <a:srgbClr val="FFFFFF"/>
                </a:solidFill>
              </a:rPr>
              <a:pPr/>
              <a:t>26</a:t>
            </a:fld>
            <a:endParaRPr lang="en-US" altLang="LID4096">
              <a:solidFill>
                <a:srgbClr val="FFFFFF"/>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a:extLst>
              <a:ext uri="{FF2B5EF4-FFF2-40B4-BE49-F238E27FC236}">
                <a16:creationId xmlns:a16="http://schemas.microsoft.com/office/drawing/2014/main" id="{3D6DA66F-EEBF-4C0E-A5A1-2044A172BCEA}"/>
              </a:ext>
            </a:extLst>
          </p:cNvPr>
          <p:cNvSpPr>
            <a:spLocks noGrp="1"/>
          </p:cNvSpPr>
          <p:nvPr>
            <p:ph type="title"/>
          </p:nvPr>
        </p:nvSpPr>
        <p:spPr/>
        <p:txBody>
          <a:bodyPr/>
          <a:lstStyle/>
          <a:p>
            <a:r>
              <a:rPr lang="en-US" altLang="LID4096"/>
              <a:t>Employee Capabilities</a:t>
            </a:r>
          </a:p>
        </p:txBody>
      </p:sp>
      <p:sp>
        <p:nvSpPr>
          <p:cNvPr id="3" name="Content Placeholder 2">
            <a:extLst>
              <a:ext uri="{FF2B5EF4-FFF2-40B4-BE49-F238E27FC236}">
                <a16:creationId xmlns:a16="http://schemas.microsoft.com/office/drawing/2014/main" id="{35BDCA05-AF53-4C43-A97C-6A985EE72AF7}"/>
              </a:ext>
            </a:extLst>
          </p:cNvPr>
          <p:cNvSpPr>
            <a:spLocks noGrp="1"/>
          </p:cNvSpPr>
          <p:nvPr>
            <p:ph idx="1"/>
          </p:nvPr>
        </p:nvSpPr>
        <p:spPr>
          <a:xfrm>
            <a:off x="457200" y="1066800"/>
            <a:ext cx="8229600" cy="4800600"/>
          </a:xfrm>
        </p:spPr>
        <p:txBody>
          <a:bodyPr/>
          <a:lstStyle/>
          <a:p>
            <a:pPr algn="just">
              <a:lnSpc>
                <a:spcPct val="150000"/>
              </a:lnSpc>
              <a:defRPr/>
            </a:pPr>
            <a:r>
              <a:rPr lang="en-US" dirty="0"/>
              <a:t>Degree of commitment to </a:t>
            </a:r>
            <a:r>
              <a:rPr lang="en-US" dirty="0">
                <a:solidFill>
                  <a:srgbClr val="0000FF"/>
                </a:solidFill>
              </a:rPr>
              <a:t>quality</a:t>
            </a:r>
            <a:r>
              <a:rPr lang="en-US" dirty="0"/>
              <a:t> and continuous improvement</a:t>
            </a:r>
          </a:p>
          <a:p>
            <a:pPr algn="just">
              <a:lnSpc>
                <a:spcPct val="150000"/>
              </a:lnSpc>
              <a:defRPr/>
            </a:pPr>
            <a:r>
              <a:rPr lang="en-US" dirty="0"/>
              <a:t>Overall </a:t>
            </a:r>
            <a:r>
              <a:rPr lang="en-US" dirty="0">
                <a:solidFill>
                  <a:srgbClr val="0000FF"/>
                </a:solidFill>
              </a:rPr>
              <a:t>skills</a:t>
            </a:r>
            <a:r>
              <a:rPr lang="en-US" dirty="0"/>
              <a:t> and abilities</a:t>
            </a:r>
          </a:p>
          <a:p>
            <a:pPr algn="just">
              <a:lnSpc>
                <a:spcPct val="150000"/>
              </a:lnSpc>
              <a:defRPr/>
            </a:pPr>
            <a:r>
              <a:rPr lang="en-US" dirty="0"/>
              <a:t>Employee-management relations</a:t>
            </a:r>
          </a:p>
          <a:p>
            <a:pPr algn="just">
              <a:lnSpc>
                <a:spcPct val="150000"/>
              </a:lnSpc>
              <a:defRPr/>
            </a:pPr>
            <a:r>
              <a:rPr lang="en-US" dirty="0">
                <a:solidFill>
                  <a:srgbClr val="0000FF"/>
                </a:solidFill>
              </a:rPr>
              <a:t>Worker flexibility</a:t>
            </a:r>
          </a:p>
          <a:p>
            <a:pPr algn="just">
              <a:lnSpc>
                <a:spcPct val="150000"/>
              </a:lnSpc>
              <a:defRPr/>
            </a:pPr>
            <a:r>
              <a:rPr lang="en-US" dirty="0"/>
              <a:t>Workforce turnover: Fixed, temporary, Social security, pension, etc.</a:t>
            </a:r>
          </a:p>
        </p:txBody>
      </p:sp>
      <p:sp>
        <p:nvSpPr>
          <p:cNvPr id="5" name="Slide Number Placeholder 4">
            <a:extLst>
              <a:ext uri="{FF2B5EF4-FFF2-40B4-BE49-F238E27FC236}">
                <a16:creationId xmlns:a16="http://schemas.microsoft.com/office/drawing/2014/main" id="{7CF526CF-9C4C-4E75-B95A-2894FA1166B2}"/>
              </a:ext>
            </a:extLst>
          </p:cNvPr>
          <p:cNvSpPr>
            <a:spLocks noGrp="1"/>
          </p:cNvSpPr>
          <p:nvPr>
            <p:ph type="sldNum" sz="quarter" idx="11"/>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fld id="{FFD8F4D1-3C76-4398-8BED-3C51D275D619}" type="slidenum">
              <a:rPr lang="en-US" altLang="LID4096">
                <a:solidFill>
                  <a:srgbClr val="FFFFFF"/>
                </a:solidFill>
              </a:rPr>
              <a:pPr/>
              <a:t>27</a:t>
            </a:fld>
            <a:endParaRPr lang="en-US" altLang="LID4096">
              <a:solidFill>
                <a:srgbClr val="FFFFFF"/>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a:extLst>
              <a:ext uri="{FF2B5EF4-FFF2-40B4-BE49-F238E27FC236}">
                <a16:creationId xmlns:a16="http://schemas.microsoft.com/office/drawing/2014/main" id="{A40A850D-06AD-47CC-B081-FB8A8BC7AE27}"/>
              </a:ext>
            </a:extLst>
          </p:cNvPr>
          <p:cNvSpPr>
            <a:spLocks noGrp="1"/>
          </p:cNvSpPr>
          <p:nvPr>
            <p:ph type="title"/>
          </p:nvPr>
        </p:nvSpPr>
        <p:spPr/>
        <p:txBody>
          <a:bodyPr/>
          <a:lstStyle/>
          <a:p>
            <a:r>
              <a:rPr lang="en-US" altLang="LID4096"/>
              <a:t>Challenges of Total Cost Analysis</a:t>
            </a:r>
          </a:p>
        </p:txBody>
      </p:sp>
      <p:sp>
        <p:nvSpPr>
          <p:cNvPr id="3" name="Content Placeholder 2">
            <a:extLst>
              <a:ext uri="{FF2B5EF4-FFF2-40B4-BE49-F238E27FC236}">
                <a16:creationId xmlns:a16="http://schemas.microsoft.com/office/drawing/2014/main" id="{A796D5DE-F215-4CB5-B679-7A7C4EE873C0}"/>
              </a:ext>
            </a:extLst>
          </p:cNvPr>
          <p:cNvSpPr>
            <a:spLocks noGrp="1"/>
          </p:cNvSpPr>
          <p:nvPr>
            <p:ph idx="1"/>
          </p:nvPr>
        </p:nvSpPr>
        <p:spPr>
          <a:xfrm>
            <a:off x="304800" y="1216025"/>
            <a:ext cx="8458200" cy="4702969"/>
          </a:xfrm>
        </p:spPr>
        <p:txBody>
          <a:bodyPr/>
          <a:lstStyle/>
          <a:p>
            <a:pPr algn="just">
              <a:defRPr/>
            </a:pPr>
            <a:r>
              <a:rPr lang="en-US" dirty="0"/>
              <a:t>Supplier may not </a:t>
            </a:r>
            <a:r>
              <a:rPr lang="en-US" dirty="0">
                <a:solidFill>
                  <a:srgbClr val="0000FF"/>
                </a:solidFill>
              </a:rPr>
              <a:t>understand</a:t>
            </a:r>
            <a:r>
              <a:rPr lang="en-US" dirty="0"/>
              <a:t> its true costs, e.g., </a:t>
            </a:r>
            <a:r>
              <a:rPr lang="en-US" b="0" i="0" dirty="0">
                <a:effectLst/>
                <a:latin typeface="fkGroteskNeue"/>
              </a:rPr>
              <a:t>their prices are based on guesses rather than solid numbers.</a:t>
            </a:r>
            <a:endParaRPr lang="en-US" dirty="0"/>
          </a:p>
          <a:p>
            <a:pPr algn="just">
              <a:defRPr/>
            </a:pPr>
            <a:r>
              <a:rPr lang="en-US" dirty="0"/>
              <a:t>Unsophisticated </a:t>
            </a:r>
            <a:r>
              <a:rPr lang="en-US" dirty="0">
                <a:solidFill>
                  <a:srgbClr val="0000FF"/>
                </a:solidFill>
              </a:rPr>
              <a:t>cost accounting system. </a:t>
            </a:r>
            <a:r>
              <a:rPr lang="en-US" b="0" dirty="0">
                <a:effectLst/>
                <a:latin typeface="fkGroteskNeue"/>
              </a:rPr>
              <a:t>S</a:t>
            </a:r>
            <a:r>
              <a:rPr lang="en-US" b="0" i="0" dirty="0">
                <a:effectLst/>
                <a:latin typeface="fkGroteskNeue"/>
              </a:rPr>
              <a:t>imple or outdated (basic spreadsheets, single overhead rate, no activity‑based costing), so it cannot produce accurate cost breakdowns.</a:t>
            </a:r>
            <a:endParaRPr lang="en-US" dirty="0">
              <a:solidFill>
                <a:srgbClr val="0000FF"/>
              </a:solidFill>
            </a:endParaRPr>
          </a:p>
          <a:p>
            <a:pPr algn="just">
              <a:defRPr/>
            </a:pPr>
            <a:r>
              <a:rPr lang="en-US" dirty="0"/>
              <a:t>Supplier is concerned about </a:t>
            </a:r>
            <a:r>
              <a:rPr lang="en-US" dirty="0">
                <a:solidFill>
                  <a:srgbClr val="0000FF"/>
                </a:solidFill>
              </a:rPr>
              <a:t>potential misuse </a:t>
            </a:r>
            <a:r>
              <a:rPr lang="en-US" dirty="0"/>
              <a:t>of its cost data?</a:t>
            </a:r>
          </a:p>
        </p:txBody>
      </p:sp>
      <p:sp>
        <p:nvSpPr>
          <p:cNvPr id="5" name="Slide Number Placeholder 4">
            <a:extLst>
              <a:ext uri="{FF2B5EF4-FFF2-40B4-BE49-F238E27FC236}">
                <a16:creationId xmlns:a16="http://schemas.microsoft.com/office/drawing/2014/main" id="{DC58EFD3-93F2-40F7-AE7D-5743FE9C1CC5}"/>
              </a:ext>
            </a:extLst>
          </p:cNvPr>
          <p:cNvSpPr>
            <a:spLocks noGrp="1"/>
          </p:cNvSpPr>
          <p:nvPr>
            <p:ph type="sldNum" sz="quarter" idx="11"/>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fld id="{B4D10297-34FE-4B88-98EC-F2B22D992EED}" type="slidenum">
              <a:rPr lang="en-US" altLang="LID4096">
                <a:solidFill>
                  <a:srgbClr val="FFFFFF"/>
                </a:solidFill>
              </a:rPr>
              <a:pPr/>
              <a:t>28</a:t>
            </a:fld>
            <a:endParaRPr lang="en-US" altLang="LID4096">
              <a:solidFill>
                <a:srgbClr val="FFFFFF"/>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1">
            <a:extLst>
              <a:ext uri="{FF2B5EF4-FFF2-40B4-BE49-F238E27FC236}">
                <a16:creationId xmlns:a16="http://schemas.microsoft.com/office/drawing/2014/main" id="{6C6474EC-E25B-4ABD-BB7C-45E27C9D5CEF}"/>
              </a:ext>
            </a:extLst>
          </p:cNvPr>
          <p:cNvSpPr>
            <a:spLocks noGrp="1"/>
          </p:cNvSpPr>
          <p:nvPr>
            <p:ph type="title"/>
          </p:nvPr>
        </p:nvSpPr>
        <p:spPr/>
        <p:txBody>
          <a:bodyPr/>
          <a:lstStyle/>
          <a:p>
            <a:r>
              <a:rPr lang="en-US" altLang="LID4096"/>
              <a:t>Total Quality Performance</a:t>
            </a:r>
          </a:p>
        </p:txBody>
      </p:sp>
      <p:sp>
        <p:nvSpPr>
          <p:cNvPr id="3" name="Content Placeholder 2">
            <a:extLst>
              <a:ext uri="{FF2B5EF4-FFF2-40B4-BE49-F238E27FC236}">
                <a16:creationId xmlns:a16="http://schemas.microsoft.com/office/drawing/2014/main" id="{0F885BF8-DB6B-4A0C-B0A5-E2C75317FBA7}"/>
              </a:ext>
            </a:extLst>
          </p:cNvPr>
          <p:cNvSpPr>
            <a:spLocks noGrp="1"/>
          </p:cNvSpPr>
          <p:nvPr>
            <p:ph idx="1"/>
          </p:nvPr>
        </p:nvSpPr>
        <p:spPr/>
        <p:txBody>
          <a:bodyPr/>
          <a:lstStyle/>
          <a:p>
            <a:pPr>
              <a:lnSpc>
                <a:spcPct val="150000"/>
              </a:lnSpc>
              <a:defRPr/>
            </a:pPr>
            <a:r>
              <a:rPr lang="en-US" dirty="0"/>
              <a:t>Management commitment</a:t>
            </a:r>
          </a:p>
          <a:p>
            <a:pPr>
              <a:lnSpc>
                <a:spcPct val="150000"/>
              </a:lnSpc>
              <a:defRPr/>
            </a:pPr>
            <a:r>
              <a:rPr lang="en-US" dirty="0"/>
              <a:t>Use of </a:t>
            </a:r>
            <a:r>
              <a:rPr lang="en-US" dirty="0">
                <a:solidFill>
                  <a:srgbClr val="0000FF"/>
                </a:solidFill>
              </a:rPr>
              <a:t>SPC</a:t>
            </a:r>
            <a:r>
              <a:rPr lang="en-US" dirty="0"/>
              <a:t> techniques</a:t>
            </a:r>
          </a:p>
          <a:p>
            <a:pPr>
              <a:lnSpc>
                <a:spcPct val="150000"/>
              </a:lnSpc>
              <a:defRPr/>
            </a:pPr>
            <a:r>
              <a:rPr lang="en-US" dirty="0"/>
              <a:t>Level of </a:t>
            </a:r>
            <a:r>
              <a:rPr lang="en-US" dirty="0">
                <a:solidFill>
                  <a:srgbClr val="0000FF"/>
                </a:solidFill>
              </a:rPr>
              <a:t>defects</a:t>
            </a:r>
          </a:p>
          <a:p>
            <a:pPr>
              <a:lnSpc>
                <a:spcPct val="150000"/>
              </a:lnSpc>
              <a:defRPr/>
            </a:pPr>
            <a:r>
              <a:rPr lang="en-US" dirty="0"/>
              <a:t>Safety, training, and maintenance</a:t>
            </a:r>
          </a:p>
          <a:p>
            <a:pPr>
              <a:lnSpc>
                <a:spcPct val="150000"/>
              </a:lnSpc>
              <a:defRPr/>
            </a:pPr>
            <a:r>
              <a:rPr lang="en-US" dirty="0"/>
              <a:t>Use of </a:t>
            </a:r>
            <a:r>
              <a:rPr lang="en-US" dirty="0">
                <a:solidFill>
                  <a:srgbClr val="0000FF"/>
                </a:solidFill>
              </a:rPr>
              <a:t>MBNQA and ISO 9000 criteria</a:t>
            </a:r>
          </a:p>
        </p:txBody>
      </p:sp>
      <p:sp>
        <p:nvSpPr>
          <p:cNvPr id="4" name="Footer Placeholder 3">
            <a:extLst>
              <a:ext uri="{FF2B5EF4-FFF2-40B4-BE49-F238E27FC236}">
                <a16:creationId xmlns:a16="http://schemas.microsoft.com/office/drawing/2014/main" id="{BEC7B84B-DC08-47D3-9398-1A7E38832550}"/>
              </a:ext>
            </a:extLst>
          </p:cNvPr>
          <p:cNvSpPr>
            <a:spLocks noGrp="1"/>
          </p:cNvSpPr>
          <p:nvPr>
            <p:ph type="ftr" sz="quarter" idx="10"/>
          </p:nvPr>
        </p:nvSpPr>
        <p:spPr/>
        <p:txBody>
          <a:bodyPr/>
          <a:lstStyle/>
          <a:p>
            <a:pPr>
              <a:defRPr/>
            </a:pPr>
            <a:r>
              <a:rPr lang="en-US"/>
              <a:t>Purchasing &amp; Supply Chain Management, 4e</a:t>
            </a:r>
          </a:p>
          <a:p>
            <a:pPr>
              <a:defRPr/>
            </a:pPr>
            <a:endParaRPr lang="en-US"/>
          </a:p>
        </p:txBody>
      </p:sp>
      <p:sp>
        <p:nvSpPr>
          <p:cNvPr id="5" name="Slide Number Placeholder 4">
            <a:extLst>
              <a:ext uri="{FF2B5EF4-FFF2-40B4-BE49-F238E27FC236}">
                <a16:creationId xmlns:a16="http://schemas.microsoft.com/office/drawing/2014/main" id="{CDE9C3A4-5753-4EA9-9AC7-D33E4B9E06A9}"/>
              </a:ext>
            </a:extLst>
          </p:cNvPr>
          <p:cNvSpPr>
            <a:spLocks noGrp="1"/>
          </p:cNvSpPr>
          <p:nvPr>
            <p:ph type="sldNum" sz="quarter" idx="11"/>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fld id="{6814DB50-1C2B-43E0-AD6E-4D3943380026}" type="slidenum">
              <a:rPr lang="en-US" altLang="LID4096">
                <a:solidFill>
                  <a:srgbClr val="FFFFFF"/>
                </a:solidFill>
              </a:rPr>
              <a:pPr/>
              <a:t>29</a:t>
            </a:fld>
            <a:endParaRPr lang="en-US" altLang="LID4096">
              <a:solidFill>
                <a:srgbClr val="FFFFFF"/>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a:extLst>
              <a:ext uri="{FF2B5EF4-FFF2-40B4-BE49-F238E27FC236}">
                <a16:creationId xmlns:a16="http://schemas.microsoft.com/office/drawing/2014/main" id="{0682CFF5-FA0A-4CDB-88BD-A83EC16EBA8A}"/>
              </a:ext>
            </a:extLst>
          </p:cNvPr>
          <p:cNvSpPr>
            <a:spLocks noGrp="1"/>
          </p:cNvSpPr>
          <p:nvPr>
            <p:ph type="title"/>
          </p:nvPr>
        </p:nvSpPr>
        <p:spPr/>
        <p:txBody>
          <a:bodyPr/>
          <a:lstStyle/>
          <a:p>
            <a:r>
              <a:rPr lang="en-US" altLang="LID4096"/>
              <a:t>Process and Technological Capability</a:t>
            </a:r>
          </a:p>
        </p:txBody>
      </p:sp>
      <p:sp>
        <p:nvSpPr>
          <p:cNvPr id="3" name="Content Placeholder 2">
            <a:extLst>
              <a:ext uri="{FF2B5EF4-FFF2-40B4-BE49-F238E27FC236}">
                <a16:creationId xmlns:a16="http://schemas.microsoft.com/office/drawing/2014/main" id="{D8135FE8-40EB-4898-B3A9-763A6F84528D}"/>
              </a:ext>
            </a:extLst>
          </p:cNvPr>
          <p:cNvSpPr>
            <a:spLocks noGrp="1"/>
          </p:cNvSpPr>
          <p:nvPr>
            <p:ph idx="1"/>
          </p:nvPr>
        </p:nvSpPr>
        <p:spPr/>
        <p:txBody>
          <a:bodyPr/>
          <a:lstStyle/>
          <a:p>
            <a:pPr>
              <a:defRPr/>
            </a:pPr>
            <a:r>
              <a:rPr lang="en-US" dirty="0"/>
              <a:t>Level of</a:t>
            </a:r>
            <a:r>
              <a:rPr lang="en-US" dirty="0">
                <a:solidFill>
                  <a:srgbClr val="0000FF"/>
                </a:solidFill>
              </a:rPr>
              <a:t> technology</a:t>
            </a:r>
            <a:r>
              <a:rPr lang="en-US" dirty="0"/>
              <a:t>, design capability, methods used, and equipment</a:t>
            </a:r>
          </a:p>
          <a:p>
            <a:pPr marL="457200" lvl="1" indent="0">
              <a:buNone/>
              <a:defRPr/>
            </a:pPr>
            <a:endParaRPr lang="en-US" dirty="0"/>
          </a:p>
          <a:p>
            <a:pPr>
              <a:defRPr/>
            </a:pPr>
            <a:r>
              <a:rPr lang="en-US" dirty="0"/>
              <a:t>Resources committed to </a:t>
            </a:r>
            <a:r>
              <a:rPr lang="en-US" dirty="0">
                <a:solidFill>
                  <a:srgbClr val="0000FF"/>
                </a:solidFill>
              </a:rPr>
              <a:t>R&amp;D</a:t>
            </a:r>
          </a:p>
        </p:txBody>
      </p:sp>
      <p:sp>
        <p:nvSpPr>
          <p:cNvPr id="4" name="Footer Placeholder 3">
            <a:extLst>
              <a:ext uri="{FF2B5EF4-FFF2-40B4-BE49-F238E27FC236}">
                <a16:creationId xmlns:a16="http://schemas.microsoft.com/office/drawing/2014/main" id="{718E2FB1-0526-4C82-9B82-439F3B5874DC}"/>
              </a:ext>
            </a:extLst>
          </p:cNvPr>
          <p:cNvSpPr>
            <a:spLocks noGrp="1"/>
          </p:cNvSpPr>
          <p:nvPr>
            <p:ph type="ftr" sz="quarter" idx="10"/>
          </p:nvPr>
        </p:nvSpPr>
        <p:spPr/>
        <p:txBody>
          <a:bodyPr/>
          <a:lstStyle/>
          <a:p>
            <a:pPr>
              <a:defRPr/>
            </a:pPr>
            <a:r>
              <a:rPr lang="en-US"/>
              <a:t>Purchasing &amp; Supply Chain Management, 4e</a:t>
            </a:r>
          </a:p>
          <a:p>
            <a:pPr>
              <a:defRPr/>
            </a:pPr>
            <a:endParaRPr lang="en-US"/>
          </a:p>
        </p:txBody>
      </p:sp>
      <p:sp>
        <p:nvSpPr>
          <p:cNvPr id="5" name="Slide Number Placeholder 4">
            <a:extLst>
              <a:ext uri="{FF2B5EF4-FFF2-40B4-BE49-F238E27FC236}">
                <a16:creationId xmlns:a16="http://schemas.microsoft.com/office/drawing/2014/main" id="{D93556EF-EAEB-4ABD-B4AE-DF2F264CD706}"/>
              </a:ext>
            </a:extLst>
          </p:cNvPr>
          <p:cNvSpPr>
            <a:spLocks noGrp="1"/>
          </p:cNvSpPr>
          <p:nvPr>
            <p:ph type="sldNum" sz="quarter" idx="11"/>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fld id="{24E632A4-809D-4B8F-8FD7-9D7E2BF8806C}" type="slidenum">
              <a:rPr lang="en-US" altLang="LID4096">
                <a:solidFill>
                  <a:srgbClr val="FFFFFF"/>
                </a:solidFill>
              </a:rPr>
              <a:pPr/>
              <a:t>30</a:t>
            </a:fld>
            <a:endParaRPr lang="en-US" altLang="LID4096">
              <a:solidFill>
                <a:srgbClr val="FFFFFF"/>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Title 1">
            <a:extLst>
              <a:ext uri="{FF2B5EF4-FFF2-40B4-BE49-F238E27FC236}">
                <a16:creationId xmlns:a16="http://schemas.microsoft.com/office/drawing/2014/main" id="{D94146D5-6929-4E0B-9B3C-88FB0EFC0D0B}"/>
              </a:ext>
            </a:extLst>
          </p:cNvPr>
          <p:cNvSpPr>
            <a:spLocks noGrp="1"/>
          </p:cNvSpPr>
          <p:nvPr>
            <p:ph type="title"/>
          </p:nvPr>
        </p:nvSpPr>
        <p:spPr/>
        <p:txBody>
          <a:bodyPr/>
          <a:lstStyle/>
          <a:p>
            <a:r>
              <a:rPr lang="en-US" altLang="LID4096"/>
              <a:t>Environmental Compliance</a:t>
            </a:r>
          </a:p>
        </p:txBody>
      </p:sp>
      <p:sp>
        <p:nvSpPr>
          <p:cNvPr id="3" name="Content Placeholder 2">
            <a:extLst>
              <a:ext uri="{FF2B5EF4-FFF2-40B4-BE49-F238E27FC236}">
                <a16:creationId xmlns:a16="http://schemas.microsoft.com/office/drawing/2014/main" id="{EA0492A6-B463-4E51-9890-6D54D95D1CA7}"/>
              </a:ext>
            </a:extLst>
          </p:cNvPr>
          <p:cNvSpPr>
            <a:spLocks noGrp="1"/>
          </p:cNvSpPr>
          <p:nvPr>
            <p:ph idx="1"/>
          </p:nvPr>
        </p:nvSpPr>
        <p:spPr/>
        <p:txBody>
          <a:bodyPr/>
          <a:lstStyle/>
          <a:p>
            <a:pPr>
              <a:defRPr/>
            </a:pPr>
            <a:r>
              <a:rPr lang="en-US" dirty="0"/>
              <a:t>Hazardous and toxic waste generation and management</a:t>
            </a:r>
          </a:p>
          <a:p>
            <a:pPr>
              <a:defRPr/>
            </a:pPr>
            <a:r>
              <a:rPr lang="en-US" dirty="0"/>
              <a:t>Recycling management</a:t>
            </a:r>
          </a:p>
          <a:p>
            <a:pPr>
              <a:defRPr/>
            </a:pPr>
            <a:r>
              <a:rPr lang="en-US" dirty="0"/>
              <a:t>ISO </a:t>
            </a:r>
            <a:r>
              <a:rPr lang="en-US" dirty="0">
                <a:solidFill>
                  <a:srgbClr val="0000FF"/>
                </a:solidFill>
              </a:rPr>
              <a:t>14000 certification</a:t>
            </a:r>
          </a:p>
          <a:p>
            <a:pPr>
              <a:defRPr/>
            </a:pPr>
            <a:r>
              <a:rPr lang="en-US" dirty="0">
                <a:solidFill>
                  <a:srgbClr val="0000FF"/>
                </a:solidFill>
              </a:rPr>
              <a:t>CO2 </a:t>
            </a:r>
            <a:r>
              <a:rPr lang="en-US" dirty="0"/>
              <a:t>counting</a:t>
            </a:r>
          </a:p>
          <a:p>
            <a:pPr>
              <a:defRPr/>
            </a:pPr>
            <a:r>
              <a:rPr lang="en-US" dirty="0">
                <a:solidFill>
                  <a:srgbClr val="0000FF"/>
                </a:solidFill>
              </a:rPr>
              <a:t>Sustainability </a:t>
            </a:r>
            <a:r>
              <a:rPr lang="en-US" dirty="0"/>
              <a:t>index</a:t>
            </a:r>
          </a:p>
        </p:txBody>
      </p:sp>
      <p:sp>
        <p:nvSpPr>
          <p:cNvPr id="4" name="Footer Placeholder 3">
            <a:extLst>
              <a:ext uri="{FF2B5EF4-FFF2-40B4-BE49-F238E27FC236}">
                <a16:creationId xmlns:a16="http://schemas.microsoft.com/office/drawing/2014/main" id="{862F60D6-25BF-41D4-9796-DE17E6856309}"/>
              </a:ext>
            </a:extLst>
          </p:cNvPr>
          <p:cNvSpPr>
            <a:spLocks noGrp="1"/>
          </p:cNvSpPr>
          <p:nvPr>
            <p:ph type="ftr" sz="quarter" idx="10"/>
          </p:nvPr>
        </p:nvSpPr>
        <p:spPr/>
        <p:txBody>
          <a:bodyPr/>
          <a:lstStyle/>
          <a:p>
            <a:pPr>
              <a:defRPr/>
            </a:pPr>
            <a:r>
              <a:rPr lang="en-US"/>
              <a:t>Purchasing &amp; Supply Chain Management, 4e</a:t>
            </a:r>
          </a:p>
          <a:p>
            <a:pPr>
              <a:defRPr/>
            </a:pPr>
            <a:endParaRPr lang="en-US"/>
          </a:p>
        </p:txBody>
      </p:sp>
      <p:sp>
        <p:nvSpPr>
          <p:cNvPr id="5" name="Slide Number Placeholder 4">
            <a:extLst>
              <a:ext uri="{FF2B5EF4-FFF2-40B4-BE49-F238E27FC236}">
                <a16:creationId xmlns:a16="http://schemas.microsoft.com/office/drawing/2014/main" id="{D94C00C9-D03D-4B85-BE9F-3CBCDD464382}"/>
              </a:ext>
            </a:extLst>
          </p:cNvPr>
          <p:cNvSpPr>
            <a:spLocks noGrp="1"/>
          </p:cNvSpPr>
          <p:nvPr>
            <p:ph type="sldNum" sz="quarter" idx="11"/>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fld id="{7C03777B-8500-4004-8DB7-D3D517511A74}" type="slidenum">
              <a:rPr lang="en-US" altLang="LID4096">
                <a:solidFill>
                  <a:srgbClr val="FFFFFF"/>
                </a:solidFill>
              </a:rPr>
              <a:pPr/>
              <a:t>31</a:t>
            </a:fld>
            <a:endParaRPr lang="en-US" altLang="LID4096">
              <a:solidFill>
                <a:srgbClr val="FFFFFF"/>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Title 1">
            <a:extLst>
              <a:ext uri="{FF2B5EF4-FFF2-40B4-BE49-F238E27FC236}">
                <a16:creationId xmlns:a16="http://schemas.microsoft.com/office/drawing/2014/main" id="{A1F69E16-E5C6-4C56-9BB0-07808E70A6C3}"/>
              </a:ext>
            </a:extLst>
          </p:cNvPr>
          <p:cNvSpPr>
            <a:spLocks noGrp="1"/>
          </p:cNvSpPr>
          <p:nvPr>
            <p:ph type="title"/>
          </p:nvPr>
        </p:nvSpPr>
        <p:spPr/>
        <p:txBody>
          <a:bodyPr/>
          <a:lstStyle/>
          <a:p>
            <a:r>
              <a:rPr lang="en-US" altLang="LID4096"/>
              <a:t>Production Scheduling and Control</a:t>
            </a:r>
          </a:p>
        </p:txBody>
      </p:sp>
      <p:sp>
        <p:nvSpPr>
          <p:cNvPr id="3" name="Content Placeholder 2">
            <a:extLst>
              <a:ext uri="{FF2B5EF4-FFF2-40B4-BE49-F238E27FC236}">
                <a16:creationId xmlns:a16="http://schemas.microsoft.com/office/drawing/2014/main" id="{9F3C6A0A-8B2A-4245-9A9D-6FE7470EDDF9}"/>
              </a:ext>
            </a:extLst>
          </p:cNvPr>
          <p:cNvSpPr>
            <a:spLocks noGrp="1"/>
          </p:cNvSpPr>
          <p:nvPr>
            <p:ph idx="1"/>
          </p:nvPr>
        </p:nvSpPr>
        <p:spPr/>
        <p:txBody>
          <a:bodyPr/>
          <a:lstStyle/>
          <a:p>
            <a:pPr>
              <a:defRPr/>
            </a:pPr>
            <a:r>
              <a:rPr lang="en-US" dirty="0"/>
              <a:t>Does the supplier use </a:t>
            </a:r>
            <a:r>
              <a:rPr lang="en-US" dirty="0">
                <a:solidFill>
                  <a:srgbClr val="0000FF"/>
                </a:solidFill>
              </a:rPr>
              <a:t>MRP or JIT</a:t>
            </a:r>
            <a:r>
              <a:rPr lang="en-US" dirty="0"/>
              <a:t>?</a:t>
            </a:r>
          </a:p>
          <a:p>
            <a:pPr>
              <a:defRPr/>
            </a:pPr>
            <a:endParaRPr lang="en-US" dirty="0"/>
          </a:p>
          <a:p>
            <a:pPr>
              <a:defRPr/>
            </a:pPr>
            <a:r>
              <a:rPr lang="en-US" dirty="0"/>
              <a:t>Does the supplier </a:t>
            </a:r>
            <a:r>
              <a:rPr lang="en-US" dirty="0">
                <a:solidFill>
                  <a:srgbClr val="0000FF"/>
                </a:solidFill>
              </a:rPr>
              <a:t>track material </a:t>
            </a:r>
            <a:r>
              <a:rPr lang="en-US" dirty="0"/>
              <a:t>and production cycle times?</a:t>
            </a:r>
          </a:p>
          <a:p>
            <a:pPr>
              <a:defRPr/>
            </a:pPr>
            <a:endParaRPr lang="en-US" dirty="0"/>
          </a:p>
          <a:p>
            <a:pPr>
              <a:defRPr/>
            </a:pPr>
            <a:r>
              <a:rPr lang="en-US" dirty="0"/>
              <a:t>What is the supplier’s on-time delivery </a:t>
            </a:r>
            <a:r>
              <a:rPr lang="en-US" dirty="0">
                <a:solidFill>
                  <a:srgbClr val="0000FF"/>
                </a:solidFill>
              </a:rPr>
              <a:t>performance</a:t>
            </a:r>
            <a:r>
              <a:rPr lang="en-US" dirty="0"/>
              <a:t>?</a:t>
            </a:r>
          </a:p>
        </p:txBody>
      </p:sp>
      <p:sp>
        <p:nvSpPr>
          <p:cNvPr id="4" name="Footer Placeholder 3">
            <a:extLst>
              <a:ext uri="{FF2B5EF4-FFF2-40B4-BE49-F238E27FC236}">
                <a16:creationId xmlns:a16="http://schemas.microsoft.com/office/drawing/2014/main" id="{00E30C56-D510-49ED-8212-3E0F449A06BB}"/>
              </a:ext>
            </a:extLst>
          </p:cNvPr>
          <p:cNvSpPr>
            <a:spLocks noGrp="1"/>
          </p:cNvSpPr>
          <p:nvPr>
            <p:ph type="ftr" sz="quarter" idx="10"/>
          </p:nvPr>
        </p:nvSpPr>
        <p:spPr/>
        <p:txBody>
          <a:bodyPr/>
          <a:lstStyle/>
          <a:p>
            <a:pPr>
              <a:defRPr/>
            </a:pPr>
            <a:r>
              <a:rPr lang="en-US"/>
              <a:t>Purchasing &amp; Supply Chain Management, 4e</a:t>
            </a:r>
          </a:p>
          <a:p>
            <a:pPr>
              <a:defRPr/>
            </a:pPr>
            <a:endParaRPr lang="en-US"/>
          </a:p>
        </p:txBody>
      </p:sp>
      <p:sp>
        <p:nvSpPr>
          <p:cNvPr id="5" name="Slide Number Placeholder 4">
            <a:extLst>
              <a:ext uri="{FF2B5EF4-FFF2-40B4-BE49-F238E27FC236}">
                <a16:creationId xmlns:a16="http://schemas.microsoft.com/office/drawing/2014/main" id="{29DF7E89-8635-449A-B6F5-06ED14BE71C8}"/>
              </a:ext>
            </a:extLst>
          </p:cNvPr>
          <p:cNvSpPr>
            <a:spLocks noGrp="1"/>
          </p:cNvSpPr>
          <p:nvPr>
            <p:ph type="sldNum" sz="quarter" idx="11"/>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fld id="{6EB5E1F9-1777-4864-BDCF-EC8EAA2E6755}" type="slidenum">
              <a:rPr lang="en-US" altLang="LID4096">
                <a:solidFill>
                  <a:srgbClr val="FFFFFF"/>
                </a:solidFill>
              </a:rPr>
              <a:pPr/>
              <a:t>32</a:t>
            </a:fld>
            <a:endParaRPr lang="en-US" altLang="LID4096">
              <a:solidFill>
                <a:srgbClr val="FFFFFF"/>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1">
            <a:extLst>
              <a:ext uri="{FF2B5EF4-FFF2-40B4-BE49-F238E27FC236}">
                <a16:creationId xmlns:a16="http://schemas.microsoft.com/office/drawing/2014/main" id="{7C8AA09A-F34B-4836-B8F4-3FE0688A550E}"/>
              </a:ext>
            </a:extLst>
          </p:cNvPr>
          <p:cNvSpPr>
            <a:spLocks noGrp="1"/>
          </p:cNvSpPr>
          <p:nvPr>
            <p:ph type="title"/>
          </p:nvPr>
        </p:nvSpPr>
        <p:spPr/>
        <p:txBody>
          <a:bodyPr/>
          <a:lstStyle/>
          <a:p>
            <a:r>
              <a:rPr lang="en-US" altLang="LID4096"/>
              <a:t>E-Commerce Capability</a:t>
            </a:r>
          </a:p>
        </p:txBody>
      </p:sp>
      <p:sp>
        <p:nvSpPr>
          <p:cNvPr id="3" name="Content Placeholder 2">
            <a:extLst>
              <a:ext uri="{FF2B5EF4-FFF2-40B4-BE49-F238E27FC236}">
                <a16:creationId xmlns:a16="http://schemas.microsoft.com/office/drawing/2014/main" id="{E9C3C563-58D9-4A46-9333-B0591B6F5054}"/>
              </a:ext>
            </a:extLst>
          </p:cNvPr>
          <p:cNvSpPr>
            <a:spLocks noGrp="1"/>
          </p:cNvSpPr>
          <p:nvPr>
            <p:ph idx="1"/>
          </p:nvPr>
        </p:nvSpPr>
        <p:spPr>
          <a:xfrm>
            <a:off x="457200" y="1371599"/>
            <a:ext cx="8229600" cy="4873625"/>
          </a:xfrm>
        </p:spPr>
        <p:txBody>
          <a:bodyPr/>
          <a:lstStyle/>
          <a:p>
            <a:pPr>
              <a:defRPr/>
            </a:pPr>
            <a:r>
              <a:rPr lang="en-US" dirty="0"/>
              <a:t>Web-based B2B vs. EDI systems: </a:t>
            </a:r>
          </a:p>
          <a:p>
            <a:pPr marL="0" indent="0" algn="just">
              <a:buNone/>
            </a:pPr>
            <a:r>
              <a:rPr lang="en-US" sz="2400" dirty="0"/>
              <a:t>e.g., Supplier </a:t>
            </a:r>
            <a:r>
              <a:rPr lang="en-US" sz="2400" dirty="0">
                <a:solidFill>
                  <a:srgbClr val="0000FF"/>
                </a:solidFill>
              </a:rPr>
              <a:t>logs in to a website </a:t>
            </a:r>
            <a:r>
              <a:rPr lang="en-US" sz="2400" dirty="0"/>
              <a:t>to view POs, update status, ship, and invoice. Electronic data interchange (EDI) systems: System‑to‑system exchange of structured documents (PO, ASN, invoice) between your ERP and the supplier’s ERP, without manual keying.</a:t>
            </a:r>
          </a:p>
          <a:p>
            <a:pPr marL="0" indent="0" algn="just">
              <a:buNone/>
            </a:pPr>
            <a:endParaRPr lang="en-US" sz="2400" dirty="0"/>
          </a:p>
          <a:p>
            <a:pPr>
              <a:defRPr/>
            </a:pPr>
            <a:r>
              <a:rPr lang="en-US" dirty="0"/>
              <a:t>Does the supplier have CAD capability?</a:t>
            </a:r>
          </a:p>
          <a:p>
            <a:pPr>
              <a:defRPr/>
            </a:pPr>
            <a:endParaRPr lang="en-US" dirty="0"/>
          </a:p>
          <a:p>
            <a:pPr>
              <a:defRPr/>
            </a:pPr>
            <a:r>
              <a:rPr lang="en-US" dirty="0"/>
              <a:t>Does the supplier use RFID?</a:t>
            </a:r>
          </a:p>
          <a:p>
            <a:pPr marL="0" indent="0">
              <a:buNone/>
              <a:defRPr/>
            </a:pPr>
            <a:endParaRPr lang="en-US" dirty="0"/>
          </a:p>
        </p:txBody>
      </p:sp>
      <p:sp>
        <p:nvSpPr>
          <p:cNvPr id="5" name="Slide Number Placeholder 4">
            <a:extLst>
              <a:ext uri="{FF2B5EF4-FFF2-40B4-BE49-F238E27FC236}">
                <a16:creationId xmlns:a16="http://schemas.microsoft.com/office/drawing/2014/main" id="{7F465CE1-D3A5-4F77-9B7B-6C18575FE353}"/>
              </a:ext>
            </a:extLst>
          </p:cNvPr>
          <p:cNvSpPr>
            <a:spLocks noGrp="1"/>
          </p:cNvSpPr>
          <p:nvPr>
            <p:ph type="sldNum" sz="quarter" idx="11"/>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fld id="{B10FF98E-DB67-40DA-89B9-431BEDDAA6F4}" type="slidenum">
              <a:rPr lang="en-US" altLang="LID4096">
                <a:solidFill>
                  <a:srgbClr val="FFFFFF"/>
                </a:solidFill>
              </a:rPr>
              <a:pPr/>
              <a:t>33</a:t>
            </a:fld>
            <a:endParaRPr lang="en-US" altLang="LID4096" dirty="0">
              <a:solidFill>
                <a:srgbClr val="FFFFFF"/>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itle 1">
            <a:extLst>
              <a:ext uri="{FF2B5EF4-FFF2-40B4-BE49-F238E27FC236}">
                <a16:creationId xmlns:a16="http://schemas.microsoft.com/office/drawing/2014/main" id="{E6274536-7C9C-4DD4-BEA2-8B43175117BA}"/>
              </a:ext>
            </a:extLst>
          </p:cNvPr>
          <p:cNvSpPr>
            <a:spLocks noGrp="1"/>
          </p:cNvSpPr>
          <p:nvPr>
            <p:ph type="title"/>
          </p:nvPr>
        </p:nvSpPr>
        <p:spPr/>
        <p:txBody>
          <a:bodyPr/>
          <a:lstStyle/>
          <a:p>
            <a:r>
              <a:rPr lang="en-US" altLang="LID4096" dirty="0"/>
              <a:t>Supplier’s Supply Base Strategies</a:t>
            </a:r>
          </a:p>
        </p:txBody>
      </p:sp>
      <p:sp>
        <p:nvSpPr>
          <p:cNvPr id="3" name="Content Placeholder 2">
            <a:extLst>
              <a:ext uri="{FF2B5EF4-FFF2-40B4-BE49-F238E27FC236}">
                <a16:creationId xmlns:a16="http://schemas.microsoft.com/office/drawing/2014/main" id="{A4E8A851-F90C-46BB-A57D-433428438FBD}"/>
              </a:ext>
            </a:extLst>
          </p:cNvPr>
          <p:cNvSpPr>
            <a:spLocks noGrp="1"/>
          </p:cNvSpPr>
          <p:nvPr>
            <p:ph idx="1"/>
          </p:nvPr>
        </p:nvSpPr>
        <p:spPr>
          <a:xfrm>
            <a:off x="304800" y="1206501"/>
            <a:ext cx="8610600" cy="4508500"/>
          </a:xfrm>
        </p:spPr>
        <p:txBody>
          <a:bodyPr/>
          <a:lstStyle/>
          <a:p>
            <a:pPr algn="just">
              <a:defRPr/>
            </a:pPr>
            <a:r>
              <a:rPr lang="en-US" dirty="0"/>
              <a:t> The supplier’s supply base is important to analyze, </a:t>
            </a:r>
            <a:r>
              <a:rPr lang="en-US" dirty="0">
                <a:solidFill>
                  <a:srgbClr val="0000FF"/>
                </a:solidFill>
              </a:rPr>
              <a:t>which affects </a:t>
            </a:r>
            <a:r>
              <a:rPr lang="en-US" dirty="0"/>
              <a:t>risk, quality, and collaboration for you.</a:t>
            </a:r>
          </a:p>
          <a:p>
            <a:pPr algn="just">
              <a:defRPr/>
            </a:pPr>
            <a:endParaRPr lang="en-US" dirty="0"/>
          </a:p>
          <a:p>
            <a:pPr algn="just">
              <a:defRPr/>
            </a:pPr>
            <a:r>
              <a:rPr lang="en-US" dirty="0"/>
              <a:t>Sharing of </a:t>
            </a:r>
            <a:r>
              <a:rPr lang="en-US" dirty="0">
                <a:solidFill>
                  <a:srgbClr val="0000FF"/>
                </a:solidFill>
              </a:rPr>
              <a:t>information </a:t>
            </a:r>
            <a:r>
              <a:rPr lang="en-US" b="0" dirty="0"/>
              <a:t>(Centralized vs Decentralized)</a:t>
            </a:r>
          </a:p>
          <a:p>
            <a:pPr algn="just">
              <a:defRPr/>
            </a:pPr>
            <a:endParaRPr lang="en-US" b="0" dirty="0"/>
          </a:p>
          <a:p>
            <a:pPr algn="just">
              <a:defRPr/>
            </a:pPr>
            <a:r>
              <a:rPr lang="en-US" dirty="0">
                <a:solidFill>
                  <a:srgbClr val="0000FF"/>
                </a:solidFill>
              </a:rPr>
              <a:t>Development</a:t>
            </a:r>
            <a:r>
              <a:rPr lang="en-US" dirty="0"/>
              <a:t> of supply chain: tracing, communication, improvements, etc.</a:t>
            </a:r>
          </a:p>
        </p:txBody>
      </p:sp>
      <p:sp>
        <p:nvSpPr>
          <p:cNvPr id="5" name="Slide Number Placeholder 4">
            <a:extLst>
              <a:ext uri="{FF2B5EF4-FFF2-40B4-BE49-F238E27FC236}">
                <a16:creationId xmlns:a16="http://schemas.microsoft.com/office/drawing/2014/main" id="{66DAAD55-FC46-4F7B-9D91-6D97FCE70C11}"/>
              </a:ext>
            </a:extLst>
          </p:cNvPr>
          <p:cNvSpPr>
            <a:spLocks noGrp="1"/>
          </p:cNvSpPr>
          <p:nvPr>
            <p:ph type="sldNum" sz="quarter" idx="11"/>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fld id="{C581465F-FC19-4875-BE87-DE907D92ADE7}" type="slidenum">
              <a:rPr lang="en-US" altLang="LID4096">
                <a:solidFill>
                  <a:srgbClr val="FFFFFF"/>
                </a:solidFill>
              </a:rPr>
              <a:pPr/>
              <a:t>34</a:t>
            </a:fld>
            <a:endParaRPr lang="en-US" altLang="LID4096">
              <a:solidFill>
                <a:srgbClr val="FFFFFF"/>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1">
            <a:extLst>
              <a:ext uri="{FF2B5EF4-FFF2-40B4-BE49-F238E27FC236}">
                <a16:creationId xmlns:a16="http://schemas.microsoft.com/office/drawing/2014/main" id="{72409D0E-FBB7-4658-A276-A10ABB455E1C}"/>
              </a:ext>
            </a:extLst>
          </p:cNvPr>
          <p:cNvSpPr>
            <a:spLocks noGrp="1"/>
          </p:cNvSpPr>
          <p:nvPr>
            <p:ph type="title"/>
          </p:nvPr>
        </p:nvSpPr>
        <p:spPr/>
        <p:txBody>
          <a:bodyPr/>
          <a:lstStyle/>
          <a:p>
            <a:r>
              <a:rPr lang="en-US" altLang="LID4096"/>
              <a:t>Potential for Long-Term Relationships</a:t>
            </a:r>
          </a:p>
        </p:txBody>
      </p:sp>
      <p:sp>
        <p:nvSpPr>
          <p:cNvPr id="3" name="Content Placeholder 2">
            <a:extLst>
              <a:ext uri="{FF2B5EF4-FFF2-40B4-BE49-F238E27FC236}">
                <a16:creationId xmlns:a16="http://schemas.microsoft.com/office/drawing/2014/main" id="{8FF41C72-E2FE-4144-9899-35EF576697E3}"/>
              </a:ext>
            </a:extLst>
          </p:cNvPr>
          <p:cNvSpPr>
            <a:spLocks noGrp="1"/>
          </p:cNvSpPr>
          <p:nvPr>
            <p:ph idx="1"/>
          </p:nvPr>
        </p:nvSpPr>
        <p:spPr>
          <a:xfrm>
            <a:off x="419100" y="1243806"/>
            <a:ext cx="8229600" cy="4525963"/>
          </a:xfrm>
        </p:spPr>
        <p:txBody>
          <a:bodyPr/>
          <a:lstStyle/>
          <a:p>
            <a:pPr algn="just">
              <a:defRPr/>
            </a:pPr>
            <a:r>
              <a:rPr lang="en-US" dirty="0"/>
              <a:t>When in the </a:t>
            </a:r>
            <a:r>
              <a:rPr lang="en-US" dirty="0">
                <a:solidFill>
                  <a:srgbClr val="0000FF"/>
                </a:solidFill>
              </a:rPr>
              <a:t>design phase </a:t>
            </a:r>
            <a:r>
              <a:rPr lang="en-US" dirty="0"/>
              <a:t>can the supplier participate?</a:t>
            </a:r>
          </a:p>
          <a:p>
            <a:pPr algn="just">
              <a:defRPr/>
            </a:pPr>
            <a:r>
              <a:rPr lang="en-US" dirty="0"/>
              <a:t>Can the supplier </a:t>
            </a:r>
            <a:r>
              <a:rPr lang="en-US" dirty="0">
                <a:solidFill>
                  <a:srgbClr val="0000FF"/>
                </a:solidFill>
              </a:rPr>
              <a:t>participate in joint </a:t>
            </a:r>
            <a:r>
              <a:rPr lang="en-US" dirty="0"/>
              <a:t>problem-solving and improvement?</a:t>
            </a:r>
          </a:p>
          <a:p>
            <a:pPr>
              <a:defRPr/>
            </a:pPr>
            <a:r>
              <a:rPr lang="en-US" dirty="0"/>
              <a:t>Will there be free and open </a:t>
            </a:r>
            <a:r>
              <a:rPr lang="en-US" dirty="0">
                <a:solidFill>
                  <a:srgbClr val="0000FF"/>
                </a:solidFill>
              </a:rPr>
              <a:t>information sharing</a:t>
            </a:r>
            <a:r>
              <a:rPr lang="en-US" dirty="0"/>
              <a:t>?</a:t>
            </a:r>
          </a:p>
          <a:p>
            <a:pPr>
              <a:defRPr/>
            </a:pPr>
            <a:r>
              <a:rPr lang="en-US" dirty="0"/>
              <a:t>Can the supplier maintain the buyer’s need for </a:t>
            </a:r>
            <a:r>
              <a:rPr lang="en-US" dirty="0">
                <a:solidFill>
                  <a:srgbClr val="0000FF"/>
                </a:solidFill>
              </a:rPr>
              <a:t>confidentiality</a:t>
            </a:r>
            <a:r>
              <a:rPr lang="en-US" dirty="0"/>
              <a:t>?</a:t>
            </a:r>
          </a:p>
          <a:p>
            <a:pPr algn="just">
              <a:defRPr/>
            </a:pPr>
            <a:endParaRPr lang="en-US" dirty="0"/>
          </a:p>
        </p:txBody>
      </p:sp>
      <p:sp>
        <p:nvSpPr>
          <p:cNvPr id="4" name="Footer Placeholder 3">
            <a:extLst>
              <a:ext uri="{FF2B5EF4-FFF2-40B4-BE49-F238E27FC236}">
                <a16:creationId xmlns:a16="http://schemas.microsoft.com/office/drawing/2014/main" id="{CC91CBE8-0E56-455A-B4DE-8C051B047075}"/>
              </a:ext>
            </a:extLst>
          </p:cNvPr>
          <p:cNvSpPr>
            <a:spLocks noGrp="1"/>
          </p:cNvSpPr>
          <p:nvPr>
            <p:ph type="ftr" sz="quarter" idx="10"/>
          </p:nvPr>
        </p:nvSpPr>
        <p:spPr/>
        <p:txBody>
          <a:bodyPr/>
          <a:lstStyle/>
          <a:p>
            <a:pPr>
              <a:defRPr/>
            </a:pPr>
            <a:r>
              <a:rPr lang="en-US" dirty="0"/>
              <a:t>Purchasing &amp; Supply Chain Management, 4e</a:t>
            </a:r>
          </a:p>
          <a:p>
            <a:pPr>
              <a:defRPr/>
            </a:pPr>
            <a:endParaRPr lang="en-US" dirty="0"/>
          </a:p>
        </p:txBody>
      </p:sp>
      <p:sp>
        <p:nvSpPr>
          <p:cNvPr id="5" name="Slide Number Placeholder 4">
            <a:extLst>
              <a:ext uri="{FF2B5EF4-FFF2-40B4-BE49-F238E27FC236}">
                <a16:creationId xmlns:a16="http://schemas.microsoft.com/office/drawing/2014/main" id="{9ED2BA99-8EB9-4B0F-852A-1220CA83417B}"/>
              </a:ext>
            </a:extLst>
          </p:cNvPr>
          <p:cNvSpPr>
            <a:spLocks noGrp="1"/>
          </p:cNvSpPr>
          <p:nvPr>
            <p:ph type="sldNum" sz="quarter" idx="11"/>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fld id="{F0B084C9-316C-4BAF-A2F3-9815BF9DC236}" type="slidenum">
              <a:rPr lang="en-US" altLang="LID4096">
                <a:solidFill>
                  <a:srgbClr val="FFFFFF"/>
                </a:solidFill>
              </a:rPr>
              <a:pPr/>
              <a:t>35</a:t>
            </a:fld>
            <a:endParaRPr lang="en-US" altLang="LID4096">
              <a:solidFill>
                <a:srgbClr val="FFFFFF"/>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itle 5">
            <a:extLst>
              <a:ext uri="{FF2B5EF4-FFF2-40B4-BE49-F238E27FC236}">
                <a16:creationId xmlns:a16="http://schemas.microsoft.com/office/drawing/2014/main" id="{F76E9F97-4B07-4626-B0AC-0BFF0DEE6255}"/>
              </a:ext>
            </a:extLst>
          </p:cNvPr>
          <p:cNvSpPr>
            <a:spLocks noGrp="1"/>
          </p:cNvSpPr>
          <p:nvPr>
            <p:ph type="title"/>
          </p:nvPr>
        </p:nvSpPr>
        <p:spPr/>
        <p:txBody>
          <a:bodyPr/>
          <a:lstStyle/>
          <a:p>
            <a:r>
              <a:rPr lang="en-US" altLang="LID4096" dirty="0"/>
              <a:t>Initial Supplier Evaluation</a:t>
            </a:r>
          </a:p>
        </p:txBody>
      </p:sp>
      <p:graphicFrame>
        <p:nvGraphicFramePr>
          <p:cNvPr id="7" name="Table 6">
            <a:extLst>
              <a:ext uri="{FF2B5EF4-FFF2-40B4-BE49-F238E27FC236}">
                <a16:creationId xmlns:a16="http://schemas.microsoft.com/office/drawing/2014/main" id="{54E547F5-38C3-464F-B051-0D29DC1D679B}"/>
              </a:ext>
            </a:extLst>
          </p:cNvPr>
          <p:cNvGraphicFramePr>
            <a:graphicFrameLocks noGrp="1"/>
          </p:cNvGraphicFramePr>
          <p:nvPr/>
        </p:nvGraphicFramePr>
        <p:xfrm>
          <a:off x="0" y="990600"/>
          <a:ext cx="9143998" cy="5867386"/>
        </p:xfrm>
        <a:graphic>
          <a:graphicData uri="http://schemas.openxmlformats.org/drawingml/2006/table">
            <a:tbl>
              <a:tblPr/>
              <a:tblGrid>
                <a:gridCol w="443318">
                  <a:extLst>
                    <a:ext uri="{9D8B030D-6E8A-4147-A177-3AD203B41FA5}">
                      <a16:colId xmlns:a16="http://schemas.microsoft.com/office/drawing/2014/main" val="20000"/>
                    </a:ext>
                  </a:extLst>
                </a:gridCol>
                <a:gridCol w="2700210">
                  <a:extLst>
                    <a:ext uri="{9D8B030D-6E8A-4147-A177-3AD203B41FA5}">
                      <a16:colId xmlns:a16="http://schemas.microsoft.com/office/drawing/2014/main" val="20001"/>
                    </a:ext>
                  </a:extLst>
                </a:gridCol>
                <a:gridCol w="1200094">
                  <a:extLst>
                    <a:ext uri="{9D8B030D-6E8A-4147-A177-3AD203B41FA5}">
                      <a16:colId xmlns:a16="http://schemas.microsoft.com/office/drawing/2014/main" val="20002"/>
                    </a:ext>
                  </a:extLst>
                </a:gridCol>
                <a:gridCol w="1200094">
                  <a:extLst>
                    <a:ext uri="{9D8B030D-6E8A-4147-A177-3AD203B41FA5}">
                      <a16:colId xmlns:a16="http://schemas.microsoft.com/office/drawing/2014/main" val="20003"/>
                    </a:ext>
                  </a:extLst>
                </a:gridCol>
                <a:gridCol w="1200094">
                  <a:extLst>
                    <a:ext uri="{9D8B030D-6E8A-4147-A177-3AD203B41FA5}">
                      <a16:colId xmlns:a16="http://schemas.microsoft.com/office/drawing/2014/main" val="20004"/>
                    </a:ext>
                  </a:extLst>
                </a:gridCol>
                <a:gridCol w="1200094">
                  <a:extLst>
                    <a:ext uri="{9D8B030D-6E8A-4147-A177-3AD203B41FA5}">
                      <a16:colId xmlns:a16="http://schemas.microsoft.com/office/drawing/2014/main" val="20005"/>
                    </a:ext>
                  </a:extLst>
                </a:gridCol>
                <a:gridCol w="1200094">
                  <a:extLst>
                    <a:ext uri="{9D8B030D-6E8A-4147-A177-3AD203B41FA5}">
                      <a16:colId xmlns:a16="http://schemas.microsoft.com/office/drawing/2014/main" val="20006"/>
                    </a:ext>
                  </a:extLst>
                </a:gridCol>
              </a:tblGrid>
              <a:tr h="495408">
                <a:tc gridSpan="2">
                  <a:txBody>
                    <a:bodyPr/>
                    <a:lstStyle/>
                    <a:p>
                      <a:pPr algn="ctr" fontAlgn="ctr"/>
                      <a:r>
                        <a:rPr lang="en-US" sz="1500" b="1" i="1" u="none" strike="noStrike" dirty="0">
                          <a:solidFill>
                            <a:srgbClr val="000000"/>
                          </a:solidFill>
                          <a:latin typeface="Calibri"/>
                        </a:rPr>
                        <a:t>Category</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hMerge="1">
                  <a:txBody>
                    <a:bodyPr/>
                    <a:lstStyle/>
                    <a:p>
                      <a:endParaRPr lang="en-US"/>
                    </a:p>
                  </a:txBody>
                  <a:tcPr/>
                </a:tc>
                <a:tc>
                  <a:txBody>
                    <a:bodyPr/>
                    <a:lstStyle/>
                    <a:p>
                      <a:pPr algn="ctr" fontAlgn="ctr"/>
                      <a:r>
                        <a:rPr lang="en-US" sz="1500" b="1" i="1" u="none" strike="noStrike" dirty="0">
                          <a:solidFill>
                            <a:srgbClr val="000000"/>
                          </a:solidFill>
                          <a:latin typeface="Calibri"/>
                        </a:rPr>
                        <a:t>Weight</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500" b="1" i="1" u="none" strike="noStrike" dirty="0" err="1">
                          <a:solidFill>
                            <a:srgbClr val="000000"/>
                          </a:solidFill>
                          <a:latin typeface="Calibri"/>
                        </a:rPr>
                        <a:t>Subweight</a:t>
                      </a:r>
                      <a:endParaRPr lang="en-US" sz="1500" b="1" i="1" u="none" strike="noStrike" dirty="0">
                        <a:solidFill>
                          <a:srgbClr val="000000"/>
                        </a:solidFill>
                        <a:latin typeface="Calibri"/>
                      </a:endParaRP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500" b="1" i="1" u="none" strike="noStrike" dirty="0">
                          <a:solidFill>
                            <a:srgbClr val="000000"/>
                          </a:solidFill>
                          <a:latin typeface="Calibri"/>
                        </a:rPr>
                        <a:t>Score              (1 - 5 scale)</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500" b="1" i="1" u="none" strike="noStrike" dirty="0">
                          <a:solidFill>
                            <a:srgbClr val="000000"/>
                          </a:solidFill>
                          <a:latin typeface="Calibri"/>
                        </a:rPr>
                        <a:t>Weighted Score</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500" b="1" i="1" u="none" strike="noStrike" dirty="0">
                          <a:solidFill>
                            <a:srgbClr val="000000"/>
                          </a:solidFill>
                          <a:latin typeface="Calibri"/>
                        </a:rPr>
                        <a:t>Subtotal</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190481">
                <a:tc gridSpan="2">
                  <a:txBody>
                    <a:bodyPr/>
                    <a:lstStyle/>
                    <a:p>
                      <a:pPr marL="91440" algn="l" fontAlgn="ctr"/>
                      <a:r>
                        <a:rPr lang="en-US" sz="1100" b="1" i="1" u="none" strike="noStrike" dirty="0">
                          <a:solidFill>
                            <a:srgbClr val="000000"/>
                          </a:solidFill>
                          <a:latin typeface="Calibri"/>
                        </a:rPr>
                        <a:t>Quality Systems</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hMerge="1">
                  <a:txBody>
                    <a:bodyPr/>
                    <a:lstStyle/>
                    <a:p>
                      <a:pPr algn="l" fontAlgn="ctr"/>
                      <a:endParaRPr lang="en-US" sz="600" b="1" i="0" u="none" strike="noStrike" dirty="0">
                        <a:solidFill>
                          <a:srgbClr val="000000"/>
                        </a:solidFill>
                        <a:latin typeface="Calibri"/>
                      </a:endParaRPr>
                    </a:p>
                  </a:txBody>
                  <a:tcPr marL="5604" marR="5604" marT="5604"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ctr"/>
                      <a:r>
                        <a:rPr lang="en-US" sz="1100" b="1" i="0" u="none" strike="noStrike" dirty="0">
                          <a:solidFill>
                            <a:srgbClr val="000000"/>
                          </a:solidFill>
                          <a:latin typeface="Calibri"/>
                        </a:rPr>
                        <a:t>20</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r>
                        <a:rPr lang="en-US" sz="1100" b="1" i="0" u="none" strike="noStrike" dirty="0">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r>
                        <a:rPr lang="en-US" sz="1100" b="1" i="0" u="none" strike="noStrike" dirty="0">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r>
                        <a:rPr lang="en-US" sz="1100" b="1" i="0" u="none" strike="noStrike" dirty="0">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r>
                        <a:rPr lang="en-US" sz="1100" b="1" i="0" u="none" strike="noStrike" dirty="0">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10001"/>
                  </a:ext>
                </a:extLst>
              </a:tr>
              <a:tr h="174915">
                <a:tc>
                  <a:txBody>
                    <a:bodyPr/>
                    <a:lstStyle/>
                    <a:p>
                      <a:pPr algn="l" fontAlgn="ctr"/>
                      <a:r>
                        <a:rPr lang="en-US" sz="1100" b="1" i="0" u="none" strike="noStrike" dirty="0">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a:noFill/>
                    </a:lnR>
                    <a:lnT>
                      <a:noFill/>
                    </a:lnT>
                    <a:lnB>
                      <a:noFill/>
                    </a:lnB>
                    <a:solidFill>
                      <a:schemeClr val="bg1"/>
                    </a:solidFill>
                  </a:tcPr>
                </a:tc>
                <a:tc>
                  <a:txBody>
                    <a:bodyPr/>
                    <a:lstStyle/>
                    <a:p>
                      <a:pPr algn="l" fontAlgn="ctr"/>
                      <a:r>
                        <a:rPr lang="en-US" sz="1100" b="1" i="0" u="none" strike="noStrike" dirty="0">
                          <a:solidFill>
                            <a:srgbClr val="000000"/>
                          </a:solidFill>
                          <a:latin typeface="Calibri"/>
                        </a:rPr>
                        <a:t>Process control systems</a:t>
                      </a:r>
                    </a:p>
                  </a:txBody>
                  <a:tcPr marL="5604" marR="5604" marT="5604"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dirty="0">
                          <a:solidFill>
                            <a:srgbClr val="000000"/>
                          </a:solidFill>
                          <a:latin typeface="Calibri"/>
                        </a:rPr>
                        <a:t>5</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dirty="0">
                          <a:solidFill>
                            <a:srgbClr val="000000"/>
                          </a:solidFill>
                          <a:latin typeface="Calibri"/>
                        </a:rPr>
                        <a:t>4</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dirty="0">
                          <a:solidFill>
                            <a:srgbClr val="000000"/>
                          </a:solidFill>
                          <a:latin typeface="Calibri"/>
                        </a:rPr>
                        <a:t>4.0</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dirty="0">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10002"/>
                  </a:ext>
                </a:extLst>
              </a:tr>
              <a:tr h="174915">
                <a:tc>
                  <a:txBody>
                    <a:bodyPr/>
                    <a:lstStyle/>
                    <a:p>
                      <a:pPr algn="l" fontAlgn="ctr"/>
                      <a:r>
                        <a:rPr lang="en-US" sz="1100" b="1" i="0" u="none" strike="noStrike" dirty="0">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a:noFill/>
                    </a:lnR>
                    <a:lnT>
                      <a:noFill/>
                    </a:lnT>
                    <a:lnB>
                      <a:noFill/>
                    </a:lnB>
                    <a:solidFill>
                      <a:schemeClr val="bg1"/>
                    </a:solidFill>
                  </a:tcPr>
                </a:tc>
                <a:tc>
                  <a:txBody>
                    <a:bodyPr/>
                    <a:lstStyle/>
                    <a:p>
                      <a:pPr algn="l" fontAlgn="ctr"/>
                      <a:r>
                        <a:rPr lang="en-US" sz="1100" b="1" i="0" u="none" strike="noStrike" dirty="0">
                          <a:solidFill>
                            <a:srgbClr val="000000"/>
                          </a:solidFill>
                          <a:latin typeface="Calibri"/>
                        </a:rPr>
                        <a:t>Total quality commitment</a:t>
                      </a:r>
                    </a:p>
                  </a:txBody>
                  <a:tcPr marL="5604" marR="5604" marT="5604"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dirty="0">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dirty="0">
                          <a:solidFill>
                            <a:srgbClr val="000000"/>
                          </a:solidFill>
                          <a:latin typeface="Calibri"/>
                        </a:rPr>
                        <a:t>8</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dirty="0">
                          <a:solidFill>
                            <a:srgbClr val="000000"/>
                          </a:solidFill>
                          <a:latin typeface="Calibri"/>
                        </a:rPr>
                        <a:t>4</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dirty="0">
                          <a:solidFill>
                            <a:srgbClr val="000000"/>
                          </a:solidFill>
                          <a:latin typeface="Calibri"/>
                        </a:rPr>
                        <a:t>6.4</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dirty="0">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10003"/>
                  </a:ext>
                </a:extLst>
              </a:tr>
              <a:tr h="174915">
                <a:tc>
                  <a:txBody>
                    <a:bodyPr/>
                    <a:lstStyle/>
                    <a:p>
                      <a:pPr algn="l" fontAlgn="ctr"/>
                      <a:r>
                        <a:rPr lang="en-US" sz="1100" b="1" i="0" u="none" strike="noStrike" dirty="0">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100" b="1" i="0" u="none" strike="noStrike" dirty="0">
                          <a:solidFill>
                            <a:srgbClr val="000000"/>
                          </a:solidFill>
                          <a:latin typeface="Calibri"/>
                        </a:rPr>
                        <a:t>PPM defect performance</a:t>
                      </a:r>
                    </a:p>
                  </a:txBody>
                  <a:tcPr marL="5604" marR="5604" marT="5604"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dirty="0">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0000"/>
                          </a:solidFill>
                          <a:latin typeface="Calibri"/>
                        </a:rPr>
                        <a:t>7</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dirty="0">
                          <a:solidFill>
                            <a:srgbClr val="000000"/>
                          </a:solidFill>
                          <a:latin typeface="Calibri"/>
                        </a:rPr>
                        <a:t>5</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dirty="0">
                          <a:solidFill>
                            <a:srgbClr val="000000"/>
                          </a:solidFill>
                          <a:latin typeface="Calibri"/>
                        </a:rPr>
                        <a:t>7.0</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dirty="0">
                          <a:solidFill>
                            <a:srgbClr val="000000"/>
                          </a:solidFill>
                          <a:latin typeface="Calibri"/>
                        </a:rPr>
                        <a:t>17.4</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190481">
                <a:tc gridSpan="2">
                  <a:txBody>
                    <a:bodyPr/>
                    <a:lstStyle/>
                    <a:p>
                      <a:pPr marL="91440" algn="l" fontAlgn="ctr"/>
                      <a:r>
                        <a:rPr lang="en-US" sz="1100" b="1" i="1" u="none" strike="noStrike" dirty="0">
                          <a:solidFill>
                            <a:srgbClr val="000000"/>
                          </a:solidFill>
                          <a:latin typeface="Calibri"/>
                        </a:rPr>
                        <a:t>Management Capability</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hMerge="1">
                  <a:txBody>
                    <a:bodyPr/>
                    <a:lstStyle/>
                    <a:p>
                      <a:endParaRPr lang="en-US"/>
                    </a:p>
                  </a:txBody>
                  <a:tcPr/>
                </a:tc>
                <a:tc>
                  <a:txBody>
                    <a:bodyPr/>
                    <a:lstStyle/>
                    <a:p>
                      <a:pPr algn="ctr" fontAlgn="ctr"/>
                      <a:r>
                        <a:rPr lang="en-US" sz="1100" b="1" i="0" u="none" strike="noStrike" dirty="0">
                          <a:solidFill>
                            <a:srgbClr val="000000"/>
                          </a:solidFill>
                          <a:latin typeface="Calibri"/>
                        </a:rPr>
                        <a:t>10</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r>
                        <a:rPr lang="en-US" sz="1100" b="1" i="0" u="none" strike="noStrike" dirty="0">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r>
                        <a:rPr lang="en-US" sz="1100" b="1" i="0" u="none" strike="noStrike">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r>
                        <a:rPr lang="en-US" sz="1100" b="1" i="0" u="none" strike="noStrike">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r>
                        <a:rPr lang="en-US" sz="1100" b="1" i="0" u="none" strike="noStrike" dirty="0">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10005"/>
                  </a:ext>
                </a:extLst>
              </a:tr>
              <a:tr h="174915">
                <a:tc>
                  <a:txBody>
                    <a:bodyPr/>
                    <a:lstStyle/>
                    <a:p>
                      <a:pPr algn="l" fontAlgn="ctr"/>
                      <a:r>
                        <a:rPr lang="en-US" sz="1100" b="1" i="0" u="none" strike="noStrike" dirty="0">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a:noFill/>
                    </a:lnR>
                    <a:lnT>
                      <a:noFill/>
                    </a:lnT>
                    <a:lnB>
                      <a:noFill/>
                    </a:lnB>
                    <a:solidFill>
                      <a:schemeClr val="bg1"/>
                    </a:solidFill>
                  </a:tcPr>
                </a:tc>
                <a:tc>
                  <a:txBody>
                    <a:bodyPr/>
                    <a:lstStyle/>
                    <a:p>
                      <a:pPr algn="l" fontAlgn="ctr"/>
                      <a:r>
                        <a:rPr lang="en-US" sz="1100" b="1" i="0" u="none" strike="noStrike">
                          <a:solidFill>
                            <a:srgbClr val="000000"/>
                          </a:solidFill>
                          <a:latin typeface="Calibri"/>
                        </a:rPr>
                        <a:t>Management/labor relations</a:t>
                      </a:r>
                    </a:p>
                  </a:txBody>
                  <a:tcPr marL="5604" marR="5604" marT="5604"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dirty="0">
                          <a:solidFill>
                            <a:srgbClr val="000000"/>
                          </a:solidFill>
                          <a:latin typeface="Calibri"/>
                        </a:rPr>
                        <a:t>5</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dirty="0">
                          <a:solidFill>
                            <a:srgbClr val="000000"/>
                          </a:solidFill>
                          <a:latin typeface="Calibri"/>
                        </a:rPr>
                        <a:t>4</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a:solidFill>
                            <a:srgbClr val="000000"/>
                          </a:solidFill>
                          <a:latin typeface="Calibri"/>
                        </a:rPr>
                        <a:t>4.0</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dirty="0">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10006"/>
                  </a:ext>
                </a:extLst>
              </a:tr>
              <a:tr h="174915">
                <a:tc>
                  <a:txBody>
                    <a:bodyPr/>
                    <a:lstStyle/>
                    <a:p>
                      <a:pPr algn="l" fontAlgn="ctr"/>
                      <a:r>
                        <a:rPr lang="en-US" sz="1100" b="1" i="0" u="none" strike="noStrike" dirty="0">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100" b="1" i="0" u="none" strike="noStrike">
                          <a:solidFill>
                            <a:srgbClr val="000000"/>
                          </a:solidFill>
                          <a:latin typeface="Calibri"/>
                        </a:rPr>
                        <a:t>Management capability</a:t>
                      </a:r>
                    </a:p>
                  </a:txBody>
                  <a:tcPr marL="5604" marR="5604" marT="5604"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0000"/>
                          </a:solidFill>
                          <a:latin typeface="Calibri"/>
                        </a:rPr>
                        <a:t>5</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dirty="0">
                          <a:solidFill>
                            <a:srgbClr val="000000"/>
                          </a:solidFill>
                          <a:latin typeface="Calibri"/>
                        </a:rPr>
                        <a:t>4</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0000"/>
                          </a:solidFill>
                          <a:latin typeface="Calibri"/>
                        </a:rPr>
                        <a:t>4.0</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dirty="0">
                          <a:solidFill>
                            <a:srgbClr val="000000"/>
                          </a:solidFill>
                          <a:latin typeface="Calibri"/>
                        </a:rPr>
                        <a:t>8.0</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190481">
                <a:tc gridSpan="2">
                  <a:txBody>
                    <a:bodyPr/>
                    <a:lstStyle/>
                    <a:p>
                      <a:pPr marL="91440" algn="l" fontAlgn="ctr"/>
                      <a:r>
                        <a:rPr lang="en-US" sz="1100" b="1" i="1" u="none" strike="noStrike" dirty="0">
                          <a:solidFill>
                            <a:srgbClr val="000000"/>
                          </a:solidFill>
                          <a:latin typeface="Calibri"/>
                        </a:rPr>
                        <a:t>Financial Condition</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hMerge="1">
                  <a:txBody>
                    <a:bodyPr/>
                    <a:lstStyle/>
                    <a:p>
                      <a:endParaRPr lang="en-US"/>
                    </a:p>
                  </a:txBody>
                  <a:tcPr/>
                </a:tc>
                <a:tc>
                  <a:txBody>
                    <a:bodyPr/>
                    <a:lstStyle/>
                    <a:p>
                      <a:pPr algn="ctr" fontAlgn="ctr"/>
                      <a:r>
                        <a:rPr lang="en-US" sz="1100" b="1" i="0" u="none" strike="noStrike">
                          <a:solidFill>
                            <a:srgbClr val="000000"/>
                          </a:solidFill>
                          <a:latin typeface="Calibri"/>
                        </a:rPr>
                        <a:t>10</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r>
                        <a:rPr lang="en-US" sz="1100" b="1" i="0" u="none" strike="noStrike">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r>
                        <a:rPr lang="en-US" sz="1100" b="1" i="0" u="none" strike="noStrike" dirty="0">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r>
                        <a:rPr lang="en-US" sz="1100" b="1" i="0" u="none" strike="noStrike" dirty="0">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r>
                        <a:rPr lang="en-US" sz="1100" b="1" i="0" u="none" strike="noStrike" dirty="0">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10008"/>
                  </a:ext>
                </a:extLst>
              </a:tr>
              <a:tr h="174915">
                <a:tc>
                  <a:txBody>
                    <a:bodyPr/>
                    <a:lstStyle/>
                    <a:p>
                      <a:pPr algn="l" fontAlgn="ctr"/>
                      <a:r>
                        <a:rPr lang="en-US" sz="1100" b="1" i="0" u="none" strike="noStrike" dirty="0">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a:noFill/>
                    </a:lnR>
                    <a:lnT>
                      <a:noFill/>
                    </a:lnT>
                    <a:lnB>
                      <a:noFill/>
                    </a:lnB>
                    <a:solidFill>
                      <a:schemeClr val="bg1"/>
                    </a:solidFill>
                  </a:tcPr>
                </a:tc>
                <a:tc>
                  <a:txBody>
                    <a:bodyPr/>
                    <a:lstStyle/>
                    <a:p>
                      <a:pPr algn="l" fontAlgn="ctr"/>
                      <a:r>
                        <a:rPr lang="en-US" sz="1100" b="1" i="0" u="none" strike="noStrike" dirty="0">
                          <a:solidFill>
                            <a:srgbClr val="000000"/>
                          </a:solidFill>
                          <a:latin typeface="Calibri"/>
                        </a:rPr>
                        <a:t>Debt structure</a:t>
                      </a:r>
                    </a:p>
                  </a:txBody>
                  <a:tcPr marL="5604" marR="5604" marT="5604"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a:solidFill>
                            <a:srgbClr val="000000"/>
                          </a:solidFill>
                          <a:latin typeface="Calibri"/>
                        </a:rPr>
                        <a:t>5</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a:solidFill>
                            <a:srgbClr val="000000"/>
                          </a:solidFill>
                          <a:latin typeface="Calibri"/>
                        </a:rPr>
                        <a:t>3</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dirty="0">
                          <a:solidFill>
                            <a:srgbClr val="000000"/>
                          </a:solidFill>
                          <a:latin typeface="Calibri"/>
                        </a:rPr>
                        <a:t>3.0</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dirty="0">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10009"/>
                  </a:ext>
                </a:extLst>
              </a:tr>
              <a:tr h="174915">
                <a:tc>
                  <a:txBody>
                    <a:bodyPr/>
                    <a:lstStyle/>
                    <a:p>
                      <a:pPr algn="l" fontAlgn="ctr"/>
                      <a:r>
                        <a:rPr lang="en-US" sz="1100" b="1" i="0" u="none" strike="noStrike" dirty="0">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100" b="1" i="0" u="none" strike="noStrike">
                          <a:solidFill>
                            <a:srgbClr val="000000"/>
                          </a:solidFill>
                          <a:latin typeface="Calibri"/>
                        </a:rPr>
                        <a:t>Turnover ratios</a:t>
                      </a:r>
                    </a:p>
                  </a:txBody>
                  <a:tcPr marL="5604" marR="5604" marT="5604"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0000"/>
                          </a:solidFill>
                          <a:latin typeface="Calibri"/>
                        </a:rPr>
                        <a:t>5</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0000"/>
                          </a:solidFill>
                          <a:latin typeface="Calibri"/>
                        </a:rPr>
                        <a:t>4</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dirty="0">
                          <a:solidFill>
                            <a:srgbClr val="000000"/>
                          </a:solidFill>
                          <a:latin typeface="Calibri"/>
                        </a:rPr>
                        <a:t>4.0</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dirty="0">
                          <a:solidFill>
                            <a:srgbClr val="000000"/>
                          </a:solidFill>
                          <a:latin typeface="Calibri"/>
                        </a:rPr>
                        <a:t>7.0</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r h="190481">
                <a:tc gridSpan="2">
                  <a:txBody>
                    <a:bodyPr/>
                    <a:lstStyle/>
                    <a:p>
                      <a:pPr marL="91440" algn="l" fontAlgn="ctr"/>
                      <a:r>
                        <a:rPr lang="en-US" sz="1100" b="1" i="1" u="none" strike="noStrike" dirty="0">
                          <a:solidFill>
                            <a:srgbClr val="000000"/>
                          </a:solidFill>
                          <a:latin typeface="Calibri"/>
                        </a:rPr>
                        <a:t>Cost Structure</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hMerge="1">
                  <a:txBody>
                    <a:bodyPr/>
                    <a:lstStyle/>
                    <a:p>
                      <a:endParaRPr lang="en-US"/>
                    </a:p>
                  </a:txBody>
                  <a:tcPr/>
                </a:tc>
                <a:tc>
                  <a:txBody>
                    <a:bodyPr/>
                    <a:lstStyle/>
                    <a:p>
                      <a:pPr algn="ctr" fontAlgn="ctr"/>
                      <a:r>
                        <a:rPr lang="en-US" sz="1100" b="1" i="0" u="none" strike="noStrike">
                          <a:solidFill>
                            <a:srgbClr val="000000"/>
                          </a:solidFill>
                          <a:latin typeface="Calibri"/>
                        </a:rPr>
                        <a:t>15</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r>
                        <a:rPr lang="en-US" sz="1100" b="1" i="0" u="none" strike="noStrike">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r>
                        <a:rPr lang="en-US" sz="1100" b="1" i="0" u="none" strike="noStrike">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r>
                        <a:rPr lang="en-US" sz="1100" b="1" i="0" u="none" strike="noStrike" dirty="0">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r>
                        <a:rPr lang="en-US" sz="1100" b="1" i="0" u="none" strike="noStrike" dirty="0">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10011"/>
                  </a:ext>
                </a:extLst>
              </a:tr>
              <a:tr h="174915">
                <a:tc>
                  <a:txBody>
                    <a:bodyPr/>
                    <a:lstStyle/>
                    <a:p>
                      <a:pPr algn="l" fontAlgn="ctr"/>
                      <a:r>
                        <a:rPr lang="en-US" sz="1100" b="1" i="0" u="none" strike="noStrike" dirty="0">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a:noFill/>
                    </a:lnR>
                    <a:lnT>
                      <a:noFill/>
                    </a:lnT>
                    <a:lnB>
                      <a:noFill/>
                    </a:lnB>
                    <a:solidFill>
                      <a:schemeClr val="bg1"/>
                    </a:solidFill>
                  </a:tcPr>
                </a:tc>
                <a:tc>
                  <a:txBody>
                    <a:bodyPr/>
                    <a:lstStyle/>
                    <a:p>
                      <a:pPr algn="l" fontAlgn="ctr"/>
                      <a:r>
                        <a:rPr lang="en-US" sz="1100" b="1" i="0" u="none" strike="noStrike" dirty="0">
                          <a:solidFill>
                            <a:srgbClr val="000000"/>
                          </a:solidFill>
                          <a:latin typeface="Calibri"/>
                        </a:rPr>
                        <a:t>Costs relative to industry</a:t>
                      </a:r>
                    </a:p>
                  </a:txBody>
                  <a:tcPr marL="5604" marR="5604" marT="5604"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a:solidFill>
                            <a:srgbClr val="000000"/>
                          </a:solidFill>
                          <a:latin typeface="Calibri"/>
                        </a:rPr>
                        <a:t>5</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a:solidFill>
                            <a:srgbClr val="000000"/>
                          </a:solidFill>
                          <a:latin typeface="Calibri"/>
                        </a:rPr>
                        <a:t>5</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dirty="0">
                          <a:solidFill>
                            <a:srgbClr val="000000"/>
                          </a:solidFill>
                          <a:latin typeface="Calibri"/>
                        </a:rPr>
                        <a:t>5.0</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dirty="0">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10012"/>
                  </a:ext>
                </a:extLst>
              </a:tr>
              <a:tr h="174915">
                <a:tc>
                  <a:txBody>
                    <a:bodyPr/>
                    <a:lstStyle/>
                    <a:p>
                      <a:pPr algn="l" fontAlgn="ctr"/>
                      <a:r>
                        <a:rPr lang="en-US" sz="1100" b="1" i="0" u="none" strike="noStrike">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a:noFill/>
                    </a:lnR>
                    <a:lnT>
                      <a:noFill/>
                    </a:lnT>
                    <a:lnB>
                      <a:noFill/>
                    </a:lnB>
                    <a:solidFill>
                      <a:schemeClr val="bg1"/>
                    </a:solidFill>
                  </a:tcPr>
                </a:tc>
                <a:tc>
                  <a:txBody>
                    <a:bodyPr/>
                    <a:lstStyle/>
                    <a:p>
                      <a:pPr algn="l" fontAlgn="ctr"/>
                      <a:r>
                        <a:rPr lang="en-US" sz="1100" b="1" i="0" u="none" strike="noStrike" dirty="0">
                          <a:solidFill>
                            <a:srgbClr val="000000"/>
                          </a:solidFill>
                          <a:latin typeface="Calibri"/>
                        </a:rPr>
                        <a:t>Understanding of costs</a:t>
                      </a:r>
                    </a:p>
                  </a:txBody>
                  <a:tcPr marL="5604" marR="5604" marT="5604"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a:solidFill>
                            <a:srgbClr val="000000"/>
                          </a:solidFill>
                          <a:latin typeface="Calibri"/>
                        </a:rPr>
                        <a:t>5</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a:solidFill>
                            <a:srgbClr val="000000"/>
                          </a:solidFill>
                          <a:latin typeface="Calibri"/>
                        </a:rPr>
                        <a:t>4</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dirty="0">
                          <a:solidFill>
                            <a:srgbClr val="000000"/>
                          </a:solidFill>
                          <a:latin typeface="Calibri"/>
                        </a:rPr>
                        <a:t>4.0</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dirty="0">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10013"/>
                  </a:ext>
                </a:extLst>
              </a:tr>
              <a:tr h="174915">
                <a:tc>
                  <a:txBody>
                    <a:bodyPr/>
                    <a:lstStyle/>
                    <a:p>
                      <a:pPr algn="l" fontAlgn="ctr"/>
                      <a:r>
                        <a:rPr lang="en-US" sz="1100" b="1" i="0" u="none" strike="noStrike" dirty="0">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100" b="1" i="0" u="none" strike="noStrike" dirty="0">
                          <a:solidFill>
                            <a:srgbClr val="000000"/>
                          </a:solidFill>
                          <a:latin typeface="Calibri"/>
                        </a:rPr>
                        <a:t>Cost control/reduction efforts</a:t>
                      </a:r>
                    </a:p>
                  </a:txBody>
                  <a:tcPr marL="5604" marR="5604" marT="5604"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0000"/>
                          </a:solidFill>
                          <a:latin typeface="Calibri"/>
                        </a:rPr>
                        <a:t>5</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0000"/>
                          </a:solidFill>
                          <a:latin typeface="Calibri"/>
                        </a:rPr>
                        <a:t>5</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dirty="0">
                          <a:solidFill>
                            <a:srgbClr val="000000"/>
                          </a:solidFill>
                          <a:latin typeface="Calibri"/>
                        </a:rPr>
                        <a:t>5.0</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dirty="0">
                          <a:solidFill>
                            <a:srgbClr val="000000"/>
                          </a:solidFill>
                          <a:latin typeface="Calibri"/>
                        </a:rPr>
                        <a:t>14.0</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14"/>
                  </a:ext>
                </a:extLst>
              </a:tr>
              <a:tr h="190481">
                <a:tc gridSpan="2">
                  <a:txBody>
                    <a:bodyPr/>
                    <a:lstStyle/>
                    <a:p>
                      <a:pPr marL="91440" algn="l" fontAlgn="ctr"/>
                      <a:r>
                        <a:rPr lang="en-US" sz="1100" b="1" i="1" u="none" strike="noStrike" dirty="0">
                          <a:solidFill>
                            <a:srgbClr val="000000"/>
                          </a:solidFill>
                          <a:latin typeface="Calibri"/>
                        </a:rPr>
                        <a:t>Delivery Performance</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hMerge="1">
                  <a:txBody>
                    <a:bodyPr/>
                    <a:lstStyle/>
                    <a:p>
                      <a:endParaRPr lang="en-US"/>
                    </a:p>
                  </a:txBody>
                  <a:tcPr/>
                </a:tc>
                <a:tc>
                  <a:txBody>
                    <a:bodyPr/>
                    <a:lstStyle/>
                    <a:p>
                      <a:pPr algn="ctr" fontAlgn="ctr"/>
                      <a:r>
                        <a:rPr lang="en-US" sz="1100" b="1" i="0" u="none" strike="noStrike">
                          <a:solidFill>
                            <a:srgbClr val="000000"/>
                          </a:solidFill>
                          <a:latin typeface="Calibri"/>
                        </a:rPr>
                        <a:t>15</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r>
                        <a:rPr lang="en-US" sz="1100" b="1" i="0" u="none" strike="noStrike">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r>
                        <a:rPr lang="en-US" sz="1100" b="1" i="0" u="none" strike="noStrike">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r>
                        <a:rPr lang="en-US" sz="1100" b="1" i="0" u="none" strike="noStrike">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r>
                        <a:rPr lang="en-US" sz="1100" b="1" i="0" u="none" strike="noStrike" dirty="0">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10015"/>
                  </a:ext>
                </a:extLst>
              </a:tr>
              <a:tr h="174915">
                <a:tc>
                  <a:txBody>
                    <a:bodyPr/>
                    <a:lstStyle/>
                    <a:p>
                      <a:pPr algn="l" fontAlgn="ctr"/>
                      <a:r>
                        <a:rPr lang="en-US" sz="1100" b="1" i="0" u="none" strike="noStrike" dirty="0">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a:noFill/>
                    </a:lnR>
                    <a:lnT>
                      <a:noFill/>
                    </a:lnT>
                    <a:lnB>
                      <a:noFill/>
                    </a:lnB>
                    <a:solidFill>
                      <a:schemeClr val="bg1"/>
                    </a:solidFill>
                  </a:tcPr>
                </a:tc>
                <a:tc>
                  <a:txBody>
                    <a:bodyPr/>
                    <a:lstStyle/>
                    <a:p>
                      <a:pPr algn="l" fontAlgn="ctr"/>
                      <a:r>
                        <a:rPr lang="en-US" sz="1100" b="1" i="0" u="none" strike="noStrike">
                          <a:solidFill>
                            <a:srgbClr val="000000"/>
                          </a:solidFill>
                          <a:latin typeface="Calibri"/>
                        </a:rPr>
                        <a:t>Performance to promise</a:t>
                      </a:r>
                    </a:p>
                  </a:txBody>
                  <a:tcPr marL="5604" marR="5604" marT="5604"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a:solidFill>
                            <a:srgbClr val="000000"/>
                          </a:solidFill>
                          <a:latin typeface="Calibri"/>
                        </a:rPr>
                        <a:t>5</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a:solidFill>
                            <a:srgbClr val="000000"/>
                          </a:solidFill>
                          <a:latin typeface="Calibri"/>
                        </a:rPr>
                        <a:t>3</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a:solidFill>
                            <a:srgbClr val="000000"/>
                          </a:solidFill>
                          <a:latin typeface="Calibri"/>
                        </a:rPr>
                        <a:t>3.0</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dirty="0">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10016"/>
                  </a:ext>
                </a:extLst>
              </a:tr>
              <a:tr h="174915">
                <a:tc>
                  <a:txBody>
                    <a:bodyPr/>
                    <a:lstStyle/>
                    <a:p>
                      <a:pPr algn="l" fontAlgn="ctr"/>
                      <a:r>
                        <a:rPr lang="en-US" sz="1100" b="1" i="0" u="none" strike="noStrike" dirty="0">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a:noFill/>
                    </a:lnR>
                    <a:lnT>
                      <a:noFill/>
                    </a:lnT>
                    <a:lnB>
                      <a:noFill/>
                    </a:lnB>
                    <a:solidFill>
                      <a:schemeClr val="bg1"/>
                    </a:solidFill>
                  </a:tcPr>
                </a:tc>
                <a:tc>
                  <a:txBody>
                    <a:bodyPr/>
                    <a:lstStyle/>
                    <a:p>
                      <a:pPr algn="l" fontAlgn="ctr"/>
                      <a:r>
                        <a:rPr lang="en-US" sz="1100" b="1" i="0" u="none" strike="noStrike">
                          <a:solidFill>
                            <a:srgbClr val="000000"/>
                          </a:solidFill>
                          <a:latin typeface="Calibri"/>
                        </a:rPr>
                        <a:t>Lead-time requirements</a:t>
                      </a:r>
                    </a:p>
                  </a:txBody>
                  <a:tcPr marL="5604" marR="5604" marT="5604"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a:solidFill>
                            <a:srgbClr val="000000"/>
                          </a:solidFill>
                          <a:latin typeface="Calibri"/>
                        </a:rPr>
                        <a:t>5</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a:solidFill>
                            <a:srgbClr val="000000"/>
                          </a:solidFill>
                          <a:latin typeface="Calibri"/>
                        </a:rPr>
                        <a:t>3</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a:solidFill>
                            <a:srgbClr val="000000"/>
                          </a:solidFill>
                          <a:latin typeface="Calibri"/>
                        </a:rPr>
                        <a:t>3.0</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dirty="0">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10017"/>
                  </a:ext>
                </a:extLst>
              </a:tr>
              <a:tr h="174915">
                <a:tc>
                  <a:txBody>
                    <a:bodyPr/>
                    <a:lstStyle/>
                    <a:p>
                      <a:pPr algn="l" fontAlgn="ctr"/>
                      <a:r>
                        <a:rPr lang="en-US" sz="1100" b="1" i="0" u="none" strike="noStrike" dirty="0">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100" b="1" i="0" u="none" strike="noStrike">
                          <a:solidFill>
                            <a:srgbClr val="000000"/>
                          </a:solidFill>
                          <a:latin typeface="Calibri"/>
                        </a:rPr>
                        <a:t>Responsiveness</a:t>
                      </a:r>
                    </a:p>
                  </a:txBody>
                  <a:tcPr marL="5604" marR="5604" marT="5604"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0000"/>
                          </a:solidFill>
                          <a:latin typeface="Calibri"/>
                        </a:rPr>
                        <a:t>5</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0000"/>
                          </a:solidFill>
                          <a:latin typeface="Calibri"/>
                        </a:rPr>
                        <a:t>3</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0000"/>
                          </a:solidFill>
                          <a:latin typeface="Calibri"/>
                        </a:rPr>
                        <a:t>3.0</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dirty="0">
                          <a:solidFill>
                            <a:srgbClr val="000000"/>
                          </a:solidFill>
                          <a:latin typeface="Calibri"/>
                        </a:rPr>
                        <a:t>9.0</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18"/>
                  </a:ext>
                </a:extLst>
              </a:tr>
              <a:tr h="190481">
                <a:tc gridSpan="2">
                  <a:txBody>
                    <a:bodyPr/>
                    <a:lstStyle/>
                    <a:p>
                      <a:pPr marL="91440" algn="l" fontAlgn="ctr"/>
                      <a:r>
                        <a:rPr lang="en-US" sz="1100" b="1" i="1" u="none" strike="noStrike" dirty="0">
                          <a:solidFill>
                            <a:srgbClr val="000000"/>
                          </a:solidFill>
                          <a:latin typeface="Calibri"/>
                        </a:rPr>
                        <a:t>Technical/Process Capability</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hMerge="1">
                  <a:txBody>
                    <a:bodyPr/>
                    <a:lstStyle/>
                    <a:p>
                      <a:endParaRPr lang="en-US"/>
                    </a:p>
                  </a:txBody>
                  <a:tcPr/>
                </a:tc>
                <a:tc>
                  <a:txBody>
                    <a:bodyPr/>
                    <a:lstStyle/>
                    <a:p>
                      <a:pPr algn="ctr" fontAlgn="ctr"/>
                      <a:r>
                        <a:rPr lang="en-US" sz="1100" b="1" i="0" u="none" strike="noStrike">
                          <a:solidFill>
                            <a:srgbClr val="000000"/>
                          </a:solidFill>
                          <a:latin typeface="Calibri"/>
                        </a:rPr>
                        <a:t>15</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r>
                        <a:rPr lang="en-US" sz="1100" b="1" i="0" u="none" strike="noStrike">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r>
                        <a:rPr lang="en-US" sz="1100" b="1" i="0" u="none" strike="noStrike">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r>
                        <a:rPr lang="en-US" sz="1100" b="1" i="0" u="none" strike="noStrike">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r>
                        <a:rPr lang="en-US" sz="1100" b="1" i="0" u="none" strike="noStrike" dirty="0">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10019"/>
                  </a:ext>
                </a:extLst>
              </a:tr>
              <a:tr h="174915">
                <a:tc>
                  <a:txBody>
                    <a:bodyPr/>
                    <a:lstStyle/>
                    <a:p>
                      <a:pPr algn="l" fontAlgn="ctr"/>
                      <a:r>
                        <a:rPr lang="en-US" sz="1100" b="1" i="0" u="none" strike="noStrike" dirty="0">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a:noFill/>
                    </a:lnR>
                    <a:lnT>
                      <a:noFill/>
                    </a:lnT>
                    <a:lnB>
                      <a:noFill/>
                    </a:lnB>
                    <a:solidFill>
                      <a:schemeClr val="bg1"/>
                    </a:solidFill>
                  </a:tcPr>
                </a:tc>
                <a:tc>
                  <a:txBody>
                    <a:bodyPr/>
                    <a:lstStyle/>
                    <a:p>
                      <a:pPr algn="l" fontAlgn="ctr"/>
                      <a:r>
                        <a:rPr lang="en-US" sz="1100" b="1" i="0" u="none" strike="noStrike">
                          <a:solidFill>
                            <a:srgbClr val="000000"/>
                          </a:solidFill>
                          <a:latin typeface="Calibri"/>
                        </a:rPr>
                        <a:t>Product innovation</a:t>
                      </a:r>
                    </a:p>
                  </a:txBody>
                  <a:tcPr marL="5604" marR="5604" marT="5604"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a:solidFill>
                            <a:srgbClr val="000000"/>
                          </a:solidFill>
                          <a:latin typeface="Calibri"/>
                        </a:rPr>
                        <a:t>5</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a:solidFill>
                            <a:srgbClr val="000000"/>
                          </a:solidFill>
                          <a:latin typeface="Calibri"/>
                        </a:rPr>
                        <a:t>4</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a:solidFill>
                            <a:srgbClr val="000000"/>
                          </a:solidFill>
                          <a:latin typeface="Calibri"/>
                        </a:rPr>
                        <a:t>4.0</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dirty="0">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10020"/>
                  </a:ext>
                </a:extLst>
              </a:tr>
              <a:tr h="174915">
                <a:tc>
                  <a:txBody>
                    <a:bodyPr/>
                    <a:lstStyle/>
                    <a:p>
                      <a:pPr algn="l" fontAlgn="ctr"/>
                      <a:r>
                        <a:rPr lang="en-US" sz="1100" b="1" i="0" u="none" strike="noStrike" dirty="0">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a:noFill/>
                    </a:lnR>
                    <a:lnT>
                      <a:noFill/>
                    </a:lnT>
                    <a:lnB>
                      <a:noFill/>
                    </a:lnB>
                    <a:solidFill>
                      <a:schemeClr val="bg1"/>
                    </a:solidFill>
                  </a:tcPr>
                </a:tc>
                <a:tc>
                  <a:txBody>
                    <a:bodyPr/>
                    <a:lstStyle/>
                    <a:p>
                      <a:pPr algn="l" fontAlgn="ctr"/>
                      <a:r>
                        <a:rPr lang="en-US" sz="1100" b="1" i="0" u="none" strike="noStrike">
                          <a:solidFill>
                            <a:srgbClr val="000000"/>
                          </a:solidFill>
                          <a:latin typeface="Calibri"/>
                        </a:rPr>
                        <a:t>Process innovation</a:t>
                      </a:r>
                    </a:p>
                  </a:txBody>
                  <a:tcPr marL="5604" marR="5604" marT="5604"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a:solidFill>
                            <a:srgbClr val="000000"/>
                          </a:solidFill>
                          <a:latin typeface="Calibri"/>
                        </a:rPr>
                        <a:t>5</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a:solidFill>
                            <a:srgbClr val="000000"/>
                          </a:solidFill>
                          <a:latin typeface="Calibri"/>
                        </a:rPr>
                        <a:t>5</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a:solidFill>
                            <a:srgbClr val="000000"/>
                          </a:solidFill>
                          <a:latin typeface="Calibri"/>
                        </a:rPr>
                        <a:t>5.0</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dirty="0">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10021"/>
                  </a:ext>
                </a:extLst>
              </a:tr>
              <a:tr h="174915">
                <a:tc>
                  <a:txBody>
                    <a:bodyPr/>
                    <a:lstStyle/>
                    <a:p>
                      <a:pPr algn="l" fontAlgn="ctr"/>
                      <a:r>
                        <a:rPr lang="en-US" sz="1100" b="1" i="0" u="none" strike="noStrike" dirty="0">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100" b="1" i="0" u="none" strike="noStrike" dirty="0">
                          <a:solidFill>
                            <a:srgbClr val="000000"/>
                          </a:solidFill>
                          <a:latin typeface="Calibri"/>
                        </a:rPr>
                        <a:t>research and development</a:t>
                      </a:r>
                    </a:p>
                  </a:txBody>
                  <a:tcPr marL="5604" marR="5604" marT="5604"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0000"/>
                          </a:solidFill>
                          <a:latin typeface="Calibri"/>
                        </a:rPr>
                        <a:t>5</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0000"/>
                          </a:solidFill>
                          <a:latin typeface="Calibri"/>
                        </a:rPr>
                        <a:t>5</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0000"/>
                          </a:solidFill>
                          <a:latin typeface="Calibri"/>
                        </a:rPr>
                        <a:t>5.0</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dirty="0">
                          <a:solidFill>
                            <a:srgbClr val="000000"/>
                          </a:solidFill>
                          <a:latin typeface="Calibri"/>
                        </a:rPr>
                        <a:t>14.0</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22"/>
                  </a:ext>
                </a:extLst>
              </a:tr>
              <a:tr h="190481">
                <a:tc gridSpan="2">
                  <a:txBody>
                    <a:bodyPr/>
                    <a:lstStyle/>
                    <a:p>
                      <a:pPr marL="91440" algn="l" fontAlgn="ctr"/>
                      <a:r>
                        <a:rPr lang="en-US" sz="1100" b="1" i="1" u="none" strike="noStrike" dirty="0">
                          <a:solidFill>
                            <a:srgbClr val="000000"/>
                          </a:solidFill>
                          <a:latin typeface="Calibri"/>
                        </a:rPr>
                        <a:t>Information Systems Capability</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hMerge="1">
                  <a:txBody>
                    <a:bodyPr/>
                    <a:lstStyle/>
                    <a:p>
                      <a:endParaRPr lang="en-US"/>
                    </a:p>
                  </a:txBody>
                  <a:tcPr/>
                </a:tc>
                <a:tc>
                  <a:txBody>
                    <a:bodyPr/>
                    <a:lstStyle/>
                    <a:p>
                      <a:pPr algn="ctr" fontAlgn="ctr"/>
                      <a:r>
                        <a:rPr lang="en-US" sz="1100" b="1" i="0" u="none" strike="noStrike">
                          <a:solidFill>
                            <a:srgbClr val="000000"/>
                          </a:solidFill>
                          <a:latin typeface="Calibri"/>
                        </a:rPr>
                        <a:t>5</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r>
                        <a:rPr lang="en-US" sz="1100" b="1" i="0" u="none" strike="noStrike">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r>
                        <a:rPr lang="en-US" sz="1100" b="1" i="0" u="none" strike="noStrike">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r>
                        <a:rPr lang="en-US" sz="1100" b="1" i="0" u="none" strike="noStrike">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r>
                        <a:rPr lang="en-US" sz="1100" b="1" i="0" u="none" strike="noStrike" dirty="0">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10023"/>
                  </a:ext>
                </a:extLst>
              </a:tr>
              <a:tr h="174915">
                <a:tc>
                  <a:txBody>
                    <a:bodyPr/>
                    <a:lstStyle/>
                    <a:p>
                      <a:pPr algn="l" fontAlgn="ctr"/>
                      <a:r>
                        <a:rPr lang="en-US" sz="1100" b="1" i="0" u="none" strike="noStrike" dirty="0">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a:noFill/>
                    </a:lnR>
                    <a:lnT>
                      <a:noFill/>
                    </a:lnT>
                    <a:lnB>
                      <a:noFill/>
                    </a:lnB>
                    <a:solidFill>
                      <a:schemeClr val="bg1"/>
                    </a:solidFill>
                  </a:tcPr>
                </a:tc>
                <a:tc>
                  <a:txBody>
                    <a:bodyPr/>
                    <a:lstStyle/>
                    <a:p>
                      <a:pPr algn="l" fontAlgn="ctr"/>
                      <a:r>
                        <a:rPr lang="en-US" sz="1100" b="1" i="0" u="none" strike="noStrike" dirty="0">
                          <a:solidFill>
                            <a:srgbClr val="000000"/>
                          </a:solidFill>
                          <a:latin typeface="Calibri"/>
                        </a:rPr>
                        <a:t>EDI capability</a:t>
                      </a:r>
                    </a:p>
                  </a:txBody>
                  <a:tcPr marL="5604" marR="5604" marT="5604"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a:solidFill>
                            <a:srgbClr val="000000"/>
                          </a:solidFill>
                          <a:latin typeface="Calibri"/>
                        </a:rPr>
                        <a:t>3</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a:solidFill>
                            <a:srgbClr val="000000"/>
                          </a:solidFill>
                          <a:latin typeface="Calibri"/>
                        </a:rPr>
                        <a:t>5</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a:solidFill>
                            <a:srgbClr val="000000"/>
                          </a:solidFill>
                          <a:latin typeface="Calibri"/>
                        </a:rPr>
                        <a:t>3.0</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dirty="0">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10024"/>
                  </a:ext>
                </a:extLst>
              </a:tr>
              <a:tr h="174915">
                <a:tc>
                  <a:txBody>
                    <a:bodyPr/>
                    <a:lstStyle/>
                    <a:p>
                      <a:pPr algn="l" fontAlgn="b"/>
                      <a:r>
                        <a:rPr lang="en-US" sz="1100" b="1" i="0" u="none" strike="noStrike" dirty="0">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100" b="1" i="0" u="none" strike="noStrike" dirty="0">
                          <a:solidFill>
                            <a:srgbClr val="000000"/>
                          </a:solidFill>
                          <a:latin typeface="Calibri"/>
                        </a:rPr>
                        <a:t>CAD/CAM</a:t>
                      </a:r>
                    </a:p>
                  </a:txBody>
                  <a:tcPr marL="5604" marR="5604" marT="5604"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1100" b="1" i="0" u="none" strike="noStrike">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1100" b="1" i="0" u="none" strike="noStrike">
                          <a:solidFill>
                            <a:srgbClr val="000000"/>
                          </a:solidFill>
                          <a:latin typeface="Calibri"/>
                        </a:rPr>
                        <a:t>2</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1100" b="1" i="0" u="none" strike="noStrike">
                          <a:solidFill>
                            <a:srgbClr val="000000"/>
                          </a:solidFill>
                          <a:latin typeface="Calibri"/>
                        </a:rPr>
                        <a:t>0</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0000"/>
                          </a:solidFill>
                          <a:latin typeface="Calibri"/>
                        </a:rPr>
                        <a:t>0.0</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dirty="0">
                          <a:solidFill>
                            <a:srgbClr val="000000"/>
                          </a:solidFill>
                          <a:latin typeface="Calibri"/>
                        </a:rPr>
                        <a:t>3.0</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25"/>
                  </a:ext>
                </a:extLst>
              </a:tr>
              <a:tr h="190481">
                <a:tc gridSpan="2">
                  <a:txBody>
                    <a:bodyPr/>
                    <a:lstStyle/>
                    <a:p>
                      <a:pPr marL="91440" algn="l" fontAlgn="b"/>
                      <a:r>
                        <a:rPr lang="en-US" sz="1100" b="1" i="1" u="none" strike="noStrike" dirty="0">
                          <a:solidFill>
                            <a:srgbClr val="000000"/>
                          </a:solidFill>
                          <a:latin typeface="Calibri"/>
                        </a:rPr>
                        <a:t>General</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hMerge="1">
                  <a:txBody>
                    <a:bodyPr/>
                    <a:lstStyle/>
                    <a:p>
                      <a:endParaRPr lang="en-US"/>
                    </a:p>
                  </a:txBody>
                  <a:tcPr/>
                </a:tc>
                <a:tc>
                  <a:txBody>
                    <a:bodyPr/>
                    <a:lstStyle/>
                    <a:p>
                      <a:pPr algn="ctr" fontAlgn="b"/>
                      <a:r>
                        <a:rPr lang="en-US" sz="1100" b="1" i="0" u="none" strike="noStrike">
                          <a:solidFill>
                            <a:srgbClr val="000000"/>
                          </a:solidFill>
                          <a:latin typeface="Calibri"/>
                        </a:rPr>
                        <a:t>10</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b"/>
                      <a:r>
                        <a:rPr lang="en-US" sz="1100" b="1" i="0" u="none" strike="noStrike">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b"/>
                      <a:r>
                        <a:rPr lang="en-US" sz="1100" b="1" i="0" u="none" strike="noStrike">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b"/>
                      <a:r>
                        <a:rPr lang="en-US" sz="1100" b="1" i="0" u="none" strike="noStrike">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b"/>
                      <a:r>
                        <a:rPr lang="en-US" sz="1100" b="1" i="0" u="none" strike="noStrike" dirty="0">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10026"/>
                  </a:ext>
                </a:extLst>
              </a:tr>
              <a:tr h="174915">
                <a:tc>
                  <a:txBody>
                    <a:bodyPr/>
                    <a:lstStyle/>
                    <a:p>
                      <a:pPr algn="l" fontAlgn="b"/>
                      <a:r>
                        <a:rPr lang="en-US" sz="1100" b="1" i="0" u="none" strike="noStrike">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a:noFill/>
                    </a:lnR>
                    <a:lnT>
                      <a:noFill/>
                    </a:lnT>
                    <a:lnB>
                      <a:noFill/>
                    </a:lnB>
                    <a:solidFill>
                      <a:schemeClr val="bg1"/>
                    </a:solidFill>
                  </a:tcPr>
                </a:tc>
                <a:tc>
                  <a:txBody>
                    <a:bodyPr/>
                    <a:lstStyle/>
                    <a:p>
                      <a:pPr algn="l" fontAlgn="ctr"/>
                      <a:r>
                        <a:rPr lang="en-US" sz="1100" b="1" i="0" u="none" strike="noStrike">
                          <a:solidFill>
                            <a:srgbClr val="000000"/>
                          </a:solidFill>
                          <a:latin typeface="Calibri"/>
                        </a:rPr>
                        <a:t>Support of minority suppliers</a:t>
                      </a:r>
                    </a:p>
                  </a:txBody>
                  <a:tcPr marL="5604" marR="5604" marT="5604"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b"/>
                      <a:r>
                        <a:rPr lang="en-US" sz="1100" b="1" i="0" u="none" strike="noStrike">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b"/>
                      <a:r>
                        <a:rPr lang="en-US" sz="1100" b="1" i="0" u="none" strike="noStrike">
                          <a:solidFill>
                            <a:srgbClr val="000000"/>
                          </a:solidFill>
                          <a:latin typeface="Calibri"/>
                        </a:rPr>
                        <a:t>2</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b"/>
                      <a:r>
                        <a:rPr lang="en-US" sz="1100" b="1" i="0" u="none" strike="noStrike">
                          <a:solidFill>
                            <a:srgbClr val="000000"/>
                          </a:solidFill>
                          <a:latin typeface="Calibri"/>
                        </a:rPr>
                        <a:t>3</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a:solidFill>
                            <a:srgbClr val="000000"/>
                          </a:solidFill>
                          <a:latin typeface="Calibri"/>
                        </a:rPr>
                        <a:t>1.2</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b"/>
                      <a:r>
                        <a:rPr lang="en-US" sz="1100" b="1" i="0" u="none" strike="noStrike" dirty="0">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10027"/>
                  </a:ext>
                </a:extLst>
              </a:tr>
              <a:tr h="174915">
                <a:tc>
                  <a:txBody>
                    <a:bodyPr/>
                    <a:lstStyle/>
                    <a:p>
                      <a:pPr algn="l" fontAlgn="b"/>
                      <a:r>
                        <a:rPr lang="en-US" sz="1100" b="1" i="0" u="none" strike="noStrike">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a:noFill/>
                    </a:lnR>
                    <a:lnT>
                      <a:noFill/>
                    </a:lnT>
                    <a:lnB>
                      <a:noFill/>
                    </a:lnB>
                    <a:solidFill>
                      <a:schemeClr val="bg1"/>
                    </a:solidFill>
                  </a:tcPr>
                </a:tc>
                <a:tc>
                  <a:txBody>
                    <a:bodyPr/>
                    <a:lstStyle/>
                    <a:p>
                      <a:pPr algn="l" fontAlgn="ctr"/>
                      <a:r>
                        <a:rPr lang="en-US" sz="1100" b="1" i="0" u="none" strike="noStrike">
                          <a:solidFill>
                            <a:srgbClr val="000000"/>
                          </a:solidFill>
                          <a:latin typeface="Calibri"/>
                        </a:rPr>
                        <a:t>Environmental compliance</a:t>
                      </a:r>
                    </a:p>
                  </a:txBody>
                  <a:tcPr marL="5604" marR="5604" marT="5604" marB="0" anchor="ctr">
                    <a:lnL>
                      <a:noFill/>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b"/>
                      <a:r>
                        <a:rPr lang="en-US" sz="1100" b="1" i="0" u="none" strike="noStrike">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b"/>
                      <a:r>
                        <a:rPr lang="en-US" sz="1100" b="1" i="0" u="none" strike="noStrike" dirty="0">
                          <a:solidFill>
                            <a:srgbClr val="000000"/>
                          </a:solidFill>
                          <a:latin typeface="Calibri"/>
                        </a:rPr>
                        <a:t>3</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b"/>
                      <a:r>
                        <a:rPr lang="en-US" sz="1100" b="1" i="0" u="none" strike="noStrike">
                          <a:solidFill>
                            <a:srgbClr val="000000"/>
                          </a:solidFill>
                          <a:latin typeface="Calibri"/>
                        </a:rPr>
                        <a:t>5</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ctr"/>
                      <a:r>
                        <a:rPr lang="en-US" sz="1100" b="1" i="0" u="none" strike="noStrike">
                          <a:solidFill>
                            <a:srgbClr val="000000"/>
                          </a:solidFill>
                          <a:latin typeface="Calibri"/>
                        </a:rPr>
                        <a:t>3.0</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ctr" fontAlgn="b"/>
                      <a:r>
                        <a:rPr lang="en-US" sz="1100" b="1" i="0" u="none" strike="noStrike" dirty="0">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10028"/>
                  </a:ext>
                </a:extLst>
              </a:tr>
              <a:tr h="174915">
                <a:tc>
                  <a:txBody>
                    <a:bodyPr/>
                    <a:lstStyle/>
                    <a:p>
                      <a:pPr algn="l" fontAlgn="b"/>
                      <a:r>
                        <a:rPr lang="en-US" sz="1100" b="1" i="0" u="none" strike="noStrike">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en-US" sz="1100" b="1" i="0" u="none" strike="noStrike" dirty="0">
                          <a:solidFill>
                            <a:srgbClr val="000000"/>
                          </a:solidFill>
                          <a:latin typeface="Calibri"/>
                        </a:rPr>
                        <a:t>Supply base management</a:t>
                      </a:r>
                    </a:p>
                  </a:txBody>
                  <a:tcPr marL="5604" marR="5604" marT="5604"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1100" b="1" i="0" u="none" strike="noStrike">
                          <a:solidFill>
                            <a:srgbClr val="000000"/>
                          </a:solidFill>
                          <a:latin typeface="Calibri"/>
                        </a:rPr>
                        <a:t> </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1100" b="1" i="0" u="none" strike="noStrike">
                          <a:solidFill>
                            <a:srgbClr val="000000"/>
                          </a:solidFill>
                          <a:latin typeface="Calibri"/>
                        </a:rPr>
                        <a:t>5</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sz="1100" b="1" i="0" u="none" strike="noStrike">
                          <a:solidFill>
                            <a:srgbClr val="000000"/>
                          </a:solidFill>
                          <a:latin typeface="Calibri"/>
                        </a:rPr>
                        <a:t>4</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sz="1100" b="1" i="0" u="none" strike="noStrike">
                          <a:solidFill>
                            <a:srgbClr val="000000"/>
                          </a:solidFill>
                          <a:latin typeface="Calibri"/>
                        </a:rPr>
                        <a:t>4.0</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100" b="1" i="0" u="none" strike="noStrike" dirty="0">
                          <a:solidFill>
                            <a:srgbClr val="000000"/>
                          </a:solidFill>
                          <a:latin typeface="Calibri"/>
                        </a:rPr>
                        <a:t>8.2</a:t>
                      </a:r>
                    </a:p>
                  </a:txBody>
                  <a:tcPr marL="5604" marR="5604" marT="560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29"/>
                  </a:ext>
                </a:extLst>
              </a:tr>
              <a:tr h="174915">
                <a:tc>
                  <a:txBody>
                    <a:bodyPr/>
                    <a:lstStyle/>
                    <a:p>
                      <a:pPr algn="l" fontAlgn="b"/>
                      <a:endParaRPr lang="en-US" sz="1100" b="1" i="0" u="none" strike="noStrike" dirty="0">
                        <a:solidFill>
                          <a:srgbClr val="000000"/>
                        </a:solidFill>
                        <a:latin typeface="Calibri"/>
                      </a:endParaRPr>
                    </a:p>
                  </a:txBody>
                  <a:tcPr marL="5604" marR="5604" marT="5604"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endParaRPr lang="en-US" sz="1100" b="1" i="0" u="none" strike="noStrike" dirty="0">
                        <a:solidFill>
                          <a:srgbClr val="000000"/>
                        </a:solidFill>
                        <a:latin typeface="Calibri"/>
                      </a:endParaRPr>
                    </a:p>
                  </a:txBody>
                  <a:tcPr marL="5604" marR="5604" marT="5604"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endParaRPr lang="en-US" sz="1100" b="1" i="0" u="none" strike="noStrike" dirty="0">
                        <a:solidFill>
                          <a:srgbClr val="000000"/>
                        </a:solidFill>
                        <a:latin typeface="Calibri"/>
                      </a:endParaRPr>
                    </a:p>
                  </a:txBody>
                  <a:tcPr marL="5604" marR="5604" marT="5604"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endParaRPr lang="en-US" sz="1100" b="1" i="0" u="none" strike="noStrike" dirty="0">
                        <a:solidFill>
                          <a:srgbClr val="000000"/>
                        </a:solidFill>
                        <a:latin typeface="Calibri"/>
                      </a:endParaRPr>
                    </a:p>
                  </a:txBody>
                  <a:tcPr marL="5604" marR="5604" marT="5604"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endParaRPr lang="en-US" sz="1100" b="1" i="0" u="none" strike="noStrike" dirty="0">
                        <a:solidFill>
                          <a:srgbClr val="000000"/>
                        </a:solidFill>
                        <a:latin typeface="Calibri"/>
                      </a:endParaRPr>
                    </a:p>
                  </a:txBody>
                  <a:tcPr marL="5604" marR="5604" marT="5604" marB="0" anchor="ctr">
                    <a:lnL>
                      <a:noFill/>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latin typeface="Calibri"/>
                        </a:rPr>
                        <a:t>Total Score</a:t>
                      </a:r>
                    </a:p>
                  </a:txBody>
                  <a:tcPr marL="5604" marR="5604" marT="560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100" b="1" i="0" u="none" strike="noStrike" dirty="0">
                          <a:solidFill>
                            <a:srgbClr val="000000"/>
                          </a:solidFill>
                          <a:latin typeface="Calibri"/>
                        </a:rPr>
                        <a:t>80.6</a:t>
                      </a:r>
                    </a:p>
                  </a:txBody>
                  <a:tcPr marL="5604" marR="5604" marT="5604"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30"/>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a:extLst>
              <a:ext uri="{FF2B5EF4-FFF2-40B4-BE49-F238E27FC236}">
                <a16:creationId xmlns:a16="http://schemas.microsoft.com/office/drawing/2014/main" id="{00E313E6-FB6A-4692-8694-D9A379206A92}"/>
              </a:ext>
            </a:extLst>
          </p:cNvPr>
          <p:cNvSpPr>
            <a:spLocks noGrp="1"/>
          </p:cNvSpPr>
          <p:nvPr>
            <p:ph type="title"/>
          </p:nvPr>
        </p:nvSpPr>
        <p:spPr/>
        <p:txBody>
          <a:bodyPr/>
          <a:lstStyle/>
          <a:p>
            <a:r>
              <a:rPr lang="en-US" altLang="LID4096"/>
              <a:t>A Good Supplier Does the Following:</a:t>
            </a:r>
          </a:p>
        </p:txBody>
      </p:sp>
      <p:sp>
        <p:nvSpPr>
          <p:cNvPr id="3" name="Content Placeholder 2">
            <a:extLst>
              <a:ext uri="{FF2B5EF4-FFF2-40B4-BE49-F238E27FC236}">
                <a16:creationId xmlns:a16="http://schemas.microsoft.com/office/drawing/2014/main" id="{5E1DEAA5-A22B-492F-A901-AFB554BCD28D}"/>
              </a:ext>
            </a:extLst>
          </p:cNvPr>
          <p:cNvSpPr>
            <a:spLocks noGrp="1"/>
          </p:cNvSpPr>
          <p:nvPr>
            <p:ph idx="1"/>
          </p:nvPr>
        </p:nvSpPr>
        <p:spPr>
          <a:xfrm>
            <a:off x="152400" y="1216026"/>
            <a:ext cx="8991600" cy="4910138"/>
          </a:xfrm>
        </p:spPr>
        <p:txBody>
          <a:bodyPr/>
          <a:lstStyle/>
          <a:p>
            <a:pPr>
              <a:defRPr/>
            </a:pPr>
            <a:r>
              <a:rPr lang="en-US" dirty="0"/>
              <a:t>Builds </a:t>
            </a:r>
            <a:r>
              <a:rPr lang="en-US" dirty="0">
                <a:solidFill>
                  <a:srgbClr val="0000FF"/>
                </a:solidFill>
              </a:rPr>
              <a:t>quality</a:t>
            </a:r>
            <a:r>
              <a:rPr lang="en-US" dirty="0"/>
              <a:t> into the product, aiming for </a:t>
            </a:r>
            <a:r>
              <a:rPr lang="en-US" dirty="0">
                <a:solidFill>
                  <a:srgbClr val="0000FF"/>
                </a:solidFill>
              </a:rPr>
              <a:t>zero defects</a:t>
            </a:r>
          </a:p>
          <a:p>
            <a:pPr>
              <a:defRPr/>
            </a:pPr>
            <a:r>
              <a:rPr lang="en-US" dirty="0"/>
              <a:t>Makes delivery </a:t>
            </a:r>
            <a:r>
              <a:rPr lang="en-US" dirty="0">
                <a:solidFill>
                  <a:srgbClr val="0000FF"/>
                </a:solidFill>
              </a:rPr>
              <a:t>performance</a:t>
            </a:r>
            <a:r>
              <a:rPr lang="en-US" dirty="0"/>
              <a:t> a priority</a:t>
            </a:r>
          </a:p>
          <a:p>
            <a:pPr>
              <a:defRPr/>
            </a:pPr>
            <a:r>
              <a:rPr lang="en-US" dirty="0"/>
              <a:t>Demonstrates </a:t>
            </a:r>
            <a:r>
              <a:rPr lang="en-US" dirty="0">
                <a:solidFill>
                  <a:srgbClr val="0000FF"/>
                </a:solidFill>
              </a:rPr>
              <a:t>responsiveness</a:t>
            </a:r>
            <a:r>
              <a:rPr lang="en-US" dirty="0"/>
              <a:t> to a buyer’s needs</a:t>
            </a:r>
          </a:p>
          <a:p>
            <a:pPr>
              <a:defRPr/>
            </a:pPr>
            <a:r>
              <a:rPr lang="en-US" dirty="0">
                <a:solidFill>
                  <a:srgbClr val="0000FF"/>
                </a:solidFill>
              </a:rPr>
              <a:t>Works with the buyer </a:t>
            </a:r>
            <a:r>
              <a:rPr lang="en-US" dirty="0"/>
              <a:t>to reduce lead times</a:t>
            </a:r>
          </a:p>
          <a:p>
            <a:pPr>
              <a:defRPr/>
            </a:pPr>
            <a:r>
              <a:rPr lang="en-US" dirty="0"/>
              <a:t>Provides the buyer with capability and workload </a:t>
            </a:r>
            <a:r>
              <a:rPr lang="en-US" dirty="0">
                <a:solidFill>
                  <a:srgbClr val="0000FF"/>
                </a:solidFill>
              </a:rPr>
              <a:t>information</a:t>
            </a:r>
          </a:p>
          <a:p>
            <a:pPr>
              <a:defRPr/>
            </a:pPr>
            <a:r>
              <a:rPr lang="en-US" dirty="0"/>
              <a:t>Creates the </a:t>
            </a:r>
            <a:r>
              <a:rPr lang="en-US" dirty="0">
                <a:solidFill>
                  <a:srgbClr val="0000FF"/>
                </a:solidFill>
              </a:rPr>
              <a:t>future</a:t>
            </a:r>
          </a:p>
          <a:p>
            <a:pPr>
              <a:defRPr/>
            </a:pPr>
            <a:endParaRPr lang="en-US" dirty="0"/>
          </a:p>
        </p:txBody>
      </p:sp>
      <p:sp>
        <p:nvSpPr>
          <p:cNvPr id="4" name="Footer Placeholder 3">
            <a:extLst>
              <a:ext uri="{FF2B5EF4-FFF2-40B4-BE49-F238E27FC236}">
                <a16:creationId xmlns:a16="http://schemas.microsoft.com/office/drawing/2014/main" id="{2473B7D2-F092-47D1-8AE6-62D3CC4CAFD3}"/>
              </a:ext>
            </a:extLst>
          </p:cNvPr>
          <p:cNvSpPr>
            <a:spLocks noGrp="1"/>
          </p:cNvSpPr>
          <p:nvPr>
            <p:ph type="ftr" sz="quarter" idx="10"/>
          </p:nvPr>
        </p:nvSpPr>
        <p:spPr/>
        <p:txBody>
          <a:bodyPr/>
          <a:lstStyle/>
          <a:p>
            <a:pPr>
              <a:defRPr/>
            </a:pPr>
            <a:r>
              <a:rPr lang="en-US"/>
              <a:t>Purchasing &amp; Supply Chain Management, 4e</a:t>
            </a:r>
          </a:p>
          <a:p>
            <a:pPr>
              <a:defRPr/>
            </a:pPr>
            <a:endParaRPr lang="en-US"/>
          </a:p>
        </p:txBody>
      </p:sp>
      <p:sp>
        <p:nvSpPr>
          <p:cNvPr id="5" name="Slide Number Placeholder 4">
            <a:extLst>
              <a:ext uri="{FF2B5EF4-FFF2-40B4-BE49-F238E27FC236}">
                <a16:creationId xmlns:a16="http://schemas.microsoft.com/office/drawing/2014/main" id="{D1338843-1059-4A36-8273-C2191701F2CA}"/>
              </a:ext>
            </a:extLst>
          </p:cNvPr>
          <p:cNvSpPr>
            <a:spLocks noGrp="1"/>
          </p:cNvSpPr>
          <p:nvPr>
            <p:ph type="sldNum" sz="quarter" idx="11"/>
          </p:nvPr>
        </p:nvSpPr>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fld id="{31B705B6-B956-4A24-AEAF-E402F92E14CE}" type="slidenum">
              <a:rPr lang="en-US" altLang="LID4096">
                <a:solidFill>
                  <a:srgbClr val="FFFFFF"/>
                </a:solidFill>
              </a:rPr>
              <a:pPr/>
              <a:t>37</a:t>
            </a:fld>
            <a:endParaRPr lang="en-US" altLang="LID4096">
              <a:solidFill>
                <a:srgbClr val="FFFFFF"/>
              </a:solidFill>
            </a:endParaRP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4731</TotalTime>
  <Words>2092</Words>
  <Application>Microsoft Office PowerPoint</Application>
  <PresentationFormat>On-screen Show (4:3)</PresentationFormat>
  <Paragraphs>501</Paragraphs>
  <Slides>37</Slides>
  <Notes>30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Arial</vt:lpstr>
      <vt:lpstr>Times New Roman</vt:lpstr>
      <vt:lpstr>Wingdings</vt:lpstr>
      <vt:lpstr>Copperplate Gothic Bold</vt:lpstr>
      <vt:lpstr>Calibri</vt:lpstr>
      <vt:lpstr>Default Design</vt:lpstr>
      <vt:lpstr>Supplier Evaluation and Selection</vt:lpstr>
      <vt:lpstr>The Right SC Partner Matters</vt:lpstr>
      <vt:lpstr>Supplier Selection Dilemma</vt:lpstr>
      <vt:lpstr>Open Discussion</vt:lpstr>
      <vt:lpstr>Chapter Overview</vt:lpstr>
      <vt:lpstr>Evaluation and Selection Process</vt:lpstr>
      <vt:lpstr>Supplier Selection and Evaluation</vt:lpstr>
      <vt:lpstr>1. Need of supplier selection</vt:lpstr>
      <vt:lpstr>1. Need of supplier selection</vt:lpstr>
      <vt:lpstr>2. Identify Key Sourcing Requirements</vt:lpstr>
      <vt:lpstr>3. Determine Sourcing Strategy</vt:lpstr>
      <vt:lpstr>4. Identify Potential Sources</vt:lpstr>
      <vt:lpstr>4. Information Search Requirements</vt:lpstr>
      <vt:lpstr>Sources of Information</vt:lpstr>
      <vt:lpstr>Sourcing Alternatives</vt:lpstr>
      <vt:lpstr>Honda Case Example</vt:lpstr>
      <vt:lpstr>Honda Case Example (Selection)</vt:lpstr>
      <vt:lpstr>Honda Case Example</vt:lpstr>
      <vt:lpstr>5. Limit Suppliers in Selection Pool</vt:lpstr>
      <vt:lpstr>5. Limit Suppliers in Selection Pool</vt:lpstr>
      <vt:lpstr>6. Method of Evaluation and Selection</vt:lpstr>
      <vt:lpstr>Key Suppliers Evaluation Criteria</vt:lpstr>
      <vt:lpstr>Key Suppliers Evaluation Criteria</vt:lpstr>
      <vt:lpstr>Financial Stability</vt:lpstr>
      <vt:lpstr>Management Capabilities</vt:lpstr>
      <vt:lpstr>Management Capabilities</vt:lpstr>
      <vt:lpstr>Employee Capabilities</vt:lpstr>
      <vt:lpstr>Challenges of Total Cost Analysis</vt:lpstr>
      <vt:lpstr>Total Quality Performance</vt:lpstr>
      <vt:lpstr>Process and Technological Capability</vt:lpstr>
      <vt:lpstr>Environmental Compliance</vt:lpstr>
      <vt:lpstr>Production Scheduling and Control</vt:lpstr>
      <vt:lpstr>E-Commerce Capability</vt:lpstr>
      <vt:lpstr>Supplier’s Supply Base Strategies</vt:lpstr>
      <vt:lpstr>Potential for Long-Term Relationships</vt:lpstr>
      <vt:lpstr>Initial Supplier Evaluation</vt:lpstr>
      <vt:lpstr>A Good Supplier Does the Following:</vt:lpstr>
    </vt:vector>
  </TitlesOfParts>
  <Company>Western Illinois University Quad Cities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Dr. James L. Patterson, C.P.M., A.P.P.</dc:creator>
  <cp:lastModifiedBy>Muhammad Omair</cp:lastModifiedBy>
  <cp:revision>89</cp:revision>
  <dcterms:created xsi:type="dcterms:W3CDTF">2007-10-03T17:47:56Z</dcterms:created>
  <dcterms:modified xsi:type="dcterms:W3CDTF">2026-01-27T09:53:55Z</dcterms:modified>
</cp:coreProperties>
</file>