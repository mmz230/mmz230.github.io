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256" r:id="rId2"/>
    <p:sldId id="257" r:id="rId3"/>
    <p:sldId id="331" r:id="rId4"/>
    <p:sldId id="332" r:id="rId5"/>
    <p:sldId id="333" r:id="rId6"/>
    <p:sldId id="258" r:id="rId7"/>
    <p:sldId id="259" r:id="rId8"/>
    <p:sldId id="262" r:id="rId9"/>
    <p:sldId id="260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95" r:id="rId33"/>
    <p:sldId id="284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7" r:id="rId53"/>
    <p:sldId id="305" r:id="rId54"/>
    <p:sldId id="306" r:id="rId55"/>
    <p:sldId id="308" r:id="rId56"/>
    <p:sldId id="309" r:id="rId57"/>
    <p:sldId id="310" r:id="rId58"/>
    <p:sldId id="311" r:id="rId59"/>
    <p:sldId id="312" r:id="rId60"/>
    <p:sldId id="313" r:id="rId61"/>
    <p:sldId id="315" r:id="rId62"/>
    <p:sldId id="314" r:id="rId63"/>
    <p:sldId id="316" r:id="rId64"/>
    <p:sldId id="317" r:id="rId65"/>
    <p:sldId id="318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CC3300"/>
    <a:srgbClr val="66FF66"/>
    <a:srgbClr val="B2B2B2"/>
    <a:srgbClr val="996633"/>
    <a:srgbClr val="0066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1083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10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9D96B7-B4A9-4FE1-9FF5-A4AA0D2A8DA1}" type="doc">
      <dgm:prSet loTypeId="urn:microsoft.com/office/officeart/2005/8/layout/process4" loCatId="list" qsTypeId="urn:microsoft.com/office/officeart/2005/8/quickstyle/simple1#4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3173402E-D123-4561-8004-45BE79CE70BE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Corporate strategy</a:t>
          </a:r>
        </a:p>
      </dgm:t>
    </dgm:pt>
    <dgm:pt modelId="{91F0CECD-600C-4312-97A3-F40EB24D7433}" type="parTrans" cxnId="{5DC967F7-FD6C-4F03-A700-8E5DD30472B8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F6A5DFAF-FA2B-42CD-92FB-14987B0BF65E}" type="sibTrans" cxnId="{5DC967F7-FD6C-4F03-A700-8E5DD30472B8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88278621-7B27-4650-9EA0-2762B7D4A7AD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Business unit strategy</a:t>
          </a:r>
        </a:p>
      </dgm:t>
    </dgm:pt>
    <dgm:pt modelId="{47696358-9AFF-4F23-B88D-7EB10AC46DB7}" type="parTrans" cxnId="{E6B0FA2B-91FB-409F-AD74-13E6C2152ED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B17F303F-0D01-43F5-BE4B-DAA3AAAACAD9}" type="sibTrans" cxnId="{E6B0FA2B-91FB-409F-AD74-13E6C2152ED2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D26DD419-AAC0-492B-B924-D22F1E0954EC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Supply management strategy</a:t>
          </a:r>
        </a:p>
      </dgm:t>
    </dgm:pt>
    <dgm:pt modelId="{A9E2F1F7-D058-4758-9243-C434C8274B71}" type="parTrans" cxnId="{00533822-5C08-4A08-BA4C-868145DEF7CC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45C4C97F-C670-4AF6-A4F1-10780C35DC97}" type="sibTrans" cxnId="{00533822-5C08-4A08-BA4C-868145DEF7CC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C0B128FF-59A9-4A36-A561-1335CE853C14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Commodity strategy</a:t>
          </a:r>
        </a:p>
      </dgm:t>
    </dgm:pt>
    <dgm:pt modelId="{5DBD97DB-ABBA-434A-A930-41B275FDEFBC}" type="parTrans" cxnId="{71836DEC-1FC1-458C-BD8C-DA02DAD3859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221A4FEA-099E-45E3-B172-F78820192668}" type="sibTrans" cxnId="{71836DEC-1FC1-458C-BD8C-DA02DAD38591}">
      <dgm:prSet/>
      <dgm:spPr/>
      <dgm:t>
        <a:bodyPr/>
        <a:lstStyle/>
        <a:p>
          <a:endParaRPr lang="en-US">
            <a:solidFill>
              <a:sysClr val="windowText" lastClr="000000"/>
            </a:solidFill>
          </a:endParaRPr>
        </a:p>
      </dgm:t>
    </dgm:pt>
    <dgm:pt modelId="{09C50DB4-0250-4BAB-AA74-E8267267B1E1}" type="pres">
      <dgm:prSet presAssocID="{789D96B7-B4A9-4FE1-9FF5-A4AA0D2A8DA1}" presName="Name0" presStyleCnt="0">
        <dgm:presLayoutVars>
          <dgm:dir/>
          <dgm:animLvl val="lvl"/>
          <dgm:resizeHandles val="exact"/>
        </dgm:presLayoutVars>
      </dgm:prSet>
      <dgm:spPr/>
    </dgm:pt>
    <dgm:pt modelId="{56ABF7D2-35D7-43B7-BA02-74524BAB19D7}" type="pres">
      <dgm:prSet presAssocID="{C0B128FF-59A9-4A36-A561-1335CE853C14}" presName="boxAndChildren" presStyleCnt="0"/>
      <dgm:spPr/>
    </dgm:pt>
    <dgm:pt modelId="{1AD6DBD8-6CC0-4B84-97C6-590898833AA0}" type="pres">
      <dgm:prSet presAssocID="{C0B128FF-59A9-4A36-A561-1335CE853C14}" presName="parentTextBox" presStyleLbl="node1" presStyleIdx="0" presStyleCnt="4"/>
      <dgm:spPr/>
    </dgm:pt>
    <dgm:pt modelId="{FE37D923-63A9-4D54-9358-1E6A477A2109}" type="pres">
      <dgm:prSet presAssocID="{45C4C97F-C670-4AF6-A4F1-10780C35DC97}" presName="sp" presStyleCnt="0"/>
      <dgm:spPr/>
    </dgm:pt>
    <dgm:pt modelId="{3DDF923F-7537-45DA-BE95-96BDBA0B5788}" type="pres">
      <dgm:prSet presAssocID="{D26DD419-AAC0-492B-B924-D22F1E0954EC}" presName="arrowAndChildren" presStyleCnt="0"/>
      <dgm:spPr/>
    </dgm:pt>
    <dgm:pt modelId="{9DAF163A-43CC-46A8-9174-65C04BB044AC}" type="pres">
      <dgm:prSet presAssocID="{D26DD419-AAC0-492B-B924-D22F1E0954EC}" presName="parentTextArrow" presStyleLbl="node1" presStyleIdx="1" presStyleCnt="4"/>
      <dgm:spPr/>
    </dgm:pt>
    <dgm:pt modelId="{99862762-2C43-41CE-85AF-852CC7653922}" type="pres">
      <dgm:prSet presAssocID="{B17F303F-0D01-43F5-BE4B-DAA3AAAACAD9}" presName="sp" presStyleCnt="0"/>
      <dgm:spPr/>
    </dgm:pt>
    <dgm:pt modelId="{8FD85F29-02FC-4056-A3B9-A6217B5878B3}" type="pres">
      <dgm:prSet presAssocID="{88278621-7B27-4650-9EA0-2762B7D4A7AD}" presName="arrowAndChildren" presStyleCnt="0"/>
      <dgm:spPr/>
    </dgm:pt>
    <dgm:pt modelId="{E019A6B3-AEB6-4B2E-B7DD-7C397C2682E6}" type="pres">
      <dgm:prSet presAssocID="{88278621-7B27-4650-9EA0-2762B7D4A7AD}" presName="parentTextArrow" presStyleLbl="node1" presStyleIdx="2" presStyleCnt="4"/>
      <dgm:spPr/>
    </dgm:pt>
    <dgm:pt modelId="{B5E4FC6B-67D2-43BE-9469-103907F67360}" type="pres">
      <dgm:prSet presAssocID="{F6A5DFAF-FA2B-42CD-92FB-14987B0BF65E}" presName="sp" presStyleCnt="0"/>
      <dgm:spPr/>
    </dgm:pt>
    <dgm:pt modelId="{D88FA34B-BC3A-43B7-AD32-0A14C6B2AFB6}" type="pres">
      <dgm:prSet presAssocID="{3173402E-D123-4561-8004-45BE79CE70BE}" presName="arrowAndChildren" presStyleCnt="0"/>
      <dgm:spPr/>
    </dgm:pt>
    <dgm:pt modelId="{A73D0E4C-F9BA-4955-93E1-834DF20CA659}" type="pres">
      <dgm:prSet presAssocID="{3173402E-D123-4561-8004-45BE79CE70BE}" presName="parentTextArrow" presStyleLbl="node1" presStyleIdx="3" presStyleCnt="4" custLinFactNeighborX="36111" custLinFactNeighborY="-123"/>
      <dgm:spPr/>
    </dgm:pt>
  </dgm:ptLst>
  <dgm:cxnLst>
    <dgm:cxn modelId="{00533822-5C08-4A08-BA4C-868145DEF7CC}" srcId="{789D96B7-B4A9-4FE1-9FF5-A4AA0D2A8DA1}" destId="{D26DD419-AAC0-492B-B924-D22F1E0954EC}" srcOrd="2" destOrd="0" parTransId="{A9E2F1F7-D058-4758-9243-C434C8274B71}" sibTransId="{45C4C97F-C670-4AF6-A4F1-10780C35DC97}"/>
    <dgm:cxn modelId="{E6B0FA2B-91FB-409F-AD74-13E6C2152ED2}" srcId="{789D96B7-B4A9-4FE1-9FF5-A4AA0D2A8DA1}" destId="{88278621-7B27-4650-9EA0-2762B7D4A7AD}" srcOrd="1" destOrd="0" parTransId="{47696358-9AFF-4F23-B88D-7EB10AC46DB7}" sibTransId="{B17F303F-0D01-43F5-BE4B-DAA3AAAACAD9}"/>
    <dgm:cxn modelId="{F5096A30-EDDD-4AA9-90CD-39F83D2041F8}" type="presOf" srcId="{D26DD419-AAC0-492B-B924-D22F1E0954EC}" destId="{9DAF163A-43CC-46A8-9174-65C04BB044AC}" srcOrd="0" destOrd="0" presId="urn:microsoft.com/office/officeart/2005/8/layout/process4"/>
    <dgm:cxn modelId="{7F4A2D35-4B56-4D9F-B301-F95054E7D9B0}" type="presOf" srcId="{789D96B7-B4A9-4FE1-9FF5-A4AA0D2A8DA1}" destId="{09C50DB4-0250-4BAB-AA74-E8267267B1E1}" srcOrd="0" destOrd="0" presId="urn:microsoft.com/office/officeart/2005/8/layout/process4"/>
    <dgm:cxn modelId="{8DB2359A-D802-4B17-8834-33DC32DF1188}" type="presOf" srcId="{88278621-7B27-4650-9EA0-2762B7D4A7AD}" destId="{E019A6B3-AEB6-4B2E-B7DD-7C397C2682E6}" srcOrd="0" destOrd="0" presId="urn:microsoft.com/office/officeart/2005/8/layout/process4"/>
    <dgm:cxn modelId="{4B0F1EA1-412A-4DE9-9E45-2EE04142F113}" type="presOf" srcId="{C0B128FF-59A9-4A36-A561-1335CE853C14}" destId="{1AD6DBD8-6CC0-4B84-97C6-590898833AA0}" srcOrd="0" destOrd="0" presId="urn:microsoft.com/office/officeart/2005/8/layout/process4"/>
    <dgm:cxn modelId="{BEA368B1-B265-49D2-855D-4989C1EBECD1}" type="presOf" srcId="{3173402E-D123-4561-8004-45BE79CE70BE}" destId="{A73D0E4C-F9BA-4955-93E1-834DF20CA659}" srcOrd="0" destOrd="0" presId="urn:microsoft.com/office/officeart/2005/8/layout/process4"/>
    <dgm:cxn modelId="{71836DEC-1FC1-458C-BD8C-DA02DAD38591}" srcId="{789D96B7-B4A9-4FE1-9FF5-A4AA0D2A8DA1}" destId="{C0B128FF-59A9-4A36-A561-1335CE853C14}" srcOrd="3" destOrd="0" parTransId="{5DBD97DB-ABBA-434A-A930-41B275FDEFBC}" sibTransId="{221A4FEA-099E-45E3-B172-F78820192668}"/>
    <dgm:cxn modelId="{5DC967F7-FD6C-4F03-A700-8E5DD30472B8}" srcId="{789D96B7-B4A9-4FE1-9FF5-A4AA0D2A8DA1}" destId="{3173402E-D123-4561-8004-45BE79CE70BE}" srcOrd="0" destOrd="0" parTransId="{91F0CECD-600C-4312-97A3-F40EB24D7433}" sibTransId="{F6A5DFAF-FA2B-42CD-92FB-14987B0BF65E}"/>
    <dgm:cxn modelId="{C8A2E02C-9758-46E0-A519-D669F3698AA9}" type="presParOf" srcId="{09C50DB4-0250-4BAB-AA74-E8267267B1E1}" destId="{56ABF7D2-35D7-43B7-BA02-74524BAB19D7}" srcOrd="0" destOrd="0" presId="urn:microsoft.com/office/officeart/2005/8/layout/process4"/>
    <dgm:cxn modelId="{043AFBA9-24CE-452B-A5F2-C0221E496BD5}" type="presParOf" srcId="{56ABF7D2-35D7-43B7-BA02-74524BAB19D7}" destId="{1AD6DBD8-6CC0-4B84-97C6-590898833AA0}" srcOrd="0" destOrd="0" presId="urn:microsoft.com/office/officeart/2005/8/layout/process4"/>
    <dgm:cxn modelId="{C0B44A88-0A17-4ECC-B91E-4469572C4DDF}" type="presParOf" srcId="{09C50DB4-0250-4BAB-AA74-E8267267B1E1}" destId="{FE37D923-63A9-4D54-9358-1E6A477A2109}" srcOrd="1" destOrd="0" presId="urn:microsoft.com/office/officeart/2005/8/layout/process4"/>
    <dgm:cxn modelId="{351D860B-FA4E-4C52-A3EA-737F585C7C1A}" type="presParOf" srcId="{09C50DB4-0250-4BAB-AA74-E8267267B1E1}" destId="{3DDF923F-7537-45DA-BE95-96BDBA0B5788}" srcOrd="2" destOrd="0" presId="urn:microsoft.com/office/officeart/2005/8/layout/process4"/>
    <dgm:cxn modelId="{AC89F32B-DB5D-4770-A3EE-1D4917F24A12}" type="presParOf" srcId="{3DDF923F-7537-45DA-BE95-96BDBA0B5788}" destId="{9DAF163A-43CC-46A8-9174-65C04BB044AC}" srcOrd="0" destOrd="0" presId="urn:microsoft.com/office/officeart/2005/8/layout/process4"/>
    <dgm:cxn modelId="{522DC66C-389F-4890-9D2E-9919E1FBCC39}" type="presParOf" srcId="{09C50DB4-0250-4BAB-AA74-E8267267B1E1}" destId="{99862762-2C43-41CE-85AF-852CC7653922}" srcOrd="3" destOrd="0" presId="urn:microsoft.com/office/officeart/2005/8/layout/process4"/>
    <dgm:cxn modelId="{E574AA3D-DC72-45A8-A405-FFFC96F67199}" type="presParOf" srcId="{09C50DB4-0250-4BAB-AA74-E8267267B1E1}" destId="{8FD85F29-02FC-4056-A3B9-A6217B5878B3}" srcOrd="4" destOrd="0" presId="urn:microsoft.com/office/officeart/2005/8/layout/process4"/>
    <dgm:cxn modelId="{633F8B6A-4EBC-4C75-9BEE-9F0385D4D451}" type="presParOf" srcId="{8FD85F29-02FC-4056-A3B9-A6217B5878B3}" destId="{E019A6B3-AEB6-4B2E-B7DD-7C397C2682E6}" srcOrd="0" destOrd="0" presId="urn:microsoft.com/office/officeart/2005/8/layout/process4"/>
    <dgm:cxn modelId="{F5077996-5112-4672-BF50-00E461C99A76}" type="presParOf" srcId="{09C50DB4-0250-4BAB-AA74-E8267267B1E1}" destId="{B5E4FC6B-67D2-43BE-9469-103907F67360}" srcOrd="5" destOrd="0" presId="urn:microsoft.com/office/officeart/2005/8/layout/process4"/>
    <dgm:cxn modelId="{448628BA-E600-48AA-955F-BA2EA9E7EE9D}" type="presParOf" srcId="{09C50DB4-0250-4BAB-AA74-E8267267B1E1}" destId="{D88FA34B-BC3A-43B7-AD32-0A14C6B2AFB6}" srcOrd="6" destOrd="0" presId="urn:microsoft.com/office/officeart/2005/8/layout/process4"/>
    <dgm:cxn modelId="{23439C39-7430-4194-B247-CFD9C7C32D08}" type="presParOf" srcId="{D88FA34B-BC3A-43B7-AD32-0A14C6B2AFB6}" destId="{A73D0E4C-F9BA-4955-93E1-834DF20CA659}" srcOrd="0" destOrd="0" presId="urn:microsoft.com/office/officeart/2005/8/layout/process4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5579EE-637E-4A43-9CD8-58B977F7C5AB}" type="doc">
      <dgm:prSet loTypeId="urn:microsoft.com/office/officeart/2005/8/layout/cycle6" loCatId="relationship" qsTypeId="urn:microsoft.com/office/officeart/2005/8/quickstyle/simple1#5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5ED30EEA-654F-4F6D-8F1F-76404AB2C7F1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>
              <a:solidFill>
                <a:sysClr val="windowText" lastClr="000000"/>
              </a:solidFill>
            </a:rPr>
            <a:t>Company objectives</a:t>
          </a:r>
        </a:p>
      </dgm:t>
    </dgm:pt>
    <dgm:pt modelId="{DC90A8D1-6DEE-4F72-BB71-E478E334A95E}" type="parTrans" cxnId="{3DB86629-9BEC-4F42-A2C9-5C9801BFD829}">
      <dgm:prSet/>
      <dgm:spPr/>
      <dgm:t>
        <a:bodyPr/>
        <a:lstStyle/>
        <a:p>
          <a:endParaRPr lang="en-US"/>
        </a:p>
      </dgm:t>
    </dgm:pt>
    <dgm:pt modelId="{16206F48-D820-4F70-9BBE-96BE901D833B}" type="sibTrans" cxnId="{3DB86629-9BEC-4F42-A2C9-5C9801BFD829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4B26CCEB-95B6-4B3F-887F-28DBFF356B45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>
              <a:solidFill>
                <a:sysClr val="windowText" lastClr="000000"/>
              </a:solidFill>
            </a:rPr>
            <a:t>Cross-functional business objectives</a:t>
          </a:r>
        </a:p>
      </dgm:t>
    </dgm:pt>
    <dgm:pt modelId="{8CD89FCD-DEFE-4FD1-922C-8C0E11A4FBEA}" type="parTrans" cxnId="{797D2710-00AB-4084-BFF4-3A9078B31678}">
      <dgm:prSet/>
      <dgm:spPr/>
      <dgm:t>
        <a:bodyPr/>
        <a:lstStyle/>
        <a:p>
          <a:endParaRPr lang="en-US"/>
        </a:p>
      </dgm:t>
    </dgm:pt>
    <dgm:pt modelId="{05F8002B-EC33-4CA8-B07B-A43BA8976D65}" type="sibTrans" cxnId="{797D2710-00AB-4084-BFF4-3A9078B31678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40A411C3-9839-4E1A-B605-81359C8C9EF7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>
              <a:solidFill>
                <a:sysClr val="windowText" lastClr="000000"/>
              </a:solidFill>
            </a:rPr>
            <a:t>Purchasing and supply chain goals</a:t>
          </a:r>
        </a:p>
      </dgm:t>
    </dgm:pt>
    <dgm:pt modelId="{4B77E887-A937-45D0-A937-259146191610}" type="parTrans" cxnId="{3D2230C9-59B3-479B-B7B7-60BEBE99A39A}">
      <dgm:prSet/>
      <dgm:spPr/>
      <dgm:t>
        <a:bodyPr/>
        <a:lstStyle/>
        <a:p>
          <a:endParaRPr lang="en-US"/>
        </a:p>
      </dgm:t>
    </dgm:pt>
    <dgm:pt modelId="{2C953888-EAA4-4833-A4E3-92B6697F3DA9}" type="sibTrans" cxnId="{3D2230C9-59B3-479B-B7B7-60BEBE99A39A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B8661990-B87D-4170-A073-E801EBED4B58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>
              <a:solidFill>
                <a:sysClr val="windowText" lastClr="000000"/>
              </a:solidFill>
            </a:rPr>
            <a:t>Purchasing and supply chain strategies</a:t>
          </a:r>
        </a:p>
      </dgm:t>
    </dgm:pt>
    <dgm:pt modelId="{5A379583-3484-4999-BB5A-D068862A2BA8}" type="parTrans" cxnId="{EB601633-1783-467B-A396-66DF268EEE4B}">
      <dgm:prSet/>
      <dgm:spPr/>
      <dgm:t>
        <a:bodyPr/>
        <a:lstStyle/>
        <a:p>
          <a:endParaRPr lang="en-US"/>
        </a:p>
      </dgm:t>
    </dgm:pt>
    <dgm:pt modelId="{141A21D5-18AA-4705-BB30-2C3591896BB1}" type="sibTrans" cxnId="{EB601633-1783-467B-A396-66DF268EEE4B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D1395B8B-1AF1-4468-B4DB-B072FE1C3049}">
      <dgm:prSet phldrT="[Text]" custT="1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sz="1200" b="1" dirty="0">
              <a:solidFill>
                <a:sysClr val="windowText" lastClr="000000"/>
              </a:solidFill>
            </a:rPr>
            <a:t>Performance measurement system</a:t>
          </a:r>
        </a:p>
      </dgm:t>
    </dgm:pt>
    <dgm:pt modelId="{A852368B-1079-4142-9AB3-E9B2B66DD735}" type="parTrans" cxnId="{5CCC24E8-C5C2-4BBA-B3E4-8AE9E4E9298E}">
      <dgm:prSet/>
      <dgm:spPr/>
      <dgm:t>
        <a:bodyPr/>
        <a:lstStyle/>
        <a:p>
          <a:endParaRPr lang="en-US"/>
        </a:p>
      </dgm:t>
    </dgm:pt>
    <dgm:pt modelId="{080DE963-DF62-4E41-AEA5-B5C8461858AF}" type="sibTrans" cxnId="{5CCC24E8-C5C2-4BBA-B3E4-8AE9E4E9298E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694CE55B-26EC-4AAE-B5A1-08B16ECBD5BF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Performance measurement review</a:t>
          </a:r>
        </a:p>
      </dgm:t>
    </dgm:pt>
    <dgm:pt modelId="{8074E04D-4125-447A-948A-A64E8B4314E7}" type="parTrans" cxnId="{B96FCD02-DBF8-4256-B987-BA6C237228CB}">
      <dgm:prSet/>
      <dgm:spPr/>
      <dgm:t>
        <a:bodyPr/>
        <a:lstStyle/>
        <a:p>
          <a:endParaRPr lang="en-US"/>
        </a:p>
      </dgm:t>
    </dgm:pt>
    <dgm:pt modelId="{D90E8970-C2D1-4902-A561-9C2660FB37E0}" type="sibTrans" cxnId="{B96FCD02-DBF8-4256-B987-BA6C237228CB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98E11985-DF13-4198-82D4-2CEBF4B9EC1C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Continuous improvement</a:t>
          </a:r>
        </a:p>
      </dgm:t>
    </dgm:pt>
    <dgm:pt modelId="{08AFC8C9-A831-4255-8F59-92FDD20A25C0}" type="parTrans" cxnId="{32342881-AA4E-41E2-87D6-1F02BF8CDA9E}">
      <dgm:prSet/>
      <dgm:spPr/>
      <dgm:t>
        <a:bodyPr/>
        <a:lstStyle/>
        <a:p>
          <a:endParaRPr lang="en-US"/>
        </a:p>
      </dgm:t>
    </dgm:pt>
    <dgm:pt modelId="{1DD229F3-9B5D-4E4A-B488-C0B578BBBDE9}" type="sibTrans" cxnId="{32342881-AA4E-41E2-87D6-1F02BF8CDA9E}">
      <dgm:prSet/>
      <dgm:spPr>
        <a:ln>
          <a:noFill/>
        </a:ln>
      </dgm:spPr>
      <dgm:t>
        <a:bodyPr/>
        <a:lstStyle/>
        <a:p>
          <a:endParaRPr lang="en-US"/>
        </a:p>
      </dgm:t>
    </dgm:pt>
    <dgm:pt modelId="{74697DD3-6942-482D-9883-7EC0342A9442}" type="pres">
      <dgm:prSet presAssocID="{AA5579EE-637E-4A43-9CD8-58B977F7C5AB}" presName="cycle" presStyleCnt="0">
        <dgm:presLayoutVars>
          <dgm:dir/>
          <dgm:resizeHandles val="exact"/>
        </dgm:presLayoutVars>
      </dgm:prSet>
      <dgm:spPr/>
    </dgm:pt>
    <dgm:pt modelId="{22B426BE-8B94-4510-B63C-8BA0659E4080}" type="pres">
      <dgm:prSet presAssocID="{5ED30EEA-654F-4F6D-8F1F-76404AB2C7F1}" presName="node" presStyleLbl="node1" presStyleIdx="0" presStyleCnt="7">
        <dgm:presLayoutVars>
          <dgm:bulletEnabled val="1"/>
        </dgm:presLayoutVars>
      </dgm:prSet>
      <dgm:spPr/>
    </dgm:pt>
    <dgm:pt modelId="{BE18A697-8E39-4667-895A-864CB07BBA07}" type="pres">
      <dgm:prSet presAssocID="{5ED30EEA-654F-4F6D-8F1F-76404AB2C7F1}" presName="spNode" presStyleCnt="0"/>
      <dgm:spPr/>
    </dgm:pt>
    <dgm:pt modelId="{B904CF7D-0761-4AB3-97AF-299090D7727D}" type="pres">
      <dgm:prSet presAssocID="{16206F48-D820-4F70-9BBE-96BE901D833B}" presName="sibTrans" presStyleLbl="sibTrans1D1" presStyleIdx="0" presStyleCnt="7"/>
      <dgm:spPr/>
    </dgm:pt>
    <dgm:pt modelId="{7EC92A49-3AF5-443D-9BDD-D0D16A762B14}" type="pres">
      <dgm:prSet presAssocID="{4B26CCEB-95B6-4B3F-887F-28DBFF356B45}" presName="node" presStyleLbl="node1" presStyleIdx="1" presStyleCnt="7">
        <dgm:presLayoutVars>
          <dgm:bulletEnabled val="1"/>
        </dgm:presLayoutVars>
      </dgm:prSet>
      <dgm:spPr/>
    </dgm:pt>
    <dgm:pt modelId="{539D0BD3-62E8-4E2E-B4B4-3D58F7D1C82D}" type="pres">
      <dgm:prSet presAssocID="{4B26CCEB-95B6-4B3F-887F-28DBFF356B45}" presName="spNode" presStyleCnt="0"/>
      <dgm:spPr/>
    </dgm:pt>
    <dgm:pt modelId="{1832AE59-EB61-4FBA-83A1-8FFDEE83328C}" type="pres">
      <dgm:prSet presAssocID="{05F8002B-EC33-4CA8-B07B-A43BA8976D65}" presName="sibTrans" presStyleLbl="sibTrans1D1" presStyleIdx="1" presStyleCnt="7"/>
      <dgm:spPr/>
    </dgm:pt>
    <dgm:pt modelId="{CAF2C8F7-713E-4D09-96AB-D2703C3330B0}" type="pres">
      <dgm:prSet presAssocID="{40A411C3-9839-4E1A-B605-81359C8C9EF7}" presName="node" presStyleLbl="node1" presStyleIdx="2" presStyleCnt="7" custRadScaleRad="101032" custRadScaleInc="-56722">
        <dgm:presLayoutVars>
          <dgm:bulletEnabled val="1"/>
        </dgm:presLayoutVars>
      </dgm:prSet>
      <dgm:spPr/>
    </dgm:pt>
    <dgm:pt modelId="{861F3CF1-BBC7-43F1-A8E3-4366EF2F74C6}" type="pres">
      <dgm:prSet presAssocID="{40A411C3-9839-4E1A-B605-81359C8C9EF7}" presName="spNode" presStyleCnt="0"/>
      <dgm:spPr/>
    </dgm:pt>
    <dgm:pt modelId="{9C393CF2-995F-4045-99CD-36FFBB06D0C0}" type="pres">
      <dgm:prSet presAssocID="{2C953888-EAA4-4833-A4E3-92B6697F3DA9}" presName="sibTrans" presStyleLbl="sibTrans1D1" presStyleIdx="2" presStyleCnt="7"/>
      <dgm:spPr/>
    </dgm:pt>
    <dgm:pt modelId="{8D949948-8CF6-4440-A09A-38C14EEA7C83}" type="pres">
      <dgm:prSet presAssocID="{B8661990-B87D-4170-A073-E801EBED4B58}" presName="node" presStyleLbl="node1" presStyleIdx="3" presStyleCnt="7" custRadScaleRad="96699" custRadScaleInc="-52683">
        <dgm:presLayoutVars>
          <dgm:bulletEnabled val="1"/>
        </dgm:presLayoutVars>
      </dgm:prSet>
      <dgm:spPr/>
    </dgm:pt>
    <dgm:pt modelId="{4AE922F7-0EA7-44A6-9091-10433A3BDE7C}" type="pres">
      <dgm:prSet presAssocID="{B8661990-B87D-4170-A073-E801EBED4B58}" presName="spNode" presStyleCnt="0"/>
      <dgm:spPr/>
    </dgm:pt>
    <dgm:pt modelId="{B874CB27-09D9-4435-99F2-5A341805AB0D}" type="pres">
      <dgm:prSet presAssocID="{141A21D5-18AA-4705-BB30-2C3591896BB1}" presName="sibTrans" presStyleLbl="sibTrans1D1" presStyleIdx="3" presStyleCnt="7"/>
      <dgm:spPr/>
    </dgm:pt>
    <dgm:pt modelId="{54BBDC8B-9467-417D-AAEF-384FC3F3599A}" type="pres">
      <dgm:prSet presAssocID="{D1395B8B-1AF1-4468-B4DB-B072FE1C3049}" presName="node" presStyleLbl="node1" presStyleIdx="4" presStyleCnt="7" custRadScaleRad="94151" custRadScaleInc="39251">
        <dgm:presLayoutVars>
          <dgm:bulletEnabled val="1"/>
        </dgm:presLayoutVars>
      </dgm:prSet>
      <dgm:spPr/>
    </dgm:pt>
    <dgm:pt modelId="{424EE53D-37A6-4F35-987C-7C44AECCBEDD}" type="pres">
      <dgm:prSet presAssocID="{D1395B8B-1AF1-4468-B4DB-B072FE1C3049}" presName="spNode" presStyleCnt="0"/>
      <dgm:spPr/>
    </dgm:pt>
    <dgm:pt modelId="{E1F48361-8792-435B-9701-53B61814CC29}" type="pres">
      <dgm:prSet presAssocID="{080DE963-DF62-4E41-AEA5-B5C8461858AF}" presName="sibTrans" presStyleLbl="sibTrans1D1" presStyleIdx="4" presStyleCnt="7"/>
      <dgm:spPr/>
    </dgm:pt>
    <dgm:pt modelId="{F953BE31-420F-4629-80AF-83D6F8478C86}" type="pres">
      <dgm:prSet presAssocID="{694CE55B-26EC-4AAE-B5A1-08B16ECBD5BF}" presName="node" presStyleLbl="node1" presStyleIdx="5" presStyleCnt="7" custRadScaleRad="96435" custRadScaleInc="55850">
        <dgm:presLayoutVars>
          <dgm:bulletEnabled val="1"/>
        </dgm:presLayoutVars>
      </dgm:prSet>
      <dgm:spPr/>
    </dgm:pt>
    <dgm:pt modelId="{E6768CA6-F22B-4282-8DFA-D87BFB059620}" type="pres">
      <dgm:prSet presAssocID="{694CE55B-26EC-4AAE-B5A1-08B16ECBD5BF}" presName="spNode" presStyleCnt="0"/>
      <dgm:spPr/>
    </dgm:pt>
    <dgm:pt modelId="{19AFB20A-4B3E-445C-A702-D8853351C6FE}" type="pres">
      <dgm:prSet presAssocID="{D90E8970-C2D1-4902-A561-9C2660FB37E0}" presName="sibTrans" presStyleLbl="sibTrans1D1" presStyleIdx="5" presStyleCnt="7"/>
      <dgm:spPr/>
    </dgm:pt>
    <dgm:pt modelId="{3D6BD94C-EF91-4DA5-B6AB-7A4238E5A95B}" type="pres">
      <dgm:prSet presAssocID="{98E11985-DF13-4198-82D4-2CEBF4B9EC1C}" presName="node" presStyleLbl="node1" presStyleIdx="6" presStyleCnt="7">
        <dgm:presLayoutVars>
          <dgm:bulletEnabled val="1"/>
        </dgm:presLayoutVars>
      </dgm:prSet>
      <dgm:spPr/>
    </dgm:pt>
    <dgm:pt modelId="{59E6183B-0A2A-44B0-9849-05AF3FB74D88}" type="pres">
      <dgm:prSet presAssocID="{98E11985-DF13-4198-82D4-2CEBF4B9EC1C}" presName="spNode" presStyleCnt="0"/>
      <dgm:spPr/>
    </dgm:pt>
    <dgm:pt modelId="{41001A8F-29E6-4E1E-896C-A17ED7311D66}" type="pres">
      <dgm:prSet presAssocID="{1DD229F3-9B5D-4E4A-B488-C0B578BBBDE9}" presName="sibTrans" presStyleLbl="sibTrans1D1" presStyleIdx="6" presStyleCnt="7"/>
      <dgm:spPr/>
    </dgm:pt>
  </dgm:ptLst>
  <dgm:cxnLst>
    <dgm:cxn modelId="{B96FCD02-DBF8-4256-B987-BA6C237228CB}" srcId="{AA5579EE-637E-4A43-9CD8-58B977F7C5AB}" destId="{694CE55B-26EC-4AAE-B5A1-08B16ECBD5BF}" srcOrd="5" destOrd="0" parTransId="{8074E04D-4125-447A-948A-A64E8B4314E7}" sibTransId="{D90E8970-C2D1-4902-A561-9C2660FB37E0}"/>
    <dgm:cxn modelId="{797D2710-00AB-4084-BFF4-3A9078B31678}" srcId="{AA5579EE-637E-4A43-9CD8-58B977F7C5AB}" destId="{4B26CCEB-95B6-4B3F-887F-28DBFF356B45}" srcOrd="1" destOrd="0" parTransId="{8CD89FCD-DEFE-4FD1-922C-8C0E11A4FBEA}" sibTransId="{05F8002B-EC33-4CA8-B07B-A43BA8976D65}"/>
    <dgm:cxn modelId="{3DB86629-9BEC-4F42-A2C9-5C9801BFD829}" srcId="{AA5579EE-637E-4A43-9CD8-58B977F7C5AB}" destId="{5ED30EEA-654F-4F6D-8F1F-76404AB2C7F1}" srcOrd="0" destOrd="0" parTransId="{DC90A8D1-6DEE-4F72-BB71-E478E334A95E}" sibTransId="{16206F48-D820-4F70-9BBE-96BE901D833B}"/>
    <dgm:cxn modelId="{D3950A30-A032-4F0F-B77F-4256080EDBC6}" type="presOf" srcId="{05F8002B-EC33-4CA8-B07B-A43BA8976D65}" destId="{1832AE59-EB61-4FBA-83A1-8FFDEE83328C}" srcOrd="0" destOrd="0" presId="urn:microsoft.com/office/officeart/2005/8/layout/cycle6"/>
    <dgm:cxn modelId="{EB601633-1783-467B-A396-66DF268EEE4B}" srcId="{AA5579EE-637E-4A43-9CD8-58B977F7C5AB}" destId="{B8661990-B87D-4170-A073-E801EBED4B58}" srcOrd="3" destOrd="0" parTransId="{5A379583-3484-4999-BB5A-D068862A2BA8}" sibTransId="{141A21D5-18AA-4705-BB30-2C3591896BB1}"/>
    <dgm:cxn modelId="{F0707641-86F5-45A8-B6CE-F114111FF437}" type="presOf" srcId="{694CE55B-26EC-4AAE-B5A1-08B16ECBD5BF}" destId="{F953BE31-420F-4629-80AF-83D6F8478C86}" srcOrd="0" destOrd="0" presId="urn:microsoft.com/office/officeart/2005/8/layout/cycle6"/>
    <dgm:cxn modelId="{1AA6FD56-06FE-426B-A135-C1EDB57A51A1}" type="presOf" srcId="{16206F48-D820-4F70-9BBE-96BE901D833B}" destId="{B904CF7D-0761-4AB3-97AF-299090D7727D}" srcOrd="0" destOrd="0" presId="urn:microsoft.com/office/officeart/2005/8/layout/cycle6"/>
    <dgm:cxn modelId="{32342881-AA4E-41E2-87D6-1F02BF8CDA9E}" srcId="{AA5579EE-637E-4A43-9CD8-58B977F7C5AB}" destId="{98E11985-DF13-4198-82D4-2CEBF4B9EC1C}" srcOrd="6" destOrd="0" parTransId="{08AFC8C9-A831-4255-8F59-92FDD20A25C0}" sibTransId="{1DD229F3-9B5D-4E4A-B488-C0B578BBBDE9}"/>
    <dgm:cxn modelId="{0680899D-B560-4861-87A1-C47728E25D6C}" type="presOf" srcId="{5ED30EEA-654F-4F6D-8F1F-76404AB2C7F1}" destId="{22B426BE-8B94-4510-B63C-8BA0659E4080}" srcOrd="0" destOrd="0" presId="urn:microsoft.com/office/officeart/2005/8/layout/cycle6"/>
    <dgm:cxn modelId="{4F9EF59D-77C6-4915-AC47-B404FA16D5D5}" type="presOf" srcId="{1DD229F3-9B5D-4E4A-B488-C0B578BBBDE9}" destId="{41001A8F-29E6-4E1E-896C-A17ED7311D66}" srcOrd="0" destOrd="0" presId="urn:microsoft.com/office/officeart/2005/8/layout/cycle6"/>
    <dgm:cxn modelId="{BD6C699F-5F01-4573-B8A1-5A790DE1CD8A}" type="presOf" srcId="{141A21D5-18AA-4705-BB30-2C3591896BB1}" destId="{B874CB27-09D9-4435-99F2-5A341805AB0D}" srcOrd="0" destOrd="0" presId="urn:microsoft.com/office/officeart/2005/8/layout/cycle6"/>
    <dgm:cxn modelId="{C04BB4AA-4EBB-41CD-B8B1-0B8729A8C1A5}" type="presOf" srcId="{40A411C3-9839-4E1A-B605-81359C8C9EF7}" destId="{CAF2C8F7-713E-4D09-96AB-D2703C3330B0}" srcOrd="0" destOrd="0" presId="urn:microsoft.com/office/officeart/2005/8/layout/cycle6"/>
    <dgm:cxn modelId="{A1B320C1-56E9-4DD9-BCDB-E07137E46246}" type="presOf" srcId="{B8661990-B87D-4170-A073-E801EBED4B58}" destId="{8D949948-8CF6-4440-A09A-38C14EEA7C83}" srcOrd="0" destOrd="0" presId="urn:microsoft.com/office/officeart/2005/8/layout/cycle6"/>
    <dgm:cxn modelId="{DF3944C1-CD05-40FB-A26F-BF6A7908B465}" type="presOf" srcId="{D1395B8B-1AF1-4468-B4DB-B072FE1C3049}" destId="{54BBDC8B-9467-417D-AAEF-384FC3F3599A}" srcOrd="0" destOrd="0" presId="urn:microsoft.com/office/officeart/2005/8/layout/cycle6"/>
    <dgm:cxn modelId="{3D2230C9-59B3-479B-B7B7-60BEBE99A39A}" srcId="{AA5579EE-637E-4A43-9CD8-58B977F7C5AB}" destId="{40A411C3-9839-4E1A-B605-81359C8C9EF7}" srcOrd="2" destOrd="0" parTransId="{4B77E887-A937-45D0-A937-259146191610}" sibTransId="{2C953888-EAA4-4833-A4E3-92B6697F3DA9}"/>
    <dgm:cxn modelId="{DD1379D0-A7B2-4C64-9FE0-D46BCEA38E52}" type="presOf" srcId="{4B26CCEB-95B6-4B3F-887F-28DBFF356B45}" destId="{7EC92A49-3AF5-443D-9BDD-D0D16A762B14}" srcOrd="0" destOrd="0" presId="urn:microsoft.com/office/officeart/2005/8/layout/cycle6"/>
    <dgm:cxn modelId="{506F41DE-5FE7-45D1-A8AF-FADCE4147246}" type="presOf" srcId="{AA5579EE-637E-4A43-9CD8-58B977F7C5AB}" destId="{74697DD3-6942-482D-9883-7EC0342A9442}" srcOrd="0" destOrd="0" presId="urn:microsoft.com/office/officeart/2005/8/layout/cycle6"/>
    <dgm:cxn modelId="{5CCC24E8-C5C2-4BBA-B3E4-8AE9E4E9298E}" srcId="{AA5579EE-637E-4A43-9CD8-58B977F7C5AB}" destId="{D1395B8B-1AF1-4468-B4DB-B072FE1C3049}" srcOrd="4" destOrd="0" parTransId="{A852368B-1079-4142-9AB3-E9B2B66DD735}" sibTransId="{080DE963-DF62-4E41-AEA5-B5C8461858AF}"/>
    <dgm:cxn modelId="{1E23FFF1-8974-4DAD-8C4C-CC790E7595F7}" type="presOf" srcId="{D90E8970-C2D1-4902-A561-9C2660FB37E0}" destId="{19AFB20A-4B3E-445C-A702-D8853351C6FE}" srcOrd="0" destOrd="0" presId="urn:microsoft.com/office/officeart/2005/8/layout/cycle6"/>
    <dgm:cxn modelId="{AB372BF6-82BD-4327-85AE-7E8CEBC4C219}" type="presOf" srcId="{2C953888-EAA4-4833-A4E3-92B6697F3DA9}" destId="{9C393CF2-995F-4045-99CD-36FFBB06D0C0}" srcOrd="0" destOrd="0" presId="urn:microsoft.com/office/officeart/2005/8/layout/cycle6"/>
    <dgm:cxn modelId="{57BA25FA-D578-4405-B0E0-D41025E015B5}" type="presOf" srcId="{080DE963-DF62-4E41-AEA5-B5C8461858AF}" destId="{E1F48361-8792-435B-9701-53B61814CC29}" srcOrd="0" destOrd="0" presId="urn:microsoft.com/office/officeart/2005/8/layout/cycle6"/>
    <dgm:cxn modelId="{762E1AFC-C74E-4D7F-9F19-6087E144C501}" type="presOf" srcId="{98E11985-DF13-4198-82D4-2CEBF4B9EC1C}" destId="{3D6BD94C-EF91-4DA5-B6AB-7A4238E5A95B}" srcOrd="0" destOrd="0" presId="urn:microsoft.com/office/officeart/2005/8/layout/cycle6"/>
    <dgm:cxn modelId="{5A424674-4D52-446D-BAAD-24D482B0EB41}" type="presParOf" srcId="{74697DD3-6942-482D-9883-7EC0342A9442}" destId="{22B426BE-8B94-4510-B63C-8BA0659E4080}" srcOrd="0" destOrd="0" presId="urn:microsoft.com/office/officeart/2005/8/layout/cycle6"/>
    <dgm:cxn modelId="{2F95D299-A00D-4FCD-8032-18BFCB5DD6EF}" type="presParOf" srcId="{74697DD3-6942-482D-9883-7EC0342A9442}" destId="{BE18A697-8E39-4667-895A-864CB07BBA07}" srcOrd="1" destOrd="0" presId="urn:microsoft.com/office/officeart/2005/8/layout/cycle6"/>
    <dgm:cxn modelId="{806D0F60-5F2D-4A22-8AC5-15B83BCF57B8}" type="presParOf" srcId="{74697DD3-6942-482D-9883-7EC0342A9442}" destId="{B904CF7D-0761-4AB3-97AF-299090D7727D}" srcOrd="2" destOrd="0" presId="urn:microsoft.com/office/officeart/2005/8/layout/cycle6"/>
    <dgm:cxn modelId="{F281A9CC-5E4F-4C93-8508-54F04E722EEC}" type="presParOf" srcId="{74697DD3-6942-482D-9883-7EC0342A9442}" destId="{7EC92A49-3AF5-443D-9BDD-D0D16A762B14}" srcOrd="3" destOrd="0" presId="urn:microsoft.com/office/officeart/2005/8/layout/cycle6"/>
    <dgm:cxn modelId="{E08A0645-6FA2-4085-8BE4-D6BD4C4C56B8}" type="presParOf" srcId="{74697DD3-6942-482D-9883-7EC0342A9442}" destId="{539D0BD3-62E8-4E2E-B4B4-3D58F7D1C82D}" srcOrd="4" destOrd="0" presId="urn:microsoft.com/office/officeart/2005/8/layout/cycle6"/>
    <dgm:cxn modelId="{BB408A05-C5BF-440A-9EFA-C246E004AC4D}" type="presParOf" srcId="{74697DD3-6942-482D-9883-7EC0342A9442}" destId="{1832AE59-EB61-4FBA-83A1-8FFDEE83328C}" srcOrd="5" destOrd="0" presId="urn:microsoft.com/office/officeart/2005/8/layout/cycle6"/>
    <dgm:cxn modelId="{0B426094-B9CA-454F-8886-E3FA421DE462}" type="presParOf" srcId="{74697DD3-6942-482D-9883-7EC0342A9442}" destId="{CAF2C8F7-713E-4D09-96AB-D2703C3330B0}" srcOrd="6" destOrd="0" presId="urn:microsoft.com/office/officeart/2005/8/layout/cycle6"/>
    <dgm:cxn modelId="{33D4AEE7-53BF-40C2-880E-BCA4599E4904}" type="presParOf" srcId="{74697DD3-6942-482D-9883-7EC0342A9442}" destId="{861F3CF1-BBC7-43F1-A8E3-4366EF2F74C6}" srcOrd="7" destOrd="0" presId="urn:microsoft.com/office/officeart/2005/8/layout/cycle6"/>
    <dgm:cxn modelId="{86D7BF06-E034-4EBB-8272-CCA500CDD9DF}" type="presParOf" srcId="{74697DD3-6942-482D-9883-7EC0342A9442}" destId="{9C393CF2-995F-4045-99CD-36FFBB06D0C0}" srcOrd="8" destOrd="0" presId="urn:microsoft.com/office/officeart/2005/8/layout/cycle6"/>
    <dgm:cxn modelId="{D53447C3-2BC4-4C76-9EF0-89087E0199AB}" type="presParOf" srcId="{74697DD3-6942-482D-9883-7EC0342A9442}" destId="{8D949948-8CF6-4440-A09A-38C14EEA7C83}" srcOrd="9" destOrd="0" presId="urn:microsoft.com/office/officeart/2005/8/layout/cycle6"/>
    <dgm:cxn modelId="{BF412428-E2A8-4E3D-AC12-EB18E3483686}" type="presParOf" srcId="{74697DD3-6942-482D-9883-7EC0342A9442}" destId="{4AE922F7-0EA7-44A6-9091-10433A3BDE7C}" srcOrd="10" destOrd="0" presId="urn:microsoft.com/office/officeart/2005/8/layout/cycle6"/>
    <dgm:cxn modelId="{C1AA0C87-F0AA-4099-B22F-A7931574C579}" type="presParOf" srcId="{74697DD3-6942-482D-9883-7EC0342A9442}" destId="{B874CB27-09D9-4435-99F2-5A341805AB0D}" srcOrd="11" destOrd="0" presId="urn:microsoft.com/office/officeart/2005/8/layout/cycle6"/>
    <dgm:cxn modelId="{EC543688-274A-4113-A07F-D7D290D3DFD6}" type="presParOf" srcId="{74697DD3-6942-482D-9883-7EC0342A9442}" destId="{54BBDC8B-9467-417D-AAEF-384FC3F3599A}" srcOrd="12" destOrd="0" presId="urn:microsoft.com/office/officeart/2005/8/layout/cycle6"/>
    <dgm:cxn modelId="{1006F109-4A15-4FBC-9113-3B075F117BE7}" type="presParOf" srcId="{74697DD3-6942-482D-9883-7EC0342A9442}" destId="{424EE53D-37A6-4F35-987C-7C44AECCBEDD}" srcOrd="13" destOrd="0" presId="urn:microsoft.com/office/officeart/2005/8/layout/cycle6"/>
    <dgm:cxn modelId="{1BF2D114-1C8D-4D30-A1D9-128DE8D6A1F1}" type="presParOf" srcId="{74697DD3-6942-482D-9883-7EC0342A9442}" destId="{E1F48361-8792-435B-9701-53B61814CC29}" srcOrd="14" destOrd="0" presId="urn:microsoft.com/office/officeart/2005/8/layout/cycle6"/>
    <dgm:cxn modelId="{340FEAA5-71B0-49E3-876C-0A2125D459F9}" type="presParOf" srcId="{74697DD3-6942-482D-9883-7EC0342A9442}" destId="{F953BE31-420F-4629-80AF-83D6F8478C86}" srcOrd="15" destOrd="0" presId="urn:microsoft.com/office/officeart/2005/8/layout/cycle6"/>
    <dgm:cxn modelId="{46249197-476E-425A-B8C6-3CDC2D2585C6}" type="presParOf" srcId="{74697DD3-6942-482D-9883-7EC0342A9442}" destId="{E6768CA6-F22B-4282-8DFA-D87BFB059620}" srcOrd="16" destOrd="0" presId="urn:microsoft.com/office/officeart/2005/8/layout/cycle6"/>
    <dgm:cxn modelId="{9CA37171-AC91-4835-BEBC-ABEF890C88E4}" type="presParOf" srcId="{74697DD3-6942-482D-9883-7EC0342A9442}" destId="{19AFB20A-4B3E-445C-A702-D8853351C6FE}" srcOrd="17" destOrd="0" presId="urn:microsoft.com/office/officeart/2005/8/layout/cycle6"/>
    <dgm:cxn modelId="{753E794A-F0FB-4AA0-A932-2B963AFDCBF9}" type="presParOf" srcId="{74697DD3-6942-482D-9883-7EC0342A9442}" destId="{3D6BD94C-EF91-4DA5-B6AB-7A4238E5A95B}" srcOrd="18" destOrd="0" presId="urn:microsoft.com/office/officeart/2005/8/layout/cycle6"/>
    <dgm:cxn modelId="{D1CFEFD1-BBD7-4CB8-9529-6743B00B9B82}" type="presParOf" srcId="{74697DD3-6942-482D-9883-7EC0342A9442}" destId="{59E6183B-0A2A-44B0-9849-05AF3FB74D88}" srcOrd="19" destOrd="0" presId="urn:microsoft.com/office/officeart/2005/8/layout/cycle6"/>
    <dgm:cxn modelId="{67948D91-7F21-472B-865C-D663E4160E8A}" type="presParOf" srcId="{74697DD3-6942-482D-9883-7EC0342A9442}" destId="{41001A8F-29E6-4E1E-896C-A17ED7311D66}" srcOrd="20" destOrd="0" presId="urn:microsoft.com/office/officeart/2005/8/layout/cycle6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280A8C-5AA4-47BE-AE00-560E8B6FCFD8}" type="doc">
      <dgm:prSet loTypeId="urn:microsoft.com/office/officeart/2005/8/layout/chevron1" loCatId="process" qsTypeId="urn:microsoft.com/office/officeart/2005/8/quickstyle/simple1#6" qsCatId="simple" csTypeId="urn:microsoft.com/office/officeart/2005/8/colors/accent1_2#7" csCatId="accent1" phldr="1"/>
      <dgm:spPr/>
    </dgm:pt>
    <dgm:pt modelId="{65EA597B-A3A9-43A4-A4B5-77744C836B84}">
      <dgm:prSet phldrT="[Text]"/>
      <dgm:spPr>
        <a:solidFill>
          <a:srgbClr val="FFC00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Step 1</a:t>
          </a:r>
        </a:p>
        <a:p>
          <a:r>
            <a:rPr lang="en-US" b="1" dirty="0">
              <a:solidFill>
                <a:sysClr val="windowText" lastClr="000000"/>
              </a:solidFill>
            </a:rPr>
            <a:t>Build the Team</a:t>
          </a:r>
        </a:p>
      </dgm:t>
    </dgm:pt>
    <dgm:pt modelId="{58A6A844-AF76-4E9B-97FF-16036B5C8150}" type="parTrans" cxnId="{36884339-EFDC-4CB5-9743-909091C99635}">
      <dgm:prSet/>
      <dgm:spPr/>
      <dgm:t>
        <a:bodyPr/>
        <a:lstStyle/>
        <a:p>
          <a:endParaRPr lang="en-US"/>
        </a:p>
      </dgm:t>
    </dgm:pt>
    <dgm:pt modelId="{EC37885F-0D8F-4BDC-B8F5-D23290B7E588}" type="sibTrans" cxnId="{36884339-EFDC-4CB5-9743-909091C99635}">
      <dgm:prSet/>
      <dgm:spPr/>
      <dgm:t>
        <a:bodyPr/>
        <a:lstStyle/>
        <a:p>
          <a:endParaRPr lang="en-US"/>
        </a:p>
      </dgm:t>
    </dgm:pt>
    <dgm:pt modelId="{80119ED9-EFF4-4C15-92DC-F1D611841804}">
      <dgm:prSet phldrT="[Text]"/>
      <dgm:spPr>
        <a:solidFill>
          <a:srgbClr val="92D05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Step 2</a:t>
          </a:r>
        </a:p>
        <a:p>
          <a:r>
            <a:rPr lang="en-US" b="1" dirty="0">
              <a:solidFill>
                <a:sysClr val="windowText" lastClr="000000"/>
              </a:solidFill>
            </a:rPr>
            <a:t>Market Research</a:t>
          </a:r>
        </a:p>
      </dgm:t>
    </dgm:pt>
    <dgm:pt modelId="{A2EF7685-0150-424E-B031-F4C7984077EA}" type="parTrans" cxnId="{6A6ABC8C-40F8-4180-B6EB-2580AAB5F9D9}">
      <dgm:prSet/>
      <dgm:spPr/>
      <dgm:t>
        <a:bodyPr/>
        <a:lstStyle/>
        <a:p>
          <a:endParaRPr lang="en-US"/>
        </a:p>
      </dgm:t>
    </dgm:pt>
    <dgm:pt modelId="{E5B7D617-FEFC-4411-84B5-3CEE1C4D358B}" type="sibTrans" cxnId="{6A6ABC8C-40F8-4180-B6EB-2580AAB5F9D9}">
      <dgm:prSet/>
      <dgm:spPr/>
      <dgm:t>
        <a:bodyPr/>
        <a:lstStyle/>
        <a:p>
          <a:endParaRPr lang="en-US"/>
        </a:p>
      </dgm:t>
    </dgm:pt>
    <dgm:pt modelId="{0FAF7087-A7D1-4F6B-9A00-A0D20F52CFC0}">
      <dgm:prSet phldrT="[Text]"/>
      <dgm:spPr>
        <a:solidFill>
          <a:schemeClr val="accent1">
            <a:lumMod val="50000"/>
          </a:schemeClr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5</a:t>
          </a:r>
        </a:p>
        <a:p>
          <a:r>
            <a: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SRM</a:t>
          </a:r>
        </a:p>
      </dgm:t>
    </dgm:pt>
    <dgm:pt modelId="{17CB05D1-7AEE-45A8-BD7E-DB5E104C24E3}" type="parTrans" cxnId="{929D75C0-2E7E-44DA-A5FB-25127C768134}">
      <dgm:prSet/>
      <dgm:spPr/>
      <dgm:t>
        <a:bodyPr/>
        <a:lstStyle/>
        <a:p>
          <a:endParaRPr lang="en-US"/>
        </a:p>
      </dgm:t>
    </dgm:pt>
    <dgm:pt modelId="{16EC8D52-CE6A-47B4-9DFE-5693815AE588}" type="sibTrans" cxnId="{929D75C0-2E7E-44DA-A5FB-25127C768134}">
      <dgm:prSet/>
      <dgm:spPr/>
      <dgm:t>
        <a:bodyPr/>
        <a:lstStyle/>
        <a:p>
          <a:endParaRPr lang="en-US"/>
        </a:p>
      </dgm:t>
    </dgm:pt>
    <dgm:pt modelId="{DE68B4B1-2B6D-4C6F-B083-C6F7FE485104}">
      <dgm:prSet phldrT="[Text]"/>
      <dgm:spPr>
        <a:solidFill>
          <a:schemeClr val="bg1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ysClr val="windowText" lastClr="000000"/>
              </a:solidFill>
            </a:rPr>
            <a:t>Step 3</a:t>
          </a:r>
        </a:p>
        <a:p>
          <a:r>
            <a:rPr lang="en-US" b="1" dirty="0">
              <a:solidFill>
                <a:sysClr val="windowText" lastClr="000000"/>
              </a:solidFill>
            </a:rPr>
            <a:t>Strategy Development</a:t>
          </a:r>
        </a:p>
      </dgm:t>
    </dgm:pt>
    <dgm:pt modelId="{2CABDC11-721E-4F91-893E-C45283CF157C}" type="parTrans" cxnId="{D86737D5-16E5-45A5-8AEC-7861F918E17F}">
      <dgm:prSet/>
      <dgm:spPr/>
      <dgm:t>
        <a:bodyPr/>
        <a:lstStyle/>
        <a:p>
          <a:endParaRPr lang="en-US"/>
        </a:p>
      </dgm:t>
    </dgm:pt>
    <dgm:pt modelId="{D80D70E1-42B7-49EF-BF71-1DE667C4A1E3}" type="sibTrans" cxnId="{D86737D5-16E5-45A5-8AEC-7861F918E17F}">
      <dgm:prSet/>
      <dgm:spPr/>
      <dgm:t>
        <a:bodyPr/>
        <a:lstStyle/>
        <a:p>
          <a:endParaRPr lang="en-US"/>
        </a:p>
      </dgm:t>
    </dgm:pt>
    <dgm:pt modelId="{BA904A81-8DFB-4EE5-8EA2-D8DACCCDD07C}">
      <dgm:prSet phldrT="[Text]"/>
      <dgm:spPr>
        <a:solidFill>
          <a:srgbClr val="0070C0"/>
        </a:solidFill>
        <a:ln>
          <a:solidFill>
            <a:schemeClr val="tx1"/>
          </a:solidFill>
        </a:ln>
      </dgm:spPr>
      <dgm:t>
        <a:bodyPr/>
        <a:lstStyle/>
        <a:p>
          <a:r>
            <a: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4</a:t>
          </a:r>
        </a:p>
        <a:p>
          <a:r>
            <a: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Contract Negotiation</a:t>
          </a:r>
        </a:p>
      </dgm:t>
    </dgm:pt>
    <dgm:pt modelId="{AAEBDEDF-42D7-46F5-B84D-8407C978B88F}" type="parTrans" cxnId="{10D02AA6-DF01-483B-BB82-A4975CB3D4CE}">
      <dgm:prSet/>
      <dgm:spPr/>
      <dgm:t>
        <a:bodyPr/>
        <a:lstStyle/>
        <a:p>
          <a:endParaRPr lang="en-US"/>
        </a:p>
      </dgm:t>
    </dgm:pt>
    <dgm:pt modelId="{68A2EC44-0183-4E34-AF41-62EA9A006183}" type="sibTrans" cxnId="{10D02AA6-DF01-483B-BB82-A4975CB3D4CE}">
      <dgm:prSet/>
      <dgm:spPr/>
      <dgm:t>
        <a:bodyPr/>
        <a:lstStyle/>
        <a:p>
          <a:endParaRPr lang="en-US"/>
        </a:p>
      </dgm:t>
    </dgm:pt>
    <dgm:pt modelId="{ABDD4154-88E4-403D-9BFF-B7F8790AB1FD}" type="pres">
      <dgm:prSet presAssocID="{B4280A8C-5AA4-47BE-AE00-560E8B6FCFD8}" presName="Name0" presStyleCnt="0">
        <dgm:presLayoutVars>
          <dgm:dir/>
          <dgm:animLvl val="lvl"/>
          <dgm:resizeHandles val="exact"/>
        </dgm:presLayoutVars>
      </dgm:prSet>
      <dgm:spPr/>
    </dgm:pt>
    <dgm:pt modelId="{7DA3DC81-8C8A-4A41-B429-22993C97AE86}" type="pres">
      <dgm:prSet presAssocID="{65EA597B-A3A9-43A4-A4B5-77744C836B84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F603FB53-2A4A-42D1-ACB6-2A809C54AC2C}" type="pres">
      <dgm:prSet presAssocID="{EC37885F-0D8F-4BDC-B8F5-D23290B7E588}" presName="parTxOnlySpace" presStyleCnt="0"/>
      <dgm:spPr/>
    </dgm:pt>
    <dgm:pt modelId="{B7A25E86-F482-4E49-81D1-852D2D7683C8}" type="pres">
      <dgm:prSet presAssocID="{80119ED9-EFF4-4C15-92DC-F1D611841804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C6EBDFAA-EBBE-4153-B0F7-A77B04F0C1A1}" type="pres">
      <dgm:prSet presAssocID="{E5B7D617-FEFC-4411-84B5-3CEE1C4D358B}" presName="parTxOnlySpace" presStyleCnt="0"/>
      <dgm:spPr/>
    </dgm:pt>
    <dgm:pt modelId="{F447C048-6FD1-46B1-A4FD-5731EFAD01F7}" type="pres">
      <dgm:prSet presAssocID="{DE68B4B1-2B6D-4C6F-B083-C6F7FE485104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7AA63411-F3C8-4828-968F-135C31EBDE45}" type="pres">
      <dgm:prSet presAssocID="{D80D70E1-42B7-49EF-BF71-1DE667C4A1E3}" presName="parTxOnlySpace" presStyleCnt="0"/>
      <dgm:spPr/>
    </dgm:pt>
    <dgm:pt modelId="{583BB028-0BFF-40E6-B7DD-291D330FB1BE}" type="pres">
      <dgm:prSet presAssocID="{BA904A81-8DFB-4EE5-8EA2-D8DACCCDD07C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E69D77F1-EFD0-4DE3-9140-8D3FB993AFAF}" type="pres">
      <dgm:prSet presAssocID="{68A2EC44-0183-4E34-AF41-62EA9A006183}" presName="parTxOnlySpace" presStyleCnt="0"/>
      <dgm:spPr/>
    </dgm:pt>
    <dgm:pt modelId="{C5D90A40-B7F7-472B-9262-E32B8295DB62}" type="pres">
      <dgm:prSet presAssocID="{0FAF7087-A7D1-4F6B-9A00-A0D20F52CFC0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C1C07D13-01FE-43E0-AC65-41ABD6756AD3}" type="presOf" srcId="{DE68B4B1-2B6D-4C6F-B083-C6F7FE485104}" destId="{F447C048-6FD1-46B1-A4FD-5731EFAD01F7}" srcOrd="0" destOrd="0" presId="urn:microsoft.com/office/officeart/2005/8/layout/chevron1"/>
    <dgm:cxn modelId="{45B6D92E-0EFD-408F-AE7D-DFC584190BDB}" type="presOf" srcId="{80119ED9-EFF4-4C15-92DC-F1D611841804}" destId="{B7A25E86-F482-4E49-81D1-852D2D7683C8}" srcOrd="0" destOrd="0" presId="urn:microsoft.com/office/officeart/2005/8/layout/chevron1"/>
    <dgm:cxn modelId="{36884339-EFDC-4CB5-9743-909091C99635}" srcId="{B4280A8C-5AA4-47BE-AE00-560E8B6FCFD8}" destId="{65EA597B-A3A9-43A4-A4B5-77744C836B84}" srcOrd="0" destOrd="0" parTransId="{58A6A844-AF76-4E9B-97FF-16036B5C8150}" sibTransId="{EC37885F-0D8F-4BDC-B8F5-D23290B7E588}"/>
    <dgm:cxn modelId="{2DC36940-0133-44B0-8E8F-2BAB7D0CB61F}" type="presOf" srcId="{0FAF7087-A7D1-4F6B-9A00-A0D20F52CFC0}" destId="{C5D90A40-B7F7-472B-9262-E32B8295DB62}" srcOrd="0" destOrd="0" presId="urn:microsoft.com/office/officeart/2005/8/layout/chevron1"/>
    <dgm:cxn modelId="{51129A60-22D9-4D79-9262-FB717B9C8203}" type="presOf" srcId="{65EA597B-A3A9-43A4-A4B5-77744C836B84}" destId="{7DA3DC81-8C8A-4A41-B429-22993C97AE86}" srcOrd="0" destOrd="0" presId="urn:microsoft.com/office/officeart/2005/8/layout/chevron1"/>
    <dgm:cxn modelId="{9AE9677D-AB99-4F04-9EE3-50815DB03650}" type="presOf" srcId="{B4280A8C-5AA4-47BE-AE00-560E8B6FCFD8}" destId="{ABDD4154-88E4-403D-9BFF-B7F8790AB1FD}" srcOrd="0" destOrd="0" presId="urn:microsoft.com/office/officeart/2005/8/layout/chevron1"/>
    <dgm:cxn modelId="{6A6ABC8C-40F8-4180-B6EB-2580AAB5F9D9}" srcId="{B4280A8C-5AA4-47BE-AE00-560E8B6FCFD8}" destId="{80119ED9-EFF4-4C15-92DC-F1D611841804}" srcOrd="1" destOrd="0" parTransId="{A2EF7685-0150-424E-B031-F4C7984077EA}" sibTransId="{E5B7D617-FEFC-4411-84B5-3CEE1C4D358B}"/>
    <dgm:cxn modelId="{10D02AA6-DF01-483B-BB82-A4975CB3D4CE}" srcId="{B4280A8C-5AA4-47BE-AE00-560E8B6FCFD8}" destId="{BA904A81-8DFB-4EE5-8EA2-D8DACCCDD07C}" srcOrd="3" destOrd="0" parTransId="{AAEBDEDF-42D7-46F5-B84D-8407C978B88F}" sibTransId="{68A2EC44-0183-4E34-AF41-62EA9A006183}"/>
    <dgm:cxn modelId="{389485BC-5B04-44FE-88D7-AD6A78AA1252}" type="presOf" srcId="{BA904A81-8DFB-4EE5-8EA2-D8DACCCDD07C}" destId="{583BB028-0BFF-40E6-B7DD-291D330FB1BE}" srcOrd="0" destOrd="0" presId="urn:microsoft.com/office/officeart/2005/8/layout/chevron1"/>
    <dgm:cxn modelId="{929D75C0-2E7E-44DA-A5FB-25127C768134}" srcId="{B4280A8C-5AA4-47BE-AE00-560E8B6FCFD8}" destId="{0FAF7087-A7D1-4F6B-9A00-A0D20F52CFC0}" srcOrd="4" destOrd="0" parTransId="{17CB05D1-7AEE-45A8-BD7E-DB5E104C24E3}" sibTransId="{16EC8D52-CE6A-47B4-9DFE-5693815AE588}"/>
    <dgm:cxn modelId="{D86737D5-16E5-45A5-8AEC-7861F918E17F}" srcId="{B4280A8C-5AA4-47BE-AE00-560E8B6FCFD8}" destId="{DE68B4B1-2B6D-4C6F-B083-C6F7FE485104}" srcOrd="2" destOrd="0" parTransId="{2CABDC11-721E-4F91-893E-C45283CF157C}" sibTransId="{D80D70E1-42B7-49EF-BF71-1DE667C4A1E3}"/>
    <dgm:cxn modelId="{901030FD-AA30-4971-865C-2E410DB0BB2E}" type="presParOf" srcId="{ABDD4154-88E4-403D-9BFF-B7F8790AB1FD}" destId="{7DA3DC81-8C8A-4A41-B429-22993C97AE86}" srcOrd="0" destOrd="0" presId="urn:microsoft.com/office/officeart/2005/8/layout/chevron1"/>
    <dgm:cxn modelId="{19704F77-871D-4C30-B333-B7B3AD68CF1A}" type="presParOf" srcId="{ABDD4154-88E4-403D-9BFF-B7F8790AB1FD}" destId="{F603FB53-2A4A-42D1-ACB6-2A809C54AC2C}" srcOrd="1" destOrd="0" presId="urn:microsoft.com/office/officeart/2005/8/layout/chevron1"/>
    <dgm:cxn modelId="{3194E51F-4E94-4EB4-88B6-C8CB488D122E}" type="presParOf" srcId="{ABDD4154-88E4-403D-9BFF-B7F8790AB1FD}" destId="{B7A25E86-F482-4E49-81D1-852D2D7683C8}" srcOrd="2" destOrd="0" presId="urn:microsoft.com/office/officeart/2005/8/layout/chevron1"/>
    <dgm:cxn modelId="{66BBEF17-11F4-4835-8B83-442935EF56BF}" type="presParOf" srcId="{ABDD4154-88E4-403D-9BFF-B7F8790AB1FD}" destId="{C6EBDFAA-EBBE-4153-B0F7-A77B04F0C1A1}" srcOrd="3" destOrd="0" presId="urn:microsoft.com/office/officeart/2005/8/layout/chevron1"/>
    <dgm:cxn modelId="{13CF46EA-876C-4189-B34A-64EABB047083}" type="presParOf" srcId="{ABDD4154-88E4-403D-9BFF-B7F8790AB1FD}" destId="{F447C048-6FD1-46B1-A4FD-5731EFAD01F7}" srcOrd="4" destOrd="0" presId="urn:microsoft.com/office/officeart/2005/8/layout/chevron1"/>
    <dgm:cxn modelId="{612DC22A-388E-401B-A1EE-6C8847E9C0E0}" type="presParOf" srcId="{ABDD4154-88E4-403D-9BFF-B7F8790AB1FD}" destId="{7AA63411-F3C8-4828-968F-135C31EBDE45}" srcOrd="5" destOrd="0" presId="urn:microsoft.com/office/officeart/2005/8/layout/chevron1"/>
    <dgm:cxn modelId="{C0C2CC25-26E5-4D50-80CE-E99F7BB1A0D3}" type="presParOf" srcId="{ABDD4154-88E4-403D-9BFF-B7F8790AB1FD}" destId="{583BB028-0BFF-40E6-B7DD-291D330FB1BE}" srcOrd="6" destOrd="0" presId="urn:microsoft.com/office/officeart/2005/8/layout/chevron1"/>
    <dgm:cxn modelId="{83B7A581-12CD-4DC0-AE89-FE19A8C984CF}" type="presParOf" srcId="{ABDD4154-88E4-403D-9BFF-B7F8790AB1FD}" destId="{E69D77F1-EFD0-4DE3-9140-8D3FB993AFAF}" srcOrd="7" destOrd="0" presId="urn:microsoft.com/office/officeart/2005/8/layout/chevron1"/>
    <dgm:cxn modelId="{E4BF9BE5-B524-4B8C-908D-57AB09B56F98}" type="presParOf" srcId="{ABDD4154-88E4-403D-9BFF-B7F8790AB1FD}" destId="{C5D90A40-B7F7-472B-9262-E32B8295DB62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D6DBD8-6CC0-4B84-97C6-590898833AA0}">
      <dsp:nvSpPr>
        <dsp:cNvPr id="0" name=""/>
        <dsp:cNvSpPr/>
      </dsp:nvSpPr>
      <dsp:spPr>
        <a:xfrm>
          <a:off x="0" y="3687530"/>
          <a:ext cx="8229600" cy="806741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ysClr val="windowText" lastClr="000000"/>
              </a:solidFill>
            </a:rPr>
            <a:t>Commodity strategy</a:t>
          </a:r>
        </a:p>
      </dsp:txBody>
      <dsp:txXfrm>
        <a:off x="0" y="3687530"/>
        <a:ext cx="8229600" cy="806741"/>
      </dsp:txXfrm>
    </dsp:sp>
    <dsp:sp modelId="{9DAF163A-43CC-46A8-9174-65C04BB044AC}">
      <dsp:nvSpPr>
        <dsp:cNvPr id="0" name=""/>
        <dsp:cNvSpPr/>
      </dsp:nvSpPr>
      <dsp:spPr>
        <a:xfrm rot="10800000">
          <a:off x="0" y="2458863"/>
          <a:ext cx="8229600" cy="1240768"/>
        </a:xfrm>
        <a:prstGeom prst="upArrowCallou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ysClr val="windowText" lastClr="000000"/>
              </a:solidFill>
            </a:rPr>
            <a:t>Supply management strategy</a:t>
          </a:r>
        </a:p>
      </dsp:txBody>
      <dsp:txXfrm rot="10800000">
        <a:off x="0" y="2458863"/>
        <a:ext cx="8229600" cy="806214"/>
      </dsp:txXfrm>
    </dsp:sp>
    <dsp:sp modelId="{E019A6B3-AEB6-4B2E-B7DD-7C397C2682E6}">
      <dsp:nvSpPr>
        <dsp:cNvPr id="0" name=""/>
        <dsp:cNvSpPr/>
      </dsp:nvSpPr>
      <dsp:spPr>
        <a:xfrm rot="10800000">
          <a:off x="0" y="1230195"/>
          <a:ext cx="8229600" cy="1240768"/>
        </a:xfrm>
        <a:prstGeom prst="upArrowCallou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ysClr val="windowText" lastClr="000000"/>
              </a:solidFill>
            </a:rPr>
            <a:t>Business unit strategy</a:t>
          </a:r>
        </a:p>
      </dsp:txBody>
      <dsp:txXfrm rot="10800000">
        <a:off x="0" y="1230195"/>
        <a:ext cx="8229600" cy="806214"/>
      </dsp:txXfrm>
    </dsp:sp>
    <dsp:sp modelId="{A73D0E4C-F9BA-4955-93E1-834DF20CA659}">
      <dsp:nvSpPr>
        <dsp:cNvPr id="0" name=""/>
        <dsp:cNvSpPr/>
      </dsp:nvSpPr>
      <dsp:spPr>
        <a:xfrm rot="10800000">
          <a:off x="0" y="2"/>
          <a:ext cx="8229600" cy="1240768"/>
        </a:xfrm>
        <a:prstGeom prst="upArrowCallou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b="1" kern="1200" dirty="0">
              <a:solidFill>
                <a:sysClr val="windowText" lastClr="000000"/>
              </a:solidFill>
            </a:rPr>
            <a:t>Corporate strategy</a:t>
          </a:r>
        </a:p>
      </dsp:txBody>
      <dsp:txXfrm rot="10800000">
        <a:off x="0" y="2"/>
        <a:ext cx="8229600" cy="8062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B426BE-8B94-4510-B63C-8BA0659E4080}">
      <dsp:nvSpPr>
        <dsp:cNvPr id="0" name=""/>
        <dsp:cNvSpPr/>
      </dsp:nvSpPr>
      <dsp:spPr>
        <a:xfrm>
          <a:off x="3607779" y="2115"/>
          <a:ext cx="1166440" cy="758186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ysClr val="windowText" lastClr="000000"/>
              </a:solidFill>
            </a:rPr>
            <a:t>Company objectives</a:t>
          </a:r>
        </a:p>
      </dsp:txBody>
      <dsp:txXfrm>
        <a:off x="3644791" y="39127"/>
        <a:ext cx="1092416" cy="684162"/>
      </dsp:txXfrm>
    </dsp:sp>
    <dsp:sp modelId="{B904CF7D-0761-4AB3-97AF-299090D7727D}">
      <dsp:nvSpPr>
        <dsp:cNvPr id="0" name=""/>
        <dsp:cNvSpPr/>
      </dsp:nvSpPr>
      <dsp:spPr>
        <a:xfrm>
          <a:off x="2026639" y="381208"/>
          <a:ext cx="4328721" cy="4328721"/>
        </a:xfrm>
        <a:custGeom>
          <a:avLst/>
          <a:gdLst/>
          <a:ahLst/>
          <a:cxnLst/>
          <a:rect l="0" t="0" r="0" b="0"/>
          <a:pathLst>
            <a:path>
              <a:moveTo>
                <a:pt x="2755304" y="82236"/>
              </a:moveTo>
              <a:arcTo wR="2164360" hR="2164360" stAng="17150693" swAng="1256522"/>
            </a:path>
          </a:pathLst>
        </a:custGeom>
        <a:noFill/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C92A49-3AF5-443D-9BDD-D0D16A762B14}">
      <dsp:nvSpPr>
        <dsp:cNvPr id="0" name=""/>
        <dsp:cNvSpPr/>
      </dsp:nvSpPr>
      <dsp:spPr>
        <a:xfrm>
          <a:off x="5299945" y="817019"/>
          <a:ext cx="1166440" cy="758186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ysClr val="windowText" lastClr="000000"/>
              </a:solidFill>
            </a:rPr>
            <a:t>Cross-functional business objectives</a:t>
          </a:r>
        </a:p>
      </dsp:txBody>
      <dsp:txXfrm>
        <a:off x="5336957" y="854031"/>
        <a:ext cx="1092416" cy="684162"/>
      </dsp:txXfrm>
    </dsp:sp>
    <dsp:sp modelId="{1832AE59-EB61-4FBA-83A1-8FFDEE83328C}">
      <dsp:nvSpPr>
        <dsp:cNvPr id="0" name=""/>
        <dsp:cNvSpPr/>
      </dsp:nvSpPr>
      <dsp:spPr>
        <a:xfrm>
          <a:off x="2056978" y="439474"/>
          <a:ext cx="4328721" cy="4328721"/>
        </a:xfrm>
        <a:custGeom>
          <a:avLst/>
          <a:gdLst/>
          <a:ahLst/>
          <a:cxnLst/>
          <a:rect l="0" t="0" r="0" b="0"/>
          <a:pathLst>
            <a:path>
              <a:moveTo>
                <a:pt x="4072215" y="1142328"/>
              </a:moveTo>
              <a:arcTo wR="2164360" hR="2164360" stAng="19909331" swAng="1172110"/>
            </a:path>
          </a:pathLst>
        </a:custGeom>
        <a:noFill/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F2C8F7-713E-4D09-96AB-D2703C3330B0}">
      <dsp:nvSpPr>
        <dsp:cNvPr id="0" name=""/>
        <dsp:cNvSpPr/>
      </dsp:nvSpPr>
      <dsp:spPr>
        <a:xfrm>
          <a:off x="5791207" y="2286002"/>
          <a:ext cx="1166440" cy="758186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ysClr val="windowText" lastClr="000000"/>
              </a:solidFill>
            </a:rPr>
            <a:t>Purchasing and supply chain goals</a:t>
          </a:r>
        </a:p>
      </dsp:txBody>
      <dsp:txXfrm>
        <a:off x="5828219" y="2323014"/>
        <a:ext cx="1092416" cy="684162"/>
      </dsp:txXfrm>
    </dsp:sp>
    <dsp:sp modelId="{9C393CF2-995F-4045-99CD-36FFBB06D0C0}">
      <dsp:nvSpPr>
        <dsp:cNvPr id="0" name=""/>
        <dsp:cNvSpPr/>
      </dsp:nvSpPr>
      <dsp:spPr>
        <a:xfrm>
          <a:off x="2103968" y="190814"/>
          <a:ext cx="4328721" cy="4328721"/>
        </a:xfrm>
        <a:custGeom>
          <a:avLst/>
          <a:gdLst/>
          <a:ahLst/>
          <a:cxnLst/>
          <a:rect l="0" t="0" r="0" b="0"/>
          <a:pathLst>
            <a:path>
              <a:moveTo>
                <a:pt x="4212945" y="2862757"/>
              </a:moveTo>
              <a:arcTo wR="2164360" hR="2164360" stAng="1129506" swAng="1556095"/>
            </a:path>
          </a:pathLst>
        </a:custGeom>
        <a:noFill/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D949948-8CF6-4440-A09A-38C14EEA7C83}">
      <dsp:nvSpPr>
        <dsp:cNvPr id="0" name=""/>
        <dsp:cNvSpPr/>
      </dsp:nvSpPr>
      <dsp:spPr>
        <a:xfrm>
          <a:off x="4800604" y="3886204"/>
          <a:ext cx="1166440" cy="758186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ysClr val="windowText" lastClr="000000"/>
              </a:solidFill>
            </a:rPr>
            <a:t>Purchasing and supply chain strategies</a:t>
          </a:r>
        </a:p>
      </dsp:txBody>
      <dsp:txXfrm>
        <a:off x="4837616" y="3923216"/>
        <a:ext cx="1092416" cy="684162"/>
      </dsp:txXfrm>
    </dsp:sp>
    <dsp:sp modelId="{B874CB27-09D9-4435-99F2-5A341805AB0D}">
      <dsp:nvSpPr>
        <dsp:cNvPr id="0" name=""/>
        <dsp:cNvSpPr/>
      </dsp:nvSpPr>
      <dsp:spPr>
        <a:xfrm>
          <a:off x="2131049" y="278801"/>
          <a:ext cx="4328721" cy="4328721"/>
        </a:xfrm>
        <a:custGeom>
          <a:avLst/>
          <a:gdLst/>
          <a:ahLst/>
          <a:cxnLst/>
          <a:rect l="0" t="0" r="0" b="0"/>
          <a:pathLst>
            <a:path>
              <a:moveTo>
                <a:pt x="2658658" y="4271521"/>
              </a:moveTo>
              <a:arcTo wR="2164360" hR="2164360" stAng="4607896" swAng="1763753"/>
            </a:path>
          </a:pathLst>
        </a:custGeom>
        <a:noFill/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BBDC8B-9467-417D-AAEF-384FC3F3599A}">
      <dsp:nvSpPr>
        <dsp:cNvPr id="0" name=""/>
        <dsp:cNvSpPr/>
      </dsp:nvSpPr>
      <dsp:spPr>
        <a:xfrm>
          <a:off x="2514597" y="3886199"/>
          <a:ext cx="1166440" cy="758186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ysClr val="windowText" lastClr="000000"/>
              </a:solidFill>
            </a:rPr>
            <a:t>Performance measurement system</a:t>
          </a:r>
        </a:p>
      </dsp:txBody>
      <dsp:txXfrm>
        <a:off x="2551609" y="3923211"/>
        <a:ext cx="1092416" cy="684162"/>
      </dsp:txXfrm>
    </dsp:sp>
    <dsp:sp modelId="{E1F48361-8792-435B-9701-53B61814CC29}">
      <dsp:nvSpPr>
        <dsp:cNvPr id="0" name=""/>
        <dsp:cNvSpPr/>
      </dsp:nvSpPr>
      <dsp:spPr>
        <a:xfrm>
          <a:off x="2066510" y="236819"/>
          <a:ext cx="4328721" cy="4328721"/>
        </a:xfrm>
        <a:custGeom>
          <a:avLst/>
          <a:gdLst/>
          <a:ahLst/>
          <a:cxnLst/>
          <a:rect l="0" t="0" r="0" b="0"/>
          <a:pathLst>
            <a:path>
              <a:moveTo>
                <a:pt x="583145" y="3642270"/>
              </a:moveTo>
              <a:arcTo wR="2164360" hR="2164360" stAng="8216047" swAng="1531493"/>
            </a:path>
          </a:pathLst>
        </a:custGeom>
        <a:noFill/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53BE31-420F-4629-80AF-83D6F8478C86}">
      <dsp:nvSpPr>
        <dsp:cNvPr id="0" name=""/>
        <dsp:cNvSpPr/>
      </dsp:nvSpPr>
      <dsp:spPr>
        <a:xfrm>
          <a:off x="1524003" y="2286000"/>
          <a:ext cx="1166440" cy="758186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ysClr val="windowText" lastClr="000000"/>
              </a:solidFill>
            </a:rPr>
            <a:t>Performance measurement review</a:t>
          </a:r>
        </a:p>
      </dsp:txBody>
      <dsp:txXfrm>
        <a:off x="1561015" y="2323012"/>
        <a:ext cx="1092416" cy="684162"/>
      </dsp:txXfrm>
    </dsp:sp>
    <dsp:sp modelId="{19AFB20A-4B3E-445C-A702-D8853351C6FE}">
      <dsp:nvSpPr>
        <dsp:cNvPr id="0" name=""/>
        <dsp:cNvSpPr/>
      </dsp:nvSpPr>
      <dsp:spPr>
        <a:xfrm>
          <a:off x="2119499" y="168260"/>
          <a:ext cx="4328721" cy="4328721"/>
        </a:xfrm>
        <a:custGeom>
          <a:avLst/>
          <a:gdLst/>
          <a:ahLst/>
          <a:cxnLst/>
          <a:rect l="0" t="0" r="0" b="0"/>
          <a:pathLst>
            <a:path>
              <a:moveTo>
                <a:pt x="670" y="2110504"/>
              </a:moveTo>
              <a:arcTo wR="2164360" hR="2164360" stAng="10885551" swAng="1132004"/>
            </a:path>
          </a:pathLst>
        </a:custGeom>
        <a:noFill/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6BD94C-EF91-4DA5-B6AB-7A4238E5A95B}">
      <dsp:nvSpPr>
        <dsp:cNvPr id="0" name=""/>
        <dsp:cNvSpPr/>
      </dsp:nvSpPr>
      <dsp:spPr>
        <a:xfrm>
          <a:off x="1915614" y="817019"/>
          <a:ext cx="1166440" cy="758186"/>
        </a:xfrm>
        <a:prstGeom prst="roundRect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>
              <a:solidFill>
                <a:sysClr val="windowText" lastClr="000000"/>
              </a:solidFill>
            </a:rPr>
            <a:t>Continuous improvement</a:t>
          </a:r>
        </a:p>
      </dsp:txBody>
      <dsp:txXfrm>
        <a:off x="1952626" y="854031"/>
        <a:ext cx="1092416" cy="684162"/>
      </dsp:txXfrm>
    </dsp:sp>
    <dsp:sp modelId="{41001A8F-29E6-4E1E-896C-A17ED7311D66}">
      <dsp:nvSpPr>
        <dsp:cNvPr id="0" name=""/>
        <dsp:cNvSpPr/>
      </dsp:nvSpPr>
      <dsp:spPr>
        <a:xfrm>
          <a:off x="2026639" y="381208"/>
          <a:ext cx="4328721" cy="4328721"/>
        </a:xfrm>
        <a:custGeom>
          <a:avLst/>
          <a:gdLst/>
          <a:ahLst/>
          <a:cxnLst/>
          <a:rect l="0" t="0" r="0" b="0"/>
          <a:pathLst>
            <a:path>
              <a:moveTo>
                <a:pt x="868253" y="430993"/>
              </a:moveTo>
              <a:arcTo wR="2164360" hR="2164360" stAng="13992785" swAng="1256522"/>
            </a:path>
          </a:pathLst>
        </a:custGeom>
        <a:noFill/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A3DC81-8C8A-4A41-B429-22993C97AE86}">
      <dsp:nvSpPr>
        <dsp:cNvPr id="0" name=""/>
        <dsp:cNvSpPr/>
      </dsp:nvSpPr>
      <dsp:spPr>
        <a:xfrm>
          <a:off x="2120" y="270196"/>
          <a:ext cx="1887512" cy="755005"/>
        </a:xfrm>
        <a:prstGeom prst="chevron">
          <a:avLst/>
        </a:prstGeom>
        <a:solidFill>
          <a:srgbClr val="FFC00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ysClr val="windowText" lastClr="000000"/>
              </a:solidFill>
            </a:rPr>
            <a:t>Step 1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ysClr val="windowText" lastClr="000000"/>
              </a:solidFill>
            </a:rPr>
            <a:t>Build the Team</a:t>
          </a:r>
        </a:p>
      </dsp:txBody>
      <dsp:txXfrm>
        <a:off x="379623" y="270196"/>
        <a:ext cx="1132507" cy="755005"/>
      </dsp:txXfrm>
    </dsp:sp>
    <dsp:sp modelId="{B7A25E86-F482-4E49-81D1-852D2D7683C8}">
      <dsp:nvSpPr>
        <dsp:cNvPr id="0" name=""/>
        <dsp:cNvSpPr/>
      </dsp:nvSpPr>
      <dsp:spPr>
        <a:xfrm>
          <a:off x="1700882" y="270196"/>
          <a:ext cx="1887512" cy="755005"/>
        </a:xfrm>
        <a:prstGeom prst="chevron">
          <a:avLst/>
        </a:prstGeom>
        <a:solidFill>
          <a:srgbClr val="92D05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ysClr val="windowText" lastClr="000000"/>
              </a:solidFill>
            </a:rPr>
            <a:t>Step 2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ysClr val="windowText" lastClr="000000"/>
              </a:solidFill>
            </a:rPr>
            <a:t>Market Research</a:t>
          </a:r>
        </a:p>
      </dsp:txBody>
      <dsp:txXfrm>
        <a:off x="2078385" y="270196"/>
        <a:ext cx="1132507" cy="755005"/>
      </dsp:txXfrm>
    </dsp:sp>
    <dsp:sp modelId="{F447C048-6FD1-46B1-A4FD-5731EFAD01F7}">
      <dsp:nvSpPr>
        <dsp:cNvPr id="0" name=""/>
        <dsp:cNvSpPr/>
      </dsp:nvSpPr>
      <dsp:spPr>
        <a:xfrm>
          <a:off x="3399643" y="270196"/>
          <a:ext cx="1887512" cy="755005"/>
        </a:xfrm>
        <a:prstGeom prst="chevron">
          <a:avLst/>
        </a:prstGeom>
        <a:solidFill>
          <a:schemeClr val="bg1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ysClr val="windowText" lastClr="000000"/>
              </a:solidFill>
            </a:rPr>
            <a:t>Step 3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ysClr val="windowText" lastClr="000000"/>
              </a:solidFill>
            </a:rPr>
            <a:t>Strategy Development</a:t>
          </a:r>
        </a:p>
      </dsp:txBody>
      <dsp:txXfrm>
        <a:off x="3777146" y="270196"/>
        <a:ext cx="1132507" cy="755005"/>
      </dsp:txXfrm>
    </dsp:sp>
    <dsp:sp modelId="{583BB028-0BFF-40E6-B7DD-291D330FB1BE}">
      <dsp:nvSpPr>
        <dsp:cNvPr id="0" name=""/>
        <dsp:cNvSpPr/>
      </dsp:nvSpPr>
      <dsp:spPr>
        <a:xfrm>
          <a:off x="5098405" y="270196"/>
          <a:ext cx="1887512" cy="755005"/>
        </a:xfrm>
        <a:prstGeom prst="chevron">
          <a:avLst/>
        </a:prstGeom>
        <a:solidFill>
          <a:srgbClr val="0070C0"/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4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Contract Negotiation</a:t>
          </a:r>
        </a:p>
      </dsp:txBody>
      <dsp:txXfrm>
        <a:off x="5475908" y="270196"/>
        <a:ext cx="1132507" cy="755005"/>
      </dsp:txXfrm>
    </dsp:sp>
    <dsp:sp modelId="{C5D90A40-B7F7-472B-9262-E32B8295DB62}">
      <dsp:nvSpPr>
        <dsp:cNvPr id="0" name=""/>
        <dsp:cNvSpPr/>
      </dsp:nvSpPr>
      <dsp:spPr>
        <a:xfrm>
          <a:off x="6797166" y="270196"/>
          <a:ext cx="1887512" cy="755005"/>
        </a:xfrm>
        <a:prstGeom prst="chevron">
          <a:avLst/>
        </a:prstGeom>
        <a:solidFill>
          <a:schemeClr val="accent1">
            <a:lumMod val="50000"/>
          </a:schemeClr>
        </a:solid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Step 5</a:t>
          </a:r>
        </a:p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SRM</a:t>
          </a:r>
        </a:p>
      </dsp:txBody>
      <dsp:txXfrm>
        <a:off x="7174669" y="270196"/>
        <a:ext cx="1132507" cy="7550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D0F43C-8D24-4F1B-908D-D1E84FCBC8E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A96F7-E09B-477C-B330-729C42800D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F3BC00BF-CCC4-40C5-A2BB-D9C5BB7F1114}" type="datetimeFigureOut">
              <a:rPr lang="en-US"/>
              <a:pPr>
                <a:defRPr/>
              </a:pPr>
              <a:t>1/16/2026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0FD7A9-1C95-429C-A6A8-93EFD75139E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A1F2F4-3BE4-4EC5-B6A5-3E4642D6A4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12ADD73-8CCC-44CB-990B-9A21BCE4BCCB}" type="slidenum">
              <a:rPr lang="en-US" altLang="LID4096"/>
              <a:pPr/>
              <a:t>‹#›</a:t>
            </a:fld>
            <a:endParaRPr lang="en-US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C7344BB-412C-4D5F-9B9E-0D81CAAF487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234E16E-1389-4023-8DB5-2E8BCE46A40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8AD4DD9-5637-4457-8879-0358D9CCC72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4D69CB34-D033-4C69-994A-24D8DA95AC3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4984C6C-E525-44FE-8F27-D9D3DC02F1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9ACC519E-388D-4B1C-A909-0681A9B845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06C050F-288F-4B76-908D-22680C101407}" type="slidenum">
              <a:rPr lang="en-US" altLang="LID4096"/>
              <a:pPr/>
              <a:t>‹#›</a:t>
            </a:fld>
            <a:endParaRPr lang="en-US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B3D6B20D-34FB-46E8-A12E-004D357906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45B42947-4C23-4D63-A23F-7891CA2C3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99C940-C779-49C4-924B-9196D78A3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346E4B-D2BC-4E57-B6C8-9C9A0AE0C36C}" type="slidenum">
              <a:rPr lang="en-US" altLang="LID4096"/>
              <a:pPr/>
              <a:t>1</a:t>
            </a:fld>
            <a:endParaRPr lang="en-US" altLang="LID4096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9C13A201-2D44-4525-AF77-0662533002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010A3EE-464B-4DE2-8FFC-0B9F5889B74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1F6D367C-0039-45C2-BEF3-6E4B52D5B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96E94907-C16D-4E23-A1B4-7C7D91DF256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F46D67F-CDC7-4D07-A8C7-C06807E324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1219D4D2-0BF3-42AA-867B-6A568D55156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332633DE-0D49-4153-A377-C3BD81ABBE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D6A5DF61-545E-4061-BFC3-7E0193B1E5B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5B1D186B-8D13-4F4A-9759-DD4357AE01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B2D36140-AE90-409B-8C55-9DA5529735C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>
            <a:extLst>
              <a:ext uri="{FF2B5EF4-FFF2-40B4-BE49-F238E27FC236}">
                <a16:creationId xmlns:a16="http://schemas.microsoft.com/office/drawing/2014/main" id="{CD5566EE-EC44-45F2-8920-FAC209EAA8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FB224D5C-0586-4FC8-9BB4-20CFF485A74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09DADFB8-7C2F-4D74-94A1-6FF43860F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6AC1F24A-1684-49B5-85C2-0BF911D1727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0E9640D3-F84A-4B99-8324-E935F9A49A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3731EB63-5E2E-4F9C-8A67-DFDB633FA60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38E606B2-BC91-47D2-AC3E-141DCA6DD5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E7512F5B-6738-47FB-A48F-CE43EAA9D24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87010C9D-472E-4E23-B0D5-E587208EFB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B6A6463D-2B31-46D2-888F-EE8A60703AF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29351FFE-61C5-4B20-971D-2480718D1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78673A54-64F1-4134-9E01-385529DE543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54641BF8-7B91-4BD2-A2A8-4C8EE8835D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851483D-AF78-439B-B6D8-597A117ED24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41D5A5A4-DECE-4C69-9C51-6236FDEBBE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2FF95E5C-0D68-46A8-A973-ECBA07022A5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>
            <a:extLst>
              <a:ext uri="{FF2B5EF4-FFF2-40B4-BE49-F238E27FC236}">
                <a16:creationId xmlns:a16="http://schemas.microsoft.com/office/drawing/2014/main" id="{765F229C-43C6-40C5-AAB1-9DC8B6B707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C04725B4-2584-454C-8AFB-04353D69281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726C5E0E-B1DB-428E-A5D0-BE04322223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2E0A11CA-51F1-4401-93BB-002805FF374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>
            <a:extLst>
              <a:ext uri="{FF2B5EF4-FFF2-40B4-BE49-F238E27FC236}">
                <a16:creationId xmlns:a16="http://schemas.microsoft.com/office/drawing/2014/main" id="{EC4ACC9F-1504-4DC1-95A8-1FADAB9566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>
            <a:extLst>
              <a:ext uri="{FF2B5EF4-FFF2-40B4-BE49-F238E27FC236}">
                <a16:creationId xmlns:a16="http://schemas.microsoft.com/office/drawing/2014/main" id="{23618F1B-EE86-4B6C-ACBB-4A6CE1A6F8A6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B7786A45-AE74-455B-9458-182F3DEF19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4AAD9D56-F376-4190-B506-E8F665C56DB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26E84922-EB8E-46DD-AB10-9C97CD840A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9BA7705C-B81C-443B-8AF5-0F6223067F2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CBE4C53E-B2EC-4F73-83F7-6F546D9C4A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C50796F0-9760-40B4-9D67-91333764A08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B96AF20E-7065-411C-A9CF-7C5851B66D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C0459A65-D774-49FD-8BEC-295B1113565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935E77FB-1E92-4B7E-A19C-436F00140E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1933879A-A40B-4C5F-A5B7-A7B9B92FF27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>
            <a:extLst>
              <a:ext uri="{FF2B5EF4-FFF2-40B4-BE49-F238E27FC236}">
                <a16:creationId xmlns:a16="http://schemas.microsoft.com/office/drawing/2014/main" id="{F204150A-92EE-49C6-9A0E-1F58C5AC83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CC056C6D-E195-4C54-AA97-0BE18233C55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B2E71C09-3682-44F0-AA49-0DB133B102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2D63EB33-FC42-445F-A2CC-B70799691AA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8831711C-14A8-40B6-83B0-DB36498DFD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A2D8B0F5-A01A-4494-8AC4-441742E25B17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EADBBCD7-6509-4E9F-8DEC-D861894B8B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6B1E604A-D526-4EBC-8ABF-064669D4E43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498D69AB-6216-425A-8F4F-306B6C349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BD0620DC-6E4E-42CE-8CBE-A2DDAAD7B83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809DBB37-74E5-4458-A2A3-88C153B8E3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920F0C0B-5A44-44CE-9C15-F5EA69BDCD8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7E27B8E2-525F-49C0-864F-518618132D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>
            <a:extLst>
              <a:ext uri="{FF2B5EF4-FFF2-40B4-BE49-F238E27FC236}">
                <a16:creationId xmlns:a16="http://schemas.microsoft.com/office/drawing/2014/main" id="{55ADDB81-284E-403A-A4CB-9562C27C5C4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F6876E8C-9EEA-4689-A79A-C8787234E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02FF435B-928E-4154-82DF-99A31827DBB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69F6DD2B-F0F5-407A-AFE4-A7D36BA665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21696606-450D-4607-9042-85C41120CE62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074630CF-C2BD-4458-9E27-30DC881145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E1E0955D-A62B-4ACB-B7F8-0A307F03EAC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D8A6AC13-04A4-43C9-9BF7-E88B0CF599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F486C6ED-7290-4C51-B1B1-26A19FD03FA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CEAA3023-84CF-435A-A11A-4888A719BA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AE6CFF97-C630-4E5C-825F-6B31CFCAF72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0D61A1A6-425B-4230-852F-A8944D2DA6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B5030E8E-F652-4527-AC49-B58D89921E9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223311B0-706C-487E-9D80-F95695032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>
            <a:extLst>
              <a:ext uri="{FF2B5EF4-FFF2-40B4-BE49-F238E27FC236}">
                <a16:creationId xmlns:a16="http://schemas.microsoft.com/office/drawing/2014/main" id="{4A2BD7CA-5942-4816-9134-727A8654987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68764B57-EB19-4527-B5A8-5994E4D9A3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0A879392-A3CD-416F-8811-A3C7DA92C71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>
            <a:extLst>
              <a:ext uri="{FF2B5EF4-FFF2-40B4-BE49-F238E27FC236}">
                <a16:creationId xmlns:a16="http://schemas.microsoft.com/office/drawing/2014/main" id="{97A8A874-D5C0-4CE7-8A0F-8236B3B2C7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6A2AB097-E76B-4BBF-8BF3-321400931F0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82B46F39-B54F-4FD5-AA88-7C72C367A3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EDF71068-F7B8-4918-9E2C-55BA4B35B9D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63BD7C44-91D2-4835-B40A-291F11938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39" name="Rectangle 3">
            <a:extLst>
              <a:ext uri="{FF2B5EF4-FFF2-40B4-BE49-F238E27FC236}">
                <a16:creationId xmlns:a16="http://schemas.microsoft.com/office/drawing/2014/main" id="{3CD90EAD-069C-472E-B30B-9537036B14A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B2AD1156-2D49-4E4A-B6BD-3D6AB8B7C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148EEA99-F91E-4726-A2CA-A0ACC6A1831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E9137733-E87D-498A-83A9-AEA9F2187F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>
            <a:extLst>
              <a:ext uri="{FF2B5EF4-FFF2-40B4-BE49-F238E27FC236}">
                <a16:creationId xmlns:a16="http://schemas.microsoft.com/office/drawing/2014/main" id="{6349854A-3E65-4E68-B721-2AAEF22C83F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>
            <a:extLst>
              <a:ext uri="{FF2B5EF4-FFF2-40B4-BE49-F238E27FC236}">
                <a16:creationId xmlns:a16="http://schemas.microsoft.com/office/drawing/2014/main" id="{09899167-7756-4A6A-A0AB-70BA51B14A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2BB0C9CB-1870-4DA9-AFD6-71C8E919A25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>
            <a:extLst>
              <a:ext uri="{FF2B5EF4-FFF2-40B4-BE49-F238E27FC236}">
                <a16:creationId xmlns:a16="http://schemas.microsoft.com/office/drawing/2014/main" id="{7455735E-701A-43FD-A92E-8A71DD6494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873FC391-67A7-46A5-ADAE-A8B4A139136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F223C2B7-344F-46A8-B51A-958D2ABF2A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DEEDF6B5-D01E-40E6-88AF-423A1C23478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B88A8086-3F0A-421B-B473-9B3B6FFA10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DC25FEBC-423D-4240-9087-D7F6CD19AAD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4AAF1931-7353-40BB-9125-C81E74CE95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9317D33D-9243-465F-90A9-F6AD119AFAF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0B72BFBD-A3F0-4746-924C-9707865E88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AEA07F87-C480-400A-85C4-DA25965E4C7E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>
            <a:extLst>
              <a:ext uri="{FF2B5EF4-FFF2-40B4-BE49-F238E27FC236}">
                <a16:creationId xmlns:a16="http://schemas.microsoft.com/office/drawing/2014/main" id="{DF44963B-AAE2-47E3-B258-EE1296A661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5" name="Rectangle 3">
            <a:extLst>
              <a:ext uri="{FF2B5EF4-FFF2-40B4-BE49-F238E27FC236}">
                <a16:creationId xmlns:a16="http://schemas.microsoft.com/office/drawing/2014/main" id="{D63BE97A-8CEB-485F-BC4F-9B90C2B8AE43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263640D3-3969-42F1-B24E-40C2BD9FD9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40C857BA-F14C-45F8-850B-7B9CB038BF4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703D3EB0-5690-413E-9EC7-ACE31A1656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130E3ACC-0673-4DBE-B5DF-0BCB13DFAD4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>
            <a:extLst>
              <a:ext uri="{FF2B5EF4-FFF2-40B4-BE49-F238E27FC236}">
                <a16:creationId xmlns:a16="http://schemas.microsoft.com/office/drawing/2014/main" id="{B7EF33B6-4193-44FC-8C25-3C63787D22B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0D488650-702E-48D7-AD8C-007D154B783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1E922894-5BB8-41EE-BA06-542CE965EC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9C82A093-7767-4E92-AAC0-1046A0FD0CD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C5A7328A-9FF7-43FA-B449-81C76DEBF2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84453912-C40F-4A99-838D-6E92C856A0DD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CFD80F6B-E32A-413E-947F-217F1E2EA5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699" name="Rectangle 3">
            <a:extLst>
              <a:ext uri="{FF2B5EF4-FFF2-40B4-BE49-F238E27FC236}">
                <a16:creationId xmlns:a16="http://schemas.microsoft.com/office/drawing/2014/main" id="{27B403AC-A733-428D-8473-407A65B690B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DFD05C66-00A0-401C-97B8-DE75BCE76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143DFCC7-CDAD-4739-9AED-C334A0AC84B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>
            <a:extLst>
              <a:ext uri="{FF2B5EF4-FFF2-40B4-BE49-F238E27FC236}">
                <a16:creationId xmlns:a16="http://schemas.microsoft.com/office/drawing/2014/main" id="{454252D5-B61E-47F2-9295-039612D275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7" name="Rectangle 3">
            <a:extLst>
              <a:ext uri="{FF2B5EF4-FFF2-40B4-BE49-F238E27FC236}">
                <a16:creationId xmlns:a16="http://schemas.microsoft.com/office/drawing/2014/main" id="{7CDC568E-07E1-4372-9625-5A13C2FE74F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>
            <a:extLst>
              <a:ext uri="{FF2B5EF4-FFF2-40B4-BE49-F238E27FC236}">
                <a16:creationId xmlns:a16="http://schemas.microsoft.com/office/drawing/2014/main" id="{24730284-4838-4703-AA86-A915C91269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F30B2D8E-7390-4953-9834-CCD1435D9DD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FE22A952-FB0A-48FA-BBF1-A28293175D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5" name="Rectangle 3">
            <a:extLst>
              <a:ext uri="{FF2B5EF4-FFF2-40B4-BE49-F238E27FC236}">
                <a16:creationId xmlns:a16="http://schemas.microsoft.com/office/drawing/2014/main" id="{D6913F47-D0D6-4371-8B82-05865891CA7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A305757E-5307-4A62-BB3A-A6ECC85C84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19" name="Rectangle 3">
            <a:extLst>
              <a:ext uri="{FF2B5EF4-FFF2-40B4-BE49-F238E27FC236}">
                <a16:creationId xmlns:a16="http://schemas.microsoft.com/office/drawing/2014/main" id="{1CBF47C6-E6CA-4B3C-AD07-4B38B9C589F9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7A098140-4F57-448C-B194-3E7A049A47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DDA37E05-0A97-4FCF-A4E0-1F5C08BD0B7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>
            <a:extLst>
              <a:ext uri="{FF2B5EF4-FFF2-40B4-BE49-F238E27FC236}">
                <a16:creationId xmlns:a16="http://schemas.microsoft.com/office/drawing/2014/main" id="{59E378B8-F818-4660-A3DC-8397D858A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7" name="Rectangle 3">
            <a:extLst>
              <a:ext uri="{FF2B5EF4-FFF2-40B4-BE49-F238E27FC236}">
                <a16:creationId xmlns:a16="http://schemas.microsoft.com/office/drawing/2014/main" id="{A6C6A5A1-2E62-4177-AC5A-4D65F228092B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3382CA04-EDC9-48D2-865D-685B99899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9FDBEA06-3A8E-45B9-A9DD-E903BB43F67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>
            <a:extLst>
              <a:ext uri="{FF2B5EF4-FFF2-40B4-BE49-F238E27FC236}">
                <a16:creationId xmlns:a16="http://schemas.microsoft.com/office/drawing/2014/main" id="{F30B7336-3AD8-4C8D-A9D0-012E2C4F28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C6EBB1FF-3F58-43D0-83E3-EE0C22D6DF8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7CC75391-B1EE-4137-9EE7-34F46F2C30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3" name="Rectangle 3">
            <a:extLst>
              <a:ext uri="{FF2B5EF4-FFF2-40B4-BE49-F238E27FC236}">
                <a16:creationId xmlns:a16="http://schemas.microsoft.com/office/drawing/2014/main" id="{2FF0F5CB-B453-4E65-8914-94DB15B320E4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DF4AC1E9-462E-40E0-AB25-610008420F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A12E23F7-C8C2-4E97-8351-23F43B1A5DDF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1227800C-0ABA-40C5-AC01-619A205AC1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BE578328-C2D6-47AD-8E7B-1C92C776DFE1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F53C8859-EA9C-464C-B61E-8578669798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4056D74C-6223-4735-9AD6-25A9F81ECFC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A9F0C2E1-0C20-40D0-85E2-634778B81D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59" name="Rectangle 3">
            <a:extLst>
              <a:ext uri="{FF2B5EF4-FFF2-40B4-BE49-F238E27FC236}">
                <a16:creationId xmlns:a16="http://schemas.microsoft.com/office/drawing/2014/main" id="{1A54B475-5DE1-4489-B5F5-BD7A6C796500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918ACCAF-0282-4342-B148-F9268A488F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DA47DDC8-A388-4F96-ABDF-2933AA65E9A5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1930E36F-0B0E-4DD8-80C2-0B2B67AF54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F2A38FFE-BB91-48EA-B12F-F44067107C28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D545D7FB-CFF7-4F11-B764-5AB9C5DA9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Rectangle 3">
            <a:extLst>
              <a:ext uri="{FF2B5EF4-FFF2-40B4-BE49-F238E27FC236}">
                <a16:creationId xmlns:a16="http://schemas.microsoft.com/office/drawing/2014/main" id="{3FC0749F-C7EE-404D-A053-D16F10B73FEC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A4F04240-9899-46AE-81CC-D3A133A9E2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7155" name="Rectangle 3">
            <a:extLst>
              <a:ext uri="{FF2B5EF4-FFF2-40B4-BE49-F238E27FC236}">
                <a16:creationId xmlns:a16="http://schemas.microsoft.com/office/drawing/2014/main" id="{C229A5E3-61E8-4B21-A81B-91D5450E4C7A}"/>
              </a:ext>
            </a:extLst>
          </p:cNvPr>
          <p:cNvSpPr>
            <a:spLocks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LID4096" altLang="LID4096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>
            <a:extLst>
              <a:ext uri="{FF2B5EF4-FFF2-40B4-BE49-F238E27FC236}">
                <a16:creationId xmlns:a16="http://schemas.microsoft.com/office/drawing/2014/main" id="{F5B95C26-240E-433D-9CC7-5338FD3EB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152400"/>
            <a:ext cx="9144000" cy="406400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0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pperplate Gothic Bold" pitchFamily="34" charset="0"/>
              </a:rPr>
              <a:t>PURCHASING &amp; SUPPLY CHAIN MANAGEMENT, 4e</a:t>
            </a:r>
          </a:p>
        </p:txBody>
      </p:sp>
      <p:pic>
        <p:nvPicPr>
          <p:cNvPr id="5" name="Picture 6" descr="P&amp;SCM 4e.jpg">
            <a:extLst>
              <a:ext uri="{FF2B5EF4-FFF2-40B4-BE49-F238E27FC236}">
                <a16:creationId xmlns:a16="http://schemas.microsoft.com/office/drawing/2014/main" id="{B4BB7014-A21B-4526-8F12-E307BD19D1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953000"/>
            <a:ext cx="1382713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04800" y="1143000"/>
            <a:ext cx="8534400" cy="2457450"/>
          </a:xfrm>
          <a:gradFill>
            <a:gsLst>
              <a:gs pos="0">
                <a:srgbClr val="66FF66"/>
              </a:gs>
              <a:gs pos="100000">
                <a:srgbClr val="66FF66">
                  <a:gamma/>
                  <a:shade val="74510"/>
                  <a:invGamma/>
                </a:srgbClr>
              </a:gs>
            </a:gsLst>
          </a:gradFill>
        </p:spPr>
        <p:txBody>
          <a:bodyPr tIns="45720" bIns="45720"/>
          <a:lstStyle>
            <a:lvl1pPr>
              <a:defRPr sz="4800" i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14800"/>
            <a:ext cx="7010400" cy="1524000"/>
          </a:xfrm>
        </p:spPr>
        <p:txBody>
          <a:bodyPr/>
          <a:lstStyle>
            <a:lvl1pPr marL="0" indent="0" algn="r">
              <a:buFontTx/>
              <a:buNone/>
              <a:defRPr sz="3600"/>
            </a:lvl1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FC86E-9AD8-4C4A-B380-1E9F32FFC2E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4191000" y="6019800"/>
            <a:ext cx="4648200" cy="701675"/>
          </a:xfrm>
        </p:spPr>
        <p:txBody>
          <a:bodyPr/>
          <a:lstStyle>
            <a:lvl1pPr>
              <a:defRPr sz="1600" i="0"/>
            </a:lvl1pPr>
          </a:lstStyle>
          <a:p>
            <a:pPr>
              <a:defRPr/>
            </a:pPr>
            <a:r>
              <a:rPr lang="en-US"/>
              <a:t>Cengage Learning</a:t>
            </a:r>
          </a:p>
          <a:p>
            <a:pPr>
              <a:defRPr/>
            </a:pPr>
            <a:r>
              <a:rPr lang="en-US"/>
              <a:t>Monczka – Handfield – Giunipero – Patterson</a:t>
            </a:r>
          </a:p>
        </p:txBody>
      </p:sp>
    </p:spTree>
    <p:extLst>
      <p:ext uri="{BB962C8B-B14F-4D97-AF65-F5344CB8AC3E}">
        <p14:creationId xmlns:p14="http://schemas.microsoft.com/office/powerpoint/2010/main" val="2623552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695301-F906-4532-AD94-BCA5D0F74E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E83073-AF4C-4F61-A60A-D99A9EF1D8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BC16B0A-A904-4FC7-AF6F-D8EE8EEE7D09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97598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263B5-F1DC-4607-98A3-B705B987A5C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015289-D311-4CA0-966A-73CCDBB53C6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1E490F4-DF53-49E4-86B5-488910E26740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634641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229D57-A19C-4654-8F22-146690A58E5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B15DB-A6C1-4979-A11C-16423ADDC10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B736D83-542F-4602-A057-B829C6A890F7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410076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E0D5F1B-A05E-4349-8F99-8816F36F7C9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5EFF24-BAC3-48FC-AC3D-AFC1B3A7C9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53A9591-0076-412D-99A2-95348C8513B6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903855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EEA5E0-41E1-49E6-8D6A-7479F4D616C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7FD07-57D1-47E5-8DFC-D865384C233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235C9F4-E39C-48D6-BAE8-533517CEC114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76773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5FEC0D-2C25-433C-8532-706895793D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and Supply Chain Management, 4e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C58C1E-8D36-4747-AC4B-4C760DF801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E8D9A19-14AF-4031-B6A3-48D4715975E0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918055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0807D-61F5-454F-A0B2-5E61F725F69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F58A2-F31A-4C6A-9C9C-CD74E0494A7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011AE2-098D-49AF-A241-216B273309EC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2886907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8AD17-3A38-480A-A99D-B30C7FFE0CE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E6064-B094-49FB-BB13-D8FB708FF1B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19A9188-A6DA-46B7-8BF4-2E1234BC93D3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536096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931E5-4997-4421-8E94-27AD8067AE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8353DC-817D-4861-B2D8-687B9B7BCFF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8E1C436-B018-4692-9951-FE02A74E6BEC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168888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1261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1261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4C1FA4-AF8E-458D-A325-AFE6ADB1785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 i="1"/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04F54E-C350-4DA5-A54B-92B5718DA4F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1033F76-4FED-4B46-BAD3-EA8110E3DC7E}" type="slidenum">
              <a:rPr lang="en-US" altLang="LID4096"/>
              <a:pPr/>
              <a:t>‹#›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4190231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1">
          <a:gsLst>
            <a:gs pos="0">
              <a:srgbClr val="181847">
                <a:alpha val="39999"/>
              </a:srgbClr>
            </a:gs>
            <a:gs pos="100000">
              <a:schemeClr val="accent2">
                <a:alpha val="64999"/>
              </a:schemeClr>
            </a:gs>
          </a:gsLst>
          <a:path path="rect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028C1A-DD4F-4926-9AB1-1F9A00A4B5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1066800"/>
          </a:xfrm>
          <a:prstGeom prst="rect">
            <a:avLst/>
          </a:prstGeom>
          <a:gradFill rotWithShape="1">
            <a:gsLst>
              <a:gs pos="0">
                <a:srgbClr val="4FC54F"/>
              </a:gs>
              <a:gs pos="100000">
                <a:srgbClr val="66FF66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1440" rIns="91440" bIns="9144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LID4096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6FF6479-009E-4787-BB92-1D4C6D1487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00A93B8-D86A-4B87-8B09-FB2243FBC03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096000"/>
            <a:ext cx="8153400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 i="1">
                <a:solidFill>
                  <a:schemeClr val="accent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49F63E-DF4E-46DC-95DD-C61A68B95B4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15200" y="6245225"/>
            <a:ext cx="137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fld id="{0AFE5CB0-6CFF-4B29-93DC-F58E7E9949F1}" type="slidenum">
              <a:rPr lang="en-US" altLang="LID4096"/>
              <a:pPr/>
              <a:t>‹#›</a:t>
            </a:fld>
            <a:endParaRPr lang="en-US" altLang="LID4096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3300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rgbClr val="003300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rgbClr val="003300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rgbClr val="003300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rgbClr val="003300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32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8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bg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w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5.png"/><Relationship Id="rId4" Type="http://schemas.openxmlformats.org/officeDocument/2006/relationships/oleObject" Target="../embeddings/oleObject3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.png"/><Relationship Id="rId4" Type="http://schemas.openxmlformats.org/officeDocument/2006/relationships/oleObject" Target="../embeddings/oleObject4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7.png"/><Relationship Id="rId4" Type="http://schemas.openxmlformats.org/officeDocument/2006/relationships/oleObject" Target="../embeddings/oleObject5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56485B30-BF5F-4CF7-A99C-89C578936D3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4343400" y="6019800"/>
            <a:ext cx="4648200" cy="701675"/>
          </a:xfrm>
        </p:spPr>
        <p:txBody>
          <a:bodyPr/>
          <a:lstStyle/>
          <a:p>
            <a:pPr>
              <a:defRPr/>
            </a:pPr>
            <a:r>
              <a:rPr lang="en-US" sz="1800">
                <a:solidFill>
                  <a:schemeClr val="bg1"/>
                </a:solidFill>
              </a:rPr>
              <a:t>CENGAGE LEARNING</a:t>
            </a:r>
          </a:p>
          <a:p>
            <a:pPr>
              <a:defRPr/>
            </a:pPr>
            <a:r>
              <a:rPr lang="en-US" i="1">
                <a:solidFill>
                  <a:schemeClr val="bg1"/>
                </a:solidFill>
              </a:rPr>
              <a:t>Monczka – Handfield – Giunipero – Patterson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72E3630C-6BDB-49F1-8E36-E3C6F4648E9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52400" y="1066800"/>
            <a:ext cx="8763000" cy="2971800"/>
          </a:xfrm>
        </p:spPr>
        <p:txBody>
          <a:bodyPr/>
          <a:lstStyle/>
          <a:p>
            <a:pPr eaLnBrk="1" hangingPunct="1">
              <a:defRPr/>
            </a:pPr>
            <a:r>
              <a:rPr lang="en-US" sz="6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Supply Management and Commodity Strategy Development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E1B1967-F383-45B9-BB88-E801CE7003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4000" dirty="0">
                <a:solidFill>
                  <a:schemeClr val="accent3"/>
                </a:solidFill>
              </a:rPr>
              <a:t>Chapter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F1A205B4-D658-4843-BF83-31082AA9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Chapter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7E223-90CE-41A1-902B-659DE3170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Aligning supply management and enterprise objectives</a:t>
            </a:r>
          </a:p>
          <a:p>
            <a:pPr>
              <a:defRPr/>
            </a:pPr>
            <a:r>
              <a:rPr lang="en-US" dirty="0"/>
              <a:t>What is a category strategy?</a:t>
            </a:r>
          </a:p>
          <a:p>
            <a:pPr>
              <a:defRPr/>
            </a:pPr>
            <a:r>
              <a:rPr lang="en-US" dirty="0"/>
              <a:t>Category strategy development</a:t>
            </a:r>
          </a:p>
          <a:p>
            <a:pPr>
              <a:defRPr/>
            </a:pPr>
            <a:r>
              <a:rPr lang="en-US" dirty="0"/>
              <a:t>Types of supply management strategies</a:t>
            </a:r>
          </a:p>
          <a:p>
            <a:pPr>
              <a:defRPr/>
            </a:pPr>
            <a:r>
              <a:rPr lang="en-US" dirty="0"/>
              <a:t>E-reverse auctions</a:t>
            </a:r>
          </a:p>
          <a:p>
            <a:pPr>
              <a:defRPr/>
            </a:pPr>
            <a:r>
              <a:rPr lang="en-US" dirty="0"/>
              <a:t>Evolving sourcing strategies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F0CEC4-3CB3-41E2-B81B-8912991DE3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0F8A7-2DC6-4F11-B6E8-13A98D7A2E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6D7D694-730B-41DB-BBA6-60ED0F66046D}" type="slidenum">
              <a:rPr lang="en-US" altLang="LID4096">
                <a:solidFill>
                  <a:srgbClr val="FFFFFF"/>
                </a:solidFill>
              </a:rPr>
              <a:pPr/>
              <a:t>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6492-8B1A-40DB-BB9A-66192EC3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Theme of this lecture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8C62A-DA44-4C69-8938-E4E27EDBE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1" dirty="0">
                <a:effectLst/>
                <a:latin typeface="fkGroteskNeue"/>
              </a:rPr>
              <a:t>How do organizations </a:t>
            </a:r>
            <a:r>
              <a:rPr lang="en-US" b="0" i="1" dirty="0">
                <a:solidFill>
                  <a:srgbClr val="0000FF"/>
                </a:solidFill>
                <a:effectLst/>
                <a:latin typeface="fkGroteskNeue"/>
              </a:rPr>
              <a:t>strategically</a:t>
            </a:r>
            <a:r>
              <a:rPr lang="en-US" b="0" i="1" dirty="0">
                <a:effectLst/>
                <a:latin typeface="fkGroteskNeue"/>
              </a:rPr>
              <a:t> manage their suppliers and spending to gain a competitive advantage?</a:t>
            </a:r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65A7D5-8F37-4DE3-9740-C7D79CAA57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6FDD2-5C6F-4476-B093-6D0CD5AA2E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C16B0A-A904-4FC7-AF6F-D8EE8EEE7D09}" type="slidenum">
              <a:rPr lang="en-US" altLang="LID4096" smtClean="0"/>
              <a:pPr/>
              <a:t>3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1073725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151D7-9F27-4681-A3AA-996A53A46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Why Apple Invests Billions to Diversify Chip Suppliers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67105-765C-496E-A668-DA68FAF6D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800" dirty="0"/>
              <a:t>Spend Analysis:</a:t>
            </a:r>
          </a:p>
          <a:p>
            <a:pPr algn="just"/>
            <a:r>
              <a:rPr lang="en-US" sz="2800" b="0" dirty="0"/>
              <a:t>TSMC (Taiwan Semiconductor Manufacturing Company) manufactures approximately </a:t>
            </a:r>
            <a:r>
              <a:rPr lang="en-US" sz="2800" b="0" dirty="0">
                <a:solidFill>
                  <a:srgbClr val="0000FF"/>
                </a:solidFill>
              </a:rPr>
              <a:t>25% of Apple's chips </a:t>
            </a:r>
            <a:r>
              <a:rPr lang="en-US" sz="2800" b="0" dirty="0"/>
              <a:t>(estimated from Apple's total chip needs)​</a:t>
            </a:r>
          </a:p>
          <a:p>
            <a:pPr algn="just"/>
            <a:r>
              <a:rPr lang="en-US" sz="2800" b="0" dirty="0"/>
              <a:t>Apple also concentrates final assembly in China through Foxconn - </a:t>
            </a:r>
            <a:r>
              <a:rPr lang="en-US" sz="2800" b="0" dirty="0">
                <a:solidFill>
                  <a:srgbClr val="0000FF"/>
                </a:solidFill>
              </a:rPr>
              <a:t>over 80%</a:t>
            </a:r>
            <a:r>
              <a:rPr lang="en-US" sz="2800" b="0" dirty="0"/>
              <a:t> of iPhone production happens there​.</a:t>
            </a:r>
          </a:p>
          <a:p>
            <a:pPr algn="just"/>
            <a:endParaRPr lang="en-US" sz="2800" b="0" dirty="0"/>
          </a:p>
          <a:p>
            <a:pPr marL="0" indent="0" algn="just">
              <a:buNone/>
            </a:pPr>
            <a:r>
              <a:rPr lang="en-US" sz="2800" b="0" dirty="0"/>
              <a:t>This creates a </a:t>
            </a:r>
            <a:r>
              <a:rPr lang="en-US" sz="2800" b="0" dirty="0">
                <a:solidFill>
                  <a:srgbClr val="0000FF"/>
                </a:solidFill>
              </a:rPr>
              <a:t>single-point-of-failure risk </a:t>
            </a:r>
            <a:r>
              <a:rPr lang="en-US" sz="2800" b="0" dirty="0"/>
              <a:t>in critical commodities (semiconductors and manufacturing services)</a:t>
            </a:r>
            <a:endParaRPr lang="LID4096" sz="2800" b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501EC-A440-48D1-B8F1-59FA979859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C16B0A-A904-4FC7-AF6F-D8EE8EEE7D09}" type="slidenum">
              <a:rPr lang="en-US" altLang="LID4096" smtClean="0"/>
              <a:pPr/>
              <a:t>4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400781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9CC6A-6928-48F7-8B3C-905D5FC7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Apple Strategic Response (2024-2025)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247A9-5867-470B-A972-5995427D8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686800" cy="4754563"/>
          </a:xfrm>
        </p:spPr>
        <p:txBody>
          <a:bodyPr/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fkGroteskNeue"/>
              </a:rPr>
              <a:t>Investing </a:t>
            </a:r>
            <a:r>
              <a:rPr lang="en-US" b="0" i="1" dirty="0">
                <a:solidFill>
                  <a:srgbClr val="0000FF"/>
                </a:solidFill>
                <a:effectLst/>
                <a:latin typeface="fkGroteskNeue"/>
              </a:rPr>
              <a:t>$1+ billion </a:t>
            </a:r>
            <a:r>
              <a:rPr lang="en-US" b="0" i="1" dirty="0">
                <a:effectLst/>
                <a:latin typeface="fkGroteskNeue"/>
              </a:rPr>
              <a:t>annually in supply chain diversification​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0000FF"/>
                </a:solidFill>
                <a:effectLst/>
                <a:latin typeface="fkGroteskNeue"/>
              </a:rPr>
              <a:t>Moving</a:t>
            </a:r>
            <a:r>
              <a:rPr lang="en-US" b="0" i="1" dirty="0">
                <a:effectLst/>
                <a:latin typeface="fkGroteskNeue"/>
              </a:rPr>
              <a:t> chip production to the U.S. (Intel partnerships) and South Korea (Samsung)​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1" dirty="0">
                <a:effectLst/>
                <a:latin typeface="fkGroteskNeue"/>
              </a:rPr>
              <a:t>Bringing </a:t>
            </a:r>
            <a:r>
              <a:rPr lang="en-US" b="0" i="1" dirty="0">
                <a:solidFill>
                  <a:srgbClr val="0000FF"/>
                </a:solidFill>
                <a:effectLst/>
                <a:latin typeface="fkGroteskNeue"/>
              </a:rPr>
              <a:t>manufacturing</a:t>
            </a:r>
            <a:r>
              <a:rPr lang="en-US" b="0" i="1" dirty="0">
                <a:effectLst/>
                <a:latin typeface="fkGroteskNeue"/>
              </a:rPr>
              <a:t> to India, Vietnam, and Mexico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Why?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Geopolitical risk + supplier concentration </a:t>
            </a:r>
            <a:r>
              <a:rPr lang="en-US" b="0" i="0" dirty="0">
                <a:solidFill>
                  <a:srgbClr val="0000FF"/>
                </a:solidFill>
                <a:effectLst/>
                <a:latin typeface="fkGroteskNeue"/>
              </a:rPr>
              <a:t>risk</a:t>
            </a:r>
          </a:p>
          <a:p>
            <a:endParaRPr lang="LID4096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58CA-1C43-48FF-B334-DAE8438288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5366D1-C497-4C52-BE4C-38B5D978A0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BC16B0A-A904-4FC7-AF6F-D8EE8EEE7D09}" type="slidenum">
              <a:rPr lang="en-US" altLang="LID4096" smtClean="0"/>
              <a:pPr/>
              <a:t>5</a:t>
            </a:fld>
            <a:endParaRPr lang="en-US" altLang="LID4096"/>
          </a:p>
        </p:txBody>
      </p:sp>
    </p:spTree>
    <p:extLst>
      <p:ext uri="{BB962C8B-B14F-4D97-AF65-F5344CB8AC3E}">
        <p14:creationId xmlns:p14="http://schemas.microsoft.com/office/powerpoint/2010/main" val="3266312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22864ADD-F93C-4B2E-9D20-1C4C110A0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 dirty="0"/>
              <a:t>Aligning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B1E4C-DBA9-4ED8-AA23-B5882D7C4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0" dirty="0"/>
              <a:t>What markets will the firm compete in, and on what basis?</a:t>
            </a:r>
          </a:p>
          <a:p>
            <a:pPr>
              <a:defRPr/>
            </a:pPr>
            <a:r>
              <a:rPr lang="en-US" b="0" dirty="0"/>
              <a:t>What are the long-term and short-term business goals?</a:t>
            </a:r>
          </a:p>
          <a:p>
            <a:pPr>
              <a:defRPr/>
            </a:pPr>
            <a:r>
              <a:rPr lang="en-US" b="0" dirty="0"/>
              <a:t>What are the budgetary and economic resource constraints, and how will these be allocated to functional groups and business units?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27DC8-7B70-4645-A9E6-08DB6501B6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081803-B3E5-4E9C-A885-9017302E80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62FA8E-8691-4CC8-9A9F-46F2B945E298}" type="slidenum">
              <a:rPr lang="en-US" altLang="LID4096">
                <a:solidFill>
                  <a:srgbClr val="FFFFFF"/>
                </a:solidFill>
              </a:rPr>
              <a:pPr/>
              <a:t>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078D48B-5773-44F9-AA1A-486B9DDD896B}"/>
              </a:ext>
            </a:extLst>
          </p:cNvPr>
          <p:cNvCxnSpPr>
            <a:stCxn id="19471" idx="3"/>
            <a:endCxn id="19469" idx="1"/>
          </p:cNvCxnSpPr>
          <p:nvPr/>
        </p:nvCxnSpPr>
        <p:spPr>
          <a:xfrm>
            <a:off x="3429000" y="4603750"/>
            <a:ext cx="1143000" cy="838200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CCE928A-C8E3-42BF-80B9-FF7409D08FB3}"/>
              </a:ext>
            </a:extLst>
          </p:cNvPr>
          <p:cNvCxnSpPr>
            <a:stCxn id="19471" idx="3"/>
            <a:endCxn id="19468" idx="1"/>
          </p:cNvCxnSpPr>
          <p:nvPr/>
        </p:nvCxnSpPr>
        <p:spPr>
          <a:xfrm>
            <a:off x="3429000" y="4603750"/>
            <a:ext cx="1143000" cy="1588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CC45D76-02F8-45AD-BF7F-23ED58A883AC}"/>
              </a:ext>
            </a:extLst>
          </p:cNvPr>
          <p:cNvCxnSpPr>
            <a:stCxn id="19471" idx="3"/>
            <a:endCxn id="19467" idx="1"/>
          </p:cNvCxnSpPr>
          <p:nvPr/>
        </p:nvCxnSpPr>
        <p:spPr>
          <a:xfrm flipV="1">
            <a:off x="3429000" y="3765550"/>
            <a:ext cx="1143000" cy="838200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1FBD3E8-51C3-4AFE-AA14-6BACAE8D6263}"/>
              </a:ext>
            </a:extLst>
          </p:cNvPr>
          <p:cNvCxnSpPr>
            <a:stCxn id="19470" idx="3"/>
            <a:endCxn id="19466" idx="1"/>
          </p:cNvCxnSpPr>
          <p:nvPr/>
        </p:nvCxnSpPr>
        <p:spPr>
          <a:xfrm>
            <a:off x="3429000" y="2489200"/>
            <a:ext cx="1143000" cy="438150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F52F4F-B601-45C8-9853-DFC6A5DF0F62}"/>
              </a:ext>
            </a:extLst>
          </p:cNvPr>
          <p:cNvCxnSpPr>
            <a:stCxn id="19470" idx="3"/>
            <a:endCxn id="19465" idx="1"/>
          </p:cNvCxnSpPr>
          <p:nvPr/>
        </p:nvCxnSpPr>
        <p:spPr>
          <a:xfrm flipV="1">
            <a:off x="3429000" y="2089150"/>
            <a:ext cx="1143000" cy="400050"/>
          </a:xfrm>
          <a:prstGeom prst="straightConnector1">
            <a:avLst/>
          </a:prstGeom>
          <a:ln w="508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62" name="Title 1">
            <a:extLst>
              <a:ext uri="{FF2B5EF4-FFF2-40B4-BE49-F238E27FC236}">
                <a16:creationId xmlns:a16="http://schemas.microsoft.com/office/drawing/2014/main" id="{362C1933-4F70-422C-A09E-2EDB4534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How Companies Make Money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30E3A-2581-466D-8E16-B7B3607A0D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B56765-C036-4C21-BD6F-836D8B886A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3C2063-6E4E-431B-ACF3-CA845BCB8E8D}" type="slidenum">
              <a:rPr lang="en-US" altLang="LID4096">
                <a:solidFill>
                  <a:srgbClr val="FFFFFF"/>
                </a:solidFill>
              </a:rPr>
              <a:pPr/>
              <a:t>7</a:t>
            </a:fld>
            <a:endParaRPr lang="en-US" altLang="LID4096">
              <a:solidFill>
                <a:srgbClr val="FFFFFF"/>
              </a:solidFill>
            </a:endParaRPr>
          </a:p>
        </p:txBody>
      </p:sp>
      <p:sp>
        <p:nvSpPr>
          <p:cNvPr id="19465" name="TextBox 5">
            <a:extLst>
              <a:ext uri="{FF2B5EF4-FFF2-40B4-BE49-F238E27FC236}">
                <a16:creationId xmlns:a16="http://schemas.microsoft.com/office/drawing/2014/main" id="{6D414BE3-1504-4E80-A3DC-ED54DD9C7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1905000"/>
            <a:ext cx="3810000" cy="369888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/>
              <a:t>Raise prices</a:t>
            </a:r>
          </a:p>
        </p:txBody>
      </p:sp>
      <p:sp>
        <p:nvSpPr>
          <p:cNvPr id="19466" name="TextBox 9">
            <a:extLst>
              <a:ext uri="{FF2B5EF4-FFF2-40B4-BE49-F238E27FC236}">
                <a16:creationId xmlns:a16="http://schemas.microsoft.com/office/drawing/2014/main" id="{86B017B9-C9BA-4F3C-951A-364505D8F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743200"/>
            <a:ext cx="3810000" cy="369888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/>
              <a:t>Increase volume</a:t>
            </a:r>
          </a:p>
        </p:txBody>
      </p:sp>
      <p:sp>
        <p:nvSpPr>
          <p:cNvPr id="19467" name="TextBox 10">
            <a:extLst>
              <a:ext uri="{FF2B5EF4-FFF2-40B4-BE49-F238E27FC236}">
                <a16:creationId xmlns:a16="http://schemas.microsoft.com/office/drawing/2014/main" id="{16BDD5C2-3795-452D-9F41-697803CB36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81400"/>
            <a:ext cx="3810000" cy="369888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/>
              <a:t>Reduce cost of employees</a:t>
            </a:r>
          </a:p>
        </p:txBody>
      </p:sp>
      <p:sp>
        <p:nvSpPr>
          <p:cNvPr id="19468" name="TextBox 11">
            <a:extLst>
              <a:ext uri="{FF2B5EF4-FFF2-40B4-BE49-F238E27FC236}">
                <a16:creationId xmlns:a16="http://schemas.microsoft.com/office/drawing/2014/main" id="{6FF5AA3E-5DA8-4562-8295-F493ED72EB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419600"/>
            <a:ext cx="3810000" cy="369888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/>
              <a:t>Reduce cost of processes/waste</a:t>
            </a:r>
          </a:p>
        </p:txBody>
      </p:sp>
      <p:sp>
        <p:nvSpPr>
          <p:cNvPr id="19469" name="TextBox 12">
            <a:extLst>
              <a:ext uri="{FF2B5EF4-FFF2-40B4-BE49-F238E27FC236}">
                <a16:creationId xmlns:a16="http://schemas.microsoft.com/office/drawing/2014/main" id="{02165554-E08F-4DC9-B73E-336EFF539A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5257800"/>
            <a:ext cx="3810000" cy="369888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/>
              <a:t>Reduce cost of goods/services</a:t>
            </a:r>
          </a:p>
        </p:txBody>
      </p:sp>
      <p:sp>
        <p:nvSpPr>
          <p:cNvPr id="19470" name="TextBox 13">
            <a:extLst>
              <a:ext uri="{FF2B5EF4-FFF2-40B4-BE49-F238E27FC236}">
                <a16:creationId xmlns:a16="http://schemas.microsoft.com/office/drawing/2014/main" id="{07167767-850F-4539-861C-82726E2A39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305050"/>
            <a:ext cx="3124200" cy="3683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/>
              <a:t>1.  Increase revenues</a:t>
            </a:r>
          </a:p>
        </p:txBody>
      </p:sp>
      <p:sp>
        <p:nvSpPr>
          <p:cNvPr id="19471" name="TextBox 14">
            <a:extLst>
              <a:ext uri="{FF2B5EF4-FFF2-40B4-BE49-F238E27FC236}">
                <a16:creationId xmlns:a16="http://schemas.microsoft.com/office/drawing/2014/main" id="{D1E6A8E4-B887-4AD4-965C-777071496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419600"/>
            <a:ext cx="3124200" cy="369888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/>
              <a:t>2.  Decrease costs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C710E3D8-12A5-4DD8-91BB-A8900C2BC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Integrative Strategy Development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C5C3C92-CBEF-48B8-B004-4A325B2BDCC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71600"/>
          <a:ext cx="8229600" cy="4495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ED26F-D75E-4E10-9C67-79B61748EB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8E2E8-499E-4F4F-8506-3FC53212A0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DAE3F4-9893-43B6-A4CB-F3E5898E8718}" type="slidenum">
              <a:rPr lang="en-US" altLang="LID4096">
                <a:solidFill>
                  <a:srgbClr val="FFFFFF"/>
                </a:solidFill>
              </a:rPr>
              <a:pPr/>
              <a:t>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0512DE5F-AC87-453A-98DB-1EF969D11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Integrative Strategy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6C4BD-794B-45B2-A92D-3B984A1E7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Corporate strategy</a:t>
            </a:r>
          </a:p>
          <a:p>
            <a:pPr lvl="1">
              <a:defRPr/>
            </a:pPr>
            <a:r>
              <a:rPr lang="en-US" dirty="0"/>
              <a:t>Definition of businesses in which to participate</a:t>
            </a:r>
          </a:p>
          <a:p>
            <a:pPr lvl="1">
              <a:defRPr/>
            </a:pPr>
            <a:r>
              <a:rPr lang="en-US" dirty="0"/>
              <a:t>Acquisition and allocation of resources to those businesses</a:t>
            </a:r>
          </a:p>
          <a:p>
            <a:pPr>
              <a:defRPr/>
            </a:pPr>
            <a:r>
              <a:rPr lang="en-US" dirty="0"/>
              <a:t>Business unit strategy</a:t>
            </a:r>
          </a:p>
          <a:p>
            <a:pPr lvl="1">
              <a:defRPr/>
            </a:pPr>
            <a:r>
              <a:rPr lang="en-US" dirty="0"/>
              <a:t>Scope or boundaries of those businesses</a:t>
            </a:r>
          </a:p>
          <a:p>
            <a:pPr lvl="1">
              <a:defRPr/>
            </a:pPr>
            <a:r>
              <a:rPr lang="en-US" dirty="0"/>
              <a:t>Basis of competitive advantage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827513-F9D0-4AF4-BE52-68103953A4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EDDEFA-0F9A-42C9-B349-03F2D3268F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04F36E4-095B-4DF8-A307-32E409BE7F69}" type="slidenum">
              <a:rPr lang="en-US" altLang="LID4096">
                <a:solidFill>
                  <a:srgbClr val="FFFFFF"/>
                </a:solidFill>
              </a:rPr>
              <a:pPr/>
              <a:t>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3C9C71DF-6C6B-49B0-AB42-6BA46045E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Integrative Strategy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20282-352D-4061-91A6-E237BE11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Supply management strategy</a:t>
            </a:r>
          </a:p>
          <a:p>
            <a:pPr lvl="1">
              <a:defRPr/>
            </a:pPr>
            <a:r>
              <a:rPr lang="en-US" dirty="0"/>
              <a:t>Support the desired competitive business-level strategies</a:t>
            </a:r>
          </a:p>
          <a:p>
            <a:pPr lvl="1">
              <a:defRPr/>
            </a:pPr>
            <a:r>
              <a:rPr lang="en-US" dirty="0"/>
              <a:t>How to complement other functional areas</a:t>
            </a:r>
          </a:p>
          <a:p>
            <a:pPr>
              <a:defRPr/>
            </a:pPr>
            <a:r>
              <a:rPr lang="en-US" dirty="0"/>
              <a:t>Commodity strategy</a:t>
            </a:r>
          </a:p>
          <a:p>
            <a:pPr lvl="1">
              <a:defRPr/>
            </a:pPr>
            <a:r>
              <a:rPr lang="en-US" dirty="0"/>
              <a:t>How to purchase commodities to support higher-level strategies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32474-E855-4292-9EC3-AC952A2592E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F7756-440B-4AA5-BCF8-306F93E9F0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B1972CB-83CB-4F28-883D-B8A11709D7B8}" type="slidenum">
              <a:rPr lang="en-US" altLang="LID4096">
                <a:solidFill>
                  <a:srgbClr val="FFFFFF"/>
                </a:solidFill>
              </a:rPr>
              <a:pPr/>
              <a:t>10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DC11B7BC-6279-4858-BE5B-C8848F49E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Components of Integrative Strategy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A0DF25-10A0-42A0-AE81-922A27E668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03641-9E90-4BB1-B3A6-5614DB0AA4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420398-2FC0-4D4C-934A-3A4463284B02}" type="slidenum">
              <a:rPr lang="en-US" altLang="LID4096">
                <a:solidFill>
                  <a:srgbClr val="FFFFFF"/>
                </a:solidFill>
              </a:rPr>
              <a:pPr/>
              <a:t>11</a:t>
            </a:fld>
            <a:endParaRPr lang="en-US" altLang="LID4096">
              <a:solidFill>
                <a:srgbClr val="FFFFFF"/>
              </a:solidFill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E693899-F880-4565-B5E3-6F5EE0ED2196}"/>
              </a:ext>
            </a:extLst>
          </p:cNvPr>
          <p:cNvGraphicFramePr/>
          <p:nvPr/>
        </p:nvGraphicFramePr>
        <p:xfrm>
          <a:off x="381000" y="1219200"/>
          <a:ext cx="83820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3557" name="Picture 2" descr="C:\Documents and Settings\mfjlp\My Documents\My Pictures\Microsoft Clip Organizer\j0411254.wmf">
            <a:extLst>
              <a:ext uri="{FF2B5EF4-FFF2-40B4-BE49-F238E27FC236}">
                <a16:creationId xmlns:a16="http://schemas.microsoft.com/office/drawing/2014/main" id="{91E96064-29D8-4F4E-B00C-FDF5BC2C9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819400"/>
            <a:ext cx="1830388" cy="175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5CFDCFBD-D5B1-4EAB-B98C-B0B7915F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Translating Objectives</a:t>
            </a:r>
            <a:r>
              <a:rPr lang="en-US" altLang="LID4096">
                <a:sym typeface="Wingdings" panose="05000000000000000000" pitchFamily="2" charset="2"/>
              </a:rPr>
              <a:t> Goals</a:t>
            </a:r>
            <a:endParaRPr lang="en-US" alt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8FCE6-DF30-4990-A1AC-12ED46140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defRPr/>
            </a:pPr>
            <a:r>
              <a:rPr lang="en-US" dirty="0"/>
              <a:t>Cost reduction objectives </a:t>
            </a:r>
            <a:r>
              <a:rPr lang="en-US" dirty="0">
                <a:sym typeface="Wingdings" pitchFamily="2" charset="2"/>
              </a:rPr>
              <a:t> goals</a:t>
            </a:r>
            <a:endParaRPr lang="en-US" dirty="0"/>
          </a:p>
          <a:p>
            <a:pPr lvl="1" algn="just">
              <a:defRPr/>
            </a:pPr>
            <a:r>
              <a:rPr lang="en-US" dirty="0"/>
              <a:t>Be low-cost producer in industry</a:t>
            </a:r>
          </a:p>
          <a:p>
            <a:pPr lvl="2" algn="just">
              <a:defRPr/>
            </a:pPr>
            <a:r>
              <a:rPr lang="en-US" sz="2800" dirty="0">
                <a:sym typeface="Wingdings" pitchFamily="2" charset="2"/>
              </a:rPr>
              <a:t>Reduce material costs by 15%</a:t>
            </a:r>
          </a:p>
          <a:p>
            <a:pPr lvl="1" algn="just">
              <a:defRPr/>
            </a:pPr>
            <a:r>
              <a:rPr lang="en-US" dirty="0">
                <a:sym typeface="Wingdings" pitchFamily="2" charset="2"/>
              </a:rPr>
              <a:t>Reduce levels of inventory required to supply internal customers</a:t>
            </a:r>
          </a:p>
          <a:p>
            <a:pPr lvl="2" algn="just">
              <a:defRPr/>
            </a:pPr>
            <a:r>
              <a:rPr lang="en-US" sz="2800" dirty="0"/>
              <a:t>Reduce raw material inventory ≥ 20 days’ supply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AE9F37-58C1-4741-826A-2E961CD5F9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C694F-5376-4EA8-9EA7-9E2B2215C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1C23B5-A267-465E-AB12-4481BC89A8A4}" type="slidenum">
              <a:rPr lang="en-US" altLang="LID4096">
                <a:solidFill>
                  <a:srgbClr val="FFFFFF"/>
                </a:solidFill>
              </a:rPr>
              <a:pPr/>
              <a:t>12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0D892D40-B7BA-4105-817B-0C382626A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Translating Objectives</a:t>
            </a:r>
            <a:r>
              <a:rPr lang="en-US" altLang="LID4096">
                <a:sym typeface="Wingdings" panose="05000000000000000000" pitchFamily="2" charset="2"/>
              </a:rPr>
              <a:t> Goals</a:t>
            </a:r>
            <a:endParaRPr lang="en-US" alt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2CF91-C80E-4391-A5EA-1D26F797C6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defRPr/>
            </a:pPr>
            <a:r>
              <a:rPr lang="en-US" b="0" dirty="0"/>
              <a:t>Technology/new product development objectives </a:t>
            </a:r>
            <a:r>
              <a:rPr lang="en-US" b="0" dirty="0">
                <a:sym typeface="Wingdings" pitchFamily="2" charset="2"/>
              </a:rPr>
              <a:t> goals</a:t>
            </a:r>
          </a:p>
          <a:p>
            <a:pPr lvl="1" algn="just">
              <a:defRPr/>
            </a:pPr>
            <a:r>
              <a:rPr lang="en-US" b="0" dirty="0">
                <a:sym typeface="Wingdings" pitchFamily="2" charset="2"/>
              </a:rPr>
              <a:t>Outsource non-core competency activities</a:t>
            </a:r>
          </a:p>
          <a:p>
            <a:pPr lvl="2" algn="just">
              <a:defRPr/>
            </a:pPr>
            <a:r>
              <a:rPr lang="en-US" sz="2800" b="0" dirty="0">
                <a:sym typeface="Wingdings" pitchFamily="2" charset="2"/>
              </a:rPr>
              <a:t>Qualify 2 new suppliers by end of year</a:t>
            </a:r>
          </a:p>
          <a:p>
            <a:pPr lvl="1" algn="just">
              <a:defRPr/>
            </a:pPr>
            <a:r>
              <a:rPr lang="en-US" b="0" dirty="0">
                <a:sym typeface="Wingdings" pitchFamily="2" charset="2"/>
              </a:rPr>
              <a:t>Reduce product development time</a:t>
            </a:r>
          </a:p>
          <a:p>
            <a:pPr lvl="2" algn="just">
              <a:defRPr/>
            </a:pPr>
            <a:r>
              <a:rPr lang="en-US" sz="2800" b="0" dirty="0">
                <a:sym typeface="Wingdings" pitchFamily="2" charset="2"/>
              </a:rPr>
              <a:t>Develop a formal supplier integration process manual by 12/31</a:t>
            </a:r>
            <a:endParaRPr lang="en-US" sz="2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B12C7-3680-4D00-A7FB-9498DB9F3A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D182E4-CF23-4AC6-8106-F0261D8F6B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FF9A15-8702-488E-89E9-1F6D5C700DB8}" type="slidenum">
              <a:rPr lang="en-US" altLang="LID4096">
                <a:solidFill>
                  <a:srgbClr val="FFFFFF"/>
                </a:solidFill>
              </a:rPr>
              <a:pPr/>
              <a:t>13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29CC78BB-6865-45E4-8C8A-5D3325BF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Translating Objectives</a:t>
            </a:r>
            <a:r>
              <a:rPr lang="en-US" altLang="LID4096">
                <a:sym typeface="Wingdings" panose="05000000000000000000" pitchFamily="2" charset="2"/>
              </a:rPr>
              <a:t> Goals</a:t>
            </a:r>
            <a:endParaRPr lang="en-US" alt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5649A-08B2-4E1F-965B-60E239400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  <a:defRPr/>
            </a:pPr>
            <a:r>
              <a:rPr lang="en-US" b="0" dirty="0"/>
              <a:t>Supply base reduction objectives </a:t>
            </a:r>
            <a:r>
              <a:rPr lang="en-US" b="0" dirty="0">
                <a:sym typeface="Wingdings" pitchFamily="2" charset="2"/>
              </a:rPr>
              <a:t> goals</a:t>
            </a:r>
          </a:p>
          <a:p>
            <a:pPr lvl="1" algn="just">
              <a:defRPr/>
            </a:pPr>
            <a:r>
              <a:rPr lang="en-US" b="0" dirty="0">
                <a:sym typeface="Wingdings" pitchFamily="2" charset="2"/>
              </a:rPr>
              <a:t>Reduce the number of suppliers used</a:t>
            </a:r>
          </a:p>
          <a:p>
            <a:pPr lvl="2" algn="just">
              <a:defRPr/>
            </a:pPr>
            <a:r>
              <a:rPr lang="en-US" sz="2800" b="0" dirty="0">
                <a:sym typeface="Wingdings" pitchFamily="2" charset="2"/>
              </a:rPr>
              <a:t>Reduce the supply base by 30% in next 6 months</a:t>
            </a:r>
          </a:p>
          <a:p>
            <a:pPr marL="914400" lvl="2" indent="0" algn="just">
              <a:buNone/>
              <a:defRPr/>
            </a:pPr>
            <a:endParaRPr lang="en-US" sz="2800" b="0" dirty="0">
              <a:sym typeface="Wingdings" pitchFamily="2" charset="2"/>
            </a:endParaRPr>
          </a:p>
          <a:p>
            <a:pPr lvl="1" algn="just">
              <a:defRPr/>
            </a:pPr>
            <a:r>
              <a:rPr lang="en-US" b="0" dirty="0">
                <a:sym typeface="Wingdings" pitchFamily="2" charset="2"/>
              </a:rPr>
              <a:t>Joint problem solving with remaining suppliers</a:t>
            </a:r>
          </a:p>
          <a:p>
            <a:pPr lvl="2" algn="just">
              <a:defRPr/>
            </a:pPr>
            <a:r>
              <a:rPr lang="en-US" sz="2800" b="0" dirty="0">
                <a:sym typeface="Wingdings" pitchFamily="2" charset="2"/>
              </a:rPr>
              <a:t>Identify $300,000 in cost savings with 2 suppliers by end of fiscal year</a:t>
            </a:r>
            <a:endParaRPr lang="en-US" sz="2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6D69E-2BEA-440C-9655-D045D65982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0A085-EA03-437E-8930-6FCF8E7AEA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98E0895-8062-4968-9F30-8CC012D492A1}" type="slidenum">
              <a:rPr lang="en-US" altLang="LID4096">
                <a:solidFill>
                  <a:srgbClr val="FFFFFF"/>
                </a:solidFill>
              </a:rPr>
              <a:pPr/>
              <a:t>14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1F4CD740-5CFE-4426-8101-3F3371876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Translating Objectives</a:t>
            </a:r>
            <a:r>
              <a:rPr lang="en-US" altLang="LID4096">
                <a:sym typeface="Wingdings" panose="05000000000000000000" pitchFamily="2" charset="2"/>
              </a:rPr>
              <a:t> Goals</a:t>
            </a:r>
            <a:endParaRPr lang="en-US" alt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91459-710A-417D-824A-2ABC70FBF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b="0" dirty="0"/>
              <a:t>Supply assurance objectives </a:t>
            </a:r>
            <a:r>
              <a:rPr lang="en-US" b="0" dirty="0">
                <a:sym typeface="Wingdings" pitchFamily="2" charset="2"/>
              </a:rPr>
              <a:t> goals</a:t>
            </a:r>
          </a:p>
          <a:p>
            <a:pPr lvl="1" algn="just">
              <a:defRPr/>
            </a:pPr>
            <a:r>
              <a:rPr lang="en-US" b="0" dirty="0">
                <a:sym typeface="Wingdings" pitchFamily="2" charset="2"/>
              </a:rPr>
              <a:t>Assure uninterrupted supply from identified suppliers</a:t>
            </a:r>
          </a:p>
          <a:p>
            <a:pPr lvl="2" algn="just">
              <a:defRPr/>
            </a:pPr>
            <a:r>
              <a:rPr lang="en-US" sz="2800" b="0" dirty="0">
                <a:sym typeface="Wingdings" pitchFamily="2" charset="2"/>
              </a:rPr>
              <a:t>Reduce order cycle time on key parts ≥ 1 week</a:t>
            </a:r>
          </a:p>
          <a:p>
            <a:pPr algn="just">
              <a:defRPr/>
            </a:pPr>
            <a:r>
              <a:rPr lang="en-US" b="0" dirty="0">
                <a:sym typeface="Wingdings" pitchFamily="2" charset="2"/>
              </a:rPr>
              <a:t>Quality objectives  goals</a:t>
            </a:r>
          </a:p>
          <a:p>
            <a:pPr lvl="1" algn="just">
              <a:defRPr/>
            </a:pPr>
            <a:r>
              <a:rPr lang="en-US" b="0" dirty="0">
                <a:sym typeface="Wingdings" pitchFamily="2" charset="2"/>
              </a:rPr>
              <a:t>Increase quality of services and products</a:t>
            </a:r>
          </a:p>
          <a:p>
            <a:pPr lvl="2" algn="just">
              <a:defRPr/>
            </a:pPr>
            <a:r>
              <a:rPr lang="en-US" sz="2800" b="0" dirty="0">
                <a:sym typeface="Wingdings" pitchFamily="2" charset="2"/>
              </a:rPr>
              <a:t>Reduce average defects by 200 </a:t>
            </a:r>
            <a:r>
              <a:rPr lang="en-US" sz="2800" b="0" dirty="0" err="1">
                <a:sym typeface="Wingdings" pitchFamily="2" charset="2"/>
              </a:rPr>
              <a:t>ppm</a:t>
            </a:r>
            <a:r>
              <a:rPr lang="en-US" sz="2800" b="0" dirty="0">
                <a:sym typeface="Wingdings" pitchFamily="2" charset="2"/>
              </a:rPr>
              <a:t> on all receipts in next fiscal year</a:t>
            </a:r>
            <a:endParaRPr lang="en-US" sz="2800" b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842DCA-874A-426C-854F-68A53236C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3AB57-5FF7-4613-A172-0689693D9E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3A5D34-C30E-43BD-9E16-04A9D0F5852F}" type="slidenum">
              <a:rPr lang="en-US" altLang="LID4096">
                <a:solidFill>
                  <a:srgbClr val="FFFFFF"/>
                </a:solidFill>
              </a:rPr>
              <a:pPr/>
              <a:t>15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BA111BDC-6686-4A1E-AC67-64B6D8B8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Enabling Effective Category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3DD36-3B93-401A-A847-75BC3882C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b="0" dirty="0"/>
              <a:t>Spend money on resources initially, including assessment of current spend, data collection, market research, training, and people</a:t>
            </a:r>
          </a:p>
          <a:p>
            <a:pPr marL="0" indent="0" algn="just">
              <a:buNone/>
              <a:defRPr/>
            </a:pPr>
            <a:endParaRPr lang="en-US" b="0" dirty="0"/>
          </a:p>
          <a:p>
            <a:pPr algn="just">
              <a:defRPr/>
            </a:pPr>
            <a:r>
              <a:rPr lang="en-US" b="0" dirty="0"/>
              <a:t>Validate savings or contributions to other company objectives achieved by supply management and drive them to the bottom 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97AAC3-AF5E-4E6A-8445-638229B0EA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5D2C6C-110E-4D90-954F-0D464107C9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DBA227-5EC9-4F94-A941-C148689EB8FC}" type="slidenum">
              <a:rPr lang="en-US" altLang="LID4096">
                <a:solidFill>
                  <a:srgbClr val="FFFFFF"/>
                </a:solidFill>
              </a:rPr>
              <a:pPr/>
              <a:t>16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>
            <a:extLst>
              <a:ext uri="{FF2B5EF4-FFF2-40B4-BE49-F238E27FC236}">
                <a16:creationId xmlns:a16="http://schemas.microsoft.com/office/drawing/2014/main" id="{C97B0EEB-3873-474D-B35A-B41C0100F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Enabling Effective Category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897862-A2D1-45AF-9EE8-4B6CA2217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077200" cy="4525963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b="0" dirty="0"/>
              <a:t>Sustain the initiative through presentations to senior executives who support the move towards an integrated supply management function with other functional groups in the supply chain.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9B37CC-D541-4AD1-890F-60AB5B7D2E9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95036-8FB7-4370-A431-33A413BCD4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4B0A4C-6BA4-4213-9035-95EE70D7D5B9}" type="slidenum">
              <a:rPr lang="en-US" altLang="LID4096">
                <a:solidFill>
                  <a:srgbClr val="FFFFFF"/>
                </a:solidFill>
              </a:rPr>
              <a:pPr/>
              <a:t>17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8BD5711F-EA06-4E78-8D5F-580765CC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Conducting a Spend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CF93-F404-46D4-8BDE-4C45D6E3C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6026"/>
            <a:ext cx="8229600" cy="4910138"/>
          </a:xfrm>
        </p:spPr>
        <p:txBody>
          <a:bodyPr/>
          <a:lstStyle/>
          <a:p>
            <a:pPr>
              <a:defRPr/>
            </a:pPr>
            <a:r>
              <a:rPr lang="en-US" b="0" dirty="0"/>
              <a:t>What did the </a:t>
            </a:r>
            <a:r>
              <a:rPr lang="en-US" b="0" dirty="0">
                <a:solidFill>
                  <a:srgbClr val="0000FF"/>
                </a:solidFill>
              </a:rPr>
              <a:t>business spend </a:t>
            </a:r>
            <a:r>
              <a:rPr lang="en-US" b="0" dirty="0"/>
              <a:t>its money on over the past year?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Did the business receive the </a:t>
            </a:r>
            <a:r>
              <a:rPr lang="en-US" b="0" dirty="0">
                <a:solidFill>
                  <a:srgbClr val="0000FF"/>
                </a:solidFill>
              </a:rPr>
              <a:t>right amount </a:t>
            </a:r>
            <a:r>
              <a:rPr lang="en-US" b="0" dirty="0"/>
              <a:t>of products and services given what was paid for them? (S/OX issue)</a:t>
            </a:r>
          </a:p>
          <a:p>
            <a:pPr>
              <a:defRPr/>
            </a:pPr>
            <a:endParaRPr lang="en-US" b="0" dirty="0"/>
          </a:p>
          <a:p>
            <a:pPr>
              <a:defRPr/>
            </a:pPr>
            <a:r>
              <a:rPr lang="en-US" b="0" dirty="0"/>
              <a:t>What suppliers received the </a:t>
            </a:r>
            <a:r>
              <a:rPr lang="en-US" b="0" dirty="0">
                <a:solidFill>
                  <a:srgbClr val="0000FF"/>
                </a:solidFill>
              </a:rPr>
              <a:t>majority</a:t>
            </a:r>
            <a:r>
              <a:rPr lang="en-US" b="0" dirty="0"/>
              <a:t> of the business?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0473DE-7C9B-4521-8AA4-9A5D5E6853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DDB9D-FE87-48CA-A6AB-D7F13F3548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499202-40FC-4FD4-99D7-99544BC234D7}" type="slidenum">
              <a:rPr lang="en-US" altLang="LID4096">
                <a:solidFill>
                  <a:srgbClr val="FFFFFF"/>
                </a:solidFill>
              </a:rPr>
              <a:pPr/>
              <a:t>18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>
            <a:extLst>
              <a:ext uri="{FF2B5EF4-FFF2-40B4-BE49-F238E27FC236}">
                <a16:creationId xmlns:a16="http://schemas.microsoft.com/office/drawing/2014/main" id="{8510DC2C-CC60-40B0-9D53-EE438F08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Conducting a Spend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42FE1-3D39-4519-84E4-9CD7B1975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b="0" dirty="0"/>
              <a:t>Did the suppliers charge an accurate price across all divisions vs. P.O. requirements, contracts, and SOWs?</a:t>
            </a:r>
          </a:p>
          <a:p>
            <a:pPr>
              <a:defRPr/>
            </a:pPr>
            <a:r>
              <a:rPr lang="en-US" b="0" dirty="0"/>
              <a:t>Which divisions spent their money on products and services that were correctly budgeted for?</a:t>
            </a:r>
          </a:p>
          <a:p>
            <a:pPr>
              <a:defRPr/>
            </a:pPr>
            <a:r>
              <a:rPr lang="en-US" b="0" dirty="0"/>
              <a:t>Are there opportunities to combine volumes and standardize purchases?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155CCA-BD8B-43E5-97EC-67E020C1AC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51E6D7-1FAA-46FF-AA0D-2069D31B1A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1F59CBA-AD9E-4CA3-B406-D38B474D16E9}" type="slidenum">
              <a:rPr lang="en-US" altLang="LID4096">
                <a:solidFill>
                  <a:srgbClr val="FFFFFF"/>
                </a:solidFill>
              </a:rPr>
              <a:pPr/>
              <a:t>19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17BD68D7-A5DC-4E8C-874E-B1D8172F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Procurement KPIs Example</a:t>
            </a:r>
          </a:p>
        </p:txBody>
      </p:sp>
      <p:graphicFrame>
        <p:nvGraphicFramePr>
          <p:cNvPr id="32770" name="Content Placeholder 5">
            <a:extLst>
              <a:ext uri="{FF2B5EF4-FFF2-40B4-BE49-F238E27FC236}">
                <a16:creationId xmlns:a16="http://schemas.microsoft.com/office/drawing/2014/main" id="{51921942-2F57-4D75-867C-100B7A34E0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143000"/>
          <a:ext cx="82296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r:id="rId4" imgW="8230313" imgH="4950381" progId="Excel.Chart.8">
                  <p:embed/>
                </p:oleObj>
              </mc:Choice>
              <mc:Fallback>
                <p:oleObj r:id="rId4" imgW="8230313" imgH="4950381" progId="Excel.Chart.8">
                  <p:embed/>
                  <p:pic>
                    <p:nvPicPr>
                      <p:cNvPr id="0" name="Content Placehold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143000"/>
                        <a:ext cx="8229600" cy="495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86A28B-AEDB-4201-AFB2-3FF4163100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FBB53C-AD01-4133-BA0B-75AFC5BE93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A083CE5-14AF-48F2-8FAD-ADF7A3DB14AE}" type="slidenum">
              <a:rPr lang="en-US" altLang="LID4096">
                <a:solidFill>
                  <a:srgbClr val="FFFFFF"/>
                </a:solidFill>
              </a:rPr>
              <a:pPr/>
              <a:t>20</a:t>
            </a:fld>
            <a:endParaRPr lang="en-US" altLang="LID4096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842CA-631A-464F-8AED-3EB1F588B9EE}"/>
              </a:ext>
            </a:extLst>
          </p:cNvPr>
          <p:cNvSpPr txBox="1"/>
          <p:nvPr/>
        </p:nvSpPr>
        <p:spPr>
          <a:xfrm>
            <a:off x="304800" y="1143000"/>
            <a:ext cx="9144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C7144CFA-0873-4BE7-BE50-113B9096E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Spend Analysis Spreadsheet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7ED7E-A2BD-4A91-95F3-EF97DD362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4678363"/>
          </a:xfrm>
        </p:spPr>
        <p:txBody>
          <a:bodyPr/>
          <a:lstStyle/>
          <a:p>
            <a:pPr>
              <a:defRPr/>
            </a:pPr>
            <a:r>
              <a:rPr lang="en-US" b="0" dirty="0"/>
              <a:t>Sort by commodity</a:t>
            </a:r>
          </a:p>
          <a:p>
            <a:pPr>
              <a:defRPr/>
            </a:pPr>
            <a:r>
              <a:rPr lang="en-US" b="0" dirty="0"/>
              <a:t>Find total spend by commodity</a:t>
            </a:r>
          </a:p>
          <a:p>
            <a:pPr>
              <a:defRPr/>
            </a:pPr>
            <a:r>
              <a:rPr lang="en-US" b="0" dirty="0"/>
              <a:t>Chart top 10 in descending $ amount</a:t>
            </a:r>
          </a:p>
          <a:p>
            <a:pPr>
              <a:defRPr/>
            </a:pPr>
            <a:r>
              <a:rPr lang="en-US" b="0" dirty="0"/>
              <a:t>Sort by number of suppliers/commodity</a:t>
            </a:r>
          </a:p>
          <a:p>
            <a:pPr>
              <a:defRPr/>
            </a:pPr>
            <a:r>
              <a:rPr lang="en-US" b="0" dirty="0"/>
              <a:t>Chart top 10 by descending # of suppliers</a:t>
            </a:r>
          </a:p>
          <a:p>
            <a:pPr>
              <a:defRPr/>
            </a:pPr>
            <a:r>
              <a:rPr lang="en-US" b="0" dirty="0"/>
              <a:t>Find average spend/supplier/commodity</a:t>
            </a:r>
          </a:p>
          <a:p>
            <a:pPr>
              <a:defRPr/>
            </a:pPr>
            <a:r>
              <a:rPr lang="en-US" b="0" dirty="0"/>
              <a:t>Apply Pareto analysis for opportunities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23007-BAE9-471B-81B7-07785D15C3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787D44-9710-4075-878D-4E11E677D5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29B78A-4DE7-4F76-BA1A-3AEC1256C4D6}" type="slidenum">
              <a:rPr lang="en-US" altLang="LID4096">
                <a:solidFill>
                  <a:srgbClr val="FFFFFF"/>
                </a:solidFill>
              </a:rPr>
              <a:pPr/>
              <a:t>21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67937F8E-ED23-453B-97F8-503C4BBDB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Sample Spend Categories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5C7C8AA-C0EA-4A20-96E8-B93795F663D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1066800"/>
          <a:ext cx="7407276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90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90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Supplier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Commodity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Annual Spend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Rebate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</a:rPr>
                        <a:t> Company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Rebate fulfillment &amp; call center</a:t>
                      </a:r>
                    </a:p>
                  </a:txBody>
                  <a:tcPr marL="91448" marR="91448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$329,873,663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Invest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Investments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$130,328,512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Advert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</a:rPr>
                        <a:t> Company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Advertising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$56,134,490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Repair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Service repairs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$49,339,218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Benefits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Benefits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$48,969,149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Hardware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Hardware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$40,572,450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 err="1">
                          <a:solidFill>
                            <a:schemeClr val="tx1"/>
                          </a:solidFill>
                        </a:rPr>
                        <a:t>Partco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Service parts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$39,910,372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Telecom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Telecommunications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$31,055,599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Display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Store displays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$30,020.969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 err="1">
                          <a:solidFill>
                            <a:schemeClr val="tx1"/>
                          </a:solidFill>
                        </a:rPr>
                        <a:t>Penpaper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</a:rPr>
                        <a:t> Company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$29,175,843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Labor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Contract labor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$27,880,363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Supply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$23,844,707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Contract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General contracting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$22,579,113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Office</a:t>
                      </a:r>
                      <a:r>
                        <a:rPr lang="en-US" sz="1000" b="1" baseline="0" dirty="0">
                          <a:solidFill>
                            <a:schemeClr val="tx1"/>
                          </a:solidFill>
                        </a:rPr>
                        <a:t> Company</a:t>
                      </a:r>
                      <a:endParaRPr 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$22,257,690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Graphics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Graphic design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$21,966,989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Payment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Business &amp; management services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$20,380,275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Freight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Surface freight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$19,369,010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Paper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Paper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$15,603,682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Service Plan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Service plan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$15,478,827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Service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Service parts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$14,868,023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Consumer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Consumer financing</a:t>
                      </a:r>
                    </a:p>
                  </a:txBody>
                  <a:tcPr marL="91448" marR="9144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$14,833,333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Energy Company</a:t>
                      </a:r>
                    </a:p>
                  </a:txBody>
                  <a:tcPr marL="91448" marR="914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Energy</a:t>
                      </a:r>
                    </a:p>
                  </a:txBody>
                  <a:tcPr marL="91448" marR="91448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$14,087,177</a:t>
                      </a:r>
                    </a:p>
                  </a:txBody>
                  <a:tcPr marL="91448" marR="91448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>
            <a:extLst>
              <a:ext uri="{FF2B5EF4-FFF2-40B4-BE49-F238E27FC236}">
                <a16:creationId xmlns:a16="http://schemas.microsoft.com/office/drawing/2014/main" id="{619C30A6-076D-4BA4-B2D1-A953D5BEA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Spend by Commodity</a:t>
            </a:r>
          </a:p>
        </p:txBody>
      </p:sp>
      <p:graphicFrame>
        <p:nvGraphicFramePr>
          <p:cNvPr id="35842" name="Content Placeholder 5">
            <a:extLst>
              <a:ext uri="{FF2B5EF4-FFF2-40B4-BE49-F238E27FC236}">
                <a16:creationId xmlns:a16="http://schemas.microsoft.com/office/drawing/2014/main" id="{482528A2-0468-4F94-BC94-1C59E627AB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483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4" r:id="rId4" imgW="8230313" imgH="4828450" progId="Excel.Chart.8">
                  <p:embed/>
                </p:oleObj>
              </mc:Choice>
              <mc:Fallback>
                <p:oleObj r:id="rId4" imgW="8230313" imgH="4828450" progId="Excel.Chart.8">
                  <p:embed/>
                  <p:pic>
                    <p:nvPicPr>
                      <p:cNvPr id="0" name="Content Placehold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295400"/>
                        <a:ext cx="8229600" cy="4830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F41ED-7F5A-44A0-969D-8F4BC76221F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21CA4A-91E4-43E7-9221-5CE23AFC17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262B338-BB6B-44B6-A619-83731A332B50}" type="slidenum">
              <a:rPr lang="en-US" altLang="LID4096">
                <a:solidFill>
                  <a:srgbClr val="FFFFFF"/>
                </a:solidFill>
              </a:rPr>
              <a:pPr/>
              <a:t>23</a:t>
            </a:fld>
            <a:endParaRPr lang="en-US" altLang="LID4096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09CC06-5DBD-45FD-884E-DE75BF3CAE80}"/>
              </a:ext>
            </a:extLst>
          </p:cNvPr>
          <p:cNvSpPr txBox="1"/>
          <p:nvPr/>
        </p:nvSpPr>
        <p:spPr>
          <a:xfrm rot="16200000">
            <a:off x="-81756" y="2367756"/>
            <a:ext cx="12954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Million $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8DEEAAF6-0657-432A-934D-B6B6F0300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Suppliers by Commodity</a:t>
            </a:r>
          </a:p>
        </p:txBody>
      </p:sp>
      <p:graphicFrame>
        <p:nvGraphicFramePr>
          <p:cNvPr id="36866" name="Content Placeholder 5">
            <a:extLst>
              <a:ext uri="{FF2B5EF4-FFF2-40B4-BE49-F238E27FC236}">
                <a16:creationId xmlns:a16="http://schemas.microsoft.com/office/drawing/2014/main" id="{F10B646C-3101-47E5-B2B0-9D749778ED4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77" r:id="rId4" imgW="8230313" imgH="4523624" progId="Excel.Chart.8">
                  <p:embed/>
                </p:oleObj>
              </mc:Choice>
              <mc:Fallback>
                <p:oleObj r:id="rId4" imgW="8230313" imgH="4523624" progId="Excel.Chart.8">
                  <p:embed/>
                  <p:pic>
                    <p:nvPicPr>
                      <p:cNvPr id="0" name="Content Placehold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00200"/>
                        <a:ext cx="8229600" cy="4525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1636A-57D6-4669-BFB1-CFB4976CBB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58E4F-B771-49A7-9A3D-C089A5D1CB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A22AFE-37F5-4FFF-9BF5-4D35048C4B0C}" type="slidenum">
              <a:rPr lang="en-US" altLang="LID4096">
                <a:solidFill>
                  <a:srgbClr val="FFFFFF"/>
                </a:solidFill>
              </a:rPr>
              <a:pPr/>
              <a:t>24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>
            <a:extLst>
              <a:ext uri="{FF2B5EF4-FFF2-40B4-BE49-F238E27FC236}">
                <a16:creationId xmlns:a16="http://schemas.microsoft.com/office/drawing/2014/main" id="{52C7AA5A-FFB9-4386-B4D8-5DD262731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Spend/Supplier by Commodity</a:t>
            </a:r>
          </a:p>
        </p:txBody>
      </p:sp>
      <p:graphicFrame>
        <p:nvGraphicFramePr>
          <p:cNvPr id="37890" name="Content Placeholder 5">
            <a:extLst>
              <a:ext uri="{FF2B5EF4-FFF2-40B4-BE49-F238E27FC236}">
                <a16:creationId xmlns:a16="http://schemas.microsoft.com/office/drawing/2014/main" id="{4FF34377-93F3-4AD4-A438-075B5D27359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371600"/>
          <a:ext cx="82296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01" r:id="rId4" imgW="8230313" imgH="4956478" progId="Excel.Chart.8">
                  <p:embed/>
                </p:oleObj>
              </mc:Choice>
              <mc:Fallback>
                <p:oleObj r:id="rId4" imgW="8230313" imgH="4956478" progId="Excel.Chart.8">
                  <p:embed/>
                  <p:pic>
                    <p:nvPicPr>
                      <p:cNvPr id="0" name="Content Placehold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71600"/>
                        <a:ext cx="8229600" cy="4953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81A8B-8A5F-492D-8D2A-829238907C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90FB1-45DA-4BD2-B662-2944FBD68F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A7B10D5-676C-49CD-899F-9EF08D4716CE}" type="slidenum">
              <a:rPr lang="en-US" altLang="LID4096">
                <a:solidFill>
                  <a:srgbClr val="FFFFFF"/>
                </a:solidFill>
              </a:rPr>
              <a:pPr/>
              <a:t>25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5772AAEC-D7D9-4753-9105-B116C5D55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Percent of Total Spend</a:t>
            </a:r>
          </a:p>
        </p:txBody>
      </p:sp>
      <p:graphicFrame>
        <p:nvGraphicFramePr>
          <p:cNvPr id="38914" name="Content Placeholder 5">
            <a:extLst>
              <a:ext uri="{FF2B5EF4-FFF2-40B4-BE49-F238E27FC236}">
                <a16:creationId xmlns:a16="http://schemas.microsoft.com/office/drawing/2014/main" id="{5F40B2C8-0C35-45EF-A06B-983DB3397B1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1371600"/>
          <a:ext cx="8458200" cy="475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25" r:id="rId4" imgW="8455885" imgH="4755292" progId="Excel.Chart.8">
                  <p:embed/>
                </p:oleObj>
              </mc:Choice>
              <mc:Fallback>
                <p:oleObj r:id="rId4" imgW="8455885" imgH="4755292" progId="Excel.Chart.8">
                  <p:embed/>
                  <p:pic>
                    <p:nvPicPr>
                      <p:cNvPr id="0" name="Content Placeholder 5"/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371600"/>
                        <a:ext cx="8458200" cy="4754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F460C1-17D3-4742-9B85-2885484C67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EC96D-D105-48EE-868C-8076E3199B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D64A83-34A1-4B13-8A71-1BE7F5741FFB}" type="slidenum">
              <a:rPr lang="en-US" altLang="LID4096">
                <a:solidFill>
                  <a:srgbClr val="FFFFFF"/>
                </a:solidFill>
              </a:rPr>
              <a:pPr/>
              <a:t>26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>
            <a:extLst>
              <a:ext uri="{FF2B5EF4-FFF2-40B4-BE49-F238E27FC236}">
                <a16:creationId xmlns:a16="http://schemas.microsoft.com/office/drawing/2014/main" id="{4BCFEDAC-955A-4E79-B4D0-D1981FF39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The Strategic Sourcing Process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2EFBCF9-5E8C-4D67-92C4-E423780085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28600" y="1295401"/>
          <a:ext cx="8686800" cy="1295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4D9DB3-7B6E-4775-8A57-F2727A36735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1998D3-4FBA-4B17-A838-CE87150A3F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4597ABF-9248-47DE-99CB-B1C0E00986F3}" type="slidenum">
              <a:rPr lang="en-US" altLang="LID4096">
                <a:solidFill>
                  <a:srgbClr val="FFFFFF"/>
                </a:solidFill>
              </a:rPr>
              <a:pPr/>
              <a:t>27</a:t>
            </a:fld>
            <a:endParaRPr lang="en-US" altLang="LID4096">
              <a:solidFill>
                <a:srgbClr val="FFFFFF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61A3A3C-3806-4CB4-88D3-70122EC02C9E}"/>
              </a:ext>
            </a:extLst>
          </p:cNvPr>
          <p:cNvGraphicFramePr>
            <a:graphicFrameLocks noGrp="1"/>
          </p:cNvGraphicFramePr>
          <p:nvPr/>
        </p:nvGraphicFramePr>
        <p:xfrm>
          <a:off x="228600" y="2590800"/>
          <a:ext cx="8686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Goal: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Develop a statement</a:t>
                      </a:r>
                      <a:r>
                        <a:rPr lang="en-US" sz="1300" b="1" baseline="0" dirty="0">
                          <a:solidFill>
                            <a:schemeClr val="tx1"/>
                          </a:solidFill>
                        </a:rPr>
                        <a:t> of work and plan</a:t>
                      </a:r>
                      <a:endParaRPr 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Goal: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Understand the supply market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Goal: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Classify suppliers and define sourcing approach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Goal: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Negotiate a win-win contract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Goal: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Continuously improve performance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Inputs and Tools: Project leader; other team members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Inputs and Tools:</a:t>
                      </a:r>
                      <a:r>
                        <a:rPr lang="en-US" sz="1300" b="1" baseline="0" dirty="0">
                          <a:solidFill>
                            <a:schemeClr val="tx1"/>
                          </a:solidFill>
                        </a:rPr>
                        <a:t> Interviews; online research; conferences</a:t>
                      </a:r>
                      <a:endParaRPr 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Inputs and Tools: Market research; portfolio matrix; forecasted spend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Inputs and Tools: Negotiation plan; supplier evaluation 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Inputs and Tools: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Contract; supplier scorecard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Outputs: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Baseline data; project charter; work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Outputs: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en-US" sz="1300" b="1" baseline="0" dirty="0">
                          <a:solidFill>
                            <a:schemeClr val="tx1"/>
                          </a:solidFill>
                        </a:rPr>
                        <a:t> on supply trends; changes; pricing; capacity; etc.</a:t>
                      </a:r>
                      <a:endParaRPr lang="en-US" sz="13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Outputs: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Supplier evaluation tool with desired relationship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Outputs: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Signed</a:t>
                      </a:r>
                      <a:r>
                        <a:rPr lang="en-US" sz="13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contract</a:t>
                      </a:r>
                      <a:endParaRPr lang="en-US" sz="13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Outputs:</a:t>
                      </a:r>
                    </a:p>
                    <a:p>
                      <a:pPr algn="ctr"/>
                      <a:r>
                        <a:rPr lang="en-US" sz="13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Supplier development plan; 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A6479C7C-4CF1-4D38-9BDB-29ED8B39F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1: Team and Project Charter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B4DC9-F5D9-4C65-82DD-96FA3C1DA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Identify key cross-functional team members</a:t>
            </a:r>
          </a:p>
          <a:p>
            <a:pPr>
              <a:defRPr/>
            </a:pPr>
            <a:r>
              <a:rPr lang="en-US" dirty="0"/>
              <a:t>Define the scope of the category strategy</a:t>
            </a:r>
          </a:p>
          <a:p>
            <a:pPr>
              <a:defRPr/>
            </a:pPr>
            <a:r>
              <a:rPr lang="en-US" dirty="0"/>
              <a:t>Publish a team charter</a:t>
            </a:r>
          </a:p>
          <a:p>
            <a:pPr>
              <a:defRPr/>
            </a:pPr>
            <a:r>
              <a:rPr lang="en-US" dirty="0"/>
              <a:t>Develop a work plan and communication plan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B6C23-7931-4EC0-974D-F0EFD9AC0E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4E0F1-504B-48D2-B804-C5B4C60801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7A68F0-5A04-4562-83C1-0A66F2B295D4}" type="slidenum">
              <a:rPr lang="en-US" altLang="LID4096">
                <a:solidFill>
                  <a:srgbClr val="FFFFFF"/>
                </a:solidFill>
              </a:rPr>
              <a:pPr/>
              <a:t>28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EF503E4F-EDE8-48DE-8B0D-EFC3431A1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2: Conduct Market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7C9A8-3C62-436C-B9BE-96342A1BD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Understand the purchase requirement relative to business unit objectives</a:t>
            </a:r>
          </a:p>
          <a:p>
            <a:pPr>
              <a:defRPr/>
            </a:pPr>
            <a:r>
              <a:rPr lang="en-US" dirty="0"/>
              <a:t>Conduct thorough spend analysis</a:t>
            </a:r>
          </a:p>
          <a:p>
            <a:pPr>
              <a:defRPr/>
            </a:pPr>
            <a:r>
              <a:rPr lang="en-US" dirty="0"/>
              <a:t>Identify specific internal users</a:t>
            </a:r>
          </a:p>
          <a:p>
            <a:pPr>
              <a:defRPr/>
            </a:pPr>
            <a:r>
              <a:rPr lang="en-US" dirty="0"/>
              <a:t>Identify current suppliers</a:t>
            </a:r>
          </a:p>
          <a:p>
            <a:pPr>
              <a:defRPr/>
            </a:pPr>
            <a:r>
              <a:rPr lang="en-US" dirty="0"/>
              <a:t>Research supply marketplace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4F4D31-5EC2-4446-925F-B6605120B7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CCFEC0-74D2-4F96-B39F-3C95B8FE84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6A48F8-58CA-42BB-B3C8-A01BF0C42554}" type="slidenum">
              <a:rPr lang="en-US" altLang="LID4096">
                <a:solidFill>
                  <a:srgbClr val="FFFFFF"/>
                </a:solidFill>
              </a:rPr>
              <a:pPr/>
              <a:t>29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889FBFC3-34D4-455C-827D-BA9B32DC8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2: Conduct Market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865D2-415A-43BD-8794-BD4C8E5FE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Information required</a:t>
            </a:r>
          </a:p>
          <a:p>
            <a:pPr lvl="1">
              <a:defRPr/>
            </a:pPr>
            <a:r>
              <a:rPr lang="en-US" dirty="0"/>
              <a:t>Total annual purchases</a:t>
            </a:r>
          </a:p>
          <a:p>
            <a:pPr lvl="1">
              <a:defRPr/>
            </a:pPr>
            <a:r>
              <a:rPr lang="en-US" dirty="0"/>
              <a:t>Interviews with stakeholders</a:t>
            </a:r>
          </a:p>
          <a:p>
            <a:pPr lvl="1">
              <a:defRPr/>
            </a:pPr>
            <a:r>
              <a:rPr lang="en-US" dirty="0"/>
              <a:t>External market research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567F5-0378-4563-A74A-8A8728CC3E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0B343-5785-4C6A-8FCC-C94ACED259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D6CF275-89CF-4380-8DB3-8C601A9961D7}" type="slidenum">
              <a:rPr lang="en-US" altLang="LID4096">
                <a:solidFill>
                  <a:srgbClr val="FFFFFF"/>
                </a:solidFill>
              </a:rPr>
              <a:pPr/>
              <a:t>30</a:t>
            </a:fld>
            <a:endParaRPr lang="en-US" altLang="LID4096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08763F3-E35B-44BA-A7AB-0C4E60BF6EBB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581400"/>
          <a:ext cx="79248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Key suppliers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Available capacity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Technology trends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Price</a:t>
                      </a:r>
                      <a:r>
                        <a:rPr lang="en-US" sz="22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data and trends</a:t>
                      </a:r>
                      <a:endParaRPr lang="en-US" sz="22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Cost data and trends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Technical requirements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Environmental</a:t>
                      </a:r>
                      <a:r>
                        <a:rPr lang="en-US" sz="2200" b="1" baseline="0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issues</a:t>
                      </a:r>
                      <a:endParaRPr lang="en-US" sz="22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Regulatory issues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Other available data</a:t>
                      </a:r>
                    </a:p>
                  </a:txBody>
                  <a:tcPr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59763FD4-9461-4E70-A7B8-5BFEA72B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2: Conduct Market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6C0EA-BD0C-4751-988F-0E4837594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Triangulation – explore, compare, and contrast data from multiple sources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8B8D2F-1C48-4AC2-A519-396ED0DB9C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B920BE-7F0E-499E-A6AB-2F7A8657F6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BAAC86-FD7B-4913-BD49-933426337216}" type="slidenum">
              <a:rPr lang="en-US" altLang="LID4096">
                <a:solidFill>
                  <a:srgbClr val="FFFFFF"/>
                </a:solidFill>
              </a:rPr>
              <a:pPr/>
              <a:t>31</a:t>
            </a:fld>
            <a:endParaRPr lang="en-US" altLang="LID4096">
              <a:solidFill>
                <a:srgbClr val="FFFFFF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3052DD-9343-46F1-BDA8-CED3034896C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971800"/>
          <a:ext cx="73152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Trade journals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Annual reports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Internet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Books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Snow-ball sampling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Trade consultants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Category managers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Headlines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9000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Suppliers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Investment reports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200" b="1" dirty="0">
                        <a:solidFill>
                          <a:schemeClr val="bg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D811AC4D-23C7-49EC-BF82-F67E7120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2: Conduct Market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AB79B-53EA-4B7F-AE6B-3E4914F01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Porter’s Five Forces Model</a:t>
            </a:r>
          </a:p>
          <a:p>
            <a:pPr>
              <a:defRPr/>
            </a:pPr>
            <a:r>
              <a:rPr lang="en-US" dirty="0"/>
              <a:t>SWOT analysis</a:t>
            </a:r>
          </a:p>
          <a:p>
            <a:pPr>
              <a:defRPr/>
            </a:pPr>
            <a:r>
              <a:rPr lang="en-US" dirty="0"/>
              <a:t>Establish benchmarks through industry databases</a:t>
            </a:r>
          </a:p>
          <a:p>
            <a:pPr>
              <a:defRPr/>
            </a:pPr>
            <a:r>
              <a:rPr lang="en-US" dirty="0"/>
              <a:t>Requests for information</a:t>
            </a:r>
          </a:p>
          <a:p>
            <a:pPr>
              <a:defRPr/>
            </a:pPr>
            <a:r>
              <a:rPr lang="en-US" dirty="0"/>
              <a:t>Value chain analysis</a:t>
            </a:r>
          </a:p>
          <a:p>
            <a:pPr>
              <a:defRPr/>
            </a:pPr>
            <a:r>
              <a:rPr lang="en-US" dirty="0"/>
              <a:t>Supplier research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E6AC7B-3EFC-4E21-AC10-E49AC5CC20E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60986-913F-4ED9-B687-15265011D7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EC7F314-DEEA-4E36-B952-93CC11E8C9F2}" type="slidenum">
              <a:rPr lang="en-US" altLang="LID4096">
                <a:solidFill>
                  <a:srgbClr val="FFFFFF"/>
                </a:solidFill>
              </a:rPr>
              <a:pPr/>
              <a:t>32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A726C78-594E-4F5E-A1F8-6FD164E59EB6}"/>
              </a:ext>
            </a:extLst>
          </p:cNvPr>
          <p:cNvCxnSpPr>
            <a:stCxn id="46092" idx="1"/>
            <a:endCxn id="46088" idx="3"/>
          </p:cNvCxnSpPr>
          <p:nvPr/>
        </p:nvCxnSpPr>
        <p:spPr>
          <a:xfrm rot="10800000" flipV="1">
            <a:off x="5943600" y="3581400"/>
            <a:ext cx="457200" cy="0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9C74D5-655F-4274-95BA-32A9DD7A4276}"/>
              </a:ext>
            </a:extLst>
          </p:cNvPr>
          <p:cNvCxnSpPr>
            <a:stCxn id="46090" idx="0"/>
            <a:endCxn id="46088" idx="2"/>
          </p:cNvCxnSpPr>
          <p:nvPr/>
        </p:nvCxnSpPr>
        <p:spPr>
          <a:xfrm rot="5400000" flipH="1" flipV="1">
            <a:off x="4343400" y="4495800"/>
            <a:ext cx="458788" cy="1588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8EA8967-2FE2-4162-B7DC-E77577C904D0}"/>
              </a:ext>
            </a:extLst>
          </p:cNvPr>
          <p:cNvCxnSpPr>
            <a:stCxn id="46089" idx="2"/>
            <a:endCxn id="46088" idx="0"/>
          </p:cNvCxnSpPr>
          <p:nvPr/>
        </p:nvCxnSpPr>
        <p:spPr>
          <a:xfrm rot="5400000">
            <a:off x="4344194" y="2666206"/>
            <a:ext cx="457200" cy="1588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7C68C9-5F18-4ECF-8BE6-9C3572935958}"/>
              </a:ext>
            </a:extLst>
          </p:cNvPr>
          <p:cNvCxnSpPr>
            <a:stCxn id="46091" idx="3"/>
            <a:endCxn id="46088" idx="1"/>
          </p:cNvCxnSpPr>
          <p:nvPr/>
        </p:nvCxnSpPr>
        <p:spPr>
          <a:xfrm>
            <a:off x="2743200" y="3581400"/>
            <a:ext cx="457200" cy="0"/>
          </a:xfrm>
          <a:prstGeom prst="straightConnector1">
            <a:avLst/>
          </a:prstGeom>
          <a:ln w="76200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85" name="Title 1">
            <a:extLst>
              <a:ext uri="{FF2B5EF4-FFF2-40B4-BE49-F238E27FC236}">
                <a16:creationId xmlns:a16="http://schemas.microsoft.com/office/drawing/2014/main" id="{D37DACC6-E6CD-4072-8B26-E74D511C9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Porter’s Five Forces Model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93DF60-A7AC-47E4-A150-8FA1FC4256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7EE7B3-DF0C-4264-8026-68267E2078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7ED4027-E1E4-44CE-B4DF-634C000B1E0F}" type="slidenum">
              <a:rPr lang="en-US" altLang="LID4096">
                <a:solidFill>
                  <a:srgbClr val="FFFFFF"/>
                </a:solidFill>
              </a:rPr>
              <a:pPr/>
              <a:t>33</a:t>
            </a:fld>
            <a:endParaRPr lang="en-US" altLang="LID4096">
              <a:solidFill>
                <a:srgbClr val="FFFFFF"/>
              </a:solidFill>
            </a:endParaRPr>
          </a:p>
        </p:txBody>
      </p:sp>
      <p:sp>
        <p:nvSpPr>
          <p:cNvPr id="46088" name="TextBox 5">
            <a:extLst>
              <a:ext uri="{FF2B5EF4-FFF2-40B4-BE49-F238E27FC236}">
                <a16:creationId xmlns:a16="http://schemas.microsoft.com/office/drawing/2014/main" id="{5D7CE405-6464-4410-8C71-B7D1E63F6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895600"/>
            <a:ext cx="2743200" cy="13716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sz="2400" b="1" dirty="0"/>
              <a:t>Market Internal Competition</a:t>
            </a:r>
          </a:p>
        </p:txBody>
      </p:sp>
      <p:sp>
        <p:nvSpPr>
          <p:cNvPr id="46089" name="TextBox 6">
            <a:extLst>
              <a:ext uri="{FF2B5EF4-FFF2-40B4-BE49-F238E27FC236}">
                <a16:creationId xmlns:a16="http://schemas.microsoft.com/office/drawing/2014/main" id="{005FD17D-1FD8-4F93-91CD-577C3C1C1B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1066800"/>
            <a:ext cx="2743200" cy="13716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sz="2400" b="1"/>
              <a:t>Threat of New Entrants</a:t>
            </a:r>
          </a:p>
        </p:txBody>
      </p:sp>
      <p:sp>
        <p:nvSpPr>
          <p:cNvPr id="46090" name="TextBox 7">
            <a:extLst>
              <a:ext uri="{FF2B5EF4-FFF2-40B4-BE49-F238E27FC236}">
                <a16:creationId xmlns:a16="http://schemas.microsoft.com/office/drawing/2014/main" id="{C2A543AA-3F7E-40A8-B529-60CCA44F78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4724400"/>
            <a:ext cx="2743200" cy="13716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sz="2400" b="1" dirty="0"/>
              <a:t>Pressure from Substitutes</a:t>
            </a:r>
          </a:p>
        </p:txBody>
      </p:sp>
      <p:sp>
        <p:nvSpPr>
          <p:cNvPr id="46091" name="TextBox 8">
            <a:extLst>
              <a:ext uri="{FF2B5EF4-FFF2-40B4-BE49-F238E27FC236}">
                <a16:creationId xmlns:a16="http://schemas.microsoft.com/office/drawing/2014/main" id="{A86297DF-2F7C-4DEA-B206-49BD37745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2743200" cy="13716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sz="2400" b="1"/>
              <a:t>Supplier Bargaining Power</a:t>
            </a:r>
          </a:p>
        </p:txBody>
      </p:sp>
      <p:sp>
        <p:nvSpPr>
          <p:cNvPr id="46092" name="TextBox 9">
            <a:extLst>
              <a:ext uri="{FF2B5EF4-FFF2-40B4-BE49-F238E27FC236}">
                <a16:creationId xmlns:a16="http://schemas.microsoft.com/office/drawing/2014/main" id="{D5A11E2D-AB11-44B7-82EF-31CA34586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2895600"/>
            <a:ext cx="2743200" cy="13716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sz="2400" b="1"/>
              <a:t>Buyer Bargaining Power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1CC9CF-5442-4F4E-BDF0-D30364AB496F}"/>
              </a:ext>
            </a:extLst>
          </p:cNvPr>
          <p:cNvSpPr txBox="1"/>
          <p:nvPr/>
        </p:nvSpPr>
        <p:spPr>
          <a:xfrm>
            <a:off x="152400" y="5334000"/>
            <a:ext cx="2362200" cy="738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Source:</a:t>
            </a:r>
          </a:p>
          <a:p>
            <a:pPr>
              <a:defRPr/>
            </a:pPr>
            <a:r>
              <a:rPr lang="en-US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Competitive Strategy</a:t>
            </a:r>
            <a:endParaRPr 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</a:endParaRPr>
          </a:p>
          <a:p>
            <a:pPr>
              <a:defRPr/>
            </a:pPr>
            <a:r>
              <a: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Michael E. Porter (1980)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6946DD-B2DD-4116-9CB1-D568ADE35A47}"/>
              </a:ext>
            </a:extLst>
          </p:cNvPr>
          <p:cNvSpPr txBox="1"/>
          <p:nvPr/>
        </p:nvSpPr>
        <p:spPr>
          <a:xfrm>
            <a:off x="6477000" y="4953000"/>
            <a:ext cx="2514600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Other possible forces: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Globalization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Digitization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Deregulation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Title 1">
            <a:extLst>
              <a:ext uri="{FF2B5EF4-FFF2-40B4-BE49-F238E27FC236}">
                <a16:creationId xmlns:a16="http://schemas.microsoft.com/office/drawing/2014/main" id="{A6E4300C-5F35-4272-97BB-65AA29628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Market Internal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9AC34-1228-43E7-945A-B17BE15AF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Speed of industry growth</a:t>
            </a:r>
          </a:p>
          <a:p>
            <a:pPr>
              <a:defRPr/>
            </a:pPr>
            <a:r>
              <a:rPr lang="en-US" dirty="0"/>
              <a:t>Capacity utilization</a:t>
            </a:r>
          </a:p>
          <a:p>
            <a:pPr>
              <a:defRPr/>
            </a:pPr>
            <a:r>
              <a:rPr lang="en-US" dirty="0"/>
              <a:t>Exit barriers</a:t>
            </a:r>
          </a:p>
          <a:p>
            <a:pPr>
              <a:defRPr/>
            </a:pPr>
            <a:r>
              <a:rPr lang="en-US" dirty="0"/>
              <a:t>Product differences</a:t>
            </a:r>
          </a:p>
          <a:p>
            <a:pPr>
              <a:defRPr/>
            </a:pPr>
            <a:r>
              <a:rPr lang="en-US" dirty="0"/>
              <a:t>Switching costs</a:t>
            </a:r>
          </a:p>
          <a:p>
            <a:pPr>
              <a:defRPr/>
            </a:pPr>
            <a:r>
              <a:rPr lang="en-US" dirty="0"/>
              <a:t>Diversity of suppliers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971B8-FA46-4020-B444-B5B1AACA7C6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53EEC2-2111-43B2-9B63-6A4B12F277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17F90D-DF78-4090-97D2-598F3F30DD83}" type="slidenum">
              <a:rPr lang="en-US" altLang="LID4096">
                <a:solidFill>
                  <a:srgbClr val="FFFFFF"/>
                </a:solidFill>
              </a:rPr>
              <a:pPr/>
              <a:t>34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120CFBE7-A283-4E7C-B466-24620617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Threat of New Entrants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50435-527B-4D7D-B3C3-517FF048F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Capital markets</a:t>
            </a:r>
          </a:p>
          <a:p>
            <a:pPr>
              <a:defRPr/>
            </a:pPr>
            <a:r>
              <a:rPr lang="en-US" dirty="0"/>
              <a:t>Availability of skilled workers</a:t>
            </a:r>
          </a:p>
          <a:p>
            <a:pPr>
              <a:defRPr/>
            </a:pPr>
            <a:r>
              <a:rPr lang="en-US" dirty="0"/>
              <a:t>Access to critical technologies, inputs, or distribution</a:t>
            </a:r>
          </a:p>
          <a:p>
            <a:pPr>
              <a:defRPr/>
            </a:pPr>
            <a:r>
              <a:rPr lang="en-US" dirty="0"/>
              <a:t>Product life cycles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36E7F-01D0-46B4-88C8-6118EC2244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0BD3DB-0F3E-41D6-9554-3ECEC5F880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E54769-B958-4FA0-84CE-E1D28F0C697B}" type="slidenum">
              <a:rPr lang="en-US" altLang="LID4096">
                <a:solidFill>
                  <a:srgbClr val="FFFFFF"/>
                </a:solidFill>
              </a:rPr>
              <a:pPr/>
              <a:t>35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577FCA28-490C-4A32-864D-315C4FFE4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Threat of New Entrants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F6164-8068-4F99-9CB2-C3645E51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Brand equity and customer loyalty</a:t>
            </a:r>
          </a:p>
          <a:p>
            <a:pPr>
              <a:defRPr/>
            </a:pPr>
            <a:r>
              <a:rPr lang="en-US" dirty="0"/>
              <a:t>Government deregulation</a:t>
            </a:r>
          </a:p>
          <a:p>
            <a:pPr>
              <a:defRPr/>
            </a:pPr>
            <a:r>
              <a:rPr lang="en-US" dirty="0"/>
              <a:t>Risk of switching</a:t>
            </a:r>
          </a:p>
          <a:p>
            <a:pPr>
              <a:defRPr/>
            </a:pPr>
            <a:r>
              <a:rPr lang="en-US" dirty="0"/>
              <a:t>Economies of scale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9A044A-48B7-4404-B131-8F66581B2F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0D343A-44FA-459B-BE54-CBD882C793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5F12801-6700-4417-B953-8AECAD8AFF1F}" type="slidenum">
              <a:rPr lang="en-US" altLang="LID4096">
                <a:solidFill>
                  <a:srgbClr val="FFFFFF"/>
                </a:solidFill>
              </a:rPr>
              <a:pPr/>
              <a:t>36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itle 1">
            <a:extLst>
              <a:ext uri="{FF2B5EF4-FFF2-40B4-BE49-F238E27FC236}">
                <a16:creationId xmlns:a16="http://schemas.microsoft.com/office/drawing/2014/main" id="{E2E753D8-D5C3-48C4-B8E3-25B7C7052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Pressure from Substitutes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C911E-7016-4791-9C8E-B0F602714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Relative performance of substitute products and services</a:t>
            </a:r>
          </a:p>
          <a:p>
            <a:pPr>
              <a:defRPr/>
            </a:pPr>
            <a:r>
              <a:rPr lang="en-US" dirty="0"/>
              <a:t>Relative price</a:t>
            </a:r>
          </a:p>
          <a:p>
            <a:pPr>
              <a:defRPr/>
            </a:pPr>
            <a:r>
              <a:rPr lang="en-US" dirty="0"/>
              <a:t>Switching costs</a:t>
            </a:r>
          </a:p>
          <a:p>
            <a:pPr>
              <a:defRPr/>
            </a:pPr>
            <a:r>
              <a:rPr lang="en-US" dirty="0"/>
              <a:t>Buyer’s propensity to switch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7DD32-7956-4B6F-9F1A-8D588CBD9F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F43EBD-9628-407D-837D-6A19CB868B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E7A8661-1722-4075-A9FA-D7A9F281C134}" type="slidenum">
              <a:rPr lang="en-US" altLang="LID4096">
                <a:solidFill>
                  <a:srgbClr val="FFFFFF"/>
                </a:solidFill>
              </a:rPr>
              <a:pPr/>
              <a:t>37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Title 1">
            <a:extLst>
              <a:ext uri="{FF2B5EF4-FFF2-40B4-BE49-F238E27FC236}">
                <a16:creationId xmlns:a16="http://schemas.microsoft.com/office/drawing/2014/main" id="{24964A9B-0087-432C-ADA1-A1B779686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Buyer Bargaining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149D1-F31C-4215-AA5C-4B31E8E53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Buyer concentration</a:t>
            </a:r>
          </a:p>
          <a:p>
            <a:pPr>
              <a:defRPr/>
            </a:pPr>
            <a:r>
              <a:rPr lang="en-US" dirty="0"/>
              <a:t>Buyer volume</a:t>
            </a:r>
          </a:p>
          <a:p>
            <a:pPr>
              <a:defRPr/>
            </a:pPr>
            <a:r>
              <a:rPr lang="en-US" dirty="0"/>
              <a:t>Buyer switching costs</a:t>
            </a:r>
          </a:p>
          <a:p>
            <a:pPr>
              <a:defRPr/>
            </a:pPr>
            <a:r>
              <a:rPr lang="en-US" dirty="0"/>
              <a:t>Price sensitivity</a:t>
            </a:r>
          </a:p>
          <a:p>
            <a:pPr>
              <a:defRPr/>
            </a:pPr>
            <a:r>
              <a:rPr lang="en-US" dirty="0"/>
              <a:t>Product differences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4D933-C443-42F2-8CD3-BBE6365872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DE129-F96C-4BA8-982B-2AD4EEA756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23F783-14DD-470E-892D-6F1B29D7B7C1}" type="slidenum">
              <a:rPr lang="en-US" altLang="LID4096">
                <a:solidFill>
                  <a:srgbClr val="FFFFFF"/>
                </a:solidFill>
              </a:rPr>
              <a:pPr/>
              <a:t>38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Title 1">
            <a:extLst>
              <a:ext uri="{FF2B5EF4-FFF2-40B4-BE49-F238E27FC236}">
                <a16:creationId xmlns:a16="http://schemas.microsoft.com/office/drawing/2014/main" id="{1BBF940E-B11E-43F1-B447-DB3399AB7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Buyer Bargaining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4A81B-82D4-432C-B4FB-4C7D1C353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Brand identity</a:t>
            </a:r>
          </a:p>
          <a:p>
            <a:pPr>
              <a:defRPr/>
            </a:pPr>
            <a:r>
              <a:rPr lang="en-US" dirty="0"/>
              <a:t>Impact on quality or performance</a:t>
            </a:r>
          </a:p>
          <a:p>
            <a:pPr>
              <a:defRPr/>
            </a:pPr>
            <a:r>
              <a:rPr lang="en-US" dirty="0"/>
              <a:t>Buyer profits</a:t>
            </a:r>
          </a:p>
          <a:p>
            <a:pPr>
              <a:defRPr/>
            </a:pPr>
            <a:r>
              <a:rPr lang="en-US" dirty="0"/>
              <a:t>Availability of </a:t>
            </a:r>
            <a:r>
              <a:rPr lang="en-US" dirty="0" err="1"/>
              <a:t>substituttes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3DDE5-EF05-4B30-BCBB-93EE755B93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DC9CA-B7ED-4169-A063-E655665D87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05515E-8C09-4B31-8B8B-27E63C1C6982}" type="slidenum">
              <a:rPr lang="en-US" altLang="LID4096">
                <a:solidFill>
                  <a:srgbClr val="FFFFFF"/>
                </a:solidFill>
              </a:rPr>
              <a:pPr/>
              <a:t>39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itle 1">
            <a:extLst>
              <a:ext uri="{FF2B5EF4-FFF2-40B4-BE49-F238E27FC236}">
                <a16:creationId xmlns:a16="http://schemas.microsoft.com/office/drawing/2014/main" id="{32AD1CBB-19DA-43C4-A02E-9E1312148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Supplier Bargaining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F22A8-C072-4DCD-940B-AE1BB6EDE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1600"/>
            <a:ext cx="8686800" cy="4754563"/>
          </a:xfrm>
        </p:spPr>
        <p:txBody>
          <a:bodyPr/>
          <a:lstStyle/>
          <a:p>
            <a:pPr>
              <a:defRPr/>
            </a:pPr>
            <a:r>
              <a:rPr lang="en-US" dirty="0"/>
              <a:t>Price of major inputs</a:t>
            </a:r>
          </a:p>
          <a:p>
            <a:pPr>
              <a:defRPr/>
            </a:pPr>
            <a:r>
              <a:rPr lang="en-US" dirty="0"/>
              <a:t>Ability to pass along price increases</a:t>
            </a:r>
          </a:p>
          <a:p>
            <a:pPr>
              <a:defRPr/>
            </a:pPr>
            <a:r>
              <a:rPr lang="en-US" dirty="0"/>
              <a:t>Availability of key technologies or other resources</a:t>
            </a:r>
          </a:p>
          <a:p>
            <a:pPr>
              <a:defRPr/>
            </a:pPr>
            <a:r>
              <a:rPr lang="en-US" dirty="0"/>
              <a:t>Threat of forward or backward integration</a:t>
            </a:r>
          </a:p>
          <a:p>
            <a:pPr>
              <a:defRPr/>
            </a:pPr>
            <a:r>
              <a:rPr lang="en-US" dirty="0"/>
              <a:t>Industry capacity utilization</a:t>
            </a:r>
          </a:p>
          <a:p>
            <a:pPr>
              <a:defRPr/>
            </a:pPr>
            <a:r>
              <a:rPr lang="en-US" dirty="0"/>
              <a:t>Supplier concentration</a:t>
            </a:r>
          </a:p>
          <a:p>
            <a:pPr>
              <a:defRPr/>
            </a:pPr>
            <a:r>
              <a:rPr lang="en-US" dirty="0"/>
              <a:t>Importance of volume to supplier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5A6C64-FF25-4232-8221-E386F58C5E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27CFCF-DF28-4F9B-BBD9-E2EA4A2DF8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CAEC35-8F3A-41EB-AC5A-3C49798600F6}" type="slidenum">
              <a:rPr lang="en-US" altLang="LID4096">
                <a:solidFill>
                  <a:srgbClr val="FFFFFF"/>
                </a:solidFill>
              </a:rPr>
              <a:pPr/>
              <a:t>40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itle 1">
            <a:extLst>
              <a:ext uri="{FF2B5EF4-FFF2-40B4-BE49-F238E27FC236}">
                <a16:creationId xmlns:a16="http://schemas.microsoft.com/office/drawing/2014/main" id="{6239BEE1-5CCC-4579-8492-0A0BF11A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	SWOT Analysis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5DFDDF-73A7-46DE-B12A-CC613CD258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362200" y="1752600"/>
          <a:ext cx="45720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Strengths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Weaknesses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Opportunities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Threats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FA45A2-EA9C-4B5A-8B7A-0F6C434275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A0763-2083-4AC7-829A-191F4744B6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A31796-135C-4FBF-948D-33833EFC76AD}" type="slidenum">
              <a:rPr lang="en-US" altLang="LID4096">
                <a:solidFill>
                  <a:srgbClr val="FFFFFF"/>
                </a:solidFill>
              </a:rPr>
              <a:pPr/>
              <a:t>41</a:t>
            </a:fld>
            <a:endParaRPr lang="en-US" altLang="LID4096">
              <a:solidFill>
                <a:srgbClr val="FFFFFF"/>
              </a:solidFill>
            </a:endParaRPr>
          </a:p>
        </p:txBody>
      </p:sp>
      <p:sp>
        <p:nvSpPr>
          <p:cNvPr id="54287" name="TextBox 6">
            <a:extLst>
              <a:ext uri="{FF2B5EF4-FFF2-40B4-BE49-F238E27FC236}">
                <a16:creationId xmlns:a16="http://schemas.microsoft.com/office/drawing/2014/main" id="{C6321029-3657-46F5-B8B9-B7D6D5990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048000"/>
            <a:ext cx="28956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 dirty="0"/>
              <a:t>Internal Factors</a:t>
            </a:r>
          </a:p>
        </p:txBody>
      </p:sp>
      <p:sp>
        <p:nvSpPr>
          <p:cNvPr id="54288" name="TextBox 7">
            <a:extLst>
              <a:ext uri="{FF2B5EF4-FFF2-40B4-BE49-F238E27FC236}">
                <a16:creationId xmlns:a16="http://schemas.microsoft.com/office/drawing/2014/main" id="{AA06D731-EE37-4162-A613-B62BBE251C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3733800"/>
            <a:ext cx="2895600" cy="381000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LID4096" b="1"/>
              <a:t>External Factors</a:t>
            </a:r>
          </a:p>
        </p:txBody>
      </p:sp>
      <p:sp>
        <p:nvSpPr>
          <p:cNvPr id="54289" name="TextBox 8">
            <a:extLst>
              <a:ext uri="{FF2B5EF4-FFF2-40B4-BE49-F238E27FC236}">
                <a16:creationId xmlns:a16="http://schemas.microsoft.com/office/drawing/2014/main" id="{F2047673-386B-4B76-AD58-4041261F4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676400"/>
            <a:ext cx="19812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>
                <a:solidFill>
                  <a:srgbClr val="FFFF00"/>
                </a:solidFill>
              </a:rPr>
              <a:t>Broad customer 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>
                <a:solidFill>
                  <a:srgbClr val="FFFF00"/>
                </a:solidFill>
              </a:rPr>
              <a:t>Established product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>
                <a:solidFill>
                  <a:srgbClr val="FFFF00"/>
                </a:solidFill>
              </a:rPr>
              <a:t>Established distribution channels</a:t>
            </a:r>
          </a:p>
        </p:txBody>
      </p:sp>
      <p:sp>
        <p:nvSpPr>
          <p:cNvPr id="54290" name="TextBox 9">
            <a:extLst>
              <a:ext uri="{FF2B5EF4-FFF2-40B4-BE49-F238E27FC236}">
                <a16:creationId xmlns:a16="http://schemas.microsoft.com/office/drawing/2014/main" id="{89EDAF2F-7D36-417A-AA5C-6DF1A451A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581400"/>
            <a:ext cx="19812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/>
              <a:t>Emergence of other uses and markets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/>
              <a:t>Emerging overseas markets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/>
              <a:t>High entry barriers</a:t>
            </a:r>
          </a:p>
        </p:txBody>
      </p:sp>
      <p:sp>
        <p:nvSpPr>
          <p:cNvPr id="54291" name="TextBox 10">
            <a:extLst>
              <a:ext uri="{FF2B5EF4-FFF2-40B4-BE49-F238E27FC236}">
                <a16:creationId xmlns:a16="http://schemas.microsoft.com/office/drawing/2014/main" id="{312D70FE-C67E-4A87-938D-969C8809A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524000"/>
            <a:ext cx="19812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>
                <a:solidFill>
                  <a:srgbClr val="000099"/>
                </a:solidFill>
              </a:rPr>
              <a:t>Low product innovation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>
                <a:solidFill>
                  <a:srgbClr val="000099"/>
                </a:solidFill>
              </a:rPr>
              <a:t>Traditional, unionized business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LID4096" sz="1600" b="1">
                <a:solidFill>
                  <a:srgbClr val="000099"/>
                </a:solidFill>
              </a:rPr>
              <a:t>Low patent protection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D9C61E-0153-41DC-AB8C-291E3567B184}"/>
              </a:ext>
            </a:extLst>
          </p:cNvPr>
          <p:cNvSpPr txBox="1"/>
          <p:nvPr/>
        </p:nvSpPr>
        <p:spPr>
          <a:xfrm>
            <a:off x="6934200" y="3657600"/>
            <a:ext cx="1981200" cy="18161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Emerging overseas suppliers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NPD costs are high</a:t>
            </a:r>
          </a:p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Environmental regulations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itle 1">
            <a:extLst>
              <a:ext uri="{FF2B5EF4-FFF2-40B4-BE49-F238E27FC236}">
                <a16:creationId xmlns:a16="http://schemas.microsoft.com/office/drawing/2014/main" id="{68C26710-D4CE-4272-B4E5-3C1EB590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Benchmarks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97B432-031A-4A1F-9187-E969DCC33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Identify critical performance criteria</a:t>
            </a:r>
          </a:p>
          <a:p>
            <a:pPr>
              <a:defRPr/>
            </a:pPr>
            <a:r>
              <a:rPr lang="en-US" dirty="0"/>
              <a:t>Identify relative competitive performance</a:t>
            </a:r>
          </a:p>
          <a:p>
            <a:pPr>
              <a:defRPr/>
            </a:pPr>
            <a:r>
              <a:rPr lang="en-US" dirty="0"/>
              <a:t>Use of industry benchmarks</a:t>
            </a:r>
          </a:p>
          <a:p>
            <a:pPr lvl="1">
              <a:defRPr/>
            </a:pPr>
            <a:r>
              <a:rPr lang="en-US" dirty="0"/>
              <a:t>CAPS</a:t>
            </a:r>
          </a:p>
          <a:p>
            <a:pPr lvl="1">
              <a:defRPr/>
            </a:pPr>
            <a:r>
              <a:rPr lang="en-US" dirty="0"/>
              <a:t>Third party consulting firms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E6F44F-C08D-45C4-9D13-60D08A05DD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0F164-F88D-43EA-A777-9CB6CF27BA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9CD4E8-D711-4FFB-8008-26FCDB5134B1}" type="slidenum">
              <a:rPr lang="en-US" altLang="LID4096">
                <a:solidFill>
                  <a:srgbClr val="FFFFFF"/>
                </a:solidFill>
              </a:rPr>
              <a:pPr/>
              <a:t>42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Title 1">
            <a:extLst>
              <a:ext uri="{FF2B5EF4-FFF2-40B4-BE49-F238E27FC236}">
                <a16:creationId xmlns:a16="http://schemas.microsoft.com/office/drawing/2014/main" id="{DFD2CF6C-4D3C-485D-90A6-2441338AB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Requests for Information (RFIs)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50939-855A-4C3D-A1ED-FC532F79E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/>
              <a:t>Use before a specific requisition is issued</a:t>
            </a:r>
          </a:p>
          <a:p>
            <a:pPr algn="just">
              <a:defRPr/>
            </a:pPr>
            <a:r>
              <a:rPr lang="en-US" dirty="0"/>
              <a:t>Use to obtain general information about services, products, or suppliers</a:t>
            </a:r>
          </a:p>
          <a:p>
            <a:pPr lvl="1" algn="just">
              <a:defRPr/>
            </a:pPr>
            <a:r>
              <a:rPr lang="en-US" dirty="0"/>
              <a:t>Does not constitute a binding document</a:t>
            </a:r>
          </a:p>
          <a:p>
            <a:pPr algn="just">
              <a:defRPr/>
            </a:pPr>
            <a:r>
              <a:rPr lang="en-US" dirty="0"/>
              <a:t>Use when a large or complicated purchase is considered and when pool of suppliers must be prequalified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2C208-2480-4A3C-9AA4-D67DD08FC9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94F781-BB94-478C-99FC-E0F77C4BE9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A51892-0C46-4EE5-9065-C294B84919F7}" type="slidenum">
              <a:rPr lang="en-US" altLang="LID4096">
                <a:solidFill>
                  <a:srgbClr val="FFFFFF"/>
                </a:solidFill>
              </a:rPr>
              <a:pPr/>
              <a:t>43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itle 1">
            <a:extLst>
              <a:ext uri="{FF2B5EF4-FFF2-40B4-BE49-F238E27FC236}">
                <a16:creationId xmlns:a16="http://schemas.microsoft.com/office/drawing/2014/main" id="{F4FF100E-1CC3-4F4C-A229-8A537FBE1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Supplier Research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5121B0-D122-45E0-8B1F-E145E5883C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Cost structure</a:t>
            </a:r>
          </a:p>
          <a:p>
            <a:pPr>
              <a:defRPr/>
            </a:pPr>
            <a:r>
              <a:rPr lang="en-US" dirty="0"/>
              <a:t>Financial status</a:t>
            </a:r>
          </a:p>
          <a:p>
            <a:pPr>
              <a:defRPr/>
            </a:pPr>
            <a:r>
              <a:rPr lang="en-US" dirty="0"/>
              <a:t>Customer satisfaction levels</a:t>
            </a:r>
          </a:p>
          <a:p>
            <a:pPr>
              <a:defRPr/>
            </a:pPr>
            <a:r>
              <a:rPr lang="en-US" dirty="0"/>
              <a:t>Support capabilities</a:t>
            </a:r>
          </a:p>
          <a:p>
            <a:pPr>
              <a:defRPr/>
            </a:pPr>
            <a:r>
              <a:rPr lang="en-US" dirty="0"/>
              <a:t>Relative strengths and weaknesses</a:t>
            </a:r>
          </a:p>
          <a:p>
            <a:pPr>
              <a:defRPr/>
            </a:pPr>
            <a:r>
              <a:rPr lang="en-US" dirty="0"/>
              <a:t>Buyer’s fit with supplier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26EFED-BACF-4A3D-89C3-72040E972F4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How the company is viewed</a:t>
            </a:r>
          </a:p>
          <a:p>
            <a:pPr>
              <a:defRPr/>
            </a:pPr>
            <a:r>
              <a:rPr lang="en-US" dirty="0"/>
              <a:t>Core capabilities</a:t>
            </a:r>
          </a:p>
          <a:p>
            <a:pPr>
              <a:defRPr/>
            </a:pPr>
            <a:r>
              <a:rPr lang="en-US" dirty="0"/>
              <a:t>Strategy/future direction</a:t>
            </a:r>
          </a:p>
          <a:p>
            <a:pPr>
              <a:defRPr/>
            </a:pPr>
            <a:r>
              <a:rPr lang="en-US" dirty="0"/>
              <a:t>Culture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70249-BAAA-400B-99BE-D858351C463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B98E1-8DED-4AD1-8F2F-EAECB68422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FFE6802-9BA0-43EB-BCA0-FFD54DB8448F}" type="slidenum">
              <a:rPr lang="en-US" altLang="LID4096">
                <a:solidFill>
                  <a:srgbClr val="FFFFFF"/>
                </a:solidFill>
              </a:rPr>
              <a:pPr/>
              <a:t>44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itle 6">
            <a:extLst>
              <a:ext uri="{FF2B5EF4-FFF2-40B4-BE49-F238E27FC236}">
                <a16:creationId xmlns:a16="http://schemas.microsoft.com/office/drawing/2014/main" id="{9D2A8B56-150C-4E6A-910B-ED20DB703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3: Strategy Development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5C14997-DD44-4225-8EFB-679D15FB0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Portfolio analysis</a:t>
            </a:r>
          </a:p>
          <a:p>
            <a:pPr lvl="1">
              <a:defRPr/>
            </a:pPr>
            <a:r>
              <a:rPr lang="en-US" dirty="0"/>
              <a:t>Critical commodity – strategic supplier</a:t>
            </a:r>
          </a:p>
          <a:p>
            <a:pPr lvl="1">
              <a:defRPr/>
            </a:pPr>
            <a:r>
              <a:rPr lang="en-US" dirty="0"/>
              <a:t>Routine commodity</a:t>
            </a:r>
          </a:p>
          <a:p>
            <a:pPr lvl="1">
              <a:defRPr/>
            </a:pPr>
            <a:r>
              <a:rPr lang="en-US" dirty="0"/>
              <a:t>Leverage commodity – preferred supplier</a:t>
            </a:r>
          </a:p>
          <a:p>
            <a:pPr lvl="1">
              <a:defRPr/>
            </a:pPr>
            <a:r>
              <a:rPr lang="en-US" dirty="0"/>
              <a:t>Bottleneck commodity – transactional supplier</a:t>
            </a:r>
          </a:p>
          <a:p>
            <a:pPr>
              <a:defRPr/>
            </a:pPr>
            <a:r>
              <a:rPr lang="en-US" dirty="0"/>
              <a:t>Process and design capabilities</a:t>
            </a:r>
          </a:p>
          <a:p>
            <a:pPr>
              <a:defRPr/>
            </a:pPr>
            <a:r>
              <a:rPr lang="en-US" dirty="0"/>
              <a:t>Management capability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944F6-7057-4244-8BDE-9BEEB39B2B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462420-7C9D-4278-A1BF-B65461DC92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DCBBE6-AB70-40AC-B985-E747E1EEA548}" type="slidenum">
              <a:rPr lang="en-US" altLang="LID4096">
                <a:solidFill>
                  <a:srgbClr val="FFFFFF"/>
                </a:solidFill>
              </a:rPr>
              <a:pPr/>
              <a:t>45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Title 6">
            <a:extLst>
              <a:ext uri="{FF2B5EF4-FFF2-40B4-BE49-F238E27FC236}">
                <a16:creationId xmlns:a16="http://schemas.microsoft.com/office/drawing/2014/main" id="{42491694-3E36-48D4-9AA0-B72316549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3: Strategy Development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84724F0-8037-4650-91E1-7E5C7EC2A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Financial condition and cost structure</a:t>
            </a:r>
          </a:p>
          <a:p>
            <a:pPr>
              <a:defRPr/>
            </a:pPr>
            <a:r>
              <a:rPr lang="en-US" dirty="0"/>
              <a:t>Planning and control systems</a:t>
            </a:r>
          </a:p>
          <a:p>
            <a:pPr>
              <a:defRPr/>
            </a:pPr>
            <a:r>
              <a:rPr lang="en-US" dirty="0"/>
              <a:t>Environmental regulation compliance</a:t>
            </a:r>
          </a:p>
          <a:p>
            <a:pPr>
              <a:defRPr/>
            </a:pPr>
            <a:r>
              <a:rPr lang="en-US" dirty="0"/>
              <a:t>Longer-term relationship potential</a:t>
            </a:r>
          </a:p>
          <a:p>
            <a:pPr>
              <a:defRPr/>
            </a:pPr>
            <a:r>
              <a:rPr lang="en-US" dirty="0"/>
              <a:t>Weighted point supplier evaluation systems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BD83D-DA00-4756-9768-31E723802B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16CD49-CD9D-47E4-8F24-5F50BF7929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1A0B08-604D-4727-98E7-99203DC62BBE}" type="slidenum">
              <a:rPr lang="en-US" altLang="LID4096">
                <a:solidFill>
                  <a:srgbClr val="FFFFFF"/>
                </a:solidFill>
              </a:rPr>
              <a:pPr/>
              <a:t>46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Title 1">
            <a:extLst>
              <a:ext uri="{FF2B5EF4-FFF2-40B4-BE49-F238E27FC236}">
                <a16:creationId xmlns:a16="http://schemas.microsoft.com/office/drawing/2014/main" id="{8E5A775E-4A80-407E-9F06-DA22EF5A0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Portfolio Analysis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EDDDE5C-7E03-4651-AF0F-606C63D868C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57400" y="1600200"/>
          <a:ext cx="51054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1450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Bottleneck Commodity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Critical Commodity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14500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Routine Commodity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Leverage Commodity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DFAD3-6F62-41AC-823E-7BDCCF6982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7CEE1-342B-4D84-A51A-3F007F76E4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7F7BEE-C570-42DB-B78A-61A448FBA58E}" type="slidenum">
              <a:rPr lang="en-US" altLang="LID4096">
                <a:solidFill>
                  <a:srgbClr val="FFFFFF"/>
                </a:solidFill>
              </a:rPr>
              <a:pPr/>
              <a:t>47</a:t>
            </a:fld>
            <a:endParaRPr lang="en-US" altLang="LID4096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50737A-89E2-4A2B-83BA-BF124AF3D290}"/>
              </a:ext>
            </a:extLst>
          </p:cNvPr>
          <p:cNvSpPr txBox="1"/>
          <p:nvPr/>
        </p:nvSpPr>
        <p:spPr>
          <a:xfrm rot="16200000">
            <a:off x="-142081" y="2837656"/>
            <a:ext cx="2971800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Complexity or Risk Impact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989A50-BA13-486B-9FDD-1463A7E18C3C}"/>
              </a:ext>
            </a:extLst>
          </p:cNvPr>
          <p:cNvSpPr txBox="1"/>
          <p:nvPr/>
        </p:nvSpPr>
        <p:spPr>
          <a:xfrm>
            <a:off x="2057400" y="5181600"/>
            <a:ext cx="51054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Value Potential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A580FD-77D9-4DCC-9FB1-3E6AD73F8249}"/>
              </a:ext>
            </a:extLst>
          </p:cNvPr>
          <p:cNvSpPr txBox="1"/>
          <p:nvPr/>
        </p:nvSpPr>
        <p:spPr>
          <a:xfrm>
            <a:off x="1143000" y="4800600"/>
            <a:ext cx="8382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A5117-E2AE-4C72-AB71-1FFE06EF99E7}"/>
              </a:ext>
            </a:extLst>
          </p:cNvPr>
          <p:cNvSpPr txBox="1"/>
          <p:nvPr/>
        </p:nvSpPr>
        <p:spPr>
          <a:xfrm>
            <a:off x="1981200" y="5105400"/>
            <a:ext cx="8382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Low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6AD92-58FD-4D5E-A85F-88693A2E908C}"/>
              </a:ext>
            </a:extLst>
          </p:cNvPr>
          <p:cNvSpPr txBox="1"/>
          <p:nvPr/>
        </p:nvSpPr>
        <p:spPr>
          <a:xfrm>
            <a:off x="1143000" y="1447800"/>
            <a:ext cx="8382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High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72DE83-FB72-4DF9-8CEB-521FACFF4E91}"/>
              </a:ext>
            </a:extLst>
          </p:cNvPr>
          <p:cNvSpPr txBox="1"/>
          <p:nvPr/>
        </p:nvSpPr>
        <p:spPr>
          <a:xfrm>
            <a:off x="6324600" y="5105400"/>
            <a:ext cx="8382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</a:rPr>
              <a:t>High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itle 1">
            <a:extLst>
              <a:ext uri="{FF2B5EF4-FFF2-40B4-BE49-F238E27FC236}">
                <a16:creationId xmlns:a16="http://schemas.microsoft.com/office/drawing/2014/main" id="{EEB45F7A-375B-4A1E-BBF8-4471AA829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Critical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647D8-AF3C-493F-B39D-3C9DA6E8D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Critical to profitability and operations</a:t>
            </a:r>
          </a:p>
          <a:p>
            <a:pPr>
              <a:defRPr/>
            </a:pPr>
            <a:r>
              <a:rPr lang="en-US" dirty="0"/>
              <a:t>Few qualified sources of supply</a:t>
            </a:r>
          </a:p>
          <a:p>
            <a:pPr>
              <a:defRPr/>
            </a:pPr>
            <a:r>
              <a:rPr lang="en-US" dirty="0"/>
              <a:t>Large expenditures</a:t>
            </a:r>
          </a:p>
          <a:p>
            <a:pPr>
              <a:defRPr/>
            </a:pPr>
            <a:r>
              <a:rPr lang="en-US" dirty="0"/>
              <a:t>Design and quality are critical</a:t>
            </a:r>
          </a:p>
          <a:p>
            <a:pPr>
              <a:defRPr/>
            </a:pPr>
            <a:r>
              <a:rPr lang="en-US" dirty="0"/>
              <a:t>Complex and/or rigid specifications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787E5F-3D7F-41DD-B3F0-6426679B25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9E22F-3A33-4562-B12D-A9EDB49033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8FFBEDF-0C97-43C0-A362-014311ACB2D3}" type="slidenum">
              <a:rPr lang="en-US" altLang="LID4096">
                <a:solidFill>
                  <a:srgbClr val="FFFFFF"/>
                </a:solidFill>
              </a:rPr>
              <a:pPr/>
              <a:t>48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Title 1">
            <a:extLst>
              <a:ext uri="{FF2B5EF4-FFF2-40B4-BE49-F238E27FC236}">
                <a16:creationId xmlns:a16="http://schemas.microsoft.com/office/drawing/2014/main" id="{C5341846-DB7B-4C90-9D83-0F1A7261A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Critical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88BE5-D976-48B8-A997-9E6DF8B32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Strategy</a:t>
            </a:r>
          </a:p>
          <a:p>
            <a:pPr lvl="1">
              <a:defRPr/>
            </a:pPr>
            <a:r>
              <a:rPr lang="en-US" dirty="0"/>
              <a:t>Form partnership with suppliers</a:t>
            </a:r>
          </a:p>
          <a:p>
            <a:pPr>
              <a:defRPr/>
            </a:pPr>
            <a:r>
              <a:rPr lang="en-US" dirty="0"/>
              <a:t>Tactics</a:t>
            </a:r>
          </a:p>
          <a:p>
            <a:pPr lvl="1">
              <a:defRPr/>
            </a:pPr>
            <a:r>
              <a:rPr lang="en-US" dirty="0"/>
              <a:t>Increase role of selected supplier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2E3319-9649-432B-ABD1-83D2B7D44C5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1C9485-1022-40F2-A456-FCBE6AFE58A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E17C3DB-EBFA-4232-A33C-8DE02A64B5E4}" type="slidenum">
              <a:rPr lang="en-US" altLang="LID4096">
                <a:solidFill>
                  <a:srgbClr val="FFFFFF"/>
                </a:solidFill>
              </a:rPr>
              <a:pPr/>
              <a:t>49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709BC18B-A68C-4CFB-BFA3-4119C6C1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Critical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4E522-E886-4B7E-A9C1-DF4C2A5C4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Actions</a:t>
            </a:r>
          </a:p>
          <a:p>
            <a:pPr lvl="1">
              <a:defRPr/>
            </a:pPr>
            <a:r>
              <a:rPr lang="en-US" dirty="0"/>
              <a:t>Heavy negotiation</a:t>
            </a:r>
          </a:p>
          <a:p>
            <a:pPr lvl="1">
              <a:defRPr/>
            </a:pPr>
            <a:r>
              <a:rPr lang="en-US" dirty="0"/>
              <a:t>Supplier process management</a:t>
            </a:r>
          </a:p>
          <a:p>
            <a:pPr lvl="1">
              <a:defRPr/>
            </a:pPr>
            <a:r>
              <a:rPr lang="en-US" dirty="0"/>
              <a:t>Prepare contingency plans</a:t>
            </a:r>
          </a:p>
          <a:p>
            <a:pPr lvl="1">
              <a:defRPr/>
            </a:pPr>
            <a:r>
              <a:rPr lang="en-US" dirty="0"/>
              <a:t>Analyze market and competition</a:t>
            </a:r>
          </a:p>
          <a:p>
            <a:pPr lvl="1">
              <a:defRPr/>
            </a:pPr>
            <a:r>
              <a:rPr lang="en-US" dirty="0"/>
              <a:t>Use functional specifications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0959F-B465-4723-9120-C4BFA6BD46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6480C-200F-4E53-90AE-DBE5A88296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3B5A1D-7552-450B-9201-6E4F47AD4F26}" type="slidenum">
              <a:rPr lang="en-US" altLang="LID4096">
                <a:solidFill>
                  <a:srgbClr val="FFFFFF"/>
                </a:solidFill>
              </a:rPr>
              <a:pPr/>
              <a:t>50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itle 1">
            <a:extLst>
              <a:ext uri="{FF2B5EF4-FFF2-40B4-BE49-F238E27FC236}">
                <a16:creationId xmlns:a16="http://schemas.microsoft.com/office/drawing/2014/main" id="{350B0EC1-F4F6-4F70-B423-B9B108A3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Routine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F2FCC-959E-4030-BA34-90F9B81D9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Many alternative products and services</a:t>
            </a:r>
          </a:p>
          <a:p>
            <a:pPr>
              <a:defRPr/>
            </a:pPr>
            <a:r>
              <a:rPr lang="en-US" dirty="0"/>
              <a:t>Many sources of supply</a:t>
            </a:r>
          </a:p>
          <a:p>
            <a:pPr>
              <a:defRPr/>
            </a:pPr>
            <a:r>
              <a:rPr lang="en-US" dirty="0"/>
              <a:t>Low value, small individual transactions</a:t>
            </a:r>
          </a:p>
          <a:p>
            <a:pPr>
              <a:defRPr/>
            </a:pPr>
            <a:r>
              <a:rPr lang="en-US" dirty="0"/>
              <a:t>Everyday use, unspecified items</a:t>
            </a:r>
          </a:p>
          <a:p>
            <a:pPr>
              <a:defRPr/>
            </a:pPr>
            <a:r>
              <a:rPr lang="en-US" dirty="0"/>
              <a:t>Anyone could buy 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4403B5-13B0-471F-A817-AF12CD1334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E46D8-3FC4-4C46-BF68-B2AB0ACC2A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6525F4-A190-42B2-A3EF-8ECBC6FFC296}" type="slidenum">
              <a:rPr lang="en-US" altLang="LID4096">
                <a:solidFill>
                  <a:srgbClr val="FFFFFF"/>
                </a:solidFill>
              </a:rPr>
              <a:pPr/>
              <a:t>51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9CF7D964-C557-44F1-851F-50C25DF83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Routine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D2B41-3B13-4B4F-AED2-A466C7B6D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Strategy</a:t>
            </a:r>
          </a:p>
          <a:p>
            <a:pPr lvl="1">
              <a:defRPr/>
            </a:pPr>
            <a:r>
              <a:rPr lang="en-US" dirty="0"/>
              <a:t>Simplify acquisition process</a:t>
            </a:r>
          </a:p>
          <a:p>
            <a:pPr>
              <a:defRPr/>
            </a:pPr>
            <a:r>
              <a:rPr lang="en-US" dirty="0"/>
              <a:t>Tactics</a:t>
            </a:r>
          </a:p>
          <a:p>
            <a:pPr lvl="1">
              <a:defRPr/>
            </a:pPr>
            <a:r>
              <a:rPr lang="en-US" dirty="0"/>
              <a:t>Increase role of systems</a:t>
            </a:r>
          </a:p>
          <a:p>
            <a:pPr lvl="1">
              <a:defRPr/>
            </a:pPr>
            <a:r>
              <a:rPr lang="en-US" dirty="0"/>
              <a:t>Reduce buying effort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D275FC-6690-48B4-9E0D-2F675BC006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F7030-1ECA-43DE-B365-4BF2E25BFA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86B7B73-54C2-451D-A36E-C39E03DBC91E}" type="slidenum">
              <a:rPr lang="en-US" altLang="LID4096">
                <a:solidFill>
                  <a:srgbClr val="FFFFFF"/>
                </a:solidFill>
              </a:rPr>
              <a:pPr/>
              <a:t>52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Title 1">
            <a:extLst>
              <a:ext uri="{FF2B5EF4-FFF2-40B4-BE49-F238E27FC236}">
                <a16:creationId xmlns:a16="http://schemas.microsoft.com/office/drawing/2014/main" id="{D46980B8-EF00-4908-9279-B9807B6B1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Routine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8702-789E-4606-AF83-411B2E8FB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Actions</a:t>
            </a:r>
          </a:p>
          <a:p>
            <a:pPr lvl="1">
              <a:defRPr/>
            </a:pPr>
            <a:r>
              <a:rPr lang="en-US" dirty="0"/>
              <a:t>Rationalize supply base</a:t>
            </a:r>
          </a:p>
          <a:p>
            <a:pPr lvl="1">
              <a:defRPr/>
            </a:pPr>
            <a:r>
              <a:rPr lang="en-US" dirty="0"/>
              <a:t>Automate requisitioning, e.g., EDI, credit cards</a:t>
            </a:r>
          </a:p>
          <a:p>
            <a:pPr lvl="1">
              <a:defRPr/>
            </a:pPr>
            <a:r>
              <a:rPr lang="en-US" dirty="0"/>
              <a:t>Stockless procurement</a:t>
            </a:r>
          </a:p>
          <a:p>
            <a:pPr lvl="1">
              <a:defRPr/>
            </a:pPr>
            <a:r>
              <a:rPr lang="en-US" dirty="0"/>
              <a:t>Minimize administrative costs</a:t>
            </a:r>
          </a:p>
          <a:p>
            <a:pPr lvl="1">
              <a:defRPr/>
            </a:pPr>
            <a:r>
              <a:rPr lang="en-US" dirty="0"/>
              <a:t>Little negotiations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AA3C4-38EB-4705-8D0B-FAB41A4833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5191D6-B7C2-45C8-99F6-7AC05243F3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57E8CD5-9718-4F65-93BE-0387BED415BB}" type="slidenum">
              <a:rPr lang="en-US" altLang="LID4096">
                <a:solidFill>
                  <a:srgbClr val="FFFFFF"/>
                </a:solidFill>
              </a:rPr>
              <a:pPr/>
              <a:t>53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3F450067-3F37-45ED-91E8-F8746627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Leverage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488A0-7C14-46CE-9F46-8DEAC4056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High expenditures</a:t>
            </a:r>
          </a:p>
          <a:p>
            <a:pPr>
              <a:defRPr/>
            </a:pPr>
            <a:r>
              <a:rPr lang="en-US" dirty="0"/>
              <a:t>Large marketplace capacity with ample inventories</a:t>
            </a:r>
          </a:p>
          <a:p>
            <a:pPr>
              <a:defRPr/>
            </a:pPr>
            <a:r>
              <a:rPr lang="en-US" dirty="0"/>
              <a:t>Many alternate products and services</a:t>
            </a:r>
          </a:p>
          <a:p>
            <a:pPr>
              <a:defRPr/>
            </a:pPr>
            <a:r>
              <a:rPr lang="en-US" dirty="0"/>
              <a:t>Many qualified sources of supply</a:t>
            </a:r>
          </a:p>
          <a:p>
            <a:pPr>
              <a:defRPr/>
            </a:pPr>
            <a:r>
              <a:rPr lang="en-US" dirty="0"/>
              <a:t>Market / price sensitive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FA93F-C3D6-4E8B-93F3-9FB6EEEA3B0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35CD0-F5C2-49A9-8C8D-4D140A52FA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31AE9F9-3B39-4CD4-8EC8-9BF1F7505076}" type="slidenum">
              <a:rPr lang="en-US" altLang="LID4096">
                <a:solidFill>
                  <a:srgbClr val="FFFFFF"/>
                </a:solidFill>
              </a:rPr>
              <a:pPr/>
              <a:t>54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Title 1">
            <a:extLst>
              <a:ext uri="{FF2B5EF4-FFF2-40B4-BE49-F238E27FC236}">
                <a16:creationId xmlns:a16="http://schemas.microsoft.com/office/drawing/2014/main" id="{203993A3-EDB2-4825-A316-286C5A30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Leverage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7C6CB-E10E-440C-BCCF-E3CA1AD35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Strategy</a:t>
            </a:r>
          </a:p>
          <a:p>
            <a:pPr lvl="1">
              <a:defRPr/>
            </a:pPr>
            <a:r>
              <a:rPr lang="en-US" dirty="0"/>
              <a:t>Maximize commercial advantage</a:t>
            </a:r>
          </a:p>
          <a:p>
            <a:pPr>
              <a:defRPr/>
            </a:pPr>
            <a:r>
              <a:rPr lang="en-US" dirty="0"/>
              <a:t>Tactics</a:t>
            </a:r>
          </a:p>
          <a:p>
            <a:pPr lvl="1">
              <a:defRPr/>
            </a:pPr>
            <a:r>
              <a:rPr lang="en-US" dirty="0"/>
              <a:t>Concentrate business</a:t>
            </a:r>
          </a:p>
          <a:p>
            <a:pPr lvl="1">
              <a:defRPr/>
            </a:pPr>
            <a:r>
              <a:rPr lang="en-US" dirty="0"/>
              <a:t>Maintain competition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AB8C1-9A70-4DD1-97F3-D06B6C4DBC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00595-7DE2-462C-935E-CE7F5E3A57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B9D981-D3B7-4766-9AFA-DDF6C55C142B}" type="slidenum">
              <a:rPr lang="en-US" altLang="LID4096">
                <a:solidFill>
                  <a:srgbClr val="FFFFFF"/>
                </a:solidFill>
              </a:rPr>
              <a:pPr/>
              <a:t>55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1033C55A-5358-4DAC-B8E4-D15D8AF84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Leverage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0DBD0-8F6E-4E57-9254-CBB0EAA68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Actions</a:t>
            </a:r>
          </a:p>
          <a:p>
            <a:pPr lvl="1">
              <a:defRPr/>
            </a:pPr>
            <a:r>
              <a:rPr lang="en-US" dirty="0"/>
              <a:t>Promote competitive bidding</a:t>
            </a:r>
          </a:p>
          <a:p>
            <a:pPr lvl="1">
              <a:defRPr/>
            </a:pPr>
            <a:r>
              <a:rPr lang="en-US" dirty="0"/>
              <a:t>Exploit market cycles / trends</a:t>
            </a:r>
          </a:p>
          <a:p>
            <a:pPr lvl="1">
              <a:defRPr/>
            </a:pPr>
            <a:r>
              <a:rPr lang="en-US" dirty="0"/>
              <a:t>Procurement coordination</a:t>
            </a:r>
          </a:p>
          <a:p>
            <a:pPr lvl="1">
              <a:defRPr/>
            </a:pPr>
            <a:r>
              <a:rPr lang="en-US" dirty="0"/>
              <a:t>Use industry standards</a:t>
            </a:r>
          </a:p>
          <a:p>
            <a:pPr lvl="1">
              <a:defRPr/>
            </a:pPr>
            <a:r>
              <a:rPr lang="en-US" dirty="0"/>
              <a:t>Active sourcing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0F928-7AA3-48DD-9D0A-E727E7FDF0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404C9-F4C0-43F3-943D-C7AFAE9F2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4D138C3-2A11-41E2-AA12-D3DC3E4CD707}" type="slidenum">
              <a:rPr lang="en-US" altLang="LID4096">
                <a:solidFill>
                  <a:srgbClr val="FFFFFF"/>
                </a:solidFill>
              </a:rPr>
              <a:pPr/>
              <a:t>56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Title 1">
            <a:extLst>
              <a:ext uri="{FF2B5EF4-FFF2-40B4-BE49-F238E27FC236}">
                <a16:creationId xmlns:a16="http://schemas.microsoft.com/office/drawing/2014/main" id="{FA2BF411-6E8A-49B6-9902-012AEF4C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Bottleneck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8A189-0698-447B-B31F-17312C5B3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Complex specifications requiring complex manufacturing or service process</a:t>
            </a:r>
          </a:p>
          <a:p>
            <a:pPr>
              <a:defRPr/>
            </a:pPr>
            <a:r>
              <a:rPr lang="en-US" dirty="0"/>
              <a:t>Few alternate productions / sources of supply</a:t>
            </a:r>
          </a:p>
          <a:p>
            <a:pPr>
              <a:defRPr/>
            </a:pPr>
            <a:r>
              <a:rPr lang="en-US" dirty="0"/>
              <a:t>Big impact on operations / maintenance</a:t>
            </a:r>
          </a:p>
          <a:p>
            <a:pPr>
              <a:defRPr/>
            </a:pPr>
            <a:r>
              <a:rPr lang="en-US" dirty="0"/>
              <a:t>New technology or unleaded processes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60E06-E7B4-4D29-9239-AD7CD36FC2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AD67B-5F58-4117-86F3-05BE198F83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D69EFB-30BE-4A05-9B7C-5080DDF5AD96}" type="slidenum">
              <a:rPr lang="en-US" altLang="LID4096">
                <a:solidFill>
                  <a:srgbClr val="FFFFFF"/>
                </a:solidFill>
              </a:rPr>
              <a:pPr/>
              <a:t>57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272B13A8-88D4-4363-950D-4EB1BA496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Bottleneck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37035-8F0F-4C5A-8971-038678C9C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Strategy</a:t>
            </a:r>
          </a:p>
          <a:p>
            <a:pPr lvl="1">
              <a:defRPr/>
            </a:pPr>
            <a:r>
              <a:rPr lang="en-US" dirty="0"/>
              <a:t>Ensure supply continuity</a:t>
            </a:r>
          </a:p>
          <a:p>
            <a:pPr>
              <a:defRPr/>
            </a:pPr>
            <a:r>
              <a:rPr lang="en-US" dirty="0"/>
              <a:t>Tactics</a:t>
            </a:r>
          </a:p>
          <a:p>
            <a:pPr lvl="1">
              <a:defRPr/>
            </a:pPr>
            <a:r>
              <a:rPr lang="en-US" dirty="0"/>
              <a:t>Decrease uniqueness of suppliers</a:t>
            </a:r>
          </a:p>
          <a:p>
            <a:pPr lvl="1">
              <a:defRPr/>
            </a:pPr>
            <a:r>
              <a:rPr lang="en-US" dirty="0"/>
              <a:t>Manage supply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A06256-3F70-4A1D-B424-58A4CFBBA7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A24A2-99A3-49E7-9553-F6D716E59B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6387E3-834F-4DAC-9B6E-ADE2258AC35E}" type="slidenum">
              <a:rPr lang="en-US" altLang="LID4096">
                <a:solidFill>
                  <a:srgbClr val="FFFFFF"/>
                </a:solidFill>
              </a:rPr>
              <a:pPr/>
              <a:t>58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itle 1">
            <a:extLst>
              <a:ext uri="{FF2B5EF4-FFF2-40B4-BE49-F238E27FC236}">
                <a16:creationId xmlns:a16="http://schemas.microsoft.com/office/drawing/2014/main" id="{7E65F25C-311D-44C0-8B7A-A0018419C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Bottleneck Commodity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5928B-0CDC-46E9-805A-DE4577FFA3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Actions</a:t>
            </a:r>
          </a:p>
          <a:p>
            <a:pPr lvl="1">
              <a:defRPr/>
            </a:pPr>
            <a:r>
              <a:rPr lang="en-US" dirty="0"/>
              <a:t>Widen specifications</a:t>
            </a:r>
          </a:p>
          <a:p>
            <a:pPr lvl="1">
              <a:defRPr/>
            </a:pPr>
            <a:r>
              <a:rPr lang="en-US" dirty="0"/>
              <a:t>Increase competition</a:t>
            </a:r>
          </a:p>
          <a:p>
            <a:pPr lvl="1">
              <a:defRPr/>
            </a:pPr>
            <a:r>
              <a:rPr lang="en-US" dirty="0"/>
              <a:t>Develop new suppliers</a:t>
            </a:r>
          </a:p>
          <a:p>
            <a:pPr lvl="1">
              <a:defRPr/>
            </a:pPr>
            <a:r>
              <a:rPr lang="en-US" dirty="0"/>
              <a:t>Medium-term contracts</a:t>
            </a:r>
          </a:p>
          <a:p>
            <a:pPr lvl="1">
              <a:defRPr/>
            </a:pPr>
            <a:r>
              <a:rPr lang="en-US" dirty="0"/>
              <a:t>Attempt competitive bidding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55C1C-56A8-49DE-81DD-891E7D7C19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EDBBE7-E37E-46E5-AA1C-66B39D54CD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D7849F1-016B-4970-9829-7BFF8749B6A6}" type="slidenum">
              <a:rPr lang="en-US" altLang="LID4096">
                <a:solidFill>
                  <a:srgbClr val="FFFFFF"/>
                </a:solidFill>
              </a:rPr>
              <a:pPr/>
              <a:t>59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6CF917A2-E548-4B91-9983-0A100EF4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4: Contract Negotiation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71611-41FA-4669-8498-CEA18242F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Establishing and tasks and time lines</a:t>
            </a:r>
          </a:p>
          <a:p>
            <a:pPr>
              <a:defRPr/>
            </a:pPr>
            <a:r>
              <a:rPr lang="en-US" dirty="0"/>
              <a:t>Assigning accountabilities and process ownership</a:t>
            </a:r>
          </a:p>
          <a:p>
            <a:pPr>
              <a:defRPr/>
            </a:pPr>
            <a:r>
              <a:rPr lang="en-US" dirty="0"/>
              <a:t>Ensuring adequate resources are made availability</a:t>
            </a:r>
          </a:p>
          <a:p>
            <a:pPr>
              <a:defRPr/>
            </a:pPr>
            <a:r>
              <a:rPr lang="en-US" dirty="0"/>
              <a:t>Strategy communicated to all stakeholders</a:t>
            </a:r>
          </a:p>
          <a:p>
            <a:pPr>
              <a:defRPr/>
            </a:pPr>
            <a:r>
              <a:rPr lang="en-US" dirty="0"/>
              <a:t>Price analysis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D6E8A-A17D-4D43-A2C3-39CDF2DAB2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C47C20-1BDB-4D2E-BAF5-2B62C6C542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11D553-74D3-4BE1-BD8D-2A177F971FBC}" type="slidenum">
              <a:rPr lang="en-US" altLang="LID4096">
                <a:solidFill>
                  <a:srgbClr val="FFFFFF"/>
                </a:solidFill>
              </a:rPr>
              <a:pPr/>
              <a:t>60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itle 1">
            <a:extLst>
              <a:ext uri="{FF2B5EF4-FFF2-40B4-BE49-F238E27FC236}">
                <a16:creationId xmlns:a16="http://schemas.microsoft.com/office/drawing/2014/main" id="{B13E2211-874A-45D4-AB82-B442B46DA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4: Contract Negotiation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DED08-D062-4064-BB82-57F74D443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Preferred supplier lists</a:t>
            </a:r>
          </a:p>
          <a:p>
            <a:pPr>
              <a:defRPr/>
            </a:pPr>
            <a:r>
              <a:rPr lang="en-US" dirty="0"/>
              <a:t>Competitive bidding</a:t>
            </a:r>
          </a:p>
          <a:p>
            <a:pPr>
              <a:defRPr/>
            </a:pPr>
            <a:r>
              <a:rPr lang="en-US" dirty="0"/>
              <a:t>Negotiation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52987-613D-4A77-B496-EBA682B73F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334DFA-444F-42BA-8C78-6DC4E43166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A7FE0E-EA48-4F08-8062-375E3E836A74}" type="slidenum">
              <a:rPr lang="en-US" altLang="LID4096">
                <a:solidFill>
                  <a:srgbClr val="FFFFFF"/>
                </a:solidFill>
              </a:rPr>
              <a:pPr/>
              <a:t>61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>
            <a:extLst>
              <a:ext uri="{FF2B5EF4-FFF2-40B4-BE49-F238E27FC236}">
                <a16:creationId xmlns:a16="http://schemas.microsoft.com/office/drawing/2014/main" id="{4C210846-55C2-4C85-B670-D30F328CD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Price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89EB8-01EE-401F-9923-AF959E313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Defined marketplace</a:t>
            </a:r>
          </a:p>
          <a:p>
            <a:pPr>
              <a:defRPr/>
            </a:pPr>
            <a:r>
              <a:rPr lang="en-US" dirty="0"/>
              <a:t>Best price</a:t>
            </a:r>
          </a:p>
          <a:p>
            <a:pPr>
              <a:defRPr/>
            </a:pPr>
            <a:r>
              <a:rPr lang="en-US" dirty="0"/>
              <a:t>Average price</a:t>
            </a:r>
          </a:p>
          <a:p>
            <a:pPr>
              <a:defRPr/>
            </a:pPr>
            <a:r>
              <a:rPr lang="en-US" dirty="0"/>
              <a:t>Business unit’s price</a:t>
            </a:r>
          </a:p>
          <a:p>
            <a:pPr>
              <a:defRPr/>
            </a:pPr>
            <a:r>
              <a:rPr lang="en-US" dirty="0"/>
              <a:t>Expected trends in pricing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449E51-48BF-4F2A-B9A3-CE648333B21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C6D2F2-2300-4798-A5FC-45AEA8C968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C8D0AF-66F9-4985-956D-5AA43B1F5E3A}" type="slidenum">
              <a:rPr lang="en-US" altLang="LID4096">
                <a:solidFill>
                  <a:srgbClr val="FFFFFF"/>
                </a:solidFill>
              </a:rPr>
              <a:pPr/>
              <a:t>62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6700FAB9-F868-48F7-BFB3-E4653F2B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Effective Competitive Bidding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7A92B-84EE-4741-B2BB-4D663EED21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Buying firm can provide qualified suppliers with clear descriptions of the items or services to be purchased</a:t>
            </a:r>
          </a:p>
          <a:p>
            <a:pPr>
              <a:defRPr/>
            </a:pPr>
            <a:r>
              <a:rPr lang="en-US" dirty="0"/>
              <a:t>Volume is high enough to justify the cost and effort</a:t>
            </a:r>
          </a:p>
          <a:p>
            <a:pPr>
              <a:defRPr/>
            </a:pPr>
            <a:r>
              <a:rPr lang="en-US" dirty="0"/>
              <a:t>Buying firm does not have a preferred supplier</a:t>
            </a:r>
          </a:p>
          <a:p>
            <a:pPr>
              <a:defRPr/>
            </a:pPr>
            <a:r>
              <a:rPr lang="en-US" dirty="0"/>
              <a:t>Price is dominant criterion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4D7E0-4AF2-4096-97BA-6BE238CC1E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DDC61-2C8A-4243-B7DB-8EFA7EE99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BB9D45A-57E8-418B-9CF3-18FF65001609}" type="slidenum">
              <a:rPr lang="en-US" altLang="LID4096">
                <a:solidFill>
                  <a:srgbClr val="FFFFFF"/>
                </a:solidFill>
              </a:rPr>
              <a:pPr/>
              <a:t>63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56CC839A-E179-47CF-89CA-7315E4B75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Effective Negotiation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F365C-E79B-40CA-8A99-5AAC638B2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Item is new or technically complex item with only vague specifications</a:t>
            </a:r>
          </a:p>
          <a:p>
            <a:pPr>
              <a:defRPr/>
            </a:pPr>
            <a:r>
              <a:rPr lang="en-US" dirty="0"/>
              <a:t>Purchase requires agreement about a wide range of performance factors</a:t>
            </a:r>
          </a:p>
          <a:p>
            <a:pPr>
              <a:defRPr/>
            </a:pPr>
            <a:r>
              <a:rPr lang="en-US" dirty="0"/>
              <a:t>Buyer requires supplier to participate in the development effort</a:t>
            </a:r>
          </a:p>
          <a:p>
            <a:pPr>
              <a:defRPr/>
            </a:pPr>
            <a:r>
              <a:rPr lang="en-US" dirty="0"/>
              <a:t>Supplier cannot determine risks and costs without buyer’s input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4BC9CD-2213-40D3-9828-63F4025562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701FC0-62A6-4815-A3F8-176BE58019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B86E91-2053-4196-AF5F-3CA7C76F576E}" type="slidenum">
              <a:rPr lang="en-US" altLang="LID4096">
                <a:solidFill>
                  <a:srgbClr val="FFFFFF"/>
                </a:solidFill>
              </a:rPr>
              <a:pPr/>
              <a:t>64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Title 1">
            <a:extLst>
              <a:ext uri="{FF2B5EF4-FFF2-40B4-BE49-F238E27FC236}">
                <a16:creationId xmlns:a16="http://schemas.microsoft.com/office/drawing/2014/main" id="{BDEE84F8-6559-4CE7-A938-88262458F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Step 5: SRM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932B7-68CC-4BEF-879E-5F34782E6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Continuous monitoring of both the strategy and the supplier</a:t>
            </a:r>
          </a:p>
          <a:p>
            <a:pPr>
              <a:defRPr/>
            </a:pPr>
            <a:r>
              <a:rPr lang="en-US" dirty="0"/>
              <a:t>Continuous monitoring of the supplier’s performance on key goals and objectives</a:t>
            </a:r>
          </a:p>
          <a:p>
            <a:pPr>
              <a:defRPr/>
            </a:pPr>
            <a:r>
              <a:rPr lang="en-US" dirty="0"/>
              <a:t>Supplier scorecard</a:t>
            </a:r>
          </a:p>
          <a:p>
            <a:pPr lvl="1">
              <a:defRPr/>
            </a:pPr>
            <a:r>
              <a:rPr lang="en-US" dirty="0"/>
              <a:t>Use quarterly and review results with supplier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030CD0-A481-4156-A96E-7B4E5B1DAE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2B146-A75F-428C-BDEF-8E0DB2AE96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C1C07F-8B2B-4C18-8199-803B6B32388E}" type="slidenum">
              <a:rPr lang="en-US" altLang="LID4096">
                <a:solidFill>
                  <a:srgbClr val="FFFFFF"/>
                </a:solidFill>
              </a:rPr>
              <a:pPr/>
              <a:t>65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itle 1">
            <a:extLst>
              <a:ext uri="{FF2B5EF4-FFF2-40B4-BE49-F238E27FC236}">
                <a16:creationId xmlns:a16="http://schemas.microsoft.com/office/drawing/2014/main" id="{9D227469-5D78-425B-A39C-C6A68EFD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Types of Strategies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6BFDB-AA64-4872-9DC7-D51793365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Supply base optimization</a:t>
            </a:r>
          </a:p>
          <a:p>
            <a:pPr>
              <a:defRPr/>
            </a:pPr>
            <a:r>
              <a:rPr lang="en-US" dirty="0"/>
              <a:t>Supply risk management</a:t>
            </a:r>
          </a:p>
          <a:p>
            <a:pPr>
              <a:defRPr/>
            </a:pPr>
            <a:r>
              <a:rPr lang="en-US" dirty="0"/>
              <a:t>Global sourcing</a:t>
            </a:r>
          </a:p>
          <a:p>
            <a:pPr>
              <a:defRPr/>
            </a:pPr>
            <a:r>
              <a:rPr lang="en-US" dirty="0"/>
              <a:t>Longer-term supplier relationships</a:t>
            </a:r>
          </a:p>
          <a:p>
            <a:pPr>
              <a:defRPr/>
            </a:pPr>
            <a:r>
              <a:rPr lang="en-US" dirty="0"/>
              <a:t>Early supplier design involvement</a:t>
            </a:r>
          </a:p>
          <a:p>
            <a:pPr>
              <a:defRPr/>
            </a:pPr>
            <a:r>
              <a:rPr lang="en-US" dirty="0"/>
              <a:t>Supplier development</a:t>
            </a:r>
          </a:p>
          <a:p>
            <a:pPr>
              <a:defRPr/>
            </a:pPr>
            <a:r>
              <a:rPr lang="en-US" dirty="0"/>
              <a:t>Total cost of ownership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CB482-B0F3-49E3-8838-A838EA7944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97EA39-9D58-4E9C-A558-E12C1DC7B4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EAD24E0-3993-4A29-9989-7C6D9CBD8A88}" type="slidenum">
              <a:rPr lang="en-US" altLang="LID4096">
                <a:solidFill>
                  <a:srgbClr val="FFFFFF"/>
                </a:solidFill>
              </a:rPr>
              <a:pPr/>
              <a:t>66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le 1">
            <a:extLst>
              <a:ext uri="{FF2B5EF4-FFF2-40B4-BE49-F238E27FC236}">
                <a16:creationId xmlns:a16="http://schemas.microsoft.com/office/drawing/2014/main" id="{E6B15E17-8D63-4DAE-B9D0-A14894A8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Facilitating E-Reverse Auctions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7037C-814E-48AF-9285-348DD04167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defRPr/>
            </a:pPr>
            <a:r>
              <a:rPr lang="en-US" dirty="0"/>
              <a:t>Buyers and suppliers able to communicate in real-time, worldwide, via the Internet</a:t>
            </a:r>
          </a:p>
          <a:p>
            <a:pPr algn="just">
              <a:defRPr/>
            </a:pPr>
            <a:r>
              <a:rPr lang="en-US" dirty="0"/>
              <a:t>Development of robust, user-friendly, third-party auction systems</a:t>
            </a:r>
          </a:p>
          <a:p>
            <a:pPr algn="just">
              <a:defRPr/>
            </a:pPr>
            <a:r>
              <a:rPr lang="en-US" dirty="0"/>
              <a:t>Significant improvements in goods and service quality and cycle time reduction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63DF94-78D2-4AE3-8971-FC882A408F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D5583-CBC2-4A64-90E5-0F181B0361E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7515B9-63C7-40B5-829A-7AD9E84ED8B9}" type="slidenum">
              <a:rPr lang="en-US" altLang="LID4096">
                <a:solidFill>
                  <a:srgbClr val="FFFFFF"/>
                </a:solidFill>
              </a:rPr>
              <a:pPr/>
              <a:t>67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Title 1">
            <a:extLst>
              <a:ext uri="{FF2B5EF4-FFF2-40B4-BE49-F238E27FC236}">
                <a16:creationId xmlns:a16="http://schemas.microsoft.com/office/drawing/2014/main" id="{A4D4CB00-99BC-4C5D-9F68-84326474F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Evolving Sourcing Strategies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C162F19-7114-4911-9CDA-F436DDCB5FA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295400"/>
          <a:ext cx="8229600" cy="47482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5553"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Basic Beginnings</a:t>
                      </a:r>
                    </a:p>
                  </a:txBody>
                  <a:tcPr marT="45722" marB="4572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Moderate Development</a:t>
                      </a:r>
                    </a:p>
                  </a:txBody>
                  <a:tcPr marT="45722" marB="4572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Limited Integration</a:t>
                      </a:r>
                    </a:p>
                  </a:txBody>
                  <a:tcPr marT="45722" marB="4572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i="1" dirty="0">
                          <a:solidFill>
                            <a:schemeClr val="tx1"/>
                          </a:solidFill>
                        </a:rPr>
                        <a:t>Fully Integrated</a:t>
                      </a:r>
                      <a:r>
                        <a:rPr lang="en-US" sz="1800" b="1" i="1" baseline="0" dirty="0">
                          <a:solidFill>
                            <a:schemeClr val="tx1"/>
                          </a:solidFill>
                        </a:rPr>
                        <a:t> Supply Chains</a:t>
                      </a:r>
                      <a:endParaRPr lang="en-US" sz="1800" b="1" i="1" dirty="0">
                        <a:solidFill>
                          <a:schemeClr val="tx1"/>
                        </a:solidFill>
                      </a:endParaRPr>
                    </a:p>
                  </a:txBody>
                  <a:tcPr marT="45722" marB="45722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2660">
                <a:tc>
                  <a:txBody>
                    <a:bodyPr/>
                    <a:lstStyle/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Quality/cost teams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Longer-term contracts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Volume leveraging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Supply base consolidation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Supplier quality focus</a:t>
                      </a:r>
                    </a:p>
                  </a:txBody>
                  <a:tcPr marT="45722" marB="45722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E-RAs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Ad hoc supplier alliances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Cross-functional sourcing teams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Supply base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 optimization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International sourcing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Cross-location sourcing teams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2" marB="45722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Global sourcing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Strategic supplier alliances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Supplier TQM development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 cost of ownership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Nontraditional purchase focus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Parts/service standardization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Early supplier involvement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Dock-to-stock pull systems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2" marB="45722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Global supply chains with external customer focus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Cross-enterprise decision making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Full-service suppliers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Early sourcing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dirty="0" err="1">
                          <a:solidFill>
                            <a:schemeClr val="tx1"/>
                          </a:solidFill>
                        </a:rPr>
                        <a:t>Insourcing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/ outsourcing to maximize</a:t>
                      </a: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 core competencies of firms throughout the supply chain</a:t>
                      </a:r>
                    </a:p>
                    <a:p>
                      <a:pPr marL="182880" indent="-182880">
                        <a:buFont typeface="Arial" pitchFamily="34" charset="0"/>
                        <a:buChar char="•"/>
                      </a:pPr>
                      <a:r>
                        <a:rPr lang="en-US" sz="1600" b="1" baseline="0" dirty="0">
                          <a:solidFill>
                            <a:schemeClr val="tx1"/>
                          </a:solidFill>
                        </a:rPr>
                        <a:t>E-systems</a:t>
                      </a:r>
                      <a:endParaRPr lang="en-US" sz="1600" b="1" dirty="0">
                        <a:solidFill>
                          <a:schemeClr val="tx1"/>
                        </a:solidFill>
                      </a:endParaRPr>
                    </a:p>
                  </a:txBody>
                  <a:tcPr marT="45722" marB="45722" anchor="b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64778A-97C4-4CD5-A2AC-D3E85A0C5B9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39F1D8-008C-4A47-944D-9B95CC4A1D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E2F8EF-9D8B-40AC-8A34-6B5580930CD0}" type="slidenum">
              <a:rPr lang="en-US" altLang="LID4096">
                <a:solidFill>
                  <a:srgbClr val="FFFFFF"/>
                </a:solidFill>
              </a:rPr>
              <a:pPr/>
              <a:t>68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Title 1">
            <a:extLst>
              <a:ext uri="{FF2B5EF4-FFF2-40B4-BE49-F238E27FC236}">
                <a16:creationId xmlns:a16="http://schemas.microsoft.com/office/drawing/2014/main" id="{DB8772E0-B8E0-40FC-BFA1-75B0AC06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Phase 1: Basic Beginnings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06228-058D-4A26-87CC-0CA0EE6AA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Supply management characterized as a lower-level support function</a:t>
            </a:r>
          </a:p>
          <a:p>
            <a:pPr>
              <a:defRPr/>
            </a:pPr>
            <a:r>
              <a:rPr lang="en-US" dirty="0"/>
              <a:t>Short-term approaches</a:t>
            </a:r>
          </a:p>
          <a:p>
            <a:pPr>
              <a:defRPr/>
            </a:pPr>
            <a:r>
              <a:rPr lang="en-US" dirty="0"/>
              <a:t>Reactionary</a:t>
            </a:r>
          </a:p>
          <a:p>
            <a:pPr>
              <a:defRPr/>
            </a:pPr>
            <a:r>
              <a:rPr lang="en-US" dirty="0"/>
              <a:t>Impetus for change is driven by management</a:t>
            </a:r>
          </a:p>
          <a:p>
            <a:pPr>
              <a:defRPr/>
            </a:pPr>
            <a:r>
              <a:rPr lang="en-US" dirty="0"/>
              <a:t>Ensure adequate capacity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3D739-75E9-4228-B4D0-FA645A4780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D7C6C-E20D-4266-A054-1177DF12DE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690E1E-3CE2-48A3-A566-39EC7A47F0BB}" type="slidenum">
              <a:rPr lang="en-US" altLang="LID4096">
                <a:solidFill>
                  <a:srgbClr val="FFFFFF"/>
                </a:solidFill>
              </a:rPr>
              <a:pPr/>
              <a:t>69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Title 1">
            <a:extLst>
              <a:ext uri="{FF2B5EF4-FFF2-40B4-BE49-F238E27FC236}">
                <a16:creationId xmlns:a16="http://schemas.microsoft.com/office/drawing/2014/main" id="{02DD50E7-E0DE-4EDD-9BD6-9ABDA0C78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Phase 1: Basic Beginnings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8BE59-5BFC-46D1-A18C-A733F9287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Adversarial supplier relationships</a:t>
            </a:r>
          </a:p>
          <a:p>
            <a:pPr>
              <a:defRPr/>
            </a:pPr>
            <a:r>
              <a:rPr lang="en-US" dirty="0"/>
              <a:t>Limited resources for improvement</a:t>
            </a:r>
          </a:p>
          <a:p>
            <a:pPr>
              <a:defRPr/>
            </a:pPr>
            <a:r>
              <a:rPr lang="en-US" dirty="0"/>
              <a:t>Mid-level reporting</a:t>
            </a:r>
          </a:p>
          <a:p>
            <a:pPr>
              <a:defRPr/>
            </a:pPr>
            <a:r>
              <a:rPr lang="en-US" dirty="0"/>
              <a:t>Efficiency-related performance measures</a:t>
            </a:r>
          </a:p>
          <a:p>
            <a:pPr>
              <a:defRPr/>
            </a:pPr>
            <a:r>
              <a:rPr lang="en-US" dirty="0"/>
              <a:t>Focus on price reduction</a:t>
            </a:r>
          </a:p>
          <a:p>
            <a:pPr>
              <a:defRPr/>
            </a:pPr>
            <a:r>
              <a:rPr lang="en-US" dirty="0"/>
              <a:t>Transaction-based information systems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4E2A52-8CC1-47D6-918E-2DE78187DE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3B0A74-A5BB-48EC-9C08-8B1665C0FD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83C0592-DD80-4F06-B0B1-23410298A48F}" type="slidenum">
              <a:rPr lang="en-US" altLang="LID4096">
                <a:solidFill>
                  <a:srgbClr val="FFFFFF"/>
                </a:solidFill>
              </a:rPr>
              <a:pPr/>
              <a:t>70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Title 1">
            <a:extLst>
              <a:ext uri="{FF2B5EF4-FFF2-40B4-BE49-F238E27FC236}">
                <a16:creationId xmlns:a16="http://schemas.microsoft.com/office/drawing/2014/main" id="{4DDF966D-3F40-40D8-9D35-02EEBE569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Phase 2: Moderate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A0080-610B-438C-9BA4-D9211010C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Centralization of supply management function</a:t>
            </a:r>
          </a:p>
          <a:p>
            <a:pPr>
              <a:defRPr/>
            </a:pPr>
            <a:r>
              <a:rPr lang="en-US" dirty="0"/>
              <a:t>Commodity management</a:t>
            </a:r>
          </a:p>
          <a:p>
            <a:pPr>
              <a:defRPr/>
            </a:pPr>
            <a:r>
              <a:rPr lang="en-US" dirty="0"/>
              <a:t>Company-wide databases</a:t>
            </a:r>
          </a:p>
          <a:p>
            <a:pPr>
              <a:defRPr/>
            </a:pPr>
            <a:r>
              <a:rPr lang="en-US" dirty="0"/>
              <a:t>Company-wide agreements</a:t>
            </a:r>
          </a:p>
          <a:p>
            <a:pPr>
              <a:defRPr/>
            </a:pPr>
            <a:r>
              <a:rPr lang="en-US" dirty="0"/>
              <a:t>Single sourcing with long-term agreements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3926D8-C61E-40F4-BB8E-57F0788F1E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5D6C2-BC1C-4F6E-BECB-D85446E3F2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C5AB9A8-B327-4E4D-8739-2C8938CD036F}" type="slidenum">
              <a:rPr lang="en-US" altLang="LID4096">
                <a:solidFill>
                  <a:srgbClr val="FFFFFF"/>
                </a:solidFill>
              </a:rPr>
              <a:pPr/>
              <a:t>71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itle 1">
            <a:extLst>
              <a:ext uri="{FF2B5EF4-FFF2-40B4-BE49-F238E27FC236}">
                <a16:creationId xmlns:a16="http://schemas.microsoft.com/office/drawing/2014/main" id="{74E385F9-E883-499F-AF6D-2D9A0363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Phase 2: Moderate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A63F8-1C33-4242-AF46-889A1FFD1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Limited cross-functional integration</a:t>
            </a:r>
          </a:p>
          <a:p>
            <a:pPr>
              <a:defRPr/>
            </a:pPr>
            <a:r>
              <a:rPr lang="en-US" dirty="0"/>
              <a:t>Recognition of strategic supplier relationships</a:t>
            </a:r>
          </a:p>
          <a:p>
            <a:pPr>
              <a:defRPr/>
            </a:pPr>
            <a:r>
              <a:rPr lang="en-US" dirty="0"/>
              <a:t>Evaluated on achievement of competitive objectives</a:t>
            </a:r>
          </a:p>
          <a:p>
            <a:pPr>
              <a:defRPr/>
            </a:pPr>
            <a:r>
              <a:rPr lang="en-US" dirty="0"/>
              <a:t>Supplier viewed as a resource</a:t>
            </a:r>
          </a:p>
          <a:p>
            <a:pPr>
              <a:defRPr/>
            </a:pPr>
            <a:r>
              <a:rPr lang="en-US" dirty="0"/>
              <a:t>Informal internal integration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738F9-69C8-43BF-BF35-373A818010F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19D64-464D-4D59-876B-F08E74ADDF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5E3C30-DCE2-4F8D-897E-EFD0C676C80B}" type="slidenum">
              <a:rPr lang="en-US" altLang="LID4096">
                <a:solidFill>
                  <a:srgbClr val="FFFFFF"/>
                </a:solidFill>
              </a:rPr>
              <a:pPr/>
              <a:t>72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itle 1">
            <a:extLst>
              <a:ext uri="{FF2B5EF4-FFF2-40B4-BE49-F238E27FC236}">
                <a16:creationId xmlns:a16="http://schemas.microsoft.com/office/drawing/2014/main" id="{A5BC83F4-4890-46CF-AE2A-B84543DE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Phase 3: Limited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E578F-B002-4232-AD5C-ED778CD5B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Concurrent engineering</a:t>
            </a:r>
          </a:p>
          <a:p>
            <a:pPr>
              <a:defRPr/>
            </a:pPr>
            <a:r>
              <a:rPr lang="en-US" dirty="0"/>
              <a:t>Supplier development</a:t>
            </a:r>
          </a:p>
          <a:p>
            <a:pPr>
              <a:defRPr/>
            </a:pPr>
            <a:r>
              <a:rPr lang="en-US" dirty="0"/>
              <a:t>Lead time reduction</a:t>
            </a:r>
          </a:p>
          <a:p>
            <a:pPr>
              <a:defRPr/>
            </a:pPr>
            <a:r>
              <a:rPr lang="en-US" dirty="0"/>
              <a:t>Early supplier involvement</a:t>
            </a:r>
          </a:p>
          <a:p>
            <a:pPr>
              <a:defRPr/>
            </a:pPr>
            <a:r>
              <a:rPr lang="en-US" dirty="0"/>
              <a:t>Supply management strategies integrated early in product and process design activities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513B2-0731-4DA8-AA16-364DED79ACF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514A08-9DF9-4D65-915A-D6B5CA8A29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BF9D98-6F8D-4E49-84DD-F71B51FB0299}" type="slidenum">
              <a:rPr lang="en-US" altLang="LID4096">
                <a:solidFill>
                  <a:srgbClr val="FFFFFF"/>
                </a:solidFill>
              </a:rPr>
              <a:pPr/>
              <a:t>73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itle 1">
            <a:extLst>
              <a:ext uri="{FF2B5EF4-FFF2-40B4-BE49-F238E27FC236}">
                <a16:creationId xmlns:a16="http://schemas.microsoft.com/office/drawing/2014/main" id="{A1C8C926-19DD-4C57-A9E2-2C6DF140E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Phase 3: Limited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65DA2-DEDC-42EA-B344-7DD6C1642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Evaluated on strategic contribution</a:t>
            </a:r>
          </a:p>
          <a:p>
            <a:pPr>
              <a:defRPr/>
            </a:pPr>
            <a:r>
              <a:rPr lang="en-US" dirty="0"/>
              <a:t>Extensive functional integration</a:t>
            </a:r>
          </a:p>
          <a:p>
            <a:pPr>
              <a:defRPr/>
            </a:pPr>
            <a:r>
              <a:rPr lang="en-US" dirty="0"/>
              <a:t>Focus on building competitive advantage</a:t>
            </a:r>
          </a:p>
          <a:p>
            <a:pPr>
              <a:defRPr/>
            </a:pPr>
            <a:r>
              <a:rPr lang="en-US" dirty="0"/>
              <a:t>Strong external customer focus</a:t>
            </a:r>
          </a:p>
          <a:p>
            <a:pPr>
              <a:defRPr/>
            </a:pPr>
            <a:r>
              <a:rPr lang="en-US" dirty="0"/>
              <a:t>Global databases</a:t>
            </a:r>
          </a:p>
          <a:p>
            <a:pPr>
              <a:defRPr/>
            </a:pPr>
            <a:r>
              <a:rPr lang="en-US" dirty="0"/>
              <a:t>Total cost modeling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F6781E-4BFD-45A4-89C9-5631451301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DC14DB-E795-468C-A7F0-AAF6D7B23B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7746525-A34A-45C8-97DB-3EE74A53421C}" type="slidenum">
              <a:rPr lang="en-US" altLang="LID4096">
                <a:solidFill>
                  <a:srgbClr val="FFFFFF"/>
                </a:solidFill>
              </a:rPr>
              <a:pPr/>
              <a:t>74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itle 1">
            <a:extLst>
              <a:ext uri="{FF2B5EF4-FFF2-40B4-BE49-F238E27FC236}">
                <a16:creationId xmlns:a16="http://schemas.microsoft.com/office/drawing/2014/main" id="{9FC94296-8C0D-4E7C-85AB-83ABCDA32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Phase 4: Full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C1D71-4482-4FCA-8A59-FE43AA555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Assumed a strategic orientation</a:t>
            </a:r>
          </a:p>
          <a:p>
            <a:pPr>
              <a:defRPr/>
            </a:pPr>
            <a:r>
              <a:rPr lang="en-US" dirty="0"/>
              <a:t>Automated non-value-adding activities</a:t>
            </a:r>
          </a:p>
          <a:p>
            <a:pPr>
              <a:defRPr/>
            </a:pPr>
            <a:r>
              <a:rPr lang="en-US" dirty="0"/>
              <a:t>Greater focus on strategic objectives and activities</a:t>
            </a:r>
          </a:p>
          <a:p>
            <a:pPr>
              <a:defRPr/>
            </a:pPr>
            <a:r>
              <a:rPr lang="en-US" dirty="0"/>
              <a:t>Developing global supplier capabilities</a:t>
            </a:r>
          </a:p>
          <a:p>
            <a:pPr>
              <a:defRPr/>
            </a:pPr>
            <a:r>
              <a:rPr lang="en-US" dirty="0"/>
              <a:t>Systems thinking approach over entire supply chain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36F67-B5F9-4B09-A305-7CC7E302EA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FE893-5AA9-4A52-A4E1-C616DC4EB5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0C9765-6069-49CE-9E80-FBA28C62CC71}" type="slidenum">
              <a:rPr lang="en-US" altLang="LID4096">
                <a:solidFill>
                  <a:srgbClr val="FFFFFF"/>
                </a:solidFill>
              </a:rPr>
              <a:pPr/>
              <a:t>75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Title 1">
            <a:extLst>
              <a:ext uri="{FF2B5EF4-FFF2-40B4-BE49-F238E27FC236}">
                <a16:creationId xmlns:a16="http://schemas.microsoft.com/office/drawing/2014/main" id="{0B14C002-D6E2-4F62-B5EE-35187C11C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LID4096"/>
              <a:t>Observations on Strategic Sourcing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D7118-093C-4739-9C10-E80BC4076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Few organizations have fully executed complex Phase 3 and Phase 4 strategies</a:t>
            </a:r>
          </a:p>
          <a:p>
            <a:pPr lvl="1">
              <a:defRPr/>
            </a:pPr>
            <a:r>
              <a:rPr lang="en-US" dirty="0"/>
              <a:t>Relative complexity</a:t>
            </a:r>
          </a:p>
          <a:p>
            <a:pPr lvl="1">
              <a:defRPr/>
            </a:pPr>
            <a:r>
              <a:rPr lang="en-US" dirty="0"/>
              <a:t>Inadequate resources and commitment</a:t>
            </a:r>
          </a:p>
          <a:p>
            <a:pPr lvl="1">
              <a:defRPr/>
            </a:pPr>
            <a:r>
              <a:rPr lang="en-US" dirty="0"/>
              <a:t>Lack of supply base optimization</a:t>
            </a:r>
          </a:p>
          <a:p>
            <a:pPr lvl="1">
              <a:defRPr/>
            </a:pPr>
            <a:r>
              <a:rPr lang="en-US" dirty="0"/>
              <a:t>Personnel requiring higher level skills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4FE9B6-F580-4023-9F42-20E9C99071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Purchasing &amp; Supply Chain Management, 4e</a:t>
            </a:r>
          </a:p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CF45A1-2A73-48FA-B2A4-5945E767C2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79B8D3-55C9-4596-BE89-B25A31210098}" type="slidenum">
              <a:rPr lang="en-US" altLang="LID4096">
                <a:solidFill>
                  <a:srgbClr val="FFFFFF"/>
                </a:solidFill>
              </a:rPr>
              <a:pPr/>
              <a:t>76</a:t>
            </a:fld>
            <a:endParaRPr lang="en-US" altLang="LID4096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1299</TotalTime>
  <Words>2978</Words>
  <Application>Microsoft Office PowerPoint</Application>
  <PresentationFormat>On-screen Show (4:3)</PresentationFormat>
  <Paragraphs>736</Paragraphs>
  <Slides>76</Slides>
  <Notes>73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2" baseType="lpstr">
      <vt:lpstr>Arial</vt:lpstr>
      <vt:lpstr>Times New Roman</vt:lpstr>
      <vt:lpstr>Wingdings</vt:lpstr>
      <vt:lpstr>Copperplate Gothic Bold</vt:lpstr>
      <vt:lpstr>Default Design</vt:lpstr>
      <vt:lpstr>Microsoft Excel Chart</vt:lpstr>
      <vt:lpstr>Supply Management and Commodity Strategy Development</vt:lpstr>
      <vt:lpstr>Chapter Overview</vt:lpstr>
      <vt:lpstr>Theme of this lecture</vt:lpstr>
      <vt:lpstr>Why Apple Invests Billions to Diversify Chip Suppliers</vt:lpstr>
      <vt:lpstr>Apple Strategic Response (2024-2025)</vt:lpstr>
      <vt:lpstr>Aligning Objectives</vt:lpstr>
      <vt:lpstr>How Companies Make Money</vt:lpstr>
      <vt:lpstr>Integrative Strategy Development</vt:lpstr>
      <vt:lpstr>Integrative Strategy Development</vt:lpstr>
      <vt:lpstr>Integrative Strategy Development</vt:lpstr>
      <vt:lpstr>Components of Integrative Strategy</vt:lpstr>
      <vt:lpstr>Translating Objectives Goals</vt:lpstr>
      <vt:lpstr>Translating Objectives Goals</vt:lpstr>
      <vt:lpstr>Translating Objectives Goals</vt:lpstr>
      <vt:lpstr>Translating Objectives Goals</vt:lpstr>
      <vt:lpstr>Enabling Effective Category Strategies</vt:lpstr>
      <vt:lpstr>Enabling Effective Category Strategies</vt:lpstr>
      <vt:lpstr>Conducting a Spend Analysis</vt:lpstr>
      <vt:lpstr>Conducting a Spend Analysis</vt:lpstr>
      <vt:lpstr>Procurement KPIs Example</vt:lpstr>
      <vt:lpstr>Spend Analysis Spreadsheet</vt:lpstr>
      <vt:lpstr>Sample Spend Categories</vt:lpstr>
      <vt:lpstr>Spend by Commodity</vt:lpstr>
      <vt:lpstr>Suppliers by Commodity</vt:lpstr>
      <vt:lpstr>Spend/Supplier by Commodity</vt:lpstr>
      <vt:lpstr>Percent of Total Spend</vt:lpstr>
      <vt:lpstr>The Strategic Sourcing Process</vt:lpstr>
      <vt:lpstr>Step 1: Team and Project Charter</vt:lpstr>
      <vt:lpstr>Step 2: Conduct Market Research</vt:lpstr>
      <vt:lpstr>Step 2: Conduct Market Research</vt:lpstr>
      <vt:lpstr>Step 2: Conduct Market Research</vt:lpstr>
      <vt:lpstr>Step 2: Conduct Market Research</vt:lpstr>
      <vt:lpstr>Porter’s Five Forces Model</vt:lpstr>
      <vt:lpstr>Market Internal Competition</vt:lpstr>
      <vt:lpstr>Threat of New Entrants</vt:lpstr>
      <vt:lpstr>Threat of New Entrants</vt:lpstr>
      <vt:lpstr>Pressure from Substitutes</vt:lpstr>
      <vt:lpstr>Buyer Bargaining Power</vt:lpstr>
      <vt:lpstr>Buyer Bargaining Power</vt:lpstr>
      <vt:lpstr>Supplier Bargaining Power</vt:lpstr>
      <vt:lpstr> SWOT Analysis</vt:lpstr>
      <vt:lpstr>Benchmarks</vt:lpstr>
      <vt:lpstr>Requests for Information (RFIs)</vt:lpstr>
      <vt:lpstr>Supplier Research</vt:lpstr>
      <vt:lpstr>Step 3: Strategy Development</vt:lpstr>
      <vt:lpstr>Step 3: Strategy Development</vt:lpstr>
      <vt:lpstr>Portfolio Analysis</vt:lpstr>
      <vt:lpstr>Critical Commodity</vt:lpstr>
      <vt:lpstr>Critical Commodity</vt:lpstr>
      <vt:lpstr>Critical Commodity</vt:lpstr>
      <vt:lpstr>Routine Commodity</vt:lpstr>
      <vt:lpstr>Routine Commodity</vt:lpstr>
      <vt:lpstr>Routine Commodity</vt:lpstr>
      <vt:lpstr>Leverage Commodity</vt:lpstr>
      <vt:lpstr>Leverage Commodity</vt:lpstr>
      <vt:lpstr>Leverage Commodity</vt:lpstr>
      <vt:lpstr>Bottleneck Commodity</vt:lpstr>
      <vt:lpstr>Bottleneck Commodity</vt:lpstr>
      <vt:lpstr>Bottleneck Commodity</vt:lpstr>
      <vt:lpstr>Step 4: Contract Negotiation</vt:lpstr>
      <vt:lpstr>Step 4: Contract Negotiation</vt:lpstr>
      <vt:lpstr>Price Analysis</vt:lpstr>
      <vt:lpstr>Effective Competitive Bidding</vt:lpstr>
      <vt:lpstr>Effective Negotiation</vt:lpstr>
      <vt:lpstr>Step 5: SRM</vt:lpstr>
      <vt:lpstr>Types of Strategies</vt:lpstr>
      <vt:lpstr>Facilitating E-Reverse Auctions</vt:lpstr>
      <vt:lpstr>Evolving Sourcing Strategies</vt:lpstr>
      <vt:lpstr>Phase 1: Basic Beginnings</vt:lpstr>
      <vt:lpstr>Phase 1: Basic Beginnings</vt:lpstr>
      <vt:lpstr>Phase 2: Moderate Development</vt:lpstr>
      <vt:lpstr>Phase 2: Moderate Development</vt:lpstr>
      <vt:lpstr>Phase 3: Limited Integration</vt:lpstr>
      <vt:lpstr>Phase 3: Limited Integration</vt:lpstr>
      <vt:lpstr>Phase 4: Full Integration</vt:lpstr>
      <vt:lpstr>Observations on Strategic Sourcing</vt:lpstr>
    </vt:vector>
  </TitlesOfParts>
  <Company>Western Illinois University Quad Cities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Dr. James L. Patterson, C.P.M., A.P.P.</dc:creator>
  <cp:lastModifiedBy>Muhammad Omair</cp:lastModifiedBy>
  <cp:revision>73</cp:revision>
  <dcterms:created xsi:type="dcterms:W3CDTF">2007-10-03T17:47:56Z</dcterms:created>
  <dcterms:modified xsi:type="dcterms:W3CDTF">2026-01-17T07:28:22Z</dcterms:modified>
</cp:coreProperties>
</file>